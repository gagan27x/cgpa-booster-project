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>
      <a:defRPr lang="en-IN"/>
    </a:defPPr>
    <a:lvl1pPr eaLnBrk="0" hangingPunct="0" lvl="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eaLnBrk="0" hangingPunct="0" lvl="1" marL="4572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eaLnBrk="0" hangingPunct="0" lvl="2" marL="9144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eaLnBrk="0" hangingPunct="0" lvl="3" marL="13716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eaLnBrk="0" hangingPunct="0" lvl="4" marL="18288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defTabSz="914400" eaLnBrk="1" hangingPunct="1" latinLnBrk="0" lvl="5" marL="2286000" rtl="0" algn="l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defTabSz="914400" eaLnBrk="1" hangingPunct="1" latinLnBrk="0" lvl="6" marL="2743200" rtl="0" algn="l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defTabSz="914400" eaLnBrk="1" hangingPunct="1" latinLnBrk="0" lvl="7" marL="3200400" rtl="0" algn="l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defTabSz="914400" eaLnBrk="1" hangingPunct="1" latinLnBrk="0" lvl="8" marL="3657600" rtl="0" algn="l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106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8936" y="2156282"/>
            <a:ext cx="7666126" cy="69723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0BDB3AF0-2A54-E29A-AB70-5AF71538A2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8F9CBC5E-B744-8303-A293-E91E9A05293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75C936BF-AD96-628B-569E-9F392A45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04BBA-87C4-4BF2-A23E-8D858119657C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55444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17ECFC81-D6DC-0582-583F-EAA646F6A4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060D0189-8B3E-C32E-B32C-267631575A4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E3C67EAD-8E35-2334-5D37-34264F2C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26D435-967C-4152-9AC7-3A8AAE09D754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7515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4">
            <a:extLst>
              <a:ext uri="{FF2B5EF4-FFF2-40B4-BE49-F238E27FC236}">
                <a16:creationId xmlns:a16="http://schemas.microsoft.com/office/drawing/2014/main" id="{5BF19F82-69E1-0CAA-21A9-4E1175F085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5">
            <a:extLst>
              <a:ext uri="{FF2B5EF4-FFF2-40B4-BE49-F238E27FC236}">
                <a16:creationId xmlns:a16="http://schemas.microsoft.com/office/drawing/2014/main" id="{1673359E-E1D5-3814-4665-4F7F10669B5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49487E43-A880-6E62-03AC-F2DD837C4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9C7AA2-A09E-474B-85C9-5A2A11E3B5C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807027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id="{8C38390D-E5DA-573A-CA06-0043B6CB31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5">
            <a:extLst>
              <a:ext uri="{FF2B5EF4-FFF2-40B4-BE49-F238E27FC236}">
                <a16:creationId xmlns:a16="http://schemas.microsoft.com/office/drawing/2014/main" id="{76A7C744-35BC-A020-ACD1-8CEC32DCDFC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3BC5C6DF-FA29-3DDA-2ABF-B68839AC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18E1D-5C67-40FA-ABB3-BEC4F3FC10D2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614158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>
            <a:extLst>
              <a:ext uri="{FF2B5EF4-FFF2-40B4-BE49-F238E27FC236}">
                <a16:creationId xmlns:a16="http://schemas.microsoft.com/office/drawing/2014/main" id="{D1CDD706-F2D1-1AEA-2FE7-B0F2F6297D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3" name="Holder 5">
            <a:extLst>
              <a:ext uri="{FF2B5EF4-FFF2-40B4-BE49-F238E27FC236}">
                <a16:creationId xmlns:a16="http://schemas.microsoft.com/office/drawing/2014/main" id="{F547E8D4-B1EC-B238-ED79-C8603150E5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CB04B554-FCC5-D9D4-B6CE-AC9E60477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19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5122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5463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bg object 16">
            <a:extLst>
              <a:ext uri="{FF2B5EF4-FFF2-40B4-BE49-F238E27FC236}">
                <a16:creationId xmlns:a16="http://schemas.microsoft.com/office/drawing/2014/main" id="{38B6D224-360A-DCAD-CED2-F6685538F8DB}"/>
              </a:ext>
            </a:extLst>
          </p:cNvPr>
          <p:cNvSpPr>
            <a:spLocks/>
          </p:cNvSpPr>
          <p:nvPr/>
        </p:nvSpPr>
        <p:spPr bwMode="auto">
          <a:xfrm>
            <a:off x="0" y="6400800"/>
            <a:ext cx="9144000" cy="377825"/>
          </a:xfrm>
          <a:custGeom>
            <a:avLst/>
            <a:gdLst>
              <a:gd name="T0" fmla="*/ 0 w 9144000"/>
              <a:gd name="T1" fmla="*/ 377825 h 377825"/>
              <a:gd name="T2" fmla="*/ 9144000 w 9144000"/>
              <a:gd name="T3" fmla="*/ 377825 h 377825"/>
              <a:gd name="T4" fmla="*/ 9144000 w 9144000"/>
              <a:gd name="T5" fmla="*/ 0 h 377825"/>
              <a:gd name="T6" fmla="*/ 0 w 9144000"/>
              <a:gd name="T7" fmla="*/ 0 h 377825"/>
              <a:gd name="T8" fmla="*/ 0 w 9144000"/>
              <a:gd name="T9" fmla="*/ 377825 h 3778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44000" h="377825">
                <a:moveTo>
                  <a:pt x="0" y="377825"/>
                </a:moveTo>
                <a:lnTo>
                  <a:pt x="9144000" y="377825"/>
                </a:lnTo>
                <a:lnTo>
                  <a:pt x="9144000" y="0"/>
                </a:lnTo>
                <a:lnTo>
                  <a:pt x="0" y="0"/>
                </a:lnTo>
                <a:lnTo>
                  <a:pt x="0" y="377825"/>
                </a:lnTo>
                <a:close/>
              </a:path>
            </a:pathLst>
          </a:custGeom>
          <a:solidFill>
            <a:srgbClr val="BC57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7" name="bg object 17">
            <a:extLst>
              <a:ext uri="{FF2B5EF4-FFF2-40B4-BE49-F238E27FC236}">
                <a16:creationId xmlns:a16="http://schemas.microsoft.com/office/drawing/2014/main" id="{FB55ADC6-973D-54AE-303B-FDC5B1EFA0DB}"/>
              </a:ext>
            </a:extLst>
          </p:cNvPr>
          <p:cNvSpPr>
            <a:spLocks/>
          </p:cNvSpPr>
          <p:nvPr/>
        </p:nvSpPr>
        <p:spPr bwMode="auto">
          <a:xfrm>
            <a:off x="0" y="6334125"/>
            <a:ext cx="9144000" cy="66675"/>
          </a:xfrm>
          <a:custGeom>
            <a:avLst/>
            <a:gdLst>
              <a:gd name="T0" fmla="*/ 9144000 w 9144000"/>
              <a:gd name="T1" fmla="*/ 0 h 66675"/>
              <a:gd name="T2" fmla="*/ 0 w 9144000"/>
              <a:gd name="T3" fmla="*/ 0 h 66675"/>
              <a:gd name="T4" fmla="*/ 0 w 9144000"/>
              <a:gd name="T5" fmla="*/ 66675 h 66675"/>
              <a:gd name="T6" fmla="*/ 9144000 w 9144000"/>
              <a:gd name="T7" fmla="*/ 66675 h 66675"/>
              <a:gd name="T8" fmla="*/ 9144000 w 9144000"/>
              <a:gd name="T9" fmla="*/ 0 h 66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44000" h="66675">
                <a:moveTo>
                  <a:pt x="9144000" y="0"/>
                </a:moveTo>
                <a:lnTo>
                  <a:pt x="0" y="0"/>
                </a:lnTo>
                <a:lnTo>
                  <a:pt x="0" y="66675"/>
                </a:lnTo>
                <a:lnTo>
                  <a:pt x="9144000" y="66675"/>
                </a:lnTo>
                <a:lnTo>
                  <a:pt x="9144000" y="0"/>
                </a:lnTo>
                <a:close/>
              </a:path>
            </a:pathLst>
          </a:custGeom>
          <a:solidFill>
            <a:srgbClr val="E3831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8" name="bg object 18">
            <a:extLst>
              <a:ext uri="{FF2B5EF4-FFF2-40B4-BE49-F238E27FC236}">
                <a16:creationId xmlns:a16="http://schemas.microsoft.com/office/drawing/2014/main" id="{6F8D45B5-A1AA-CAF6-8F8D-93B94696096C}"/>
              </a:ext>
            </a:extLst>
          </p:cNvPr>
          <p:cNvSpPr>
            <a:spLocks/>
          </p:cNvSpPr>
          <p:nvPr/>
        </p:nvSpPr>
        <p:spPr bwMode="auto">
          <a:xfrm>
            <a:off x="895350" y="1738313"/>
            <a:ext cx="7475538" cy="0"/>
          </a:xfrm>
          <a:custGeom>
            <a:avLst/>
            <a:gdLst>
              <a:gd name="T0" fmla="*/ 0 w 7475855"/>
              <a:gd name="T1" fmla="*/ 7475601 w 7475855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7475855">
                <a:moveTo>
                  <a:pt x="0" y="0"/>
                </a:moveTo>
                <a:lnTo>
                  <a:pt x="7475601" y="0"/>
                </a:lnTo>
              </a:path>
            </a:pathLst>
          </a:custGeom>
          <a:noFill/>
          <a:ln w="6350">
            <a:solidFill>
              <a:srgbClr val="7E7E7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9" name="bg object 19">
            <a:extLst>
              <a:ext uri="{FF2B5EF4-FFF2-40B4-BE49-F238E27FC236}">
                <a16:creationId xmlns:a16="http://schemas.microsoft.com/office/drawing/2014/main" id="{3D74A175-D9BD-E594-4382-65F2DD62AC96}"/>
              </a:ext>
            </a:extLst>
          </p:cNvPr>
          <p:cNvSpPr>
            <a:spLocks/>
          </p:cNvSpPr>
          <p:nvPr/>
        </p:nvSpPr>
        <p:spPr bwMode="auto">
          <a:xfrm>
            <a:off x="0" y="6778625"/>
            <a:ext cx="9144000" cy="79375"/>
          </a:xfrm>
          <a:custGeom>
            <a:avLst/>
            <a:gdLst>
              <a:gd name="T0" fmla="*/ 9144000 w 9144000"/>
              <a:gd name="T1" fmla="*/ 0 h 79375"/>
              <a:gd name="T2" fmla="*/ 0 w 9144000"/>
              <a:gd name="T3" fmla="*/ 0 h 79375"/>
              <a:gd name="T4" fmla="*/ 0 w 9144000"/>
              <a:gd name="T5" fmla="*/ 79375 h 79375"/>
              <a:gd name="T6" fmla="*/ 9144000 w 9144000"/>
              <a:gd name="T7" fmla="*/ 79375 h 79375"/>
              <a:gd name="T8" fmla="*/ 9144000 w 9144000"/>
              <a:gd name="T9" fmla="*/ 0 h 79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44000" h="79375">
                <a:moveTo>
                  <a:pt x="9144000" y="0"/>
                </a:moveTo>
                <a:lnTo>
                  <a:pt x="0" y="0"/>
                </a:lnTo>
                <a:lnTo>
                  <a:pt x="0" y="79375"/>
                </a:lnTo>
                <a:lnTo>
                  <a:pt x="9144000" y="79375"/>
                </a:lnTo>
                <a:lnTo>
                  <a:pt x="9144000" y="0"/>
                </a:lnTo>
                <a:close/>
              </a:path>
            </a:pathLst>
          </a:custGeom>
          <a:solidFill>
            <a:srgbClr val="EC771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30" name="bg object 20">
            <a:extLst>
              <a:ext uri="{FF2B5EF4-FFF2-40B4-BE49-F238E27FC236}">
                <a16:creationId xmlns:a16="http://schemas.microsoft.com/office/drawing/2014/main" id="{AFD48CA7-8CBF-52F2-2B93-60FE92200F9F}"/>
              </a:ext>
            </a:extLst>
          </p:cNvPr>
          <p:cNvSpPr>
            <a:spLocks/>
          </p:cNvSpPr>
          <p:nvPr/>
        </p:nvSpPr>
        <p:spPr bwMode="auto">
          <a:xfrm>
            <a:off x="1558925" y="431800"/>
            <a:ext cx="6080125" cy="46038"/>
          </a:xfrm>
          <a:custGeom>
            <a:avLst/>
            <a:gdLst>
              <a:gd name="T0" fmla="*/ 6080125 w 6080125"/>
              <a:gd name="T1" fmla="*/ 0 h 46354"/>
              <a:gd name="T2" fmla="*/ 0 w 6080125"/>
              <a:gd name="T3" fmla="*/ 0 h 46354"/>
              <a:gd name="T4" fmla="*/ 0 w 6080125"/>
              <a:gd name="T5" fmla="*/ 46037 h 46354"/>
              <a:gd name="T6" fmla="*/ 6080125 w 6080125"/>
              <a:gd name="T7" fmla="*/ 46037 h 46354"/>
              <a:gd name="T8" fmla="*/ 6080125 w 6080125"/>
              <a:gd name="T9" fmla="*/ 0 h 46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080125" h="46354">
                <a:moveTo>
                  <a:pt x="6080125" y="0"/>
                </a:moveTo>
                <a:lnTo>
                  <a:pt x="0" y="0"/>
                </a:lnTo>
                <a:lnTo>
                  <a:pt x="0" y="46037"/>
                </a:lnTo>
                <a:lnTo>
                  <a:pt x="6080125" y="46037"/>
                </a:lnTo>
                <a:lnTo>
                  <a:pt x="6080125" y="0"/>
                </a:lnTo>
                <a:close/>
              </a:path>
            </a:pathLst>
          </a:custGeom>
          <a:solidFill>
            <a:srgbClr val="F47C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pic>
        <p:nvPicPr>
          <p:cNvPr id="1031" name="bg object 21">
            <a:extLst>
              <a:ext uri="{FF2B5EF4-FFF2-40B4-BE49-F238E27FC236}">
                <a16:creationId xmlns:a16="http://schemas.microsoft.com/office/drawing/2014/main" id="{9D8AC5D9-D59F-9A81-D56C-FF7DE6A24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050" y="177800"/>
            <a:ext cx="1160463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bg object 22">
            <a:extLst>
              <a:ext uri="{FF2B5EF4-FFF2-40B4-BE49-F238E27FC236}">
                <a16:creationId xmlns:a16="http://schemas.microsoft.com/office/drawing/2014/main" id="{7C584618-3703-DCC8-351E-B56D98202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77800"/>
            <a:ext cx="1185862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Holder 2">
            <a:extLst>
              <a:ext uri="{FF2B5EF4-FFF2-40B4-BE49-F238E27FC236}">
                <a16:creationId xmlns:a16="http://schemas.microsoft.com/office/drawing/2014/main" id="{62E9138C-FAD7-6BD0-5F95-3DBAE510F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89213" y="922338"/>
            <a:ext cx="3965575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1034" name="Holder 3">
            <a:extLst>
              <a:ext uri="{FF2B5EF4-FFF2-40B4-BE49-F238E27FC236}">
                <a16:creationId xmlns:a16="http://schemas.microsoft.com/office/drawing/2014/main" id="{59DC8208-C94C-68E3-4809-5E1DCC0E3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4463" y="2430463"/>
            <a:ext cx="8077200" cy="340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29415830-17A8-9757-3065-EED64C360CC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0FA5F93E-3891-023A-939D-D897A35B427A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457200" y="6378575"/>
            <a:ext cx="2103438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3485577B-3FF3-4F6B-E1E9-B637F2E80D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363" y="6378575"/>
            <a:ext cx="2103437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48753D6-8207-4510-9816-3D50DD4C4FDF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9891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algn="l" rtl="0" eaLnBrk="1" fontAlgn="base" hangingPunct="1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fontAlgn="base" hangingPunct="1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fontAlgn="base" hangingPunct="1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fontAlgn="base" hangingPunct="1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fontAlgn="base" hangingPunct="1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>
            <a:spLocks noGrp="1"/>
          </p:cNvSpPr>
          <p:nvPr>
            <p:ph type="ctrTitle"/>
          </p:nvPr>
        </p:nvSpPr>
        <p:spPr>
          <a:xfrm>
            <a:off x="296069" y="1752600"/>
            <a:ext cx="8551862" cy="199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C00000"/>
              </a:buClr>
              <a:buSzPts val="4800"/>
            </a:pPr>
            <a:r>
              <a:rPr lang="en-US" sz="4800" b="1" spc="4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FORMAL LANGUAGES AND AUTOMATION </a:t>
            </a:r>
            <a:r>
              <a:rPr lang="en-US" sz="4800" b="1" spc="41" dirty="0" smtClean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THEORY</a:t>
            </a:r>
            <a:r>
              <a:rPr lang="en-US" sz="4800" b="0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4800" b="0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/>
          </a:p>
        </p:txBody>
      </p:sp>
      <p:sp>
        <p:nvSpPr>
          <p:cNvPr id="29" name="Google Shape;29;p1"/>
          <p:cNvSpPr txBox="1">
            <a:spLocks noGrp="1"/>
          </p:cNvSpPr>
          <p:nvPr>
            <p:ph type="subTitle" idx="1"/>
          </p:nvPr>
        </p:nvSpPr>
        <p:spPr>
          <a:xfrm>
            <a:off x="1264227" y="5105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200"/>
              <a:buNone/>
            </a:pPr>
            <a:r>
              <a:rPr lang="en-US" sz="3200" b="0" i="0" u="none" dirty="0" smtClean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DFA and NFA</a:t>
            </a:r>
            <a:endParaRPr dirty="0"/>
          </a:p>
        </p:txBody>
      </p:sp>
      <p:sp>
        <p:nvSpPr>
          <p:cNvPr id="28" name="Google Shape;28;p1"/>
          <p:cNvSpPr txBox="1"/>
          <p:nvPr/>
        </p:nvSpPr>
        <p:spPr>
          <a:xfrm>
            <a:off x="3138054" y="4643776"/>
            <a:ext cx="265314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2400"/>
              <a:buFont typeface="Arial Rounded"/>
              <a:buNone/>
            </a:pPr>
            <a:r>
              <a:rPr lang="en-US" sz="2400" b="1" i="0" u="none" strike="noStrike" cap="none" dirty="0" smtClean="0">
                <a:solidFill>
                  <a:srgbClr val="376092"/>
                </a:solidFill>
                <a:latin typeface="Arial Rounded"/>
                <a:ea typeface="Arial Rounded"/>
                <a:cs typeface="Arial Rounded"/>
                <a:sym typeface="Arial Rounded"/>
              </a:rPr>
              <a:t>Lecture Notes </a:t>
            </a:r>
            <a:r>
              <a:rPr lang="en-US" sz="2400" b="1" i="0" u="none" strike="noStrike" cap="none" dirty="0" smtClean="0">
                <a:solidFill>
                  <a:srgbClr val="376092"/>
                </a:solidFill>
                <a:latin typeface="Arial Rounded"/>
                <a:ea typeface="Arial Rounded"/>
                <a:cs typeface="Arial Rounded"/>
                <a:sym typeface="Arial Rounded"/>
              </a:rPr>
              <a:t>#</a:t>
            </a:r>
            <a:r>
              <a:rPr lang="en-US" sz="2400" b="1" i="0" u="none" strike="noStrike" cap="none" dirty="0" smtClean="0">
                <a:solidFill>
                  <a:srgbClr val="376092"/>
                </a:solidFill>
                <a:latin typeface="Arial Rounded"/>
                <a:ea typeface="Arial Rounded"/>
                <a:cs typeface="Arial Rounded"/>
                <a:sym typeface="Arial Rounded"/>
              </a:rPr>
              <a:t>1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1504" y="692585"/>
            <a:ext cx="3965575" cy="512762"/>
          </a:xfrm>
        </p:spPr>
        <p:txBody>
          <a:bodyPr/>
          <a:lstStyle/>
          <a:p>
            <a:r>
              <a:rPr dirty="0"/>
              <a:t>Introduction to Automata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463" y="2250354"/>
            <a:ext cx="8542338" cy="1994392"/>
          </a:xfrm>
        </p:spPr>
        <p:txBody>
          <a:bodyPr/>
          <a:lstStyle/>
          <a:p>
            <a:pPr marL="0" indent="0" algn="just">
              <a:buNone/>
            </a:pPr>
            <a:r>
              <a:rPr dirty="0" smtClean="0"/>
              <a:t>•</a:t>
            </a:r>
            <a:r>
              <a:rPr lang="en-US" dirty="0" smtClean="0"/>
              <a:t> </a:t>
            </a:r>
            <a:r>
              <a:rPr sz="2400" dirty="0" smtClean="0"/>
              <a:t>Automata </a:t>
            </a:r>
            <a:r>
              <a:rPr sz="2400" dirty="0"/>
              <a:t>theory is the study of abstract machines and computational problems.</a:t>
            </a:r>
          </a:p>
          <a:p>
            <a:pPr marL="0" indent="0" algn="just">
              <a:buNone/>
            </a:pPr>
            <a:r>
              <a:rPr sz="2400" dirty="0"/>
              <a:t>• Automata are mathematical models of computation.</a:t>
            </a:r>
          </a:p>
          <a:p>
            <a:pPr marL="0" indent="0" algn="just">
              <a:buNone/>
            </a:pPr>
            <a:r>
              <a:rPr sz="2400" dirty="0"/>
              <a:t>• They are used to understand what problems can be solved by computers.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1" y="4367934"/>
            <a:ext cx="3352800" cy="175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16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Automata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463" y="2430463"/>
            <a:ext cx="8077200" cy="2585323"/>
          </a:xfrm>
        </p:spPr>
        <p:txBody>
          <a:bodyPr/>
          <a:lstStyle/>
          <a:p>
            <a:pPr marL="0" indent="0" algn="just">
              <a:buNone/>
            </a:pPr>
            <a:r>
              <a:rPr sz="2400" dirty="0"/>
              <a:t>• Finite Automata (FA)</a:t>
            </a:r>
          </a:p>
          <a:p>
            <a:pPr marL="0" indent="0" algn="just">
              <a:buNone/>
            </a:pPr>
            <a:r>
              <a:rPr sz="2400" dirty="0"/>
              <a:t>• Pushdown Automata (PDA)</a:t>
            </a:r>
          </a:p>
          <a:p>
            <a:pPr marL="0" indent="0" algn="just">
              <a:buNone/>
            </a:pPr>
            <a:r>
              <a:rPr sz="2400" dirty="0"/>
              <a:t>• Linear Bounded Automata (LBA)</a:t>
            </a:r>
          </a:p>
          <a:p>
            <a:pPr marL="0" indent="0" algn="just">
              <a:buNone/>
            </a:pPr>
            <a:r>
              <a:rPr sz="2400" dirty="0"/>
              <a:t>• Turing Machine (TM)</a:t>
            </a:r>
          </a:p>
          <a:p>
            <a:pPr marL="0" indent="0" algn="just">
              <a:buNone/>
            </a:pPr>
            <a:endParaRPr sz="2400" dirty="0"/>
          </a:p>
          <a:p>
            <a:pPr marL="0" indent="0" algn="just">
              <a:buNone/>
            </a:pPr>
            <a:r>
              <a:rPr sz="2400" dirty="0"/>
              <a:t>Focus: Finite Automata (FA)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455" y="2105891"/>
            <a:ext cx="4253346" cy="402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689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Deterministic Finite Automata (DFA)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463" y="2208790"/>
            <a:ext cx="8077200" cy="34020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sz="2400" dirty="0"/>
              <a:t>• Each state has exactly one transition for each input symbol.</a:t>
            </a:r>
          </a:p>
          <a:p>
            <a:pPr marL="0" indent="0" algn="just">
              <a:buNone/>
            </a:pPr>
            <a:r>
              <a:rPr sz="2400" dirty="0"/>
              <a:t>• No ambiguity in transitions.</a:t>
            </a:r>
          </a:p>
          <a:p>
            <a:pPr marL="0" indent="0" algn="just">
              <a:buNone/>
            </a:pPr>
            <a:r>
              <a:rPr sz="2400" dirty="0"/>
              <a:t>• Formal definition: DFA = (Q, Σ, δ, q0, F)</a:t>
            </a:r>
          </a:p>
          <a:p>
            <a:pPr algn="just"/>
            <a:r>
              <a:rPr sz="2400" dirty="0"/>
              <a:t>   - Q: Finite set of states</a:t>
            </a:r>
          </a:p>
          <a:p>
            <a:pPr algn="just"/>
            <a:r>
              <a:rPr sz="2400" dirty="0"/>
              <a:t>   - Σ: Alphabet (input symbols)</a:t>
            </a:r>
          </a:p>
          <a:p>
            <a:pPr algn="just"/>
            <a:r>
              <a:rPr sz="2400" dirty="0"/>
              <a:t>   - δ: Transition function</a:t>
            </a:r>
          </a:p>
          <a:p>
            <a:pPr algn="just"/>
            <a:r>
              <a:rPr sz="2400" dirty="0"/>
              <a:t>   - q0: Start state</a:t>
            </a:r>
          </a:p>
          <a:p>
            <a:pPr algn="just"/>
            <a:r>
              <a:rPr sz="2400" dirty="0"/>
              <a:t>   - F: Final states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3228109"/>
            <a:ext cx="3352800" cy="289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58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811501"/>
            <a:ext cx="3965575" cy="512762"/>
          </a:xfrm>
        </p:spPr>
        <p:txBody>
          <a:bodyPr>
            <a:normAutofit fontScale="90000"/>
          </a:bodyPr>
          <a:lstStyle/>
          <a:p>
            <a:r>
              <a:rPr dirty="0"/>
              <a:t>Non-Deterministic Finite Automata (NFA)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09" y="2111808"/>
            <a:ext cx="8077200" cy="1698927"/>
          </a:xfrm>
        </p:spPr>
        <p:txBody>
          <a:bodyPr/>
          <a:lstStyle/>
          <a:p>
            <a:pPr marL="0" indent="0" algn="just">
              <a:buNone/>
            </a:pPr>
            <a:r>
              <a:rPr sz="2400" dirty="0"/>
              <a:t>• A state can have multiple transitions for a single input symbol.</a:t>
            </a:r>
          </a:p>
          <a:p>
            <a:pPr marL="0" indent="0" algn="just">
              <a:buNone/>
            </a:pPr>
            <a:r>
              <a:rPr sz="2400" dirty="0"/>
              <a:t>• May include ε (epsilon) transitions.</a:t>
            </a:r>
          </a:p>
          <a:p>
            <a:pPr marL="0" indent="0" algn="just">
              <a:buNone/>
            </a:pPr>
            <a:r>
              <a:rPr sz="2400" dirty="0"/>
              <a:t>• Formal definition: NFA = (Q, Σ, δ, q0, F)</a:t>
            </a:r>
          </a:p>
          <a:p>
            <a:pPr marL="0" indent="0" algn="just">
              <a:buNone/>
            </a:pPr>
            <a:r>
              <a:rPr sz="2400" dirty="0"/>
              <a:t>• NFAs and DFAs are equivalent in power.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44" y="4129391"/>
            <a:ext cx="6968837" cy="199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36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DFA vs NFA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09" y="2125663"/>
            <a:ext cx="8077200" cy="2585323"/>
          </a:xfrm>
        </p:spPr>
        <p:txBody>
          <a:bodyPr/>
          <a:lstStyle/>
          <a:p>
            <a:pPr marL="0" indent="0" algn="just">
              <a:buNone/>
            </a:pPr>
            <a:r>
              <a:rPr sz="2400" dirty="0"/>
              <a:t>• DFA: Exactly one path for each input string.</a:t>
            </a:r>
          </a:p>
          <a:p>
            <a:pPr marL="0" indent="0" algn="just">
              <a:buNone/>
            </a:pPr>
            <a:r>
              <a:rPr sz="2400" dirty="0"/>
              <a:t>• NFA: Can have multiple paths for input string.</a:t>
            </a:r>
          </a:p>
          <a:p>
            <a:pPr marL="0" indent="0" algn="just">
              <a:buNone/>
            </a:pPr>
            <a:r>
              <a:rPr sz="2400" dirty="0" smtClean="0"/>
              <a:t>•</a:t>
            </a:r>
            <a:r>
              <a:rPr lang="en-US" sz="2400" dirty="0"/>
              <a:t> </a:t>
            </a:r>
            <a:r>
              <a:rPr sz="2400" dirty="0" smtClean="0"/>
              <a:t>DFA </a:t>
            </a:r>
            <a:r>
              <a:rPr sz="2400" dirty="0"/>
              <a:t>is easier to implement in </a:t>
            </a:r>
            <a:r>
              <a:rPr lang="en-US" sz="2400" dirty="0" smtClean="0"/>
              <a:t>HW</a:t>
            </a:r>
            <a:r>
              <a:rPr sz="2400" dirty="0" smtClean="0"/>
              <a:t>/</a:t>
            </a:r>
            <a:r>
              <a:rPr lang="en-US" sz="2400" dirty="0" smtClean="0"/>
              <a:t>SW</a:t>
            </a:r>
            <a:r>
              <a:rPr sz="2400" dirty="0" smtClean="0"/>
              <a:t>.</a:t>
            </a:r>
            <a:endParaRPr sz="2400" dirty="0"/>
          </a:p>
          <a:p>
            <a:pPr marL="0" indent="0" algn="just">
              <a:buNone/>
            </a:pPr>
            <a:r>
              <a:rPr sz="2400" dirty="0"/>
              <a:t>• NFAs are often simpler to design.</a:t>
            </a:r>
          </a:p>
          <a:p>
            <a:pPr marL="0" indent="0" algn="just">
              <a:buNone/>
            </a:pPr>
            <a:r>
              <a:rPr sz="2400" dirty="0"/>
              <a:t>• Every NFA can be </a:t>
            </a:r>
            <a:r>
              <a:rPr sz="2400" dirty="0" smtClean="0"/>
              <a:t>converted</a:t>
            </a:r>
            <a:endParaRPr lang="en-US" sz="2400" dirty="0" smtClean="0"/>
          </a:p>
          <a:p>
            <a:pPr marL="0" indent="0" algn="just">
              <a:buNone/>
            </a:pPr>
            <a:r>
              <a:rPr sz="2400" dirty="0" smtClean="0"/>
              <a:t>into </a:t>
            </a:r>
            <a:r>
              <a:rPr sz="2400" dirty="0"/>
              <a:t>an equivalent DFA.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6606" t="42958" r="27091" b="12251"/>
          <a:stretch/>
        </p:blipFill>
        <p:spPr>
          <a:xfrm>
            <a:off x="4738255" y="3602182"/>
            <a:ext cx="4156363" cy="252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329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DFA vs NFA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0455"/>
          <a:stretch/>
        </p:blipFill>
        <p:spPr>
          <a:xfrm>
            <a:off x="2182091" y="2092036"/>
            <a:ext cx="4779818" cy="385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36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068" y="797648"/>
            <a:ext cx="3965575" cy="512762"/>
          </a:xfrm>
        </p:spPr>
        <p:txBody>
          <a:bodyPr/>
          <a:lstStyle/>
          <a:p>
            <a:r>
              <a:rPr dirty="0"/>
              <a:t>DFA Example 1: Even Number of 0s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255" y="2208791"/>
            <a:ext cx="8077200" cy="34020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sz="2400" dirty="0"/>
              <a:t>• Alphabet: {0, 1}</a:t>
            </a:r>
          </a:p>
          <a:p>
            <a:pPr marL="0" indent="0" algn="just">
              <a:buNone/>
            </a:pPr>
            <a:r>
              <a:rPr sz="2400" dirty="0"/>
              <a:t>• Language: Strings with an even number of 0s</a:t>
            </a:r>
          </a:p>
          <a:p>
            <a:pPr marL="0" indent="0" algn="just">
              <a:buNone/>
            </a:pPr>
            <a:r>
              <a:rPr sz="2400" dirty="0"/>
              <a:t>• States:</a:t>
            </a:r>
          </a:p>
          <a:p>
            <a:pPr marL="0" indent="0" algn="just">
              <a:buNone/>
            </a:pPr>
            <a:r>
              <a:rPr sz="2400" dirty="0"/>
              <a:t>   q0: Start state, even number of 0s (accepting)</a:t>
            </a:r>
          </a:p>
          <a:p>
            <a:pPr marL="0" indent="0" algn="just">
              <a:buNone/>
            </a:pPr>
            <a:r>
              <a:rPr sz="2400" dirty="0"/>
              <a:t>   q1: Odd number of 0s</a:t>
            </a:r>
          </a:p>
          <a:p>
            <a:pPr marL="0" indent="0" algn="just">
              <a:buNone/>
            </a:pPr>
            <a:r>
              <a:rPr sz="2400" dirty="0"/>
              <a:t>• Transitions:</a:t>
            </a:r>
          </a:p>
          <a:p>
            <a:pPr marL="0" indent="0" algn="just">
              <a:buNone/>
            </a:pPr>
            <a:r>
              <a:rPr sz="2400" dirty="0"/>
              <a:t>   q0 --0--&gt; q1, q1 --0--&gt; q0</a:t>
            </a:r>
          </a:p>
          <a:p>
            <a:pPr marL="0" indent="0" algn="just">
              <a:buNone/>
            </a:pPr>
            <a:r>
              <a:rPr sz="2400" dirty="0"/>
              <a:t>   q0 --1--&gt; q0, q1 --1--&gt; q1</a:t>
            </a:r>
          </a:p>
        </p:txBody>
      </p:sp>
    </p:spTree>
    <p:extLst>
      <p:ext uri="{BB962C8B-B14F-4D97-AF65-F5344CB8AC3E}">
        <p14:creationId xmlns:p14="http://schemas.microsoft.com/office/powerpoint/2010/main" val="165188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797647"/>
            <a:ext cx="3965575" cy="512762"/>
          </a:xfrm>
        </p:spPr>
        <p:txBody>
          <a:bodyPr>
            <a:normAutofit fontScale="90000"/>
          </a:bodyPr>
          <a:lstStyle/>
          <a:p>
            <a:r>
              <a:rPr dirty="0"/>
              <a:t>DFA Example 2: Strings Ending with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097954"/>
            <a:ext cx="8077200" cy="34020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sz="2400" dirty="0"/>
              <a:t>• Alphabet: {0, 1}</a:t>
            </a:r>
          </a:p>
          <a:p>
            <a:pPr marL="0" indent="0" algn="just">
              <a:buNone/>
            </a:pPr>
            <a:r>
              <a:rPr sz="2400" dirty="0"/>
              <a:t>• Language: Strings that end with '01'</a:t>
            </a:r>
          </a:p>
          <a:p>
            <a:pPr marL="0" indent="0" algn="just">
              <a:buNone/>
            </a:pPr>
            <a:r>
              <a:rPr sz="2400" dirty="0"/>
              <a:t>• States:</a:t>
            </a:r>
          </a:p>
          <a:p>
            <a:pPr marL="0" indent="0" algn="just">
              <a:buNone/>
            </a:pPr>
            <a:r>
              <a:rPr sz="2400" dirty="0"/>
              <a:t>   q0: Start state</a:t>
            </a:r>
          </a:p>
          <a:p>
            <a:pPr marL="0" indent="0" algn="just">
              <a:buNone/>
            </a:pPr>
            <a:r>
              <a:rPr sz="2400" dirty="0"/>
              <a:t>   q1: Last symbol was 0</a:t>
            </a:r>
          </a:p>
          <a:p>
            <a:pPr marL="0" indent="0" algn="just">
              <a:buNone/>
            </a:pPr>
            <a:r>
              <a:rPr sz="2400" dirty="0"/>
              <a:t>   q2: Last two symbols were 01 (accepting)</a:t>
            </a:r>
          </a:p>
          <a:p>
            <a:pPr marL="0" indent="0" algn="just">
              <a:buNone/>
            </a:pPr>
            <a:r>
              <a:rPr sz="2400" dirty="0"/>
              <a:t>• Transitions:</a:t>
            </a:r>
          </a:p>
          <a:p>
            <a:pPr marL="0" indent="0" algn="just">
              <a:buNone/>
            </a:pPr>
            <a:r>
              <a:rPr sz="2400" dirty="0"/>
              <a:t>   q0 --0--&gt; q1, q1 --1--&gt; q2</a:t>
            </a:r>
          </a:p>
          <a:p>
            <a:pPr marL="0" indent="0" algn="just">
              <a:buNone/>
            </a:pPr>
            <a:r>
              <a:rPr sz="2400" dirty="0"/>
              <a:t>   q1 --0--&gt; q1, q2 --0--&gt; q1, q2 --1--&gt; q0</a:t>
            </a:r>
          </a:p>
        </p:txBody>
      </p:sp>
    </p:spTree>
    <p:extLst>
      <p:ext uri="{BB962C8B-B14F-4D97-AF65-F5344CB8AC3E}">
        <p14:creationId xmlns:p14="http://schemas.microsoft.com/office/powerpoint/2010/main" val="35378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797647"/>
            <a:ext cx="3965575" cy="512762"/>
          </a:xfrm>
        </p:spPr>
        <p:txBody>
          <a:bodyPr>
            <a:normAutofit fontScale="90000"/>
          </a:bodyPr>
          <a:lstStyle/>
          <a:p>
            <a:r>
              <a:rPr dirty="0"/>
              <a:t>NFA Example 1: Strings Ending with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416608"/>
            <a:ext cx="8077200" cy="34020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• Alphabet: {0, 1}</a:t>
            </a:r>
          </a:p>
          <a:p>
            <a:pPr marL="0" indent="0">
              <a:buNone/>
            </a:pPr>
            <a:r>
              <a:rPr sz="2400" dirty="0"/>
              <a:t>• Language: Strings that end with '1'</a:t>
            </a:r>
          </a:p>
          <a:p>
            <a:pPr marL="0" indent="0">
              <a:buNone/>
            </a:pPr>
            <a:r>
              <a:rPr sz="2400" dirty="0"/>
              <a:t>• States:</a:t>
            </a:r>
          </a:p>
          <a:p>
            <a:pPr marL="0" indent="0">
              <a:buNone/>
            </a:pPr>
            <a:r>
              <a:rPr sz="2400" dirty="0"/>
              <a:t>   q0: Start state</a:t>
            </a:r>
          </a:p>
          <a:p>
            <a:pPr marL="0" indent="0">
              <a:buNone/>
            </a:pPr>
            <a:r>
              <a:rPr sz="2400" dirty="0"/>
              <a:t>   q1: Accepting state</a:t>
            </a:r>
          </a:p>
          <a:p>
            <a:pPr marL="0" indent="0">
              <a:buNone/>
            </a:pPr>
            <a:r>
              <a:rPr sz="2400" dirty="0"/>
              <a:t>• Transitions:</a:t>
            </a:r>
          </a:p>
          <a:p>
            <a:pPr marL="0" indent="0">
              <a:buNone/>
            </a:pPr>
            <a:r>
              <a:rPr sz="2400" dirty="0"/>
              <a:t>   q0 --0--&gt; q0, q0 --1--&gt; q0</a:t>
            </a:r>
          </a:p>
          <a:p>
            <a:pPr marL="0" indent="0">
              <a:buNone/>
            </a:pPr>
            <a:r>
              <a:rPr sz="2400" dirty="0"/>
              <a:t>   q0 --1--&gt; q1 (non-deterministic choice)</a:t>
            </a:r>
          </a:p>
        </p:txBody>
      </p:sp>
    </p:spTree>
    <p:extLst>
      <p:ext uri="{BB962C8B-B14F-4D97-AF65-F5344CB8AC3E}">
        <p14:creationId xmlns:p14="http://schemas.microsoft.com/office/powerpoint/2010/main" val="85473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839211"/>
            <a:ext cx="3965575" cy="512762"/>
          </a:xfrm>
        </p:spPr>
        <p:txBody>
          <a:bodyPr>
            <a:normAutofit fontScale="90000"/>
          </a:bodyPr>
          <a:lstStyle/>
          <a:p>
            <a:r>
              <a:rPr dirty="0"/>
              <a:t>NFA Example 2: Contains Substring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991" y="2056390"/>
            <a:ext cx="8077200" cy="34020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• Alphabet: {0, 1}</a:t>
            </a:r>
          </a:p>
          <a:p>
            <a:pPr marL="0" indent="0">
              <a:buNone/>
            </a:pPr>
            <a:r>
              <a:rPr sz="2400" dirty="0"/>
              <a:t>• Language: Strings that contain '101' as a substring</a:t>
            </a:r>
          </a:p>
          <a:p>
            <a:pPr marL="0" indent="0">
              <a:buNone/>
            </a:pPr>
            <a:r>
              <a:rPr sz="2400" dirty="0"/>
              <a:t>• States:</a:t>
            </a:r>
          </a:p>
          <a:p>
            <a:pPr marL="0" indent="0">
              <a:buNone/>
            </a:pPr>
            <a:r>
              <a:rPr sz="2400" dirty="0"/>
              <a:t>   q0: Start state</a:t>
            </a:r>
          </a:p>
          <a:p>
            <a:pPr marL="0" indent="0">
              <a:buNone/>
            </a:pPr>
            <a:r>
              <a:rPr sz="2400" dirty="0"/>
              <a:t>   q1: After reading '1'</a:t>
            </a:r>
          </a:p>
          <a:p>
            <a:pPr marL="0" indent="0">
              <a:buNone/>
            </a:pPr>
            <a:r>
              <a:rPr sz="2400" dirty="0"/>
              <a:t>   q2: After reading '10'</a:t>
            </a:r>
          </a:p>
          <a:p>
            <a:pPr marL="0" indent="0">
              <a:buNone/>
            </a:pPr>
            <a:r>
              <a:rPr sz="2400" dirty="0"/>
              <a:t>   q3: After reading '101' (accepting)</a:t>
            </a:r>
          </a:p>
          <a:p>
            <a:pPr marL="0" indent="0">
              <a:buNone/>
            </a:pPr>
            <a:r>
              <a:rPr sz="2400" dirty="0"/>
              <a:t>• Transitions:</a:t>
            </a:r>
          </a:p>
          <a:p>
            <a:pPr marL="0" indent="0">
              <a:buNone/>
            </a:pPr>
            <a:r>
              <a:rPr sz="2400" dirty="0"/>
              <a:t>   q0 --1--&gt; q1, q1 --0--&gt; q2, q2 --1--&gt; q3</a:t>
            </a:r>
          </a:p>
        </p:txBody>
      </p:sp>
    </p:spTree>
    <p:extLst>
      <p:ext uri="{BB962C8B-B14F-4D97-AF65-F5344CB8AC3E}">
        <p14:creationId xmlns:p14="http://schemas.microsoft.com/office/powerpoint/2010/main" val="260232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430463"/>
            <a:ext cx="8077200" cy="1698927"/>
          </a:xfrm>
        </p:spPr>
        <p:txBody>
          <a:bodyPr/>
          <a:lstStyle/>
          <a:p>
            <a:pPr marL="0" indent="0" algn="just">
              <a:buNone/>
            </a:pPr>
            <a:r>
              <a:rPr sz="2400" dirty="0"/>
              <a:t>• DFA examples: Even number of 0s, strings ending with 01</a:t>
            </a:r>
          </a:p>
          <a:p>
            <a:pPr marL="0" indent="0" algn="just">
              <a:buNone/>
            </a:pPr>
            <a:r>
              <a:rPr sz="2400" dirty="0"/>
              <a:t>• NFA examples: Strings ending with 1, containing substring 101</a:t>
            </a:r>
          </a:p>
          <a:p>
            <a:pPr marL="0" indent="0" algn="just">
              <a:buNone/>
            </a:pPr>
            <a:r>
              <a:rPr sz="2400" dirty="0"/>
              <a:t>• NFAs are simpler to design, DFAs easier to implement</a:t>
            </a:r>
          </a:p>
          <a:p>
            <a:pPr marL="0" indent="0" algn="just">
              <a:buNone/>
            </a:pPr>
            <a:r>
              <a:rPr sz="2400" dirty="0"/>
              <a:t>• Both recognize the same class of regular languages</a:t>
            </a:r>
          </a:p>
        </p:txBody>
      </p:sp>
    </p:spTree>
    <p:extLst>
      <p:ext uri="{BB962C8B-B14F-4D97-AF65-F5344CB8AC3E}">
        <p14:creationId xmlns:p14="http://schemas.microsoft.com/office/powerpoint/2010/main" val="682218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783793"/>
            <a:ext cx="3965575" cy="512762"/>
          </a:xfrm>
        </p:spPr>
        <p:txBody>
          <a:bodyPr/>
          <a:lstStyle/>
          <a:p>
            <a:r>
              <a:rPr dirty="0"/>
              <a:t>Applications of Automata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416609"/>
            <a:ext cx="8077200" cy="2142125"/>
          </a:xfrm>
        </p:spPr>
        <p:txBody>
          <a:bodyPr/>
          <a:lstStyle/>
          <a:p>
            <a:pPr marL="0" indent="0" algn="just">
              <a:buNone/>
            </a:pPr>
            <a:r>
              <a:rPr sz="2400" dirty="0"/>
              <a:t>• Compiler design </a:t>
            </a:r>
            <a:endParaRPr lang="en-US" sz="2400" dirty="0" smtClean="0"/>
          </a:p>
          <a:p>
            <a:pPr marL="0" indent="0" algn="just">
              <a:buNone/>
            </a:pPr>
            <a:r>
              <a:rPr sz="2400" dirty="0" smtClean="0"/>
              <a:t>• </a:t>
            </a:r>
            <a:r>
              <a:rPr sz="2400" dirty="0"/>
              <a:t>Text search </a:t>
            </a:r>
            <a:endParaRPr lang="en-US" sz="2400" dirty="0" smtClean="0"/>
          </a:p>
          <a:p>
            <a:pPr marL="0" indent="0" algn="just">
              <a:buNone/>
            </a:pPr>
            <a:r>
              <a:rPr sz="2400" dirty="0" smtClean="0"/>
              <a:t>• </a:t>
            </a:r>
            <a:r>
              <a:rPr sz="2400" dirty="0"/>
              <a:t>Protocol design and verification</a:t>
            </a:r>
          </a:p>
          <a:p>
            <a:pPr marL="0" indent="0" algn="just">
              <a:buNone/>
            </a:pPr>
            <a:r>
              <a:rPr sz="2400" dirty="0"/>
              <a:t>• Natural Language Processing (NLP)</a:t>
            </a:r>
          </a:p>
          <a:p>
            <a:pPr marL="0" indent="0" algn="just">
              <a:buNone/>
            </a:pPr>
            <a:r>
              <a:rPr sz="2400" dirty="0"/>
              <a:t>• Artificial Intelligence (AI) models</a:t>
            </a:r>
          </a:p>
        </p:txBody>
      </p:sp>
    </p:spTree>
    <p:extLst>
      <p:ext uri="{BB962C8B-B14F-4D97-AF65-F5344CB8AC3E}">
        <p14:creationId xmlns:p14="http://schemas.microsoft.com/office/powerpoint/2010/main" val="362967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>
            <a:spLocks noGrp="1"/>
          </p:cNvSpPr>
          <p:nvPr>
            <p:ph type="title"/>
          </p:nvPr>
        </p:nvSpPr>
        <p:spPr>
          <a:xfrm>
            <a:off x="4668981" y="2858294"/>
            <a:ext cx="266303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</a:pPr>
            <a:r>
              <a:rPr lang="en-US" sz="2800" i="0" u="none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Any Question??</a:t>
            </a:r>
            <a:r>
              <a:rPr lang="en-US" dirty="0"/>
              <a:t/>
            </a:r>
            <a:br>
              <a:rPr lang="en-US" dirty="0"/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8" name="Google Shape;148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5098" y="1781176"/>
            <a:ext cx="1808162" cy="3297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48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97E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1-7_23838_CSE202 Lecture zero gfg.pptx" id="{3A6F3978-4234-4001-A126-0E9575ECB730}" vid="{6FE351B5-5664-417B-9865-02ED65E2D8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