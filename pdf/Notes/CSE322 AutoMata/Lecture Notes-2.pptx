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0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79" r:id="rId20"/>
    <p:sldId id="299" r:id="rId21"/>
    <p:sldId id="28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44" r:id="rId66"/>
    <p:sldId id="345" r:id="rId67"/>
    <p:sldId id="346" r:id="rId68"/>
    <p:sldId id="347" r:id="rId69"/>
    <p:sldId id="348" r:id="rId70"/>
    <p:sldId id="349" r:id="rId71"/>
    <p:sldId id="350" r:id="rId72"/>
    <p:sldId id="351" r:id="rId73"/>
    <p:sldId id="352" r:id="rId74"/>
    <p:sldId id="353" r:id="rId75"/>
    <p:sldId id="354" r:id="rId76"/>
    <p:sldId id="355" r:id="rId77"/>
    <p:sldId id="356" r:id="rId78"/>
    <p:sldId id="357" r:id="rId79"/>
    <p:sldId id="358" r:id="rId80"/>
    <p:sldId id="359" r:id="rId81"/>
    <p:sldId id="360" r:id="rId82"/>
    <p:sldId id="361" r:id="rId83"/>
    <p:sldId id="362" r:id="rId84"/>
    <p:sldId id="363" r:id="rId85"/>
    <p:sldId id="364" r:id="rId86"/>
    <p:sldId id="365" r:id="rId87"/>
    <p:sldId id="366" r:id="rId88"/>
    <p:sldId id="367" r:id="rId89"/>
    <p:sldId id="368" r:id="rId90"/>
    <p:sldId id="369" r:id="rId91"/>
    <p:sldId id="370" r:id="rId92"/>
    <p:sldId id="371" r:id="rId93"/>
    <p:sldId id="372" r:id="rId94"/>
    <p:sldId id="373" r:id="rId95"/>
    <p:sldId id="374" r:id="rId96"/>
    <p:sldId id="375" r:id="rId97"/>
    <p:sldId id="376" r:id="rId98"/>
    <p:sldId id="377" r:id="rId99"/>
    <p:sldId id="378" r:id="rId100"/>
    <p:sldId id="271" r:id="rId101"/>
    <p:sldId id="272" r:id="rId102"/>
    <p:sldId id="273" r:id="rId103"/>
    <p:sldId id="274" r:id="rId104"/>
    <p:sldId id="275" r:id="rId105"/>
    <p:sldId id="276" r:id="rId106"/>
    <p:sldId id="277" r:id="rId107"/>
    <p:sldId id="278" r:id="rId108"/>
    <p:sldId id="269" r:id="rId109"/>
  </p:sldIdLst>
  <p:sldSz cx="9144000" cy="6858000" type="screen4x3"/>
  <p:notesSz cx="6858000" cy="9144000"/>
  <p:defaultTextStyle>
    <a:defPPr lvl="0">
      <a:defRPr lang="en-IN"/>
    </a:defPPr>
    <a:lvl1pPr lvl="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3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4.wmf"/><Relationship Id="rId7" Type="http://schemas.openxmlformats.org/officeDocument/2006/relationships/image" Target="../media/image9.wmf"/><Relationship Id="rId2" Type="http://schemas.openxmlformats.org/officeDocument/2006/relationships/image" Target="../media/image3.wmf"/><Relationship Id="rId1" Type="http://schemas.openxmlformats.org/officeDocument/2006/relationships/image" Target="../media/image14.wmf"/><Relationship Id="rId6" Type="http://schemas.openxmlformats.org/officeDocument/2006/relationships/image" Target="../media/image8.wmf"/><Relationship Id="rId11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5.wmf"/><Relationship Id="rId4" Type="http://schemas.openxmlformats.org/officeDocument/2006/relationships/image" Target="../media/image5.wmf"/><Relationship Id="rId9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8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3.wmf"/><Relationship Id="rId6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4.wmf"/><Relationship Id="rId6" Type="http://schemas.openxmlformats.org/officeDocument/2006/relationships/image" Target="../media/image20.wmf"/><Relationship Id="rId5" Type="http://schemas.openxmlformats.org/officeDocument/2006/relationships/image" Target="../media/image8.wmf"/><Relationship Id="rId4" Type="http://schemas.openxmlformats.org/officeDocument/2006/relationships/image" Target="../media/image1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5.wmf"/><Relationship Id="rId6" Type="http://schemas.openxmlformats.org/officeDocument/2006/relationships/image" Target="../media/image8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6.wmf"/><Relationship Id="rId5" Type="http://schemas.openxmlformats.org/officeDocument/2006/relationships/image" Target="../media/image21.wmf"/><Relationship Id="rId4" Type="http://schemas.openxmlformats.org/officeDocument/2006/relationships/image" Target="../media/image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27.wmf"/><Relationship Id="rId1" Type="http://schemas.openxmlformats.org/officeDocument/2006/relationships/image" Target="../media/image18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5.wmf"/><Relationship Id="rId2" Type="http://schemas.openxmlformats.org/officeDocument/2006/relationships/image" Target="../media/image18.wmf"/><Relationship Id="rId1" Type="http://schemas.openxmlformats.org/officeDocument/2006/relationships/image" Target="../media/image8.wmf"/><Relationship Id="rId6" Type="http://schemas.openxmlformats.org/officeDocument/2006/relationships/image" Target="../media/image30.wmf"/><Relationship Id="rId5" Type="http://schemas.openxmlformats.org/officeDocument/2006/relationships/image" Target="../media/image28.wmf"/><Relationship Id="rId4" Type="http://schemas.openxmlformats.org/officeDocument/2006/relationships/image" Target="../media/image21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0.wmf"/><Relationship Id="rId2" Type="http://schemas.openxmlformats.org/officeDocument/2006/relationships/image" Target="../media/image18.wmf"/><Relationship Id="rId1" Type="http://schemas.openxmlformats.org/officeDocument/2006/relationships/image" Target="../media/image26.wmf"/><Relationship Id="rId6" Type="http://schemas.openxmlformats.org/officeDocument/2006/relationships/image" Target="../media/image28.wmf"/><Relationship Id="rId5" Type="http://schemas.openxmlformats.org/officeDocument/2006/relationships/image" Target="../media/image21.wmf"/><Relationship Id="rId4" Type="http://schemas.openxmlformats.org/officeDocument/2006/relationships/image" Target="../media/image8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0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28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32.wmf"/><Relationship Id="rId7" Type="http://schemas.openxmlformats.org/officeDocument/2006/relationships/image" Target="../media/image35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4.wmf"/><Relationship Id="rId5" Type="http://schemas.openxmlformats.org/officeDocument/2006/relationships/image" Target="../media/image19.wmf"/><Relationship Id="rId4" Type="http://schemas.openxmlformats.org/officeDocument/2006/relationships/image" Target="../media/image33.wmf"/><Relationship Id="rId9" Type="http://schemas.openxmlformats.org/officeDocument/2006/relationships/image" Target="../media/image20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image" Target="../media/image19.wmf"/><Relationship Id="rId1" Type="http://schemas.openxmlformats.org/officeDocument/2006/relationships/image" Target="../media/image32.wmf"/><Relationship Id="rId6" Type="http://schemas.openxmlformats.org/officeDocument/2006/relationships/image" Target="../media/image20.wmf"/><Relationship Id="rId5" Type="http://schemas.openxmlformats.org/officeDocument/2006/relationships/image" Target="../media/image28.wmf"/><Relationship Id="rId4" Type="http://schemas.openxmlformats.org/officeDocument/2006/relationships/image" Target="../media/image35.wmf"/><Relationship Id="rId9" Type="http://schemas.openxmlformats.org/officeDocument/2006/relationships/image" Target="../media/image38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32.wmf"/><Relationship Id="rId7" Type="http://schemas.openxmlformats.org/officeDocument/2006/relationships/image" Target="../media/image2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9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32.wmf"/><Relationship Id="rId7" Type="http://schemas.openxmlformats.org/officeDocument/2006/relationships/image" Target="../media/image2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9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5.wmf"/><Relationship Id="rId7" Type="http://schemas.openxmlformats.org/officeDocument/2006/relationships/image" Target="../media/image40.wmf"/><Relationship Id="rId2" Type="http://schemas.openxmlformats.org/officeDocument/2006/relationships/image" Target="../media/image34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28.wmf"/><Relationship Id="rId9" Type="http://schemas.openxmlformats.org/officeDocument/2006/relationships/image" Target="../media/image27.w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2.wmf"/><Relationship Id="rId7" Type="http://schemas.openxmlformats.org/officeDocument/2006/relationships/image" Target="../media/image40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28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27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33.wmf"/><Relationship Id="rId7" Type="http://schemas.openxmlformats.org/officeDocument/2006/relationships/image" Target="../media/image28.wmf"/><Relationship Id="rId2" Type="http://schemas.openxmlformats.org/officeDocument/2006/relationships/image" Target="../media/image32.wmf"/><Relationship Id="rId1" Type="http://schemas.openxmlformats.org/officeDocument/2006/relationships/image" Target="../media/image42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Input alphabet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BDF80C4-4F29-4D73-98FB-951E9F218256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79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Set of States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3FDB16C-74C0-450D-A396-E347AE9BB647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894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smtClean="0"/>
              <a:t>Initial State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57BE0DF-59BA-4E5E-BDD8-19A5E1B78B6E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38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 smtClean="0"/>
              <a:t>Accepting State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D98AE4D-5569-41D7-9771-BECDA0E110B0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967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d</a:t>
            </a:r>
            <a:endParaRPr lang="en-IN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FF7F8F3-F0BE-47E6-A28A-7B45F61C785E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18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92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ACA3547-1EF9-4427-9084-721EA0606410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22</a:t>
            </a:fld>
            <a:endParaRPr lang="en-US" altLang="en-US" sz="120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188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0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8936" y="2156282"/>
            <a:ext cx="7666126" cy="69723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0BDB3AF0-2A54-E29A-AB70-5AF71538A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8F9CBC5E-B744-8303-A293-E91E9A0529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5C936BF-AD96-628B-569E-9F392A45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04BBA-87C4-4BF2-A23E-8D858119657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5544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17ECFC81-D6DC-0582-583F-EAA646F6A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60D0189-8B3E-C32E-B32C-267631575A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3C67EAD-8E35-2334-5D37-34264F2C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6D435-967C-4152-9AC7-3A8AAE09D75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751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5BF19F82-69E1-0CAA-21A9-4E1175F085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1673359E-E1D5-3814-4665-4F7F10669B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49487E43-A880-6E62-03AC-F2DD837C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C7AA2-A09E-474B-85C9-5A2A11E3B5C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0702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8C38390D-E5DA-573A-CA06-0043B6CB31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76A7C744-35BC-A020-ACD1-8CEC32DCDFC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BC5C6DF-FA29-3DDA-2ABF-B68839AC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18E1D-5C67-40FA-ABB3-BEC4F3FC10D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61415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D1CDD706-F2D1-1AEA-2FE7-B0F2F6297D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547E8D4-B1EC-B238-ED79-C8603150E5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CB04B554-FCC5-D9D4-B6CE-AC9E6047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1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5122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546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Fall 2004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Costas Busch - RPI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E62F2-7BCC-473A-87E2-CE94E714FE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65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Fall 2004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Costas Busch - RPI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1E1F8-CC44-49B0-B705-5A4B404DD5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05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Fall 2004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Costas Busch - RPI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3511B-895B-409B-9AAC-65016E4B3B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73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g object 16">
            <a:extLst>
              <a:ext uri="{FF2B5EF4-FFF2-40B4-BE49-F238E27FC236}">
                <a16:creationId xmlns:a16="http://schemas.microsoft.com/office/drawing/2014/main" id="{38B6D224-360A-DCAD-CED2-F6685538F8DB}"/>
              </a:ext>
            </a:extLst>
          </p:cNvPr>
          <p:cNvSpPr>
            <a:spLocks/>
          </p:cNvSpPr>
          <p:nvPr/>
        </p:nvSpPr>
        <p:spPr bwMode="auto">
          <a:xfrm>
            <a:off x="0" y="6400800"/>
            <a:ext cx="9144000" cy="377825"/>
          </a:xfrm>
          <a:custGeom>
            <a:avLst/>
            <a:gdLst>
              <a:gd name="T0" fmla="*/ 0 w 9144000"/>
              <a:gd name="T1" fmla="*/ 377825 h 377825"/>
              <a:gd name="T2" fmla="*/ 9144000 w 9144000"/>
              <a:gd name="T3" fmla="*/ 377825 h 377825"/>
              <a:gd name="T4" fmla="*/ 9144000 w 9144000"/>
              <a:gd name="T5" fmla="*/ 0 h 377825"/>
              <a:gd name="T6" fmla="*/ 0 w 9144000"/>
              <a:gd name="T7" fmla="*/ 0 h 377825"/>
              <a:gd name="T8" fmla="*/ 0 w 9144000"/>
              <a:gd name="T9" fmla="*/ 377825 h 377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377825">
                <a:moveTo>
                  <a:pt x="0" y="377825"/>
                </a:moveTo>
                <a:lnTo>
                  <a:pt x="9144000" y="377825"/>
                </a:lnTo>
                <a:lnTo>
                  <a:pt x="9144000" y="0"/>
                </a:lnTo>
                <a:lnTo>
                  <a:pt x="0" y="0"/>
                </a:lnTo>
                <a:lnTo>
                  <a:pt x="0" y="377825"/>
                </a:lnTo>
                <a:close/>
              </a:path>
            </a:pathLst>
          </a:custGeom>
          <a:solidFill>
            <a:srgbClr val="BC57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7" name="bg object 17">
            <a:extLst>
              <a:ext uri="{FF2B5EF4-FFF2-40B4-BE49-F238E27FC236}">
                <a16:creationId xmlns:a16="http://schemas.microsoft.com/office/drawing/2014/main" id="{FB55ADC6-973D-54AE-303B-FDC5B1EFA0DB}"/>
              </a:ext>
            </a:extLst>
          </p:cNvPr>
          <p:cNvSpPr>
            <a:spLocks/>
          </p:cNvSpPr>
          <p:nvPr/>
        </p:nvSpPr>
        <p:spPr bwMode="auto">
          <a:xfrm>
            <a:off x="0" y="6334125"/>
            <a:ext cx="9144000" cy="66675"/>
          </a:xfrm>
          <a:custGeom>
            <a:avLst/>
            <a:gdLst>
              <a:gd name="T0" fmla="*/ 9144000 w 9144000"/>
              <a:gd name="T1" fmla="*/ 0 h 66675"/>
              <a:gd name="T2" fmla="*/ 0 w 9144000"/>
              <a:gd name="T3" fmla="*/ 0 h 66675"/>
              <a:gd name="T4" fmla="*/ 0 w 9144000"/>
              <a:gd name="T5" fmla="*/ 66675 h 66675"/>
              <a:gd name="T6" fmla="*/ 9144000 w 9144000"/>
              <a:gd name="T7" fmla="*/ 66675 h 66675"/>
              <a:gd name="T8" fmla="*/ 9144000 w 9144000"/>
              <a:gd name="T9" fmla="*/ 0 h 66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66675">
                <a:moveTo>
                  <a:pt x="9144000" y="0"/>
                </a:moveTo>
                <a:lnTo>
                  <a:pt x="0" y="0"/>
                </a:lnTo>
                <a:lnTo>
                  <a:pt x="0" y="66675"/>
                </a:lnTo>
                <a:lnTo>
                  <a:pt x="9144000" y="666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8" name="bg object 18">
            <a:extLst>
              <a:ext uri="{FF2B5EF4-FFF2-40B4-BE49-F238E27FC236}">
                <a16:creationId xmlns:a16="http://schemas.microsoft.com/office/drawing/2014/main" id="{6F8D45B5-A1AA-CAF6-8F8D-93B94696096C}"/>
              </a:ext>
            </a:extLst>
          </p:cNvPr>
          <p:cNvSpPr>
            <a:spLocks/>
          </p:cNvSpPr>
          <p:nvPr/>
        </p:nvSpPr>
        <p:spPr bwMode="auto">
          <a:xfrm>
            <a:off x="895350" y="1738313"/>
            <a:ext cx="7475538" cy="0"/>
          </a:xfrm>
          <a:custGeom>
            <a:avLst/>
            <a:gdLst>
              <a:gd name="T0" fmla="*/ 0 w 7475855"/>
              <a:gd name="T1" fmla="*/ 7475601 w 747585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7475855">
                <a:moveTo>
                  <a:pt x="0" y="0"/>
                </a:moveTo>
                <a:lnTo>
                  <a:pt x="7475601" y="0"/>
                </a:lnTo>
              </a:path>
            </a:pathLst>
          </a:custGeom>
          <a:noFill/>
          <a:ln w="6350">
            <a:solidFill>
              <a:srgbClr val="7E7E7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9" name="bg object 19">
            <a:extLst>
              <a:ext uri="{FF2B5EF4-FFF2-40B4-BE49-F238E27FC236}">
                <a16:creationId xmlns:a16="http://schemas.microsoft.com/office/drawing/2014/main" id="{3D74A175-D9BD-E594-4382-65F2DD62AC96}"/>
              </a:ext>
            </a:extLst>
          </p:cNvPr>
          <p:cNvSpPr>
            <a:spLocks/>
          </p:cNvSpPr>
          <p:nvPr/>
        </p:nvSpPr>
        <p:spPr bwMode="auto">
          <a:xfrm>
            <a:off x="0" y="6778625"/>
            <a:ext cx="9144000" cy="79375"/>
          </a:xfrm>
          <a:custGeom>
            <a:avLst/>
            <a:gdLst>
              <a:gd name="T0" fmla="*/ 9144000 w 9144000"/>
              <a:gd name="T1" fmla="*/ 0 h 79375"/>
              <a:gd name="T2" fmla="*/ 0 w 9144000"/>
              <a:gd name="T3" fmla="*/ 0 h 79375"/>
              <a:gd name="T4" fmla="*/ 0 w 9144000"/>
              <a:gd name="T5" fmla="*/ 79375 h 79375"/>
              <a:gd name="T6" fmla="*/ 9144000 w 9144000"/>
              <a:gd name="T7" fmla="*/ 79375 h 79375"/>
              <a:gd name="T8" fmla="*/ 9144000 w 9144000"/>
              <a:gd name="T9" fmla="*/ 0 h 79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375"/>
                </a:lnTo>
                <a:lnTo>
                  <a:pt x="9144000" y="79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C77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30" name="bg object 20">
            <a:extLst>
              <a:ext uri="{FF2B5EF4-FFF2-40B4-BE49-F238E27FC236}">
                <a16:creationId xmlns:a16="http://schemas.microsoft.com/office/drawing/2014/main" id="{AFD48CA7-8CBF-52F2-2B93-60FE92200F9F}"/>
              </a:ext>
            </a:extLst>
          </p:cNvPr>
          <p:cNvSpPr>
            <a:spLocks/>
          </p:cNvSpPr>
          <p:nvPr/>
        </p:nvSpPr>
        <p:spPr bwMode="auto">
          <a:xfrm>
            <a:off x="1558925" y="431800"/>
            <a:ext cx="6080125" cy="46038"/>
          </a:xfrm>
          <a:custGeom>
            <a:avLst/>
            <a:gdLst>
              <a:gd name="T0" fmla="*/ 6080125 w 6080125"/>
              <a:gd name="T1" fmla="*/ 0 h 46354"/>
              <a:gd name="T2" fmla="*/ 0 w 6080125"/>
              <a:gd name="T3" fmla="*/ 0 h 46354"/>
              <a:gd name="T4" fmla="*/ 0 w 6080125"/>
              <a:gd name="T5" fmla="*/ 46037 h 46354"/>
              <a:gd name="T6" fmla="*/ 6080125 w 6080125"/>
              <a:gd name="T7" fmla="*/ 46037 h 46354"/>
              <a:gd name="T8" fmla="*/ 6080125 w 6080125"/>
              <a:gd name="T9" fmla="*/ 0 h 46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80125" h="46354">
                <a:moveTo>
                  <a:pt x="6080125" y="0"/>
                </a:moveTo>
                <a:lnTo>
                  <a:pt x="0" y="0"/>
                </a:lnTo>
                <a:lnTo>
                  <a:pt x="0" y="46037"/>
                </a:lnTo>
                <a:lnTo>
                  <a:pt x="6080125" y="46037"/>
                </a:lnTo>
                <a:lnTo>
                  <a:pt x="6080125" y="0"/>
                </a:lnTo>
                <a:close/>
              </a:path>
            </a:pathLst>
          </a:custGeom>
          <a:solidFill>
            <a:srgbClr val="F47C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pic>
        <p:nvPicPr>
          <p:cNvPr id="1031" name="bg object 21">
            <a:extLst>
              <a:ext uri="{FF2B5EF4-FFF2-40B4-BE49-F238E27FC236}">
                <a16:creationId xmlns:a16="http://schemas.microsoft.com/office/drawing/2014/main" id="{9D8AC5D9-D59F-9A81-D56C-FF7DE6A24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050" y="177800"/>
            <a:ext cx="11604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bg object 22">
            <a:extLst>
              <a:ext uri="{FF2B5EF4-FFF2-40B4-BE49-F238E27FC236}">
                <a16:creationId xmlns:a16="http://schemas.microsoft.com/office/drawing/2014/main" id="{7C584618-3703-DCC8-351E-B56D98202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77800"/>
            <a:ext cx="11858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Holder 2">
            <a:extLst>
              <a:ext uri="{FF2B5EF4-FFF2-40B4-BE49-F238E27FC236}">
                <a16:creationId xmlns:a16="http://schemas.microsoft.com/office/drawing/2014/main" id="{62E9138C-FAD7-6BD0-5F95-3DBAE510F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89213" y="922338"/>
            <a:ext cx="396557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34" name="Holder 3">
            <a:extLst>
              <a:ext uri="{FF2B5EF4-FFF2-40B4-BE49-F238E27FC236}">
                <a16:creationId xmlns:a16="http://schemas.microsoft.com/office/drawing/2014/main" id="{59DC8208-C94C-68E3-4809-5E1DCC0E3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2430463"/>
            <a:ext cx="8077200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9415830-17A8-9757-3065-EED64C360CC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FA5F93E-3891-023A-939D-D897A35B427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3485577B-3FF3-4F6B-E1E9-B637F2E80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363" y="6378575"/>
            <a:ext cx="210343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48753D6-8207-4510-9816-3D50DD4C4FD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89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5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0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3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2.bin"/><Relationship Id="rId28" Type="http://schemas.openxmlformats.org/officeDocument/2006/relationships/oleObject" Target="../embeddings/oleObject16.bin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1.wmf"/><Relationship Id="rId30" Type="http://schemas.openxmlformats.org/officeDocument/2006/relationships/oleObject" Target="../embeddings/oleObject1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32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0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7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29.bin"/><Relationship Id="rId28" Type="http://schemas.openxmlformats.org/officeDocument/2006/relationships/oleObject" Target="../embeddings/oleObject33.bin"/><Relationship Id="rId10" Type="http://schemas.openxmlformats.org/officeDocument/2006/relationships/oleObject" Target="../embeddings/oleObject21.bin"/><Relationship Id="rId19" Type="http://schemas.openxmlformats.org/officeDocument/2006/relationships/oleObject" Target="../embeddings/oleObject26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11.wmf"/><Relationship Id="rId30" Type="http://schemas.openxmlformats.org/officeDocument/2006/relationships/oleObject" Target="../embeddings/oleObject3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9.bin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45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2.bin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48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3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6.bin"/><Relationship Id="rId27" Type="http://schemas.openxmlformats.org/officeDocument/2006/relationships/oleObject" Target="../embeddings/oleObject5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58.bin"/><Relationship Id="rId26" Type="http://schemas.openxmlformats.org/officeDocument/2006/relationships/oleObject" Target="../embeddings/oleObject65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15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63.bin"/><Relationship Id="rId32" Type="http://schemas.openxmlformats.org/officeDocument/2006/relationships/image" Target="../media/image7.wmf"/><Relationship Id="rId5" Type="http://schemas.openxmlformats.org/officeDocument/2006/relationships/image" Target="../media/image14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62.bin"/><Relationship Id="rId28" Type="http://schemas.openxmlformats.org/officeDocument/2006/relationships/oleObject" Target="../embeddings/oleObject66.bin"/><Relationship Id="rId10" Type="http://schemas.openxmlformats.org/officeDocument/2006/relationships/oleObject" Target="../embeddings/oleObject54.bin"/><Relationship Id="rId19" Type="http://schemas.openxmlformats.org/officeDocument/2006/relationships/oleObject" Target="../embeddings/oleObject59.bin"/><Relationship Id="rId31" Type="http://schemas.openxmlformats.org/officeDocument/2006/relationships/oleObject" Target="../embeddings/oleObject68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11.wmf"/><Relationship Id="rId30" Type="http://schemas.openxmlformats.org/officeDocument/2006/relationships/oleObject" Target="../embeddings/oleObject6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10.wmf"/><Relationship Id="rId26" Type="http://schemas.openxmlformats.org/officeDocument/2006/relationships/oleObject" Target="../embeddings/oleObject84.bin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77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9.bin"/><Relationship Id="rId29" Type="http://schemas.openxmlformats.org/officeDocument/2006/relationships/oleObject" Target="../embeddings/oleObject8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82.bin"/><Relationship Id="rId28" Type="http://schemas.openxmlformats.org/officeDocument/2006/relationships/oleObject" Target="../embeddings/oleObject86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78.bin"/><Relationship Id="rId31" Type="http://schemas.openxmlformats.org/officeDocument/2006/relationships/image" Target="../media/image3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9.wmf"/><Relationship Id="rId22" Type="http://schemas.openxmlformats.org/officeDocument/2006/relationships/oleObject" Target="../embeddings/oleObject81.bin"/><Relationship Id="rId27" Type="http://schemas.openxmlformats.org/officeDocument/2006/relationships/oleObject" Target="../embeddings/oleObject85.bin"/><Relationship Id="rId30" Type="http://schemas.openxmlformats.org/officeDocument/2006/relationships/oleObject" Target="../embeddings/oleObject8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94.bin"/><Relationship Id="rId18" Type="http://schemas.openxmlformats.org/officeDocument/2006/relationships/oleObject" Target="../embeddings/oleObject97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06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93.bin"/><Relationship Id="rId24" Type="http://schemas.openxmlformats.org/officeDocument/2006/relationships/oleObject" Target="../embeddings/oleObject102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101.bin"/><Relationship Id="rId28" Type="http://schemas.openxmlformats.org/officeDocument/2006/relationships/oleObject" Target="../embeddings/oleObject10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98.bin"/><Relationship Id="rId31" Type="http://schemas.openxmlformats.org/officeDocument/2006/relationships/oleObject" Target="../embeddings/oleObject10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00.bin"/><Relationship Id="rId27" Type="http://schemas.openxmlformats.org/officeDocument/2006/relationships/oleObject" Target="../embeddings/oleObject104.bin"/><Relationship Id="rId30" Type="http://schemas.openxmlformats.org/officeDocument/2006/relationships/oleObject" Target="../embeddings/oleObject10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14.bin"/><Relationship Id="rId18" Type="http://schemas.openxmlformats.org/officeDocument/2006/relationships/oleObject" Target="../embeddings/oleObject117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2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13.bin"/><Relationship Id="rId24" Type="http://schemas.openxmlformats.org/officeDocument/2006/relationships/oleObject" Target="../embeddings/oleObject122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21.bin"/><Relationship Id="rId28" Type="http://schemas.openxmlformats.org/officeDocument/2006/relationships/oleObject" Target="../embeddings/oleObject12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18.bin"/><Relationship Id="rId31" Type="http://schemas.openxmlformats.org/officeDocument/2006/relationships/oleObject" Target="../embeddings/oleObject12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20.bin"/><Relationship Id="rId27" Type="http://schemas.openxmlformats.org/officeDocument/2006/relationships/oleObject" Target="../embeddings/oleObject124.bin"/><Relationship Id="rId30" Type="http://schemas.openxmlformats.org/officeDocument/2006/relationships/oleObject" Target="../embeddings/oleObject1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34.bin"/><Relationship Id="rId18" Type="http://schemas.openxmlformats.org/officeDocument/2006/relationships/oleObject" Target="../embeddings/oleObject137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29.bin"/><Relationship Id="rId21" Type="http://schemas.openxmlformats.org/officeDocument/2006/relationships/oleObject" Target="../embeddings/oleObject13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33.bin"/><Relationship Id="rId24" Type="http://schemas.openxmlformats.org/officeDocument/2006/relationships/oleObject" Target="../embeddings/oleObject142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oleObject" Target="../embeddings/oleObject141.bin"/><Relationship Id="rId28" Type="http://schemas.openxmlformats.org/officeDocument/2006/relationships/oleObject" Target="../embeddings/oleObject14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40.bin"/><Relationship Id="rId27" Type="http://schemas.openxmlformats.org/officeDocument/2006/relationships/oleObject" Target="../embeddings/oleObject144.bin"/><Relationship Id="rId30" Type="http://schemas.openxmlformats.org/officeDocument/2006/relationships/oleObject" Target="../embeddings/oleObject14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54.bin"/><Relationship Id="rId18" Type="http://schemas.openxmlformats.org/officeDocument/2006/relationships/oleObject" Target="../embeddings/oleObject157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56.bin"/><Relationship Id="rId25" Type="http://schemas.openxmlformats.org/officeDocument/2006/relationships/oleObject" Target="../embeddings/oleObject16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66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53.bin"/><Relationship Id="rId24" Type="http://schemas.openxmlformats.org/officeDocument/2006/relationships/oleObject" Target="../embeddings/oleObject162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61.bin"/><Relationship Id="rId28" Type="http://schemas.openxmlformats.org/officeDocument/2006/relationships/oleObject" Target="../embeddings/oleObject16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60.bin"/><Relationship Id="rId27" Type="http://schemas.openxmlformats.org/officeDocument/2006/relationships/oleObject" Target="../embeddings/oleObject164.bin"/><Relationship Id="rId30" Type="http://schemas.openxmlformats.org/officeDocument/2006/relationships/oleObject" Target="../embeddings/oleObject16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74.bin"/><Relationship Id="rId18" Type="http://schemas.openxmlformats.org/officeDocument/2006/relationships/oleObject" Target="../embeddings/oleObject177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86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73.bin"/><Relationship Id="rId24" Type="http://schemas.openxmlformats.org/officeDocument/2006/relationships/oleObject" Target="../embeddings/oleObject182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81.bin"/><Relationship Id="rId28" Type="http://schemas.openxmlformats.org/officeDocument/2006/relationships/oleObject" Target="../embeddings/oleObject18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78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80.bin"/><Relationship Id="rId27" Type="http://schemas.openxmlformats.org/officeDocument/2006/relationships/oleObject" Target="../embeddings/oleObject184.bin"/><Relationship Id="rId30" Type="http://schemas.openxmlformats.org/officeDocument/2006/relationships/oleObject" Target="../embeddings/oleObject18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0.wmf"/><Relationship Id="rId26" Type="http://schemas.openxmlformats.org/officeDocument/2006/relationships/oleObject" Target="../embeddings/oleObject204.bin"/><Relationship Id="rId3" Type="http://schemas.openxmlformats.org/officeDocument/2006/relationships/oleObject" Target="../embeddings/oleObject189.bin"/><Relationship Id="rId21" Type="http://schemas.openxmlformats.org/officeDocument/2006/relationships/oleObject" Target="../embeddings/oleObject200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97.bin"/><Relationship Id="rId25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6.bin"/><Relationship Id="rId20" Type="http://schemas.openxmlformats.org/officeDocument/2006/relationships/oleObject" Target="../embeddings/oleObject199.bin"/><Relationship Id="rId29" Type="http://schemas.openxmlformats.org/officeDocument/2006/relationships/oleObject" Target="../embeddings/oleObject207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202.bin"/><Relationship Id="rId28" Type="http://schemas.openxmlformats.org/officeDocument/2006/relationships/oleObject" Target="../embeddings/oleObject206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9.wmf"/><Relationship Id="rId22" Type="http://schemas.openxmlformats.org/officeDocument/2006/relationships/oleObject" Target="../embeddings/oleObject201.bin"/><Relationship Id="rId27" Type="http://schemas.openxmlformats.org/officeDocument/2006/relationships/oleObject" Target="../embeddings/oleObject205.bin"/><Relationship Id="rId30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213.bin"/><Relationship Id="rId18" Type="http://schemas.openxmlformats.org/officeDocument/2006/relationships/oleObject" Target="../embeddings/oleObject216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225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212.bin"/><Relationship Id="rId24" Type="http://schemas.openxmlformats.org/officeDocument/2006/relationships/oleObject" Target="../embeddings/oleObject221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20.bin"/><Relationship Id="rId28" Type="http://schemas.openxmlformats.org/officeDocument/2006/relationships/oleObject" Target="../embeddings/oleObject224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219.bin"/><Relationship Id="rId27" Type="http://schemas.openxmlformats.org/officeDocument/2006/relationships/oleObject" Target="../embeddings/oleObject223.bin"/><Relationship Id="rId30" Type="http://schemas.openxmlformats.org/officeDocument/2006/relationships/oleObject" Target="../embeddings/oleObject22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232.bin"/><Relationship Id="rId18" Type="http://schemas.openxmlformats.org/officeDocument/2006/relationships/oleObject" Target="../embeddings/oleObject235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227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34.bin"/><Relationship Id="rId25" Type="http://schemas.openxmlformats.org/officeDocument/2006/relationships/oleObject" Target="../embeddings/oleObject24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244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231.bin"/><Relationship Id="rId24" Type="http://schemas.openxmlformats.org/officeDocument/2006/relationships/oleObject" Target="../embeddings/oleObject240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23" Type="http://schemas.openxmlformats.org/officeDocument/2006/relationships/oleObject" Target="../embeddings/oleObject239.bin"/><Relationship Id="rId28" Type="http://schemas.openxmlformats.org/officeDocument/2006/relationships/oleObject" Target="../embeddings/oleObject243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36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238.bin"/><Relationship Id="rId27" Type="http://schemas.openxmlformats.org/officeDocument/2006/relationships/oleObject" Target="../embeddings/oleObject242.bin"/><Relationship Id="rId30" Type="http://schemas.openxmlformats.org/officeDocument/2006/relationships/oleObject" Target="../embeddings/oleObject24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251.bin"/><Relationship Id="rId18" Type="http://schemas.openxmlformats.org/officeDocument/2006/relationships/oleObject" Target="../embeddings/oleObject254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246.bin"/><Relationship Id="rId21" Type="http://schemas.openxmlformats.org/officeDocument/2006/relationships/oleObject" Target="../embeddings/oleObject256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53.bin"/><Relationship Id="rId25" Type="http://schemas.openxmlformats.org/officeDocument/2006/relationships/oleObject" Target="../embeddings/oleObject2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26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250.bin"/><Relationship Id="rId24" Type="http://schemas.openxmlformats.org/officeDocument/2006/relationships/oleObject" Target="../embeddings/oleObject259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23" Type="http://schemas.openxmlformats.org/officeDocument/2006/relationships/oleObject" Target="../embeddings/oleObject258.bin"/><Relationship Id="rId28" Type="http://schemas.openxmlformats.org/officeDocument/2006/relationships/oleObject" Target="../embeddings/oleObject262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55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257.bin"/><Relationship Id="rId27" Type="http://schemas.openxmlformats.org/officeDocument/2006/relationships/oleObject" Target="../embeddings/oleObject261.bin"/><Relationship Id="rId30" Type="http://schemas.openxmlformats.org/officeDocument/2006/relationships/oleObject" Target="../embeddings/oleObject26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270.bin"/><Relationship Id="rId18" Type="http://schemas.openxmlformats.org/officeDocument/2006/relationships/oleObject" Target="../embeddings/oleObject273.bin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265.bin"/><Relationship Id="rId21" Type="http://schemas.openxmlformats.org/officeDocument/2006/relationships/oleObject" Target="../embeddings/oleObject275.bin"/><Relationship Id="rId7" Type="http://schemas.openxmlformats.org/officeDocument/2006/relationships/oleObject" Target="../embeddings/oleObject267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272.bin"/><Relationship Id="rId25" Type="http://schemas.openxmlformats.org/officeDocument/2006/relationships/oleObject" Target="../embeddings/oleObject27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282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269.bin"/><Relationship Id="rId24" Type="http://schemas.openxmlformats.org/officeDocument/2006/relationships/oleObject" Target="../embeddings/oleObject278.bin"/><Relationship Id="rId5" Type="http://schemas.openxmlformats.org/officeDocument/2006/relationships/oleObject" Target="../embeddings/oleObject266.bin"/><Relationship Id="rId15" Type="http://schemas.openxmlformats.org/officeDocument/2006/relationships/oleObject" Target="../embeddings/oleObject271.bin"/><Relationship Id="rId23" Type="http://schemas.openxmlformats.org/officeDocument/2006/relationships/oleObject" Target="../embeddings/oleObject277.bin"/><Relationship Id="rId28" Type="http://schemas.openxmlformats.org/officeDocument/2006/relationships/oleObject" Target="../embeddings/oleObject281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74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268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276.bin"/><Relationship Id="rId27" Type="http://schemas.openxmlformats.org/officeDocument/2006/relationships/oleObject" Target="../embeddings/oleObject280.bin"/><Relationship Id="rId30" Type="http://schemas.openxmlformats.org/officeDocument/2006/relationships/oleObject" Target="../embeddings/oleObject28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90.bin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12" Type="http://schemas.openxmlformats.org/officeDocument/2006/relationships/oleObject" Target="../embeddings/oleObject28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5.bin"/><Relationship Id="rId15" Type="http://schemas.openxmlformats.org/officeDocument/2006/relationships/oleObject" Target="../embeddings/oleObject291.bin"/><Relationship Id="rId10" Type="http://schemas.openxmlformats.org/officeDocument/2006/relationships/image" Target="../media/image8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2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98.bin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12" Type="http://schemas.openxmlformats.org/officeDocument/2006/relationships/oleObject" Target="../embeddings/oleObject297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8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306.bin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oleObject" Target="../embeddings/oleObject30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7.bin"/><Relationship Id="rId10" Type="http://schemas.openxmlformats.org/officeDocument/2006/relationships/image" Target="../media/image8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308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13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16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10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5.bin"/><Relationship Id="rId10" Type="http://schemas.openxmlformats.org/officeDocument/2006/relationships/oleObject" Target="../embeddings/oleObject312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1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0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317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2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25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19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4.bin"/><Relationship Id="rId10" Type="http://schemas.openxmlformats.org/officeDocument/2006/relationships/oleObject" Target="../embeddings/oleObject321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2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326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31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34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28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3.bin"/><Relationship Id="rId10" Type="http://schemas.openxmlformats.org/officeDocument/2006/relationships/oleObject" Target="../embeddings/oleObject330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3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8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335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40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43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37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2.bin"/><Relationship Id="rId10" Type="http://schemas.openxmlformats.org/officeDocument/2006/relationships/oleObject" Target="../embeddings/oleObject339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4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344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49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52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46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1.bin"/><Relationship Id="rId10" Type="http://schemas.openxmlformats.org/officeDocument/2006/relationships/oleObject" Target="../embeddings/oleObject348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50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6.bin"/><Relationship Id="rId13" Type="http://schemas.openxmlformats.org/officeDocument/2006/relationships/oleObject" Target="../embeddings/oleObject359.bin"/><Relationship Id="rId3" Type="http://schemas.openxmlformats.org/officeDocument/2006/relationships/oleObject" Target="../embeddings/oleObject353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58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55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61.bin"/><Relationship Id="rId10" Type="http://schemas.openxmlformats.org/officeDocument/2006/relationships/oleObject" Target="../embeddings/oleObject357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60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5.bin"/><Relationship Id="rId13" Type="http://schemas.openxmlformats.org/officeDocument/2006/relationships/oleObject" Target="../embeddings/oleObject368.bin"/><Relationship Id="rId3" Type="http://schemas.openxmlformats.org/officeDocument/2006/relationships/oleObject" Target="../embeddings/oleObject362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67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64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63.bin"/><Relationship Id="rId15" Type="http://schemas.openxmlformats.org/officeDocument/2006/relationships/oleObject" Target="../embeddings/oleObject370.bin"/><Relationship Id="rId10" Type="http://schemas.openxmlformats.org/officeDocument/2006/relationships/oleObject" Target="../embeddings/oleObject366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69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4.bin"/><Relationship Id="rId13" Type="http://schemas.openxmlformats.org/officeDocument/2006/relationships/oleObject" Target="../embeddings/oleObject377.bin"/><Relationship Id="rId3" Type="http://schemas.openxmlformats.org/officeDocument/2006/relationships/oleObject" Target="../embeddings/oleObject371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37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73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372.bin"/><Relationship Id="rId15" Type="http://schemas.openxmlformats.org/officeDocument/2006/relationships/oleObject" Target="../embeddings/oleObject379.bin"/><Relationship Id="rId10" Type="http://schemas.openxmlformats.org/officeDocument/2006/relationships/oleObject" Target="../embeddings/oleObject375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7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385.bin"/><Relationship Id="rId18" Type="http://schemas.openxmlformats.org/officeDocument/2006/relationships/oleObject" Target="../embeddings/oleObject389.bin"/><Relationship Id="rId3" Type="http://schemas.openxmlformats.org/officeDocument/2006/relationships/oleObject" Target="../embeddings/oleObject380.bin"/><Relationship Id="rId21" Type="http://schemas.openxmlformats.org/officeDocument/2006/relationships/oleObject" Target="../embeddings/oleObject392.bin"/><Relationship Id="rId7" Type="http://schemas.openxmlformats.org/officeDocument/2006/relationships/oleObject" Target="../embeddings/oleObject382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388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387.bin"/><Relationship Id="rId20" Type="http://schemas.openxmlformats.org/officeDocument/2006/relationships/oleObject" Target="../embeddings/oleObject391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384.bin"/><Relationship Id="rId24" Type="http://schemas.openxmlformats.org/officeDocument/2006/relationships/oleObject" Target="../embeddings/oleObject395.bin"/><Relationship Id="rId5" Type="http://schemas.openxmlformats.org/officeDocument/2006/relationships/oleObject" Target="../embeddings/oleObject381.bin"/><Relationship Id="rId15" Type="http://schemas.openxmlformats.org/officeDocument/2006/relationships/oleObject" Target="../embeddings/oleObject386.bin"/><Relationship Id="rId23" Type="http://schemas.openxmlformats.org/officeDocument/2006/relationships/oleObject" Target="../embeddings/oleObject394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390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83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39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01.bin"/><Relationship Id="rId3" Type="http://schemas.openxmlformats.org/officeDocument/2006/relationships/oleObject" Target="../embeddings/oleObject396.bin"/><Relationship Id="rId7" Type="http://schemas.openxmlformats.org/officeDocument/2006/relationships/oleObject" Target="../embeddings/oleObject398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00.bin"/><Relationship Id="rId5" Type="http://schemas.openxmlformats.org/officeDocument/2006/relationships/oleObject" Target="../embeddings/oleObject397.bin"/><Relationship Id="rId15" Type="http://schemas.openxmlformats.org/officeDocument/2006/relationships/oleObject" Target="../embeddings/oleObject403.bin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399.bin"/><Relationship Id="rId14" Type="http://schemas.openxmlformats.org/officeDocument/2006/relationships/oleObject" Target="../embeddings/oleObject40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09.bin"/><Relationship Id="rId3" Type="http://schemas.openxmlformats.org/officeDocument/2006/relationships/oleObject" Target="../embeddings/oleObject404.bin"/><Relationship Id="rId7" Type="http://schemas.openxmlformats.org/officeDocument/2006/relationships/oleObject" Target="../embeddings/oleObject40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08.bin"/><Relationship Id="rId5" Type="http://schemas.openxmlformats.org/officeDocument/2006/relationships/oleObject" Target="../embeddings/oleObject405.bin"/><Relationship Id="rId15" Type="http://schemas.openxmlformats.org/officeDocument/2006/relationships/oleObject" Target="../embeddings/oleObject411.bin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07.bin"/><Relationship Id="rId14" Type="http://schemas.openxmlformats.org/officeDocument/2006/relationships/oleObject" Target="../embeddings/oleObject41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17.bin"/><Relationship Id="rId3" Type="http://schemas.openxmlformats.org/officeDocument/2006/relationships/oleObject" Target="../embeddings/oleObject412.bin"/><Relationship Id="rId7" Type="http://schemas.openxmlformats.org/officeDocument/2006/relationships/oleObject" Target="../embeddings/oleObject414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16.bin"/><Relationship Id="rId5" Type="http://schemas.openxmlformats.org/officeDocument/2006/relationships/oleObject" Target="../embeddings/oleObject413.bin"/><Relationship Id="rId15" Type="http://schemas.openxmlformats.org/officeDocument/2006/relationships/oleObject" Target="../embeddings/oleObject419.bin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15.bin"/><Relationship Id="rId14" Type="http://schemas.openxmlformats.org/officeDocument/2006/relationships/oleObject" Target="../embeddings/oleObject41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25.bin"/><Relationship Id="rId3" Type="http://schemas.openxmlformats.org/officeDocument/2006/relationships/oleObject" Target="../embeddings/oleObject420.bin"/><Relationship Id="rId7" Type="http://schemas.openxmlformats.org/officeDocument/2006/relationships/oleObject" Target="../embeddings/oleObject422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24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27.bin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23.bin"/><Relationship Id="rId14" Type="http://schemas.openxmlformats.org/officeDocument/2006/relationships/oleObject" Target="../embeddings/oleObject42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34.bin"/><Relationship Id="rId3" Type="http://schemas.openxmlformats.org/officeDocument/2006/relationships/oleObject" Target="../embeddings/oleObject428.bin"/><Relationship Id="rId7" Type="http://schemas.openxmlformats.org/officeDocument/2006/relationships/oleObject" Target="../embeddings/oleObject430.bin"/><Relationship Id="rId12" Type="http://schemas.openxmlformats.org/officeDocument/2006/relationships/oleObject" Target="../embeddings/oleObject43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32.bin"/><Relationship Id="rId5" Type="http://schemas.openxmlformats.org/officeDocument/2006/relationships/oleObject" Target="../embeddings/oleObject429.bin"/><Relationship Id="rId15" Type="http://schemas.openxmlformats.org/officeDocument/2006/relationships/image" Target="../media/image20.wmf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31.bin"/><Relationship Id="rId14" Type="http://schemas.openxmlformats.org/officeDocument/2006/relationships/oleObject" Target="../embeddings/oleObject435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42.bin"/><Relationship Id="rId3" Type="http://schemas.openxmlformats.org/officeDocument/2006/relationships/oleObject" Target="../embeddings/oleObject436.bin"/><Relationship Id="rId7" Type="http://schemas.openxmlformats.org/officeDocument/2006/relationships/oleObject" Target="../embeddings/oleObject438.bin"/><Relationship Id="rId12" Type="http://schemas.openxmlformats.org/officeDocument/2006/relationships/oleObject" Target="../embeddings/oleObject44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7.bin"/><Relationship Id="rId15" Type="http://schemas.openxmlformats.org/officeDocument/2006/relationships/image" Target="../media/image20.wmf"/><Relationship Id="rId10" Type="http://schemas.openxmlformats.org/officeDocument/2006/relationships/image" Target="../media/image19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39.bin"/><Relationship Id="rId14" Type="http://schemas.openxmlformats.org/officeDocument/2006/relationships/oleObject" Target="../embeddings/oleObject44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449.bin"/><Relationship Id="rId18" Type="http://schemas.openxmlformats.org/officeDocument/2006/relationships/oleObject" Target="../embeddings/oleObject453.bin"/><Relationship Id="rId3" Type="http://schemas.openxmlformats.org/officeDocument/2006/relationships/oleObject" Target="../embeddings/oleObject444.bin"/><Relationship Id="rId21" Type="http://schemas.openxmlformats.org/officeDocument/2006/relationships/oleObject" Target="../embeddings/oleObject456.bin"/><Relationship Id="rId7" Type="http://schemas.openxmlformats.org/officeDocument/2006/relationships/oleObject" Target="../embeddings/oleObject44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45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0.wmf"/><Relationship Id="rId20" Type="http://schemas.openxmlformats.org/officeDocument/2006/relationships/oleObject" Target="../embeddings/oleObject455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48.bin"/><Relationship Id="rId5" Type="http://schemas.openxmlformats.org/officeDocument/2006/relationships/oleObject" Target="../embeddings/oleObject445.bin"/><Relationship Id="rId15" Type="http://schemas.openxmlformats.org/officeDocument/2006/relationships/oleObject" Target="../embeddings/oleObject451.bin"/><Relationship Id="rId23" Type="http://schemas.openxmlformats.org/officeDocument/2006/relationships/oleObject" Target="../embeddings/oleObject458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454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447.bin"/><Relationship Id="rId14" Type="http://schemas.openxmlformats.org/officeDocument/2006/relationships/oleObject" Target="../embeddings/oleObject450.bin"/><Relationship Id="rId22" Type="http://schemas.openxmlformats.org/officeDocument/2006/relationships/oleObject" Target="../embeddings/oleObject457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2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45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64.bin"/><Relationship Id="rId17" Type="http://schemas.openxmlformats.org/officeDocument/2006/relationships/oleObject" Target="../embeddings/oleObject46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67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46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460.bin"/><Relationship Id="rId15" Type="http://schemas.openxmlformats.org/officeDocument/2006/relationships/oleObject" Target="../embeddings/oleObject466.bin"/><Relationship Id="rId10" Type="http://schemas.openxmlformats.org/officeDocument/2006/relationships/oleObject" Target="../embeddings/oleObject46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465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2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46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74.bin"/><Relationship Id="rId17" Type="http://schemas.openxmlformats.org/officeDocument/2006/relationships/oleObject" Target="../embeddings/oleObject47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77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47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470.bin"/><Relationship Id="rId15" Type="http://schemas.openxmlformats.org/officeDocument/2006/relationships/oleObject" Target="../embeddings/oleObject476.bin"/><Relationship Id="rId10" Type="http://schemas.openxmlformats.org/officeDocument/2006/relationships/oleObject" Target="../embeddings/oleObject47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475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2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47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84.bin"/><Relationship Id="rId17" Type="http://schemas.openxmlformats.org/officeDocument/2006/relationships/oleObject" Target="../embeddings/oleObject48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87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48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480.bin"/><Relationship Id="rId15" Type="http://schemas.openxmlformats.org/officeDocument/2006/relationships/oleObject" Target="../embeddings/oleObject486.bin"/><Relationship Id="rId10" Type="http://schemas.openxmlformats.org/officeDocument/2006/relationships/oleObject" Target="../embeddings/oleObject48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485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2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48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94.bin"/><Relationship Id="rId17" Type="http://schemas.openxmlformats.org/officeDocument/2006/relationships/oleObject" Target="../embeddings/oleObject49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97.bin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49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490.bin"/><Relationship Id="rId15" Type="http://schemas.openxmlformats.org/officeDocument/2006/relationships/oleObject" Target="../embeddings/oleObject496.bin"/><Relationship Id="rId10" Type="http://schemas.openxmlformats.org/officeDocument/2006/relationships/oleObject" Target="../embeddings/oleObject49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495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2.bin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49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504.bin"/><Relationship Id="rId17" Type="http://schemas.openxmlformats.org/officeDocument/2006/relationships/oleObject" Target="../embeddings/oleObject50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507.bin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50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500.bin"/><Relationship Id="rId15" Type="http://schemas.openxmlformats.org/officeDocument/2006/relationships/oleObject" Target="../embeddings/oleObject506.bin"/><Relationship Id="rId10" Type="http://schemas.openxmlformats.org/officeDocument/2006/relationships/oleObject" Target="../embeddings/oleObject50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505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2.bin"/><Relationship Id="rId13" Type="http://schemas.openxmlformats.org/officeDocument/2006/relationships/oleObject" Target="../embeddings/oleObject515.bin"/><Relationship Id="rId3" Type="http://schemas.openxmlformats.org/officeDocument/2006/relationships/oleObject" Target="../embeddings/oleObject50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514.bin"/><Relationship Id="rId17" Type="http://schemas.openxmlformats.org/officeDocument/2006/relationships/oleObject" Target="../embeddings/oleObject518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51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510.bin"/><Relationship Id="rId15" Type="http://schemas.openxmlformats.org/officeDocument/2006/relationships/oleObject" Target="../embeddings/oleObject517.bin"/><Relationship Id="rId10" Type="http://schemas.openxmlformats.org/officeDocument/2006/relationships/oleObject" Target="../embeddings/oleObject51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516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2.bin"/><Relationship Id="rId13" Type="http://schemas.openxmlformats.org/officeDocument/2006/relationships/oleObject" Target="../embeddings/oleObject525.bin"/><Relationship Id="rId3" Type="http://schemas.openxmlformats.org/officeDocument/2006/relationships/oleObject" Target="../embeddings/oleObject51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524.bin"/><Relationship Id="rId17" Type="http://schemas.openxmlformats.org/officeDocument/2006/relationships/oleObject" Target="../embeddings/oleObject528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52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520.bin"/><Relationship Id="rId15" Type="http://schemas.openxmlformats.org/officeDocument/2006/relationships/oleObject" Target="../embeddings/oleObject527.bin"/><Relationship Id="rId10" Type="http://schemas.openxmlformats.org/officeDocument/2006/relationships/oleObject" Target="../embeddings/oleObject52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526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2.bin"/><Relationship Id="rId13" Type="http://schemas.openxmlformats.org/officeDocument/2006/relationships/oleObject" Target="../embeddings/oleObject535.bin"/><Relationship Id="rId3" Type="http://schemas.openxmlformats.org/officeDocument/2006/relationships/oleObject" Target="../embeddings/oleObject52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534.bin"/><Relationship Id="rId17" Type="http://schemas.openxmlformats.org/officeDocument/2006/relationships/oleObject" Target="../embeddings/oleObject538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531.bin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530.bin"/><Relationship Id="rId15" Type="http://schemas.openxmlformats.org/officeDocument/2006/relationships/oleObject" Target="../embeddings/oleObject537.bin"/><Relationship Id="rId10" Type="http://schemas.openxmlformats.org/officeDocument/2006/relationships/oleObject" Target="../embeddings/oleObject533.bin"/><Relationship Id="rId4" Type="http://schemas.openxmlformats.org/officeDocument/2006/relationships/image" Target="../media/image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536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544.bin"/><Relationship Id="rId18" Type="http://schemas.openxmlformats.org/officeDocument/2006/relationships/oleObject" Target="../embeddings/oleObject548.bin"/><Relationship Id="rId3" Type="http://schemas.openxmlformats.org/officeDocument/2006/relationships/oleObject" Target="../embeddings/oleObject539.bin"/><Relationship Id="rId21" Type="http://schemas.openxmlformats.org/officeDocument/2006/relationships/oleObject" Target="../embeddings/oleObject551.bin"/><Relationship Id="rId7" Type="http://schemas.openxmlformats.org/officeDocument/2006/relationships/oleObject" Target="../embeddings/oleObject541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547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546.bin"/><Relationship Id="rId20" Type="http://schemas.openxmlformats.org/officeDocument/2006/relationships/oleObject" Target="../embeddings/oleObject550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543.bin"/><Relationship Id="rId5" Type="http://schemas.openxmlformats.org/officeDocument/2006/relationships/oleObject" Target="../embeddings/oleObject540.bin"/><Relationship Id="rId15" Type="http://schemas.openxmlformats.org/officeDocument/2006/relationships/oleObject" Target="../embeddings/oleObject545.bin"/><Relationship Id="rId23" Type="http://schemas.openxmlformats.org/officeDocument/2006/relationships/oleObject" Target="../embeddings/oleObject553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549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542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552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560.bin"/><Relationship Id="rId3" Type="http://schemas.openxmlformats.org/officeDocument/2006/relationships/oleObject" Target="../embeddings/oleObject554.bin"/><Relationship Id="rId7" Type="http://schemas.openxmlformats.org/officeDocument/2006/relationships/oleObject" Target="../embeddings/oleObject556.bin"/><Relationship Id="rId12" Type="http://schemas.openxmlformats.org/officeDocument/2006/relationships/oleObject" Target="../embeddings/oleObject55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558.bin"/><Relationship Id="rId5" Type="http://schemas.openxmlformats.org/officeDocument/2006/relationships/oleObject" Target="../embeddings/oleObject555.bin"/><Relationship Id="rId15" Type="http://schemas.openxmlformats.org/officeDocument/2006/relationships/oleObject" Target="../embeddings/oleObject561.bin"/><Relationship Id="rId10" Type="http://schemas.openxmlformats.org/officeDocument/2006/relationships/image" Target="../media/image8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557.bin"/><Relationship Id="rId14" Type="http://schemas.openxmlformats.org/officeDocument/2006/relationships/image" Target="../media/image21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567.bin"/><Relationship Id="rId3" Type="http://schemas.openxmlformats.org/officeDocument/2006/relationships/oleObject" Target="../embeddings/oleObject562.bin"/><Relationship Id="rId7" Type="http://schemas.openxmlformats.org/officeDocument/2006/relationships/oleObject" Target="../embeddings/oleObject564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566.bin"/><Relationship Id="rId5" Type="http://schemas.openxmlformats.org/officeDocument/2006/relationships/oleObject" Target="../embeddings/oleObject563.bin"/><Relationship Id="rId15" Type="http://schemas.openxmlformats.org/officeDocument/2006/relationships/oleObject" Target="../embeddings/oleObject56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565.bin"/><Relationship Id="rId14" Type="http://schemas.openxmlformats.org/officeDocument/2006/relationships/image" Target="../media/image29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2.bin"/><Relationship Id="rId13" Type="http://schemas.openxmlformats.org/officeDocument/2006/relationships/oleObject" Target="../embeddings/oleObject575.bin"/><Relationship Id="rId3" Type="http://schemas.openxmlformats.org/officeDocument/2006/relationships/oleObject" Target="../embeddings/oleObject569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577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571.bin"/><Relationship Id="rId11" Type="http://schemas.openxmlformats.org/officeDocument/2006/relationships/oleObject" Target="../embeddings/oleObject574.bin"/><Relationship Id="rId5" Type="http://schemas.openxmlformats.org/officeDocument/2006/relationships/oleObject" Target="../embeddings/oleObject570.bin"/><Relationship Id="rId15" Type="http://schemas.openxmlformats.org/officeDocument/2006/relationships/oleObject" Target="../embeddings/oleObject576.bin"/><Relationship Id="rId10" Type="http://schemas.openxmlformats.org/officeDocument/2006/relationships/oleObject" Target="../embeddings/oleObject573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1.bin"/><Relationship Id="rId13" Type="http://schemas.openxmlformats.org/officeDocument/2006/relationships/oleObject" Target="../embeddings/oleObject584.bin"/><Relationship Id="rId3" Type="http://schemas.openxmlformats.org/officeDocument/2006/relationships/oleObject" Target="../embeddings/oleObject578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58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580.bin"/><Relationship Id="rId11" Type="http://schemas.openxmlformats.org/officeDocument/2006/relationships/oleObject" Target="../embeddings/oleObject583.bin"/><Relationship Id="rId5" Type="http://schemas.openxmlformats.org/officeDocument/2006/relationships/oleObject" Target="../embeddings/oleObject579.bin"/><Relationship Id="rId15" Type="http://schemas.openxmlformats.org/officeDocument/2006/relationships/oleObject" Target="../embeddings/oleObject585.bin"/><Relationship Id="rId10" Type="http://schemas.openxmlformats.org/officeDocument/2006/relationships/oleObject" Target="../embeddings/oleObject582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0.bin"/><Relationship Id="rId13" Type="http://schemas.openxmlformats.org/officeDocument/2006/relationships/oleObject" Target="../embeddings/oleObject593.bin"/><Relationship Id="rId3" Type="http://schemas.openxmlformats.org/officeDocument/2006/relationships/oleObject" Target="../embeddings/oleObject587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59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589.bin"/><Relationship Id="rId11" Type="http://schemas.openxmlformats.org/officeDocument/2006/relationships/oleObject" Target="../embeddings/oleObject592.bin"/><Relationship Id="rId5" Type="http://schemas.openxmlformats.org/officeDocument/2006/relationships/oleObject" Target="../embeddings/oleObject588.bin"/><Relationship Id="rId15" Type="http://schemas.openxmlformats.org/officeDocument/2006/relationships/oleObject" Target="../embeddings/oleObject594.bin"/><Relationship Id="rId10" Type="http://schemas.openxmlformats.org/officeDocument/2006/relationships/oleObject" Target="../embeddings/oleObject591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9.bin"/><Relationship Id="rId13" Type="http://schemas.openxmlformats.org/officeDocument/2006/relationships/oleObject" Target="../embeddings/oleObject602.bin"/><Relationship Id="rId3" Type="http://schemas.openxmlformats.org/officeDocument/2006/relationships/oleObject" Target="../embeddings/oleObject596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04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598.bin"/><Relationship Id="rId11" Type="http://schemas.openxmlformats.org/officeDocument/2006/relationships/oleObject" Target="../embeddings/oleObject601.bin"/><Relationship Id="rId5" Type="http://schemas.openxmlformats.org/officeDocument/2006/relationships/oleObject" Target="../embeddings/oleObject597.bin"/><Relationship Id="rId15" Type="http://schemas.openxmlformats.org/officeDocument/2006/relationships/oleObject" Target="../embeddings/oleObject603.bin"/><Relationship Id="rId10" Type="http://schemas.openxmlformats.org/officeDocument/2006/relationships/oleObject" Target="../embeddings/oleObject600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8.bin"/><Relationship Id="rId13" Type="http://schemas.openxmlformats.org/officeDocument/2006/relationships/oleObject" Target="../embeddings/oleObject611.bin"/><Relationship Id="rId18" Type="http://schemas.openxmlformats.org/officeDocument/2006/relationships/oleObject" Target="../embeddings/oleObject614.bin"/><Relationship Id="rId3" Type="http://schemas.openxmlformats.org/officeDocument/2006/relationships/oleObject" Target="../embeddings/oleObject60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1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607.bin"/><Relationship Id="rId11" Type="http://schemas.openxmlformats.org/officeDocument/2006/relationships/oleObject" Target="../embeddings/oleObject610.bin"/><Relationship Id="rId5" Type="http://schemas.openxmlformats.org/officeDocument/2006/relationships/oleObject" Target="../embeddings/oleObject606.bin"/><Relationship Id="rId15" Type="http://schemas.openxmlformats.org/officeDocument/2006/relationships/oleObject" Target="../embeddings/oleObject612.bin"/><Relationship Id="rId10" Type="http://schemas.openxmlformats.org/officeDocument/2006/relationships/oleObject" Target="../embeddings/oleObject609.bin"/><Relationship Id="rId19" Type="http://schemas.openxmlformats.org/officeDocument/2006/relationships/image" Target="../media/image31.wmf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8.bin"/><Relationship Id="rId13" Type="http://schemas.openxmlformats.org/officeDocument/2006/relationships/oleObject" Target="../embeddings/oleObject621.bin"/><Relationship Id="rId18" Type="http://schemas.openxmlformats.org/officeDocument/2006/relationships/oleObject" Target="../embeddings/oleObject624.bin"/><Relationship Id="rId3" Type="http://schemas.openxmlformats.org/officeDocument/2006/relationships/oleObject" Target="../embeddings/oleObject61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2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617.bin"/><Relationship Id="rId11" Type="http://schemas.openxmlformats.org/officeDocument/2006/relationships/oleObject" Target="../embeddings/oleObject620.bin"/><Relationship Id="rId5" Type="http://schemas.openxmlformats.org/officeDocument/2006/relationships/oleObject" Target="../embeddings/oleObject616.bin"/><Relationship Id="rId15" Type="http://schemas.openxmlformats.org/officeDocument/2006/relationships/oleObject" Target="../embeddings/oleObject622.bin"/><Relationship Id="rId10" Type="http://schemas.openxmlformats.org/officeDocument/2006/relationships/oleObject" Target="../embeddings/oleObject619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8.bin"/><Relationship Id="rId13" Type="http://schemas.openxmlformats.org/officeDocument/2006/relationships/oleObject" Target="../embeddings/oleObject631.bin"/><Relationship Id="rId18" Type="http://schemas.openxmlformats.org/officeDocument/2006/relationships/oleObject" Target="../embeddings/oleObject634.bin"/><Relationship Id="rId3" Type="http://schemas.openxmlformats.org/officeDocument/2006/relationships/oleObject" Target="../embeddings/oleObject62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3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627.bin"/><Relationship Id="rId11" Type="http://schemas.openxmlformats.org/officeDocument/2006/relationships/oleObject" Target="../embeddings/oleObject630.bin"/><Relationship Id="rId5" Type="http://schemas.openxmlformats.org/officeDocument/2006/relationships/oleObject" Target="../embeddings/oleObject626.bin"/><Relationship Id="rId15" Type="http://schemas.openxmlformats.org/officeDocument/2006/relationships/oleObject" Target="../embeddings/oleObject632.bin"/><Relationship Id="rId10" Type="http://schemas.openxmlformats.org/officeDocument/2006/relationships/oleObject" Target="../embeddings/oleObject629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8.bin"/><Relationship Id="rId13" Type="http://schemas.openxmlformats.org/officeDocument/2006/relationships/oleObject" Target="../embeddings/oleObject641.bin"/><Relationship Id="rId18" Type="http://schemas.openxmlformats.org/officeDocument/2006/relationships/oleObject" Target="../embeddings/oleObject644.bin"/><Relationship Id="rId3" Type="http://schemas.openxmlformats.org/officeDocument/2006/relationships/oleObject" Target="../embeddings/oleObject63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4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637.bin"/><Relationship Id="rId11" Type="http://schemas.openxmlformats.org/officeDocument/2006/relationships/oleObject" Target="../embeddings/oleObject640.bin"/><Relationship Id="rId5" Type="http://schemas.openxmlformats.org/officeDocument/2006/relationships/oleObject" Target="../embeddings/oleObject636.bin"/><Relationship Id="rId15" Type="http://schemas.openxmlformats.org/officeDocument/2006/relationships/oleObject" Target="../embeddings/oleObject642.bin"/><Relationship Id="rId10" Type="http://schemas.openxmlformats.org/officeDocument/2006/relationships/oleObject" Target="../embeddings/oleObject639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8.bin"/><Relationship Id="rId13" Type="http://schemas.openxmlformats.org/officeDocument/2006/relationships/oleObject" Target="../embeddings/oleObject651.bin"/><Relationship Id="rId18" Type="http://schemas.openxmlformats.org/officeDocument/2006/relationships/oleObject" Target="../embeddings/oleObject654.bin"/><Relationship Id="rId3" Type="http://schemas.openxmlformats.org/officeDocument/2006/relationships/oleObject" Target="../embeddings/oleObject64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5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647.bin"/><Relationship Id="rId11" Type="http://schemas.openxmlformats.org/officeDocument/2006/relationships/oleObject" Target="../embeddings/oleObject650.bin"/><Relationship Id="rId5" Type="http://schemas.openxmlformats.org/officeDocument/2006/relationships/oleObject" Target="../embeddings/oleObject646.bin"/><Relationship Id="rId15" Type="http://schemas.openxmlformats.org/officeDocument/2006/relationships/oleObject" Target="../embeddings/oleObject652.bin"/><Relationship Id="rId10" Type="http://schemas.openxmlformats.org/officeDocument/2006/relationships/oleObject" Target="../embeddings/oleObject649.bin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8.bin"/><Relationship Id="rId13" Type="http://schemas.openxmlformats.org/officeDocument/2006/relationships/oleObject" Target="../embeddings/oleObject661.bin"/><Relationship Id="rId18" Type="http://schemas.openxmlformats.org/officeDocument/2006/relationships/oleObject" Target="../embeddings/oleObject664.bin"/><Relationship Id="rId3" Type="http://schemas.openxmlformats.org/officeDocument/2006/relationships/oleObject" Target="../embeddings/oleObject655.bin"/><Relationship Id="rId7" Type="http://schemas.openxmlformats.org/officeDocument/2006/relationships/image" Target="../media/image18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6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20" Type="http://schemas.openxmlformats.org/officeDocument/2006/relationships/oleObject" Target="../embeddings/oleObject665.bin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657.bin"/><Relationship Id="rId11" Type="http://schemas.openxmlformats.org/officeDocument/2006/relationships/oleObject" Target="../embeddings/oleObject660.bin"/><Relationship Id="rId5" Type="http://schemas.openxmlformats.org/officeDocument/2006/relationships/oleObject" Target="../embeddings/oleObject656.bin"/><Relationship Id="rId15" Type="http://schemas.openxmlformats.org/officeDocument/2006/relationships/oleObject" Target="../embeddings/oleObject662.bin"/><Relationship Id="rId10" Type="http://schemas.openxmlformats.org/officeDocument/2006/relationships/oleObject" Target="../embeddings/oleObject659.bin"/><Relationship Id="rId19" Type="http://schemas.openxmlformats.org/officeDocument/2006/relationships/image" Target="../media/image25.wmf"/><Relationship Id="rId4" Type="http://schemas.openxmlformats.org/officeDocument/2006/relationships/image" Target="../media/image8.wmf"/><Relationship Id="rId9" Type="http://schemas.openxmlformats.org/officeDocument/2006/relationships/image" Target="../media/image27.wmf"/><Relationship Id="rId14" Type="http://schemas.openxmlformats.org/officeDocument/2006/relationships/image" Target="../media/image28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671.bin"/><Relationship Id="rId3" Type="http://schemas.openxmlformats.org/officeDocument/2006/relationships/oleObject" Target="../embeddings/oleObject666.bin"/><Relationship Id="rId7" Type="http://schemas.openxmlformats.org/officeDocument/2006/relationships/oleObject" Target="../embeddings/oleObject668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673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670.bin"/><Relationship Id="rId5" Type="http://schemas.openxmlformats.org/officeDocument/2006/relationships/oleObject" Target="../embeddings/oleObject667.bin"/><Relationship Id="rId15" Type="http://schemas.openxmlformats.org/officeDocument/2006/relationships/oleObject" Target="../embeddings/oleObject672.bin"/><Relationship Id="rId10" Type="http://schemas.openxmlformats.org/officeDocument/2006/relationships/image" Target="../media/image8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669.bin"/><Relationship Id="rId14" Type="http://schemas.openxmlformats.org/officeDocument/2006/relationships/image" Target="../media/image28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679.bin"/><Relationship Id="rId3" Type="http://schemas.openxmlformats.org/officeDocument/2006/relationships/oleObject" Target="../embeddings/oleObject674.bin"/><Relationship Id="rId7" Type="http://schemas.openxmlformats.org/officeDocument/2006/relationships/oleObject" Target="../embeddings/oleObject676.bin"/><Relationship Id="rId12" Type="http://schemas.openxmlformats.org/officeDocument/2006/relationships/image" Target="../media/image35.wmf"/><Relationship Id="rId17" Type="http://schemas.openxmlformats.org/officeDocument/2006/relationships/image" Target="../media/image20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681.bin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678.bin"/><Relationship Id="rId5" Type="http://schemas.openxmlformats.org/officeDocument/2006/relationships/oleObject" Target="../embeddings/oleObject675.bin"/><Relationship Id="rId15" Type="http://schemas.openxmlformats.org/officeDocument/2006/relationships/oleObject" Target="../embeddings/oleObject680.bin"/><Relationship Id="rId10" Type="http://schemas.openxmlformats.org/officeDocument/2006/relationships/image" Target="../media/image34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677.bin"/><Relationship Id="rId14" Type="http://schemas.openxmlformats.org/officeDocument/2006/relationships/image" Target="../media/image28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687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682.bin"/><Relationship Id="rId21" Type="http://schemas.openxmlformats.org/officeDocument/2006/relationships/image" Target="../media/image20.wmf"/><Relationship Id="rId7" Type="http://schemas.openxmlformats.org/officeDocument/2006/relationships/oleObject" Target="../embeddings/oleObject684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68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5.wmf"/><Relationship Id="rId20" Type="http://schemas.openxmlformats.org/officeDocument/2006/relationships/oleObject" Target="../embeddings/oleObject691.bin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686.bin"/><Relationship Id="rId5" Type="http://schemas.openxmlformats.org/officeDocument/2006/relationships/oleObject" Target="../embeddings/oleObject683.bin"/><Relationship Id="rId15" Type="http://schemas.openxmlformats.org/officeDocument/2006/relationships/oleObject" Target="../embeddings/oleObject688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690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685.bin"/><Relationship Id="rId14" Type="http://schemas.openxmlformats.org/officeDocument/2006/relationships/image" Target="../media/image34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697.bin"/><Relationship Id="rId18" Type="http://schemas.openxmlformats.org/officeDocument/2006/relationships/oleObject" Target="../embeddings/oleObject700.bin"/><Relationship Id="rId3" Type="http://schemas.openxmlformats.org/officeDocument/2006/relationships/oleObject" Target="../embeddings/oleObject692.bin"/><Relationship Id="rId21" Type="http://schemas.openxmlformats.org/officeDocument/2006/relationships/image" Target="../media/image38.wmf"/><Relationship Id="rId7" Type="http://schemas.openxmlformats.org/officeDocument/2006/relationships/oleObject" Target="../embeddings/oleObject694.bin"/><Relationship Id="rId12" Type="http://schemas.openxmlformats.org/officeDocument/2006/relationships/image" Target="../media/image28.wmf"/><Relationship Id="rId17" Type="http://schemas.openxmlformats.org/officeDocument/2006/relationships/image" Target="../media/image36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699.bin"/><Relationship Id="rId20" Type="http://schemas.openxmlformats.org/officeDocument/2006/relationships/oleObject" Target="../embeddings/oleObject701.bin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696.bin"/><Relationship Id="rId5" Type="http://schemas.openxmlformats.org/officeDocument/2006/relationships/oleObject" Target="../embeddings/oleObject693.bin"/><Relationship Id="rId15" Type="http://schemas.openxmlformats.org/officeDocument/2006/relationships/image" Target="../media/image20.wmf"/><Relationship Id="rId10" Type="http://schemas.openxmlformats.org/officeDocument/2006/relationships/image" Target="../media/image35.wmf"/><Relationship Id="rId19" Type="http://schemas.openxmlformats.org/officeDocument/2006/relationships/image" Target="../media/image37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695.bin"/><Relationship Id="rId14" Type="http://schemas.openxmlformats.org/officeDocument/2006/relationships/oleObject" Target="../embeddings/oleObject698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707.bin"/><Relationship Id="rId18" Type="http://schemas.openxmlformats.org/officeDocument/2006/relationships/oleObject" Target="../embeddings/oleObject710.bin"/><Relationship Id="rId3" Type="http://schemas.openxmlformats.org/officeDocument/2006/relationships/oleObject" Target="../embeddings/oleObject702.bin"/><Relationship Id="rId21" Type="http://schemas.openxmlformats.org/officeDocument/2006/relationships/image" Target="../media/image39.wmf"/><Relationship Id="rId7" Type="http://schemas.openxmlformats.org/officeDocument/2006/relationships/oleObject" Target="../embeddings/oleObject704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70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8.wmf"/><Relationship Id="rId20" Type="http://schemas.openxmlformats.org/officeDocument/2006/relationships/oleObject" Target="../embeddings/oleObject711.bin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706.bin"/><Relationship Id="rId5" Type="http://schemas.openxmlformats.org/officeDocument/2006/relationships/oleObject" Target="../embeddings/oleObject703.bin"/><Relationship Id="rId15" Type="http://schemas.openxmlformats.org/officeDocument/2006/relationships/oleObject" Target="../embeddings/oleObject708.bin"/><Relationship Id="rId10" Type="http://schemas.openxmlformats.org/officeDocument/2006/relationships/image" Target="../media/image33.wmf"/><Relationship Id="rId19" Type="http://schemas.openxmlformats.org/officeDocument/2006/relationships/image" Target="../media/image20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705.bin"/><Relationship Id="rId14" Type="http://schemas.openxmlformats.org/officeDocument/2006/relationships/image" Target="../media/image35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717.bin"/><Relationship Id="rId18" Type="http://schemas.openxmlformats.org/officeDocument/2006/relationships/oleObject" Target="../embeddings/oleObject720.bin"/><Relationship Id="rId3" Type="http://schemas.openxmlformats.org/officeDocument/2006/relationships/oleObject" Target="../embeddings/oleObject712.bin"/><Relationship Id="rId21" Type="http://schemas.openxmlformats.org/officeDocument/2006/relationships/image" Target="../media/image39.wmf"/><Relationship Id="rId7" Type="http://schemas.openxmlformats.org/officeDocument/2006/relationships/oleObject" Target="../embeddings/oleObject714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71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8.wmf"/><Relationship Id="rId20" Type="http://schemas.openxmlformats.org/officeDocument/2006/relationships/oleObject" Target="../embeddings/oleObject721.bin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716.bin"/><Relationship Id="rId5" Type="http://schemas.openxmlformats.org/officeDocument/2006/relationships/oleObject" Target="../embeddings/oleObject713.bin"/><Relationship Id="rId15" Type="http://schemas.openxmlformats.org/officeDocument/2006/relationships/oleObject" Target="../embeddings/oleObject718.bin"/><Relationship Id="rId10" Type="http://schemas.openxmlformats.org/officeDocument/2006/relationships/image" Target="../media/image33.wmf"/><Relationship Id="rId19" Type="http://schemas.openxmlformats.org/officeDocument/2006/relationships/image" Target="../media/image20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715.bin"/><Relationship Id="rId14" Type="http://schemas.openxmlformats.org/officeDocument/2006/relationships/image" Target="../media/image35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31.bin"/><Relationship Id="rId3" Type="http://schemas.openxmlformats.org/officeDocument/2006/relationships/oleObject" Target="../embeddings/oleObject722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24.bin"/><Relationship Id="rId12" Type="http://schemas.openxmlformats.org/officeDocument/2006/relationships/oleObject" Target="../embeddings/oleObject727.bin"/><Relationship Id="rId17" Type="http://schemas.openxmlformats.org/officeDocument/2006/relationships/oleObject" Target="../embeddings/oleObject730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29.bin"/><Relationship Id="rId20" Type="http://schemas.openxmlformats.org/officeDocument/2006/relationships/oleObject" Target="../embeddings/oleObject732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26.bin"/><Relationship Id="rId5" Type="http://schemas.openxmlformats.org/officeDocument/2006/relationships/oleObject" Target="../embeddings/oleObject723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25.bin"/><Relationship Id="rId14" Type="http://schemas.openxmlformats.org/officeDocument/2006/relationships/oleObject" Target="../embeddings/oleObject728.bin"/><Relationship Id="rId22" Type="http://schemas.openxmlformats.org/officeDocument/2006/relationships/oleObject" Target="../embeddings/oleObject733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43.bin"/><Relationship Id="rId3" Type="http://schemas.openxmlformats.org/officeDocument/2006/relationships/oleObject" Target="../embeddings/oleObject734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36.bin"/><Relationship Id="rId12" Type="http://schemas.openxmlformats.org/officeDocument/2006/relationships/oleObject" Target="../embeddings/oleObject739.bin"/><Relationship Id="rId17" Type="http://schemas.openxmlformats.org/officeDocument/2006/relationships/oleObject" Target="../embeddings/oleObject74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41.bin"/><Relationship Id="rId20" Type="http://schemas.openxmlformats.org/officeDocument/2006/relationships/oleObject" Target="../embeddings/oleObject744.bin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38.bin"/><Relationship Id="rId5" Type="http://schemas.openxmlformats.org/officeDocument/2006/relationships/oleObject" Target="../embeddings/oleObject735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37.bin"/><Relationship Id="rId14" Type="http://schemas.openxmlformats.org/officeDocument/2006/relationships/oleObject" Target="../embeddings/oleObject740.bin"/><Relationship Id="rId22" Type="http://schemas.openxmlformats.org/officeDocument/2006/relationships/oleObject" Target="../embeddings/oleObject745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55.bin"/><Relationship Id="rId3" Type="http://schemas.openxmlformats.org/officeDocument/2006/relationships/oleObject" Target="../embeddings/oleObject746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48.bin"/><Relationship Id="rId12" Type="http://schemas.openxmlformats.org/officeDocument/2006/relationships/oleObject" Target="../embeddings/oleObject751.bin"/><Relationship Id="rId17" Type="http://schemas.openxmlformats.org/officeDocument/2006/relationships/oleObject" Target="../embeddings/oleObject754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53.bin"/><Relationship Id="rId20" Type="http://schemas.openxmlformats.org/officeDocument/2006/relationships/oleObject" Target="../embeddings/oleObject756.bin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50.bin"/><Relationship Id="rId5" Type="http://schemas.openxmlformats.org/officeDocument/2006/relationships/oleObject" Target="../embeddings/oleObject747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49.bin"/><Relationship Id="rId14" Type="http://schemas.openxmlformats.org/officeDocument/2006/relationships/oleObject" Target="../embeddings/oleObject752.bin"/><Relationship Id="rId22" Type="http://schemas.openxmlformats.org/officeDocument/2006/relationships/oleObject" Target="../embeddings/oleObject757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67.bin"/><Relationship Id="rId3" Type="http://schemas.openxmlformats.org/officeDocument/2006/relationships/oleObject" Target="../embeddings/oleObject758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60.bin"/><Relationship Id="rId12" Type="http://schemas.openxmlformats.org/officeDocument/2006/relationships/oleObject" Target="../embeddings/oleObject763.bin"/><Relationship Id="rId17" Type="http://schemas.openxmlformats.org/officeDocument/2006/relationships/oleObject" Target="../embeddings/oleObject766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65.bin"/><Relationship Id="rId20" Type="http://schemas.openxmlformats.org/officeDocument/2006/relationships/oleObject" Target="../embeddings/oleObject768.bin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62.bin"/><Relationship Id="rId5" Type="http://schemas.openxmlformats.org/officeDocument/2006/relationships/oleObject" Target="../embeddings/oleObject759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61.bin"/><Relationship Id="rId14" Type="http://schemas.openxmlformats.org/officeDocument/2006/relationships/oleObject" Target="../embeddings/oleObject764.bin"/><Relationship Id="rId22" Type="http://schemas.openxmlformats.org/officeDocument/2006/relationships/oleObject" Target="../embeddings/oleObject769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79.bin"/><Relationship Id="rId3" Type="http://schemas.openxmlformats.org/officeDocument/2006/relationships/oleObject" Target="../embeddings/oleObject770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72.bin"/><Relationship Id="rId12" Type="http://schemas.openxmlformats.org/officeDocument/2006/relationships/oleObject" Target="../embeddings/oleObject775.bin"/><Relationship Id="rId17" Type="http://schemas.openxmlformats.org/officeDocument/2006/relationships/oleObject" Target="../embeddings/oleObject778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77.bin"/><Relationship Id="rId20" Type="http://schemas.openxmlformats.org/officeDocument/2006/relationships/oleObject" Target="../embeddings/oleObject780.bin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74.bin"/><Relationship Id="rId5" Type="http://schemas.openxmlformats.org/officeDocument/2006/relationships/oleObject" Target="../embeddings/oleObject771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73.bin"/><Relationship Id="rId14" Type="http://schemas.openxmlformats.org/officeDocument/2006/relationships/oleObject" Target="../embeddings/oleObject776.bin"/><Relationship Id="rId22" Type="http://schemas.openxmlformats.org/officeDocument/2006/relationships/oleObject" Target="../embeddings/oleObject781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791.bin"/><Relationship Id="rId3" Type="http://schemas.openxmlformats.org/officeDocument/2006/relationships/oleObject" Target="../embeddings/oleObject782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84.bin"/><Relationship Id="rId12" Type="http://schemas.openxmlformats.org/officeDocument/2006/relationships/oleObject" Target="../embeddings/oleObject787.bin"/><Relationship Id="rId17" Type="http://schemas.openxmlformats.org/officeDocument/2006/relationships/oleObject" Target="../embeddings/oleObject790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89.bin"/><Relationship Id="rId20" Type="http://schemas.openxmlformats.org/officeDocument/2006/relationships/oleObject" Target="../embeddings/oleObject792.bin"/><Relationship Id="rId1" Type="http://schemas.openxmlformats.org/officeDocument/2006/relationships/vmlDrawing" Target="../drawings/vmlDrawing67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86.bin"/><Relationship Id="rId5" Type="http://schemas.openxmlformats.org/officeDocument/2006/relationships/oleObject" Target="../embeddings/oleObject783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85.bin"/><Relationship Id="rId14" Type="http://schemas.openxmlformats.org/officeDocument/2006/relationships/oleObject" Target="../embeddings/oleObject788.bin"/><Relationship Id="rId22" Type="http://schemas.openxmlformats.org/officeDocument/2006/relationships/oleObject" Target="../embeddings/oleObject793.bin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803.bin"/><Relationship Id="rId3" Type="http://schemas.openxmlformats.org/officeDocument/2006/relationships/oleObject" Target="../embeddings/oleObject794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796.bin"/><Relationship Id="rId12" Type="http://schemas.openxmlformats.org/officeDocument/2006/relationships/oleObject" Target="../embeddings/oleObject799.bin"/><Relationship Id="rId17" Type="http://schemas.openxmlformats.org/officeDocument/2006/relationships/oleObject" Target="../embeddings/oleObject80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801.bin"/><Relationship Id="rId20" Type="http://schemas.openxmlformats.org/officeDocument/2006/relationships/oleObject" Target="../embeddings/oleObject804.bin"/><Relationship Id="rId1" Type="http://schemas.openxmlformats.org/officeDocument/2006/relationships/vmlDrawing" Target="../drawings/vmlDrawing6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798.bin"/><Relationship Id="rId5" Type="http://schemas.openxmlformats.org/officeDocument/2006/relationships/oleObject" Target="../embeddings/oleObject795.bin"/><Relationship Id="rId15" Type="http://schemas.openxmlformats.org/officeDocument/2006/relationships/image" Target="../media/image37.wmf"/><Relationship Id="rId23" Type="http://schemas.openxmlformats.org/officeDocument/2006/relationships/image" Target="../media/image27.wmf"/><Relationship Id="rId10" Type="http://schemas.openxmlformats.org/officeDocument/2006/relationships/image" Target="../media/image28.wmf"/><Relationship Id="rId19" Type="http://schemas.openxmlformats.org/officeDocument/2006/relationships/image" Target="../media/image40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797.bin"/><Relationship Id="rId14" Type="http://schemas.openxmlformats.org/officeDocument/2006/relationships/oleObject" Target="../embeddings/oleObject800.bin"/><Relationship Id="rId22" Type="http://schemas.openxmlformats.org/officeDocument/2006/relationships/oleObject" Target="../embeddings/oleObject805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9.bin"/><Relationship Id="rId13" Type="http://schemas.openxmlformats.org/officeDocument/2006/relationships/oleObject" Target="../embeddings/oleObject812.bin"/><Relationship Id="rId18" Type="http://schemas.openxmlformats.org/officeDocument/2006/relationships/oleObject" Target="../embeddings/oleObject815.bin"/><Relationship Id="rId3" Type="http://schemas.openxmlformats.org/officeDocument/2006/relationships/oleObject" Target="../embeddings/oleObject806.bin"/><Relationship Id="rId21" Type="http://schemas.openxmlformats.org/officeDocument/2006/relationships/image" Target="../media/image41.wmf"/><Relationship Id="rId7" Type="http://schemas.openxmlformats.org/officeDocument/2006/relationships/oleObject" Target="../embeddings/oleObject808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814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8.wmf"/><Relationship Id="rId20" Type="http://schemas.openxmlformats.org/officeDocument/2006/relationships/oleObject" Target="../embeddings/oleObject816.bin"/><Relationship Id="rId1" Type="http://schemas.openxmlformats.org/officeDocument/2006/relationships/vmlDrawing" Target="../drawings/vmlDrawing69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811.bin"/><Relationship Id="rId5" Type="http://schemas.openxmlformats.org/officeDocument/2006/relationships/oleObject" Target="../embeddings/oleObject807.bin"/><Relationship Id="rId15" Type="http://schemas.openxmlformats.org/officeDocument/2006/relationships/oleObject" Target="../embeddings/oleObject813.bin"/><Relationship Id="rId23" Type="http://schemas.openxmlformats.org/officeDocument/2006/relationships/image" Target="../media/image27.wmf"/><Relationship Id="rId10" Type="http://schemas.openxmlformats.org/officeDocument/2006/relationships/image" Target="../media/image32.wmf"/><Relationship Id="rId19" Type="http://schemas.openxmlformats.org/officeDocument/2006/relationships/image" Target="../media/image40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810.bin"/><Relationship Id="rId14" Type="http://schemas.openxmlformats.org/officeDocument/2006/relationships/image" Target="../media/image35.wmf"/><Relationship Id="rId22" Type="http://schemas.openxmlformats.org/officeDocument/2006/relationships/oleObject" Target="../embeddings/oleObject817.bin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823.bin"/><Relationship Id="rId18" Type="http://schemas.openxmlformats.org/officeDocument/2006/relationships/oleObject" Target="../embeddings/oleObject826.bin"/><Relationship Id="rId3" Type="http://schemas.openxmlformats.org/officeDocument/2006/relationships/oleObject" Target="../embeddings/oleObject818.bin"/><Relationship Id="rId7" Type="http://schemas.openxmlformats.org/officeDocument/2006/relationships/oleObject" Target="../embeddings/oleObject820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82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822.bin"/><Relationship Id="rId5" Type="http://schemas.openxmlformats.org/officeDocument/2006/relationships/oleObject" Target="../embeddings/oleObject819.bin"/><Relationship Id="rId15" Type="http://schemas.openxmlformats.org/officeDocument/2006/relationships/oleObject" Target="../embeddings/oleObject824.bin"/><Relationship Id="rId10" Type="http://schemas.openxmlformats.org/officeDocument/2006/relationships/image" Target="../media/image19.wmf"/><Relationship Id="rId19" Type="http://schemas.openxmlformats.org/officeDocument/2006/relationships/image" Target="../media/image20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821.bin"/><Relationship Id="rId14" Type="http://schemas.openxmlformats.org/officeDocument/2006/relationships/image" Target="../media/image35.wmf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ctrTitle"/>
          </p:nvPr>
        </p:nvSpPr>
        <p:spPr>
          <a:xfrm>
            <a:off x="296069" y="1752600"/>
            <a:ext cx="8551862" cy="199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C00000"/>
              </a:buClr>
              <a:buSzPts val="4800"/>
            </a:pPr>
            <a:r>
              <a:rPr lang="en-US" sz="4800" b="1" spc="4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FORMAL LANGUAGES AND AUTOMATION THEORY</a:t>
            </a:r>
            <a:r>
              <a:rPr lang="en-US" sz="48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8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28" name="Google Shape;28;p1"/>
          <p:cNvSpPr txBox="1"/>
          <p:nvPr/>
        </p:nvSpPr>
        <p:spPr>
          <a:xfrm>
            <a:off x="3505199" y="4643776"/>
            <a:ext cx="191885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400"/>
              <a:buFont typeface="Arial Rounded"/>
              <a:buNone/>
            </a:pPr>
            <a:r>
              <a:rPr lang="en-US" sz="2400" b="1" i="0" u="none" strike="noStrike" cap="none" dirty="0" smtClean="0">
                <a:solidFill>
                  <a:srgbClr val="376092"/>
                </a:solidFill>
                <a:latin typeface="Arial Rounded"/>
                <a:ea typeface="Arial Rounded"/>
                <a:cs typeface="Arial Rounded"/>
                <a:sym typeface="Arial Rounded"/>
              </a:rPr>
              <a:t>Lecture #2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19460" name="Oval 5"/>
          <p:cNvSpPr>
            <a:spLocks noChangeArrowheads="1"/>
          </p:cNvSpPr>
          <p:nvPr/>
        </p:nvSpPr>
        <p:spPr bwMode="auto">
          <a:xfrm>
            <a:off x="14478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19461" name="Oval 6"/>
          <p:cNvSpPr>
            <a:spLocks noChangeArrowheads="1"/>
          </p:cNvSpPr>
          <p:nvPr/>
        </p:nvSpPr>
        <p:spPr bwMode="auto">
          <a:xfrm>
            <a:off x="4038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19462" name="Oval 7"/>
          <p:cNvSpPr>
            <a:spLocks noChangeArrowheads="1"/>
          </p:cNvSpPr>
          <p:nvPr/>
        </p:nvSpPr>
        <p:spPr bwMode="auto">
          <a:xfrm>
            <a:off x="53340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19463" name="Oval 8"/>
          <p:cNvSpPr>
            <a:spLocks noChangeArrowheads="1"/>
          </p:cNvSpPr>
          <p:nvPr/>
        </p:nvSpPr>
        <p:spPr bwMode="auto">
          <a:xfrm>
            <a:off x="6705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19464" name="Oval 9"/>
          <p:cNvSpPr>
            <a:spLocks noChangeArrowheads="1"/>
          </p:cNvSpPr>
          <p:nvPr/>
        </p:nvSpPr>
        <p:spPr bwMode="auto">
          <a:xfrm>
            <a:off x="6553200" y="5232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19465" name="Line 10"/>
          <p:cNvSpPr>
            <a:spLocks noChangeShapeType="1"/>
          </p:cNvSpPr>
          <p:nvPr/>
        </p:nvSpPr>
        <p:spPr bwMode="auto">
          <a:xfrm>
            <a:off x="838200" y="568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6" name="Line 11"/>
          <p:cNvSpPr>
            <a:spLocks noChangeShapeType="1"/>
          </p:cNvSpPr>
          <p:nvPr/>
        </p:nvSpPr>
        <p:spPr bwMode="auto">
          <a:xfrm>
            <a:off x="32766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45720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8" name="Line 13"/>
          <p:cNvSpPr>
            <a:spLocks noChangeShapeType="1"/>
          </p:cNvSpPr>
          <p:nvPr/>
        </p:nvSpPr>
        <p:spPr bwMode="auto">
          <a:xfrm>
            <a:off x="5867400" y="568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19469" name="Object 14"/>
          <p:cNvGraphicFramePr>
            <a:graphicFrameLocks noChangeAspect="1"/>
          </p:cNvGraphicFramePr>
          <p:nvPr/>
        </p:nvGraphicFramePr>
        <p:xfrm>
          <a:off x="15240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1946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Oval 15"/>
          <p:cNvSpPr>
            <a:spLocks noChangeArrowheads="1"/>
          </p:cNvSpPr>
          <p:nvPr/>
        </p:nvSpPr>
        <p:spPr bwMode="auto">
          <a:xfrm>
            <a:off x="27432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19471" name="Object 16"/>
          <p:cNvGraphicFramePr>
            <a:graphicFrameLocks noChangeAspect="1"/>
          </p:cNvGraphicFramePr>
          <p:nvPr/>
        </p:nvGraphicFramePr>
        <p:xfrm>
          <a:off x="2857500" y="5384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1947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384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7"/>
          <p:cNvGraphicFramePr>
            <a:graphicFrameLocks noChangeAspect="1"/>
          </p:cNvGraphicFramePr>
          <p:nvPr/>
        </p:nvGraphicFramePr>
        <p:xfrm>
          <a:off x="4127500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1947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18"/>
          <p:cNvGraphicFramePr>
            <a:graphicFrameLocks noChangeAspect="1"/>
          </p:cNvGraphicFramePr>
          <p:nvPr/>
        </p:nvGraphicFramePr>
        <p:xfrm>
          <a:off x="5422900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1947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19"/>
          <p:cNvGraphicFramePr>
            <a:graphicFrameLocks noChangeAspect="1"/>
          </p:cNvGraphicFramePr>
          <p:nvPr/>
        </p:nvGraphicFramePr>
        <p:xfrm>
          <a:off x="67818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1947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Line 20"/>
          <p:cNvSpPr>
            <a:spLocks noChangeShapeType="1"/>
          </p:cNvSpPr>
          <p:nvPr/>
        </p:nvSpPr>
        <p:spPr bwMode="auto">
          <a:xfrm>
            <a:off x="19812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19476" name="Object 21"/>
          <p:cNvGraphicFramePr>
            <a:graphicFrameLocks noChangeAspect="1"/>
          </p:cNvGraphicFramePr>
          <p:nvPr/>
        </p:nvGraphicFramePr>
        <p:xfrm>
          <a:off x="2209800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947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2"/>
          <p:cNvGraphicFramePr>
            <a:graphicFrameLocks noChangeAspect="1"/>
          </p:cNvGraphicFramePr>
          <p:nvPr/>
        </p:nvGraphicFramePr>
        <p:xfrm>
          <a:off x="35052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1947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Object 23"/>
          <p:cNvGraphicFramePr>
            <a:graphicFrameLocks noChangeAspect="1"/>
          </p:cNvGraphicFramePr>
          <p:nvPr/>
        </p:nvGraphicFramePr>
        <p:xfrm>
          <a:off x="48006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1947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4"/>
          <p:cNvGraphicFramePr>
            <a:graphicFrameLocks noChangeAspect="1"/>
          </p:cNvGraphicFramePr>
          <p:nvPr/>
        </p:nvGraphicFramePr>
        <p:xfrm>
          <a:off x="6096000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947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Oval 26"/>
          <p:cNvSpPr>
            <a:spLocks noChangeArrowheads="1"/>
          </p:cNvSpPr>
          <p:nvPr/>
        </p:nvSpPr>
        <p:spPr bwMode="auto">
          <a:xfrm>
            <a:off x="6108700" y="4102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19481" name="Object 27"/>
          <p:cNvGraphicFramePr>
            <a:graphicFrameLocks noChangeAspect="1"/>
          </p:cNvGraphicFramePr>
          <p:nvPr/>
        </p:nvGraphicFramePr>
        <p:xfrm>
          <a:off x="6184900" y="4102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1948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4102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2" name="Object 28"/>
          <p:cNvGraphicFramePr>
            <a:graphicFrameLocks noChangeAspect="1"/>
          </p:cNvGraphicFramePr>
          <p:nvPr/>
        </p:nvGraphicFramePr>
        <p:xfrm>
          <a:off x="3048000" y="4927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1948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927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3" name="Object 29"/>
          <p:cNvGraphicFramePr>
            <a:graphicFrameLocks noChangeAspect="1"/>
          </p:cNvGraphicFramePr>
          <p:nvPr/>
        </p:nvGraphicFramePr>
        <p:xfrm>
          <a:off x="4267200" y="500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1948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00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4" name="Object 30"/>
          <p:cNvGraphicFramePr>
            <a:graphicFrameLocks noChangeAspect="1"/>
          </p:cNvGraphicFramePr>
          <p:nvPr/>
        </p:nvGraphicFramePr>
        <p:xfrm>
          <a:off x="5562600" y="4927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1948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927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5" name="Object 31"/>
          <p:cNvGraphicFramePr>
            <a:graphicFrameLocks noChangeAspect="1"/>
          </p:cNvGraphicFramePr>
          <p:nvPr/>
        </p:nvGraphicFramePr>
        <p:xfrm>
          <a:off x="1676400" y="4851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1948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51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6" name="Freeform 32"/>
          <p:cNvSpPr>
            <a:spLocks/>
          </p:cNvSpPr>
          <p:nvPr/>
        </p:nvSpPr>
        <p:spPr bwMode="auto">
          <a:xfrm>
            <a:off x="5943600" y="3327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19487" name="Object 33"/>
          <p:cNvGraphicFramePr>
            <a:graphicFrameLocks noChangeAspect="1"/>
          </p:cNvGraphicFramePr>
          <p:nvPr/>
        </p:nvGraphicFramePr>
        <p:xfrm>
          <a:off x="5956300" y="2882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1948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882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8" name="Line 34"/>
          <p:cNvSpPr>
            <a:spLocks noChangeShapeType="1"/>
          </p:cNvSpPr>
          <p:nvPr/>
        </p:nvSpPr>
        <p:spPr bwMode="auto">
          <a:xfrm flipV="1">
            <a:off x="5715000" y="4622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9" name="Freeform 35"/>
          <p:cNvSpPr>
            <a:spLocks/>
          </p:cNvSpPr>
          <p:nvPr/>
        </p:nvSpPr>
        <p:spPr bwMode="auto">
          <a:xfrm>
            <a:off x="4419600" y="4470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0" name="Freeform 36"/>
          <p:cNvSpPr>
            <a:spLocks/>
          </p:cNvSpPr>
          <p:nvPr/>
        </p:nvSpPr>
        <p:spPr bwMode="auto">
          <a:xfrm>
            <a:off x="3124200" y="4279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1" name="Freeform 37"/>
          <p:cNvSpPr>
            <a:spLocks/>
          </p:cNvSpPr>
          <p:nvPr/>
        </p:nvSpPr>
        <p:spPr bwMode="auto">
          <a:xfrm>
            <a:off x="1828800" y="3657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1949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98302"/>
              </p:ext>
            </p:extLst>
          </p:nvPr>
        </p:nvGraphicFramePr>
        <p:xfrm>
          <a:off x="1463747" y="2235200"/>
          <a:ext cx="1841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28" imgW="1841500" imgH="558800" progId="Equation.3">
                  <p:embed/>
                </p:oleObj>
              </mc:Choice>
              <mc:Fallback>
                <p:oleObj name="Equation" r:id="rId28" imgW="1841500" imgH="558800" progId="Equation.3">
                  <p:embed/>
                  <p:pic>
                    <p:nvPicPr>
                      <p:cNvPr id="1949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747" y="2235200"/>
                        <a:ext cx="1841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93" name="Group 40"/>
          <p:cNvGrpSpPr>
            <a:grpSpLocks/>
          </p:cNvGrpSpPr>
          <p:nvPr/>
        </p:nvGrpSpPr>
        <p:grpSpPr bwMode="auto">
          <a:xfrm>
            <a:off x="6553200" y="4648200"/>
            <a:ext cx="900113" cy="609600"/>
            <a:chOff x="4224" y="1824"/>
            <a:chExt cx="567" cy="384"/>
          </a:xfrm>
        </p:grpSpPr>
        <p:graphicFrame>
          <p:nvGraphicFramePr>
            <p:cNvPr id="19495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1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19495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6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9494" name="Rectangle 41"/>
          <p:cNvSpPr>
            <a:spLocks noChangeArrowheads="1"/>
          </p:cNvSpPr>
          <p:nvPr/>
        </p:nvSpPr>
        <p:spPr bwMode="auto">
          <a:xfrm>
            <a:off x="476250" y="609600"/>
            <a:ext cx="7048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b="1" dirty="0"/>
              <a:t>Input alphabet (Diagram Based)</a:t>
            </a:r>
          </a:p>
        </p:txBody>
      </p:sp>
    </p:spTree>
    <p:extLst>
      <p:ext uri="{BB962C8B-B14F-4D97-AF65-F5344CB8AC3E}">
        <p14:creationId xmlns:p14="http://schemas.microsoft.com/office/powerpoint/2010/main" val="413676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Cont.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b="1" smtClean="0"/>
              <a:t>Set of States</a:t>
            </a:r>
          </a:p>
        </p:txBody>
      </p:sp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14478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1509" name="Oval 6"/>
          <p:cNvSpPr>
            <a:spLocks noChangeArrowheads="1"/>
          </p:cNvSpPr>
          <p:nvPr/>
        </p:nvSpPr>
        <p:spPr bwMode="auto">
          <a:xfrm>
            <a:off x="4038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1510" name="Oval 7"/>
          <p:cNvSpPr>
            <a:spLocks noChangeArrowheads="1"/>
          </p:cNvSpPr>
          <p:nvPr/>
        </p:nvSpPr>
        <p:spPr bwMode="auto">
          <a:xfrm>
            <a:off x="53340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1511" name="Oval 8"/>
          <p:cNvSpPr>
            <a:spLocks noChangeArrowheads="1"/>
          </p:cNvSpPr>
          <p:nvPr/>
        </p:nvSpPr>
        <p:spPr bwMode="auto">
          <a:xfrm>
            <a:off x="6705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1512" name="Oval 9"/>
          <p:cNvSpPr>
            <a:spLocks noChangeArrowheads="1"/>
          </p:cNvSpPr>
          <p:nvPr/>
        </p:nvSpPr>
        <p:spPr bwMode="auto">
          <a:xfrm>
            <a:off x="6553200" y="5105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1513" name="Line 10"/>
          <p:cNvSpPr>
            <a:spLocks noChangeShapeType="1"/>
          </p:cNvSpPr>
          <p:nvPr/>
        </p:nvSpPr>
        <p:spPr bwMode="auto">
          <a:xfrm>
            <a:off x="838200" y="5562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3276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>
            <a:off x="45720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16" name="Line 13"/>
          <p:cNvSpPr>
            <a:spLocks noChangeShapeType="1"/>
          </p:cNvSpPr>
          <p:nvPr/>
        </p:nvSpPr>
        <p:spPr bwMode="auto">
          <a:xfrm>
            <a:off x="58674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1517" name="Object 14"/>
          <p:cNvGraphicFramePr>
            <a:graphicFrameLocks noChangeAspect="1"/>
          </p:cNvGraphicFramePr>
          <p:nvPr/>
        </p:nvGraphicFramePr>
        <p:xfrm>
          <a:off x="1524000" y="525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"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215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25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Oval 15"/>
          <p:cNvSpPr>
            <a:spLocks noChangeArrowheads="1"/>
          </p:cNvSpPr>
          <p:nvPr/>
        </p:nvSpPr>
        <p:spPr bwMode="auto">
          <a:xfrm>
            <a:off x="27432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1519" name="Object 16"/>
          <p:cNvGraphicFramePr>
            <a:graphicFrameLocks noChangeAspect="1"/>
          </p:cNvGraphicFramePr>
          <p:nvPr/>
        </p:nvGraphicFramePr>
        <p:xfrm>
          <a:off x="2857500" y="5257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"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2151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257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7"/>
          <p:cNvGraphicFramePr>
            <a:graphicFrameLocks noChangeAspect="1"/>
          </p:cNvGraphicFramePr>
          <p:nvPr/>
        </p:nvGraphicFramePr>
        <p:xfrm>
          <a:off x="4127500" y="5257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"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2152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257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8"/>
          <p:cNvGraphicFramePr>
            <a:graphicFrameLocks noChangeAspect="1"/>
          </p:cNvGraphicFramePr>
          <p:nvPr/>
        </p:nvGraphicFramePr>
        <p:xfrm>
          <a:off x="5422900" y="5257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"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2152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257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9"/>
          <p:cNvGraphicFramePr>
            <a:graphicFrameLocks noChangeAspect="1"/>
          </p:cNvGraphicFramePr>
          <p:nvPr/>
        </p:nvGraphicFramePr>
        <p:xfrm>
          <a:off x="6781800" y="525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"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2152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3" name="Line 20"/>
          <p:cNvSpPr>
            <a:spLocks noChangeShapeType="1"/>
          </p:cNvSpPr>
          <p:nvPr/>
        </p:nvSpPr>
        <p:spPr bwMode="auto">
          <a:xfrm>
            <a:off x="1981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1524" name="Object 21"/>
          <p:cNvGraphicFramePr>
            <a:graphicFrameLocks noChangeAspect="1"/>
          </p:cNvGraphicFramePr>
          <p:nvPr/>
        </p:nvGraphicFramePr>
        <p:xfrm>
          <a:off x="2209800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152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2"/>
          <p:cNvGraphicFramePr>
            <a:graphicFrameLocks noChangeAspect="1"/>
          </p:cNvGraphicFramePr>
          <p:nvPr/>
        </p:nvGraphicFramePr>
        <p:xfrm>
          <a:off x="3505200" y="5181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152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81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3"/>
          <p:cNvGraphicFramePr>
            <a:graphicFrameLocks noChangeAspect="1"/>
          </p:cNvGraphicFramePr>
          <p:nvPr/>
        </p:nvGraphicFramePr>
        <p:xfrm>
          <a:off x="4800600" y="5181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"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2152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181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4"/>
          <p:cNvGraphicFramePr>
            <a:graphicFrameLocks noChangeAspect="1"/>
          </p:cNvGraphicFramePr>
          <p:nvPr/>
        </p:nvGraphicFramePr>
        <p:xfrm>
          <a:off x="6096000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"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152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Oval 26"/>
          <p:cNvSpPr>
            <a:spLocks noChangeArrowheads="1"/>
          </p:cNvSpPr>
          <p:nvPr/>
        </p:nvSpPr>
        <p:spPr bwMode="auto">
          <a:xfrm>
            <a:off x="6108700" y="3975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1529" name="Object 27"/>
          <p:cNvGraphicFramePr>
            <a:graphicFrameLocks noChangeAspect="1"/>
          </p:cNvGraphicFramePr>
          <p:nvPr/>
        </p:nvGraphicFramePr>
        <p:xfrm>
          <a:off x="6184900" y="3975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"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2152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975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8"/>
          <p:cNvGraphicFramePr>
            <a:graphicFrameLocks noChangeAspect="1"/>
          </p:cNvGraphicFramePr>
          <p:nvPr/>
        </p:nvGraphicFramePr>
        <p:xfrm>
          <a:off x="3048000" y="4800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2153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00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9"/>
          <p:cNvGraphicFramePr>
            <a:graphicFrameLocks noChangeAspect="1"/>
          </p:cNvGraphicFramePr>
          <p:nvPr/>
        </p:nvGraphicFramePr>
        <p:xfrm>
          <a:off x="4267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2153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30"/>
          <p:cNvGraphicFramePr>
            <a:graphicFrameLocks noChangeAspect="1"/>
          </p:cNvGraphicFramePr>
          <p:nvPr/>
        </p:nvGraphicFramePr>
        <p:xfrm>
          <a:off x="5562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2153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31"/>
          <p:cNvGraphicFramePr>
            <a:graphicFrameLocks noChangeAspect="1"/>
          </p:cNvGraphicFramePr>
          <p:nvPr/>
        </p:nvGraphicFramePr>
        <p:xfrm>
          <a:off x="1676400" y="4724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"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2153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724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4" name="Freeform 32"/>
          <p:cNvSpPr>
            <a:spLocks/>
          </p:cNvSpPr>
          <p:nvPr/>
        </p:nvSpPr>
        <p:spPr bwMode="auto">
          <a:xfrm>
            <a:off x="5943600" y="3200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1535" name="Object 33"/>
          <p:cNvGraphicFramePr>
            <a:graphicFrameLocks noChangeAspect="1"/>
          </p:cNvGraphicFramePr>
          <p:nvPr/>
        </p:nvGraphicFramePr>
        <p:xfrm>
          <a:off x="5956300" y="2755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"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2153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755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6" name="Line 34"/>
          <p:cNvSpPr>
            <a:spLocks noChangeShapeType="1"/>
          </p:cNvSpPr>
          <p:nvPr/>
        </p:nvSpPr>
        <p:spPr bwMode="auto">
          <a:xfrm flipV="1">
            <a:off x="5715000" y="4495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37" name="Freeform 35"/>
          <p:cNvSpPr>
            <a:spLocks/>
          </p:cNvSpPr>
          <p:nvPr/>
        </p:nvSpPr>
        <p:spPr bwMode="auto">
          <a:xfrm>
            <a:off x="4419600" y="4343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38" name="Freeform 36"/>
          <p:cNvSpPr>
            <a:spLocks/>
          </p:cNvSpPr>
          <p:nvPr/>
        </p:nvSpPr>
        <p:spPr bwMode="auto">
          <a:xfrm>
            <a:off x="3124200" y="4152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539" name="Freeform 37"/>
          <p:cNvSpPr>
            <a:spLocks/>
          </p:cNvSpPr>
          <p:nvPr/>
        </p:nvSpPr>
        <p:spPr bwMode="auto">
          <a:xfrm>
            <a:off x="1828800" y="3530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1540" name="Object 39"/>
          <p:cNvGraphicFramePr>
            <a:graphicFrameLocks noChangeAspect="1"/>
          </p:cNvGraphicFramePr>
          <p:nvPr/>
        </p:nvGraphicFramePr>
        <p:xfrm>
          <a:off x="609600" y="1828800"/>
          <a:ext cx="49657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" name="Equation" r:id="rId28" imgW="4965700" imgH="584200" progId="Equation.3">
                  <p:embed/>
                </p:oleObj>
              </mc:Choice>
              <mc:Fallback>
                <p:oleObj name="Equation" r:id="rId28" imgW="4965700" imgH="584200" progId="Equation.3">
                  <p:embed/>
                  <p:pic>
                    <p:nvPicPr>
                      <p:cNvPr id="215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49657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41" name="Group 40"/>
          <p:cNvGrpSpPr>
            <a:grpSpLocks/>
          </p:cNvGrpSpPr>
          <p:nvPr/>
        </p:nvGrpSpPr>
        <p:grpSpPr bwMode="auto">
          <a:xfrm>
            <a:off x="6553200" y="4495800"/>
            <a:ext cx="900113" cy="609600"/>
            <a:chOff x="4224" y="1824"/>
            <a:chExt cx="567" cy="384"/>
          </a:xfrm>
        </p:grpSpPr>
        <p:graphicFrame>
          <p:nvGraphicFramePr>
            <p:cNvPr id="21542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5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21542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3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745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3556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3557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3558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3559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3560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3561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2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3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4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5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3566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2356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2356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2356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2356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3571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357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2357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357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2357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3576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2357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2357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357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357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0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2358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1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3582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23582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3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4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5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6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7" name="Line 38"/>
          <p:cNvSpPr>
            <a:spLocks noChangeShapeType="1"/>
          </p:cNvSpPr>
          <p:nvPr/>
        </p:nvSpPr>
        <p:spPr bwMode="auto">
          <a:xfrm>
            <a:off x="13716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3588" name="Group 3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23591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23591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2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aphicFrame>
        <p:nvGraphicFramePr>
          <p:cNvPr id="23589" name="Object 42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Equation" r:id="rId27" imgW="419100" imgH="469900" progId="Equation.3">
                  <p:embed/>
                </p:oleObj>
              </mc:Choice>
              <mc:Fallback>
                <p:oleObj name="Equation" r:id="rId27" imgW="419100" imgH="469900" progId="Equation.3">
                  <p:embed/>
                  <p:pic>
                    <p:nvPicPr>
                      <p:cNvPr id="2358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0" name="Rectangle 41"/>
          <p:cNvSpPr>
            <a:spLocks noChangeArrowheads="1"/>
          </p:cNvSpPr>
          <p:nvPr/>
        </p:nvSpPr>
        <p:spPr bwMode="auto">
          <a:xfrm>
            <a:off x="304800" y="0"/>
            <a:ext cx="2374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 b="1"/>
              <a:t>Initial State</a:t>
            </a:r>
          </a:p>
        </p:txBody>
      </p:sp>
    </p:spTree>
    <p:extLst>
      <p:ext uri="{BB962C8B-B14F-4D97-AF65-F5344CB8AC3E}">
        <p14:creationId xmlns:p14="http://schemas.microsoft.com/office/powerpoint/2010/main" val="235620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25" y="506846"/>
            <a:ext cx="3965575" cy="512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                                                                      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Set of Accepting States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 smtClean="0"/>
              <a:t> 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7512050" y="419100"/>
          <a:ext cx="163513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" name="Equation" r:id="rId4" imgW="164885" imgH="164885" progId="Equation.3">
                  <p:embed/>
                </p:oleObj>
              </mc:Choice>
              <mc:Fallback>
                <p:oleObj name="Equation" r:id="rId4" imgW="164885" imgH="164885" progId="Equation.3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419100"/>
                        <a:ext cx="163513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"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256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" name="Equation" r:id="rId8" imgW="342751" imgH="469696" progId="Equation.3">
                  <p:embed/>
                </p:oleObj>
              </mc:Choice>
              <mc:Fallback>
                <p:oleObj name="Equation" r:id="rId8" imgW="342751" imgH="469696" progId="Equation.3">
                  <p:embed/>
                  <p:pic>
                    <p:nvPicPr>
                      <p:cNvPr id="256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"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256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"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56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620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562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562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2562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562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5625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2562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2562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2562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2562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2562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631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2563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2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33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34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635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63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813377"/>
              </p:ext>
            </p:extLst>
          </p:nvPr>
        </p:nvGraphicFramePr>
        <p:xfrm>
          <a:off x="946150" y="1833562"/>
          <a:ext cx="17399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Equation" r:id="rId28" imgW="1739900" imgH="571500" progId="Equation.3">
                  <p:embed/>
                </p:oleObj>
              </mc:Choice>
              <mc:Fallback>
                <p:oleObj name="Equation" r:id="rId28" imgW="1739900" imgH="571500" progId="Equation.3">
                  <p:embed/>
                  <p:pic>
                    <p:nvPicPr>
                      <p:cNvPr id="2563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1833562"/>
                        <a:ext cx="17399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37" name="Group 4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25640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0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2564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1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aphicFrame>
        <p:nvGraphicFramePr>
          <p:cNvPr id="25638" name="Object 43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Equation" r:id="rId31" imgW="419100" imgH="469900" progId="Equation.3">
                  <p:embed/>
                </p:oleObj>
              </mc:Choice>
              <mc:Fallback>
                <p:oleObj name="Equation" r:id="rId31" imgW="419100" imgH="469900" progId="Equation.3">
                  <p:embed/>
                  <p:pic>
                    <p:nvPicPr>
                      <p:cNvPr id="2563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9" name="Rectangle 41"/>
          <p:cNvSpPr>
            <a:spLocks noChangeArrowheads="1"/>
          </p:cNvSpPr>
          <p:nvPr/>
        </p:nvSpPr>
        <p:spPr bwMode="auto">
          <a:xfrm>
            <a:off x="425450" y="763227"/>
            <a:ext cx="2501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/>
              <a:t>Accepting State</a:t>
            </a:r>
          </a:p>
        </p:txBody>
      </p:sp>
    </p:spTree>
    <p:extLst>
      <p:ext uri="{BB962C8B-B14F-4D97-AF65-F5344CB8AC3E}">
        <p14:creationId xmlns:p14="http://schemas.microsoft.com/office/powerpoint/2010/main" val="324303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39200" cy="609600"/>
          </a:xfrm>
        </p:spPr>
        <p:txBody>
          <a:bodyPr/>
          <a:lstStyle/>
          <a:p>
            <a:pPr algn="l"/>
            <a:r>
              <a:rPr lang="en-US" altLang="en-US" smtClean="0"/>
              <a:t>Example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7652" name="Oval 5"/>
          <p:cNvSpPr>
            <a:spLocks noChangeArrowheads="1"/>
          </p:cNvSpPr>
          <p:nvPr/>
        </p:nvSpPr>
        <p:spPr bwMode="auto">
          <a:xfrm>
            <a:off x="1443038" y="4879975"/>
            <a:ext cx="530225" cy="530225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53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54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55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56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8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59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60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61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7662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2" name="Equation" r:id="rId3" imgW="342751" imgH="469696" progId="Equation.3">
                  <p:embed/>
                </p:oleObj>
              </mc:Choice>
              <mc:Fallback>
                <p:oleObj name="Equation" r:id="rId3" imgW="342751" imgH="469696" progId="Equation.3">
                  <p:embed/>
                  <p:pic>
                    <p:nvPicPr>
                      <p:cNvPr id="2766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Equation" r:id="rId5" imgW="393529" imgH="469696" progId="Equation.3">
                  <p:embed/>
                </p:oleObj>
              </mc:Choice>
              <mc:Fallback>
                <p:oleObj name="Equation" r:id="rId5" imgW="393529" imgH="469696" progId="Equation.3">
                  <p:embed/>
                  <p:pic>
                    <p:nvPicPr>
                      <p:cNvPr id="2766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2766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5"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2766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7667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766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name="Equation" r:id="rId13" imgW="279279" imgH="380835" progId="Equation.3">
                  <p:embed/>
                </p:oleObj>
              </mc:Choice>
              <mc:Fallback>
                <p:oleObj name="Equation" r:id="rId13" imgW="279279" imgH="380835" progId="Equation.3">
                  <p:embed/>
                  <p:pic>
                    <p:nvPicPr>
                      <p:cNvPr id="2766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766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2767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Oval 31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7672" name="Object 32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2767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33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1"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76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34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2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2767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5" name="Object 35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3"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2767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36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"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767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7" name="Freeform 37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7678" name="Object 38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"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2767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9" name="Line 39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0" name="Freeform 40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1" name="Freeform 41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2" name="Freeform 42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3" name="Rectangle 4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7684" name="Text Box 46"/>
          <p:cNvSpPr txBox="1">
            <a:spLocks noChangeArrowheads="1"/>
          </p:cNvSpPr>
          <p:nvPr/>
        </p:nvSpPr>
        <p:spPr bwMode="auto">
          <a:xfrm>
            <a:off x="3124200" y="838200"/>
            <a:ext cx="2574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Input String</a:t>
            </a:r>
          </a:p>
        </p:txBody>
      </p:sp>
      <p:sp>
        <p:nvSpPr>
          <p:cNvPr id="27685" name="Line 4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6" name="Line 4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7" name="Line 4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88" name="Line 50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7689" name="Object 5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6"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27689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0" name="Object 5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7" name="Equation" r:id="rId26" imgW="279279" imgH="380835" progId="Equation.3">
                  <p:embed/>
                </p:oleObj>
              </mc:Choice>
              <mc:Fallback>
                <p:oleObj name="Equation" r:id="rId26" imgW="279279" imgH="380835" progId="Equation.3">
                  <p:embed/>
                  <p:pic>
                    <p:nvPicPr>
                      <p:cNvPr id="2769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1" name="Object 54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8"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27691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2" name="Object 55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9"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27692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3" name="Line 5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694" name="Line 6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7695" name="Group 63"/>
          <p:cNvGrpSpPr>
            <a:grpSpLocks/>
          </p:cNvGrpSpPr>
          <p:nvPr/>
        </p:nvGrpSpPr>
        <p:grpSpPr bwMode="auto">
          <a:xfrm>
            <a:off x="6477000" y="4114800"/>
            <a:ext cx="900113" cy="609600"/>
            <a:chOff x="4224" y="1824"/>
            <a:chExt cx="567" cy="384"/>
          </a:xfrm>
        </p:grpSpPr>
        <p:graphicFrame>
          <p:nvGraphicFramePr>
            <p:cNvPr id="27697" name="Object 6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0" name="Equation" r:id="rId29" imgW="672808" imgH="444307" progId="Equation.3">
                    <p:embed/>
                  </p:oleObj>
                </mc:Choice>
                <mc:Fallback>
                  <p:oleObj name="Equation" r:id="rId29" imgW="672808" imgH="444307" progId="Equation.3">
                    <p:embed/>
                    <p:pic>
                      <p:nvPicPr>
                        <p:cNvPr id="27697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8" name="Line 6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aphicFrame>
        <p:nvGraphicFramePr>
          <p:cNvPr id="27696" name="Object 68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1" name="Equation" r:id="rId30" imgW="419100" imgH="469900" progId="Equation.3">
                  <p:embed/>
                </p:oleObj>
              </mc:Choice>
              <mc:Fallback>
                <p:oleObj name="Equation" r:id="rId30" imgW="419100" imgH="469900" progId="Equation.3">
                  <p:embed/>
                  <p:pic>
                    <p:nvPicPr>
                      <p:cNvPr id="2769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56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609600"/>
          </a:xfrm>
        </p:spPr>
        <p:txBody>
          <a:bodyPr/>
          <a:lstStyle/>
          <a:p>
            <a:pPr algn="l"/>
            <a:r>
              <a:rPr lang="en-US" altLang="en-US" smtClean="0"/>
              <a:t>Reading the Input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286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7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286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8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286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286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0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2869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8692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1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86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869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2869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2869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8697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2869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869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2869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0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2870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2870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2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8703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2870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4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5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6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7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8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8709" name="Line 40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10" name="Line 41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11" name="Line 42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12" name="Line 43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8713" name="Object 4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2871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4" name="Object 45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2871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5" name="Object 4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"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2871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6" name="Object 47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"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28716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7" name="Line 48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18" name="Line 51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8719" name="Group 55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28720" name="Object 5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5" name="Equation" r:id="rId31" imgW="672808" imgH="444307" progId="Equation.3">
                    <p:embed/>
                  </p:oleObj>
                </mc:Choice>
                <mc:Fallback>
                  <p:oleObj name="Equation" r:id="rId31" imgW="672808" imgH="444307" progId="Equation.3">
                    <p:embed/>
                    <p:pic>
                      <p:nvPicPr>
                        <p:cNvPr id="2872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21" name="Line 5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0811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297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297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297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3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297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297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971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97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297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297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29721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9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2972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972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3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2972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2972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2972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9727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29727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8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9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0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1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2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29733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4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5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6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9737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5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2973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2973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9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2973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0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2974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41" name="Line 47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42" name="Line 50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9743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29744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9" name="Equation" r:id="rId31" imgW="672808" imgH="444307" progId="Equation.3">
                    <p:embed/>
                  </p:oleObj>
                </mc:Choice>
                <mc:Fallback>
                  <p:oleObj name="Equation" r:id="rId31" imgW="672808" imgH="444307" progId="Equation.3">
                    <p:embed/>
                    <p:pic>
                      <p:nvPicPr>
                        <p:cNvPr id="29744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5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8152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0733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4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07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0735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5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07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07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07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073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0740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9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07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0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07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1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07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3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2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074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4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0745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3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074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6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074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7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074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8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074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9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074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0751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075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2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3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4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5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6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0757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8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59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0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0761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076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2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0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076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3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1"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3076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4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2"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3076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5" name="Line 47"/>
          <p:cNvSpPr>
            <a:spLocks noChangeShapeType="1"/>
          </p:cNvSpPr>
          <p:nvPr/>
        </p:nvSpPr>
        <p:spPr bwMode="auto">
          <a:xfrm>
            <a:off x="52578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766" name="Line 50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67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0768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3" name="Equation" r:id="rId31" imgW="672808" imgH="444307" progId="Equation.3">
                    <p:embed/>
                  </p:oleObj>
                </mc:Choice>
                <mc:Fallback>
                  <p:oleObj name="Equation" r:id="rId31" imgW="672808" imgH="444307" progId="Equation.3">
                    <p:embed/>
                    <p:pic>
                      <p:nvPicPr>
                        <p:cNvPr id="30768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9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6271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 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8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17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17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176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17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2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2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176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1764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3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176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4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176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5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176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6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176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8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1769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7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176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0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8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177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1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177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2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0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177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177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1775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177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6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7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8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79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0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1781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2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3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84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1785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3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178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6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4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178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7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5"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31787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8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"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3178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Line 47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90" name="Line 50"/>
          <p:cNvSpPr>
            <a:spLocks noChangeShapeType="1"/>
          </p:cNvSpPr>
          <p:nvPr/>
        </p:nvSpPr>
        <p:spPr bwMode="auto">
          <a:xfrm>
            <a:off x="2590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1791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1792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77" name="Equation" r:id="rId31" imgW="672808" imgH="444307" progId="Equation.3">
                    <p:embed/>
                  </p:oleObj>
                </mc:Choice>
                <mc:Fallback>
                  <p:oleObj name="Equation" r:id="rId31" imgW="672808" imgH="444307" progId="Equation.3">
                    <p:embed/>
                    <p:pic>
                      <p:nvPicPr>
                        <p:cNvPr id="31792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3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4202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2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2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27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2781" name="Object 13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3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27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4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27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5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27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6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27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27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19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8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278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20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278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21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27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6324600" y="5867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accept</a:t>
            </a:r>
          </a:p>
        </p:txBody>
      </p:sp>
      <p:sp>
        <p:nvSpPr>
          <p:cNvPr id="32791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2792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1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279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3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2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279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4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279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5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4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279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6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5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279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7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2798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6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279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9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1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3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6" name="Line 38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2808" name="Object 4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7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280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9" name="Object 41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8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280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0" name="Object 42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9"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3281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1" name="Object 43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0"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3281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12" name="Line 44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813" name="Line 45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2814" name="Group 46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2816" name="Object 4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1" name="Equation" r:id="rId31" imgW="672808" imgH="444307" progId="Equation.3">
                    <p:embed/>
                  </p:oleObj>
                </mc:Choice>
                <mc:Fallback>
                  <p:oleObj name="Equation" r:id="rId31" imgW="672808" imgH="444307" progId="Equation.3">
                    <p:embed/>
                    <p:pic>
                      <p:nvPicPr>
                        <p:cNvPr id="32816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7" name="Line 4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2815" name="Text Box 49"/>
          <p:cNvSpPr txBox="1">
            <a:spLocks noChangeArrowheads="1"/>
          </p:cNvSpPr>
          <p:nvPr/>
        </p:nvSpPr>
        <p:spPr bwMode="auto">
          <a:xfrm>
            <a:off x="0" y="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/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293768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609600"/>
          </a:xfrm>
        </p:spPr>
        <p:txBody>
          <a:bodyPr/>
          <a:lstStyle/>
          <a:p>
            <a:pPr algn="l"/>
            <a:r>
              <a:rPr lang="en-US" altLang="en-US" smtClean="0"/>
              <a:t>Rejection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5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3806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Equation" r:id="rId3" imgW="342751" imgH="469696" progId="Equation.3">
                  <p:embed/>
                </p:oleObj>
              </mc:Choice>
              <mc:Fallback>
                <p:oleObj name="Equation" r:id="rId3" imgW="342751" imgH="469696" progId="Equation.3">
                  <p:embed/>
                  <p:pic>
                    <p:nvPicPr>
                      <p:cNvPr id="3380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5" imgW="393529" imgH="469696" progId="Equation.3">
                  <p:embed/>
                </p:oleObj>
              </mc:Choice>
              <mc:Fallback>
                <p:oleObj name="Equation" r:id="rId5" imgW="393529" imgH="469696" progId="Equation.3">
                  <p:embed/>
                  <p:pic>
                    <p:nvPicPr>
                      <p:cNvPr id="3380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380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2"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3380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3811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3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381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" name="Equation" r:id="rId13" imgW="279279" imgH="380835" progId="Equation.3">
                  <p:embed/>
                </p:oleObj>
              </mc:Choice>
              <mc:Fallback>
                <p:oleObj name="Equation" r:id="rId13" imgW="279279" imgH="380835" progId="Equation.3">
                  <p:embed/>
                  <p:pic>
                    <p:nvPicPr>
                      <p:cNvPr id="3381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381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381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3816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3381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381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8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381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9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"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3381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0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"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3382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1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3822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2"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3382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3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4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5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6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7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3828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9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0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3831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3"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3383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2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4" name="Equation" r:id="rId26" imgW="279279" imgH="380835" progId="Equation.3">
                  <p:embed/>
                </p:oleObj>
              </mc:Choice>
              <mc:Fallback>
                <p:oleObj name="Equation" r:id="rId26" imgW="279279" imgH="380835" progId="Equation.3">
                  <p:embed/>
                  <p:pic>
                    <p:nvPicPr>
                      <p:cNvPr id="3383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3" name="Object 45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383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4" name="Line 47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35" name="Line 50"/>
          <p:cNvSpPr>
            <a:spLocks noChangeShapeType="1"/>
          </p:cNvSpPr>
          <p:nvPr/>
        </p:nvSpPr>
        <p:spPr bwMode="auto">
          <a:xfrm>
            <a:off x="533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3836" name="Group 51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3838" name="Object 5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6" name="Equation" r:id="rId28" imgW="672808" imgH="444307" progId="Equation.3">
                    <p:embed/>
                  </p:oleObj>
                </mc:Choice>
                <mc:Fallback>
                  <p:oleObj name="Equation" r:id="rId28" imgW="672808" imgH="444307" progId="Equation.3">
                    <p:embed/>
                    <p:pic>
                      <p:nvPicPr>
                        <p:cNvPr id="33838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9" name="Line 5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aphicFrame>
        <p:nvGraphicFramePr>
          <p:cNvPr id="33837" name="Object 55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" name="Equation" r:id="rId29" imgW="419100" imgH="469900" progId="Equation.3">
                  <p:embed/>
                </p:oleObj>
              </mc:Choice>
              <mc:Fallback>
                <p:oleObj name="Equation" r:id="rId29" imgW="419100" imgH="469900" progId="Equation.3">
                  <p:embed/>
                  <p:pic>
                    <p:nvPicPr>
                      <p:cNvPr id="3383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454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4829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48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4831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483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5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48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6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48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7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48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4836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8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48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9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48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0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483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483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0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4841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484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484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4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484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5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484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5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484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6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4847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7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4847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8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49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0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1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2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4853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4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55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4856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8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485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7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9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485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8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0"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3485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9" name="Line 45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60" name="Line 4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4861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4862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41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4862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3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5084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5853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7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58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8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58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6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9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58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58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8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1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58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5860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2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58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3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58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2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58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3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58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4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5865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586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6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586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7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8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586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586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0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586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0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5871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1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587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2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3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4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5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6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5877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8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79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5880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2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588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1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3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588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2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4"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3588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3" name="Line 45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84" name="Line 48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5885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5886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5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5886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7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7638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877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1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68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6879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2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68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68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4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68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5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68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884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6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68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7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68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8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68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9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68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8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6889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0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688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0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1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689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1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2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689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2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689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3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4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689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4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895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5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689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6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7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8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99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900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6901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902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903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904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6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690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5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7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690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6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8"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3690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7" name="Line 45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908" name="Line 48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6909" name="Group 5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6910" name="Object 5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89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691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1" name="Line 5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456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val 3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891" name="Oval 4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892" name="Oval 5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893" name="Oval 6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894" name="Oval 7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895" name="Line 8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896" name="Line 9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897" name="Line 10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898" name="Line 11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899" name="Object 12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78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7901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6"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790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7"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790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3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8"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790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790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5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906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790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790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3790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790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0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graphicFrame>
        <p:nvGraphicFramePr>
          <p:cNvPr id="37911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791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791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3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791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791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791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6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917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name="Equation" r:id="rId25" imgW="672808" imgH="444307" progId="Equation.3">
                  <p:embed/>
                </p:oleObj>
              </mc:Choice>
              <mc:Fallback>
                <p:oleObj name="Equation" r:id="rId25" imgW="672808" imgH="444307" progId="Equation.3">
                  <p:embed/>
                  <p:pic>
                    <p:nvPicPr>
                      <p:cNvPr id="3791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8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19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0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1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2" name="Text Box 35"/>
          <p:cNvSpPr txBox="1">
            <a:spLocks noChangeArrowheads="1"/>
          </p:cNvSpPr>
          <p:nvPr/>
        </p:nvSpPr>
        <p:spPr bwMode="auto">
          <a:xfrm>
            <a:off x="6781800" y="3124200"/>
            <a:ext cx="1389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reject</a:t>
            </a:r>
          </a:p>
        </p:txBody>
      </p:sp>
      <p:sp>
        <p:nvSpPr>
          <p:cNvPr id="37923" name="Rectangle 3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7924" name="Line 3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5" name="Line 3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6" name="Line 3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927" name="Object 4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7927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8" name="Object 41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37928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9" name="Object 42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3792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0" name="Line 43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31" name="Line 44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7932" name="Group 45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7934" name="Object 4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3"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7934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5" name="Line 4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7933" name="Text Box 48"/>
          <p:cNvSpPr txBox="1">
            <a:spLocks noChangeArrowheads="1"/>
          </p:cNvSpPr>
          <p:nvPr/>
        </p:nvSpPr>
        <p:spPr bwMode="auto">
          <a:xfrm>
            <a:off x="0" y="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/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114086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Class Work</a:t>
            </a:r>
            <a:endParaRPr lang="en-IN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abbbaaab</a:t>
            </a:r>
          </a:p>
          <a:p>
            <a:r>
              <a:rPr lang="en-US" altLang="en-US" smtClean="0"/>
              <a:t>bababaa</a:t>
            </a:r>
          </a:p>
          <a:p>
            <a:r>
              <a:rPr lang="en-US" altLang="en-US" smtClean="0"/>
              <a:t>abbaaba</a:t>
            </a:r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89369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MCQ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/>
          <a:lstStyle/>
          <a:p>
            <a:r>
              <a:rPr lang="en-US" altLang="en-US" smtClean="0"/>
              <a:t>Which of the following is not a part of 5-tuple finite automata?</a:t>
            </a:r>
            <a:br>
              <a:rPr lang="en-US" altLang="en-US" smtClean="0"/>
            </a:br>
            <a:r>
              <a:rPr lang="en-US" altLang="en-US" smtClean="0"/>
              <a:t>a) Input alphabet</a:t>
            </a:r>
            <a:br>
              <a:rPr lang="en-US" altLang="en-US" smtClean="0"/>
            </a:br>
            <a:r>
              <a:rPr lang="en-US" altLang="en-US" smtClean="0"/>
              <a:t>b) Transition function</a:t>
            </a:r>
            <a:br>
              <a:rPr lang="en-US" altLang="en-US" smtClean="0"/>
            </a:br>
            <a:r>
              <a:rPr lang="en-US" altLang="en-US" smtClean="0"/>
              <a:t>c) Initial State</a:t>
            </a:r>
            <a:br>
              <a:rPr lang="en-US" altLang="en-US" smtClean="0"/>
            </a:br>
            <a:r>
              <a:rPr lang="en-US" altLang="en-US" smtClean="0"/>
              <a:t>d) Output Alphabet</a:t>
            </a:r>
          </a:p>
        </p:txBody>
      </p:sp>
    </p:spTree>
    <p:extLst>
      <p:ext uri="{BB962C8B-B14F-4D97-AF65-F5344CB8AC3E}">
        <p14:creationId xmlns:p14="http://schemas.microsoft.com/office/powerpoint/2010/main" val="380623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589212" y="672956"/>
            <a:ext cx="3965575" cy="512762"/>
          </a:xfrm>
        </p:spPr>
        <p:txBody>
          <a:bodyPr/>
          <a:lstStyle/>
          <a:p>
            <a:r>
              <a:rPr lang="en-US" altLang="en-US" dirty="0" smtClean="0"/>
              <a:t>Example Table Form</a:t>
            </a:r>
          </a:p>
        </p:txBody>
      </p:sp>
      <p:pic>
        <p:nvPicPr>
          <p:cNvPr id="1638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3375" y="1295400"/>
            <a:ext cx="8477250" cy="4648200"/>
          </a:xfrm>
          <a:noFill/>
        </p:spPr>
      </p:pic>
      <p:sp>
        <p:nvSpPr>
          <p:cNvPr id="16388" name="Rectangle 1"/>
          <p:cNvSpPr>
            <a:spLocks noChangeArrowheads="1"/>
          </p:cNvSpPr>
          <p:nvPr/>
        </p:nvSpPr>
        <p:spPr bwMode="auto">
          <a:xfrm>
            <a:off x="6858000" y="2057400"/>
            <a:ext cx="8382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5493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Cont.</a:t>
            </a:r>
          </a:p>
        </p:txBody>
      </p:sp>
      <p:pic>
        <p:nvPicPr>
          <p:cNvPr id="1741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2654" y="990600"/>
            <a:ext cx="7301345" cy="5174673"/>
          </a:xfrm>
          <a:noFill/>
        </p:spPr>
      </p:pic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4" t="39345" r="23932" b="9836"/>
          <a:stretch>
            <a:fillRect/>
          </a:stretch>
        </p:blipFill>
        <p:spPr bwMode="auto">
          <a:xfrm>
            <a:off x="152400" y="2209800"/>
            <a:ext cx="4191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26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Class Work</a:t>
            </a:r>
            <a:endParaRPr lang="en-IN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Check  for the 101101</a:t>
            </a:r>
          </a:p>
          <a:p>
            <a:r>
              <a:rPr lang="en-US" altLang="en-US" smtClean="0"/>
              <a:t>11111</a:t>
            </a:r>
          </a:p>
          <a:p>
            <a:r>
              <a:rPr lang="en-US" altLang="en-US" smtClean="0"/>
              <a:t>000000</a:t>
            </a:r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364796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DFA VS NFA</a:t>
            </a:r>
            <a:endParaRPr lang="en-IN" altLang="en-US" smtClean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152400" y="838200"/>
          <a:ext cx="8839200" cy="5584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292012516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634769017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219374769"/>
                    </a:ext>
                  </a:extLst>
                </a:gridCol>
              </a:tblGrid>
              <a:tr h="46476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Sr. No.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 dirty="0">
                          <a:effectLst/>
                        </a:rPr>
                        <a:t>DFA</a:t>
                      </a:r>
                    </a:p>
                  </a:txBody>
                  <a:tcPr marL="38100" marR="38100" marT="95227" marB="95227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 dirty="0">
                          <a:effectLst/>
                        </a:rPr>
                        <a:t>NFA</a:t>
                      </a:r>
                    </a:p>
                  </a:txBody>
                  <a:tcPr marL="95250" marR="95250" marT="95227" marB="95227" anchor="ctr"/>
                </a:tc>
                <a:extLst>
                  <a:ext uri="{0D108BD9-81ED-4DB2-BD59-A6C34878D82A}">
                    <a16:rowId xmlns:a16="http://schemas.microsoft.com/office/drawing/2014/main" val="1242868882"/>
                  </a:ext>
                </a:extLst>
              </a:tr>
              <a:tr h="6933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DFA stands for Deterministic Finite Automata.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dirty="0">
                          <a:effectLst/>
                        </a:rPr>
                        <a:t>NFA stands for Nondeterministic Finite Automata.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570964139"/>
                  </a:ext>
                </a:extLst>
              </a:tr>
              <a:tr h="9067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>
                          <a:effectLst/>
                        </a:rPr>
                        <a:t>For each symbolic representation of the alphabet, there is only one state transition in DFA.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No need to specify how does the NFA react according to some symbol.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2922854138"/>
                  </a:ext>
                </a:extLst>
              </a:tr>
              <a:tr h="6933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DFA can be understood as one machine.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NFA can be understood as multiple little machines computing at the same time.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2811886284"/>
                  </a:ext>
                </a:extLst>
              </a:tr>
              <a:tr h="479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DFA is more difficult to construct.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NFA is easier to construct.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2754473242"/>
                  </a:ext>
                </a:extLst>
              </a:tr>
              <a:tr h="6933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Time needed for executing an input string is less.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Time needed for executing an input string is more.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603927467"/>
                  </a:ext>
                </a:extLst>
              </a:tr>
              <a:tr h="479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dirty="0">
                          <a:effectLst/>
                        </a:rPr>
                        <a:t>All DFA are NFA.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Not all NFA are DFA.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2612559724"/>
                  </a:ext>
                </a:extLst>
              </a:tr>
              <a:tr h="479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Epsilon move is not allowed in DFA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Epsilon move is allowed in NFA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2191351919"/>
                  </a:ext>
                </a:extLst>
              </a:tr>
              <a:tr h="6933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8</a:t>
                      </a:r>
                      <a:endParaRPr lang="en-IN" sz="14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DFA allows only one move for single input alphabet.</a:t>
                      </a:r>
                    </a:p>
                  </a:txBody>
                  <a:tcPr marL="95250" marR="95250" marT="133318" marB="133318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>
                          <a:effectLst/>
                        </a:rPr>
                        <a:t>There can be choice (more than one move)  for single input alphabet.</a:t>
                      </a:r>
                    </a:p>
                  </a:txBody>
                  <a:tcPr marL="95250" marR="95250" marT="133318" marB="133318" anchor="ctr"/>
                </a:tc>
                <a:extLst>
                  <a:ext uri="{0D108BD9-81ED-4DB2-BD59-A6C34878D82A}">
                    <a16:rowId xmlns:a16="http://schemas.microsoft.com/office/drawing/2014/main" val="922648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09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1126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en-US" sz="6000" b="1" smtClean="0"/>
              <a:t>DFA</a:t>
            </a:r>
            <a:endParaRPr lang="en-IN" altLang="en-US" sz="6000" b="1" smtClean="0"/>
          </a:p>
        </p:txBody>
      </p:sp>
    </p:spTree>
    <p:extLst>
      <p:ext uri="{BB962C8B-B14F-4D97-AF65-F5344CB8AC3E}">
        <p14:creationId xmlns:p14="http://schemas.microsoft.com/office/powerpoint/2010/main" val="346174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Example</a:t>
            </a:r>
            <a:endParaRPr lang="en-IN" altLang="en-US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800" b="1" smtClean="0"/>
              <a:t>DFA Description:</a:t>
            </a:r>
            <a:endParaRPr lang="en-IN" altLang="en-US" sz="2800" smtClean="0"/>
          </a:p>
          <a:p>
            <a:r>
              <a:rPr lang="en-IN" altLang="en-US" sz="2800" b="1" smtClean="0"/>
              <a:t>States:</a:t>
            </a:r>
            <a:r>
              <a:rPr lang="en-IN" altLang="en-US" sz="2800" smtClean="0"/>
              <a:t> Q = {q0, q1}</a:t>
            </a:r>
          </a:p>
          <a:p>
            <a:r>
              <a:rPr lang="en-IN" altLang="en-US" sz="2800" b="1" smtClean="0"/>
              <a:t>Alphabet:</a:t>
            </a:r>
            <a:r>
              <a:rPr lang="en-IN" altLang="en-US" sz="2800" smtClean="0"/>
              <a:t> </a:t>
            </a:r>
            <a:r>
              <a:rPr lang="el-GR" altLang="en-US" sz="2800" smtClean="0"/>
              <a:t>Σ = {0, 1}</a:t>
            </a:r>
          </a:p>
          <a:p>
            <a:r>
              <a:rPr lang="en-IN" altLang="en-US" sz="2800" b="1" smtClean="0"/>
              <a:t>Transitions:</a:t>
            </a:r>
            <a:endParaRPr lang="en-IN" altLang="en-US" sz="2800" smtClean="0"/>
          </a:p>
          <a:p>
            <a:pPr lvl="1"/>
            <a:r>
              <a:rPr lang="el-GR" altLang="en-US" smtClean="0"/>
              <a:t>δ(</a:t>
            </a:r>
            <a:r>
              <a:rPr lang="en-IN" altLang="en-US" smtClean="0"/>
              <a:t>q0, 0) = q0</a:t>
            </a:r>
          </a:p>
          <a:p>
            <a:pPr lvl="1"/>
            <a:r>
              <a:rPr lang="el-GR" altLang="en-US" smtClean="0"/>
              <a:t>δ(</a:t>
            </a:r>
            <a:r>
              <a:rPr lang="en-IN" altLang="en-US" smtClean="0"/>
              <a:t>q0, 1) = q1</a:t>
            </a:r>
          </a:p>
          <a:p>
            <a:pPr lvl="1"/>
            <a:r>
              <a:rPr lang="el-GR" altLang="en-US" smtClean="0"/>
              <a:t>δ(</a:t>
            </a:r>
            <a:r>
              <a:rPr lang="en-IN" altLang="en-US" smtClean="0"/>
              <a:t>q1, 0) = q1</a:t>
            </a:r>
          </a:p>
          <a:p>
            <a:pPr lvl="1"/>
            <a:r>
              <a:rPr lang="el-GR" altLang="en-US" smtClean="0"/>
              <a:t>δ(</a:t>
            </a:r>
            <a:r>
              <a:rPr lang="en-IN" altLang="en-US" smtClean="0"/>
              <a:t>q1, 1) = q0</a:t>
            </a:r>
          </a:p>
          <a:p>
            <a:r>
              <a:rPr lang="en-IN" altLang="en-US" sz="2800" b="1" smtClean="0"/>
              <a:t>Start State:</a:t>
            </a:r>
            <a:r>
              <a:rPr lang="en-IN" altLang="en-US" sz="2800" smtClean="0"/>
              <a:t> q0</a:t>
            </a:r>
          </a:p>
          <a:p>
            <a:r>
              <a:rPr lang="en-IN" altLang="en-US" sz="2800" b="1" smtClean="0"/>
              <a:t>Accept States:</a:t>
            </a:r>
            <a:r>
              <a:rPr lang="en-IN" altLang="en-US" sz="2800" smtClean="0"/>
              <a:t> {q1}</a:t>
            </a:r>
          </a:p>
          <a:p>
            <a:r>
              <a:rPr lang="en-IN" altLang="en-US" sz="2800" b="1" smtClean="0"/>
              <a:t>Question:</a:t>
            </a:r>
            <a:r>
              <a:rPr lang="en-IN" altLang="en-US" sz="2800" smtClean="0"/>
              <a:t> Does the DFA accept the string "010"?</a:t>
            </a:r>
          </a:p>
          <a:p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263139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Answer</a:t>
            </a:r>
            <a:endParaRPr lang="en-IN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DFA processes "010" as follows:</a:t>
            </a:r>
          </a:p>
          <a:p>
            <a:r>
              <a:rPr lang="en-US" altLang="en-US" smtClean="0"/>
              <a:t>Start at q0.</a:t>
            </a:r>
          </a:p>
          <a:p>
            <a:r>
              <a:rPr lang="en-US" altLang="en-US" smtClean="0"/>
              <a:t>Read '0', transition to q0.</a:t>
            </a:r>
          </a:p>
          <a:p>
            <a:r>
              <a:rPr lang="en-US" altLang="en-US" smtClean="0"/>
              <a:t>Read '1', transition to q1.</a:t>
            </a:r>
          </a:p>
          <a:p>
            <a:r>
              <a:rPr lang="en-US" altLang="en-US" smtClean="0"/>
              <a:t>Read '0', transition to q1. The DFA ends in state q1, which is not an accept state, so it </a:t>
            </a:r>
            <a:r>
              <a:rPr lang="en-US" altLang="en-US" b="1" smtClean="0"/>
              <a:t>does accept</a:t>
            </a:r>
            <a:r>
              <a:rPr lang="en-US" altLang="en-US" smtClean="0"/>
              <a:t> "010".</a:t>
            </a:r>
          </a:p>
          <a:p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160181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Diagram</a:t>
            </a:r>
            <a:endParaRPr lang="en-IN" altLang="en-US" smtClean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30175" y="1385888"/>
          <a:ext cx="8839201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192102499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66498066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8723385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4271912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98600724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183748963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6973899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marT="45793" marB="45793"/>
                </a:tc>
                <a:extLst>
                  <a:ext uri="{0D108BD9-81ED-4DB2-BD59-A6C34878D82A}">
                    <a16:rowId xmlns:a16="http://schemas.microsoft.com/office/drawing/2014/main" val="2301672786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 bwMode="auto">
          <a:xfrm>
            <a:off x="152400" y="928688"/>
            <a:ext cx="0" cy="457200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 bwMode="auto">
          <a:xfrm>
            <a:off x="914400" y="36576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2667000" y="3694113"/>
            <a:ext cx="819150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9" name="Curved Connector 18"/>
          <p:cNvCxnSpPr>
            <a:stCxn id="14" idx="1"/>
            <a:endCxn id="14" idx="7"/>
          </p:cNvCxnSpPr>
          <p:nvPr/>
        </p:nvCxnSpPr>
        <p:spPr bwMode="auto">
          <a:xfrm rot="5400000" flipH="1" flipV="1">
            <a:off x="1370013" y="3455987"/>
            <a:ext cx="12700" cy="644525"/>
          </a:xfrm>
          <a:prstGeom prst="curvedConnector3">
            <a:avLst>
              <a:gd name="adj1" fmla="val 7776787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3638" y="3043238"/>
            <a:ext cx="4127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4" idx="6"/>
            <a:endCxn id="14369" idx="2"/>
          </p:cNvCxnSpPr>
          <p:nvPr/>
        </p:nvCxnSpPr>
        <p:spPr bwMode="auto">
          <a:xfrm>
            <a:off x="1825625" y="4068763"/>
            <a:ext cx="709613" cy="36512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4" idx="2"/>
          </p:cNvCxnSpPr>
          <p:nvPr/>
        </p:nvCxnSpPr>
        <p:spPr bwMode="auto">
          <a:xfrm>
            <a:off x="304800" y="4068763"/>
            <a:ext cx="6096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38350" y="3492500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cxnSp>
        <p:nvCxnSpPr>
          <p:cNvPr id="36" name="Curved Connector 35"/>
          <p:cNvCxnSpPr/>
          <p:nvPr/>
        </p:nvCxnSpPr>
        <p:spPr bwMode="auto">
          <a:xfrm rot="5400000" flipH="1" flipV="1">
            <a:off x="3027363" y="3402013"/>
            <a:ext cx="12700" cy="577850"/>
          </a:xfrm>
          <a:prstGeom prst="curvedConnector3">
            <a:avLst>
              <a:gd name="adj1" fmla="val 8005362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6225" y="3043238"/>
            <a:ext cx="4349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14367" name="Curved Connector 43"/>
          <p:cNvCxnSpPr>
            <a:cxnSpLocks noChangeShapeType="1"/>
            <a:stCxn id="14369" idx="4"/>
            <a:endCxn id="14" idx="4"/>
          </p:cNvCxnSpPr>
          <p:nvPr/>
        </p:nvCxnSpPr>
        <p:spPr bwMode="auto">
          <a:xfrm rot="5400000" flipH="1">
            <a:off x="2155825" y="3694113"/>
            <a:ext cx="115888" cy="1687512"/>
          </a:xfrm>
          <a:prstGeom prst="curvedConnector3">
            <a:avLst>
              <a:gd name="adj1" fmla="val -19636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/>
          <p:nvPr/>
        </p:nvSpPr>
        <p:spPr>
          <a:xfrm>
            <a:off x="2038350" y="4194175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sp>
        <p:nvSpPr>
          <p:cNvPr id="14369" name="Oval 3"/>
          <p:cNvSpPr>
            <a:spLocks noChangeArrowheads="1"/>
          </p:cNvSpPr>
          <p:nvPr/>
        </p:nvSpPr>
        <p:spPr bwMode="auto">
          <a:xfrm>
            <a:off x="2535238" y="3613150"/>
            <a:ext cx="1046162" cy="982663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7330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Diagram</a:t>
            </a:r>
            <a:endParaRPr lang="en-IN" altLang="en-US" smtClean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30175" y="1385888"/>
          <a:ext cx="8839201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192102499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66498066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8723385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4271912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98600724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183748963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6973899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marT="45793" marB="45793"/>
                </a:tc>
                <a:extLst>
                  <a:ext uri="{0D108BD9-81ED-4DB2-BD59-A6C34878D82A}">
                    <a16:rowId xmlns:a16="http://schemas.microsoft.com/office/drawing/2014/main" val="2301672786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 bwMode="auto">
          <a:xfrm>
            <a:off x="762000" y="928688"/>
            <a:ext cx="0" cy="457200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 bwMode="auto">
          <a:xfrm>
            <a:off x="914400" y="36576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2667000" y="3694113"/>
            <a:ext cx="819150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9" name="Curved Connector 18"/>
          <p:cNvCxnSpPr>
            <a:stCxn id="14" idx="1"/>
            <a:endCxn id="14" idx="7"/>
          </p:cNvCxnSpPr>
          <p:nvPr/>
        </p:nvCxnSpPr>
        <p:spPr bwMode="auto">
          <a:xfrm rot="5400000" flipH="1" flipV="1">
            <a:off x="1370013" y="3455987"/>
            <a:ext cx="12700" cy="644525"/>
          </a:xfrm>
          <a:prstGeom prst="curvedConnector3">
            <a:avLst>
              <a:gd name="adj1" fmla="val 7776787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3638" y="3043238"/>
            <a:ext cx="4127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4" idx="6"/>
            <a:endCxn id="15393" idx="2"/>
          </p:cNvCxnSpPr>
          <p:nvPr/>
        </p:nvCxnSpPr>
        <p:spPr bwMode="auto">
          <a:xfrm>
            <a:off x="1825625" y="4068763"/>
            <a:ext cx="709613" cy="36512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87" name="Straight Arrow Connector 26"/>
          <p:cNvCxnSpPr>
            <a:cxnSpLocks noChangeShapeType="1"/>
            <a:endCxn id="14" idx="2"/>
          </p:cNvCxnSpPr>
          <p:nvPr/>
        </p:nvCxnSpPr>
        <p:spPr bwMode="auto">
          <a:xfrm>
            <a:off x="304800" y="4068763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038350" y="3492500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cxnSp>
        <p:nvCxnSpPr>
          <p:cNvPr id="36" name="Curved Connector 35"/>
          <p:cNvCxnSpPr/>
          <p:nvPr/>
        </p:nvCxnSpPr>
        <p:spPr bwMode="auto">
          <a:xfrm rot="5400000" flipH="1" flipV="1">
            <a:off x="3027363" y="3402013"/>
            <a:ext cx="12700" cy="577850"/>
          </a:xfrm>
          <a:prstGeom prst="curvedConnector3">
            <a:avLst>
              <a:gd name="adj1" fmla="val 8005362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6225" y="3043238"/>
            <a:ext cx="4349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15391" name="Curved Connector 43"/>
          <p:cNvCxnSpPr>
            <a:cxnSpLocks noChangeShapeType="1"/>
            <a:stCxn id="15393" idx="4"/>
            <a:endCxn id="14" idx="4"/>
          </p:cNvCxnSpPr>
          <p:nvPr/>
        </p:nvCxnSpPr>
        <p:spPr bwMode="auto">
          <a:xfrm rot="5400000" flipH="1">
            <a:off x="2155825" y="3694113"/>
            <a:ext cx="115888" cy="1687512"/>
          </a:xfrm>
          <a:prstGeom prst="curvedConnector3">
            <a:avLst>
              <a:gd name="adj1" fmla="val -19636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/>
          <p:nvPr/>
        </p:nvSpPr>
        <p:spPr>
          <a:xfrm>
            <a:off x="2038350" y="4194175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sp>
        <p:nvSpPr>
          <p:cNvPr id="15393" name="Oval 3"/>
          <p:cNvSpPr>
            <a:spLocks noChangeArrowheads="1"/>
          </p:cNvSpPr>
          <p:nvPr/>
        </p:nvSpPr>
        <p:spPr bwMode="auto">
          <a:xfrm>
            <a:off x="2535238" y="3613150"/>
            <a:ext cx="1046162" cy="982663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3156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Diagram</a:t>
            </a:r>
            <a:endParaRPr lang="en-IN" altLang="en-US" smtClean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30175" y="1385888"/>
          <a:ext cx="8839201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192102499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66498066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8723385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4271912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98600724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183748963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6973899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marT="45793" marB="45793"/>
                </a:tc>
                <a:extLst>
                  <a:ext uri="{0D108BD9-81ED-4DB2-BD59-A6C34878D82A}">
                    <a16:rowId xmlns:a16="http://schemas.microsoft.com/office/drawing/2014/main" val="2301672786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 bwMode="auto">
          <a:xfrm>
            <a:off x="2038350" y="928688"/>
            <a:ext cx="0" cy="457200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 bwMode="auto">
          <a:xfrm>
            <a:off x="914400" y="36576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2667000" y="3694113"/>
            <a:ext cx="819150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9" name="Curved Connector 18"/>
          <p:cNvCxnSpPr>
            <a:stCxn id="14" idx="1"/>
            <a:endCxn id="14" idx="7"/>
          </p:cNvCxnSpPr>
          <p:nvPr/>
        </p:nvCxnSpPr>
        <p:spPr bwMode="auto">
          <a:xfrm rot="5400000" flipH="1" flipV="1">
            <a:off x="1370013" y="3455987"/>
            <a:ext cx="12700" cy="644525"/>
          </a:xfrm>
          <a:prstGeom prst="curvedConnector3">
            <a:avLst>
              <a:gd name="adj1" fmla="val 7776787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3638" y="3043238"/>
            <a:ext cx="4127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4" idx="6"/>
            <a:endCxn id="16417" idx="2"/>
          </p:cNvCxnSpPr>
          <p:nvPr/>
        </p:nvCxnSpPr>
        <p:spPr bwMode="auto">
          <a:xfrm>
            <a:off x="1825625" y="4068763"/>
            <a:ext cx="709613" cy="36512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4" idx="2"/>
          </p:cNvCxnSpPr>
          <p:nvPr/>
        </p:nvCxnSpPr>
        <p:spPr bwMode="auto">
          <a:xfrm>
            <a:off x="304800" y="4068763"/>
            <a:ext cx="6096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38350" y="3492500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cxnSp>
        <p:nvCxnSpPr>
          <p:cNvPr id="36" name="Curved Connector 35"/>
          <p:cNvCxnSpPr/>
          <p:nvPr/>
        </p:nvCxnSpPr>
        <p:spPr bwMode="auto">
          <a:xfrm rot="5400000" flipH="1" flipV="1">
            <a:off x="3027363" y="3402013"/>
            <a:ext cx="12700" cy="577850"/>
          </a:xfrm>
          <a:prstGeom prst="curvedConnector3">
            <a:avLst>
              <a:gd name="adj1" fmla="val 8005362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6225" y="3043238"/>
            <a:ext cx="4349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16415" name="Curved Connector 43"/>
          <p:cNvCxnSpPr>
            <a:cxnSpLocks noChangeShapeType="1"/>
            <a:stCxn id="16417" idx="4"/>
            <a:endCxn id="14" idx="4"/>
          </p:cNvCxnSpPr>
          <p:nvPr/>
        </p:nvCxnSpPr>
        <p:spPr bwMode="auto">
          <a:xfrm rot="5400000" flipH="1">
            <a:off x="2155825" y="3694113"/>
            <a:ext cx="115888" cy="1687512"/>
          </a:xfrm>
          <a:prstGeom prst="curvedConnector3">
            <a:avLst>
              <a:gd name="adj1" fmla="val -19636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/>
          <p:nvPr/>
        </p:nvSpPr>
        <p:spPr>
          <a:xfrm>
            <a:off x="2038350" y="4194175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sp>
        <p:nvSpPr>
          <p:cNvPr id="16417" name="Oval 3"/>
          <p:cNvSpPr>
            <a:spLocks noChangeArrowheads="1"/>
          </p:cNvSpPr>
          <p:nvPr/>
        </p:nvSpPr>
        <p:spPr bwMode="auto">
          <a:xfrm>
            <a:off x="2535238" y="3613150"/>
            <a:ext cx="1046162" cy="982663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7299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Diagram</a:t>
            </a:r>
            <a:endParaRPr lang="en-IN" altLang="en-US" smtClean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130175" y="1385888"/>
          <a:ext cx="8839201" cy="39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192102499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66498066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8723385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4271912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98600724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183748963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6973899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0</a:t>
                      </a:r>
                      <a:endParaRPr lang="en-IN" sz="2000" dirty="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/>
                    </a:p>
                  </a:txBody>
                  <a:tcPr marT="45793" marB="45793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marT="45793" marB="45793"/>
                </a:tc>
                <a:extLst>
                  <a:ext uri="{0D108BD9-81ED-4DB2-BD59-A6C34878D82A}">
                    <a16:rowId xmlns:a16="http://schemas.microsoft.com/office/drawing/2014/main" val="2301672786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 bwMode="auto">
          <a:xfrm>
            <a:off x="3251200" y="928688"/>
            <a:ext cx="0" cy="457200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 bwMode="auto">
          <a:xfrm>
            <a:off x="914400" y="36576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2667000" y="3694113"/>
            <a:ext cx="819150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9" name="Curved Connector 18"/>
          <p:cNvCxnSpPr>
            <a:stCxn id="14" idx="1"/>
            <a:endCxn id="14" idx="7"/>
          </p:cNvCxnSpPr>
          <p:nvPr/>
        </p:nvCxnSpPr>
        <p:spPr bwMode="auto">
          <a:xfrm rot="5400000" flipH="1" flipV="1">
            <a:off x="1370013" y="3455987"/>
            <a:ext cx="12700" cy="644525"/>
          </a:xfrm>
          <a:prstGeom prst="curvedConnector3">
            <a:avLst>
              <a:gd name="adj1" fmla="val 7776787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3638" y="3043238"/>
            <a:ext cx="4127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4" idx="6"/>
            <a:endCxn id="17441" idx="2"/>
          </p:cNvCxnSpPr>
          <p:nvPr/>
        </p:nvCxnSpPr>
        <p:spPr bwMode="auto">
          <a:xfrm>
            <a:off x="1825625" y="4068763"/>
            <a:ext cx="709613" cy="36512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35" name="Straight Arrow Connector 26"/>
          <p:cNvCxnSpPr>
            <a:cxnSpLocks noChangeShapeType="1"/>
            <a:endCxn id="14" idx="2"/>
          </p:cNvCxnSpPr>
          <p:nvPr/>
        </p:nvCxnSpPr>
        <p:spPr bwMode="auto">
          <a:xfrm>
            <a:off x="304800" y="4068763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038350" y="3492500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cxnSp>
        <p:nvCxnSpPr>
          <p:cNvPr id="36" name="Curved Connector 35"/>
          <p:cNvCxnSpPr/>
          <p:nvPr/>
        </p:nvCxnSpPr>
        <p:spPr bwMode="auto">
          <a:xfrm rot="5400000" flipH="1" flipV="1">
            <a:off x="3027363" y="3402013"/>
            <a:ext cx="12700" cy="577850"/>
          </a:xfrm>
          <a:prstGeom prst="curvedConnector3">
            <a:avLst>
              <a:gd name="adj1" fmla="val 8005362"/>
            </a:avLst>
          </a:prstGeom>
          <a:ln>
            <a:headEnd type="none" w="med" len="med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6225" y="3043238"/>
            <a:ext cx="4349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en-IN" dirty="0"/>
          </a:p>
        </p:txBody>
      </p:sp>
      <p:cxnSp>
        <p:nvCxnSpPr>
          <p:cNvPr id="17439" name="Curved Connector 43"/>
          <p:cNvCxnSpPr>
            <a:cxnSpLocks noChangeShapeType="1"/>
            <a:stCxn id="17441" idx="4"/>
            <a:endCxn id="14" idx="4"/>
          </p:cNvCxnSpPr>
          <p:nvPr/>
        </p:nvCxnSpPr>
        <p:spPr bwMode="auto">
          <a:xfrm rot="5400000" flipH="1">
            <a:off x="2155825" y="3694113"/>
            <a:ext cx="115888" cy="1687512"/>
          </a:xfrm>
          <a:prstGeom prst="curvedConnector3">
            <a:avLst>
              <a:gd name="adj1" fmla="val -19636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/>
          <p:nvPr/>
        </p:nvSpPr>
        <p:spPr>
          <a:xfrm>
            <a:off x="2038350" y="4194175"/>
            <a:ext cx="369888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IN" dirty="0"/>
          </a:p>
        </p:txBody>
      </p:sp>
      <p:sp>
        <p:nvSpPr>
          <p:cNvPr id="17441" name="Oval 3"/>
          <p:cNvSpPr>
            <a:spLocks noChangeArrowheads="1"/>
          </p:cNvSpPr>
          <p:nvPr/>
        </p:nvSpPr>
        <p:spPr bwMode="auto">
          <a:xfrm>
            <a:off x="2535238" y="3613150"/>
            <a:ext cx="1046162" cy="982663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17442" name="TextBox 2"/>
          <p:cNvSpPr txBox="1">
            <a:spLocks noChangeArrowheads="1"/>
          </p:cNvSpPr>
          <p:nvPr/>
        </p:nvSpPr>
        <p:spPr bwMode="auto">
          <a:xfrm>
            <a:off x="3733800" y="4068763"/>
            <a:ext cx="2009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Accepted</a:t>
            </a: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4406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Example</a:t>
            </a:r>
            <a:endParaRPr lang="en-IN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 b="1" smtClean="0"/>
              <a:t>DFA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</a:t>
            </a:r>
            <a:r>
              <a:rPr lang="en-IN" altLang="en-US" sz="2400" smtClean="0"/>
              <a:t>a, b}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a) = q1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b)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a) = q1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b) = q0</a:t>
            </a:r>
          </a:p>
          <a:p>
            <a:r>
              <a:rPr lang="en-IN" altLang="en-US" sz="2400" b="1" smtClean="0"/>
              <a:t>Start State:</a:t>
            </a:r>
            <a:r>
              <a:rPr lang="en-IN" altLang="en-US" sz="2400" smtClean="0"/>
              <a:t> q0</a:t>
            </a:r>
          </a:p>
          <a:p>
            <a:r>
              <a:rPr lang="en-IN" altLang="en-US" sz="2400" b="1" smtClean="0"/>
              <a:t>Accept States:</a:t>
            </a:r>
            <a:r>
              <a:rPr lang="en-IN" altLang="en-US" sz="2400" smtClean="0"/>
              <a:t> {q1}</a:t>
            </a:r>
          </a:p>
          <a:p>
            <a:r>
              <a:rPr lang="en-IN" altLang="en-US" sz="2400" b="1" smtClean="0"/>
              <a:t>Question:</a:t>
            </a:r>
            <a:r>
              <a:rPr lang="en-IN" altLang="en-US" sz="2400" smtClean="0"/>
              <a:t> Does the DFA accept the string "ab"?</a:t>
            </a:r>
          </a:p>
        </p:txBody>
      </p:sp>
    </p:spTree>
    <p:extLst>
      <p:ext uri="{BB962C8B-B14F-4D97-AF65-F5344CB8AC3E}">
        <p14:creationId xmlns:p14="http://schemas.microsoft.com/office/powerpoint/2010/main" val="26785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Answer</a:t>
            </a:r>
            <a:endParaRPr lang="en-IN" altLang="en-US" b="1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IN" dirty="0" smtClean="0"/>
              <a:t>The </a:t>
            </a:r>
            <a:r>
              <a:rPr lang="en-IN" dirty="0"/>
              <a:t>DFA processes "ab" as follows:</a:t>
            </a:r>
          </a:p>
          <a:p>
            <a:pPr>
              <a:defRPr/>
            </a:pPr>
            <a:r>
              <a:rPr lang="en-IN" dirty="0"/>
              <a:t>Start at q0.</a:t>
            </a:r>
          </a:p>
          <a:p>
            <a:pPr>
              <a:defRPr/>
            </a:pPr>
            <a:r>
              <a:rPr lang="en-IN" dirty="0"/>
              <a:t>Read 'a', transition to q1.</a:t>
            </a:r>
          </a:p>
          <a:p>
            <a:pPr>
              <a:defRPr/>
            </a:pPr>
            <a:r>
              <a:rPr lang="en-IN" dirty="0"/>
              <a:t>Read 'b', transition to q0. The DFA ends in state q0, which is not an accept state, so it </a:t>
            </a:r>
            <a:r>
              <a:rPr lang="en-IN" b="1" dirty="0"/>
              <a:t>does not accept</a:t>
            </a:r>
            <a:r>
              <a:rPr lang="en-IN" dirty="0"/>
              <a:t> "ab".</a:t>
            </a:r>
          </a:p>
          <a:p>
            <a:pPr marL="0" indent="0">
              <a:buFontTx/>
              <a:buNone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11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Example</a:t>
            </a:r>
            <a:endParaRPr lang="en-IN" altLang="en-US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 b="1" smtClean="0"/>
              <a:t>DFA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q1, q2}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{0, 1}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0) = q1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1)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0)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1)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0)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1) = q2</a:t>
            </a:r>
          </a:p>
          <a:p>
            <a:r>
              <a:rPr lang="en-IN" altLang="en-US" sz="2400" b="1" smtClean="0"/>
              <a:t>Start State:</a:t>
            </a:r>
            <a:r>
              <a:rPr lang="en-IN" altLang="en-US" sz="2400" smtClean="0"/>
              <a:t> q0</a:t>
            </a:r>
          </a:p>
          <a:p>
            <a:r>
              <a:rPr lang="en-IN" altLang="en-US" sz="2400" b="1" smtClean="0"/>
              <a:t>Accept States:</a:t>
            </a:r>
            <a:r>
              <a:rPr lang="en-IN" altLang="en-US" sz="2400" smtClean="0"/>
              <a:t> {q2}</a:t>
            </a:r>
          </a:p>
          <a:p>
            <a:r>
              <a:rPr lang="en-IN" altLang="en-US" sz="2400" b="1" smtClean="0"/>
              <a:t>Question:</a:t>
            </a:r>
            <a:r>
              <a:rPr lang="en-IN" altLang="en-US" sz="2400" smtClean="0"/>
              <a:t> Does the DFA accept the string "0010"?</a:t>
            </a:r>
          </a:p>
          <a:p>
            <a:endParaRPr lang="en-I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1742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Answer</a:t>
            </a:r>
            <a:endParaRPr lang="en-IN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mtClean="0"/>
              <a:t>Yes. The DFA processes "0010" as follows:</a:t>
            </a:r>
          </a:p>
          <a:p>
            <a:r>
              <a:rPr lang="en-IN" altLang="en-US" smtClean="0"/>
              <a:t>Start at q0.</a:t>
            </a:r>
          </a:p>
          <a:p>
            <a:r>
              <a:rPr lang="en-IN" altLang="en-US" smtClean="0"/>
              <a:t>Read '0', transition to q1.</a:t>
            </a:r>
          </a:p>
          <a:p>
            <a:r>
              <a:rPr lang="en-IN" altLang="en-US" smtClean="0"/>
              <a:t>Read '0', transition to q2.</a:t>
            </a:r>
          </a:p>
          <a:p>
            <a:r>
              <a:rPr lang="en-IN" altLang="en-US" smtClean="0"/>
              <a:t>Read '1', transition to q2.</a:t>
            </a:r>
          </a:p>
          <a:p>
            <a:r>
              <a:rPr lang="en-IN" altLang="en-US" smtClean="0"/>
              <a:t>Read '0', transition to q2. The DFA ends in state q2, which is an accept state, so it </a:t>
            </a:r>
            <a:r>
              <a:rPr lang="en-IN" altLang="en-US" b="1" smtClean="0"/>
              <a:t>accepts</a:t>
            </a:r>
            <a:r>
              <a:rPr lang="en-IN" altLang="en-US" smtClean="0"/>
              <a:t> "0010".</a:t>
            </a:r>
          </a:p>
          <a:p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210491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Example</a:t>
            </a:r>
            <a:endParaRPr lang="en-IN" altLang="en-US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 b="1" smtClean="0"/>
              <a:t>DFA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q1, q2}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</a:t>
            </a:r>
            <a:r>
              <a:rPr lang="en-IN" altLang="en-US" sz="2400" smtClean="0"/>
              <a:t>a, b}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a) = q1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b)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a)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b)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a)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b) = q2</a:t>
            </a:r>
          </a:p>
          <a:p>
            <a:r>
              <a:rPr lang="en-IN" altLang="en-US" sz="2400" b="1" smtClean="0"/>
              <a:t>Start State:</a:t>
            </a:r>
            <a:r>
              <a:rPr lang="en-IN" altLang="en-US" sz="2400" smtClean="0"/>
              <a:t> q0</a:t>
            </a:r>
          </a:p>
          <a:p>
            <a:r>
              <a:rPr lang="en-IN" altLang="en-US" sz="2400" b="1" smtClean="0"/>
              <a:t>Accept States:</a:t>
            </a:r>
            <a:r>
              <a:rPr lang="en-IN" altLang="en-US" sz="2400" smtClean="0"/>
              <a:t> {q2}</a:t>
            </a:r>
          </a:p>
          <a:p>
            <a:r>
              <a:rPr lang="en-IN" altLang="en-US" sz="2400" b="1" smtClean="0"/>
              <a:t>Question:</a:t>
            </a:r>
            <a:r>
              <a:rPr lang="en-IN" altLang="en-US" sz="2400" smtClean="0"/>
              <a:t> Does the DFA accept the string "abab"?</a:t>
            </a:r>
          </a:p>
        </p:txBody>
      </p:sp>
    </p:spTree>
    <p:extLst>
      <p:ext uri="{BB962C8B-B14F-4D97-AF65-F5344CB8AC3E}">
        <p14:creationId xmlns:p14="http://schemas.microsoft.com/office/powerpoint/2010/main" val="308325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Answer</a:t>
            </a:r>
            <a:endParaRPr lang="en-IN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mtClean="0"/>
              <a:t>Yes. The DFA processes "abab" as follows:</a:t>
            </a:r>
          </a:p>
          <a:p>
            <a:r>
              <a:rPr lang="en-IN" altLang="en-US" smtClean="0"/>
              <a:t>Start at q0.</a:t>
            </a:r>
          </a:p>
          <a:p>
            <a:r>
              <a:rPr lang="en-IN" altLang="en-US" smtClean="0"/>
              <a:t>Read 'a', transition to q1.</a:t>
            </a:r>
          </a:p>
          <a:p>
            <a:r>
              <a:rPr lang="en-IN" altLang="en-US" smtClean="0"/>
              <a:t>Read 'b', transition to q2.</a:t>
            </a:r>
          </a:p>
          <a:p>
            <a:r>
              <a:rPr lang="en-IN" altLang="en-US" smtClean="0"/>
              <a:t>Read 'a', transition to q2.</a:t>
            </a:r>
          </a:p>
          <a:p>
            <a:r>
              <a:rPr lang="en-IN" altLang="en-US" smtClean="0"/>
              <a:t>Read 'b', transition to q2. The DFA ends in state q2, which is an accept state, so it </a:t>
            </a:r>
            <a:r>
              <a:rPr lang="en-IN" altLang="en-US" b="1" smtClean="0"/>
              <a:t>accepts</a:t>
            </a:r>
            <a:r>
              <a:rPr lang="en-IN" altLang="en-US" smtClean="0"/>
              <a:t> "abab".</a:t>
            </a:r>
          </a:p>
        </p:txBody>
      </p:sp>
    </p:spTree>
    <p:extLst>
      <p:ext uri="{BB962C8B-B14F-4D97-AF65-F5344CB8AC3E}">
        <p14:creationId xmlns:p14="http://schemas.microsoft.com/office/powerpoint/2010/main" val="38266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Example</a:t>
            </a:r>
            <a:endParaRPr lang="en-IN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 b="1" smtClean="0"/>
              <a:t>DFA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q1, q2, q3}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{0, 1}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0) = q1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1)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0) = q3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1)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0) = q0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1) = q3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q3, 0) = q2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q3, 1) = q1</a:t>
            </a:r>
          </a:p>
          <a:p>
            <a:r>
              <a:rPr lang="en-IN" altLang="en-US" sz="2400" b="1" smtClean="0"/>
              <a:t>Answer:</a:t>
            </a:r>
            <a:r>
              <a:rPr lang="en-IN" altLang="en-US" sz="2400" smtClean="0"/>
              <a:t> No. The DFA processes "1100" as follows:</a:t>
            </a:r>
          </a:p>
          <a:p>
            <a:r>
              <a:rPr lang="en-IN" altLang="en-US" sz="2400" smtClean="0"/>
              <a:t>Start at q0.</a:t>
            </a:r>
          </a:p>
          <a:p>
            <a:r>
              <a:rPr lang="en-IN" altLang="en-US" sz="2400" smtClean="0"/>
              <a:t>Read '1', transition to q2.</a:t>
            </a:r>
          </a:p>
          <a:p>
            <a:r>
              <a:rPr lang="en-IN" altLang="en-US" sz="2400" smtClean="0"/>
              <a:t>Read '1', transition to q3.</a:t>
            </a:r>
          </a:p>
          <a:p>
            <a:r>
              <a:rPr lang="en-IN" altLang="en-US" sz="2400" smtClean="0"/>
              <a:t>Read '0', transition to q2.</a:t>
            </a:r>
          </a:p>
          <a:p>
            <a:r>
              <a:rPr lang="en-IN" altLang="en-US" sz="2400" smtClean="0"/>
              <a:t>Read '0', transition to q0. The DFA ends in state q0, which is an accept state, so it </a:t>
            </a:r>
            <a:r>
              <a:rPr lang="en-IN" altLang="en-US" sz="2400" b="1" smtClean="0"/>
              <a:t>accepts</a:t>
            </a:r>
            <a:r>
              <a:rPr lang="en-IN" altLang="en-US" sz="2400" smtClean="0"/>
              <a:t> "1100".</a:t>
            </a:r>
          </a:p>
          <a:p>
            <a:endParaRPr lang="en-I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29283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Cont.</a:t>
            </a:r>
            <a:endParaRPr lang="en-IN" altLang="en-US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b="1" smtClean="0"/>
              <a:t>Start State:</a:t>
            </a:r>
            <a:r>
              <a:rPr lang="en-IN" altLang="en-US" smtClean="0"/>
              <a:t> q0</a:t>
            </a:r>
          </a:p>
          <a:p>
            <a:r>
              <a:rPr lang="en-IN" altLang="en-US" b="1" smtClean="0"/>
              <a:t>Accept States:</a:t>
            </a:r>
            <a:r>
              <a:rPr lang="en-IN" altLang="en-US" smtClean="0"/>
              <a:t> {q0}</a:t>
            </a:r>
          </a:p>
          <a:p>
            <a:r>
              <a:rPr lang="en-IN" altLang="en-US" b="1" smtClean="0"/>
              <a:t>Question:</a:t>
            </a:r>
            <a:r>
              <a:rPr lang="en-IN" altLang="en-US" smtClean="0"/>
              <a:t> Does the DFA accept the string "1100"?</a:t>
            </a:r>
          </a:p>
          <a:p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294297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smtClean="0"/>
              <a:t>Answer</a:t>
            </a:r>
            <a:endParaRPr lang="en-IN" altLang="en-US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mtClean="0"/>
              <a:t>No. The DFA processes "1100" as follows:</a:t>
            </a:r>
          </a:p>
          <a:p>
            <a:r>
              <a:rPr lang="en-IN" altLang="en-US" smtClean="0"/>
              <a:t>Start at q0.</a:t>
            </a:r>
          </a:p>
          <a:p>
            <a:r>
              <a:rPr lang="en-IN" altLang="en-US" smtClean="0"/>
              <a:t>Read '1', transition to q2.</a:t>
            </a:r>
          </a:p>
          <a:p>
            <a:r>
              <a:rPr lang="en-IN" altLang="en-US" smtClean="0"/>
              <a:t>Read '1', transition to q3.</a:t>
            </a:r>
          </a:p>
          <a:p>
            <a:r>
              <a:rPr lang="en-IN" altLang="en-US" smtClean="0"/>
              <a:t>Read '0', transition to q2.</a:t>
            </a:r>
          </a:p>
          <a:p>
            <a:r>
              <a:rPr lang="en-IN" altLang="en-US" smtClean="0"/>
              <a:t>Read '0', transition to q0. The DFA ends in state q0, which is an accept state, so it </a:t>
            </a:r>
            <a:r>
              <a:rPr lang="en-IN" altLang="en-US" b="1" smtClean="0"/>
              <a:t>accepts</a:t>
            </a:r>
            <a:r>
              <a:rPr lang="en-IN" altLang="en-US" smtClean="0"/>
              <a:t> "1100".</a:t>
            </a:r>
          </a:p>
          <a:p>
            <a:endParaRPr lang="en-IN" altLang="en-US" smtClean="0"/>
          </a:p>
        </p:txBody>
      </p:sp>
    </p:spTree>
    <p:extLst>
      <p:ext uri="{BB962C8B-B14F-4D97-AF65-F5344CB8AC3E}">
        <p14:creationId xmlns:p14="http://schemas.microsoft.com/office/powerpoint/2010/main" val="11458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2765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en-US" sz="6000" b="1" smtClean="0"/>
              <a:t>NFA/NDFA</a:t>
            </a:r>
            <a:endParaRPr lang="en-IN" altLang="en-US" sz="6000" b="1" smtClean="0"/>
          </a:p>
        </p:txBody>
      </p:sp>
    </p:spTree>
    <p:extLst>
      <p:ext uri="{BB962C8B-B14F-4D97-AF65-F5344CB8AC3E}">
        <p14:creationId xmlns:p14="http://schemas.microsoft.com/office/powerpoint/2010/main" val="409780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val 1026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8675" name="Oval 1027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8676" name="Oval 1028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8677" name="Line 1029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78" name="Line 1030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79" name="Line 1031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680" name="Oval 103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8681" name="Line 103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28682" name="Object 103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" imgW="406224" imgH="571252" progId="Equation.3">
                  <p:embed/>
                </p:oleObj>
              </mc:Choice>
              <mc:Fallback>
                <p:oleObj name="Equation" r:id="rId3" imgW="406224" imgH="571252" progId="Equation.3">
                  <p:embed/>
                  <p:pic>
                    <p:nvPicPr>
                      <p:cNvPr id="28682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3" name="Oval 103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8684" name="Object 103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5" imgW="482391" imgH="571252" progId="Equation.3">
                  <p:embed/>
                </p:oleObj>
              </mc:Choice>
              <mc:Fallback>
                <p:oleObj name="Equation" r:id="rId5" imgW="482391" imgH="571252" progId="Equation.3">
                  <p:embed/>
                  <p:pic>
                    <p:nvPicPr>
                      <p:cNvPr id="28684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03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28685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038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28686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039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8687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040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8688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13" imgW="482391" imgH="583947" progId="Equation.3">
                  <p:embed/>
                </p:oleObj>
              </mc:Choice>
              <mc:Fallback>
                <p:oleObj name="Equation" r:id="rId13" imgW="482391" imgH="583947" progId="Equation.3">
                  <p:embed/>
                  <p:pic>
                    <p:nvPicPr>
                      <p:cNvPr id="28689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1042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15" imgW="660113" imgH="533169" progId="Equation.3">
                  <p:embed/>
                </p:oleObj>
              </mc:Choice>
              <mc:Fallback>
                <p:oleObj name="Equation" r:id="rId15" imgW="660113" imgH="533169" progId="Equation.3">
                  <p:embed/>
                  <p:pic>
                    <p:nvPicPr>
                      <p:cNvPr id="2869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1" name="Text Box 1043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Alphabet =</a:t>
            </a:r>
          </a:p>
        </p:txBody>
      </p:sp>
      <p:sp>
        <p:nvSpPr>
          <p:cNvPr id="28692" name="Rectangle 1045"/>
          <p:cNvSpPr>
            <a:spLocks noChangeArrowheads="1"/>
          </p:cNvSpPr>
          <p:nvPr/>
        </p:nvSpPr>
        <p:spPr bwMode="auto">
          <a:xfrm>
            <a:off x="304800" y="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</a:rPr>
              <a:t>Nondeterministic Finite Automaton</a:t>
            </a:r>
            <a:r>
              <a:rPr lang="en-US" altLang="en-US" sz="360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425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val 13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9699" name="Oval 15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9700" name="Oval 16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9701" name="Line 17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2" name="Line 18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3" name="Line 19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4" name="Oval 21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29705" name="Line 22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29706" name="Object 2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3" imgW="406224" imgH="571252" progId="Equation.3">
                  <p:embed/>
                </p:oleObj>
              </mc:Choice>
              <mc:Fallback>
                <p:oleObj name="Equation" r:id="rId3" imgW="406224" imgH="571252" progId="Equation.3">
                  <p:embed/>
                  <p:pic>
                    <p:nvPicPr>
                      <p:cNvPr id="2970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Oval 2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29708" name="Object 2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5" imgW="482391" imgH="571252" progId="Equation.3">
                  <p:embed/>
                </p:oleObj>
              </mc:Choice>
              <mc:Fallback>
                <p:oleObj name="Equation" r:id="rId5" imgW="482391" imgH="571252" progId="Equation.3">
                  <p:embed/>
                  <p:pic>
                    <p:nvPicPr>
                      <p:cNvPr id="2970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2970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28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2971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29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971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30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971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33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13" imgW="482391" imgH="583947" progId="Equation.3">
                  <p:embed/>
                </p:oleObj>
              </mc:Choice>
              <mc:Fallback>
                <p:oleObj name="Equation" r:id="rId13" imgW="482391" imgH="583947" progId="Equation.3">
                  <p:embed/>
                  <p:pic>
                    <p:nvPicPr>
                      <p:cNvPr id="2971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34"/>
          <p:cNvSpPr txBox="1">
            <a:spLocks noChangeArrowheads="1"/>
          </p:cNvSpPr>
          <p:nvPr/>
        </p:nvSpPr>
        <p:spPr bwMode="auto">
          <a:xfrm>
            <a:off x="762000" y="2667000"/>
            <a:ext cx="2478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Two choices</a:t>
            </a:r>
          </a:p>
        </p:txBody>
      </p:sp>
      <p:graphicFrame>
        <p:nvGraphicFramePr>
          <p:cNvPr id="29715" name="Object 39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15" imgW="660113" imgH="533169" progId="Equation.3">
                  <p:embed/>
                </p:oleObj>
              </mc:Choice>
              <mc:Fallback>
                <p:oleObj name="Equation" r:id="rId15" imgW="660113" imgH="533169" progId="Equation.3">
                  <p:embed/>
                  <p:pic>
                    <p:nvPicPr>
                      <p:cNvPr id="2971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Text Box 40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Alphabet =</a:t>
            </a:r>
          </a:p>
        </p:txBody>
      </p:sp>
    </p:spTree>
    <p:extLst>
      <p:ext uri="{BB962C8B-B14F-4D97-AF65-F5344CB8AC3E}">
        <p14:creationId xmlns:p14="http://schemas.microsoft.com/office/powerpoint/2010/main" val="384157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064"/>
          <p:cNvSpPr txBox="1">
            <a:spLocks noChangeArrowheads="1"/>
          </p:cNvSpPr>
          <p:nvPr/>
        </p:nvSpPr>
        <p:spPr bwMode="auto">
          <a:xfrm>
            <a:off x="4267200" y="5029200"/>
            <a:ext cx="269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</a:t>
            </a:r>
          </a:p>
        </p:txBody>
      </p:sp>
      <p:sp>
        <p:nvSpPr>
          <p:cNvPr id="30723" name="Oval 1065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0724" name="Oval 1066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0725" name="Oval 1067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0726" name="Line 1068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7" name="Line 1069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8" name="Line 1070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9" name="Oval 1071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0730" name="Line 1072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0731" name="Object 1073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3" imgW="406224" imgH="571252" progId="Equation.3">
                  <p:embed/>
                </p:oleObj>
              </mc:Choice>
              <mc:Fallback>
                <p:oleObj name="Equation" r:id="rId3" imgW="406224" imgH="571252" progId="Equation.3">
                  <p:embed/>
                  <p:pic>
                    <p:nvPicPr>
                      <p:cNvPr id="30731" name="Object 1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Oval 1074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0733" name="Object 1075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Equation" r:id="rId5" imgW="482391" imgH="571252" progId="Equation.3">
                  <p:embed/>
                </p:oleObj>
              </mc:Choice>
              <mc:Fallback>
                <p:oleObj name="Equation" r:id="rId5" imgW="482391" imgH="571252" progId="Equation.3">
                  <p:embed/>
                  <p:pic>
                    <p:nvPicPr>
                      <p:cNvPr id="30733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07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30734" name="Object 1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077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30735" name="Object 10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1078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0736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1079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0737" name="Object 1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08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Equation" r:id="rId13" imgW="482391" imgH="583947" progId="Equation.3">
                  <p:embed/>
                </p:oleObj>
              </mc:Choice>
              <mc:Fallback>
                <p:oleObj name="Equation" r:id="rId13" imgW="482391" imgH="583947" progId="Equation.3">
                  <p:embed/>
                  <p:pic>
                    <p:nvPicPr>
                      <p:cNvPr id="30738" name="Object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Text Box 1081"/>
          <p:cNvSpPr txBox="1">
            <a:spLocks noChangeArrowheads="1"/>
          </p:cNvSpPr>
          <p:nvPr/>
        </p:nvSpPr>
        <p:spPr bwMode="auto">
          <a:xfrm>
            <a:off x="762000" y="2667000"/>
            <a:ext cx="2478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Two choices</a:t>
            </a:r>
          </a:p>
        </p:txBody>
      </p:sp>
      <p:sp>
        <p:nvSpPr>
          <p:cNvPr id="30740" name="Text Box 1084"/>
          <p:cNvSpPr txBox="1">
            <a:spLocks noChangeArrowheads="1"/>
          </p:cNvSpPr>
          <p:nvPr/>
        </p:nvSpPr>
        <p:spPr bwMode="auto">
          <a:xfrm>
            <a:off x="6248400" y="2895600"/>
            <a:ext cx="269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</a:t>
            </a:r>
          </a:p>
        </p:txBody>
      </p:sp>
      <p:graphicFrame>
        <p:nvGraphicFramePr>
          <p:cNvPr id="30741" name="Object 1085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Equation" r:id="rId15" imgW="660113" imgH="533169" progId="Equation.3">
                  <p:embed/>
                </p:oleObj>
              </mc:Choice>
              <mc:Fallback>
                <p:oleObj name="Equation" r:id="rId15" imgW="660113" imgH="533169" progId="Equation.3">
                  <p:embed/>
                  <p:pic>
                    <p:nvPicPr>
                      <p:cNvPr id="30741" name="Object 1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Text Box 1086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Alphabet =</a:t>
            </a:r>
          </a:p>
        </p:txBody>
      </p:sp>
    </p:spTree>
    <p:extLst>
      <p:ext uri="{BB962C8B-B14F-4D97-AF65-F5344CB8AC3E}">
        <p14:creationId xmlns:p14="http://schemas.microsoft.com/office/powerpoint/2010/main" val="387321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174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1749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174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Line 8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751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1752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1753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1754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5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6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1757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175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1759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1760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176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176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1763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176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176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176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176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7" name="Text Box 26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31768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4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176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9" name="Line 2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6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2773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277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Line 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5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2776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2777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2778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9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0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2781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278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2783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2784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278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278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6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2787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278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278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278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0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279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27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2" name="Line 30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93" name="Text Box 31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</p:spTree>
    <p:extLst>
      <p:ext uri="{BB962C8B-B14F-4D97-AF65-F5344CB8AC3E}">
        <p14:creationId xmlns:p14="http://schemas.microsoft.com/office/powerpoint/2010/main" val="41721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79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3797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37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Line 8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799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3800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3801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3802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3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4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3805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380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3807" name="Line 17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3808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380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380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0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3811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381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381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381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381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5" name="Text Box 26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33816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381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7" name="Line 31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26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481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4821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48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Line 8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3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4824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4825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4826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7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8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4829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482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4831" name="Line 17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4832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483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483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4835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483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6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483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483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483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483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0" name="Text Box 26"/>
          <p:cNvSpPr txBox="1">
            <a:spLocks noChangeArrowheads="1"/>
          </p:cNvSpPr>
          <p:nvPr/>
        </p:nvSpPr>
        <p:spPr bwMode="auto">
          <a:xfrm>
            <a:off x="6477000" y="28194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“accept”</a:t>
            </a:r>
          </a:p>
        </p:txBody>
      </p:sp>
      <p:sp>
        <p:nvSpPr>
          <p:cNvPr id="34841" name="Text Box 27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34842" name="Line 30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43" name="Text Box 31"/>
          <p:cNvSpPr txBox="1">
            <a:spLocks noChangeArrowheads="1"/>
          </p:cNvSpPr>
          <p:nvPr/>
        </p:nvSpPr>
        <p:spPr bwMode="auto">
          <a:xfrm>
            <a:off x="457200" y="1981200"/>
            <a:ext cx="415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All input is consumed</a:t>
            </a:r>
          </a:p>
        </p:txBody>
      </p:sp>
    </p:spTree>
    <p:extLst>
      <p:ext uri="{BB962C8B-B14F-4D97-AF65-F5344CB8AC3E}">
        <p14:creationId xmlns:p14="http://schemas.microsoft.com/office/powerpoint/2010/main" val="278637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584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4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5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5853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58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5856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58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58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5859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585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58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58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2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58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35864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586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5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2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686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6877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68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6880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68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68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2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68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688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688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36887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688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8" name="Line 25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6889" name="Object 2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3688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85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7891" name="Line 5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892" name="Line 6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893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789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Line 8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895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7896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7897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7898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899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7901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790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7903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7904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790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790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6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7907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790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2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790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3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790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791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1" name="Line 25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7912" name="Object 2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3791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Text Box 27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37914" name="Text Box 28"/>
          <p:cNvSpPr txBox="1">
            <a:spLocks noChangeArrowheads="1"/>
          </p:cNvSpPr>
          <p:nvPr/>
        </p:nvSpPr>
        <p:spPr bwMode="auto">
          <a:xfrm>
            <a:off x="4632325" y="4673600"/>
            <a:ext cx="4116388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transition:</a:t>
            </a:r>
          </a:p>
          <a:p>
            <a:pPr>
              <a:buFontTx/>
              <a:buNone/>
            </a:pPr>
            <a:r>
              <a:rPr lang="en-US" altLang="en-US"/>
              <a:t>the automaton hangs</a:t>
            </a:r>
          </a:p>
        </p:txBody>
      </p:sp>
    </p:spTree>
    <p:extLst>
      <p:ext uri="{BB962C8B-B14F-4D97-AF65-F5344CB8AC3E}">
        <p14:creationId xmlns:p14="http://schemas.microsoft.com/office/powerpoint/2010/main" val="303632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8921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89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389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389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0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8931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389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89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89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4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893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38936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389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38938" name="Text Box 27"/>
          <p:cNvSpPr txBox="1">
            <a:spLocks noChangeArrowheads="1"/>
          </p:cNvSpPr>
          <p:nvPr/>
        </p:nvSpPr>
        <p:spPr bwMode="auto">
          <a:xfrm>
            <a:off x="4648200" y="50292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38939" name="Text Box 28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Input cannot be consumed</a:t>
            </a:r>
          </a:p>
        </p:txBody>
      </p:sp>
    </p:spTree>
    <p:extLst>
      <p:ext uri="{BB962C8B-B14F-4D97-AF65-F5344CB8AC3E}">
        <p14:creationId xmlns:p14="http://schemas.microsoft.com/office/powerpoint/2010/main" val="54275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685800" y="13716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" name="Equation" r:id="rId3" imgW="545626" imgH="304536" progId="Equation.3">
                  <p:embed/>
                </p:oleObj>
              </mc:Choice>
              <mc:Fallback>
                <p:oleObj name="Equation" r:id="rId3" imgW="545626" imgH="304536" progId="Equation.3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3716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95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is accepted by the NFA:</a:t>
            </a:r>
          </a:p>
        </p:txBody>
      </p:sp>
      <p:grpSp>
        <p:nvGrpSpPr>
          <p:cNvPr id="39941" name="Group 39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39962" name="Oval 22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39963" name="Oval 23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39964" name="Oval 24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39965" name="Line 25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966" name="Line 26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967" name="Line 27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968" name="Oval 28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39969" name="Line 29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aphicFrame>
          <p:nvGraphicFramePr>
            <p:cNvPr id="39970" name="Object 30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3" name="Equation" r:id="rId5" imgW="482391" imgH="583947" progId="Equation.3">
                    <p:embed/>
                  </p:oleObj>
                </mc:Choice>
                <mc:Fallback>
                  <p:oleObj name="Equation" r:id="rId5" imgW="482391" imgH="583947" progId="Equation.3">
                    <p:embed/>
                    <p:pic>
                      <p:nvPicPr>
                        <p:cNvPr id="3997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544"/>
                          <a:ext cx="30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1" name="Object 31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4" name="Equation" r:id="rId7" imgW="406224" imgH="571252" progId="Equation.3">
                    <p:embed/>
                  </p:oleObj>
                </mc:Choice>
                <mc:Fallback>
                  <p:oleObj name="Equation" r:id="rId7" imgW="406224" imgH="571252" progId="Equation.3">
                    <p:embed/>
                    <p:pic>
                      <p:nvPicPr>
                        <p:cNvPr id="3997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76"/>
                          <a:ext cx="25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2" name="Oval 32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graphicFrame>
          <p:nvGraphicFramePr>
            <p:cNvPr id="39973" name="Object 33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5" name="Equation" r:id="rId9" imgW="482391" imgH="571252" progId="Equation.3">
                    <p:embed/>
                  </p:oleObj>
                </mc:Choice>
                <mc:Fallback>
                  <p:oleObj name="Equation" r:id="rId9" imgW="482391" imgH="571252" progId="Equation.3">
                    <p:embed/>
                    <p:pic>
                      <p:nvPicPr>
                        <p:cNvPr id="39973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776"/>
                          <a:ext cx="30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4" name="Object 34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6" name="Equation" r:id="rId11" imgW="457002" imgH="583947" progId="Equation.3">
                    <p:embed/>
                  </p:oleObj>
                </mc:Choice>
                <mc:Fallback>
                  <p:oleObj name="Equation" r:id="rId11" imgW="457002" imgH="583947" progId="Equation.3">
                    <p:embed/>
                    <p:pic>
                      <p:nvPicPr>
                        <p:cNvPr id="39974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120"/>
                          <a:ext cx="28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5" name="Object 35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7" name="Equation" r:id="rId13" imgW="266584" imgH="279279" progId="Equation.3">
                    <p:embed/>
                  </p:oleObj>
                </mc:Choice>
                <mc:Fallback>
                  <p:oleObj name="Equation" r:id="rId13" imgW="266584" imgH="279279" progId="Equation.3">
                    <p:embed/>
                    <p:pic>
                      <p:nvPicPr>
                        <p:cNvPr id="39975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60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6" name="Object 36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8" name="Equation" r:id="rId15" imgW="266584" imgH="279279" progId="Equation.3">
                    <p:embed/>
                  </p:oleObj>
                </mc:Choice>
                <mc:Fallback>
                  <p:oleObj name="Equation" r:id="rId15" imgW="266584" imgH="279279" progId="Equation.3">
                    <p:embed/>
                    <p:pic>
                      <p:nvPicPr>
                        <p:cNvPr id="39976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7" name="Object 37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9" name="Equation" r:id="rId16" imgW="266584" imgH="279279" progId="Equation.3">
                    <p:embed/>
                  </p:oleObj>
                </mc:Choice>
                <mc:Fallback>
                  <p:oleObj name="Equation" r:id="rId16" imgW="266584" imgH="279279" progId="Equation.3">
                    <p:embed/>
                    <p:pic>
                      <p:nvPicPr>
                        <p:cNvPr id="39977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82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2" name="Text Box 38"/>
          <p:cNvSpPr txBox="1">
            <a:spLocks noChangeArrowheads="1"/>
          </p:cNvSpPr>
          <p:nvPr/>
        </p:nvSpPr>
        <p:spPr bwMode="auto">
          <a:xfrm>
            <a:off x="2590800" y="25908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“accept”</a:t>
            </a:r>
          </a:p>
        </p:txBody>
      </p:sp>
      <p:sp>
        <p:nvSpPr>
          <p:cNvPr id="39943" name="Oval 40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9944" name="Oval 41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9945" name="Oval 42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9946" name="Line 43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7" name="Line 44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8" name="Line 45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949" name="Oval 46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39950" name="Line 47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9951" name="Object 48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name="Equation" r:id="rId17" imgW="482391" imgH="583947" progId="Equation.3">
                  <p:embed/>
                </p:oleObj>
              </mc:Choice>
              <mc:Fallback>
                <p:oleObj name="Equation" r:id="rId17" imgW="482391" imgH="583947" progId="Equation.3">
                  <p:embed/>
                  <p:pic>
                    <p:nvPicPr>
                      <p:cNvPr id="3995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4006850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49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39952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3230563"/>
                        <a:ext cx="25241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3" name="Oval 50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9954" name="Object 51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39954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0" y="3230563"/>
                        <a:ext cx="3000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52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9955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361791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53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9956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29736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54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9957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513" y="3279775"/>
                        <a:ext cx="163512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55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23" imgW="457002" imgH="583947" progId="Equation.3">
                  <p:embed/>
                </p:oleObj>
              </mc:Choice>
              <mc:Fallback>
                <p:oleObj name="Equation" r:id="rId23" imgW="457002" imgH="583947" progId="Equation.3">
                  <p:embed/>
                  <p:pic>
                    <p:nvPicPr>
                      <p:cNvPr id="39958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4587875"/>
                        <a:ext cx="2841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Text Box 56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39960" name="Text Box 57"/>
          <p:cNvSpPr txBox="1">
            <a:spLocks noChangeArrowheads="1"/>
          </p:cNvSpPr>
          <p:nvPr/>
        </p:nvSpPr>
        <p:spPr bwMode="auto">
          <a:xfrm>
            <a:off x="152400" y="4953000"/>
            <a:ext cx="2681288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because this </a:t>
            </a:r>
          </a:p>
          <a:p>
            <a:pPr>
              <a:buFontTx/>
              <a:buNone/>
            </a:pPr>
            <a:r>
              <a:rPr lang="en-US" altLang="en-US"/>
              <a:t>computation</a:t>
            </a:r>
          </a:p>
          <a:p>
            <a:pPr>
              <a:buFontTx/>
              <a:buNone/>
            </a:pPr>
            <a:r>
              <a:rPr lang="en-US" altLang="en-US"/>
              <a:t>accepts </a:t>
            </a:r>
          </a:p>
        </p:txBody>
      </p:sp>
      <p:graphicFrame>
        <p:nvGraphicFramePr>
          <p:cNvPr id="39961" name="Object 58"/>
          <p:cNvGraphicFramePr>
            <a:graphicFrameLocks noChangeAspect="1"/>
          </p:cNvGraphicFramePr>
          <p:nvPr/>
        </p:nvGraphicFramePr>
        <p:xfrm>
          <a:off x="1828800" y="62484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24" imgW="545626" imgH="304536" progId="Equation.3">
                  <p:embed/>
                </p:oleObj>
              </mc:Choice>
              <mc:Fallback>
                <p:oleObj name="Equation" r:id="rId24" imgW="545626" imgH="304536" progId="Equation.3">
                  <p:embed/>
                  <p:pic>
                    <p:nvPicPr>
                      <p:cNvPr id="39961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62484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450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0963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0964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0964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Line 103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66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0967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0968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0969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0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1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2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0973" name="Line 103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0974" name="Object 104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0974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5" name="Object 1041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0975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6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0977" name="Object 1043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0977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04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40978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Object 1045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0979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Object 1046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098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1" name="Text Box 1047"/>
          <p:cNvSpPr txBox="1">
            <a:spLocks noChangeArrowheads="1"/>
          </p:cNvSpPr>
          <p:nvPr/>
        </p:nvSpPr>
        <p:spPr bwMode="auto">
          <a:xfrm>
            <a:off x="2362200" y="0"/>
            <a:ext cx="4083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chemeClr val="tx1"/>
                </a:solidFill>
              </a:rPr>
              <a:t>Rejection example</a:t>
            </a:r>
          </a:p>
        </p:txBody>
      </p:sp>
      <p:graphicFrame>
        <p:nvGraphicFramePr>
          <p:cNvPr id="40982" name="Object 104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0982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Line 104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48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1987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1988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1988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Line 1030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990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1991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1992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1993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4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5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6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1997" name="Line 103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1998" name="Object 104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1998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041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1999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0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2001" name="Object 1043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2001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04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42002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3" name="Object 1045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2003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4" name="Object 1046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2004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5" name="Object 104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2005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6" name="Line 1048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2007" name="Text Box 1049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</p:spTree>
    <p:extLst>
      <p:ext uri="{BB962C8B-B14F-4D97-AF65-F5344CB8AC3E}">
        <p14:creationId xmlns:p14="http://schemas.microsoft.com/office/powerpoint/2010/main" val="46154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05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3011" name="Line 205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3012" name="Object 205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3012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Line 2053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4" name="Oval 2054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3015" name="Oval 2055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3016" name="Oval 2056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3017" name="Line 2057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18" name="Line 2058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19" name="Line 2059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20" name="Oval 2060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3021" name="Line 2061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3022" name="Object 2062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3022" name="Object 2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2063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3023" name="Object 2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4" name="Oval 2064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3025" name="Object 2065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3025" name="Object 2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206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43026" name="Object 2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2067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3027" name="Object 2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8" name="Object 2068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3028" name="Object 20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9" name="Object 2069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3029" name="Object 2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0" name="Line 2070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31" name="Text Box 2071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43032" name="Text Box 2072"/>
          <p:cNvSpPr txBox="1">
            <a:spLocks noChangeArrowheads="1"/>
          </p:cNvSpPr>
          <p:nvPr/>
        </p:nvSpPr>
        <p:spPr bwMode="auto">
          <a:xfrm>
            <a:off x="2879725" y="20828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</p:spTree>
    <p:extLst>
      <p:ext uri="{BB962C8B-B14F-4D97-AF65-F5344CB8AC3E}">
        <p14:creationId xmlns:p14="http://schemas.microsoft.com/office/powerpoint/2010/main" val="344906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4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44035" name="Rectangle 2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4036" name="Line 26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4037" name="Object 2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403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Line 28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39" name="Oval 2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4040" name="Oval 3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4041" name="Oval 3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4042" name="Line 3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3" name="Line 3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4" name="Line 3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5" name="Oval 35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4046" name="Line 36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4047" name="Object 37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3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4047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38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404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Oval 39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4050" name="Object 40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405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1" name="Object 41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4405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2" name="Object 42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405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3" name="Object 43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405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4" name="Object 4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405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5" name="Line 4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7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026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45059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5060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5061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506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Line 1030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63" name="Oval 1048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5064" name="Oval 1049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5065" name="Oval 1050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5066" name="Line 1051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67" name="Line 1052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68" name="Line 1053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69" name="Oval 105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5070" name="Line 105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5071" name="Object 105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5071" name="Object 1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05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5072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3" name="Oval 105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5074" name="Object 105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5074" name="Object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Object 106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5075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106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5076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7" name="Object 106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5077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8" name="Line 106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5079" name="Object 106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Equation" r:id="rId14" imgW="457002" imgH="583947" progId="Equation.3">
                  <p:embed/>
                </p:oleObj>
              </mc:Choice>
              <mc:Fallback>
                <p:oleObj name="Equation" r:id="rId14" imgW="457002" imgH="583947" progId="Equation.3">
                  <p:embed/>
                  <p:pic>
                    <p:nvPicPr>
                      <p:cNvPr id="45079" name="Object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53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050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46083" name="Rectangle 2051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6084" name="Line 2052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6085" name="Object 205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6085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Line 2054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087" name="Oval 2055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6088" name="Oval 2056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6089" name="Oval 2057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6090" name="Line 2058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1" name="Line 2059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2" name="Line 2060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3" name="Oval 2061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6094" name="Line 2062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6095" name="Object 2063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6095" name="Object 2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6" name="Object 206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6096" name="Object 2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7" name="Oval 206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6098" name="Object 206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3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6098" name="Object 2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9" name="Object 2067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6099" name="Object 2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0" name="Object 2068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6100" name="Object 20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1" name="Object 2069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6101" name="Object 2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2" name="Line 2070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6103" name="Object 2071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7" name="Equation" r:id="rId14" imgW="457002" imgH="583947" progId="Equation.3">
                  <p:embed/>
                </p:oleObj>
              </mc:Choice>
              <mc:Fallback>
                <p:oleObj name="Equation" r:id="rId14" imgW="457002" imgH="583947" progId="Equation.3">
                  <p:embed/>
                  <p:pic>
                    <p:nvPicPr>
                      <p:cNvPr id="46103" name="Object 2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4" name="Text Box 2072"/>
          <p:cNvSpPr txBox="1">
            <a:spLocks noChangeArrowheads="1"/>
          </p:cNvSpPr>
          <p:nvPr/>
        </p:nvSpPr>
        <p:spPr bwMode="auto">
          <a:xfrm>
            <a:off x="4419600" y="49530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</p:spTree>
    <p:extLst>
      <p:ext uri="{BB962C8B-B14F-4D97-AF65-F5344CB8AC3E}">
        <p14:creationId xmlns:p14="http://schemas.microsoft.com/office/powerpoint/2010/main" val="60270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990600" y="1371600"/>
          <a:ext cx="292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8" name="Equation" r:id="rId3" imgW="291973" imgH="330057" progId="Equation.3">
                  <p:embed/>
                </p:oleObj>
              </mc:Choice>
              <mc:Fallback>
                <p:oleObj name="Equation" r:id="rId3" imgW="291973" imgH="330057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71600"/>
                        <a:ext cx="292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is rejected by the NFA:</a:t>
            </a:r>
          </a:p>
        </p:txBody>
      </p:sp>
      <p:sp>
        <p:nvSpPr>
          <p:cNvPr id="47109" name="Oval 21"/>
          <p:cNvSpPr>
            <a:spLocks noChangeArrowheads="1"/>
          </p:cNvSpPr>
          <p:nvPr/>
        </p:nvSpPr>
        <p:spPr bwMode="auto">
          <a:xfrm>
            <a:off x="1819275" y="3221038"/>
            <a:ext cx="427038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10" name="Oval 22"/>
          <p:cNvSpPr>
            <a:spLocks noChangeArrowheads="1"/>
          </p:cNvSpPr>
          <p:nvPr/>
        </p:nvSpPr>
        <p:spPr bwMode="auto">
          <a:xfrm>
            <a:off x="636588" y="3997325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11" name="Oval 23"/>
          <p:cNvSpPr>
            <a:spLocks noChangeArrowheads="1"/>
          </p:cNvSpPr>
          <p:nvPr/>
        </p:nvSpPr>
        <p:spPr bwMode="auto">
          <a:xfrm>
            <a:off x="1819275" y="4578350"/>
            <a:ext cx="427038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12" name="Line 24"/>
          <p:cNvSpPr>
            <a:spLocks noChangeShapeType="1"/>
          </p:cNvSpPr>
          <p:nvPr/>
        </p:nvSpPr>
        <p:spPr bwMode="auto">
          <a:xfrm flipV="1">
            <a:off x="1014413" y="3511550"/>
            <a:ext cx="804862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13" name="Line 25"/>
          <p:cNvSpPr>
            <a:spLocks noChangeShapeType="1"/>
          </p:cNvSpPr>
          <p:nvPr/>
        </p:nvSpPr>
        <p:spPr bwMode="auto">
          <a:xfrm>
            <a:off x="1016000" y="4333875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14" name="Line 26"/>
          <p:cNvSpPr>
            <a:spLocks noChangeShapeType="1"/>
          </p:cNvSpPr>
          <p:nvPr/>
        </p:nvSpPr>
        <p:spPr bwMode="auto">
          <a:xfrm flipV="1">
            <a:off x="228600" y="4238625"/>
            <a:ext cx="407988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15" name="Oval 27"/>
          <p:cNvSpPr>
            <a:spLocks noChangeArrowheads="1"/>
          </p:cNvSpPr>
          <p:nvPr/>
        </p:nvSpPr>
        <p:spPr bwMode="auto">
          <a:xfrm>
            <a:off x="3003550" y="32210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16" name="Line 28"/>
          <p:cNvSpPr>
            <a:spLocks noChangeShapeType="1"/>
          </p:cNvSpPr>
          <p:nvPr/>
        </p:nvSpPr>
        <p:spPr bwMode="auto">
          <a:xfrm>
            <a:off x="2246313" y="34639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7117" name="Object 29"/>
          <p:cNvGraphicFramePr>
            <a:graphicFrameLocks noChangeAspect="1"/>
          </p:cNvGraphicFramePr>
          <p:nvPr/>
        </p:nvGraphicFramePr>
        <p:xfrm>
          <a:off x="684213" y="3997325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4711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997325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8" name="Object 30"/>
          <p:cNvGraphicFramePr>
            <a:graphicFrameLocks noChangeAspect="1"/>
          </p:cNvGraphicFramePr>
          <p:nvPr/>
        </p:nvGraphicFramePr>
        <p:xfrm>
          <a:off x="1914525" y="3221038"/>
          <a:ext cx="2524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4711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3221038"/>
                        <a:ext cx="2524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Oval 31"/>
          <p:cNvSpPr>
            <a:spLocks noChangeArrowheads="1"/>
          </p:cNvSpPr>
          <p:nvPr/>
        </p:nvSpPr>
        <p:spPr bwMode="auto">
          <a:xfrm>
            <a:off x="2908300" y="31242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7120" name="Object 32"/>
          <p:cNvGraphicFramePr>
            <a:graphicFrameLocks noChangeAspect="1"/>
          </p:cNvGraphicFramePr>
          <p:nvPr/>
        </p:nvGraphicFramePr>
        <p:xfrm>
          <a:off x="3049588" y="3221038"/>
          <a:ext cx="3000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4712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3221038"/>
                        <a:ext cx="30003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33"/>
          <p:cNvGraphicFramePr>
            <a:graphicFrameLocks noChangeAspect="1"/>
          </p:cNvGraphicFramePr>
          <p:nvPr/>
        </p:nvGraphicFramePr>
        <p:xfrm>
          <a:off x="1298575" y="360838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712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60838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34"/>
          <p:cNvGraphicFramePr>
            <a:graphicFrameLocks noChangeAspect="1"/>
          </p:cNvGraphicFramePr>
          <p:nvPr/>
        </p:nvGraphicFramePr>
        <p:xfrm>
          <a:off x="1298575" y="428783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3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712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28783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35"/>
          <p:cNvGraphicFramePr>
            <a:graphicFrameLocks noChangeAspect="1"/>
          </p:cNvGraphicFramePr>
          <p:nvPr/>
        </p:nvGraphicFramePr>
        <p:xfrm>
          <a:off x="2482850" y="3270250"/>
          <a:ext cx="163513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71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3270250"/>
                        <a:ext cx="163513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37"/>
          <p:cNvGraphicFramePr>
            <a:graphicFrameLocks noChangeAspect="1"/>
          </p:cNvGraphicFramePr>
          <p:nvPr/>
        </p:nvGraphicFramePr>
        <p:xfrm>
          <a:off x="1914525" y="4578350"/>
          <a:ext cx="284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5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47124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4578350"/>
                        <a:ext cx="284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5" name="Text Box 38"/>
          <p:cNvSpPr txBox="1">
            <a:spLocks noChangeArrowheads="1"/>
          </p:cNvSpPr>
          <p:nvPr/>
        </p:nvSpPr>
        <p:spPr bwMode="auto">
          <a:xfrm>
            <a:off x="2286000" y="45720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47126" name="Oval 41"/>
          <p:cNvSpPr>
            <a:spLocks noChangeArrowheads="1"/>
          </p:cNvSpPr>
          <p:nvPr/>
        </p:nvSpPr>
        <p:spPr bwMode="auto">
          <a:xfrm>
            <a:off x="6467475" y="3297238"/>
            <a:ext cx="427038" cy="436562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27" name="Oval 42"/>
          <p:cNvSpPr>
            <a:spLocks noChangeArrowheads="1"/>
          </p:cNvSpPr>
          <p:nvPr/>
        </p:nvSpPr>
        <p:spPr bwMode="auto">
          <a:xfrm>
            <a:off x="5284788" y="4073525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28" name="Oval 43"/>
          <p:cNvSpPr>
            <a:spLocks noChangeArrowheads="1"/>
          </p:cNvSpPr>
          <p:nvPr/>
        </p:nvSpPr>
        <p:spPr bwMode="auto">
          <a:xfrm>
            <a:off x="6467475" y="4654550"/>
            <a:ext cx="427038" cy="436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29" name="Line 44"/>
          <p:cNvSpPr>
            <a:spLocks noChangeShapeType="1"/>
          </p:cNvSpPr>
          <p:nvPr/>
        </p:nvSpPr>
        <p:spPr bwMode="auto">
          <a:xfrm flipV="1">
            <a:off x="5662613" y="3587750"/>
            <a:ext cx="804862" cy="5826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30" name="Line 45"/>
          <p:cNvSpPr>
            <a:spLocks noChangeShapeType="1"/>
          </p:cNvSpPr>
          <p:nvPr/>
        </p:nvSpPr>
        <p:spPr bwMode="auto">
          <a:xfrm>
            <a:off x="5664200" y="4410075"/>
            <a:ext cx="80645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31" name="Line 46"/>
          <p:cNvSpPr>
            <a:spLocks noChangeShapeType="1"/>
          </p:cNvSpPr>
          <p:nvPr/>
        </p:nvSpPr>
        <p:spPr bwMode="auto">
          <a:xfrm>
            <a:off x="4876800" y="4267200"/>
            <a:ext cx="407988" cy="47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7132" name="Oval 47"/>
          <p:cNvSpPr>
            <a:spLocks noChangeArrowheads="1"/>
          </p:cNvSpPr>
          <p:nvPr/>
        </p:nvSpPr>
        <p:spPr bwMode="auto">
          <a:xfrm>
            <a:off x="7651750" y="32972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7133" name="Line 48"/>
          <p:cNvSpPr>
            <a:spLocks noChangeShapeType="1"/>
          </p:cNvSpPr>
          <p:nvPr/>
        </p:nvSpPr>
        <p:spPr bwMode="auto">
          <a:xfrm>
            <a:off x="6894513" y="35401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7134" name="Object 49"/>
          <p:cNvGraphicFramePr>
            <a:graphicFrameLocks noChangeAspect="1"/>
          </p:cNvGraphicFramePr>
          <p:nvPr/>
        </p:nvGraphicFramePr>
        <p:xfrm>
          <a:off x="5332413" y="4073525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6" name="Equation" r:id="rId17" imgW="482391" imgH="583947" progId="Equation.3">
                  <p:embed/>
                </p:oleObj>
              </mc:Choice>
              <mc:Fallback>
                <p:oleObj name="Equation" r:id="rId17" imgW="482391" imgH="583947" progId="Equation.3">
                  <p:embed/>
                  <p:pic>
                    <p:nvPicPr>
                      <p:cNvPr id="47134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4073525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5" name="Object 50"/>
          <p:cNvGraphicFramePr>
            <a:graphicFrameLocks noChangeAspect="1"/>
          </p:cNvGraphicFramePr>
          <p:nvPr/>
        </p:nvGraphicFramePr>
        <p:xfrm>
          <a:off x="6562725" y="3297238"/>
          <a:ext cx="2524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4713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3297238"/>
                        <a:ext cx="2524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6" name="Oval 51"/>
          <p:cNvSpPr>
            <a:spLocks noChangeArrowheads="1"/>
          </p:cNvSpPr>
          <p:nvPr/>
        </p:nvSpPr>
        <p:spPr bwMode="auto">
          <a:xfrm>
            <a:off x="7556500" y="32004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7137" name="Object 52"/>
          <p:cNvGraphicFramePr>
            <a:graphicFrameLocks noChangeAspect="1"/>
          </p:cNvGraphicFramePr>
          <p:nvPr/>
        </p:nvGraphicFramePr>
        <p:xfrm>
          <a:off x="7697788" y="3297238"/>
          <a:ext cx="3000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8"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47137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788" y="3297238"/>
                        <a:ext cx="30003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8" name="Object 53"/>
          <p:cNvGraphicFramePr>
            <a:graphicFrameLocks noChangeAspect="1"/>
          </p:cNvGraphicFramePr>
          <p:nvPr/>
        </p:nvGraphicFramePr>
        <p:xfrm>
          <a:off x="5946775" y="368458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9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713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368458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9" name="Object 54"/>
          <p:cNvGraphicFramePr>
            <a:graphicFrameLocks noChangeAspect="1"/>
          </p:cNvGraphicFramePr>
          <p:nvPr/>
        </p:nvGraphicFramePr>
        <p:xfrm>
          <a:off x="5946775" y="436403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0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47139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436403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0" name="Object 55"/>
          <p:cNvGraphicFramePr>
            <a:graphicFrameLocks noChangeAspect="1"/>
          </p:cNvGraphicFramePr>
          <p:nvPr/>
        </p:nvGraphicFramePr>
        <p:xfrm>
          <a:off x="7131050" y="3346450"/>
          <a:ext cx="163513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1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4714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1050" y="3346450"/>
                        <a:ext cx="163513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57"/>
          <p:cNvGraphicFramePr>
            <a:graphicFrameLocks noChangeAspect="1"/>
          </p:cNvGraphicFramePr>
          <p:nvPr/>
        </p:nvGraphicFramePr>
        <p:xfrm>
          <a:off x="6562725" y="4654550"/>
          <a:ext cx="284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2" name="Equation" r:id="rId23" imgW="457002" imgH="583947" progId="Equation.3">
                  <p:embed/>
                </p:oleObj>
              </mc:Choice>
              <mc:Fallback>
                <p:oleObj name="Equation" r:id="rId23" imgW="457002" imgH="583947" progId="Equation.3">
                  <p:embed/>
                  <p:pic>
                    <p:nvPicPr>
                      <p:cNvPr id="47141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4654550"/>
                        <a:ext cx="284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2" name="Text Box 58"/>
          <p:cNvSpPr txBox="1">
            <a:spLocks noChangeArrowheads="1"/>
          </p:cNvSpPr>
          <p:nvPr/>
        </p:nvSpPr>
        <p:spPr bwMode="auto">
          <a:xfrm>
            <a:off x="5715000" y="25146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47143" name="Text Box 59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All possible computations lead to rejection</a:t>
            </a:r>
          </a:p>
        </p:txBody>
      </p:sp>
    </p:spTree>
    <p:extLst>
      <p:ext uri="{BB962C8B-B14F-4D97-AF65-F5344CB8AC3E}">
        <p14:creationId xmlns:p14="http://schemas.microsoft.com/office/powerpoint/2010/main" val="35535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1026"/>
          <p:cNvSpPr txBox="1">
            <a:spLocks noChangeArrowheads="1"/>
          </p:cNvSpPr>
          <p:nvPr/>
        </p:nvSpPr>
        <p:spPr bwMode="auto">
          <a:xfrm>
            <a:off x="2362200" y="0"/>
            <a:ext cx="4083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48131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8132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3" name="Line 102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8134" name="Object 103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8134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Line 1031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6" name="Oval 1032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8137" name="Oval 1033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8138" name="Oval 1034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8139" name="Line 1035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0" name="Line 1036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1" name="Line 1037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8142" name="Object 1038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48142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3" name="Oval 1039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8144" name="Line 1040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8145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4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48145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6" name="Object 1042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5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48146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7" name="Oval 1043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8148" name="Object 1044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48148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9" name="Object 104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7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48149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0" name="Object 1046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8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815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1" name="Object 1047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8151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2" name="Object 104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8152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3" name="Line 104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4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8155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8155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743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915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15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49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Line 6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491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6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491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9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491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0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0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4917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1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491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2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91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91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4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917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6" name="Line 24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49178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49179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5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91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106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18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01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0189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01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2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019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3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019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0195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4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019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6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5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501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6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019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7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019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5020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Line 25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202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0203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020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5027613" y="4114800"/>
            <a:ext cx="4116387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transition:</a:t>
            </a:r>
          </a:p>
          <a:p>
            <a:pPr>
              <a:buFontTx/>
              <a:buNone/>
            </a:pPr>
            <a:r>
              <a:rPr lang="en-US" altLang="en-US"/>
              <a:t>the automaton hangs</a:t>
            </a:r>
          </a:p>
        </p:txBody>
      </p:sp>
    </p:spTree>
    <p:extLst>
      <p:ext uri="{BB962C8B-B14F-4D97-AF65-F5344CB8AC3E}">
        <p14:creationId xmlns:p14="http://schemas.microsoft.com/office/powerpoint/2010/main" val="399298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0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12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12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1216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6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12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7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12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8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8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12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0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9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512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0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12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1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12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2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5122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6477000" y="28194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51225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51226" name="Line 26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1228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3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122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9" name="Text Box 29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Input cannot be consumed</a:t>
            </a:r>
          </a:p>
        </p:txBody>
      </p:sp>
    </p:spTree>
    <p:extLst>
      <p:ext uri="{BB962C8B-B14F-4D97-AF65-F5344CB8AC3E}">
        <p14:creationId xmlns:p14="http://schemas.microsoft.com/office/powerpoint/2010/main" val="132463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22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2240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0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22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1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22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2243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2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224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4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5224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5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4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224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6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5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224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52248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6"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5224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9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2251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7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225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784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325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325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3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32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4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32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5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32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6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6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326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7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326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8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532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0" name="Text Box 22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53271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9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327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2" name="Line 24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3273" name="Object 2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0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5327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4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3275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327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71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42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428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8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42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9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42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4291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0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42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42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2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5429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429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5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5429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7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54298" name="Text Box 26"/>
          <p:cNvSpPr txBox="1">
            <a:spLocks noChangeArrowheads="1"/>
          </p:cNvSpPr>
          <p:nvPr/>
        </p:nvSpPr>
        <p:spPr bwMode="auto">
          <a:xfrm>
            <a:off x="4632325" y="4673600"/>
            <a:ext cx="4116388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transition:</a:t>
            </a:r>
          </a:p>
          <a:p>
            <a:pPr>
              <a:buFontTx/>
              <a:buNone/>
            </a:pPr>
            <a:r>
              <a:rPr lang="en-US" altLang="en-US"/>
              <a:t>the automaton hangs</a:t>
            </a: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4300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430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211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529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5309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1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53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5312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2"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53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3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3"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53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4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5315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4"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531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6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5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531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7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6"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553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8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7"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553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9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5320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553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1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55322" name="Text Box 26"/>
          <p:cNvSpPr txBox="1">
            <a:spLocks noChangeArrowheads="1"/>
          </p:cNvSpPr>
          <p:nvPr/>
        </p:nvSpPr>
        <p:spPr bwMode="auto">
          <a:xfrm>
            <a:off x="4648200" y="50292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55323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5324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53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5" name="Text Box 29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Input cannot be consumed</a:t>
            </a:r>
          </a:p>
        </p:txBody>
      </p:sp>
    </p:spTree>
    <p:extLst>
      <p:ext uri="{BB962C8B-B14F-4D97-AF65-F5344CB8AC3E}">
        <p14:creationId xmlns:p14="http://schemas.microsoft.com/office/powerpoint/2010/main" val="361967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3"/>
          <p:cNvGraphicFramePr>
            <a:graphicFrameLocks noChangeAspect="1"/>
          </p:cNvGraphicFramePr>
          <p:nvPr/>
        </p:nvGraphicFramePr>
        <p:xfrm>
          <a:off x="552450" y="1358900"/>
          <a:ext cx="812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4" name="Equation" r:id="rId3" imgW="812447" imgH="330057" progId="Equation.3">
                  <p:embed/>
                </p:oleObj>
              </mc:Choice>
              <mc:Fallback>
                <p:oleObj name="Equation" r:id="rId3" imgW="812447" imgH="330057" progId="Equation.3">
                  <p:embed/>
                  <p:pic>
                    <p:nvPicPr>
                      <p:cNvPr id="563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1358900"/>
                        <a:ext cx="812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is rejected by the NFA:</a:t>
            </a:r>
          </a:p>
        </p:txBody>
      </p:sp>
      <p:grpSp>
        <p:nvGrpSpPr>
          <p:cNvPr id="56324" name="Group 5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56344" name="Oval 6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56345" name="Oval 7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56346" name="Oval 8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56347" name="Line 9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348" name="Line 10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349" name="Line 11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350" name="Oval 12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sp>
          <p:nvSpPr>
            <p:cNvPr id="56351" name="Line 13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aphicFrame>
          <p:nvGraphicFramePr>
            <p:cNvPr id="56352" name="Object 14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5" name="Equation" r:id="rId5" imgW="482391" imgH="583947" progId="Equation.3">
                    <p:embed/>
                  </p:oleObj>
                </mc:Choice>
                <mc:Fallback>
                  <p:oleObj name="Equation" r:id="rId5" imgW="482391" imgH="583947" progId="Equation.3">
                    <p:embed/>
                    <p:pic>
                      <p:nvPicPr>
                        <p:cNvPr id="5635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544"/>
                          <a:ext cx="30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3" name="Object 15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6" name="Equation" r:id="rId7" imgW="406224" imgH="571252" progId="Equation.3">
                    <p:embed/>
                  </p:oleObj>
                </mc:Choice>
                <mc:Fallback>
                  <p:oleObj name="Equation" r:id="rId7" imgW="406224" imgH="571252" progId="Equation.3">
                    <p:embed/>
                    <p:pic>
                      <p:nvPicPr>
                        <p:cNvPr id="5635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76"/>
                          <a:ext cx="25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54" name="Oval 16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en-US" altLang="en-US"/>
            </a:p>
          </p:txBody>
        </p:sp>
        <p:graphicFrame>
          <p:nvGraphicFramePr>
            <p:cNvPr id="56355" name="Object 17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7" name="Equation" r:id="rId9" imgW="482391" imgH="571252" progId="Equation.3">
                    <p:embed/>
                  </p:oleObj>
                </mc:Choice>
                <mc:Fallback>
                  <p:oleObj name="Equation" r:id="rId9" imgW="482391" imgH="571252" progId="Equation.3">
                    <p:embed/>
                    <p:pic>
                      <p:nvPicPr>
                        <p:cNvPr id="5635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776"/>
                          <a:ext cx="30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6" name="Object 18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8" name="Equation" r:id="rId11" imgW="457002" imgH="583947" progId="Equation.3">
                    <p:embed/>
                  </p:oleObj>
                </mc:Choice>
                <mc:Fallback>
                  <p:oleObj name="Equation" r:id="rId11" imgW="457002" imgH="583947" progId="Equation.3">
                    <p:embed/>
                    <p:pic>
                      <p:nvPicPr>
                        <p:cNvPr id="5635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120"/>
                          <a:ext cx="28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7" name="Object 19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9" name="Equation" r:id="rId13" imgW="266584" imgH="279279" progId="Equation.3">
                    <p:embed/>
                  </p:oleObj>
                </mc:Choice>
                <mc:Fallback>
                  <p:oleObj name="Equation" r:id="rId13" imgW="266584" imgH="279279" progId="Equation.3">
                    <p:embed/>
                    <p:pic>
                      <p:nvPicPr>
                        <p:cNvPr id="5635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60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8" name="Object 20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0" name="Equation" r:id="rId15" imgW="266584" imgH="279279" progId="Equation.3">
                    <p:embed/>
                  </p:oleObj>
                </mc:Choice>
                <mc:Fallback>
                  <p:oleObj name="Equation" r:id="rId15" imgW="266584" imgH="279279" progId="Equation.3">
                    <p:embed/>
                    <p:pic>
                      <p:nvPicPr>
                        <p:cNvPr id="5635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59" name="Object 21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1" name="Equation" r:id="rId16" imgW="266584" imgH="279279" progId="Equation.3">
                    <p:embed/>
                  </p:oleObj>
                </mc:Choice>
                <mc:Fallback>
                  <p:oleObj name="Equation" r:id="rId16" imgW="266584" imgH="279279" progId="Equation.3">
                    <p:embed/>
                    <p:pic>
                      <p:nvPicPr>
                        <p:cNvPr id="5635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82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5" name="Text Box 22"/>
          <p:cNvSpPr txBox="1">
            <a:spLocks noChangeArrowheads="1"/>
          </p:cNvSpPr>
          <p:nvPr/>
        </p:nvSpPr>
        <p:spPr bwMode="auto">
          <a:xfrm>
            <a:off x="2590800" y="25908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56326" name="Oval 23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6327" name="Oval 24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6328" name="Oval 25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6329" name="Line 26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0" name="Line 27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1" name="Line 28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32" name="Oval 29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6333" name="Line 30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6334" name="Object 31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name="Equation" r:id="rId17" imgW="482391" imgH="583947" progId="Equation.3">
                  <p:embed/>
                </p:oleObj>
              </mc:Choice>
              <mc:Fallback>
                <p:oleObj name="Equation" r:id="rId17" imgW="482391" imgH="583947" progId="Equation.3">
                  <p:embed/>
                  <p:pic>
                    <p:nvPicPr>
                      <p:cNvPr id="5633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4006850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5" name="Object 32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3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5633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3230563"/>
                        <a:ext cx="25241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Oval 33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6337" name="Object 34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4"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633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0" y="3230563"/>
                        <a:ext cx="3000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8" name="Object 35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5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6338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361791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36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6"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633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29736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37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7"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5634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513" y="3279775"/>
                        <a:ext cx="163512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38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name="Equation" r:id="rId23" imgW="457002" imgH="583947" progId="Equation.3">
                  <p:embed/>
                </p:oleObj>
              </mc:Choice>
              <mc:Fallback>
                <p:oleObj name="Equation" r:id="rId23" imgW="457002" imgH="583947" progId="Equation.3">
                  <p:embed/>
                  <p:pic>
                    <p:nvPicPr>
                      <p:cNvPr id="5634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4587875"/>
                        <a:ext cx="2841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2" name="Text Box 39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56343" name="Text Box 43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All possible computations lead to rejection</a:t>
            </a:r>
          </a:p>
        </p:txBody>
      </p:sp>
    </p:spTree>
    <p:extLst>
      <p:ext uri="{BB962C8B-B14F-4D97-AF65-F5344CB8AC3E}">
        <p14:creationId xmlns:p14="http://schemas.microsoft.com/office/powerpoint/2010/main" val="402629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Oval 1026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7347" name="Oval 1027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7348" name="Oval 1028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7349" name="Line 1029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50" name="Line 1030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51" name="Line 1031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52" name="Oval 1032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7353" name="Line 1033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7354" name="Object 103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4" name="Equation" r:id="rId3" imgW="406224" imgH="571252" progId="Equation.3">
                  <p:embed/>
                </p:oleObj>
              </mc:Choice>
              <mc:Fallback>
                <p:oleObj name="Equation" r:id="rId3" imgW="406224" imgH="571252" progId="Equation.3">
                  <p:embed/>
                  <p:pic>
                    <p:nvPicPr>
                      <p:cNvPr id="57354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Oval 103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7356" name="Object 103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5" name="Equation" r:id="rId5" imgW="482391" imgH="571252" progId="Equation.3">
                  <p:embed/>
                </p:oleObj>
              </mc:Choice>
              <mc:Fallback>
                <p:oleObj name="Equation" r:id="rId5" imgW="482391" imgH="571252" progId="Equation.3">
                  <p:embed/>
                  <p:pic>
                    <p:nvPicPr>
                      <p:cNvPr id="57356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03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6"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57357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038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57358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9" name="Object 1039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57359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040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736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Equation" r:id="rId13" imgW="482391" imgH="583947" progId="Equation.3">
                  <p:embed/>
                </p:oleObj>
              </mc:Choice>
              <mc:Fallback>
                <p:oleObj name="Equation" r:id="rId13" imgW="482391" imgH="583947" progId="Equation.3">
                  <p:embed/>
                  <p:pic>
                    <p:nvPicPr>
                      <p:cNvPr id="57361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2" name="Text Box 1042"/>
          <p:cNvSpPr txBox="1">
            <a:spLocks noChangeArrowheads="1"/>
          </p:cNvSpPr>
          <p:nvPr/>
        </p:nvSpPr>
        <p:spPr bwMode="auto">
          <a:xfrm>
            <a:off x="1143000" y="1219200"/>
            <a:ext cx="3865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Language accepted:</a:t>
            </a:r>
          </a:p>
        </p:txBody>
      </p:sp>
      <p:graphicFrame>
        <p:nvGraphicFramePr>
          <p:cNvPr id="57363" name="Object 1043"/>
          <p:cNvGraphicFramePr>
            <a:graphicFrameLocks noChangeAspect="1"/>
          </p:cNvGraphicFramePr>
          <p:nvPr/>
        </p:nvGraphicFramePr>
        <p:xfrm>
          <a:off x="5197475" y="1193800"/>
          <a:ext cx="172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Equation" r:id="rId15" imgW="1726451" imgH="533169" progId="Equation.3">
                  <p:embed/>
                </p:oleObj>
              </mc:Choice>
              <mc:Fallback>
                <p:oleObj name="Equation" r:id="rId15" imgW="1726451" imgH="533169" progId="Equation.3">
                  <p:embed/>
                  <p:pic>
                    <p:nvPicPr>
                      <p:cNvPr id="57363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475" y="1193800"/>
                        <a:ext cx="172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7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Lambda Transitions</a:t>
            </a:r>
          </a:p>
        </p:txBody>
      </p:sp>
      <p:sp>
        <p:nvSpPr>
          <p:cNvPr id="58371" name="Oval 20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8372" name="Oval 21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8373" name="Line 25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74" name="Oval 26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8375" name="Line 27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8376" name="Object 28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6" name="Equation" r:id="rId3" imgW="406224" imgH="571252" progId="Equation.3">
                  <p:embed/>
                </p:oleObj>
              </mc:Choice>
              <mc:Fallback>
                <p:oleObj name="Equation" r:id="rId3" imgW="406224" imgH="571252" progId="Equation.3">
                  <p:embed/>
                  <p:pic>
                    <p:nvPicPr>
                      <p:cNvPr id="583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Oval 29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8378" name="Object 30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7" name="Equation" r:id="rId5" imgW="457002" imgH="583947" progId="Equation.3">
                  <p:embed/>
                </p:oleObj>
              </mc:Choice>
              <mc:Fallback>
                <p:oleObj name="Equation" r:id="rId5" imgW="457002" imgH="583947" progId="Equation.3">
                  <p:embed/>
                  <p:pic>
                    <p:nvPicPr>
                      <p:cNvPr id="5837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3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8"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58379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35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9"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5838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3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0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5838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2" name="Line 4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383" name="Oval 47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8384" name="Object 48"/>
          <p:cNvGraphicFramePr>
            <a:graphicFrameLocks noChangeAspect="1"/>
          </p:cNvGraphicFramePr>
          <p:nvPr/>
        </p:nvGraphicFramePr>
        <p:xfrm>
          <a:off x="5137150" y="4191000"/>
          <a:ext cx="495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1" name="Equation" r:id="rId13" imgW="495085" imgH="571252" progId="Equation.3">
                  <p:embed/>
                </p:oleObj>
              </mc:Choice>
              <mc:Fallback>
                <p:oleObj name="Equation" r:id="rId13" imgW="495085" imgH="571252" progId="Equation.3">
                  <p:embed/>
                  <p:pic>
                    <p:nvPicPr>
                      <p:cNvPr id="5838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4191000"/>
                        <a:ext cx="495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5" name="Line 49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8386" name="Object 50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2"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8386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78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9395" name="Line 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9396" name="Line 5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9397" name="Object 6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5939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Line 7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59399" name="Object 8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5939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Oval 9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9401" name="Oval 10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9402" name="Line 11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3" name="Oval 12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59404" name="Line 13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9405" name="Object 14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594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6" name="Oval 15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9407" name="Object 16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5940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17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5940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8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5940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1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0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5941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1" name="Line 2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2" name="Oval 21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9413" name="Object 22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1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5941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4" name="Line 23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59415" name="Object 24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941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6" name="Line 26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92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041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8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9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04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Oval 2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0425" name="Oval 2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0426" name="Line 2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27" name="Oval 2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0428" name="Line 2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0429" name="Object 29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042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0" name="Oval 3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0431" name="Object 31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043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3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2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043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3" name="Object 33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3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043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34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4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043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5" name="Line 3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36" name="Oval 3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0437" name="Object 37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5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0437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8" name="Line 3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0439" name="Object 39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6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043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0" name="Line 4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4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144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3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1449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1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14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1455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14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6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14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7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14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8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8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14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9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0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1461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9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14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2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1463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0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14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4" name="Line 24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465" name="Text Box 25"/>
          <p:cNvSpPr txBox="1">
            <a:spLocks noChangeArrowheads="1"/>
          </p:cNvSpPr>
          <p:nvPr/>
        </p:nvSpPr>
        <p:spPr bwMode="auto">
          <a:xfrm>
            <a:off x="228600" y="0"/>
            <a:ext cx="518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(read head does not move)</a:t>
            </a:r>
          </a:p>
        </p:txBody>
      </p:sp>
    </p:spTree>
    <p:extLst>
      <p:ext uri="{BB962C8B-B14F-4D97-AF65-F5344CB8AC3E}">
        <p14:creationId xmlns:p14="http://schemas.microsoft.com/office/powerpoint/2010/main" val="120151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246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246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24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2473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75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8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2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2479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9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2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0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0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24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1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1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24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2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2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24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3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84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248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3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24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2487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4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24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8" name="Line 24"/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5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349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349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2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3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Line 6"/>
          <p:cNvSpPr>
            <a:spLocks noChangeShapeType="1"/>
          </p:cNvSpPr>
          <p:nvPr/>
        </p:nvSpPr>
        <p:spPr bwMode="auto">
          <a:xfrm>
            <a:off x="1905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3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3497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3499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3501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4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35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2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3503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5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35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350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7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35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6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8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35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7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3508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3509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9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35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0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3511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0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351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2" name="Line 24"/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3513" name="Text Box 25"/>
          <p:cNvSpPr txBox="1">
            <a:spLocks noChangeArrowheads="1"/>
          </p:cNvSpPr>
          <p:nvPr/>
        </p:nvSpPr>
        <p:spPr bwMode="auto">
          <a:xfrm>
            <a:off x="6400800" y="32766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“accept”</a:t>
            </a:r>
          </a:p>
        </p:txBody>
      </p:sp>
      <p:sp>
        <p:nvSpPr>
          <p:cNvPr id="63514" name="Text Box 26"/>
          <p:cNvSpPr txBox="1">
            <a:spLocks noChangeArrowheads="1"/>
          </p:cNvSpPr>
          <p:nvPr/>
        </p:nvSpPr>
        <p:spPr bwMode="auto">
          <a:xfrm>
            <a:off x="441325" y="5892800"/>
            <a:ext cx="452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String        is accepted</a:t>
            </a:r>
          </a:p>
        </p:txBody>
      </p:sp>
      <p:graphicFrame>
        <p:nvGraphicFramePr>
          <p:cNvPr id="63515" name="Object 27"/>
          <p:cNvGraphicFramePr>
            <a:graphicFrameLocks noChangeAspect="1"/>
          </p:cNvGraphicFramePr>
          <p:nvPr/>
        </p:nvGraphicFramePr>
        <p:xfrm>
          <a:off x="1981200" y="60960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1" name="Equation" r:id="rId18" imgW="545626" imgH="304536" progId="Equation.3">
                  <p:embed/>
                </p:oleObj>
              </mc:Choice>
              <mc:Fallback>
                <p:oleObj name="Equation" r:id="rId18" imgW="545626" imgH="304536" progId="Equation.3">
                  <p:embed/>
                  <p:pic>
                    <p:nvPicPr>
                      <p:cNvPr id="635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0960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6" name="Text Box 28"/>
          <p:cNvSpPr txBox="1">
            <a:spLocks noChangeArrowheads="1"/>
          </p:cNvSpPr>
          <p:nvPr/>
        </p:nvSpPr>
        <p:spPr bwMode="auto">
          <a:xfrm>
            <a:off x="533400" y="0"/>
            <a:ext cx="406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all input is consumed</a:t>
            </a:r>
          </a:p>
        </p:txBody>
      </p:sp>
    </p:spTree>
    <p:extLst>
      <p:ext uri="{BB962C8B-B14F-4D97-AF65-F5344CB8AC3E}">
        <p14:creationId xmlns:p14="http://schemas.microsoft.com/office/powerpoint/2010/main" val="213200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451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45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4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4521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4522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23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45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9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45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8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0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45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9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1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45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0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2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453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1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32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4533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45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4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4535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453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6" name="Line 24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4537" name="Text Box 25"/>
          <p:cNvSpPr txBox="1">
            <a:spLocks noChangeArrowheads="1"/>
          </p:cNvSpPr>
          <p:nvPr/>
        </p:nvSpPr>
        <p:spPr bwMode="auto">
          <a:xfrm>
            <a:off x="2514600" y="0"/>
            <a:ext cx="3681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64538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4539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45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144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553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4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5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55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4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5545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5546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47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5548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5549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2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55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3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55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2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4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55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3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5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555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6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555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5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556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5557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7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55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8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5559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55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0" name="Line 24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561" name="Line 2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5562" name="Object 26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55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477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656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6567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65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6569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6571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6573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6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65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4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6575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7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65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6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65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7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657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8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657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9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6580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6581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1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658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6583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658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4" name="Line 24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6585" name="Text Box 25"/>
          <p:cNvSpPr txBox="1">
            <a:spLocks noChangeArrowheads="1"/>
          </p:cNvSpPr>
          <p:nvPr/>
        </p:nvSpPr>
        <p:spPr bwMode="auto">
          <a:xfrm>
            <a:off x="381000" y="0"/>
            <a:ext cx="4918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(read head doesn’t move)</a:t>
            </a:r>
          </a:p>
        </p:txBody>
      </p:sp>
      <p:sp>
        <p:nvSpPr>
          <p:cNvPr id="66586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6587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658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476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758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8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7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Line 6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9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7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2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7593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7594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7595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7596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75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7599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1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75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76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3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76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2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4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76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3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7604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760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5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76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7607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6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76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8" name="Line 2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7609" name="Object 26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7"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760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0" name="Text Box 27"/>
          <p:cNvSpPr txBox="1">
            <a:spLocks noChangeArrowheads="1"/>
          </p:cNvSpPr>
          <p:nvPr/>
        </p:nvSpPr>
        <p:spPr bwMode="auto">
          <a:xfrm>
            <a:off x="4572000" y="5257800"/>
            <a:ext cx="4116388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No transition:</a:t>
            </a:r>
          </a:p>
          <a:p>
            <a:pPr>
              <a:buFontTx/>
              <a:buNone/>
            </a:pPr>
            <a:r>
              <a:rPr lang="en-US" altLang="en-US"/>
              <a:t>the automaton hangs</a:t>
            </a:r>
          </a:p>
        </p:txBody>
      </p:sp>
    </p:spTree>
    <p:extLst>
      <p:ext uri="{BB962C8B-B14F-4D97-AF65-F5344CB8AC3E}">
        <p14:creationId xmlns:p14="http://schemas.microsoft.com/office/powerpoint/2010/main" val="355114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8611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8612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8613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Equation" r:id="rId3" imgW="266584" imgH="279279" progId="Equation.3">
                  <p:embed/>
                </p:oleObj>
              </mc:Choice>
              <mc:Fallback>
                <p:oleObj name="Equation" r:id="rId3" imgW="266584" imgH="279279" progId="Equation.3">
                  <p:embed/>
                  <p:pic>
                    <p:nvPicPr>
                      <p:cNvPr id="68613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Line 1030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8615" name="Object 1031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8615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6" name="Oval 1032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8617" name="Oval 1033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8618" name="Line 1034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619" name="Oval 103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8620" name="Line 1036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8621" name="Object 1037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"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8621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2" name="Oval 1038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8623" name="Object 1039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7" name="Equation" r:id="rId8" imgW="457002" imgH="583947" progId="Equation.3">
                  <p:embed/>
                </p:oleObj>
              </mc:Choice>
              <mc:Fallback>
                <p:oleObj name="Equation" r:id="rId8" imgW="457002" imgH="583947" progId="Equation.3">
                  <p:embed/>
                  <p:pic>
                    <p:nvPicPr>
                      <p:cNvPr id="68623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4" name="Object 1040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8624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5" name="Object 1041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9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8625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6" name="Object 1042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0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8626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7" name="Line 1043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628" name="Oval 1044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8629" name="Object 1045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1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8629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0" name="Line 1046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8631" name="Object 1047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2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8631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2" name="Text Box 1049"/>
          <p:cNvSpPr txBox="1">
            <a:spLocks noChangeArrowheads="1"/>
          </p:cNvSpPr>
          <p:nvPr/>
        </p:nvSpPr>
        <p:spPr bwMode="auto">
          <a:xfrm>
            <a:off x="6400800" y="32766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“reject”</a:t>
            </a:r>
          </a:p>
        </p:txBody>
      </p:sp>
      <p:sp>
        <p:nvSpPr>
          <p:cNvPr id="68633" name="Text Box 1050"/>
          <p:cNvSpPr txBox="1">
            <a:spLocks noChangeArrowheads="1"/>
          </p:cNvSpPr>
          <p:nvPr/>
        </p:nvSpPr>
        <p:spPr bwMode="auto">
          <a:xfrm>
            <a:off x="441325" y="5892800"/>
            <a:ext cx="4841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String           is rejected</a:t>
            </a:r>
          </a:p>
        </p:txBody>
      </p:sp>
      <p:graphicFrame>
        <p:nvGraphicFramePr>
          <p:cNvPr id="68634" name="Object 1051"/>
          <p:cNvGraphicFramePr>
            <a:graphicFrameLocks noChangeAspect="1"/>
          </p:cNvGraphicFramePr>
          <p:nvPr/>
        </p:nvGraphicFramePr>
        <p:xfrm>
          <a:off x="1981200" y="6019800"/>
          <a:ext cx="812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3" name="Equation" r:id="rId18" imgW="812447" imgH="330057" progId="Equation.3">
                  <p:embed/>
                </p:oleObj>
              </mc:Choice>
              <mc:Fallback>
                <p:oleObj name="Equation" r:id="rId18" imgW="812447" imgH="330057" progId="Equation.3">
                  <p:embed/>
                  <p:pic>
                    <p:nvPicPr>
                      <p:cNvPr id="68634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019800"/>
                        <a:ext cx="812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5" name="Line 105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68636" name="Object 1054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4"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68636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7" name="Text Box 1055"/>
          <p:cNvSpPr txBox="1">
            <a:spLocks noChangeArrowheads="1"/>
          </p:cNvSpPr>
          <p:nvPr/>
        </p:nvSpPr>
        <p:spPr bwMode="auto">
          <a:xfrm>
            <a:off x="381000" y="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Input cannot be consumed</a:t>
            </a:r>
          </a:p>
        </p:txBody>
      </p:sp>
    </p:spTree>
    <p:extLst>
      <p:ext uri="{BB962C8B-B14F-4D97-AF65-F5344CB8AC3E}">
        <p14:creationId xmlns:p14="http://schemas.microsoft.com/office/powerpoint/2010/main" val="163599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1127125" y="2082800"/>
            <a:ext cx="3865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Language accepted:</a:t>
            </a: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5181600" y="2057400"/>
          <a:ext cx="172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2" name="Equation" r:id="rId3" imgW="1726451" imgH="533169" progId="Equation.3">
                  <p:embed/>
                </p:oleObj>
              </mc:Choice>
              <mc:Fallback>
                <p:oleObj name="Equation" r:id="rId3" imgW="1726451" imgH="533169" progId="Equation.3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057400"/>
                        <a:ext cx="172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Oval 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9639" name="Oval 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9641" name="Object 9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3"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4"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5"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69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6"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6" name="Object 14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7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96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7" name="Line 1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9648" name="Oval 1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69649" name="Object 17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8" name="Equation" r:id="rId15" imgW="482391" imgH="571252" progId="Equation.3">
                  <p:embed/>
                </p:oleObj>
              </mc:Choice>
              <mc:Fallback>
                <p:oleObj name="Equation" r:id="rId15" imgW="482391" imgH="571252" progId="Equation.3">
                  <p:embed/>
                  <p:pic>
                    <p:nvPicPr>
                      <p:cNvPr id="696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0" name="Line 1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9651" name="Object 19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9"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96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851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Another NFA Example</a:t>
            </a:r>
          </a:p>
        </p:txBody>
      </p:sp>
      <p:sp>
        <p:nvSpPr>
          <p:cNvPr id="70659" name="Oval 3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6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0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7"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706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8" name="Equation" r:id="rId7" imgW="482391" imgH="571252" progId="Equation.3">
                  <p:embed/>
                </p:oleObj>
              </mc:Choice>
              <mc:Fallback>
                <p:oleObj name="Equation" r:id="rId7" imgW="482391" imgH="571252" progId="Equation.3">
                  <p:embed/>
                  <p:pic>
                    <p:nvPicPr>
                      <p:cNvPr id="70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Oval 7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0666" name="Line 10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0668" name="Oval 12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0670" name="Object 14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9" name="Equation" r:id="rId9" imgW="291973" imgH="304668" progId="Equation.3">
                  <p:embed/>
                </p:oleObj>
              </mc:Choice>
              <mc:Fallback>
                <p:oleObj name="Equation" r:id="rId9" imgW="291973" imgH="304668" progId="Equation.3">
                  <p:embed/>
                  <p:pic>
                    <p:nvPicPr>
                      <p:cNvPr id="706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15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0" name="Equation" r:id="rId11" imgW="266469" imgH="431425" progId="Equation.3">
                  <p:embed/>
                </p:oleObj>
              </mc:Choice>
              <mc:Fallback>
                <p:oleObj name="Equation" r:id="rId11" imgW="266469" imgH="431425" progId="Equation.3">
                  <p:embed/>
                  <p:pic>
                    <p:nvPicPr>
                      <p:cNvPr id="706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6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1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706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7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706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4" name="Oval 18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0675" name="Object 19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Equation" r:id="rId16" imgW="457002" imgH="583947" progId="Equation.3">
                  <p:embed/>
                </p:oleObj>
              </mc:Choice>
              <mc:Fallback>
                <p:oleObj name="Equation" r:id="rId16" imgW="457002" imgH="583947" progId="Equation.3">
                  <p:embed/>
                  <p:pic>
                    <p:nvPicPr>
                      <p:cNvPr id="7067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6" name="Freeform 21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168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68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4" name="Equation" r:id="rId3" imgW="291973" imgH="304668" progId="Equation.3">
                  <p:embed/>
                </p:oleObj>
              </mc:Choice>
              <mc:Fallback>
                <p:oleObj name="Equation" r:id="rId3" imgW="291973" imgH="304668" progId="Equation.3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5" name="Equation" r:id="rId5" imgW="266469" imgH="431425" progId="Equation.3">
                  <p:embed/>
                </p:oleObj>
              </mc:Choice>
              <mc:Fallback>
                <p:oleObj name="Equation" r:id="rId5" imgW="266469" imgH="431425" progId="Equation.3">
                  <p:embed/>
                  <p:pic>
                    <p:nvPicPr>
                      <p:cNvPr id="71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Oval 8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1689" name="Object 9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6" name="Equation" r:id="rId7" imgW="482391" imgH="583947" progId="Equation.3">
                  <p:embed/>
                </p:oleObj>
              </mc:Choice>
              <mc:Fallback>
                <p:oleObj name="Equation" r:id="rId7" imgW="482391" imgH="583947" progId="Equation.3">
                  <p:embed/>
                  <p:pic>
                    <p:nvPicPr>
                      <p:cNvPr id="716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10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7" name="Equation" r:id="rId9" imgW="406224" imgH="571252" progId="Equation.3">
                  <p:embed/>
                </p:oleObj>
              </mc:Choice>
              <mc:Fallback>
                <p:oleObj name="Equation" r:id="rId9" imgW="406224" imgH="571252" progId="Equation.3">
                  <p:embed/>
                  <p:pic>
                    <p:nvPicPr>
                      <p:cNvPr id="716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11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8" name="Equation" r:id="rId11" imgW="482391" imgH="571252" progId="Equation.3">
                  <p:embed/>
                </p:oleObj>
              </mc:Choice>
              <mc:Fallback>
                <p:oleObj name="Equation" r:id="rId11" imgW="482391" imgH="571252" progId="Equation.3">
                  <p:embed/>
                  <p:pic>
                    <p:nvPicPr>
                      <p:cNvPr id="716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2" name="Oval 12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1693" name="Oval 1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1694" name="Line 1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695" name="Line 1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696" name="Line 1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697" name="Oval 1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1698" name="Line 1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1699" name="Object 1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9" name="Equation" r:id="rId13" imgW="291973" imgH="304668" progId="Equation.3">
                  <p:embed/>
                </p:oleObj>
              </mc:Choice>
              <mc:Fallback>
                <p:oleObj name="Equation" r:id="rId13" imgW="291973" imgH="304668" progId="Equation.3">
                  <p:embed/>
                  <p:pic>
                    <p:nvPicPr>
                      <p:cNvPr id="716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0" name="Object 2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0" name="Equation" r:id="rId15" imgW="266469" imgH="431425" progId="Equation.3">
                  <p:embed/>
                </p:oleObj>
              </mc:Choice>
              <mc:Fallback>
                <p:oleObj name="Equation" r:id="rId15" imgW="266469" imgH="431425" progId="Equation.3">
                  <p:embed/>
                  <p:pic>
                    <p:nvPicPr>
                      <p:cNvPr id="717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1" name="Object 2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1" name="Equation" r:id="rId17" imgW="330200" imgH="419100" progId="Equation.3">
                  <p:embed/>
                </p:oleObj>
              </mc:Choice>
              <mc:Fallback>
                <p:oleObj name="Equation" r:id="rId17" imgW="330200" imgH="419100" progId="Equation.3">
                  <p:embed/>
                  <p:pic>
                    <p:nvPicPr>
                      <p:cNvPr id="7170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2" name="Object 2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2" name="Equation" r:id="rId19" imgW="330200" imgH="419100" progId="Equation.3">
                  <p:embed/>
                </p:oleObj>
              </mc:Choice>
              <mc:Fallback>
                <p:oleObj name="Equation" r:id="rId19" imgW="330200" imgH="419100" progId="Equation.3">
                  <p:embed/>
                  <p:pic>
                    <p:nvPicPr>
                      <p:cNvPr id="717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3" name="Oval 2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1704" name="Object 24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3"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717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5" name="Freeform 25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1706" name="Line 26"/>
          <p:cNvSpPr>
            <a:spLocks noChangeShapeType="1"/>
          </p:cNvSpPr>
          <p:nvPr/>
        </p:nvSpPr>
        <p:spPr bwMode="auto">
          <a:xfrm>
            <a:off x="11430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2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5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9" name="Equation" r:id="rId5" imgW="482391" imgH="571252" progId="Equation.3">
                  <p:embed/>
                </p:oleObj>
              </mc:Choice>
              <mc:Fallback>
                <p:oleObj name="Equation" r:id="rId5" imgW="482391" imgH="571252" progId="Equation.3">
                  <p:embed/>
                  <p:pic>
                    <p:nvPicPr>
                      <p:cNvPr id="7270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Oval 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2710" name="Line 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711" name="Line 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712" name="Line 1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713" name="Oval 1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2714" name="Line 1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2715" name="Object 1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0" name="Equation" r:id="rId7" imgW="291973" imgH="304668" progId="Equation.3">
                  <p:embed/>
                </p:oleObj>
              </mc:Choice>
              <mc:Fallback>
                <p:oleObj name="Equation" r:id="rId7" imgW="291973" imgH="304668" progId="Equation.3">
                  <p:embed/>
                  <p:pic>
                    <p:nvPicPr>
                      <p:cNvPr id="7271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1" name="Equation" r:id="rId9" imgW="266469" imgH="431425" progId="Equation.3">
                  <p:embed/>
                </p:oleObj>
              </mc:Choice>
              <mc:Fallback>
                <p:oleObj name="Equation" r:id="rId9" imgW="266469" imgH="431425" progId="Equation.3">
                  <p:embed/>
                  <p:pic>
                    <p:nvPicPr>
                      <p:cNvPr id="7271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7" name="Object 1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2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271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1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3"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7271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9" name="Oval 1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2720" name="Object 18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Equation" r:id="rId14" imgW="457002" imgH="583947" progId="Equation.3">
                  <p:embed/>
                </p:oleObj>
              </mc:Choice>
              <mc:Fallback>
                <p:oleObj name="Equation" r:id="rId14" imgW="457002" imgH="583947" progId="Equation.3">
                  <p:embed/>
                  <p:pic>
                    <p:nvPicPr>
                      <p:cNvPr id="7272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Freeform 1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722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2723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2724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2725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5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272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6" name="Line 24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2727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Equation" r:id="rId18" imgW="266469" imgH="431425" progId="Equation.3">
                  <p:embed/>
                </p:oleObj>
              </mc:Choice>
              <mc:Fallback>
                <p:oleObj name="Equation" r:id="rId18" imgW="266469" imgH="431425" progId="Equation.3">
                  <p:embed/>
                  <p:pic>
                    <p:nvPicPr>
                      <p:cNvPr id="7272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8" name="Oval 26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2729" name="Object 27"/>
          <p:cNvGraphicFramePr>
            <a:graphicFrameLocks noChangeAspect="1"/>
          </p:cNvGraphicFramePr>
          <p:nvPr/>
        </p:nvGraphicFramePr>
        <p:xfrm>
          <a:off x="3390900" y="41973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Equation" r:id="rId20" imgW="406224" imgH="571252" progId="Equation.3">
                  <p:embed/>
                </p:oleObj>
              </mc:Choice>
              <mc:Fallback>
                <p:oleObj name="Equation" r:id="rId20" imgW="406224" imgH="571252" progId="Equation.3">
                  <p:embed/>
                  <p:pic>
                    <p:nvPicPr>
                      <p:cNvPr id="7272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41973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0" name="Line 28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9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373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73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2" name="Equation" r:id="rId3" imgW="291973" imgH="304668" progId="Equation.3">
                  <p:embed/>
                </p:oleObj>
              </mc:Choice>
              <mc:Fallback>
                <p:oleObj name="Equation" r:id="rId3" imgW="291973" imgH="304668" progId="Equation.3">
                  <p:embed/>
                  <p:pic>
                    <p:nvPicPr>
                      <p:cNvPr id="737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3" name="Equation" r:id="rId5" imgW="266469" imgH="431425" progId="Equation.3">
                  <p:embed/>
                </p:oleObj>
              </mc:Choice>
              <mc:Fallback>
                <p:oleObj name="Equation" r:id="rId5" imgW="266469" imgH="431425" progId="Equation.3">
                  <p:embed/>
                  <p:pic>
                    <p:nvPicPr>
                      <p:cNvPr id="737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Oval 8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3737" name="Object 9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4" name="Equation" r:id="rId7" imgW="482391" imgH="583947" progId="Equation.3">
                  <p:embed/>
                </p:oleObj>
              </mc:Choice>
              <mc:Fallback>
                <p:oleObj name="Equation" r:id="rId7" imgW="482391" imgH="583947" progId="Equation.3">
                  <p:embed/>
                  <p:pic>
                    <p:nvPicPr>
                      <p:cNvPr id="737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8" name="Object 10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5" name="Equation" r:id="rId9" imgW="406224" imgH="571252" progId="Equation.3">
                  <p:embed/>
                </p:oleObj>
              </mc:Choice>
              <mc:Fallback>
                <p:oleObj name="Equation" r:id="rId9" imgW="406224" imgH="571252" progId="Equation.3">
                  <p:embed/>
                  <p:pic>
                    <p:nvPicPr>
                      <p:cNvPr id="737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9" name="Oval 12"/>
          <p:cNvSpPr>
            <a:spLocks noChangeArrowheads="1"/>
          </p:cNvSpPr>
          <p:nvPr/>
        </p:nvSpPr>
        <p:spPr bwMode="auto">
          <a:xfrm>
            <a:off x="5410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3740" name="Oval 1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3741" name="Line 1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742" name="Line 1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743" name="Line 1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3744" name="Oval 1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3745" name="Line 1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3746" name="Object 1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6"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7374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7" name="Object 2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"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7374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8" name="Object 2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"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7374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9" name="Object 2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9" name="Equation" r:id="rId17" imgW="330200" imgH="419100" progId="Equation.3">
                  <p:embed/>
                </p:oleObj>
              </mc:Choice>
              <mc:Fallback>
                <p:oleObj name="Equation" r:id="rId17" imgW="330200" imgH="419100" progId="Equation.3">
                  <p:embed/>
                  <p:pic>
                    <p:nvPicPr>
                      <p:cNvPr id="7374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0" name="Oval 2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3751" name="Object 24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0" name="Equation" r:id="rId18" imgW="457002" imgH="583947" progId="Equation.3">
                  <p:embed/>
                </p:oleObj>
              </mc:Choice>
              <mc:Fallback>
                <p:oleObj name="Equation" r:id="rId18" imgW="457002" imgH="583947" progId="Equation.3">
                  <p:embed/>
                  <p:pic>
                    <p:nvPicPr>
                      <p:cNvPr id="7375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2" name="Freeform 25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3753" name="Object 26"/>
          <p:cNvGraphicFramePr>
            <a:graphicFrameLocks noChangeAspect="1"/>
          </p:cNvGraphicFramePr>
          <p:nvPr/>
        </p:nvGraphicFramePr>
        <p:xfrm>
          <a:off x="5562600" y="41973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1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375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973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4" name="Line 27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17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4755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756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4757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Equation" r:id="rId3" imgW="291973" imgH="304668" progId="Equation.3">
                  <p:embed/>
                </p:oleObj>
              </mc:Choice>
              <mc:Fallback>
                <p:oleObj name="Equation" r:id="rId3" imgW="291973" imgH="304668" progId="Equation.3">
                  <p:embed/>
                  <p:pic>
                    <p:nvPicPr>
                      <p:cNvPr id="7475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Line 24"/>
          <p:cNvSpPr>
            <a:spLocks noChangeShapeType="1"/>
          </p:cNvSpPr>
          <p:nvPr/>
        </p:nvSpPr>
        <p:spPr bwMode="auto">
          <a:xfrm>
            <a:off x="1905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4759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7" name="Equation" r:id="rId5" imgW="266469" imgH="431425" progId="Equation.3">
                  <p:embed/>
                </p:oleObj>
              </mc:Choice>
              <mc:Fallback>
                <p:oleObj name="Equation" r:id="rId5" imgW="266469" imgH="431425" progId="Equation.3">
                  <p:embed/>
                  <p:pic>
                    <p:nvPicPr>
                      <p:cNvPr id="7475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Oval 26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4761" name="Object 27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8" name="Equation" r:id="rId7" imgW="482391" imgH="583947" progId="Equation.3">
                  <p:embed/>
                </p:oleObj>
              </mc:Choice>
              <mc:Fallback>
                <p:oleObj name="Equation" r:id="rId7" imgW="482391" imgH="583947" progId="Equation.3">
                  <p:embed/>
                  <p:pic>
                    <p:nvPicPr>
                      <p:cNvPr id="7476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28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9" name="Equation" r:id="rId9" imgW="406224" imgH="571252" progId="Equation.3">
                  <p:embed/>
                </p:oleObj>
              </mc:Choice>
              <mc:Fallback>
                <p:oleObj name="Equation" r:id="rId9" imgW="406224" imgH="571252" progId="Equation.3">
                  <p:embed/>
                  <p:pic>
                    <p:nvPicPr>
                      <p:cNvPr id="7476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3" name="Oval 29"/>
          <p:cNvSpPr>
            <a:spLocks noChangeArrowheads="1"/>
          </p:cNvSpPr>
          <p:nvPr/>
        </p:nvSpPr>
        <p:spPr bwMode="auto">
          <a:xfrm>
            <a:off x="5410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4764" name="Oval 30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4765" name="Line 31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766" name="Line 32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767" name="Line 33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768" name="Oval 34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4769" name="Line 35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4770" name="Object 36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0"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7477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1" name="Object 37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1"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7477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2" name="Object 38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2"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7477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3" name="Object 39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3" name="Equation" r:id="rId17" imgW="330200" imgH="419100" progId="Equation.3">
                  <p:embed/>
                </p:oleObj>
              </mc:Choice>
              <mc:Fallback>
                <p:oleObj name="Equation" r:id="rId17" imgW="330200" imgH="419100" progId="Equation.3">
                  <p:embed/>
                  <p:pic>
                    <p:nvPicPr>
                      <p:cNvPr id="7477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4" name="Oval 40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4775" name="Object 41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4" name="Equation" r:id="rId18" imgW="457002" imgH="583947" progId="Equation.3">
                  <p:embed/>
                </p:oleObj>
              </mc:Choice>
              <mc:Fallback>
                <p:oleObj name="Equation" r:id="rId18" imgW="457002" imgH="583947" progId="Equation.3">
                  <p:embed/>
                  <p:pic>
                    <p:nvPicPr>
                      <p:cNvPr id="7477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6" name="Freeform 42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4777" name="Object 43"/>
          <p:cNvGraphicFramePr>
            <a:graphicFrameLocks noChangeAspect="1"/>
          </p:cNvGraphicFramePr>
          <p:nvPr/>
        </p:nvGraphicFramePr>
        <p:xfrm>
          <a:off x="5562600" y="41973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5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477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973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8" name="Line 44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779" name="Text Box 45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“accept”</a:t>
            </a:r>
          </a:p>
        </p:txBody>
      </p:sp>
    </p:spTree>
    <p:extLst>
      <p:ext uri="{BB962C8B-B14F-4D97-AF65-F5344CB8AC3E}">
        <p14:creationId xmlns:p14="http://schemas.microsoft.com/office/powerpoint/2010/main" val="4682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4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Oval 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5781" name="Oval 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5782" name="Line 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783" name="Line 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784" name="Line 1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785" name="Oval 1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5786" name="Line 1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5787" name="Object 1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5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7578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1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6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7578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9" name="Object 1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7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7578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0" name="Object 1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8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579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1" name="Oval 1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5792" name="Freeform 1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793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5794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795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5796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9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7579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7" name="Line 24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5798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0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7579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9" name="Text Box 26"/>
          <p:cNvSpPr txBox="1">
            <a:spLocks noChangeArrowheads="1"/>
          </p:cNvSpPr>
          <p:nvPr/>
        </p:nvSpPr>
        <p:spPr bwMode="auto">
          <a:xfrm>
            <a:off x="2971800" y="0"/>
            <a:ext cx="3087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Another String</a:t>
            </a:r>
          </a:p>
        </p:txBody>
      </p:sp>
      <p:sp>
        <p:nvSpPr>
          <p:cNvPr id="75800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801" name="Line 28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5802" name="Object 29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1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580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3" name="Object 30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2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7580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31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3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7580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5" name="Object 32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4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580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3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5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75806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7" name="Line 34"/>
          <p:cNvSpPr>
            <a:spLocks noChangeShapeType="1"/>
          </p:cNvSpPr>
          <p:nvPr/>
        </p:nvSpPr>
        <p:spPr bwMode="auto">
          <a:xfrm>
            <a:off x="10668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8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68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09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9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768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0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768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1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768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2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68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6816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17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6818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19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6820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3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768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1" name="Line 21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6822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4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768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3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824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6825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5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682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6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768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7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7682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8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8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682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9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9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7682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0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5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2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78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7829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7830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33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7834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778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778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5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778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6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783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9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7840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41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7844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7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7784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5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7846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8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7784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7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848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7849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9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784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0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7785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1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7785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785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3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7785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4" name="Line 30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2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6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88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7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788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8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788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9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788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88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3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8864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7886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9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870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2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7887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1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8872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873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3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887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4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4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7887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5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5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7887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6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6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88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7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7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7887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8" name="Line 30"/>
          <p:cNvSpPr>
            <a:spLocks noChangeShapeType="1"/>
          </p:cNvSpPr>
          <p:nvPr/>
        </p:nvSpPr>
        <p:spPr bwMode="auto">
          <a:xfrm>
            <a:off x="74676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59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0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79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9877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9878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81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9882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1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798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2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798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3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798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4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798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9888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91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9892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5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798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3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9894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6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7989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5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9896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9897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7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7989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8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8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7989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9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9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7989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0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0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7990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1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1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7990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2" name="Line 30"/>
          <p:cNvSpPr>
            <a:spLocks noChangeShapeType="1"/>
          </p:cNvSpPr>
          <p:nvPr/>
        </p:nvSpPr>
        <p:spPr bwMode="auto">
          <a:xfrm>
            <a:off x="1066800" y="5257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7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4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808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0901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0902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5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0906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07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5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809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6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809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7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809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8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809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1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0912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13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0914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15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16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9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8091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7" name="Line 21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18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0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809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9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20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21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1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809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2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2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809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3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3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809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4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4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809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5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5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8092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6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15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8" name="Equation" r:id="rId3" imgW="482391" imgH="583947" progId="Equation.3">
                  <p:embed/>
                </p:oleObj>
              </mc:Choice>
              <mc:Fallback>
                <p:oleObj name="Equation" r:id="rId3" imgW="482391" imgH="583947" progId="Equation.3">
                  <p:embed/>
                  <p:pic>
                    <p:nvPicPr>
                      <p:cNvPr id="819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1925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1926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29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1931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9" name="Equation" r:id="rId5" imgW="291973" imgH="304668" progId="Equation.3">
                  <p:embed/>
                </p:oleObj>
              </mc:Choice>
              <mc:Fallback>
                <p:oleObj name="Equation" r:id="rId5" imgW="291973" imgH="304668" progId="Equation.3">
                  <p:embed/>
                  <p:pic>
                    <p:nvPicPr>
                      <p:cNvPr id="819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Equation" r:id="rId7" imgW="266469" imgH="431425" progId="Equation.3">
                  <p:embed/>
                </p:oleObj>
              </mc:Choice>
              <mc:Fallback>
                <p:oleObj name="Equation" r:id="rId7" imgW="266469" imgH="431425" progId="Equation.3">
                  <p:embed/>
                  <p:pic>
                    <p:nvPicPr>
                      <p:cNvPr id="819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3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1" name="Equation" r:id="rId9" imgW="330200" imgH="419100" progId="Equation.3">
                  <p:embed/>
                </p:oleObj>
              </mc:Choice>
              <mc:Fallback>
                <p:oleObj name="Equation" r:id="rId9" imgW="330200" imgH="419100" progId="Equation.3">
                  <p:embed/>
                  <p:pic>
                    <p:nvPicPr>
                      <p:cNvPr id="81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2"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819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5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1936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1938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39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1940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3"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819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1" name="Line 21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1942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819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3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1944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1945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Equation" r:id="rId16" imgW="291973" imgH="304668" progId="Equation.3">
                  <p:embed/>
                </p:oleObj>
              </mc:Choice>
              <mc:Fallback>
                <p:oleObj name="Equation" r:id="rId16" imgW="291973" imgH="304668" progId="Equation.3">
                  <p:embed/>
                  <p:pic>
                    <p:nvPicPr>
                      <p:cNvPr id="8194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6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6"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8194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7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7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8194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8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8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8194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9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9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8194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0" name="Line 30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67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41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2947" name="Line 1042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48" name="Line 1043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2949" name="Object 1044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2" name="Equation" r:id="rId3" imgW="291973" imgH="304668" progId="Equation.3">
                  <p:embed/>
                </p:oleObj>
              </mc:Choice>
              <mc:Fallback>
                <p:oleObj name="Equation" r:id="rId3" imgW="291973" imgH="304668" progId="Equation.3">
                  <p:embed/>
                  <p:pic>
                    <p:nvPicPr>
                      <p:cNvPr id="82949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Line 1045"/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2951" name="Object 1046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3" name="Equation" r:id="rId5" imgW="266469" imgH="431425" progId="Equation.3">
                  <p:embed/>
                </p:oleObj>
              </mc:Choice>
              <mc:Fallback>
                <p:oleObj name="Equation" r:id="rId5" imgW="266469" imgH="431425" progId="Equation.3">
                  <p:embed/>
                  <p:pic>
                    <p:nvPicPr>
                      <p:cNvPr id="82951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Line 104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53" name="Line 1048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2954" name="Object 1049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name="Equation" r:id="rId7" imgW="291973" imgH="304668" progId="Equation.3">
                  <p:embed/>
                </p:oleObj>
              </mc:Choice>
              <mc:Fallback>
                <p:oleObj name="Equation" r:id="rId7" imgW="291973" imgH="304668" progId="Equation.3">
                  <p:embed/>
                  <p:pic>
                    <p:nvPicPr>
                      <p:cNvPr id="82954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050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5" name="Equation" r:id="rId8" imgW="266469" imgH="431425" progId="Equation.3">
                  <p:embed/>
                </p:oleObj>
              </mc:Choice>
              <mc:Fallback>
                <p:oleObj name="Equation" r:id="rId8" imgW="266469" imgH="431425" progId="Equation.3">
                  <p:embed/>
                  <p:pic>
                    <p:nvPicPr>
                      <p:cNvPr id="82955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6" name="Oval 1054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82957" name="Object 1055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6"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82957" name="Object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8" name="Oval 105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2959" name="Oval 105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2960" name="Line 105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61" name="Line 105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62" name="Line 106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63" name="Oval 106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2964" name="Line 106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2965" name="Object 106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7"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82965" name="Object 1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6" name="Object 106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8"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82966" name="Object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7" name="Object 106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9"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82967" name="Object 1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8" name="Object 106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0" name="Equation" r:id="rId17" imgW="330200" imgH="419100" progId="Equation.3">
                  <p:embed/>
                </p:oleObj>
              </mc:Choice>
              <mc:Fallback>
                <p:oleObj name="Equation" r:id="rId17" imgW="330200" imgH="419100" progId="Equation.3">
                  <p:embed/>
                  <p:pic>
                    <p:nvPicPr>
                      <p:cNvPr id="82968" name="Object 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9" name="Oval 106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2970" name="Freeform 1068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2971" name="Object 1069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1" name="Equation" r:id="rId18" imgW="406224" imgH="571252" progId="Equation.3">
                  <p:embed/>
                </p:oleObj>
              </mc:Choice>
              <mc:Fallback>
                <p:oleObj name="Equation" r:id="rId18" imgW="406224" imgH="571252" progId="Equation.3">
                  <p:embed/>
                  <p:pic>
                    <p:nvPicPr>
                      <p:cNvPr id="82971" name="Object 1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273550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2" name="Object 1070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2" name="Equation" r:id="rId20" imgW="482391" imgH="571252" progId="Equation.3">
                  <p:embed/>
                </p:oleObj>
              </mc:Choice>
              <mc:Fallback>
                <p:oleObj name="Equation" r:id="rId20" imgW="482391" imgH="571252" progId="Equation.3">
                  <p:embed/>
                  <p:pic>
                    <p:nvPicPr>
                      <p:cNvPr id="82972" name="Object 1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273550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3" name="Object 1071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3" name="Equation" r:id="rId22" imgW="457002" imgH="583947" progId="Equation.3">
                  <p:embed/>
                </p:oleObj>
              </mc:Choice>
              <mc:Fallback>
                <p:oleObj name="Equation" r:id="rId22" imgW="457002" imgH="583947" progId="Equation.3">
                  <p:embed/>
                  <p:pic>
                    <p:nvPicPr>
                      <p:cNvPr id="82973" name="Object 1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4267200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4" name="Line 1072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975" name="Text Box 1073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“accept”</a:t>
            </a:r>
          </a:p>
        </p:txBody>
      </p:sp>
    </p:spTree>
    <p:extLst>
      <p:ext uri="{BB962C8B-B14F-4D97-AF65-F5344CB8AC3E}">
        <p14:creationId xmlns:p14="http://schemas.microsoft.com/office/powerpoint/2010/main" val="277179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19"/>
          <p:cNvGraphicFramePr>
            <a:graphicFrameLocks noChangeAspect="1"/>
          </p:cNvGraphicFramePr>
          <p:nvPr/>
        </p:nvGraphicFramePr>
        <p:xfrm>
          <a:off x="1847850" y="1524000"/>
          <a:ext cx="5664200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Equation" r:id="rId3" imgW="5664200" imgH="1498600" progId="Equation.3">
                  <p:embed/>
                </p:oleObj>
              </mc:Choice>
              <mc:Fallback>
                <p:oleObj name="Equation" r:id="rId3" imgW="5664200" imgH="1498600" progId="Equation.3">
                  <p:embed/>
                  <p:pic>
                    <p:nvPicPr>
                      <p:cNvPr id="8397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524000"/>
                        <a:ext cx="5664200" cy="149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1" name="Text Box 21"/>
          <p:cNvSpPr txBox="1">
            <a:spLocks noChangeArrowheads="1"/>
          </p:cNvSpPr>
          <p:nvPr/>
        </p:nvSpPr>
        <p:spPr bwMode="auto">
          <a:xfrm>
            <a:off x="2743200" y="0"/>
            <a:ext cx="3743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en-US"/>
              <a:t>Language accepted</a:t>
            </a:r>
          </a:p>
        </p:txBody>
      </p:sp>
      <p:graphicFrame>
        <p:nvGraphicFramePr>
          <p:cNvPr id="83972" name="Object 2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1"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8397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270375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24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8397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25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3"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8397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Oval 2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3976" name="Oval 2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3977" name="Line 2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78" name="Line 2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79" name="Line 3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980" name="Oval 3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sp>
        <p:nvSpPr>
          <p:cNvPr id="83981" name="Line 3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3982" name="Object 3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4"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83982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3" name="Object 3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5"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8398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8" y="4143375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4" name="Object 3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6"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83984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3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5" name="Object 3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7" name="Equation" r:id="rId17" imgW="330200" imgH="419100" progId="Equation.3">
                  <p:embed/>
                </p:oleObj>
              </mc:Choice>
              <mc:Fallback>
                <p:oleObj name="Equation" r:id="rId17" imgW="330200" imgH="419100" progId="Equation.3">
                  <p:embed/>
                  <p:pic>
                    <p:nvPicPr>
                      <p:cNvPr id="8398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6" name="Oval 3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83987" name="Object 38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8" name="Equation" r:id="rId18" imgW="457002" imgH="583947" progId="Equation.3">
                  <p:embed/>
                </p:oleObj>
              </mc:Choice>
              <mc:Fallback>
                <p:oleObj name="Equation" r:id="rId18" imgW="457002" imgH="583947" progId="Equation.3">
                  <p:embed/>
                  <p:pic>
                    <p:nvPicPr>
                      <p:cNvPr id="83987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91000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8" name="Freeform 3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96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/>
          <a:lstStyle/>
          <a:p>
            <a:pPr>
              <a:defRPr/>
            </a:pPr>
            <a:r>
              <a:rPr lang="en-IN" sz="2400" b="1" dirty="0" smtClean="0"/>
              <a:t>NFA Description:</a:t>
            </a:r>
            <a:endParaRPr lang="en-IN" sz="2400" dirty="0" smtClean="0"/>
          </a:p>
          <a:p>
            <a:pPr>
              <a:defRPr/>
            </a:pPr>
            <a:r>
              <a:rPr lang="en-IN" sz="2400" b="1" dirty="0" smtClean="0"/>
              <a:t>States:</a:t>
            </a:r>
            <a:r>
              <a:rPr lang="en-IN" sz="2400" dirty="0" smtClean="0"/>
              <a:t> Q = {q0, q1, q2}</a:t>
            </a:r>
          </a:p>
          <a:p>
            <a:pPr>
              <a:defRPr/>
            </a:pPr>
            <a:r>
              <a:rPr lang="en-IN" sz="2400" b="1" dirty="0" smtClean="0"/>
              <a:t>Alphabet:</a:t>
            </a:r>
            <a:r>
              <a:rPr lang="en-IN" sz="2400" dirty="0" smtClean="0"/>
              <a:t> </a:t>
            </a:r>
            <a:r>
              <a:rPr lang="el-GR" sz="2400" dirty="0" smtClean="0"/>
              <a:t>Σ = {</a:t>
            </a:r>
            <a:r>
              <a:rPr lang="en-IN" sz="2400" dirty="0" smtClean="0"/>
              <a:t>a, b}</a:t>
            </a:r>
          </a:p>
          <a:p>
            <a:pPr>
              <a:defRPr/>
            </a:pPr>
            <a:r>
              <a:rPr lang="en-IN" sz="2400" b="1" dirty="0" smtClean="0"/>
              <a:t>Transitions:</a:t>
            </a:r>
            <a:endParaRPr lang="en-IN" sz="2400" dirty="0" smtClean="0"/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q0, a) = {q1, q2}</a:t>
            </a:r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q0, b) = {q0}</a:t>
            </a:r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q1, a) = {q1}</a:t>
            </a:r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q1, b) = {q0, q2}</a:t>
            </a:r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q2, a) = ∅</a:t>
            </a:r>
          </a:p>
          <a:p>
            <a:pPr lvl="1">
              <a:defRPr/>
            </a:pPr>
            <a:r>
              <a:rPr lang="el-GR" sz="2400" dirty="0" smtClean="0"/>
              <a:t>δ(</a:t>
            </a:r>
            <a:r>
              <a:rPr lang="en-IN" sz="2400" dirty="0" smtClean="0"/>
              <a:t>q2, b) = {q2}</a:t>
            </a:r>
          </a:p>
          <a:p>
            <a:pPr>
              <a:defRPr/>
            </a:pPr>
            <a:r>
              <a:rPr lang="en-IN" sz="2400" b="1" dirty="0" smtClean="0"/>
              <a:t>Start State:</a:t>
            </a:r>
            <a:r>
              <a:rPr lang="en-IN" sz="2400" dirty="0" smtClean="0"/>
              <a:t> q0</a:t>
            </a:r>
          </a:p>
          <a:p>
            <a:pPr>
              <a:defRPr/>
            </a:pPr>
            <a:r>
              <a:rPr lang="en-IN" sz="2400" b="1" dirty="0" smtClean="0"/>
              <a:t>Accept States:</a:t>
            </a:r>
            <a:r>
              <a:rPr lang="en-IN" sz="2400" dirty="0" smtClean="0"/>
              <a:t> {q2}</a:t>
            </a:r>
          </a:p>
          <a:p>
            <a:pPr>
              <a:defRPr/>
            </a:pPr>
            <a:r>
              <a:rPr lang="en-IN" sz="2400" b="1" dirty="0" smtClean="0"/>
              <a:t>Question:</a:t>
            </a:r>
            <a:r>
              <a:rPr lang="en-IN" sz="2400" dirty="0" smtClean="0"/>
              <a:t> Does the NFA accept the string "</a:t>
            </a:r>
            <a:r>
              <a:rPr lang="en-IN" sz="2400" dirty="0" err="1" smtClean="0"/>
              <a:t>aab</a:t>
            </a:r>
            <a:r>
              <a:rPr lang="en-IN" sz="2400" dirty="0" smtClean="0"/>
              <a:t>"?</a:t>
            </a:r>
          </a:p>
          <a:p>
            <a:pPr marL="0" indent="0">
              <a:buFontTx/>
              <a:buNone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41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/>
          <a:lstStyle/>
          <a:p>
            <a:r>
              <a:rPr lang="en-IN" altLang="en-US" sz="2400" b="1" smtClean="0"/>
              <a:t>NFA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q1, q2}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</a:t>
            </a:r>
            <a:r>
              <a:rPr lang="en-IN" altLang="en-US" sz="2400" smtClean="0"/>
              <a:t>a, b}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a) = {q0, q1}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b) = {q2}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a) = {q2}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b) = ∅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a) = {q2}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b) = {q1}</a:t>
            </a:r>
          </a:p>
          <a:p>
            <a:r>
              <a:rPr lang="en-IN" altLang="en-US" sz="2400" b="1" smtClean="0"/>
              <a:t>Start State:</a:t>
            </a:r>
            <a:r>
              <a:rPr lang="en-IN" altLang="en-US" sz="2400" smtClean="0"/>
              <a:t> q0</a:t>
            </a:r>
          </a:p>
          <a:p>
            <a:r>
              <a:rPr lang="en-IN" altLang="en-US" sz="2400" b="1" smtClean="0"/>
              <a:t>Accept States:</a:t>
            </a:r>
            <a:r>
              <a:rPr lang="en-IN" altLang="en-US" sz="2400" smtClean="0"/>
              <a:t> {q2}</a:t>
            </a:r>
          </a:p>
          <a:p>
            <a:r>
              <a:rPr lang="en-IN" altLang="en-US" sz="2400" b="1" smtClean="0"/>
              <a:t>Question:</a:t>
            </a:r>
            <a:r>
              <a:rPr lang="en-IN" altLang="en-US" sz="2400" smtClean="0"/>
              <a:t> Does the NFA accept the string "baa"?</a:t>
            </a:r>
          </a:p>
        </p:txBody>
      </p:sp>
    </p:spTree>
    <p:extLst>
      <p:ext uri="{BB962C8B-B14F-4D97-AF65-F5344CB8AC3E}">
        <p14:creationId xmlns:p14="http://schemas.microsoft.com/office/powerpoint/2010/main" val="165092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638800"/>
          </a:xfrm>
        </p:spPr>
        <p:txBody>
          <a:bodyPr/>
          <a:lstStyle/>
          <a:p>
            <a:r>
              <a:rPr lang="en-IN" altLang="en-US" sz="2000" b="1" smtClean="0"/>
              <a:t>NFA Description:</a:t>
            </a:r>
            <a:endParaRPr lang="en-IN" altLang="en-US" sz="2000" smtClean="0"/>
          </a:p>
          <a:p>
            <a:r>
              <a:rPr lang="en-IN" altLang="en-US" sz="2000" b="1" smtClean="0"/>
              <a:t>States:</a:t>
            </a:r>
            <a:r>
              <a:rPr lang="en-IN" altLang="en-US" sz="2000" smtClean="0"/>
              <a:t> Q = {q0, q1, q2, q3}</a:t>
            </a:r>
          </a:p>
          <a:p>
            <a:r>
              <a:rPr lang="en-IN" altLang="en-US" sz="2000" b="1" smtClean="0"/>
              <a:t>Alphabet:</a:t>
            </a:r>
            <a:r>
              <a:rPr lang="en-IN" altLang="en-US" sz="2000" smtClean="0"/>
              <a:t> </a:t>
            </a:r>
            <a:r>
              <a:rPr lang="el-GR" altLang="en-US" sz="2000" smtClean="0"/>
              <a:t>Σ = {</a:t>
            </a:r>
            <a:r>
              <a:rPr lang="en-IN" altLang="en-US" sz="2000" smtClean="0"/>
              <a:t>a, b}</a:t>
            </a:r>
          </a:p>
          <a:p>
            <a:r>
              <a:rPr lang="en-IN" altLang="en-US" sz="2000" b="1" smtClean="0"/>
              <a:t>Transitions:</a:t>
            </a:r>
            <a:endParaRPr lang="en-IN" altLang="en-US" sz="2000" smtClean="0"/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q0, a) = {q1}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q0, b) = {q0, q2}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q1, a) = {q3}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q1, b) = {q1}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q2, a) = ∅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q2, b) = {q3}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q3, a) = {q3}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q3, b) = ∅</a:t>
            </a:r>
          </a:p>
          <a:p>
            <a:r>
              <a:rPr lang="en-IN" altLang="en-US" sz="2000" b="1" smtClean="0"/>
              <a:t>Start State:</a:t>
            </a:r>
            <a:r>
              <a:rPr lang="en-IN" altLang="en-US" sz="2000" smtClean="0"/>
              <a:t> q0</a:t>
            </a:r>
          </a:p>
          <a:p>
            <a:r>
              <a:rPr lang="en-IN" altLang="en-US" sz="2000" b="1" smtClean="0"/>
              <a:t>Accept States:</a:t>
            </a:r>
            <a:r>
              <a:rPr lang="en-IN" altLang="en-US" sz="2000" smtClean="0"/>
              <a:t> {q3}</a:t>
            </a:r>
          </a:p>
          <a:p>
            <a:r>
              <a:rPr lang="en-IN" altLang="en-US" sz="2000" b="1" smtClean="0"/>
              <a:t>Question:</a:t>
            </a:r>
            <a:r>
              <a:rPr lang="en-IN" altLang="en-US" sz="2000" smtClean="0"/>
              <a:t> Does the NFA accept the string "abbb"?</a:t>
            </a:r>
          </a:p>
        </p:txBody>
      </p:sp>
    </p:spTree>
    <p:extLst>
      <p:ext uri="{BB962C8B-B14F-4D97-AF65-F5344CB8AC3E}">
        <p14:creationId xmlns:p14="http://schemas.microsoft.com/office/powerpoint/2010/main" val="375431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 b="1" smtClean="0"/>
              <a:t>NFA Description:</a:t>
            </a:r>
            <a:endParaRPr lang="en-IN" altLang="en-US" sz="2000" smtClean="0"/>
          </a:p>
          <a:p>
            <a:r>
              <a:rPr lang="en-IN" altLang="en-US" sz="2000" b="1" smtClean="0"/>
              <a:t>States:</a:t>
            </a:r>
            <a:r>
              <a:rPr lang="en-IN" altLang="en-US" sz="2000" smtClean="0"/>
              <a:t> Q = {q0, q1, q2, q3}</a:t>
            </a:r>
          </a:p>
          <a:p>
            <a:r>
              <a:rPr lang="en-IN" altLang="en-US" sz="2000" b="1" smtClean="0"/>
              <a:t>Alphabet:</a:t>
            </a:r>
            <a:r>
              <a:rPr lang="en-IN" altLang="en-US" sz="2000" smtClean="0"/>
              <a:t> </a:t>
            </a:r>
            <a:r>
              <a:rPr lang="el-GR" altLang="en-US" sz="2000" smtClean="0"/>
              <a:t>Σ = {</a:t>
            </a:r>
            <a:r>
              <a:rPr lang="en-IN" altLang="en-US" sz="2000" smtClean="0"/>
              <a:t>a, b}</a:t>
            </a:r>
          </a:p>
          <a:p>
            <a:r>
              <a:rPr lang="en-IN" altLang="en-US" sz="2000" b="1" smtClean="0"/>
              <a:t>Transitions:</a:t>
            </a:r>
            <a:endParaRPr lang="en-IN" altLang="en-US" sz="2000" smtClean="0"/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q0, a) = {q0, q1}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q0, b) = {q2}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q1, a) = {q3}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q1, b) = {q1, q2}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q2, a) = {q1}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q2, b) = {q3}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q3, a) = {q0}</a:t>
            </a:r>
          </a:p>
          <a:p>
            <a:pPr lvl="1"/>
            <a:r>
              <a:rPr lang="el-GR" altLang="en-US" sz="2000" smtClean="0"/>
              <a:t>δ(</a:t>
            </a:r>
            <a:r>
              <a:rPr lang="en-IN" altLang="en-US" sz="2000" smtClean="0"/>
              <a:t>q3, b) = ∅</a:t>
            </a:r>
          </a:p>
          <a:p>
            <a:r>
              <a:rPr lang="en-IN" altLang="en-US" sz="2000" b="1" smtClean="0"/>
              <a:t>Start State:</a:t>
            </a:r>
            <a:r>
              <a:rPr lang="en-IN" altLang="en-US" sz="2000" smtClean="0"/>
              <a:t> q0</a:t>
            </a:r>
          </a:p>
          <a:p>
            <a:r>
              <a:rPr lang="en-IN" altLang="en-US" sz="2000" b="1" smtClean="0"/>
              <a:t>Accept States:</a:t>
            </a:r>
            <a:r>
              <a:rPr lang="en-IN" altLang="en-US" sz="2000" smtClean="0"/>
              <a:t> {q3}</a:t>
            </a:r>
          </a:p>
          <a:p>
            <a:r>
              <a:rPr lang="en-IN" altLang="en-US" sz="2000" b="1" smtClean="0"/>
              <a:t>Question:</a:t>
            </a:r>
            <a:r>
              <a:rPr lang="en-IN" altLang="en-US" sz="2000" smtClean="0"/>
              <a:t> Does the NFA accept the string "abb"?</a:t>
            </a:r>
          </a:p>
        </p:txBody>
      </p:sp>
    </p:spTree>
    <p:extLst>
      <p:ext uri="{BB962C8B-B14F-4D97-AF65-F5344CB8AC3E}">
        <p14:creationId xmlns:p14="http://schemas.microsoft.com/office/powerpoint/2010/main" val="27484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/>
          <a:lstStyle/>
          <a:p>
            <a:r>
              <a:rPr lang="en-IN" altLang="en-US" sz="2400" b="1" smtClean="0"/>
              <a:t>NFA Description:</a:t>
            </a:r>
            <a:endParaRPr lang="en-IN" altLang="en-US" sz="2400" smtClean="0"/>
          </a:p>
          <a:p>
            <a:r>
              <a:rPr lang="en-IN" altLang="en-US" sz="2400" b="1" smtClean="0"/>
              <a:t>States:</a:t>
            </a:r>
            <a:r>
              <a:rPr lang="en-IN" altLang="en-US" sz="2400" smtClean="0"/>
              <a:t> Q = {q0, q1, q2}</a:t>
            </a:r>
          </a:p>
          <a:p>
            <a:r>
              <a:rPr lang="en-IN" altLang="en-US" sz="2400" b="1" smtClean="0"/>
              <a:t>Alphabet:</a:t>
            </a:r>
            <a:r>
              <a:rPr lang="en-IN" altLang="en-US" sz="2400" smtClean="0"/>
              <a:t> </a:t>
            </a:r>
            <a:r>
              <a:rPr lang="el-GR" altLang="en-US" sz="2400" smtClean="0"/>
              <a:t>Σ = {</a:t>
            </a:r>
            <a:r>
              <a:rPr lang="en-IN" altLang="en-US" sz="2400" smtClean="0"/>
              <a:t>a, b}</a:t>
            </a:r>
          </a:p>
          <a:p>
            <a:r>
              <a:rPr lang="en-IN" altLang="en-US" sz="2400" b="1" smtClean="0"/>
              <a:t>Transitions:</a:t>
            </a:r>
            <a:endParaRPr lang="en-IN" altLang="en-US" sz="2400" smtClean="0"/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a) = {q1}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q0, b) = {q2}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a) = {q0, q1}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q1, b) = {q2}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a) = ∅</a:t>
            </a:r>
          </a:p>
          <a:p>
            <a:pPr lvl="1"/>
            <a:r>
              <a:rPr lang="el-GR" altLang="en-US" sz="2400" smtClean="0"/>
              <a:t>δ(</a:t>
            </a:r>
            <a:r>
              <a:rPr lang="en-IN" altLang="en-US" sz="2400" smtClean="0"/>
              <a:t>q2, b) = {q1, q2}</a:t>
            </a:r>
          </a:p>
          <a:p>
            <a:r>
              <a:rPr lang="en-IN" altLang="en-US" sz="2400" b="1" smtClean="0"/>
              <a:t>Start State:</a:t>
            </a:r>
            <a:r>
              <a:rPr lang="en-IN" altLang="en-US" sz="2400" smtClean="0"/>
              <a:t> q0</a:t>
            </a:r>
          </a:p>
          <a:p>
            <a:r>
              <a:rPr lang="en-IN" altLang="en-US" sz="2400" b="1" smtClean="0"/>
              <a:t>Accept States:</a:t>
            </a:r>
            <a:r>
              <a:rPr lang="en-IN" altLang="en-US" sz="2400" smtClean="0"/>
              <a:t> {q1}</a:t>
            </a:r>
          </a:p>
          <a:p>
            <a:r>
              <a:rPr lang="en-IN" altLang="en-US" sz="2400" b="1" smtClean="0"/>
              <a:t>Question:</a:t>
            </a:r>
            <a:r>
              <a:rPr lang="en-IN" altLang="en-US" sz="2400" smtClean="0"/>
              <a:t> Does the NFA accept the string "aab"?</a:t>
            </a:r>
          </a:p>
        </p:txBody>
      </p:sp>
    </p:spTree>
    <p:extLst>
      <p:ext uri="{BB962C8B-B14F-4D97-AF65-F5344CB8AC3E}">
        <p14:creationId xmlns:p14="http://schemas.microsoft.com/office/powerpoint/2010/main" val="100878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Minimization of DFA</a:t>
            </a:r>
            <a:endParaRPr lang="en-IN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54063" y="2097954"/>
            <a:ext cx="8077200" cy="3402012"/>
          </a:xfrm>
        </p:spPr>
        <p:txBody>
          <a:bodyPr/>
          <a:lstStyle/>
          <a:p>
            <a:r>
              <a:rPr lang="en-US" altLang="en-US" sz="2800" dirty="0" smtClean="0"/>
              <a:t>Minimization of DFA means reducing the number of states from given FA. </a:t>
            </a:r>
          </a:p>
          <a:p>
            <a:r>
              <a:rPr lang="en-US" altLang="en-US" sz="2800" dirty="0" smtClean="0"/>
              <a:t>Thus, we get the FSM(finite state machine) with redundant states after minimizing the FSM.</a:t>
            </a:r>
          </a:p>
          <a:p>
            <a:r>
              <a:rPr lang="en-US" altLang="en-US" sz="2800" dirty="0" smtClean="0"/>
              <a:t>DFA minimization stands for converting a given DFA to its equivalent DFA with minimum number of states. </a:t>
            </a:r>
          </a:p>
          <a:p>
            <a:r>
              <a:rPr lang="en-US" altLang="en-US" sz="2800" dirty="0" smtClean="0"/>
              <a:t>DFA minimization is also called as Optimization of DFA and uses partitioning algorithm.</a:t>
            </a:r>
            <a:endParaRPr lang="en-IN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1377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80988" y="838200"/>
            <a:ext cx="8839200" cy="5486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mtClean="0"/>
              <a:t>DFA Minimization</a:t>
            </a:r>
            <a:endParaRPr lang="en-IN" altLang="en-US" smtClean="0"/>
          </a:p>
        </p:txBody>
      </p:sp>
      <p:sp>
        <p:nvSpPr>
          <p:cNvPr id="4" name="Oval 3"/>
          <p:cNvSpPr/>
          <p:nvPr/>
        </p:nvSpPr>
        <p:spPr bwMode="auto">
          <a:xfrm>
            <a:off x="2202872" y="183515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3957060" y="1816100"/>
            <a:ext cx="817562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5862060" y="4725988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q5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862060" y="327025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q4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202872" y="327025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q2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862060" y="18161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q3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202872" y="47371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q6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2" name="Straight Arrow Connector 11"/>
          <p:cNvCxnSpPr>
            <a:endCxn id="5" idx="2"/>
          </p:cNvCxnSpPr>
          <p:nvPr/>
        </p:nvCxnSpPr>
        <p:spPr bwMode="auto">
          <a:xfrm>
            <a:off x="3114097" y="2227263"/>
            <a:ext cx="842963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8" idx="4"/>
          </p:cNvCxnSpPr>
          <p:nvPr/>
        </p:nvCxnSpPr>
        <p:spPr bwMode="auto">
          <a:xfrm flipV="1">
            <a:off x="2658485" y="4092575"/>
            <a:ext cx="0" cy="644525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1"/>
            <a:endCxn id="7" idx="3"/>
          </p:cNvCxnSpPr>
          <p:nvPr/>
        </p:nvCxnSpPr>
        <p:spPr bwMode="auto">
          <a:xfrm flipV="1">
            <a:off x="5995410" y="3971925"/>
            <a:ext cx="0" cy="874713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5"/>
            <a:endCxn id="6" idx="7"/>
          </p:cNvCxnSpPr>
          <p:nvPr/>
        </p:nvCxnSpPr>
        <p:spPr bwMode="auto">
          <a:xfrm>
            <a:off x="6639935" y="3971925"/>
            <a:ext cx="0" cy="874713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4"/>
            <a:endCxn id="8" idx="6"/>
          </p:cNvCxnSpPr>
          <p:nvPr/>
        </p:nvCxnSpPr>
        <p:spPr bwMode="auto">
          <a:xfrm flipH="1">
            <a:off x="3114097" y="2638425"/>
            <a:ext cx="3203575" cy="1042988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4"/>
            <a:endCxn id="7" idx="1"/>
          </p:cNvCxnSpPr>
          <p:nvPr/>
        </p:nvCxnSpPr>
        <p:spPr bwMode="auto">
          <a:xfrm>
            <a:off x="4365047" y="2638425"/>
            <a:ext cx="1630363" cy="752475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3"/>
            <a:endCxn id="5" idx="5"/>
          </p:cNvCxnSpPr>
          <p:nvPr/>
        </p:nvCxnSpPr>
        <p:spPr bwMode="auto">
          <a:xfrm flipH="1">
            <a:off x="4655560" y="2517775"/>
            <a:ext cx="133985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7"/>
            <a:endCxn id="9" idx="1"/>
          </p:cNvCxnSpPr>
          <p:nvPr/>
        </p:nvCxnSpPr>
        <p:spPr bwMode="auto">
          <a:xfrm>
            <a:off x="4655560" y="1936750"/>
            <a:ext cx="133985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8" idx="0"/>
          </p:cNvCxnSpPr>
          <p:nvPr/>
        </p:nvCxnSpPr>
        <p:spPr bwMode="auto">
          <a:xfrm flipH="1">
            <a:off x="2658485" y="2657475"/>
            <a:ext cx="0" cy="612775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8" name="TextBox 36"/>
          <p:cNvSpPr txBox="1">
            <a:spLocks noChangeArrowheads="1"/>
          </p:cNvSpPr>
          <p:nvPr/>
        </p:nvSpPr>
        <p:spPr bwMode="auto">
          <a:xfrm>
            <a:off x="2218747" y="2630488"/>
            <a:ext cx="428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sp>
        <p:nvSpPr>
          <p:cNvPr id="7189" name="TextBox 37"/>
          <p:cNvSpPr txBox="1">
            <a:spLocks noChangeArrowheads="1"/>
          </p:cNvSpPr>
          <p:nvPr/>
        </p:nvSpPr>
        <p:spPr bwMode="auto">
          <a:xfrm>
            <a:off x="3303010" y="1639888"/>
            <a:ext cx="395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190" name="TextBox 39"/>
          <p:cNvSpPr txBox="1">
            <a:spLocks noChangeArrowheads="1"/>
          </p:cNvSpPr>
          <p:nvPr/>
        </p:nvSpPr>
        <p:spPr bwMode="auto">
          <a:xfrm>
            <a:off x="3714172" y="2863850"/>
            <a:ext cx="395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191" name="TextBox 40"/>
          <p:cNvSpPr txBox="1">
            <a:spLocks noChangeArrowheads="1"/>
          </p:cNvSpPr>
          <p:nvPr/>
        </p:nvSpPr>
        <p:spPr bwMode="auto">
          <a:xfrm>
            <a:off x="2688647" y="4168775"/>
            <a:ext cx="3952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192" name="TextBox 41"/>
          <p:cNvSpPr txBox="1">
            <a:spLocks noChangeArrowheads="1"/>
          </p:cNvSpPr>
          <p:nvPr/>
        </p:nvSpPr>
        <p:spPr bwMode="auto">
          <a:xfrm>
            <a:off x="5139747" y="1435100"/>
            <a:ext cx="393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193" name="TextBox 42"/>
          <p:cNvSpPr txBox="1">
            <a:spLocks noChangeArrowheads="1"/>
          </p:cNvSpPr>
          <p:nvPr/>
        </p:nvSpPr>
        <p:spPr bwMode="auto">
          <a:xfrm>
            <a:off x="5165147" y="202882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sp>
        <p:nvSpPr>
          <p:cNvPr id="7194" name="TextBox 43"/>
          <p:cNvSpPr txBox="1">
            <a:spLocks noChangeArrowheads="1"/>
          </p:cNvSpPr>
          <p:nvPr/>
        </p:nvSpPr>
        <p:spPr bwMode="auto">
          <a:xfrm>
            <a:off x="5315960" y="3003550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sp>
        <p:nvSpPr>
          <p:cNvPr id="7195" name="TextBox 44"/>
          <p:cNvSpPr txBox="1">
            <a:spLocks noChangeArrowheads="1"/>
          </p:cNvSpPr>
          <p:nvPr/>
        </p:nvSpPr>
        <p:spPr bwMode="auto">
          <a:xfrm>
            <a:off x="5466772" y="4079875"/>
            <a:ext cx="428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sp>
        <p:nvSpPr>
          <p:cNvPr id="7196" name="TextBox 45"/>
          <p:cNvSpPr txBox="1">
            <a:spLocks noChangeArrowheads="1"/>
          </p:cNvSpPr>
          <p:nvPr/>
        </p:nvSpPr>
        <p:spPr bwMode="auto">
          <a:xfrm>
            <a:off x="6700260" y="4068763"/>
            <a:ext cx="428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cxnSp>
        <p:nvCxnSpPr>
          <p:cNvPr id="48" name="Curved Connector 47"/>
          <p:cNvCxnSpPr>
            <a:stCxn id="10" idx="3"/>
            <a:endCxn id="10" idx="5"/>
          </p:cNvCxnSpPr>
          <p:nvPr/>
        </p:nvCxnSpPr>
        <p:spPr bwMode="auto">
          <a:xfrm rot="16200000" flipH="1">
            <a:off x="2658485" y="5116512"/>
            <a:ext cx="12700" cy="644525"/>
          </a:xfrm>
          <a:prstGeom prst="curvedConnector3">
            <a:avLst>
              <a:gd name="adj1" fmla="val 6862504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/>
          <p:nvPr/>
        </p:nvCxnSpPr>
        <p:spPr bwMode="auto">
          <a:xfrm rot="16200000" flipH="1">
            <a:off x="6309735" y="5103812"/>
            <a:ext cx="12700" cy="644525"/>
          </a:xfrm>
          <a:prstGeom prst="curvedConnector3">
            <a:avLst>
              <a:gd name="adj1" fmla="val 6291079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7" idx="5"/>
            <a:endCxn id="7" idx="7"/>
          </p:cNvCxnSpPr>
          <p:nvPr/>
        </p:nvCxnSpPr>
        <p:spPr bwMode="auto">
          <a:xfrm rot="5400000" flipH="1">
            <a:off x="6349422" y="3681413"/>
            <a:ext cx="581025" cy="12700"/>
          </a:xfrm>
          <a:prstGeom prst="curvedConnector5">
            <a:avLst>
              <a:gd name="adj1" fmla="val -39315"/>
              <a:gd name="adj2" fmla="val -8577961"/>
              <a:gd name="adj3" fmla="val 139315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9" idx="5"/>
            <a:endCxn id="9" idx="7"/>
          </p:cNvCxnSpPr>
          <p:nvPr/>
        </p:nvCxnSpPr>
        <p:spPr bwMode="auto">
          <a:xfrm rot="5400000" flipH="1">
            <a:off x="6349422" y="2227263"/>
            <a:ext cx="581025" cy="12700"/>
          </a:xfrm>
          <a:prstGeom prst="curvedConnector5">
            <a:avLst>
              <a:gd name="adj1" fmla="val -39315"/>
              <a:gd name="adj2" fmla="val -9035102"/>
              <a:gd name="adj3" fmla="val 139315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1" name="TextBox 58"/>
          <p:cNvSpPr txBox="1">
            <a:spLocks noChangeArrowheads="1"/>
          </p:cNvSpPr>
          <p:nvPr/>
        </p:nvSpPr>
        <p:spPr bwMode="auto">
          <a:xfrm>
            <a:off x="7297160" y="1924050"/>
            <a:ext cx="395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202" name="TextBox 59"/>
          <p:cNvSpPr txBox="1">
            <a:spLocks noChangeArrowheads="1"/>
          </p:cNvSpPr>
          <p:nvPr/>
        </p:nvSpPr>
        <p:spPr bwMode="auto">
          <a:xfrm>
            <a:off x="2450522" y="5603875"/>
            <a:ext cx="428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sp>
        <p:nvSpPr>
          <p:cNvPr id="7203" name="TextBox 60"/>
          <p:cNvSpPr txBox="1">
            <a:spLocks noChangeArrowheads="1"/>
          </p:cNvSpPr>
          <p:nvPr/>
        </p:nvSpPr>
        <p:spPr bwMode="auto">
          <a:xfrm>
            <a:off x="7297160" y="3389313"/>
            <a:ext cx="395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sp>
        <p:nvSpPr>
          <p:cNvPr id="7204" name="TextBox 61"/>
          <p:cNvSpPr txBox="1">
            <a:spLocks noChangeArrowheads="1"/>
          </p:cNvSpPr>
          <p:nvPr/>
        </p:nvSpPr>
        <p:spPr bwMode="auto">
          <a:xfrm>
            <a:off x="6141460" y="5567363"/>
            <a:ext cx="395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cxnSp>
        <p:nvCxnSpPr>
          <p:cNvPr id="64" name="Straight Arrow Connector 63"/>
          <p:cNvCxnSpPr>
            <a:endCxn id="4" idx="2"/>
          </p:cNvCxnSpPr>
          <p:nvPr/>
        </p:nvCxnSpPr>
        <p:spPr bwMode="auto">
          <a:xfrm>
            <a:off x="1721860" y="2225675"/>
            <a:ext cx="481012" cy="20638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6" name="Oval 64"/>
          <p:cNvSpPr>
            <a:spLocks noChangeArrowheads="1"/>
          </p:cNvSpPr>
          <p:nvPr/>
        </p:nvSpPr>
        <p:spPr bwMode="auto">
          <a:xfrm>
            <a:off x="5993822" y="4914900"/>
            <a:ext cx="652463" cy="484188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7207" name="Oval 65"/>
          <p:cNvSpPr>
            <a:spLocks noChangeArrowheads="1"/>
          </p:cNvSpPr>
          <p:nvPr/>
        </p:nvSpPr>
        <p:spPr bwMode="auto">
          <a:xfrm>
            <a:off x="5981122" y="2000250"/>
            <a:ext cx="652463" cy="4889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7208" name="Oval 99"/>
          <p:cNvSpPr>
            <a:spLocks noChangeArrowheads="1"/>
          </p:cNvSpPr>
          <p:nvPr/>
        </p:nvSpPr>
        <p:spPr bwMode="auto">
          <a:xfrm>
            <a:off x="5993822" y="3352800"/>
            <a:ext cx="652463" cy="6731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cxnSp>
        <p:nvCxnSpPr>
          <p:cNvPr id="104" name="Straight Arrow Connector 103"/>
          <p:cNvCxnSpPr>
            <a:stCxn id="8" idx="5"/>
            <a:endCxn id="6" idx="2"/>
          </p:cNvCxnSpPr>
          <p:nvPr/>
        </p:nvCxnSpPr>
        <p:spPr bwMode="auto">
          <a:xfrm>
            <a:off x="2980747" y="3971925"/>
            <a:ext cx="2881313" cy="1165225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0" name="TextBox 106"/>
          <p:cNvSpPr txBox="1">
            <a:spLocks noChangeArrowheads="1"/>
          </p:cNvSpPr>
          <p:nvPr/>
        </p:nvSpPr>
        <p:spPr bwMode="auto">
          <a:xfrm>
            <a:off x="4101522" y="4025900"/>
            <a:ext cx="427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6000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Cont.</a:t>
            </a:r>
            <a:endParaRPr lang="en-IN" altLang="en-US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640223"/>
              </p:ext>
            </p:extLst>
          </p:nvPr>
        </p:nvGraphicFramePr>
        <p:xfrm>
          <a:off x="4724400" y="1925784"/>
          <a:ext cx="4114800" cy="431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35018545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841924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29802434"/>
                    </a:ext>
                  </a:extLst>
                </a:gridCol>
              </a:tblGrid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State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a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b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1009314704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q0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q1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q2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3068517596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q1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q3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q4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1904809309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q2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q3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q5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244259763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q3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q3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q1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3274042114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q4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q4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q5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1409828276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q5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q5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q4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963624980"/>
                  </a:ext>
                </a:extLst>
              </a:tr>
              <a:tr h="5389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q6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q2</a:t>
                      </a:r>
                      <a:endParaRPr lang="en-IN" sz="1800" dirty="0"/>
                    </a:p>
                  </a:txBody>
                  <a:tcPr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q6</a:t>
                      </a:r>
                      <a:endParaRPr lang="en-IN" sz="1800" dirty="0"/>
                    </a:p>
                  </a:txBody>
                  <a:tcPr marT="45716" marB="45716" anchor="ctr"/>
                </a:tc>
                <a:extLst>
                  <a:ext uri="{0D108BD9-81ED-4DB2-BD59-A6C34878D82A}">
                    <a16:rowId xmlns:a16="http://schemas.microsoft.com/office/drawing/2014/main" val="4040677017"/>
                  </a:ext>
                </a:extLst>
              </a:tr>
            </a:tbl>
          </a:graphicData>
        </a:graphic>
      </p:graphicFrame>
      <p:cxnSp>
        <p:nvCxnSpPr>
          <p:cNvPr id="50" name="Straight Arrow Connector 49"/>
          <p:cNvCxnSpPr/>
          <p:nvPr/>
        </p:nvCxnSpPr>
        <p:spPr bwMode="auto">
          <a:xfrm>
            <a:off x="4267200" y="2722418"/>
            <a:ext cx="4572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34" name="Oval 50"/>
          <p:cNvSpPr>
            <a:spLocks noChangeArrowheads="1"/>
          </p:cNvSpPr>
          <p:nvPr/>
        </p:nvSpPr>
        <p:spPr bwMode="auto">
          <a:xfrm>
            <a:off x="5029200" y="3957638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8235" name="Oval 52"/>
          <p:cNvSpPr>
            <a:spLocks noChangeArrowheads="1"/>
          </p:cNvSpPr>
          <p:nvPr/>
        </p:nvSpPr>
        <p:spPr bwMode="auto">
          <a:xfrm>
            <a:off x="5029200" y="4601874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8236" name="Oval 53"/>
          <p:cNvSpPr>
            <a:spLocks noChangeArrowheads="1"/>
          </p:cNvSpPr>
          <p:nvPr/>
        </p:nvSpPr>
        <p:spPr bwMode="auto">
          <a:xfrm>
            <a:off x="5029200" y="525780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pic>
        <p:nvPicPr>
          <p:cNvPr id="8237" name="Content Placeholder 5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745672"/>
            <a:ext cx="3962400" cy="4491615"/>
          </a:xfrm>
        </p:spPr>
      </p:pic>
    </p:spTree>
    <p:extLst>
      <p:ext uri="{BB962C8B-B14F-4D97-AF65-F5344CB8AC3E}">
        <p14:creationId xmlns:p14="http://schemas.microsoft.com/office/powerpoint/2010/main" val="45759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altLang="en-US" smtClean="0"/>
              <a:t>Cont.</a:t>
            </a:r>
            <a:endParaRPr lang="en-IN" altLang="en-US" smtClean="0"/>
          </a:p>
        </p:txBody>
      </p:sp>
      <p:sp>
        <p:nvSpPr>
          <p:cNvPr id="9219" name="Text Placeholder 4"/>
          <p:cNvSpPr>
            <a:spLocks noGrp="1"/>
          </p:cNvSpPr>
          <p:nvPr>
            <p:ph type="body" idx="1"/>
          </p:nvPr>
        </p:nvSpPr>
        <p:spPr>
          <a:xfrm>
            <a:off x="355600" y="828675"/>
            <a:ext cx="4040188" cy="639763"/>
          </a:xfrm>
        </p:spPr>
        <p:txBody>
          <a:bodyPr/>
          <a:lstStyle/>
          <a:p>
            <a:pPr algn="ctr"/>
            <a:r>
              <a:rPr lang="en-US" altLang="en-US" smtClean="0"/>
              <a:t>Transition Table</a:t>
            </a:r>
            <a:endParaRPr lang="en-IN" altLang="en-US" smtClean="0"/>
          </a:p>
        </p:txBody>
      </p:sp>
      <p:sp>
        <p:nvSpPr>
          <p:cNvPr id="9220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370388" y="2005013"/>
            <a:ext cx="4041775" cy="639762"/>
          </a:xfrm>
        </p:spPr>
        <p:txBody>
          <a:bodyPr/>
          <a:lstStyle/>
          <a:p>
            <a:pPr algn="ctr"/>
            <a:r>
              <a:rPr lang="en-US" altLang="en-US" smtClean="0"/>
              <a:t>Minimization</a:t>
            </a:r>
            <a:endParaRPr lang="en-IN" altLang="en-US" smtClean="0"/>
          </a:p>
        </p:txBody>
      </p:sp>
      <p:sp>
        <p:nvSpPr>
          <p:cNvPr id="9221" name="Content Placeholder 6"/>
          <p:cNvSpPr>
            <a:spLocks noGrp="1"/>
          </p:cNvSpPr>
          <p:nvPr>
            <p:ph sz="quarter" idx="4"/>
          </p:nvPr>
        </p:nvSpPr>
        <p:spPr>
          <a:xfrm>
            <a:off x="4097338" y="2711450"/>
            <a:ext cx="4589462" cy="2355850"/>
          </a:xfrm>
        </p:spPr>
        <p:txBody>
          <a:bodyPr/>
          <a:lstStyle/>
          <a:p>
            <a:r>
              <a:rPr lang="en-US" altLang="en-US" smtClean="0"/>
              <a:t>Remove unreachable state from initial state.</a:t>
            </a:r>
          </a:p>
          <a:p>
            <a:r>
              <a:rPr lang="en-US" altLang="en-US" smtClean="0"/>
              <a:t>q6 is unreachable state from initial state qo. </a:t>
            </a:r>
          </a:p>
          <a:p>
            <a:r>
              <a:rPr lang="en-US" altLang="en-US" smtClean="0"/>
              <a:t>Therefor, q6 eliminated from the DFA.</a:t>
            </a:r>
            <a:endParaRPr lang="en-IN" altLang="en-US" smtClean="0"/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28600" y="2630920"/>
            <a:ext cx="4572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>
            <a:off x="990600" y="5943600"/>
            <a:ext cx="2514600" cy="0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224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050" y="1870364"/>
            <a:ext cx="3076575" cy="4378036"/>
          </a:xfrm>
        </p:spPr>
      </p:pic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838200" y="448945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pic>
        <p:nvPicPr>
          <p:cNvPr id="9226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3889375"/>
            <a:ext cx="7016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7" name="Oval 10"/>
          <p:cNvSpPr>
            <a:spLocks noChangeArrowheads="1"/>
          </p:cNvSpPr>
          <p:nvPr/>
        </p:nvSpPr>
        <p:spPr bwMode="auto">
          <a:xfrm>
            <a:off x="838200" y="509905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990600" y="5943600"/>
            <a:ext cx="2286000" cy="0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73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66"/>
          <a:stretch>
            <a:fillRect/>
          </a:stretch>
        </p:blipFill>
        <p:spPr>
          <a:xfrm>
            <a:off x="457200" y="1692275"/>
            <a:ext cx="3076575" cy="4572000"/>
          </a:xfrm>
        </p:spPr>
      </p:pic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altLang="en-US" smtClean="0"/>
              <a:t>Cont.</a:t>
            </a:r>
            <a:endParaRPr lang="en-IN" altLang="en-US" smtClean="0"/>
          </a:p>
        </p:txBody>
      </p:sp>
      <p:sp>
        <p:nvSpPr>
          <p:cNvPr id="10244" name="Text Placeholder 4"/>
          <p:cNvSpPr>
            <a:spLocks noGrp="1"/>
          </p:cNvSpPr>
          <p:nvPr>
            <p:ph type="body" idx="1"/>
          </p:nvPr>
        </p:nvSpPr>
        <p:spPr>
          <a:xfrm>
            <a:off x="355600" y="828675"/>
            <a:ext cx="4040188" cy="639763"/>
          </a:xfrm>
        </p:spPr>
        <p:txBody>
          <a:bodyPr/>
          <a:lstStyle/>
          <a:p>
            <a:pPr algn="ctr"/>
            <a:r>
              <a:rPr lang="en-US" altLang="en-US" smtClean="0"/>
              <a:t>Transition Table</a:t>
            </a:r>
            <a:endParaRPr lang="en-IN" altLang="en-US" smtClean="0"/>
          </a:p>
        </p:txBody>
      </p:sp>
      <p:sp>
        <p:nvSpPr>
          <p:cNvPr id="10245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395788" y="1692275"/>
            <a:ext cx="4041775" cy="639763"/>
          </a:xfrm>
        </p:spPr>
        <p:txBody>
          <a:bodyPr/>
          <a:lstStyle/>
          <a:p>
            <a:pPr algn="ctr"/>
            <a:r>
              <a:rPr lang="en-US" altLang="en-US" smtClean="0"/>
              <a:t>Minimization</a:t>
            </a:r>
            <a:endParaRPr lang="en-IN" altLang="en-US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3533775" y="2438400"/>
            <a:ext cx="5610225" cy="3651250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Now convert all state in equivalent group.</a:t>
            </a:r>
          </a:p>
          <a:p>
            <a:pPr>
              <a:defRPr/>
            </a:pPr>
            <a:r>
              <a:rPr lang="en-US" sz="2000" dirty="0" smtClean="0"/>
              <a:t>One group will be final states and another one will be non-final states.</a:t>
            </a:r>
          </a:p>
          <a:p>
            <a:pPr marL="0" indent="0">
              <a:buFontTx/>
              <a:buNone/>
              <a:defRPr/>
            </a:pPr>
            <a:endParaRPr lang="en-US" dirty="0" smtClean="0"/>
          </a:p>
          <a:p>
            <a:pPr marL="0" indent="0" algn="ctr">
              <a:buFontTx/>
              <a:buNone/>
              <a:defRPr/>
            </a:pP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G1 </a:t>
            </a:r>
            <a:r>
              <a:rPr lang="en-US" sz="1800" dirty="0" smtClean="0"/>
              <a:t>: {q0,q1,q2} &amp;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G2:</a:t>
            </a:r>
            <a:r>
              <a:rPr lang="en-US" sz="1800" dirty="0" smtClean="0"/>
              <a:t> {q3,q4,q5}</a:t>
            </a:r>
          </a:p>
          <a:p>
            <a:pPr marL="0" indent="0" algn="ctr">
              <a:buFontTx/>
              <a:buNone/>
              <a:defRPr/>
            </a:pP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G11:</a:t>
            </a:r>
            <a:r>
              <a:rPr lang="en-US" sz="1800" dirty="0" smtClean="0"/>
              <a:t>{q0}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G12: </a:t>
            </a:r>
            <a:r>
              <a:rPr lang="en-US" sz="1800" dirty="0" smtClean="0"/>
              <a:t>{q1,q2} &amp;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G21:</a:t>
            </a:r>
            <a:r>
              <a:rPr lang="en-US" sz="1800" dirty="0" smtClean="0"/>
              <a:t>{q3}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G22: </a:t>
            </a:r>
            <a:r>
              <a:rPr lang="en-US" sz="1800" dirty="0" smtClean="0"/>
              <a:t>{q4,q5}</a:t>
            </a:r>
          </a:p>
          <a:p>
            <a:pPr marL="0" indent="0" algn="ctr">
              <a:buFontTx/>
              <a:buNone/>
              <a:defRPr/>
            </a:pP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G111</a:t>
            </a:r>
            <a:r>
              <a:rPr lang="en-US" sz="1800" dirty="0" smtClean="0"/>
              <a:t>:{q0}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G112: </a:t>
            </a:r>
            <a:r>
              <a:rPr lang="en-US" sz="1800" dirty="0" smtClean="0"/>
              <a:t>{q1,q2} &amp;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G211:</a:t>
            </a:r>
            <a:r>
              <a:rPr lang="en-US" sz="1800" dirty="0" smtClean="0"/>
              <a:t>{q3}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G212: </a:t>
            </a:r>
            <a:r>
              <a:rPr lang="en-US" sz="1800" dirty="0" smtClean="0"/>
              <a:t>{q4,q5}</a:t>
            </a:r>
          </a:p>
          <a:p>
            <a:pPr marL="0" indent="0" algn="ctr">
              <a:buFontTx/>
              <a:buNone/>
              <a:defRPr/>
            </a:pPr>
            <a:endParaRPr lang="en-US" sz="1800" dirty="0"/>
          </a:p>
          <a:p>
            <a:pPr marL="0" indent="0" algn="ctr">
              <a:buFontTx/>
              <a:buNone/>
              <a:defRPr/>
            </a:pPr>
            <a:r>
              <a:rPr lang="en-US" sz="1800" dirty="0" smtClean="0"/>
              <a:t>So, at the end, we minimized DFA (From 7 states to 4 states).</a:t>
            </a:r>
            <a:endParaRPr lang="en-IN" sz="1800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0" y="2667000"/>
            <a:ext cx="4572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4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5578475"/>
            <a:ext cx="7016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685800" y="4294188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  <p:sp>
        <p:nvSpPr>
          <p:cNvPr id="10250" name="Oval 10"/>
          <p:cNvSpPr>
            <a:spLocks noChangeArrowheads="1"/>
          </p:cNvSpPr>
          <p:nvPr/>
        </p:nvSpPr>
        <p:spPr bwMode="auto">
          <a:xfrm>
            <a:off x="685800" y="495300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6054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5626100" y="4752975"/>
            <a:ext cx="1851025" cy="1295400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IN">
              <a:solidFill>
                <a:schemeClr val="accent2"/>
              </a:solidFill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932488" y="2506663"/>
            <a:ext cx="1238250" cy="1143000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IN">
              <a:solidFill>
                <a:schemeClr val="accent2"/>
              </a:solidFill>
            </a:endParaRPr>
          </a:p>
        </p:txBody>
      </p:sp>
      <p:sp>
        <p:nvSpPr>
          <p:cNvPr id="1126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Cont.</a:t>
            </a:r>
            <a:endParaRPr lang="en-IN" altLang="en-US" smtClean="0"/>
          </a:p>
        </p:txBody>
      </p:sp>
      <p:sp>
        <p:nvSpPr>
          <p:cNvPr id="11269" name="Content Placeholder 7"/>
          <p:cNvSpPr>
            <a:spLocks noGrp="1"/>
          </p:cNvSpPr>
          <p:nvPr>
            <p:ph idx="1"/>
          </p:nvPr>
        </p:nvSpPr>
        <p:spPr>
          <a:xfrm>
            <a:off x="133350" y="906463"/>
            <a:ext cx="8839200" cy="5486400"/>
          </a:xfrm>
        </p:spPr>
        <p:txBody>
          <a:bodyPr/>
          <a:lstStyle/>
          <a:p>
            <a:r>
              <a:rPr lang="en-US" altLang="en-US" dirty="0" smtClean="0"/>
              <a:t>Minimized DFA</a:t>
            </a:r>
          </a:p>
          <a:p>
            <a:endParaRPr lang="en-IN" altLang="en-US" dirty="0" smtClean="0"/>
          </a:p>
        </p:txBody>
      </p:sp>
      <p:sp>
        <p:nvSpPr>
          <p:cNvPr id="9" name="Oval 8"/>
          <p:cNvSpPr/>
          <p:nvPr/>
        </p:nvSpPr>
        <p:spPr bwMode="auto">
          <a:xfrm>
            <a:off x="1371600" y="26670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q0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770563" y="4989513"/>
            <a:ext cx="1562100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q4q5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096000" y="2667000"/>
            <a:ext cx="9112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q3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1092200" y="4989513"/>
            <a:ext cx="1470025" cy="822325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q1q2</a:t>
            </a:r>
            <a:endParaRPr lang="en-IN" dirty="0">
              <a:solidFill>
                <a:schemeClr val="accent2"/>
              </a:solidFill>
            </a:endParaRPr>
          </a:p>
        </p:txBody>
      </p:sp>
      <p:cxnSp>
        <p:nvCxnSpPr>
          <p:cNvPr id="16" name="Straight Arrow Connector 15"/>
          <p:cNvCxnSpPr>
            <a:stCxn id="9" idx="4"/>
            <a:endCxn id="12" idx="0"/>
          </p:cNvCxnSpPr>
          <p:nvPr/>
        </p:nvCxnSpPr>
        <p:spPr bwMode="auto">
          <a:xfrm>
            <a:off x="1827213" y="3489325"/>
            <a:ext cx="0" cy="1500188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5" name="TextBox 16"/>
          <p:cNvSpPr txBox="1">
            <a:spLocks noChangeArrowheads="1"/>
          </p:cNvSpPr>
          <p:nvPr/>
        </p:nvSpPr>
        <p:spPr bwMode="auto">
          <a:xfrm>
            <a:off x="1166813" y="3898900"/>
            <a:ext cx="750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a,b</a:t>
            </a:r>
            <a:endParaRPr lang="en-IN" altLang="en-US"/>
          </a:p>
        </p:txBody>
      </p:sp>
      <p:cxnSp>
        <p:nvCxnSpPr>
          <p:cNvPr id="19" name="Straight Arrow Connector 18"/>
          <p:cNvCxnSpPr>
            <a:stCxn id="12" idx="7"/>
          </p:cNvCxnSpPr>
          <p:nvPr/>
        </p:nvCxnSpPr>
        <p:spPr bwMode="auto">
          <a:xfrm flipV="1">
            <a:off x="2346325" y="3200400"/>
            <a:ext cx="3586163" cy="1909763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7" name="TextBox 19"/>
          <p:cNvSpPr txBox="1">
            <a:spLocks noChangeArrowheads="1"/>
          </p:cNvSpPr>
          <p:nvPr/>
        </p:nvSpPr>
        <p:spPr bwMode="auto">
          <a:xfrm>
            <a:off x="3892550" y="3463925"/>
            <a:ext cx="393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cxnSp>
        <p:nvCxnSpPr>
          <p:cNvPr id="21" name="Straight Arrow Connector 20"/>
          <p:cNvCxnSpPr>
            <a:stCxn id="12" idx="6"/>
          </p:cNvCxnSpPr>
          <p:nvPr/>
        </p:nvCxnSpPr>
        <p:spPr bwMode="auto">
          <a:xfrm flipV="1">
            <a:off x="2562225" y="5400675"/>
            <a:ext cx="3049588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9" name="TextBox 23"/>
          <p:cNvSpPr txBox="1">
            <a:spLocks noChangeArrowheads="1"/>
          </p:cNvSpPr>
          <p:nvPr/>
        </p:nvSpPr>
        <p:spPr bwMode="auto">
          <a:xfrm>
            <a:off x="3943350" y="4875213"/>
            <a:ext cx="4270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cxnSp>
        <p:nvCxnSpPr>
          <p:cNvPr id="25" name="Straight Arrow Connector 24"/>
          <p:cNvCxnSpPr>
            <a:endCxn id="12" idx="6"/>
          </p:cNvCxnSpPr>
          <p:nvPr/>
        </p:nvCxnSpPr>
        <p:spPr bwMode="auto">
          <a:xfrm flipH="1">
            <a:off x="2562225" y="3489325"/>
            <a:ext cx="3541713" cy="191135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81" name="TextBox 28"/>
          <p:cNvSpPr txBox="1">
            <a:spLocks noChangeArrowheads="1"/>
          </p:cNvSpPr>
          <p:nvPr/>
        </p:nvSpPr>
        <p:spPr bwMode="auto">
          <a:xfrm>
            <a:off x="4895850" y="3946525"/>
            <a:ext cx="428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b</a:t>
            </a:r>
            <a:endParaRPr lang="en-IN" altLang="en-US"/>
          </a:p>
        </p:txBody>
      </p:sp>
      <p:cxnSp>
        <p:nvCxnSpPr>
          <p:cNvPr id="31" name="Curved Connector 30"/>
          <p:cNvCxnSpPr/>
          <p:nvPr/>
        </p:nvCxnSpPr>
        <p:spPr bwMode="auto">
          <a:xfrm rot="5400000" flipH="1" flipV="1">
            <a:off x="6545263" y="2260600"/>
            <a:ext cx="12700" cy="644525"/>
          </a:xfrm>
          <a:prstGeom prst="curvedConnector3">
            <a:avLst>
              <a:gd name="adj1" fmla="val 8462512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83" name="TextBox 35"/>
          <p:cNvSpPr txBox="1">
            <a:spLocks noChangeArrowheads="1"/>
          </p:cNvSpPr>
          <p:nvPr/>
        </p:nvSpPr>
        <p:spPr bwMode="auto">
          <a:xfrm>
            <a:off x="6354763" y="1727200"/>
            <a:ext cx="393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</a:t>
            </a:r>
            <a:endParaRPr lang="en-IN" altLang="en-US"/>
          </a:p>
        </p:txBody>
      </p:sp>
      <p:cxnSp>
        <p:nvCxnSpPr>
          <p:cNvPr id="37" name="Curved Connector 36"/>
          <p:cNvCxnSpPr/>
          <p:nvPr/>
        </p:nvCxnSpPr>
        <p:spPr bwMode="auto">
          <a:xfrm rot="5400000" flipH="1" flipV="1">
            <a:off x="6613526" y="4437062"/>
            <a:ext cx="12700" cy="644525"/>
          </a:xfrm>
          <a:prstGeom prst="curvedConnector3">
            <a:avLst>
              <a:gd name="adj1" fmla="val 8462512"/>
            </a:avLst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85" name="TextBox 37"/>
          <p:cNvSpPr txBox="1">
            <a:spLocks noChangeArrowheads="1"/>
          </p:cNvSpPr>
          <p:nvPr/>
        </p:nvSpPr>
        <p:spPr bwMode="auto">
          <a:xfrm>
            <a:off x="7048500" y="4173538"/>
            <a:ext cx="752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/>
              <a:t>a,b</a:t>
            </a:r>
            <a:endParaRPr lang="en-IN" altLang="en-US"/>
          </a:p>
        </p:txBody>
      </p:sp>
      <p:cxnSp>
        <p:nvCxnSpPr>
          <p:cNvPr id="40" name="Straight Arrow Connector 39"/>
          <p:cNvCxnSpPr>
            <a:endCxn id="9" idx="2"/>
          </p:cNvCxnSpPr>
          <p:nvPr/>
        </p:nvCxnSpPr>
        <p:spPr bwMode="auto">
          <a:xfrm>
            <a:off x="762000" y="3078163"/>
            <a:ext cx="609600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99764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457199" y="1749570"/>
            <a:ext cx="3008313" cy="365125"/>
          </a:xfrm>
        </p:spPr>
        <p:txBody>
          <a:bodyPr/>
          <a:lstStyle/>
          <a:p>
            <a:r>
              <a:rPr lang="en-US" altLang="en-US" dirty="0" smtClean="0"/>
              <a:t>Condition to check</a:t>
            </a:r>
            <a:endParaRPr lang="en-IN" altLang="en-US" dirty="0" smtClean="0"/>
          </a:p>
        </p:txBody>
      </p:sp>
      <p:pic>
        <p:nvPicPr>
          <p:cNvPr id="614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0" y="1965325"/>
            <a:ext cx="5111750" cy="2608263"/>
          </a:xfrm>
        </p:spPr>
      </p:pic>
      <p:sp>
        <p:nvSpPr>
          <p:cNvPr id="6148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199" y="2266950"/>
            <a:ext cx="3008313" cy="2817813"/>
          </a:xfrm>
        </p:spPr>
        <p:txBody>
          <a:bodyPr/>
          <a:lstStyle/>
          <a:p>
            <a:r>
              <a:rPr lang="en-US" altLang="en-US" sz="1800" dirty="0" smtClean="0"/>
              <a:t>Is initial state and final state same in both?</a:t>
            </a:r>
          </a:p>
          <a:p>
            <a:r>
              <a:rPr lang="en-US" altLang="en-US" sz="1800" dirty="0" smtClean="0"/>
              <a:t>Later check all state in both, weather have IS-IS relationship or FS-FS relationship?</a:t>
            </a:r>
          </a:p>
          <a:p>
            <a:endParaRPr lang="en-US" altLang="en-US" sz="1800" dirty="0" smtClean="0"/>
          </a:p>
          <a:p>
            <a:r>
              <a:rPr lang="en-US" altLang="en-US" sz="1800" dirty="0" smtClean="0"/>
              <a:t>IS= Intermediate state</a:t>
            </a:r>
          </a:p>
          <a:p>
            <a:r>
              <a:rPr lang="en-US" altLang="en-US" sz="1800" dirty="0" smtClean="0"/>
              <a:t>FS= Final State</a:t>
            </a:r>
          </a:p>
          <a:p>
            <a:endParaRPr lang="en-IN" altLang="en-US" sz="18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66134"/>
              </p:ext>
            </p:extLst>
          </p:nvPr>
        </p:nvGraphicFramePr>
        <p:xfrm>
          <a:off x="1309254" y="4889357"/>
          <a:ext cx="60960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875808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176217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425106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State</a:t>
                      </a:r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362896934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q0q3</a:t>
                      </a:r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q0q3</a:t>
                      </a:r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q1q4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784426017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FS - FS</a:t>
                      </a:r>
                      <a:endParaRPr lang="en-IN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IS - IS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8271848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147455" y="983673"/>
            <a:ext cx="4184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Equivalent DFA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33357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  <a:endParaRPr lang="en-IN" altLang="en-US" smtClean="0"/>
          </a:p>
        </p:txBody>
      </p:sp>
      <p:pic>
        <p:nvPicPr>
          <p:cNvPr id="717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0772" y="1825336"/>
            <a:ext cx="5553075" cy="4343400"/>
          </a:xfrm>
        </p:spPr>
      </p:pic>
    </p:spTree>
    <p:extLst>
      <p:ext uri="{BB962C8B-B14F-4D97-AF65-F5344CB8AC3E}">
        <p14:creationId xmlns:p14="http://schemas.microsoft.com/office/powerpoint/2010/main" val="767021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4668981" y="2858294"/>
            <a:ext cx="26630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</a:pPr>
            <a:r>
              <a:rPr lang="en-US" sz="2800" i="0" u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Any Question??</a:t>
            </a:r>
            <a:r>
              <a:rPr lang="en-US" dirty="0"/>
              <a:t/>
            </a:r>
            <a:br>
              <a:rPr lang="en-US" dirty="0"/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098" y="1781176"/>
            <a:ext cx="1808162" cy="3297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1-7_23838_CSE202 Lecture zero gfg.pptx" id="{3A6F3978-4234-4001-A126-0E9575ECB730}" vid="{6FE351B5-5664-417B-9865-02ED65E2D8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2164</Words>
  <Application>Microsoft Office PowerPoint</Application>
  <PresentationFormat>On-screen Show (4:3)</PresentationFormat>
  <Paragraphs>487</Paragraphs>
  <Slides>108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7" baseType="lpstr">
      <vt:lpstr>Arial</vt:lpstr>
      <vt:lpstr>Arial Rounded</vt:lpstr>
      <vt:lpstr>Calibri</vt:lpstr>
      <vt:lpstr>Comic Sans MS</vt:lpstr>
      <vt:lpstr>Lato</vt:lpstr>
      <vt:lpstr>Tahoma</vt:lpstr>
      <vt:lpstr>Times New Roman</vt:lpstr>
      <vt:lpstr>Office Theme</vt:lpstr>
      <vt:lpstr>Equation</vt:lpstr>
      <vt:lpstr>FORMAL LANGUAGES AND AUTOMATION THEORY </vt:lpstr>
      <vt:lpstr> </vt:lpstr>
      <vt:lpstr>Cont.</vt:lpstr>
      <vt:lpstr> </vt:lpstr>
      <vt:lpstr>                                                                          Set of Accepting States</vt:lpstr>
      <vt:lpstr>Example</vt:lpstr>
      <vt:lpstr>Reading the Input</vt:lpstr>
      <vt:lpstr>PowerPoint Presentation</vt:lpstr>
      <vt:lpstr>PowerPoint Presentation</vt:lpstr>
      <vt:lpstr>PowerPoint Presentation</vt:lpstr>
      <vt:lpstr>PowerPoint Presentation</vt:lpstr>
      <vt:lpstr>Rejection</vt:lpstr>
      <vt:lpstr>PowerPoint Presentation</vt:lpstr>
      <vt:lpstr>PowerPoint Presentation</vt:lpstr>
      <vt:lpstr>PowerPoint Presentation</vt:lpstr>
      <vt:lpstr>PowerPoint Presentation</vt:lpstr>
      <vt:lpstr>Class Work</vt:lpstr>
      <vt:lpstr>MCQ</vt:lpstr>
      <vt:lpstr>Example Table Form</vt:lpstr>
      <vt:lpstr>Cont.</vt:lpstr>
      <vt:lpstr>Class Work</vt:lpstr>
      <vt:lpstr>DFA VS NFA</vt:lpstr>
      <vt:lpstr>Examples</vt:lpstr>
      <vt:lpstr>Example</vt:lpstr>
      <vt:lpstr>Answer</vt:lpstr>
      <vt:lpstr>Diagram</vt:lpstr>
      <vt:lpstr>Diagram</vt:lpstr>
      <vt:lpstr>Diagram</vt:lpstr>
      <vt:lpstr>Diagram</vt:lpstr>
      <vt:lpstr>Example</vt:lpstr>
      <vt:lpstr>Answer</vt:lpstr>
      <vt:lpstr>Example</vt:lpstr>
      <vt:lpstr>Answer</vt:lpstr>
      <vt:lpstr>Example</vt:lpstr>
      <vt:lpstr>Answer</vt:lpstr>
      <vt:lpstr>Example</vt:lpstr>
      <vt:lpstr>Cont.</vt:lpstr>
      <vt:lpstr>Answer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Lambda Transitions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Minimization of DFA</vt:lpstr>
      <vt:lpstr>Example</vt:lpstr>
      <vt:lpstr>Cont.</vt:lpstr>
      <vt:lpstr>Cont.</vt:lpstr>
      <vt:lpstr>Cont.</vt:lpstr>
      <vt:lpstr>Cont.</vt:lpstr>
      <vt:lpstr>Condition to check</vt:lpstr>
      <vt:lpstr>Example</vt:lpstr>
      <vt:lpstr>Any Question??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LANGUAGES AND AUTOMATION THEORY </dc:title>
  <cp:lastModifiedBy>Chiragkumar Aboti</cp:lastModifiedBy>
  <cp:revision>21</cp:revision>
  <dcterms:modified xsi:type="dcterms:W3CDTF">2025-09-09T14:46:51Z</dcterms:modified>
</cp:coreProperties>
</file>