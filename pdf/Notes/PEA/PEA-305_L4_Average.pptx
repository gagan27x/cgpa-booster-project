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embeddedFontLst>
    <p:embeddedFont>
      <p:font typeface="Calibri" pitchFamily="34" charset="0"/>
      <p:regular r:id="rId30"/>
      <p:bold r:id="rId31"/>
      <p:italic r:id="rId32"/>
      <p:boldItalic r:id="rId33"/>
    </p:embeddedFont>
    <p:embeddedFont>
      <p:font typeface="Book Antiqua" pitchFamily="18" charset="0"/>
      <p:regular r:id="rId34"/>
      <p:bold r:id="rId35"/>
      <p:italic r:id="rId36"/>
      <p:boldItalic r:id="rId37"/>
    </p:embeddedFont>
    <p:embeddedFont>
      <p:font typeface="Times" pitchFamily="18"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AnNFONd0G1kXzI6eK+/71D1JO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698341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22ae98d68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22ae98d6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2350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593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5378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37700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62779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00478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55361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57243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79785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26787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5119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44000" cy="928687"/>
          </a:xfrm>
          <a:prstGeom prst="rect">
            <a:avLst/>
          </a:prstGeom>
        </p:spPr>
      </p:pic>
    </p:spTree>
    <p:extLst>
      <p:ext uri="{BB962C8B-B14F-4D97-AF65-F5344CB8AC3E}">
        <p14:creationId xmlns:p14="http://schemas.microsoft.com/office/powerpoint/2010/main" val="16001181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
          <p:cNvSpPr txBox="1"/>
          <p:nvPr/>
        </p:nvSpPr>
        <p:spPr>
          <a:xfrm>
            <a:off x="673100" y="2505710"/>
            <a:ext cx="7558405" cy="179451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5200" b="1" i="0" u="none" strike="noStrike" cap="none">
                <a:solidFill>
                  <a:schemeClr val="dk1"/>
                </a:solidFill>
                <a:latin typeface="Times New Roman"/>
                <a:ea typeface="Times New Roman"/>
                <a:cs typeface="Times New Roman"/>
                <a:sym typeface="Times New Roman"/>
              </a:rPr>
              <a:t>AVERAGE- TRICKS &amp; TIPS</a:t>
            </a:r>
            <a:endParaRPr sz="5200" b="1" i="0" u="none" strike="noStrike" cap="none">
              <a:solidFill>
                <a:schemeClr val="dk1"/>
              </a:solidFill>
              <a:latin typeface="Times New Roman"/>
              <a:ea typeface="Times New Roman"/>
              <a:cs typeface="Times New Roman"/>
              <a:sym typeface="Times New Roman"/>
            </a:endParaRPr>
          </a:p>
        </p:txBody>
      </p:sp>
      <p:sp>
        <p:nvSpPr>
          <p:cNvPr id="108" name="Google Shape;108;p1"/>
          <p:cNvSpPr txBox="1"/>
          <p:nvPr/>
        </p:nvSpPr>
        <p:spPr>
          <a:xfrm>
            <a:off x="876925" y="759750"/>
            <a:ext cx="4790400" cy="725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3600" b="1" i="0" u="none" strike="noStrike" cap="none">
                <a:solidFill>
                  <a:schemeClr val="dk1"/>
                </a:solidFill>
                <a:latin typeface="Times"/>
                <a:ea typeface="Times"/>
                <a:cs typeface="Times"/>
                <a:sym typeface="Times"/>
              </a:rPr>
              <a:t>LECTURE - 4</a:t>
            </a:r>
            <a:endParaRPr sz="3600" b="1">
              <a:solidFill>
                <a:schemeClr val="dk1"/>
              </a:solidFill>
              <a:latin typeface="Times"/>
              <a:ea typeface="Times"/>
              <a:cs typeface="Times"/>
              <a:sym typeface="Time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22ae98d68c_0_0"/>
          <p:cNvSpPr txBox="1">
            <a:spLocks noGrp="1"/>
          </p:cNvSpPr>
          <p:nvPr>
            <p:ph type="title"/>
          </p:nvPr>
        </p:nvSpPr>
        <p:spPr>
          <a:xfrm>
            <a:off x="561975" y="286601"/>
            <a:ext cx="7543800" cy="11835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b="1">
                <a:latin typeface="Times New Roman"/>
                <a:ea typeface="Times New Roman"/>
                <a:cs typeface="Times New Roman"/>
                <a:sym typeface="Times New Roman"/>
              </a:rPr>
              <a:t>Contains:</a:t>
            </a:r>
            <a:endParaRPr b="1">
              <a:latin typeface="Times New Roman"/>
              <a:ea typeface="Times New Roman"/>
              <a:cs typeface="Times New Roman"/>
              <a:sym typeface="Times New Roman"/>
            </a:endParaRPr>
          </a:p>
        </p:txBody>
      </p:sp>
      <p:sp>
        <p:nvSpPr>
          <p:cNvPr id="114" name="Google Shape;114;g322ae98d68c_0_0"/>
          <p:cNvSpPr txBox="1">
            <a:spLocks noGrp="1"/>
          </p:cNvSpPr>
          <p:nvPr>
            <p:ph idx="1"/>
          </p:nvPr>
        </p:nvSpPr>
        <p:spPr>
          <a:prstGeom prst="rect">
            <a:avLst/>
          </a:prstGeom>
        </p:spPr>
        <p:txBody>
          <a:bodyPr spcFirstLastPara="1" wrap="square" lIns="0" tIns="45700" rIns="0" bIns="45700" anchor="t" anchorCtr="0">
            <a:normAutofit/>
          </a:bodyPr>
          <a:lstStyle/>
          <a:p>
            <a:pPr marL="457200" lvl="0" indent="-438150" algn="l" rtl="0">
              <a:lnSpc>
                <a:spcPct val="115000"/>
              </a:lnSpc>
              <a:spcBef>
                <a:spcPts val="0"/>
              </a:spcBef>
              <a:spcAft>
                <a:spcPts val="0"/>
              </a:spcAft>
              <a:buClr>
                <a:srgbClr val="000000"/>
              </a:buClr>
              <a:buSzPts val="3300"/>
              <a:buFont typeface="Times New Roman"/>
              <a:buChar char="●"/>
            </a:pPr>
            <a:r>
              <a:rPr lang="en-IN" sz="3300">
                <a:solidFill>
                  <a:srgbClr val="000000"/>
                </a:solidFill>
                <a:latin typeface="Times New Roman"/>
                <a:ea typeface="Times New Roman"/>
                <a:cs typeface="Times New Roman"/>
                <a:sym typeface="Times New Roman"/>
              </a:rPr>
              <a:t>Average calculations</a:t>
            </a:r>
            <a:endParaRPr sz="3300">
              <a:solidFill>
                <a:srgbClr val="000000"/>
              </a:solidFill>
              <a:latin typeface="Times New Roman"/>
              <a:ea typeface="Times New Roman"/>
              <a:cs typeface="Times New Roman"/>
              <a:sym typeface="Times New Roman"/>
            </a:endParaRPr>
          </a:p>
          <a:p>
            <a:pPr marL="457200" lvl="0" indent="-438150" algn="l" rtl="0">
              <a:lnSpc>
                <a:spcPct val="115000"/>
              </a:lnSpc>
              <a:spcBef>
                <a:spcPts val="0"/>
              </a:spcBef>
              <a:spcAft>
                <a:spcPts val="0"/>
              </a:spcAft>
              <a:buClr>
                <a:srgbClr val="000000"/>
              </a:buClr>
              <a:buSzPts val="3300"/>
              <a:buFont typeface="Times New Roman"/>
              <a:buChar char="●"/>
            </a:pPr>
            <a:r>
              <a:rPr lang="en-IN" sz="3300">
                <a:solidFill>
                  <a:srgbClr val="000000"/>
                </a:solidFill>
                <a:latin typeface="Times New Roman"/>
                <a:ea typeface="Times New Roman"/>
                <a:cs typeface="Times New Roman"/>
                <a:sym typeface="Times New Roman"/>
              </a:rPr>
              <a:t>Inclusion and exclusion(replacement problems)</a:t>
            </a:r>
            <a:endParaRPr sz="3300">
              <a:solidFill>
                <a:srgbClr val="000000"/>
              </a:solidFill>
              <a:latin typeface="Times New Roman"/>
              <a:ea typeface="Times New Roman"/>
              <a:cs typeface="Times New Roman"/>
              <a:sym typeface="Times New Roman"/>
            </a:endParaRPr>
          </a:p>
          <a:p>
            <a:pPr marL="457200" lvl="0" indent="-438150" algn="l" rtl="0">
              <a:lnSpc>
                <a:spcPct val="115000"/>
              </a:lnSpc>
              <a:spcBef>
                <a:spcPts val="0"/>
              </a:spcBef>
              <a:spcAft>
                <a:spcPts val="0"/>
              </a:spcAft>
              <a:buClr>
                <a:srgbClr val="000000"/>
              </a:buClr>
              <a:buSzPts val="3300"/>
              <a:buFont typeface="Times New Roman"/>
              <a:buChar char="●"/>
            </a:pPr>
            <a:r>
              <a:rPr lang="en-IN" sz="3300">
                <a:solidFill>
                  <a:srgbClr val="000000"/>
                </a:solidFill>
                <a:latin typeface="Times New Roman"/>
                <a:ea typeface="Times New Roman"/>
                <a:cs typeface="Times New Roman"/>
                <a:sym typeface="Times New Roman"/>
              </a:rPr>
              <a:t>Weighted average</a:t>
            </a:r>
            <a:endParaRPr sz="3300">
              <a:solidFill>
                <a:srgbClr val="000000"/>
              </a:solidFill>
              <a:latin typeface="Times New Roman"/>
              <a:ea typeface="Times New Roman"/>
              <a:cs typeface="Times New Roman"/>
              <a:sym typeface="Times New Roman"/>
            </a:endParaRPr>
          </a:p>
          <a:p>
            <a:pPr marL="457200" lvl="0" indent="-438150" algn="l" rtl="0">
              <a:lnSpc>
                <a:spcPct val="115000"/>
              </a:lnSpc>
              <a:spcBef>
                <a:spcPts val="0"/>
              </a:spcBef>
              <a:spcAft>
                <a:spcPts val="0"/>
              </a:spcAft>
              <a:buClr>
                <a:srgbClr val="000000"/>
              </a:buClr>
              <a:buSzPts val="3300"/>
              <a:buFont typeface="Times New Roman"/>
              <a:buChar char="●"/>
            </a:pPr>
            <a:endParaRPr sz="3300">
              <a:solidFill>
                <a:srgbClr val="000000"/>
              </a:solidFill>
              <a:latin typeface="Times New Roman"/>
              <a:ea typeface="Times New Roman"/>
              <a:cs typeface="Times New Roman"/>
              <a:sym typeface="Times New Roman"/>
            </a:endParaRPr>
          </a:p>
          <a:p>
            <a:pPr marL="0" lvl="0" indent="0" algn="l" rtl="0">
              <a:spcBef>
                <a:spcPts val="1200"/>
              </a:spcBef>
              <a:spcAft>
                <a:spcPts val="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2"/>
          <p:cNvPicPr preferRelativeResize="0"/>
          <p:nvPr/>
        </p:nvPicPr>
        <p:blipFill rotWithShape="1">
          <a:blip r:embed="rId3">
            <a:alphaModFix/>
          </a:blip>
          <a:srcRect/>
          <a:stretch/>
        </p:blipFill>
        <p:spPr>
          <a:xfrm>
            <a:off x="1" y="969817"/>
            <a:ext cx="9143999" cy="57912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3"/>
          <p:cNvPicPr preferRelativeResize="0"/>
          <p:nvPr/>
        </p:nvPicPr>
        <p:blipFill rotWithShape="1">
          <a:blip r:embed="rId3">
            <a:alphaModFix/>
          </a:blip>
          <a:srcRect/>
          <a:stretch/>
        </p:blipFill>
        <p:spPr>
          <a:xfrm>
            <a:off x="0" y="1080654"/>
            <a:ext cx="9144000" cy="57773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p:nvPr/>
        </p:nvSpPr>
        <p:spPr>
          <a:xfrm>
            <a:off x="288099" y="578143"/>
            <a:ext cx="85677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600" b="1">
                <a:solidFill>
                  <a:schemeClr val="dk1"/>
                </a:solidFill>
                <a:latin typeface="Book Antiqua"/>
                <a:ea typeface="Book Antiqua"/>
                <a:cs typeface="Book Antiqua"/>
                <a:sym typeface="Book Antiqua"/>
              </a:rPr>
              <a:t>Average if terms are in A.P or consecutives </a:t>
            </a:r>
            <a:endParaRPr sz="3600" b="1">
              <a:solidFill>
                <a:schemeClr val="dk1"/>
              </a:solidFill>
              <a:latin typeface="Book Antiqua"/>
              <a:ea typeface="Book Antiqua"/>
              <a:cs typeface="Book Antiqua"/>
              <a:sym typeface="Book Antiqua"/>
            </a:endParaRPr>
          </a:p>
        </p:txBody>
      </p:sp>
      <p:sp>
        <p:nvSpPr>
          <p:cNvPr id="130" name="Google Shape;130;p4"/>
          <p:cNvSpPr txBox="1"/>
          <p:nvPr/>
        </p:nvSpPr>
        <p:spPr>
          <a:xfrm>
            <a:off x="183959" y="2185727"/>
            <a:ext cx="8567700" cy="1662300"/>
          </a:xfrm>
          <a:prstGeom prst="rect">
            <a:avLst/>
          </a:prstGeom>
          <a:noFill/>
          <a:ln>
            <a:noFill/>
          </a:ln>
        </p:spPr>
        <p:txBody>
          <a:bodyPr spcFirstLastPara="1" wrap="square" lIns="91425" tIns="45700" rIns="91425" bIns="45700" anchor="t" anchorCtr="0">
            <a:spAutoFit/>
          </a:bodyPr>
          <a:lstStyle/>
          <a:p>
            <a:pPr marL="457200" marR="0" lvl="0" indent="0" algn="just" rtl="0">
              <a:spcBef>
                <a:spcPts val="0"/>
              </a:spcBef>
              <a:spcAft>
                <a:spcPts val="0"/>
              </a:spcAft>
              <a:buNone/>
            </a:pPr>
            <a:r>
              <a:rPr lang="en-IN" sz="3400">
                <a:solidFill>
                  <a:schemeClr val="dk1"/>
                </a:solidFill>
                <a:latin typeface="Book Antiqua"/>
                <a:ea typeface="Book Antiqua"/>
                <a:cs typeface="Book Antiqua"/>
                <a:sym typeface="Book Antiqua"/>
              </a:rPr>
              <a:t>If the terms are consecutives or are in A.P then average is always the middle term </a:t>
            </a:r>
            <a:endParaRPr sz="3400">
              <a:solidFill>
                <a:schemeClr val="dk1"/>
              </a:solidFill>
              <a:latin typeface="Book Antiqua"/>
              <a:ea typeface="Book Antiqua"/>
              <a:cs typeface="Book Antiqua"/>
              <a:sym typeface="Book Antiqu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txBox="1"/>
          <p:nvPr/>
        </p:nvSpPr>
        <p:spPr>
          <a:xfrm>
            <a:off x="176872" y="717049"/>
            <a:ext cx="8770512" cy="47089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Find the average of all even numbers up to 100.</a:t>
            </a: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51</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52</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55</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p:nvPr/>
        </p:nvSpPr>
        <p:spPr>
          <a:xfrm>
            <a:off x="186744" y="595522"/>
            <a:ext cx="8770512" cy="47089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Find the average of 13, 16, 19, 22, 25, 28</a:t>
            </a: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22</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19</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19.5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20.5</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7"/>
          <p:cNvSpPr txBox="1"/>
          <p:nvPr/>
        </p:nvSpPr>
        <p:spPr>
          <a:xfrm>
            <a:off x="186744" y="749789"/>
            <a:ext cx="8770512" cy="52629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If the average of 5 consecutive number is 21. Find the largest number.</a:t>
            </a: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22</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23</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24</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25</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txBox="1"/>
          <p:nvPr/>
        </p:nvSpPr>
        <p:spPr>
          <a:xfrm>
            <a:off x="169522" y="780213"/>
            <a:ext cx="8804953" cy="391511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Question : If the average of 5 consecutive odd number is 25, then find the smallest number.</a:t>
            </a:r>
            <a:endParaRPr sz="2400" dirty="0">
              <a:solidFill>
                <a:schemeClr val="dk1"/>
              </a:solidFill>
              <a:latin typeface="Book Antiqua"/>
              <a:ea typeface="Book Antiqua"/>
              <a:cs typeface="Book Antiqua"/>
              <a:sym typeface="Book Antiqua"/>
            </a:endParaRPr>
          </a:p>
          <a:p>
            <a:pPr marL="0" marR="0" lvl="0" indent="0" algn="l"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
            </a:r>
            <a:br>
              <a:rPr lang="en-IN" sz="2400" dirty="0">
                <a:solidFill>
                  <a:schemeClr val="dk1"/>
                </a:solidFill>
                <a:latin typeface="Book Antiqua"/>
                <a:ea typeface="Book Antiqua"/>
                <a:cs typeface="Book Antiqua"/>
                <a:sym typeface="Book Antiqua"/>
              </a:rPr>
            </a:br>
            <a:r>
              <a:rPr lang="en-IN" sz="2400" dirty="0">
                <a:solidFill>
                  <a:schemeClr val="dk1"/>
                </a:solidFill>
                <a:latin typeface="Book Antiqua"/>
                <a:ea typeface="Book Antiqua"/>
                <a:cs typeface="Book Antiqua"/>
                <a:sym typeface="Book Antiqua"/>
              </a:rPr>
              <a:t>(a) 23</a:t>
            </a:r>
            <a:br>
              <a:rPr lang="en-IN" sz="2400" dirty="0">
                <a:solidFill>
                  <a:schemeClr val="dk1"/>
                </a:solidFill>
                <a:latin typeface="Book Antiqua"/>
                <a:ea typeface="Book Antiqua"/>
                <a:cs typeface="Book Antiqua"/>
                <a:sym typeface="Book Antiqua"/>
              </a:rPr>
            </a:br>
            <a:r>
              <a:rPr lang="en-IN" sz="2400" dirty="0">
                <a:solidFill>
                  <a:schemeClr val="dk1"/>
                </a:solidFill>
                <a:latin typeface="Book Antiqua"/>
                <a:ea typeface="Book Antiqua"/>
                <a:cs typeface="Book Antiqua"/>
                <a:sym typeface="Book Antiqua"/>
              </a:rPr>
              <a:t>(b) 21</a:t>
            </a:r>
            <a:br>
              <a:rPr lang="en-IN" sz="2400" dirty="0">
                <a:solidFill>
                  <a:schemeClr val="dk1"/>
                </a:solidFill>
                <a:latin typeface="Book Antiqua"/>
                <a:ea typeface="Book Antiqua"/>
                <a:cs typeface="Book Antiqua"/>
                <a:sym typeface="Book Antiqua"/>
              </a:rPr>
            </a:br>
            <a:r>
              <a:rPr lang="en-IN" sz="2400" dirty="0">
                <a:solidFill>
                  <a:schemeClr val="dk1"/>
                </a:solidFill>
                <a:latin typeface="Book Antiqua"/>
                <a:ea typeface="Book Antiqua"/>
                <a:cs typeface="Book Antiqua"/>
                <a:sym typeface="Book Antiqua"/>
              </a:rPr>
              <a:t>(c) 29</a:t>
            </a:r>
            <a:br>
              <a:rPr lang="en-IN" sz="2400" dirty="0">
                <a:solidFill>
                  <a:schemeClr val="dk1"/>
                </a:solidFill>
                <a:latin typeface="Book Antiqua"/>
                <a:ea typeface="Book Antiqua"/>
                <a:cs typeface="Book Antiqua"/>
                <a:sym typeface="Book Antiqua"/>
              </a:rPr>
            </a:br>
            <a:r>
              <a:rPr lang="en-IN" sz="2400" dirty="0">
                <a:solidFill>
                  <a:schemeClr val="dk1"/>
                </a:solidFill>
                <a:latin typeface="Book Antiqua"/>
                <a:ea typeface="Book Antiqua"/>
                <a:cs typeface="Book Antiqua"/>
                <a:sym typeface="Book Antiqua"/>
              </a:rPr>
              <a:t>(d) 19</a:t>
            </a:r>
            <a:endParaRPr sz="24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p:nvPr/>
        </p:nvSpPr>
        <p:spPr>
          <a:xfrm>
            <a:off x="104551" y="808788"/>
            <a:ext cx="8770512" cy="360094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Find the average of first 100 natural numbers</a:t>
            </a:r>
            <a:r>
              <a:rPr lang="en-IN" sz="2400" dirty="0" smtClean="0">
                <a:solidFill>
                  <a:srgbClr val="000000"/>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51</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49</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p:nvPr/>
        </p:nvSpPr>
        <p:spPr>
          <a:xfrm>
            <a:off x="186744" y="1011158"/>
            <a:ext cx="8770512" cy="360094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Find the average of first 100 whole numbers</a:t>
            </a:r>
            <a:r>
              <a:rPr lang="en-IN" sz="2400" dirty="0" smtClean="0">
                <a:solidFill>
                  <a:srgbClr val="000000"/>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49.5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49</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p:nvPr/>
        </p:nvSpPr>
        <p:spPr>
          <a:xfrm>
            <a:off x="186744" y="1093171"/>
            <a:ext cx="8770512"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 average of first 10 even numbers is</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18</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22</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9</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11</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txBox="1"/>
          <p:nvPr/>
        </p:nvSpPr>
        <p:spPr>
          <a:xfrm>
            <a:off x="269841" y="1253136"/>
            <a:ext cx="8770512"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Find the average of first 17 multiples of 5</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85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60</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3"/>
          <p:cNvSpPr txBox="1">
            <a:spLocks noGrp="1"/>
          </p:cNvSpPr>
          <p:nvPr>
            <p:ph type="title"/>
          </p:nvPr>
        </p:nvSpPr>
        <p:spPr>
          <a:xfrm>
            <a:off x="800100" y="1726565"/>
            <a:ext cx="7543800" cy="20447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IN" b="1" dirty="0">
                <a:latin typeface="Times New Roman" pitchFamily="18" charset="0"/>
                <a:cs typeface="Times New Roman" pitchFamily="18" charset="0"/>
              </a:rPr>
              <a:t>INCLUSION AND</a:t>
            </a:r>
            <a:br>
              <a:rPr lang="en-IN" b="1" dirty="0">
                <a:latin typeface="Times New Roman" pitchFamily="18" charset="0"/>
                <a:cs typeface="Times New Roman" pitchFamily="18" charset="0"/>
              </a:rPr>
            </a:br>
            <a:r>
              <a:rPr lang="en-IN" b="1" dirty="0">
                <a:latin typeface="Times New Roman" pitchFamily="18" charset="0"/>
                <a:cs typeface="Times New Roman" pitchFamily="18" charset="0"/>
              </a:rPr>
              <a:t>EXCLUSION</a:t>
            </a:r>
            <a:endParaRPr b="1"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p:nvPr/>
        </p:nvSpPr>
        <p:spPr>
          <a:xfrm>
            <a:off x="186744" y="886691"/>
            <a:ext cx="8770512" cy="581697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 average age of a committee of 12 members is 48 Years. A member of age 62 retired and in place a new person aged 26 joined the committee. Find the new average of the committee. </a:t>
            </a:r>
            <a:endParaRPr sz="2400" dirty="0">
              <a:solidFill>
                <a:schemeClr val="dk1"/>
              </a:solidFill>
              <a:latin typeface="Book Antiqua"/>
              <a:ea typeface="Book Antiqua"/>
              <a:cs typeface="Book Antiqua"/>
              <a:sym typeface="Book Antiqua"/>
            </a:endParaRPr>
          </a:p>
          <a:p>
            <a:pPr marL="0" marR="0" lvl="0" indent="0" algn="l" rtl="0">
              <a:lnSpc>
                <a:spcPct val="150000"/>
              </a:lnSpc>
              <a:spcBef>
                <a:spcPts val="0"/>
              </a:spcBef>
              <a:spcAft>
                <a:spcPts val="0"/>
              </a:spcAft>
              <a:buNone/>
            </a:pPr>
            <a:endParaRPr sz="2400" dirty="0">
              <a:solidFill>
                <a:schemeClr val="dk1"/>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44</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46</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47</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p:nvPr/>
        </p:nvSpPr>
        <p:spPr>
          <a:xfrm>
            <a:off x="95180" y="942109"/>
            <a:ext cx="8770512" cy="526293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 average age of 10 members in a committee is increased by 3 years when two men whose ages are 25 years and 35 years are replaced by two new men. Find the average age of two new men</a:t>
            </a:r>
            <a:r>
              <a:rPr lang="en-IN" sz="2400" dirty="0" smtClean="0">
                <a:solidFill>
                  <a:schemeClr val="dk1"/>
                </a:solidFill>
                <a:latin typeface="Book Antiqua"/>
                <a:ea typeface="Book Antiqua"/>
                <a:cs typeface="Book Antiqua"/>
                <a:sym typeface="Book Antiqua"/>
              </a:rPr>
              <a:t>.</a:t>
            </a:r>
            <a:endParaRPr sz="2400" dirty="0">
              <a:solidFill>
                <a:schemeClr val="dk1"/>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48</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52</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6"/>
          <p:cNvSpPr txBox="1"/>
          <p:nvPr/>
        </p:nvSpPr>
        <p:spPr>
          <a:xfrm>
            <a:off x="143838" y="1025236"/>
            <a:ext cx="8733034" cy="502368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Question: If A batsman score 36 runs  in his 18th innings so that his average is reduced by 3 run. Find the average of batsman in 18th  inning.</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(a) 90</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(b) 85</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(c) 87</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(d) None </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7"/>
          <p:cNvSpPr txBox="1"/>
          <p:nvPr/>
        </p:nvSpPr>
        <p:spPr>
          <a:xfrm>
            <a:off x="164387" y="1000173"/>
            <a:ext cx="8815226" cy="446968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Question: A baller whose balling average is 12.4 runs/wicket. He played his next match and takes 5 wickets for 26 runs; therefore, his average is reduced by 0.4. Find the total number of wickets taken by the baller.</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(a) 80</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(b) 85</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(c) 90</a:t>
            </a:r>
            <a:endParaRPr sz="2400" dirty="0">
              <a:solidFill>
                <a:schemeClr val="dk1"/>
              </a:solidFill>
              <a:latin typeface="Book Antiqua"/>
              <a:ea typeface="Book Antiqua"/>
              <a:cs typeface="Book Antiqua"/>
              <a:sym typeface="Book Antiqua"/>
            </a:endParaRPr>
          </a:p>
          <a:p>
            <a:pPr marL="0" marR="0" lvl="0" indent="0" algn="just" rtl="0">
              <a:lnSpc>
                <a:spcPct val="150000"/>
              </a:lnSpc>
              <a:spcBef>
                <a:spcPts val="0"/>
              </a:spcBef>
              <a:spcAft>
                <a:spcPts val="0"/>
              </a:spcAft>
              <a:buNone/>
            </a:pPr>
            <a:r>
              <a:rPr lang="en-IN" sz="2400" dirty="0">
                <a:solidFill>
                  <a:schemeClr val="dk1"/>
                </a:solidFill>
                <a:latin typeface="Book Antiqua"/>
                <a:ea typeface="Book Antiqua"/>
                <a:cs typeface="Book Antiqua"/>
                <a:sym typeface="Book Antiqua"/>
              </a:rPr>
              <a:t>(d) 75</a:t>
            </a: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8"/>
          <p:cNvSpPr txBox="1"/>
          <p:nvPr/>
        </p:nvSpPr>
        <p:spPr>
          <a:xfrm>
            <a:off x="280115" y="788276"/>
            <a:ext cx="8770512" cy="714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50" b="1">
                <a:solidFill>
                  <a:schemeClr val="dk1"/>
                </a:solidFill>
                <a:latin typeface="Calibri"/>
                <a:ea typeface="Calibri"/>
                <a:cs typeface="Calibri"/>
                <a:sym typeface="Calibri"/>
              </a:rPr>
              <a:t>WEIGHTED AVERAGE</a:t>
            </a:r>
            <a:endParaRPr sz="4050" b="1">
              <a:solidFill>
                <a:schemeClr val="dk1"/>
              </a:solidFill>
              <a:latin typeface="Calibri"/>
              <a:ea typeface="Calibri"/>
              <a:cs typeface="Calibri"/>
              <a:sym typeface="Calibri"/>
            </a:endParaRPr>
          </a:p>
        </p:txBody>
      </p:sp>
      <p:sp>
        <p:nvSpPr>
          <p:cNvPr id="201" name="Google Shape;201;p18"/>
          <p:cNvSpPr txBox="1"/>
          <p:nvPr/>
        </p:nvSpPr>
        <p:spPr>
          <a:xfrm>
            <a:off x="714778" y="1963256"/>
            <a:ext cx="1506828"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Class A</a:t>
            </a:r>
            <a:endParaRPr sz="2400">
              <a:solidFill>
                <a:schemeClr val="dk1"/>
              </a:solidFill>
              <a:latin typeface="Book Antiqua"/>
              <a:ea typeface="Book Antiqua"/>
              <a:cs typeface="Book Antiqua"/>
              <a:sym typeface="Book Antiqua"/>
            </a:endParaRPr>
          </a:p>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0</a:t>
            </a:r>
            <a:endParaRPr sz="2400">
              <a:solidFill>
                <a:schemeClr val="dk1"/>
              </a:solidFill>
              <a:latin typeface="Book Antiqua"/>
              <a:ea typeface="Book Antiqua"/>
              <a:cs typeface="Book Antiqua"/>
              <a:sym typeface="Book Antiqua"/>
            </a:endParaRPr>
          </a:p>
        </p:txBody>
      </p:sp>
      <p:sp>
        <p:nvSpPr>
          <p:cNvPr id="202" name="Google Shape;202;p18"/>
          <p:cNvSpPr txBox="1"/>
          <p:nvPr/>
        </p:nvSpPr>
        <p:spPr>
          <a:xfrm>
            <a:off x="6102126" y="1963256"/>
            <a:ext cx="13716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Class B</a:t>
            </a:r>
            <a:endParaRPr sz="2400">
              <a:solidFill>
                <a:schemeClr val="dk1"/>
              </a:solidFill>
              <a:latin typeface="Book Antiqua"/>
              <a:ea typeface="Book Antiqua"/>
              <a:cs typeface="Book Antiqua"/>
              <a:sym typeface="Book Antiqua"/>
            </a:endParaRPr>
          </a:p>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100</a:t>
            </a:r>
            <a:endParaRPr sz="2400">
              <a:solidFill>
                <a:schemeClr val="dk1"/>
              </a:solidFill>
              <a:latin typeface="Book Antiqua"/>
              <a:ea typeface="Book Antiqua"/>
              <a:cs typeface="Book Antiqua"/>
              <a:sym typeface="Book Antiqua"/>
            </a:endParaRPr>
          </a:p>
        </p:txBody>
      </p:sp>
      <p:sp>
        <p:nvSpPr>
          <p:cNvPr id="203" name="Google Shape;203;p18"/>
          <p:cNvSpPr txBox="1"/>
          <p:nvPr/>
        </p:nvSpPr>
        <p:spPr>
          <a:xfrm>
            <a:off x="714778" y="3030505"/>
            <a:ext cx="7254025" cy="14080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What is the combined average?</a:t>
            </a:r>
            <a:endParaRPr sz="2400">
              <a:solidFill>
                <a:schemeClr val="dk1"/>
              </a:solidFill>
              <a:latin typeface="Book Antiqua"/>
              <a:ea typeface="Book Antiqua"/>
              <a:cs typeface="Book Antiqua"/>
              <a:sym typeface="Book Antiqua"/>
            </a:endParaRPr>
          </a:p>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50 marks??</a:t>
            </a:r>
            <a:endParaRPr sz="2400">
              <a:solidFill>
                <a:schemeClr val="dk1"/>
              </a:solidFill>
              <a:latin typeface="Book Antiqua"/>
              <a:ea typeface="Book Antiqua"/>
              <a:cs typeface="Book Antiqua"/>
              <a:sym typeface="Book Antiqua"/>
            </a:endParaRPr>
          </a:p>
          <a:p>
            <a:pPr marL="0" marR="0" lvl="0" indent="0" algn="ctr" rtl="0">
              <a:spcBef>
                <a:spcPts val="0"/>
              </a:spcBef>
              <a:spcAft>
                <a:spcPts val="0"/>
              </a:spcAft>
              <a:buNone/>
            </a:pPr>
            <a:r>
              <a:rPr lang="en-IN" sz="2400">
                <a:solidFill>
                  <a:schemeClr val="dk1"/>
                </a:solidFill>
                <a:latin typeface="Book Antiqua"/>
                <a:ea typeface="Book Antiqua"/>
                <a:cs typeface="Book Antiqua"/>
                <a:sym typeface="Book Antiqua"/>
              </a:rPr>
              <a:t>NO</a:t>
            </a:r>
            <a:endParaRPr sz="2400">
              <a:solidFill>
                <a:schemeClr val="dk1"/>
              </a:solidFill>
              <a:latin typeface="Book Antiqua"/>
              <a:ea typeface="Book Antiqua"/>
              <a:cs typeface="Book Antiqua"/>
              <a:sym typeface="Book Antiqua"/>
            </a:endParaRPr>
          </a:p>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04" name="Google Shape;204;p18"/>
          <p:cNvSpPr txBox="1"/>
          <p:nvPr/>
        </p:nvSpPr>
        <p:spPr>
          <a:xfrm>
            <a:off x="143838" y="4428456"/>
            <a:ext cx="8906789" cy="22159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Book Antiqua"/>
                <a:ea typeface="Book Antiqua"/>
                <a:cs typeface="Book Antiqua"/>
                <a:sym typeface="Book Antiqua"/>
              </a:rPr>
              <a:t>We cannot determine the average without knowing the number of  students in each class</a:t>
            </a:r>
            <a:endParaRPr sz="2400">
              <a:solidFill>
                <a:schemeClr val="dk1"/>
              </a:solidFill>
              <a:latin typeface="Book Antiqua"/>
              <a:ea typeface="Book Antiqua"/>
              <a:cs typeface="Book Antiqua"/>
              <a:sym typeface="Book Antiqua"/>
            </a:endParaRPr>
          </a:p>
          <a:p>
            <a:pPr marL="0" marR="0" lvl="0" indent="0" algn="l" rtl="0">
              <a:spcBef>
                <a:spcPts val="0"/>
              </a:spcBef>
              <a:spcAft>
                <a:spcPts val="0"/>
              </a:spcAft>
              <a:buNone/>
            </a:pPr>
            <a:endParaRPr sz="2400">
              <a:solidFill>
                <a:schemeClr val="dk1"/>
              </a:solidFill>
              <a:latin typeface="Book Antiqua"/>
              <a:ea typeface="Book Antiqua"/>
              <a:cs typeface="Book Antiqua"/>
              <a:sym typeface="Book Antiqua"/>
            </a:endParaRPr>
          </a:p>
          <a:p>
            <a:pPr marL="0" marR="0" lvl="0" indent="0" algn="l" rtl="0">
              <a:spcBef>
                <a:spcPts val="0"/>
              </a:spcBef>
              <a:spcAft>
                <a:spcPts val="0"/>
              </a:spcAft>
              <a:buNone/>
            </a:pPr>
            <a:r>
              <a:rPr lang="en-IN" sz="2400">
                <a:solidFill>
                  <a:schemeClr val="dk1"/>
                </a:solidFill>
                <a:latin typeface="Book Antiqua"/>
                <a:ea typeface="Book Antiqua"/>
                <a:cs typeface="Book Antiqua"/>
                <a:sym typeface="Book Antiqua"/>
              </a:rPr>
              <a:t>The combined average depends on the number of students and the average in each class</a:t>
            </a:r>
            <a:endParaRPr sz="2400">
              <a:solidFill>
                <a:schemeClr val="dk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19"/>
          <p:cNvPicPr preferRelativeResize="0"/>
          <p:nvPr/>
        </p:nvPicPr>
        <p:blipFill rotWithShape="1">
          <a:blip r:embed="rId3">
            <a:alphaModFix/>
          </a:blip>
          <a:srcRect/>
          <a:stretch/>
        </p:blipFill>
        <p:spPr>
          <a:xfrm>
            <a:off x="0" y="1052945"/>
            <a:ext cx="9144000" cy="47798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0"/>
          <p:cNvSpPr txBox="1"/>
          <p:nvPr/>
        </p:nvSpPr>
        <p:spPr>
          <a:xfrm>
            <a:off x="114825" y="955964"/>
            <a:ext cx="8770512" cy="45473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There are 36 students in a class A whose average weight is 30kg and 24 students in class B whose average is 40kg. What will be the average if the classes are combined</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34</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36</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32</a:t>
            </a:r>
            <a:endParaRPr sz="2400" dirty="0">
              <a:solidFill>
                <a:srgbClr val="000000"/>
              </a:solidFill>
              <a:latin typeface="Book Antiqua"/>
              <a:ea typeface="Book Antiqua"/>
              <a:cs typeface="Book Antiqua"/>
              <a:sym typeface="Book Antiqua"/>
            </a:endParaRPr>
          </a:p>
          <a:p>
            <a:pPr marL="0" marR="0" lvl="0" indent="0" algn="just" rtl="0">
              <a:spcBef>
                <a:spcPts val="0"/>
              </a:spcBef>
              <a:spcAft>
                <a:spcPts val="0"/>
              </a:spcAft>
              <a:buNone/>
            </a:pPr>
            <a:endParaRPr sz="1350" dirty="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1"/>
          <p:cNvSpPr txBox="1"/>
          <p:nvPr/>
        </p:nvSpPr>
        <p:spPr>
          <a:xfrm>
            <a:off x="186744" y="775855"/>
            <a:ext cx="8770512" cy="470894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There are 63 students in a class A whose average weight is 32kg and 21 students in class B whose average is 44kg. What will be the average if the classes are combined</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33</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36</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38</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2"/>
          <p:cNvSpPr txBox="1"/>
          <p:nvPr/>
        </p:nvSpPr>
        <p:spPr>
          <a:xfrm>
            <a:off x="84906" y="1225689"/>
            <a:ext cx="8770512" cy="470894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In a class there are 20 boys and 40 girls</a:t>
            </a:r>
            <a:r>
              <a:rPr lang="en-IN" sz="2400" dirty="0">
                <a:solidFill>
                  <a:schemeClr val="dk1"/>
                </a:solidFill>
                <a:latin typeface="Book Antiqua"/>
                <a:ea typeface="Book Antiqua"/>
                <a:cs typeface="Book Antiqua"/>
                <a:sym typeface="Book Antiqua"/>
              </a:rPr>
              <a:t>. The average age of boys is 18 years and that of girls is 15 years. What will be the average age of the whole class</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16.5 Years</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17 years</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16 years</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14.2 Years</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3"/>
          <p:cNvSpPr txBox="1"/>
          <p:nvPr/>
        </p:nvSpPr>
        <p:spPr>
          <a:xfrm>
            <a:off x="186744" y="1041023"/>
            <a:ext cx="8770512" cy="526293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The average of marks obtained by 120 candidates was 35. If the average of passed candidate was 39 and that of failed candidate was 15, the number of candidates who passed the examination is</a:t>
            </a:r>
            <a:r>
              <a:rPr lang="en-IN" sz="2400" dirty="0" smtClean="0">
                <a:solidFill>
                  <a:schemeClr val="dk1"/>
                </a:solidFill>
                <a:latin typeface="Book Antiqua"/>
                <a:ea typeface="Book Antiqua"/>
                <a:cs typeface="Book Antiqua"/>
                <a:sym typeface="Book Antiqua"/>
              </a:rPr>
              <a:t>?</a:t>
            </a: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100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110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120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150</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p:nvPr/>
        </p:nvSpPr>
        <p:spPr>
          <a:xfrm>
            <a:off x="186744" y="888624"/>
            <a:ext cx="8770512" cy="581697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A teacher while calculating the average marks of 30 students of an examination, by mistake enter a student’s marks as 68, instead of 86 and obtained the average as 58. Find the actual average.</a:t>
            </a:r>
            <a:endParaRPr sz="2400" dirty="0">
              <a:solidFill>
                <a:schemeClr val="dk1"/>
              </a:solidFill>
              <a:latin typeface="Book Antiqua"/>
              <a:ea typeface="Book Antiqua"/>
              <a:cs typeface="Book Antiqua"/>
              <a:sym typeface="Book Antiqua"/>
            </a:endParaRPr>
          </a:p>
          <a:p>
            <a:pPr marL="0" marR="0" lvl="0" indent="0" algn="l" rtl="0">
              <a:lnSpc>
                <a:spcPct val="150000"/>
              </a:lnSpc>
              <a:spcBef>
                <a:spcPts val="0"/>
              </a:spcBef>
              <a:spcAft>
                <a:spcPts val="0"/>
              </a:spcAft>
              <a:buNone/>
            </a:pPr>
            <a:endParaRPr sz="2400" dirty="0">
              <a:solidFill>
                <a:schemeClr val="dk1"/>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59</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60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58.6</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60.5</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p:nvPr/>
        </p:nvSpPr>
        <p:spPr>
          <a:xfrm>
            <a:off x="186744" y="942109"/>
            <a:ext cx="8770512" cy="470894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dirty="0">
                <a:solidFill>
                  <a:srgbClr val="000000"/>
                </a:solidFill>
                <a:latin typeface="Book Antiqua"/>
                <a:ea typeface="Book Antiqua"/>
                <a:cs typeface="Book Antiqua"/>
                <a:sym typeface="Book Antiqua"/>
              </a:rPr>
              <a:t>Question : </a:t>
            </a:r>
            <a:r>
              <a:rPr lang="en-IN" sz="2400" dirty="0">
                <a:solidFill>
                  <a:schemeClr val="dk1"/>
                </a:solidFill>
                <a:latin typeface="Book Antiqua"/>
                <a:ea typeface="Book Antiqua"/>
                <a:cs typeface="Book Antiqua"/>
                <a:sym typeface="Book Antiqua"/>
              </a:rPr>
              <a:t>A Student’s marks were wrongly entered as 83 instead of 63. Due to that the average marks of the class got increased by 2. The number of students in class is</a:t>
            </a:r>
            <a:r>
              <a:rPr lang="en-IN" sz="2400" dirty="0" smtClean="0">
                <a:solidFill>
                  <a:schemeClr val="dk1"/>
                </a:solidFill>
                <a:latin typeface="Book Antiqua"/>
                <a:ea typeface="Book Antiqua"/>
                <a:cs typeface="Book Antiqua"/>
                <a:sym typeface="Book Antiqua"/>
              </a:rPr>
              <a:t>?</a:t>
            </a:r>
            <a:endParaRPr sz="2400" dirty="0">
              <a:solidFill>
                <a:schemeClr val="dk1"/>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10</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12</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15</a:t>
            </a:r>
            <a:endParaRPr sz="2400" dirty="0">
              <a:solidFill>
                <a:srgbClr val="000000"/>
              </a:solidFill>
              <a:latin typeface="Book Antiqua"/>
              <a:ea typeface="Book Antiqua"/>
              <a:cs typeface="Book Antiqua"/>
              <a:sym typeface="Book Antiqua"/>
            </a:endParaRPr>
          </a:p>
          <a:p>
            <a:pPr marL="257175" marR="0" lvl="0" indent="-104775" algn="just" rtl="0">
              <a:spcBef>
                <a:spcPts val="0"/>
              </a:spcBef>
              <a:spcAft>
                <a:spcPts val="0"/>
              </a:spcAft>
              <a:buClr>
                <a:schemeClr val="dk1"/>
              </a:buClr>
              <a:buSzPts val="2400"/>
              <a:buFont typeface="Calibri"/>
              <a:buNone/>
            </a:pPr>
            <a:endParaRPr sz="2400" dirty="0">
              <a:solidFill>
                <a:srgbClr val="000000"/>
              </a:solidFill>
              <a:latin typeface="Book Antiqua"/>
              <a:ea typeface="Book Antiqua"/>
              <a:cs typeface="Book Antiqua"/>
              <a:sym typeface="Book Antiqua"/>
            </a:endParaRPr>
          </a:p>
          <a:p>
            <a:pPr marL="257175" marR="0" lvl="0" indent="-257175" algn="just" rtl="0">
              <a:spcBef>
                <a:spcPts val="0"/>
              </a:spcBef>
              <a:spcAft>
                <a:spcPts val="0"/>
              </a:spcAft>
              <a:buClr>
                <a:srgbClr val="000000"/>
              </a:buClr>
              <a:buSzPts val="2400"/>
              <a:buFont typeface="Book Antiqua"/>
              <a:buAutoNum type="alphaLcParenBoth"/>
            </a:pPr>
            <a:r>
              <a:rPr lang="en-IN" sz="2400" dirty="0">
                <a:solidFill>
                  <a:srgbClr val="000000"/>
                </a:solidFill>
                <a:latin typeface="Book Antiqua"/>
                <a:ea typeface="Book Antiqua"/>
                <a:cs typeface="Book Antiqua"/>
                <a:sym typeface="Book Antiqua"/>
              </a:rPr>
              <a:t> 18</a:t>
            </a:r>
            <a:endParaRPr sz="2400" dirty="0">
              <a:solidFill>
                <a:srgbClr val="000000"/>
              </a:solidFill>
              <a:latin typeface="Book Antiqua"/>
              <a:ea typeface="Book Antiqua"/>
              <a:cs typeface="Book Antiqua"/>
              <a:sym typeface="Book Antiqua"/>
            </a:endParaRPr>
          </a:p>
          <a:p>
            <a:pPr marL="0" marR="0" lvl="0" indent="0" algn="l" rtl="0">
              <a:spcBef>
                <a:spcPts val="0"/>
              </a:spcBef>
              <a:spcAft>
                <a:spcPts val="0"/>
              </a:spcAft>
              <a:buNone/>
            </a:pPr>
            <a:endParaRPr sz="2400" dirty="0">
              <a:solidFill>
                <a:schemeClr val="dk1"/>
              </a:solidFill>
              <a:latin typeface="Book Antiqua"/>
              <a:ea typeface="Book Antiqua"/>
              <a:cs typeface="Book Antiqua"/>
              <a:sym typeface="Book Antiqu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pic>
        <p:nvPicPr>
          <p:cNvPr id="244" name="Google Shape;244;p26" descr="30 Best Ways to Say Thank You for Your Response | FutureofWorking.com"/>
          <p:cNvPicPr preferRelativeResize="0"/>
          <p:nvPr/>
        </p:nvPicPr>
        <p:blipFill rotWithShape="1">
          <a:blip r:embed="rId3">
            <a:alphaModFix/>
          </a:blip>
          <a:srcRect/>
          <a:stretch/>
        </p:blipFill>
        <p:spPr>
          <a:xfrm>
            <a:off x="707517" y="1876004"/>
            <a:ext cx="7752969" cy="310118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746</Words>
  <Application>Microsoft Office PowerPoint</Application>
  <PresentationFormat>On-screen Show (4:3)</PresentationFormat>
  <Paragraphs>161</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Times New Roman</vt:lpstr>
      <vt:lpstr>Book Antiqua</vt:lpstr>
      <vt:lpstr>Times</vt:lpstr>
      <vt:lpstr>Office Theme</vt:lpstr>
      <vt:lpstr>PowerPoint Presentation</vt:lpstr>
      <vt:lpstr>Contains: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INCLUSION AND EXCLUSION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asif</dc:creator>
  <cp:lastModifiedBy>Dell</cp:lastModifiedBy>
  <cp:revision>3</cp:revision>
  <dcterms:created xsi:type="dcterms:W3CDTF">2025-01-03T10:06:13Z</dcterms:created>
  <dcterms:modified xsi:type="dcterms:W3CDTF">2025-01-11T08:24:53Z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1E0E27396D78663595B577676CDA9AD7_42</vt:lpwstr>
  </property>
  <property fmtid="{D5CDD505-2E9C-101B-9397-08002B2CF9AE}" pid="3" name="KSOProductBuildVer">
    <vt:lpwstr>1033-6.10.1.8197</vt:lpwstr>
  </property>
</Properties>
</file>