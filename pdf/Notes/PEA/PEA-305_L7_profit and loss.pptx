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embeddedFontLst>
    <p:embeddedFont>
      <p:font typeface="Calibri" pitchFamily="34" charset="0"/>
      <p:regular r:id="rId28"/>
      <p:bold r:id="rId29"/>
      <p:italic r:id="rId30"/>
      <p:boldItalic r:id="rId31"/>
    </p:embeddedFont>
    <p:embeddedFont>
      <p:font typeface="Book Antiqua" pitchFamily="18" charset="0"/>
      <p:regular r:id="rId32"/>
      <p:bold r:id="rId33"/>
      <p:italic r:id="rId34"/>
      <p:boldItalic r:id="rId35"/>
    </p:embeddedFont>
    <p:embeddedFont>
      <p:font typeface="Times" pitchFamily="18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903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i5mHL/ySxkUWAWxxUWZ7qpmrup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1416" y="-90"/>
      </p:cViewPr>
      <p:guideLst>
        <p:guide orient="horz" pos="2160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431580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289d06047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289d06047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89d060476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289d060476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89d06047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289d06047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body" idx="1"/>
          </p:nvPr>
        </p:nvSpPr>
        <p:spPr>
          <a:xfrm>
            <a:off x="609600" y="1600206"/>
            <a:ext cx="54102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body" idx="2"/>
          </p:nvPr>
        </p:nvSpPr>
        <p:spPr>
          <a:xfrm>
            <a:off x="6172200" y="1600206"/>
            <a:ext cx="54102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3"/>
          </p:nvPr>
        </p:nvSpPr>
        <p:spPr>
          <a:xfrm>
            <a:off x="4645028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4"/>
          </p:nvPr>
        </p:nvSpPr>
        <p:spPr>
          <a:xfrm>
            <a:off x="4645028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body" idx="1"/>
          </p:nvPr>
        </p:nvSpPr>
        <p:spPr>
          <a:xfrm>
            <a:off x="3575050" y="273056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body" idx="2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3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2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>
            <a:spLocks noGrp="1"/>
          </p:cNvSpPr>
          <p:nvPr>
            <p:ph type="title"/>
          </p:nvPr>
        </p:nvSpPr>
        <p:spPr>
          <a:xfrm rot="5400000">
            <a:off x="7285038" y="1828806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 rot="5400000">
            <a:off x="1722438" y="-838194"/>
            <a:ext cx="5851525" cy="80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4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4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0328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56457" y="1188331"/>
            <a:ext cx="86436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and Loss</a:t>
            </a:r>
            <a:endParaRPr sz="5600" b="1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00482" y="2564446"/>
            <a:ext cx="7816200" cy="406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576575" y="475225"/>
            <a:ext cx="31863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Lecture: 7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lang="en-US" sz="4400">
                <a:latin typeface="Times"/>
                <a:ea typeface="Times"/>
                <a:cs typeface="Times"/>
                <a:sym typeface="Times"/>
              </a:rPr>
              <a:t>Contains:</a:t>
            </a:r>
            <a:endParaRPr sz="4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1. Concept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of Cost price, selling price and marked price.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2. Calculation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of Profit Loss percentage.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3. Common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Selling Prices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/>
        </p:nvSpPr>
        <p:spPr>
          <a:xfrm>
            <a:off x="117459" y="131445"/>
            <a:ext cx="889170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u="sng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</a:t>
            </a:r>
            <a:r>
              <a:rPr lang="en-US" sz="24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Cost price, Selling price and Marked price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Price: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price, at which an article is purchased, is called its </a:t>
            </a:r>
            <a:r>
              <a:rPr lang="en-US" sz="2400" b="1" i="1" dirty="0">
                <a:solidFill>
                  <a:srgbClr val="4944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price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abbreviated as </a:t>
            </a:r>
            <a:r>
              <a:rPr lang="en-US" sz="24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C.P.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Selling Price: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price, at which an article is sold, is called its </a:t>
            </a:r>
            <a:r>
              <a:rPr lang="en-US" sz="2400" b="1" i="1" dirty="0">
                <a:solidFill>
                  <a:srgbClr val="4944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selling price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abbreviated as </a:t>
            </a:r>
            <a:r>
              <a:rPr lang="en-US" sz="24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S.P.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or Gain: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S.P. is greater than C.P., the seller is said to have a </a:t>
            </a:r>
            <a:r>
              <a:rPr lang="en-US" sz="2400" b="1" i="1" dirty="0">
                <a:solidFill>
                  <a:srgbClr val="4944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or gain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4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Loss: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S.P. is less than C.P., then the seller is said to have incurred a 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800100" y="4171950"/>
            <a:ext cx="6329363" cy="985838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2440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00100" y="3486150"/>
            <a:ext cx="4357688" cy="585788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6324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42963" y="2228850"/>
            <a:ext cx="6657975" cy="1028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6324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42962" y="1528763"/>
            <a:ext cx="4414838" cy="51435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6324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4" descr="C:\Users\pacific\Desktop\profit-and-loss-formula-16218647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449" y="1116531"/>
            <a:ext cx="8219879" cy="4155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5520088" y="2208824"/>
            <a:ext cx="1876926" cy="93365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820202" y="4238324"/>
            <a:ext cx="1876926" cy="93365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820201" y="497306"/>
            <a:ext cx="2030931" cy="93365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2820202" y="606392"/>
            <a:ext cx="20309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MP= Rs. 600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2887579" y="4474316"/>
            <a:ext cx="18095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CP= Rs.400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5573027" y="2444817"/>
            <a:ext cx="17710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SP= Rs.500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cxnSp>
        <p:nvCxnSpPr>
          <p:cNvPr id="117" name="Google Shape;117;p5"/>
          <p:cNvCxnSpPr>
            <a:stCxn id="112" idx="1"/>
          </p:cNvCxnSpPr>
          <p:nvPr/>
        </p:nvCxnSpPr>
        <p:spPr>
          <a:xfrm rot="10800000">
            <a:off x="1376302" y="4705149"/>
            <a:ext cx="1443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5"/>
          <p:cNvCxnSpPr/>
          <p:nvPr/>
        </p:nvCxnSpPr>
        <p:spPr>
          <a:xfrm rot="10800000">
            <a:off x="1376413" y="964131"/>
            <a:ext cx="0" cy="374101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" name="Google Shape;119;p5"/>
          <p:cNvCxnSpPr/>
          <p:nvPr/>
        </p:nvCxnSpPr>
        <p:spPr>
          <a:xfrm>
            <a:off x="1376413" y="964131"/>
            <a:ext cx="1443788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" name="Google Shape;120;p5"/>
          <p:cNvCxnSpPr>
            <a:stCxn id="113" idx="3"/>
          </p:cNvCxnSpPr>
          <p:nvPr/>
        </p:nvCxnSpPr>
        <p:spPr>
          <a:xfrm>
            <a:off x="4851132" y="964131"/>
            <a:ext cx="1713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" name="Google Shape;121;p5"/>
          <p:cNvCxnSpPr/>
          <p:nvPr/>
        </p:nvCxnSpPr>
        <p:spPr>
          <a:xfrm>
            <a:off x="6564429" y="964131"/>
            <a:ext cx="0" cy="1244693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" name="Google Shape;122;p5"/>
          <p:cNvCxnSpPr/>
          <p:nvPr/>
        </p:nvCxnSpPr>
        <p:spPr>
          <a:xfrm>
            <a:off x="6564428" y="3142474"/>
            <a:ext cx="0" cy="1562674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" name="Google Shape;123;p5"/>
          <p:cNvCxnSpPr>
            <a:stCxn id="115" idx="3"/>
          </p:cNvCxnSpPr>
          <p:nvPr/>
        </p:nvCxnSpPr>
        <p:spPr>
          <a:xfrm>
            <a:off x="4697128" y="4705149"/>
            <a:ext cx="1867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5"/>
          <p:cNvSpPr txBox="1"/>
          <p:nvPr/>
        </p:nvSpPr>
        <p:spPr>
          <a:xfrm>
            <a:off x="1371600" y="2158011"/>
            <a:ext cx="27865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Mark up= Rs. 200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6607740" y="1200123"/>
            <a:ext cx="236300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Discount =Rs.100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6593304" y="3900009"/>
            <a:ext cx="203093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Profit 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Rs.100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144379" y="5697088"/>
            <a:ext cx="8624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 shopkeeper buys a T-shirt from wholesale market at Rs.400 and marked that article Rs.200 above the CP. After giving a discount of Rs.100 he sold it at Rs.500.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2184935" y="4639377"/>
            <a:ext cx="4774130" cy="1116530"/>
          </a:xfrm>
          <a:prstGeom prst="rect">
            <a:avLst/>
          </a:prstGeom>
          <a:solidFill>
            <a:srgbClr val="D6E3BC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178067" y="1080655"/>
            <a:ext cx="8787866" cy="47648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" r="3" b="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7" descr="C:\Users\pacific\Desktop\PP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8" y="1025236"/>
            <a:ext cx="8535954" cy="4816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8" descr="C:\Users\pacific\Desktop\PP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782" y="1122218"/>
            <a:ext cx="8564938" cy="4391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>
            <a:spLocks noGrp="1"/>
          </p:cNvSpPr>
          <p:nvPr>
            <p:ph type="title"/>
          </p:nvPr>
        </p:nvSpPr>
        <p:spPr>
          <a:xfrm>
            <a:off x="457200" y="127412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Calculation of Profit loss percentage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/>
        </p:nvSpPr>
        <p:spPr>
          <a:xfrm>
            <a:off x="214309" y="181376"/>
            <a:ext cx="85725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TV is purchased at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5000 and sold at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4000, find the lost percent.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10%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20%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25%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28%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/>
        </p:nvSpPr>
        <p:spPr>
          <a:xfrm>
            <a:off x="185737" y="206792"/>
            <a:ext cx="8772600" cy="637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endParaRPr lang="en-US" sz="2400" b="1" dirty="0" smtClean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endParaRPr lang="en-US" sz="2400" b="1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 smtClean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CP = Rs.500 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20 %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 = ?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CP = Rs.800 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30 %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 = ? 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6080" marR="0" lvl="0" indent="-38608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/>
          <p:nvPr/>
        </p:nvSpPr>
        <p:spPr>
          <a:xfrm>
            <a:off x="142875" y="244392"/>
            <a:ext cx="8858400" cy="674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endParaRPr lang="en-US" sz="2400" b="1" dirty="0" smtClean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endParaRPr lang="en-US" sz="2400" b="1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 smtClean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SP = Rs.720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20 %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 = ?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SP = </a:t>
            </a:r>
            <a:r>
              <a:rPr lang="en-US" sz="2400" dirty="0" err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810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10 %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 = ?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6080" marR="0" lvl="0" indent="-38608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/>
        </p:nvSpPr>
        <p:spPr>
          <a:xfrm>
            <a:off x="137310" y="123624"/>
            <a:ext cx="88239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When a plot is sold for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18,700, the owner loses 15%. At what price must that plot be sold in order to gain 15%?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Rs.21000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Rs.22500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Rs.25300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Rs.25800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/>
        </p:nvSpPr>
        <p:spPr>
          <a:xfrm>
            <a:off x="127686" y="191001"/>
            <a:ext cx="87756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Alfred buys an old scooter for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4700 and spends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800 on its repairs. If he sells the scooter for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5800, his gain percent is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6/19%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6/11%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60/11%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38/11%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 txBox="1">
            <a:spLocks noGrp="1"/>
          </p:cNvSpPr>
          <p:nvPr>
            <p:ph type="body" idx="1"/>
          </p:nvPr>
        </p:nvSpPr>
        <p:spPr>
          <a:xfrm>
            <a:off x="141137" y="127535"/>
            <a:ext cx="8829608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 A shopkeeper selling his goods at 20% profit. Had he purchase it 10% less and sold it for Rs.18 less then he would get 30% profit. Find the initial CP of that article.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[A] 540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[B] 600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[C] 1200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[D] 720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>
            <a:spLocks noGrp="1"/>
          </p:cNvSpPr>
          <p:nvPr>
            <p:ph type="body" idx="1"/>
          </p:nvPr>
        </p:nvSpPr>
        <p:spPr>
          <a:xfrm>
            <a:off x="170013" y="98659"/>
            <a:ext cx="8781482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 A shopkeeper selling his goods at 10% profit. Had he purchase it 20% less and sold it for Rs.20 more then he would get 40% profit. Find the initial SP of that article.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[A] 1000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[B] 2000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[C] 1100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[D] 720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>
            <a:spLocks noGrp="1"/>
          </p:cNvSpPr>
          <p:nvPr>
            <p:ph type="body" idx="1"/>
          </p:nvPr>
        </p:nvSpPr>
        <p:spPr>
          <a:xfrm>
            <a:off x="141136" y="137160"/>
            <a:ext cx="8791107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A shopkeeper sold an article at 25% profit. If the CP and SP are decreased by Rs.20 and Rs.40 respectively then the profit percent would be decreased by 15 %. Find CP of the articles.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[A] 120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[B] 200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[C] 180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[D] 240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>
            <a:spLocks noGrp="1"/>
          </p:cNvSpPr>
          <p:nvPr>
            <p:ph type="body" idx="1"/>
          </p:nvPr>
        </p:nvSpPr>
        <p:spPr>
          <a:xfrm>
            <a:off x="170013" y="98659"/>
            <a:ext cx="8781482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A shopkeeper purchase 2 articles for Rs.9600. He sold the first article at 20% loss and second article at 60% profit then he find that both the articles being sold on the same price. Find the CP of first article.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[A] 6400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[B] 3200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[C] 6000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[D] 5400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>
            <a:spLocks noGrp="1"/>
          </p:cNvSpPr>
          <p:nvPr>
            <p:ph type="body" idx="1"/>
          </p:nvPr>
        </p:nvSpPr>
        <p:spPr>
          <a:xfrm>
            <a:off x="167639" y="166036"/>
            <a:ext cx="8754979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 shopkeeper sells 2 articles. He sold the first article at 15% loss and second article at 19% profit. During the whole transaction he earn a loss of Rs90. Find the CP of second article if the SP of both articles are same.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[A] 5000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[B] 4500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[C] 2000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[D] None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>
            <a:spLocks noGrp="1"/>
          </p:cNvSpPr>
          <p:nvPr>
            <p:ph type="body" idx="1"/>
          </p:nvPr>
        </p:nvSpPr>
        <p:spPr>
          <a:xfrm>
            <a:off x="170013" y="166036"/>
            <a:ext cx="8858484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 shopkeeper sells 3 articles. He sold the first article at 20% profit, second article at 10% loss and third at 25% loss. During the whole transaction he earn a loss of Rs60. Find the SP of first article if the SP of all the articles are same.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[A] 216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[B] 180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[C] 240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[D] None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/>
        </p:nvSpPr>
        <p:spPr>
          <a:xfrm>
            <a:off x="156561" y="94749"/>
            <a:ext cx="87852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sold a table to B at a profit of 15%. Later on, B sold it back to A at a profit of 20%, thereby gaining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69. How much did A pay for the table originally?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Rs.300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Rs.320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Rs.345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Rs.350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89d060476_1_0"/>
          <p:cNvSpPr txBox="1">
            <a:spLocks noGrp="1"/>
          </p:cNvSpPr>
          <p:nvPr>
            <p:ph type="title"/>
          </p:nvPr>
        </p:nvSpPr>
        <p:spPr>
          <a:xfrm>
            <a:off x="343535" y="285718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latin typeface="Times New Roman"/>
                <a:ea typeface="Times New Roman"/>
                <a:cs typeface="Times New Roman"/>
                <a:sym typeface="Times New Roman"/>
              </a:rPr>
              <a:t>Common Selling </a:t>
            </a:r>
            <a:r>
              <a:rPr lang="en-US" sz="4400" dirty="0" smtClean="0">
                <a:latin typeface="Times New Roman"/>
                <a:ea typeface="Times New Roman"/>
                <a:cs typeface="Times New Roman"/>
                <a:sym typeface="Times New Roman"/>
              </a:rPr>
              <a:t>Price</a:t>
            </a:r>
            <a:endParaRPr sz="4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89d060476_1_4"/>
          <p:cNvSpPr txBox="1">
            <a:spLocks noGrp="1"/>
          </p:cNvSpPr>
          <p:nvPr>
            <p:ph type="body" idx="1"/>
          </p:nvPr>
        </p:nvSpPr>
        <p:spPr>
          <a:xfrm>
            <a:off x="457200" y="575316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 A man sold 2 bicycles at the same selling price. One at 20% loss and other at 20% profit. Find overall profit and loss percentage.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4% loss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5% loss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2% profit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8% loss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289d060476_1_8"/>
          <p:cNvSpPr txBox="1">
            <a:spLocks noGrp="1"/>
          </p:cNvSpPr>
          <p:nvPr>
            <p:ph type="body" idx="1"/>
          </p:nvPr>
        </p:nvSpPr>
        <p:spPr>
          <a:xfrm>
            <a:off x="457200" y="55055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Amit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sold 2 laptops at the same selling price. One at 10% loss and other at 20% profit. Find overall profit and loss percentage.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20/7% profit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50/11% profit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20/9% loss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none of these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30 Best Ways to Say Thank You for Your Response | FutureofWorking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34" y="1676399"/>
            <a:ext cx="8470231" cy="4474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913</Words>
  <Application>Microsoft Office PowerPoint</Application>
  <PresentationFormat>On-screen Show (4:3)</PresentationFormat>
  <Paragraphs>157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Noto Sans Symbols</vt:lpstr>
      <vt:lpstr>Calibri</vt:lpstr>
      <vt:lpstr>Times New Roman</vt:lpstr>
      <vt:lpstr>Book Antiqua</vt:lpstr>
      <vt:lpstr>Times</vt:lpstr>
      <vt:lpstr>Office Theme</vt:lpstr>
      <vt:lpstr>PowerPoint Presentation</vt:lpstr>
      <vt:lpstr>Contains: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Calculation of Profit loss percentage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Selling Price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asif</dc:creator>
  <cp:lastModifiedBy>Dell</cp:lastModifiedBy>
  <cp:revision>8</cp:revision>
  <dcterms:created xsi:type="dcterms:W3CDTF">2025-01-04T05:46:40Z</dcterms:created>
  <dcterms:modified xsi:type="dcterms:W3CDTF">2025-01-11T08:37:22Z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49C3D59E70D8943240CB786710C383E2_42</vt:lpwstr>
  </property>
  <property fmtid="{D5CDD505-2E9C-101B-9397-08002B2CF9AE}" pid="3" name="KSOProductBuildVer">
    <vt:lpwstr>1033-6.10.1.8197</vt:lpwstr>
  </property>
</Properties>
</file>