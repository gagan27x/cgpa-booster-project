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9144000"/>
  <p:notesSz cx="6858000" cy="9144000"/>
  <p:embeddedFontLst>
    <p:embeddedFont>
      <p:font typeface="Book Antiqua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58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hX7ln4pbWQLs5p5kYSm3WLYVKN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5B1942-B4B7-4661-BCC2-EC3787272044}">
  <a:tblStyle styleId="{8C5B1942-B4B7-4661-BCC2-EC3787272044}" styleName="Table_0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BookAntiqua-bold.fntdata"/><Relationship Id="rId41" Type="http://schemas.openxmlformats.org/officeDocument/2006/relationships/font" Target="fonts/BookAntiqua-regular.fntdata"/><Relationship Id="rId22" Type="http://schemas.openxmlformats.org/officeDocument/2006/relationships/slide" Target="slides/slide16.xml"/><Relationship Id="rId44" Type="http://schemas.openxmlformats.org/officeDocument/2006/relationships/font" Target="fonts/BookAntiqua-boldItalic.fntdata"/><Relationship Id="rId21" Type="http://schemas.openxmlformats.org/officeDocument/2006/relationships/slide" Target="slides/slide15.xml"/><Relationship Id="rId43" Type="http://schemas.openxmlformats.org/officeDocument/2006/relationships/font" Target="fonts/BookAntiqua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" type="body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39"/>
          <p:cNvSpPr txBox="1"/>
          <p:nvPr>
            <p:ph type="ctrTitle"/>
          </p:nvPr>
        </p:nvSpPr>
        <p:spPr>
          <a:xfrm>
            <a:off x="722376" y="1820206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500">
                <a:solidFill>
                  <a:srgbClr val="6393D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" type="subTitle"/>
          </p:nvPr>
        </p:nvSpPr>
        <p:spPr>
          <a:xfrm>
            <a:off x="722376" y="368503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102642"/>
                </a:solidFill>
              </a:defRPr>
            </a:lvl1pPr>
            <a:lvl2pPr lvl="1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25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9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39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0"/>
          <p:cNvSpPr txBox="1"/>
          <p:nvPr>
            <p:ph type="title"/>
          </p:nvPr>
        </p:nvSpPr>
        <p:spPr>
          <a:xfrm>
            <a:off x="468344" y="4928616"/>
            <a:ext cx="8183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b="0" sz="3600" cap="none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" type="body"/>
          </p:nvPr>
        </p:nvSpPr>
        <p:spPr>
          <a:xfrm>
            <a:off x="468344" y="5624484"/>
            <a:ext cx="8183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18850" spcFirstLastPara="1" rIns="91425" wrap="square" tIns="0">
            <a:noAutofit/>
          </a:bodyPr>
          <a:lstStyle>
            <a:lvl1pPr indent="-228600" lvl="0" marL="457200" marR="36830" algn="l"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345D8D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SzPts val="1568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40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1"/>
          <p:cNvSpPr txBox="1"/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" type="body"/>
          </p:nvPr>
        </p:nvSpPr>
        <p:spPr>
          <a:xfrm>
            <a:off x="514352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60680" lvl="0" marL="45720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idx="2" type="body"/>
          </p:nvPr>
        </p:nvSpPr>
        <p:spPr>
          <a:xfrm>
            <a:off x="4755360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60680" lvl="0" marL="45720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4" name="Google Shape;34;p41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 txBox="1"/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" type="body"/>
          </p:nvPr>
        </p:nvSpPr>
        <p:spPr>
          <a:xfrm>
            <a:off x="607224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SzPts val="1792"/>
              <a:buNone/>
              <a:defRPr b="1" sz="1600"/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0" name="Google Shape;40;p42"/>
          <p:cNvSpPr txBox="1"/>
          <p:nvPr>
            <p:ph idx="2" type="body"/>
          </p:nvPr>
        </p:nvSpPr>
        <p:spPr>
          <a:xfrm>
            <a:off x="4652169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91425" wrap="square" tIns="91425">
            <a:no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SzPts val="1792"/>
              <a:buNone/>
              <a:defRPr b="1" sz="1600"/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1" name="Google Shape;41;p42"/>
          <p:cNvSpPr txBox="1"/>
          <p:nvPr>
            <p:ph idx="3" type="body"/>
          </p:nvPr>
        </p:nvSpPr>
        <p:spPr>
          <a:xfrm>
            <a:off x="607224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50520" lvl="0" marL="45720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392" lvl="3" marL="1828800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indent="-330200" lvl="4" marL="22860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4" type="body"/>
          </p:nvPr>
        </p:nvSpPr>
        <p:spPr>
          <a:xfrm>
            <a:off x="4652169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50520" lvl="0" marL="45720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392" lvl="3" marL="1828800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indent="-330200" lvl="4" marL="22860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/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" name="Google Shape;53;p44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/>
          <p:nvPr>
            <p:ph type="title"/>
          </p:nvPr>
        </p:nvSpPr>
        <p:spPr>
          <a:xfrm>
            <a:off x="5538784" y="5334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b="1" sz="22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5"/>
          <p:cNvSpPr txBox="1"/>
          <p:nvPr>
            <p:ph idx="1" type="body"/>
          </p:nvPr>
        </p:nvSpPr>
        <p:spPr>
          <a:xfrm>
            <a:off x="5538847" y="1447802"/>
            <a:ext cx="2971800" cy="420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indent="-228600" lvl="0" marL="457200" marR="18415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2" type="body"/>
          </p:nvPr>
        </p:nvSpPr>
        <p:spPr>
          <a:xfrm>
            <a:off x="761372" y="930144"/>
            <a:ext cx="4626159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70840" lvl="0" marL="457200" algn="l"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lt1"/>
                </a:solidFill>
              </a:defRPr>
            </a:lvl1pPr>
            <a:lvl2pPr indent="-393700" lvl="1" marL="914400" algn="l"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lt1"/>
                </a:solidFill>
              </a:defRPr>
            </a:lvl3pPr>
            <a:lvl4pPr indent="-370839" lvl="3" marL="1828800" algn="l">
              <a:spcBef>
                <a:spcPts val="225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45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45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46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fmla="val 2748" name="adj"/>
            </a:avLst>
          </a:prstGeom>
          <a:solidFill>
            <a:srgbClr val="1C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p46"/>
          <p:cNvSpPr txBox="1"/>
          <p:nvPr>
            <p:ph type="title"/>
          </p:nvPr>
        </p:nvSpPr>
        <p:spPr>
          <a:xfrm>
            <a:off x="457200" y="5012056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b="0" sz="3600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" type="body"/>
          </p:nvPr>
        </p:nvSpPr>
        <p:spPr>
          <a:xfrm>
            <a:off x="6462712" y="533400"/>
            <a:ext cx="2240280" cy="42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indent="-292100" lvl="2" marL="1371600" algn="l"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indent="-292608" lvl="3" marL="1828800" algn="l">
              <a:spcBef>
                <a:spcPts val="225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indent="-285750" lvl="4" marL="2286000" algn="l"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46"/>
          <p:cNvSpPr/>
          <p:nvPr>
            <p:ph idx="2" type="pic"/>
          </p:nvPr>
        </p:nvSpPr>
        <p:spPr>
          <a:xfrm>
            <a:off x="421480" y="435768"/>
            <a:ext cx="5925312" cy="4343400"/>
          </a:xfrm>
          <a:prstGeom prst="snipRoundRect">
            <a:avLst>
              <a:gd fmla="val 1040" name="adj1"/>
              <a:gd fmla="val 0" name="adj2"/>
            </a:avLst>
          </a:prstGeom>
          <a:solidFill>
            <a:srgbClr val="0A192B"/>
          </a:solidFill>
          <a:ln>
            <a:noFill/>
          </a:ln>
        </p:spPr>
      </p:sp>
      <p:sp>
        <p:nvSpPr>
          <p:cNvPr id="69" name="Google Shape;69;p46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7"/>
          <p:cNvSpPr txBox="1"/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1" type="body"/>
          </p:nvPr>
        </p:nvSpPr>
        <p:spPr>
          <a:xfrm rot="5400000">
            <a:off x="2500884" y="-1467612"/>
            <a:ext cx="4187952" cy="81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47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/>
          <p:nvPr>
            <p:ph type="title"/>
          </p:nvPr>
        </p:nvSpPr>
        <p:spPr>
          <a:xfrm rot="5400000">
            <a:off x="4991101" y="2171704"/>
            <a:ext cx="525779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" type="body"/>
          </p:nvPr>
        </p:nvSpPr>
        <p:spPr>
          <a:xfrm rot="5400000">
            <a:off x="876300" y="190503"/>
            <a:ext cx="5257801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1" name="Google Shape;81;p48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48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70840" lvl="0" marL="4572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68300" lvl="2" marL="1371600" marR="0" rtl="0" algn="l">
              <a:spcBef>
                <a:spcPts val="250"/>
              </a:spcBef>
              <a:spcAft>
                <a:spcPts val="0"/>
              </a:spcAft>
              <a:buClr>
                <a:srgbClr val="FF3D39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63728" lvl="3" marL="1828800" marR="0" rtl="0" algn="l">
              <a:spcBef>
                <a:spcPts val="225"/>
              </a:spcBef>
              <a:spcAft>
                <a:spcPts val="0"/>
              </a:spcAft>
              <a:buClr>
                <a:srgbClr val="FF3D39"/>
              </a:buClr>
              <a:buSzPts val="2128"/>
              <a:buFont typeface="Verdana"/>
              <a:buChar char="◦"/>
              <a:defRPr b="0" i="0" sz="1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250"/>
              </a:spcBef>
              <a:spcAft>
                <a:spcPts val="0"/>
              </a:spcAft>
              <a:buClr>
                <a:srgbClr val="BEFF4B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6550" lvl="5" marL="2743200" marR="0" rtl="0" algn="l">
              <a:spcBef>
                <a:spcPts val="250"/>
              </a:spcBef>
              <a:spcAft>
                <a:spcPts val="0"/>
              </a:spcAft>
              <a:buClr>
                <a:srgbClr val="BFFF49"/>
              </a:buClr>
              <a:buSzPts val="1700"/>
              <a:buFont typeface="Verdana"/>
              <a:buChar char="◦"/>
              <a:defRPr b="0" i="0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23850" lvl="6" marL="3200400" marR="0" rtl="0" algn="l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23850" lvl="7" marL="3657600" marR="0" rtl="0" algn="l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Verdana"/>
              <a:buChar char="◦"/>
              <a:defRPr b="0" i="0" sz="15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23850" lvl="8" marL="4114800" marR="0" rtl="0" algn="l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1341120"/>
            <a:ext cx="7068185" cy="473519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45820" y="674135"/>
            <a:ext cx="63183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4300" u="none" cap="none" strike="noStrike">
                <a:solidFill>
                  <a:schemeClr val="dk1"/>
                </a:solidFill>
              </a:rPr>
              <a:t>Lecture 3</a:t>
            </a:r>
            <a:endParaRPr b="1" i="0" sz="43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285750" y="692150"/>
            <a:ext cx="80787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285750" y="1557338"/>
            <a:ext cx="8543925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Factors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Remainder Theorems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HCF and LCM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255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Image result for content images" id="96" name="Google Shape;96;p2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content images" id="97" name="Google Shape;97;p2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content images" id="98" name="Google Shape;98;p2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encrypted-tbn1.gstatic.com/images?q=tbn:ANd9GcQ5ckqowr0ihkP1K54LNvPc-S6lgbGB-unvcrTB6I0Gp4EYMFIN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88426">
            <a:off x="4891088" y="4046538"/>
            <a:ext cx="3255962" cy="235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611188" y="692150"/>
            <a:ext cx="8215312" cy="543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rtl="0" algn="l">
              <a:spcBef>
                <a:spcPts val="0"/>
              </a:spcBef>
              <a:spcAft>
                <a:spcPts val="0"/>
              </a:spcAft>
              <a:buSzPts val="3520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Factors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Factors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number are the values that divides the number completely.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Factors of 10 are 1, 2, 5 and 10.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250825" y="908050"/>
            <a:ext cx="8569325" cy="543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Total Number of factors:</a:t>
            </a:r>
            <a:endParaRPr b="1" i="0" sz="3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90830" lvl="0" marL="265430" marR="0" rtl="0" algn="just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320"/>
              <a:buFont typeface="Noto Sans Symbols"/>
              <a:buChar char="⚫"/>
            </a:pPr>
            <a:r>
              <a:rPr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any number “N” and it is to be convert into </a:t>
            </a:r>
            <a:r>
              <a:rPr b="1"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of prime numbers</a:t>
            </a:r>
            <a:r>
              <a:rPr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</a:t>
            </a:r>
            <a:r>
              <a:rPr i="1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 factorization</a:t>
            </a:r>
            <a:r>
              <a:rPr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i.e.</a:t>
            </a:r>
            <a:endParaRPr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i="0" u="none" cap="none" strike="noStrike">
              <a:solidFill>
                <a:srgbClr val="505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0830" lvl="0" marL="265430" marR="0" rtl="0" algn="just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320"/>
              <a:buFont typeface="Times New Roman"/>
              <a:buChar char="⚫"/>
            </a:pPr>
            <a:r>
              <a:rPr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A</a:t>
            </a:r>
            <a:r>
              <a:rPr baseline="30000"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x B</a:t>
            </a:r>
            <a:r>
              <a:rPr baseline="30000"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x C</a:t>
            </a:r>
            <a:r>
              <a:rPr baseline="30000"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here A, B , C are prime numbers and p, q, and r were respective powers of that prime numbers.</a:t>
            </a:r>
            <a:endParaRPr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i="0" u="none" cap="none" strike="noStrike">
              <a:solidFill>
                <a:srgbClr val="505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0830" lvl="0" marL="265430" marR="0" rtl="0" algn="just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320"/>
              <a:buFont typeface="Noto Sans Symbols"/>
              <a:buChar char="⚫"/>
            </a:pPr>
            <a:r>
              <a:rPr b="1"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numbers of factors for  N </a:t>
            </a:r>
            <a:r>
              <a:rPr i="0" lang="en-US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(p + 1)(q +1)(r +1).</a:t>
            </a:r>
            <a:endParaRPr i="0" u="none" cap="none" strike="noStrike">
              <a:solidFill>
                <a:srgbClr val="505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0660" lvl="0" marL="3429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250825" y="714375"/>
            <a:ext cx="8393113" cy="543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rtl="0" algn="l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3509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b="1" lang="en-US" sz="27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Step 1:</a:t>
            </a:r>
            <a:r>
              <a:rPr lang="en-US" sz="27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 factorize the given number 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1200 = 12 x 100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= 2^2 x 3 x 10^2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= 2^2 x 3 x 2^2 x 5^2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= 2^4 x 3 x 5^2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 1 to the powers and multiply.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(4+1) x (1+1) x (2+1)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= 5 x 2 x 3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= 30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∴ Number of factors of 1200 is 30.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214313" y="928688"/>
            <a:ext cx="87153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the total number of factors of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30.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16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32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/>
        </p:nvSpPr>
        <p:spPr>
          <a:xfrm>
            <a:off x="214313" y="928688"/>
            <a:ext cx="8715375" cy="326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the total number of factors of 1560.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6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16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12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32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/>
        </p:nvSpPr>
        <p:spPr>
          <a:xfrm>
            <a:off x="500063" y="785813"/>
            <a:ext cx="81438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</a:pPr>
            <a:r>
              <a:rPr b="1" i="0" lang="en-US" sz="3600" u="non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Remainder theorem</a:t>
            </a:r>
            <a:endParaRPr b="1" i="0" sz="3600" u="non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1916113"/>
            <a:ext cx="4956175" cy="227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684213" y="4365625"/>
            <a:ext cx="77755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684213" y="4456113"/>
            <a:ext cx="7775575" cy="523875"/>
          </a:xfrm>
          <a:prstGeom prst="rect">
            <a:avLst/>
          </a:prstGeom>
          <a:solidFill>
            <a:srgbClr val="E5B8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 Antiqua"/>
              <a:buNone/>
            </a:pPr>
            <a:r>
              <a:rPr b="0" i="0" lang="en-US" sz="28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Dividend= (Divisor × Quotient + remainder)</a:t>
            </a:r>
            <a:endParaRPr b="0" i="0" sz="28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/>
        </p:nvSpPr>
        <p:spPr>
          <a:xfrm>
            <a:off x="161925" y="908050"/>
            <a:ext cx="88203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Question:</a:t>
            </a: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I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a division process divisor is 5 times of quotient and remainder is 3 times of quotient. If remainder is 15. Find dividend.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140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150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170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190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/>
        </p:nvSpPr>
        <p:spPr>
          <a:xfrm>
            <a:off x="161925" y="908050"/>
            <a:ext cx="88203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number when divided by 252 leaves the remainder 34. Find the remainder when the same number is divided by 21.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5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</a:t>
            </a:r>
            <a:endParaRPr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/>
        </p:nvSpPr>
        <p:spPr>
          <a:xfrm>
            <a:off x="215516" y="1386243"/>
            <a:ext cx="8712968" cy="49950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28" l="-111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323850" y="549275"/>
            <a:ext cx="662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Rules</a:t>
            </a:r>
            <a:endParaRPr b="1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179512" y="908720"/>
            <a:ext cx="8712968" cy="44648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8" r="-104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/>
          <p:nvPr/>
        </p:nvSpPr>
        <p:spPr>
          <a:xfrm>
            <a:off x="684213" y="1052513"/>
            <a:ext cx="3743325" cy="647700"/>
          </a:xfrm>
          <a:prstGeom prst="rect">
            <a:avLst/>
          </a:prstGeom>
          <a:solidFill>
            <a:srgbClr val="F2DADA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684213" y="1844675"/>
            <a:ext cx="3743325" cy="792163"/>
          </a:xfrm>
          <a:prstGeom prst="rect">
            <a:avLst/>
          </a:prstGeom>
          <a:solidFill>
            <a:srgbClr val="F2DADA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71513" y="2708275"/>
            <a:ext cx="4103688" cy="649288"/>
          </a:xfrm>
          <a:prstGeom prst="rect">
            <a:avLst/>
          </a:prstGeom>
          <a:solidFill>
            <a:srgbClr val="F2DADA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671513" y="3357563"/>
            <a:ext cx="8148638" cy="1008063"/>
          </a:xfrm>
          <a:prstGeom prst="rect">
            <a:avLst/>
          </a:prstGeom>
          <a:solidFill>
            <a:srgbClr val="F2DADA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684213" y="4437063"/>
            <a:ext cx="4175125" cy="647700"/>
          </a:xfrm>
          <a:prstGeom prst="rect">
            <a:avLst/>
          </a:prstGeom>
          <a:solidFill>
            <a:srgbClr val="F2DADA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684213" y="5084763"/>
            <a:ext cx="8135938" cy="1008063"/>
          </a:xfrm>
          <a:prstGeom prst="rect">
            <a:avLst/>
          </a:prstGeom>
          <a:solidFill>
            <a:srgbClr val="F2DADA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215516" y="476672"/>
            <a:ext cx="8712968" cy="604370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7" r="-697" t="-9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 cap="none"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214313" y="928688"/>
            <a:ext cx="8643937" cy="550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rtl="0" algn="l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b="1"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Remainder Cyclicity:</a:t>
            </a:r>
            <a:r>
              <a:rPr b="1" lang="en-US" sz="3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 b="1" sz="3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rPr b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remainder when 2^201 is divided by 7?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2^1/7 = R(2)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2^2/7= R(4)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2^3/7 = R(1) or 8/7 = R(1)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 [(2^3)^67 ] / 7 = 1  / 7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1/7 = R(1)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idx="1" type="body"/>
          </p:nvPr>
        </p:nvSpPr>
        <p:spPr>
          <a:xfrm>
            <a:off x="285750" y="928688"/>
            <a:ext cx="8572500" cy="500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rtl="0" algn="just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 sz="3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Note:</a:t>
            </a:r>
            <a:r>
              <a:rPr lang="en-US" sz="3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cancel any numerator value with the denominator value as the remainder will differ.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R(6/4) ≠ R(3/2)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6/4 = R(2)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3/2 = R(1)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just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just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want to cancel out numerator and denominator by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certain value 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at last we also need to multiply the remainder by the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value 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order to get correct remainder.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30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214313" y="928688"/>
            <a:ext cx="8643937" cy="550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remainder when 2</a:t>
            </a:r>
            <a:r>
              <a:rPr baseline="300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divided by 8?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0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5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7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idx="1" type="body"/>
          </p:nvPr>
        </p:nvSpPr>
        <p:spPr>
          <a:xfrm>
            <a:off x="571500" y="928688"/>
            <a:ext cx="8151813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Q) Remainder when 35</a:t>
            </a:r>
            <a:r>
              <a:rPr baseline="300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113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divided by 9?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571500" y="928688"/>
            <a:ext cx="8151813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Q) Remainder when 2</a:t>
            </a:r>
            <a:r>
              <a:rPr baseline="300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divided by 9?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8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5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571500" y="928688"/>
            <a:ext cx="8151813" cy="328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Remainder when 2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divided by 10?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[A]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[B] 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[C]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5430" lvl="0" marL="26543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[D] 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/>
        </p:nvSpPr>
        <p:spPr>
          <a:xfrm>
            <a:off x="179400" y="1484327"/>
            <a:ext cx="87852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32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LCM- Least Common Multiple</a:t>
            </a:r>
            <a:endParaRPr b="1" i="0" sz="32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 Antiqua"/>
              <a:buNone/>
            </a:pPr>
            <a:r>
              <a:rPr b="0" i="0" lang="en-US" sz="28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For e.g.  12= 12, 24, 36, 48, 60, 72, 84, 96…………</a:t>
            </a:r>
            <a:endParaRPr b="0" i="0" sz="28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 Antiqua"/>
              <a:buNone/>
            </a:pPr>
            <a:r>
              <a:rPr b="0" i="0" lang="en-US" sz="28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         16= 16, 32, 48, 64, 80, 96…………</a:t>
            </a:r>
            <a:endParaRPr b="0" i="0" sz="28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 Antiqua"/>
              <a:buNone/>
            </a:pPr>
            <a:r>
              <a:rPr b="0" i="0" lang="en-US" sz="28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So there are lots of multiple of 12 and 16 which will be common but the least multiple which is common is 48. </a:t>
            </a:r>
            <a:endParaRPr sz="2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 Antiqua"/>
              <a:buNone/>
            </a:pP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So LCM = 48</a:t>
            </a:r>
            <a:endParaRPr sz="2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79388" y="552450"/>
            <a:ext cx="504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 Antiqua"/>
              <a:buNone/>
            </a:pPr>
            <a:r>
              <a:rPr b="1" i="0" lang="en-US" sz="3200" u="sng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LCM </a:t>
            </a:r>
            <a:r>
              <a:rPr b="1" lang="en-US" sz="3200" u="sng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&amp;</a:t>
            </a:r>
            <a:r>
              <a:rPr b="1" i="0" lang="en-US" sz="3200" u="sng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HCF</a:t>
            </a:r>
            <a:endParaRPr b="1" i="0" sz="3200" u="sng">
              <a:solidFill>
                <a:schemeClr val="dk2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/>
        </p:nvSpPr>
        <p:spPr>
          <a:xfrm>
            <a:off x="179388" y="836613"/>
            <a:ext cx="84963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1" i="0" lang="en-US" sz="36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HCF- Highest Common Factor</a:t>
            </a:r>
            <a:endParaRPr b="0" i="0" sz="3200" u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 Antiqua"/>
              <a:buNone/>
            </a:pPr>
            <a:r>
              <a:rPr b="0" i="0" lang="en-US" sz="32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For e.g.  12= 1, 2, 3, 4, 6, 12</a:t>
            </a:r>
            <a:endParaRPr b="0" i="0" sz="3200" u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 Antiqua"/>
              <a:buNone/>
            </a:pPr>
            <a:r>
              <a:rPr b="0" i="0" lang="en-US" sz="32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              16= 1, 2, 4, 8, 16</a:t>
            </a:r>
            <a:endParaRPr b="0" i="0" sz="3200" u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 Antiqua"/>
              <a:buNone/>
            </a:pPr>
            <a:r>
              <a:rPr b="0" i="0" lang="en-US" sz="32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So there three common factor=1, 2, 4 but the Greatest factor is 4. That is the HCF of 12 and 16.</a:t>
            </a:r>
            <a:endParaRPr b="0" i="0" sz="3200" u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48970" y="3141980"/>
            <a:ext cx="10442575" cy="305498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/>
          <p:nvPr/>
        </p:nvSpPr>
        <p:spPr>
          <a:xfrm>
            <a:off x="900113" y="1916113"/>
            <a:ext cx="7343775" cy="792163"/>
          </a:xfrm>
          <a:prstGeom prst="rect">
            <a:avLst/>
          </a:prstGeom>
          <a:solidFill>
            <a:srgbClr val="FFC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1107274" y="2019700"/>
            <a:ext cx="7443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Product of Two numbers = HCF x LCM</a:t>
            </a:r>
            <a:endParaRPr b="0" i="0" sz="3200" u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179388" y="711200"/>
            <a:ext cx="6696075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b="0" i="0" lang="en-US" sz="3200" u="sng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Important Formulae</a:t>
            </a:r>
            <a:endParaRPr b="0" i="0" sz="3200" u="sng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Google Shape;218;p25"/>
          <p:cNvGraphicFramePr/>
          <p:nvPr/>
        </p:nvGraphicFramePr>
        <p:xfrm>
          <a:off x="323850" y="17002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{8C5B1942-B4B7-4661-BCC2-EC3787272044}</a:tableStyleId>
              </a:tblPr>
              <a:tblGrid>
                <a:gridCol w="5184800"/>
                <a:gridCol w="3384525"/>
              </a:tblGrid>
              <a:tr h="59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Least number which is exactly divisible by x, y and z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LCM(x, y, z)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least number which</a:t>
                      </a: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when divided by </a:t>
                      </a: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 y, z  leaves the same remainder R in each case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LCM</a:t>
                      </a: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(x, y, z) + R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least Number which</a:t>
                      </a: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when</a:t>
                      </a: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divided by x, y and z, leaves remainder a, b and c respectively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LCM</a:t>
                      </a: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(x, y, z)-K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</a:t>
                      </a: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</a:t>
                      </a:r>
                      <a:r>
                        <a:rPr b="0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=(x-a)=(y-b)=(z-c)</a:t>
                      </a:r>
                      <a:endParaRPr b="0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5"/>
          <p:cNvSpPr txBox="1"/>
          <p:nvPr/>
        </p:nvSpPr>
        <p:spPr>
          <a:xfrm>
            <a:off x="323850" y="620713"/>
            <a:ext cx="6840538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b="1" i="0" lang="en-US" sz="3200" u="sng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LCM Word Problems</a:t>
            </a:r>
            <a:endParaRPr b="0" i="0" sz="32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26"/>
          <p:cNvGraphicFramePr/>
          <p:nvPr/>
        </p:nvGraphicFramePr>
        <p:xfrm>
          <a:off x="250825" y="15573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{8C5B1942-B4B7-4661-BCC2-EC3787272044}</a:tableStyleId>
              </a:tblPr>
              <a:tblGrid>
                <a:gridCol w="5401475"/>
                <a:gridCol w="3240875"/>
              </a:tblGrid>
              <a:tr h="59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greatest number that will exactly divide x, y and z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HCF(x, y, z)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greatest number that will divide x, y, z and leaves remainder R in each case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HCF(x-y, y-z, z-x) 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HCF(x-R, y-R, z-R)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greatest Number that will divide x, y and z, leaving remainder a, b and c respectively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HCF(x-a, y-b, z-c)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6"/>
          <p:cNvSpPr txBox="1"/>
          <p:nvPr/>
        </p:nvSpPr>
        <p:spPr>
          <a:xfrm>
            <a:off x="238125" y="692150"/>
            <a:ext cx="4572000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b="1" i="0" lang="en-US" sz="3200" u="sng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HCF Word Problems</a:t>
            </a:r>
            <a:endParaRPr b="1" i="0" sz="3200" u="sng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/>
        </p:nvSpPr>
        <p:spPr>
          <a:xfrm>
            <a:off x="285750" y="1000125"/>
            <a:ext cx="8572500" cy="329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Q) Find the lowest common multiple of 24, 36 and 40.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[A] 120             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[B] 240          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[C] 360           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[D] 480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/>
        </p:nvSpPr>
        <p:spPr>
          <a:xfrm>
            <a:off x="285750" y="1000125"/>
            <a:ext cx="8572500" cy="329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Q) </a:t>
            </a:r>
            <a:r>
              <a:rPr b="0" i="0" lang="en-US" sz="2400" u="non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greatest number that will exactly divide 36 and 84 is: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[A] 4             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[B] 6          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[C] 12           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 Antiqua"/>
              <a:buNone/>
            </a:pPr>
            <a:r>
              <a:rPr b="0" i="0" lang="en-US" sz="2400" u="none" cap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[D] 18</a:t>
            </a:r>
            <a:endParaRPr b="0" i="0" sz="2400" u="none" cap="non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idx="1" type="body"/>
          </p:nvPr>
        </p:nvSpPr>
        <p:spPr>
          <a:xfrm>
            <a:off x="320675" y="920750"/>
            <a:ext cx="8501063" cy="5014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265430" lvl="0" marL="265430" rtl="0" algn="just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Q) </a:t>
            </a: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Four bells ring at an interval 3min, 4min, 5min and 6 minutes respectively. If all the four bells ring at 9am first, when will it ring again? </a:t>
            </a:r>
            <a:endParaRPr b="1"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just"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A]. </a:t>
            </a:r>
            <a:r>
              <a:rPr lang="en-US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10:00am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B]. 10:30am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C]. 11:00am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D]. None of these</a:t>
            </a:r>
            <a:endParaRPr sz="2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/>
          <p:nvPr/>
        </p:nvSpPr>
        <p:spPr>
          <a:xfrm>
            <a:off x="214313" y="928688"/>
            <a:ext cx="8643937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Q) </a:t>
            </a: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Which of the following fraction is the largest? 7/8, 13/16, 31/40, 63/80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[A] 7/8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[B] 13/16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[C] 31/40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[D] 63/80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/>
          <p:nvPr/>
        </p:nvSpPr>
        <p:spPr>
          <a:xfrm>
            <a:off x="214313" y="928688"/>
            <a:ext cx="8643937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Q) </a:t>
            </a:r>
            <a:r>
              <a:rPr b="0" i="0" lang="en-US" sz="24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Three number are in the ratio of 3 : 4 : 5 and their L.C.M. is 2400. Their H.C.F. is: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[A] 40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[B] 80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[C] 120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[D] 200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/>
          <p:nvPr/>
        </p:nvSpPr>
        <p:spPr>
          <a:xfrm>
            <a:off x="214313" y="928688"/>
            <a:ext cx="8643937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Q) </a:t>
            </a:r>
            <a:r>
              <a:rPr b="0" i="0" lang="en-US" sz="24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Find the smallest number, which when divided by 3, 4 and 5 leaves remainder 1, 2 and  3 respectively?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[A] 60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[B] 53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[C] 58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[D] None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/>
          <p:nvPr/>
        </p:nvSpPr>
        <p:spPr>
          <a:xfrm>
            <a:off x="214313" y="928688"/>
            <a:ext cx="8643937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Q) </a:t>
            </a:r>
            <a:r>
              <a:rPr b="0" i="0" lang="en-US" sz="24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The greatest number which on dividing 1657 and 2037 leaves remainders 6 and 5 respectively, is: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[A] 123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[B] 127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[C] 235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[D] 305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/>
          <p:nvPr/>
        </p:nvSpPr>
        <p:spPr>
          <a:xfrm>
            <a:off x="214313" y="928688"/>
            <a:ext cx="8643937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Q) </a:t>
            </a:r>
            <a:r>
              <a:rPr b="0" i="0" lang="en-US" sz="24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Find the greatest number that will divide 43, 91 and 183 so as to leave the same remainder in each case.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[A] 4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[B] 7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[C] 9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[D] 13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/>
          <p:nvPr/>
        </p:nvSpPr>
        <p:spPr>
          <a:xfrm>
            <a:off x="214313" y="928688"/>
            <a:ext cx="8643937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Q) </a:t>
            </a:r>
            <a:r>
              <a:rPr b="0" i="0" lang="en-US" sz="2400" u="non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The product of two numbers is 4107. If the H.C.F. of these numbers is 37, then the greater number is: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[A] 101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[B] 107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[C] 111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[D] 185</a:t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3" y="981075"/>
            <a:ext cx="7883525" cy="4846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pec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2025-01-03T09:45:46Z</dcterms:created>
  <dc:creator>Aditya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CDD194A51F4E114A2F967767DA8FD92E_43</vt:lpwstr>
  </property>
  <property fmtid="{D5CDD505-2E9C-101B-9397-08002B2CF9AE}" pid="3" name="KSOProductBuildVer">
    <vt:lpwstr>1033-6.10.1.8197</vt:lpwstr>
  </property>
</Properties>
</file>