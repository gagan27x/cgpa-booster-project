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8.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handoutMasterIdLst>
    <p:handoutMasterId r:id="rId28"/>
  </p:handoutMasterIdLst>
  <p:sldIdLst>
    <p:sldId id="257" r:id="rId2"/>
    <p:sldId id="391" r:id="rId3"/>
    <p:sldId id="1082" r:id="rId4"/>
    <p:sldId id="1049" r:id="rId5"/>
    <p:sldId id="1059" r:id="rId6"/>
    <p:sldId id="1094" r:id="rId7"/>
    <p:sldId id="1060" r:id="rId8"/>
    <p:sldId id="1061" r:id="rId9"/>
    <p:sldId id="1062" r:id="rId10"/>
    <p:sldId id="265" r:id="rId11"/>
    <p:sldId id="266" r:id="rId12"/>
    <p:sldId id="267" r:id="rId13"/>
    <p:sldId id="1083" r:id="rId14"/>
    <p:sldId id="1084" r:id="rId15"/>
    <p:sldId id="268" r:id="rId16"/>
    <p:sldId id="1085" r:id="rId17"/>
    <p:sldId id="1086" r:id="rId18"/>
    <p:sldId id="1088" r:id="rId19"/>
    <p:sldId id="263" r:id="rId20"/>
    <p:sldId id="264" r:id="rId21"/>
    <p:sldId id="1090" r:id="rId22"/>
    <p:sldId id="1091" r:id="rId23"/>
    <p:sldId id="1092" r:id="rId24"/>
    <p:sldId id="1093" r:id="rId25"/>
    <p:sldId id="262"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2214"/>
    <a:srgbClr val="3C2112"/>
    <a:srgbClr val="B35531"/>
    <a:srgbClr val="6A2303"/>
    <a:srgbClr val="271E15"/>
    <a:srgbClr val="00203F"/>
    <a:srgbClr val="ABF1CF"/>
    <a:srgbClr val="A82B2B"/>
    <a:srgbClr val="2A27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061" autoAdjust="0"/>
  </p:normalViewPr>
  <p:slideViewPr>
    <p:cSldViewPr snapToGrid="0">
      <p:cViewPr varScale="1">
        <p:scale>
          <a:sx n="70" d="100"/>
          <a:sy n="70" d="100"/>
        </p:scale>
        <p:origin x="1410" y="60"/>
      </p:cViewPr>
      <p:guideLst>
        <p:guide orient="horz" pos="2160"/>
        <p:guide pos="2880"/>
      </p:guideLst>
    </p:cSldViewPr>
  </p:slid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C93793-C75F-472A-9103-1CE488AA96A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DFD405E-49DC-44AB-8E2A-128F010CB65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DFC81C-2E43-43B4-B0B9-E60DF012328B}" type="datetimeFigureOut">
              <a:rPr lang="en-IN" smtClean="0"/>
              <a:t>23-11-2023</a:t>
            </a:fld>
            <a:endParaRPr lang="en-IN"/>
          </a:p>
        </p:txBody>
      </p:sp>
      <p:sp>
        <p:nvSpPr>
          <p:cNvPr id="4" name="Footer Placeholder 3">
            <a:extLst>
              <a:ext uri="{FF2B5EF4-FFF2-40B4-BE49-F238E27FC236}">
                <a16:creationId xmlns:a16="http://schemas.microsoft.com/office/drawing/2014/main" id="{718AB7CF-C389-4BB4-A9A9-CC46622509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7A44B464-FBBC-494C-AA55-6DD40B7913C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C5D9BB-BDBC-4DA3-8917-4F15A86741DE}" type="slidenum">
              <a:rPr lang="en-IN" smtClean="0"/>
              <a:t>‹#›</a:t>
            </a:fld>
            <a:endParaRPr lang="en-IN"/>
          </a:p>
        </p:txBody>
      </p:sp>
    </p:spTree>
    <p:extLst>
      <p:ext uri="{BB962C8B-B14F-4D97-AF65-F5344CB8AC3E}">
        <p14:creationId xmlns:p14="http://schemas.microsoft.com/office/powerpoint/2010/main" val="2457292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EF5BA6-0F4F-4708-9BA9-7FC0655BA420}" type="datetimeFigureOut">
              <a:rPr lang="en-US" smtClean="0"/>
              <a:t>11/23/2023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060125-6CE7-4C8E-B066-2B5BA8009FD6}" type="slidenum">
              <a:rPr lang="en-US" smtClean="0"/>
              <a:t>‹#›</a:t>
            </a:fld>
            <a:endParaRPr lang="en-US"/>
          </a:p>
        </p:txBody>
      </p:sp>
    </p:spTree>
    <p:extLst>
      <p:ext uri="{BB962C8B-B14F-4D97-AF65-F5344CB8AC3E}">
        <p14:creationId xmlns:p14="http://schemas.microsoft.com/office/powerpoint/2010/main" val="404532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0880732B-2513-6A77-C6CD-DC4D95E29BDE}"/>
              </a:ext>
            </a:extLst>
          </p:cNvPr>
          <p:cNvSpPr>
            <a:spLocks noGrp="1" noRot="1" noChangeAspect="1" noTextEdit="1"/>
          </p:cNvSpPr>
          <p:nvPr>
            <p:ph type="sldImg"/>
          </p:nvPr>
        </p:nvSpPr>
        <p:spPr>
          <a:ln/>
        </p:spPr>
      </p:sp>
      <p:sp>
        <p:nvSpPr>
          <p:cNvPr id="36867" name="Notes Placeholder 2">
            <a:extLst>
              <a:ext uri="{FF2B5EF4-FFF2-40B4-BE49-F238E27FC236}">
                <a16:creationId xmlns:a16="http://schemas.microsoft.com/office/drawing/2014/main" id="{9221670A-00A2-93AB-BF66-0794DF4189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Six Sigma is a rigorous and a systematic methodology that utilizes information (management by facts) and statistical analysis to measure and improve a company's operational performance, practices and systems by identifying and preventing 'defects' in manufacturing and service-related processes in order to anticipate and exceed expectations of all stakeholders to accomplish effectiveness.</a:t>
            </a:r>
          </a:p>
        </p:txBody>
      </p:sp>
      <p:sp>
        <p:nvSpPr>
          <p:cNvPr id="36868" name="Slide Number Placeholder 3">
            <a:extLst>
              <a:ext uri="{FF2B5EF4-FFF2-40B4-BE49-F238E27FC236}">
                <a16:creationId xmlns:a16="http://schemas.microsoft.com/office/drawing/2014/main" id="{8CA73ED0-883C-DCD0-B6D2-6299316E3E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6EC05B-1A2F-4595-B7D6-EB3BC3EF251A}" type="slidenum">
              <a:rPr lang="en-US" altLang="en-US"/>
              <a:pPr eaLnBrk="1" hangingPunct="1"/>
              <a:t>4</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0880732B-2513-6A77-C6CD-DC4D95E29BDE}"/>
              </a:ext>
            </a:extLst>
          </p:cNvPr>
          <p:cNvSpPr>
            <a:spLocks noGrp="1" noRot="1" noChangeAspect="1" noTextEdit="1"/>
          </p:cNvSpPr>
          <p:nvPr>
            <p:ph type="sldImg"/>
          </p:nvPr>
        </p:nvSpPr>
        <p:spPr>
          <a:ln/>
        </p:spPr>
      </p:sp>
      <p:sp>
        <p:nvSpPr>
          <p:cNvPr id="36867" name="Notes Placeholder 2">
            <a:extLst>
              <a:ext uri="{FF2B5EF4-FFF2-40B4-BE49-F238E27FC236}">
                <a16:creationId xmlns:a16="http://schemas.microsoft.com/office/drawing/2014/main" id="{9221670A-00A2-93AB-BF66-0794DF4189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Six Sigma is a rigorous and a systematic methodology that utilizes information (management by facts) and statistical analysis to measure and improve a company's operational performance, practices and systems by identifying and preventing 'defects' in manufacturing and service-related processes in order to anticipate and exceed expectations of all stakeholders to accomplish effectiveness.</a:t>
            </a:r>
          </a:p>
        </p:txBody>
      </p:sp>
      <p:sp>
        <p:nvSpPr>
          <p:cNvPr id="36868" name="Slide Number Placeholder 3">
            <a:extLst>
              <a:ext uri="{FF2B5EF4-FFF2-40B4-BE49-F238E27FC236}">
                <a16:creationId xmlns:a16="http://schemas.microsoft.com/office/drawing/2014/main" id="{8CA73ED0-883C-DCD0-B6D2-6299316E3E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6EC05B-1A2F-4595-B7D6-EB3BC3EF251A}" type="slidenum">
              <a:rPr lang="en-US" altLang="en-US"/>
              <a:pPr eaLnBrk="1" hangingPunct="1"/>
              <a:t>5</a:t>
            </a:fld>
            <a:endParaRPr lang="en-US" altLang="en-US"/>
          </a:p>
        </p:txBody>
      </p:sp>
    </p:spTree>
    <p:extLst>
      <p:ext uri="{BB962C8B-B14F-4D97-AF65-F5344CB8AC3E}">
        <p14:creationId xmlns:p14="http://schemas.microsoft.com/office/powerpoint/2010/main" val="4040304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0880732B-2513-6A77-C6CD-DC4D95E29BDE}"/>
              </a:ext>
            </a:extLst>
          </p:cNvPr>
          <p:cNvSpPr>
            <a:spLocks noGrp="1" noRot="1" noChangeAspect="1" noTextEdit="1"/>
          </p:cNvSpPr>
          <p:nvPr>
            <p:ph type="sldImg"/>
          </p:nvPr>
        </p:nvSpPr>
        <p:spPr>
          <a:ln/>
        </p:spPr>
      </p:sp>
      <p:sp>
        <p:nvSpPr>
          <p:cNvPr id="36867" name="Notes Placeholder 2">
            <a:extLst>
              <a:ext uri="{FF2B5EF4-FFF2-40B4-BE49-F238E27FC236}">
                <a16:creationId xmlns:a16="http://schemas.microsoft.com/office/drawing/2014/main" id="{9221670A-00A2-93AB-BF66-0794DF4189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Six Sigma is a rigorous and a systematic methodology that utilizes information (management by facts) and statistical analysis to measure and improve a company's operational performance, practices and systems by identifying and preventing 'defects' in manufacturing and service-related processes in order to anticipate and exceed expectations of all stakeholders to accomplish effectiveness.</a:t>
            </a:r>
          </a:p>
        </p:txBody>
      </p:sp>
      <p:sp>
        <p:nvSpPr>
          <p:cNvPr id="36868" name="Slide Number Placeholder 3">
            <a:extLst>
              <a:ext uri="{FF2B5EF4-FFF2-40B4-BE49-F238E27FC236}">
                <a16:creationId xmlns:a16="http://schemas.microsoft.com/office/drawing/2014/main" id="{8CA73ED0-883C-DCD0-B6D2-6299316E3E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6EC05B-1A2F-4595-B7D6-EB3BC3EF251A}" type="slidenum">
              <a:rPr lang="en-US" altLang="en-US"/>
              <a:pPr eaLnBrk="1" hangingPunct="1"/>
              <a:t>6</a:t>
            </a:fld>
            <a:endParaRPr lang="en-US" altLang="en-US"/>
          </a:p>
        </p:txBody>
      </p:sp>
    </p:spTree>
    <p:extLst>
      <p:ext uri="{BB962C8B-B14F-4D97-AF65-F5344CB8AC3E}">
        <p14:creationId xmlns:p14="http://schemas.microsoft.com/office/powerpoint/2010/main" val="941735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0880732B-2513-6A77-C6CD-DC4D95E29BDE}"/>
              </a:ext>
            </a:extLst>
          </p:cNvPr>
          <p:cNvSpPr>
            <a:spLocks noGrp="1" noRot="1" noChangeAspect="1" noTextEdit="1"/>
          </p:cNvSpPr>
          <p:nvPr>
            <p:ph type="sldImg"/>
          </p:nvPr>
        </p:nvSpPr>
        <p:spPr>
          <a:ln/>
        </p:spPr>
      </p:sp>
      <p:sp>
        <p:nvSpPr>
          <p:cNvPr id="36867" name="Notes Placeholder 2">
            <a:extLst>
              <a:ext uri="{FF2B5EF4-FFF2-40B4-BE49-F238E27FC236}">
                <a16:creationId xmlns:a16="http://schemas.microsoft.com/office/drawing/2014/main" id="{9221670A-00A2-93AB-BF66-0794DF4189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Six Sigma is a rigorous and a systematic methodology that utilizes information (management by facts) and statistical analysis to measure and improve a company's operational performance, practices and systems by identifying and preventing 'defects' in manufacturing and service-related processes in order to anticipate and exceed expectations of all stakeholders to accomplish effectiveness.</a:t>
            </a:r>
          </a:p>
        </p:txBody>
      </p:sp>
      <p:sp>
        <p:nvSpPr>
          <p:cNvPr id="36868" name="Slide Number Placeholder 3">
            <a:extLst>
              <a:ext uri="{FF2B5EF4-FFF2-40B4-BE49-F238E27FC236}">
                <a16:creationId xmlns:a16="http://schemas.microsoft.com/office/drawing/2014/main" id="{8CA73ED0-883C-DCD0-B6D2-6299316E3E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6EC05B-1A2F-4595-B7D6-EB3BC3EF251A}" type="slidenum">
              <a:rPr lang="en-US" altLang="en-US"/>
              <a:pPr eaLnBrk="1" hangingPunct="1"/>
              <a:t>7</a:t>
            </a:fld>
            <a:endParaRPr lang="en-US" altLang="en-US"/>
          </a:p>
        </p:txBody>
      </p:sp>
    </p:spTree>
    <p:extLst>
      <p:ext uri="{BB962C8B-B14F-4D97-AF65-F5344CB8AC3E}">
        <p14:creationId xmlns:p14="http://schemas.microsoft.com/office/powerpoint/2010/main" val="149971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0880732B-2513-6A77-C6CD-DC4D95E29BDE}"/>
              </a:ext>
            </a:extLst>
          </p:cNvPr>
          <p:cNvSpPr>
            <a:spLocks noGrp="1" noRot="1" noChangeAspect="1" noTextEdit="1"/>
          </p:cNvSpPr>
          <p:nvPr>
            <p:ph type="sldImg"/>
          </p:nvPr>
        </p:nvSpPr>
        <p:spPr>
          <a:ln/>
        </p:spPr>
      </p:sp>
      <p:sp>
        <p:nvSpPr>
          <p:cNvPr id="36867" name="Notes Placeholder 2">
            <a:extLst>
              <a:ext uri="{FF2B5EF4-FFF2-40B4-BE49-F238E27FC236}">
                <a16:creationId xmlns:a16="http://schemas.microsoft.com/office/drawing/2014/main" id="{9221670A-00A2-93AB-BF66-0794DF4189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Six Sigma is a rigorous and a systematic methodology that utilizes information (management by facts) and statistical analysis to measure and improve a company's operational performance, practices and systems by identifying and preventing 'defects' in manufacturing and service-related processes in order to anticipate and exceed expectations of all stakeholders to accomplish effectiveness.</a:t>
            </a:r>
          </a:p>
        </p:txBody>
      </p:sp>
      <p:sp>
        <p:nvSpPr>
          <p:cNvPr id="36868" name="Slide Number Placeholder 3">
            <a:extLst>
              <a:ext uri="{FF2B5EF4-FFF2-40B4-BE49-F238E27FC236}">
                <a16:creationId xmlns:a16="http://schemas.microsoft.com/office/drawing/2014/main" id="{8CA73ED0-883C-DCD0-B6D2-6299316E3E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6EC05B-1A2F-4595-B7D6-EB3BC3EF251A}" type="slidenum">
              <a:rPr lang="en-US" altLang="en-US"/>
              <a:pPr eaLnBrk="1" hangingPunct="1"/>
              <a:t>8</a:t>
            </a:fld>
            <a:endParaRPr lang="en-US" altLang="en-US"/>
          </a:p>
        </p:txBody>
      </p:sp>
    </p:spTree>
    <p:extLst>
      <p:ext uri="{BB962C8B-B14F-4D97-AF65-F5344CB8AC3E}">
        <p14:creationId xmlns:p14="http://schemas.microsoft.com/office/powerpoint/2010/main" val="792875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0880732B-2513-6A77-C6CD-DC4D95E29BDE}"/>
              </a:ext>
            </a:extLst>
          </p:cNvPr>
          <p:cNvSpPr>
            <a:spLocks noGrp="1" noRot="1" noChangeAspect="1" noTextEdit="1"/>
          </p:cNvSpPr>
          <p:nvPr>
            <p:ph type="sldImg"/>
          </p:nvPr>
        </p:nvSpPr>
        <p:spPr>
          <a:ln/>
        </p:spPr>
      </p:sp>
      <p:sp>
        <p:nvSpPr>
          <p:cNvPr id="36867" name="Notes Placeholder 2">
            <a:extLst>
              <a:ext uri="{FF2B5EF4-FFF2-40B4-BE49-F238E27FC236}">
                <a16:creationId xmlns:a16="http://schemas.microsoft.com/office/drawing/2014/main" id="{9221670A-00A2-93AB-BF66-0794DF4189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Six Sigma is a rigorous and a systematic methodology that utilizes information (management by facts) and statistical analysis to measure and improve a company's operational performance, practices and systems by identifying and preventing 'defects' in manufacturing and service-related processes in order to anticipate and exceed expectations of all stakeholders to accomplish effectiveness.</a:t>
            </a:r>
          </a:p>
        </p:txBody>
      </p:sp>
      <p:sp>
        <p:nvSpPr>
          <p:cNvPr id="36868" name="Slide Number Placeholder 3">
            <a:extLst>
              <a:ext uri="{FF2B5EF4-FFF2-40B4-BE49-F238E27FC236}">
                <a16:creationId xmlns:a16="http://schemas.microsoft.com/office/drawing/2014/main" id="{8CA73ED0-883C-DCD0-B6D2-6299316E3E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6EC05B-1A2F-4595-B7D6-EB3BC3EF251A}" type="slidenum">
              <a:rPr lang="en-US" altLang="en-US"/>
              <a:pPr eaLnBrk="1" hangingPunct="1"/>
              <a:t>9</a:t>
            </a:fld>
            <a:endParaRPr lang="en-US" altLang="en-US"/>
          </a:p>
        </p:txBody>
      </p:sp>
    </p:spTree>
    <p:extLst>
      <p:ext uri="{BB962C8B-B14F-4D97-AF65-F5344CB8AC3E}">
        <p14:creationId xmlns:p14="http://schemas.microsoft.com/office/powerpoint/2010/main" val="20561730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1"/>
        </a:solidFill>
        <a:effectLst/>
      </p:bgPr>
    </p:bg>
    <p:spTree>
      <p:nvGrpSpPr>
        <p:cNvPr id="1" name=""/>
        <p:cNvGrpSpPr/>
        <p:nvPr/>
      </p:nvGrpSpPr>
      <p:grpSpPr>
        <a:xfrm>
          <a:off x="0" y="0"/>
          <a:ext cx="0" cy="0"/>
          <a:chOff x="0" y="0"/>
          <a:chExt cx="0" cy="0"/>
        </a:xfrm>
      </p:grpSpPr>
      <p:pic>
        <p:nvPicPr>
          <p:cNvPr id="3" name="Picture 2" descr="A picture containing footwear, person, design, illustration&#10;&#10;Description automatically generated">
            <a:extLst>
              <a:ext uri="{FF2B5EF4-FFF2-40B4-BE49-F238E27FC236}">
                <a16:creationId xmlns:a16="http://schemas.microsoft.com/office/drawing/2014/main" id="{F87A9B67-6BCC-B540-1917-9DA5157A72F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66917" cy="6858000"/>
          </a:xfrm>
          <a:prstGeom prst="rect">
            <a:avLst/>
          </a:prstGeom>
        </p:spPr>
      </p:pic>
      <p:sp>
        <p:nvSpPr>
          <p:cNvPr id="4" name="Rectangle 3">
            <a:extLst>
              <a:ext uri="{FF2B5EF4-FFF2-40B4-BE49-F238E27FC236}">
                <a16:creationId xmlns:a16="http://schemas.microsoft.com/office/drawing/2014/main" id="{CDB6B405-EF7C-14CF-E955-25B6D7D0BD01}"/>
              </a:ext>
            </a:extLst>
          </p:cNvPr>
          <p:cNvSpPr/>
          <p:nvPr userDrawn="1"/>
        </p:nvSpPr>
        <p:spPr>
          <a:xfrm>
            <a:off x="33906" y="0"/>
            <a:ext cx="9133010" cy="6857999"/>
          </a:xfrm>
          <a:prstGeom prst="rect">
            <a:avLst/>
          </a:prstGeom>
          <a:solidFill>
            <a:schemeClr val="bg1">
              <a:lumMod val="95000"/>
              <a:alpha val="6000"/>
            </a:schemeClr>
          </a:solidFill>
          <a:ln>
            <a:noFill/>
          </a:ln>
          <a:effectLst>
            <a:outerShdw blurRad="50800" dist="50800" dir="5400000" algn="ctr" rotWithShape="0">
              <a:srgbClr val="00000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FA4072EC-5F8E-4E43-B7DE-AB684CBC3677}"/>
              </a:ext>
            </a:extLst>
          </p:cNvPr>
          <p:cNvSpPr txBox="1"/>
          <p:nvPr userDrawn="1"/>
        </p:nvSpPr>
        <p:spPr>
          <a:xfrm>
            <a:off x="0" y="661730"/>
            <a:ext cx="5185954" cy="584775"/>
          </a:xfrm>
          <a:prstGeom prst="rect">
            <a:avLst/>
          </a:prstGeom>
          <a:solidFill>
            <a:schemeClr val="bg2"/>
          </a:solidFill>
          <a:effectLst>
            <a:outerShdw blurRad="63500" sx="102000" sy="102000" algn="ctr" rotWithShape="0">
              <a:prstClr val="black">
                <a:alpha val="40000"/>
              </a:prstClr>
            </a:outerShdw>
          </a:effectLst>
        </p:spPr>
        <p:txBody>
          <a:bodyPr wrap="square" rtlCol="0">
            <a:spAutoFit/>
          </a:bodyPr>
          <a:lstStyle/>
          <a:p>
            <a:pPr algn="r"/>
            <a:r>
              <a:rPr lang="en-IN" sz="3200" b="1" cap="small" spc="300" baseline="0" dirty="0">
                <a:solidFill>
                  <a:srgbClr val="3C2112"/>
                </a:solidFill>
                <a:effectLst>
                  <a:outerShdw blurRad="38100" dist="38100" dir="2700000" algn="tl">
                    <a:srgbClr val="000000">
                      <a:alpha val="43137"/>
                    </a:srgbClr>
                  </a:outerShdw>
                </a:effectLst>
                <a:latin typeface="Agency FB" panose="020B0503020202020204" pitchFamily="34" charset="0"/>
              </a:rPr>
              <a:t>TOTAL QUALITY MANAGEMENT</a:t>
            </a:r>
          </a:p>
        </p:txBody>
      </p:sp>
      <p:sp>
        <p:nvSpPr>
          <p:cNvPr id="86" name="Freeform: Shape 85">
            <a:extLst>
              <a:ext uri="{FF2B5EF4-FFF2-40B4-BE49-F238E27FC236}">
                <a16:creationId xmlns:a16="http://schemas.microsoft.com/office/drawing/2014/main" id="{07E2CF37-FA6E-44CC-9A57-F53E45C279BC}"/>
              </a:ext>
            </a:extLst>
          </p:cNvPr>
          <p:cNvSpPr/>
          <p:nvPr userDrawn="1"/>
        </p:nvSpPr>
        <p:spPr>
          <a:xfrm>
            <a:off x="5930538" y="5555671"/>
            <a:ext cx="3202472" cy="584775"/>
          </a:xfrm>
          <a:custGeom>
            <a:avLst/>
            <a:gdLst>
              <a:gd name="connsiteX0" fmla="*/ 164209 w 2409065"/>
              <a:gd name="connsiteY0" fmla="*/ 0 h 584775"/>
              <a:gd name="connsiteX1" fmla="*/ 2409065 w 2409065"/>
              <a:gd name="connsiteY1" fmla="*/ 0 h 584775"/>
              <a:gd name="connsiteX2" fmla="*/ 2409065 w 2409065"/>
              <a:gd name="connsiteY2" fmla="*/ 584775 h 584775"/>
              <a:gd name="connsiteX3" fmla="*/ 0 w 2409065"/>
              <a:gd name="connsiteY3" fmla="*/ 584775 h 584775"/>
            </a:gdLst>
            <a:ahLst/>
            <a:cxnLst>
              <a:cxn ang="0">
                <a:pos x="connsiteX0" y="connsiteY0"/>
              </a:cxn>
              <a:cxn ang="0">
                <a:pos x="connsiteX1" y="connsiteY1"/>
              </a:cxn>
              <a:cxn ang="0">
                <a:pos x="connsiteX2" y="connsiteY2"/>
              </a:cxn>
              <a:cxn ang="0">
                <a:pos x="connsiteX3" y="connsiteY3"/>
              </a:cxn>
            </a:cxnLst>
            <a:rect l="l" t="t" r="r" b="b"/>
            <a:pathLst>
              <a:path w="2409065" h="584775">
                <a:moveTo>
                  <a:pt x="164209" y="0"/>
                </a:moveTo>
                <a:lnTo>
                  <a:pt x="2409065" y="0"/>
                </a:lnTo>
                <a:lnTo>
                  <a:pt x="2409065" y="584775"/>
                </a:lnTo>
                <a:lnTo>
                  <a:pt x="0" y="584775"/>
                </a:lnTo>
                <a:close/>
              </a:path>
            </a:pathLst>
          </a:custGeom>
          <a:solidFill>
            <a:srgbClr val="3D221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en-IN" sz="2800" spc="300" dirty="0">
                <a:latin typeface="Agency FB" panose="020B0503020202020204" pitchFamily="34" charset="0"/>
              </a:rPr>
              <a:t>Dr. Mukhtiar Singh</a:t>
            </a:r>
          </a:p>
        </p:txBody>
      </p:sp>
      <p:sp>
        <p:nvSpPr>
          <p:cNvPr id="87" name="TextBox 86">
            <a:extLst>
              <a:ext uri="{FF2B5EF4-FFF2-40B4-BE49-F238E27FC236}">
                <a16:creationId xmlns:a16="http://schemas.microsoft.com/office/drawing/2014/main" id="{D0BAD49C-61FB-41EA-9142-FB87071FADBE}"/>
              </a:ext>
            </a:extLst>
          </p:cNvPr>
          <p:cNvSpPr txBox="1"/>
          <p:nvPr userDrawn="1"/>
        </p:nvSpPr>
        <p:spPr>
          <a:xfrm>
            <a:off x="5839097" y="6278058"/>
            <a:ext cx="3307767" cy="430887"/>
          </a:xfrm>
          <a:custGeom>
            <a:avLst/>
            <a:gdLst>
              <a:gd name="connsiteX0" fmla="*/ 120996 w 2580221"/>
              <a:gd name="connsiteY0" fmla="*/ 0 h 430887"/>
              <a:gd name="connsiteX1" fmla="*/ 2580221 w 2580221"/>
              <a:gd name="connsiteY1" fmla="*/ 0 h 430887"/>
              <a:gd name="connsiteX2" fmla="*/ 2580221 w 2580221"/>
              <a:gd name="connsiteY2" fmla="*/ 430887 h 430887"/>
              <a:gd name="connsiteX3" fmla="*/ 0 w 2580221"/>
              <a:gd name="connsiteY3" fmla="*/ 430887 h 430887"/>
            </a:gdLst>
            <a:ahLst/>
            <a:cxnLst>
              <a:cxn ang="0">
                <a:pos x="connsiteX0" y="connsiteY0"/>
              </a:cxn>
              <a:cxn ang="0">
                <a:pos x="connsiteX1" y="connsiteY1"/>
              </a:cxn>
              <a:cxn ang="0">
                <a:pos x="connsiteX2" y="connsiteY2"/>
              </a:cxn>
              <a:cxn ang="0">
                <a:pos x="connsiteX3" y="connsiteY3"/>
              </a:cxn>
            </a:cxnLst>
            <a:rect l="l" t="t" r="r" b="b"/>
            <a:pathLst>
              <a:path w="2580221" h="430887">
                <a:moveTo>
                  <a:pt x="120996" y="0"/>
                </a:moveTo>
                <a:lnTo>
                  <a:pt x="2580221" y="0"/>
                </a:lnTo>
                <a:lnTo>
                  <a:pt x="2580221" y="430887"/>
                </a:lnTo>
                <a:lnTo>
                  <a:pt x="0" y="430887"/>
                </a:lnTo>
                <a:close/>
              </a:path>
            </a:pathLst>
          </a:custGeom>
          <a:solidFill>
            <a:schemeClr val="bg2"/>
          </a:solidFill>
          <a:effectLst>
            <a:outerShdw blurRad="63500" sx="102000" sy="102000" algn="ctr" rotWithShape="0">
              <a:prstClr val="black">
                <a:alpha val="40000"/>
              </a:prstClr>
            </a:outerShdw>
          </a:effectLst>
        </p:spPr>
        <p:txBody>
          <a:bodyPr wrap="square" rtlCol="0" anchor="ctr">
            <a:noAutofit/>
          </a:bodyPr>
          <a:lstStyle/>
          <a:p>
            <a:pPr algn="ctr"/>
            <a:r>
              <a:rPr lang="en-IN" sz="2000" cap="none" spc="300" baseline="0" dirty="0">
                <a:solidFill>
                  <a:srgbClr val="3C2112"/>
                </a:solidFill>
                <a:effectLst>
                  <a:outerShdw blurRad="38100" dist="38100" dir="2700000" algn="tl">
                    <a:srgbClr val="000000">
                      <a:alpha val="43137"/>
                    </a:srgbClr>
                  </a:outerShdw>
                </a:effectLst>
                <a:latin typeface="Agency FB" panose="020B0503020202020204" pitchFamily="34" charset="0"/>
              </a:rPr>
              <a:t>Assistant Professor</a:t>
            </a:r>
          </a:p>
        </p:txBody>
      </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Learning Outcome">
    <p:bg>
      <p:bgPr>
        <a:blipFill dpi="0" rotWithShape="1">
          <a:blip r:embed="rId2">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2171700"/>
          </a:xfrm>
          <a:prstGeom prst="rect">
            <a:avLst/>
          </a:prstGeom>
          <a:gradFill flip="none" rotWithShape="1">
            <a:gsLst>
              <a:gs pos="0">
                <a:srgbClr val="ABF1CF"/>
              </a:gs>
              <a:gs pos="23000">
                <a:srgbClr val="748A72"/>
              </a:gs>
              <a:gs pos="44000">
                <a:srgbClr val="595643"/>
              </a:gs>
              <a:gs pos="77000">
                <a:srgbClr val="3D2214"/>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28650" y="0"/>
            <a:ext cx="3600450" cy="2171700"/>
          </a:xfrm>
        </p:spPr>
        <p:txBody>
          <a:bodyPr/>
          <a:lstStyle>
            <a:lvl1pPr>
              <a:spcAft>
                <a:spcPts val="600"/>
              </a:spcAft>
              <a:defRPr>
                <a:solidFill>
                  <a:srgbClr val="ABF1CF"/>
                </a:solidFill>
                <a:effectLst>
                  <a:outerShdw blurRad="38100" dist="38100" dir="2700000" algn="tl">
                    <a:srgbClr val="000000">
                      <a:alpha val="43137"/>
                    </a:srgbClr>
                  </a:outerShdw>
                </a:effectLst>
              </a:defRPr>
            </a:lvl1pPr>
          </a:lstStyle>
          <a:p>
            <a:r>
              <a:rPr lang="en-US" dirty="0"/>
              <a:t>Learning</a:t>
            </a:r>
            <a:br>
              <a:rPr lang="en-US" dirty="0"/>
            </a:br>
            <a:r>
              <a:rPr lang="en-US" dirty="0"/>
              <a:t>Outcomes</a:t>
            </a:r>
          </a:p>
        </p:txBody>
      </p:sp>
      <p:sp>
        <p:nvSpPr>
          <p:cNvPr id="3" name="Content Placeholder 2"/>
          <p:cNvSpPr>
            <a:spLocks noGrp="1"/>
          </p:cNvSpPr>
          <p:nvPr>
            <p:ph idx="1" hasCustomPrompt="1"/>
          </p:nvPr>
        </p:nvSpPr>
        <p:spPr>
          <a:xfrm>
            <a:off x="1200148" y="2809874"/>
            <a:ext cx="7315201" cy="3819525"/>
          </a:xfrm>
        </p:spPr>
        <p:txBody>
          <a:bodyPr/>
          <a:lstStyle>
            <a:lvl1pPr>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Bullseye outline">
            <a:extLst>
              <a:ext uri="{FF2B5EF4-FFF2-40B4-BE49-F238E27FC236}">
                <a16:creationId xmlns:a16="http://schemas.microsoft.com/office/drawing/2014/main" id="{0F3B9253-370A-44CC-8474-0C7FCBCF9734}"/>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86650" y="333375"/>
            <a:ext cx="1504950" cy="1504950"/>
          </a:xfrm>
          <a:prstGeom prst="rect">
            <a:avLst/>
          </a:prstGeom>
          <a:effectLst>
            <a:outerShdw blurRad="50800" dist="38100" dir="2700000" algn="tl" rotWithShape="0">
              <a:prstClr val="black">
                <a:alpha val="40000"/>
              </a:prstClr>
            </a:outerShdw>
          </a:effectLst>
        </p:spPr>
      </p:pic>
      <p:sp>
        <p:nvSpPr>
          <p:cNvPr id="14" name="TextBox 13">
            <a:extLst>
              <a:ext uri="{FF2B5EF4-FFF2-40B4-BE49-F238E27FC236}">
                <a16:creationId xmlns:a16="http://schemas.microsoft.com/office/drawing/2014/main" id="{B11982A6-2D52-4584-A559-5808F0A81B65}"/>
              </a:ext>
            </a:extLst>
          </p:cNvPr>
          <p:cNvSpPr txBox="1"/>
          <p:nvPr userDrawn="1"/>
        </p:nvSpPr>
        <p:spPr>
          <a:xfrm>
            <a:off x="628650" y="2243128"/>
            <a:ext cx="7315200" cy="523220"/>
          </a:xfrm>
          <a:prstGeom prst="rect">
            <a:avLst/>
          </a:prstGeom>
          <a:noFill/>
        </p:spPr>
        <p:txBody>
          <a:bodyPr wrap="square" rtlCol="0">
            <a:spAutoFit/>
          </a:bodyPr>
          <a:lstStyle/>
          <a:p>
            <a:r>
              <a:rPr lang="en-US" sz="2800" dirty="0">
                <a:solidFill>
                  <a:srgbClr val="3D2214"/>
                </a:solidFill>
              </a:rPr>
              <a:t>After this lecture, you will be able to</a:t>
            </a: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3D221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4000">
                <a:solidFill>
                  <a:srgbClr val="ABF1CF"/>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spcBef>
                <a:spcPts val="600"/>
              </a:spcBef>
              <a:buClr>
                <a:srgbClr val="00203F"/>
              </a:buClr>
              <a:defRPr sz="2600"/>
            </a:lvl1pPr>
            <a:lvl2pPr>
              <a:lnSpc>
                <a:spcPct val="150000"/>
              </a:lnSpc>
              <a:spcBef>
                <a:spcPts val="600"/>
              </a:spcBef>
              <a:buClr>
                <a:srgbClr val="00203F"/>
              </a:buClr>
              <a:defRPr sz="2600"/>
            </a:lvl2pPr>
            <a:lvl3pPr>
              <a:lnSpc>
                <a:spcPct val="150000"/>
              </a:lnSpc>
              <a:spcBef>
                <a:spcPts val="600"/>
              </a:spcBef>
              <a:buClr>
                <a:srgbClr val="00203F"/>
              </a:buClr>
              <a:defRPr sz="2400"/>
            </a:lvl3pPr>
            <a:lvl4pPr>
              <a:buClr>
                <a:srgbClr val="00203F"/>
              </a:buClr>
              <a:defRPr/>
            </a:lvl4pPr>
            <a:lvl5pPr>
              <a:buClr>
                <a:srgbClr val="00203F"/>
              </a:buClr>
              <a:defRPr/>
            </a:lvl5pPr>
          </a:lstStyle>
          <a:p>
            <a:pPr lvl="0"/>
            <a:r>
              <a:rPr lang="en-US" dirty="0"/>
              <a:t>Slide Content</a:t>
            </a:r>
          </a:p>
          <a:p>
            <a:pPr lvl="1"/>
            <a:endParaRPr lang="en-US" sz="2600" dirty="0"/>
          </a:p>
          <a:p>
            <a:pPr lvl="2"/>
            <a:endParaRPr lang="en-US" dirty="0"/>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3D221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4000">
                <a:solidFill>
                  <a:srgbClr val="ABF1CF"/>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vert="horz" lIns="91440" tIns="45720" rIns="91440" bIns="45720" rtlCol="0">
            <a:normAutofit/>
          </a:bodyPr>
          <a:lstStyle>
            <a:lvl1pPr>
              <a:defRPr lang="en-US" sz="2600" dirty="0"/>
            </a:lvl1pPr>
          </a:lstStyle>
          <a:p>
            <a:pPr lvl="0">
              <a:lnSpc>
                <a:spcPct val="150000"/>
              </a:lnSpc>
              <a:spcBef>
                <a:spcPts val="600"/>
              </a:spcBef>
              <a:buClr>
                <a:srgbClr val="00203F"/>
              </a:buClr>
            </a:pPr>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t>11/23/2023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t>11/23/2023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t>11/23/2023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t>11/23/2023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t>11/23/2023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t>11/23/2023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t>11/23/2023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t>11/23/2023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F1CF"/>
            </a:gs>
            <a:gs pos="23000">
              <a:srgbClr val="748A72"/>
            </a:gs>
            <a:gs pos="44000">
              <a:srgbClr val="595643"/>
            </a:gs>
            <a:gs pos="77000">
              <a:srgbClr val="3D2214"/>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603A978-308B-47DF-8E55-1DF226345A71}"/>
              </a:ext>
            </a:extLst>
          </p:cNvPr>
          <p:cNvSpPr/>
          <p:nvPr userDrawn="1"/>
        </p:nvSpPr>
        <p:spPr>
          <a:xfrm>
            <a:off x="637309" y="457200"/>
            <a:ext cx="7869381" cy="5943600"/>
          </a:xfrm>
          <a:prstGeom prst="rect">
            <a:avLst/>
          </a:prstGeom>
          <a:solidFill>
            <a:srgbClr val="3D2214">
              <a:alpha val="4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057E37D8-9175-4940-B181-0AAF589A9111}"/>
              </a:ext>
            </a:extLst>
          </p:cNvPr>
          <p:cNvSpPr txBox="1"/>
          <p:nvPr userDrawn="1"/>
        </p:nvSpPr>
        <p:spPr>
          <a:xfrm>
            <a:off x="2098964" y="2909455"/>
            <a:ext cx="4946072" cy="769441"/>
          </a:xfrm>
          <a:prstGeom prst="rect">
            <a:avLst/>
          </a:prstGeom>
          <a:noFill/>
        </p:spPr>
        <p:txBody>
          <a:bodyPr wrap="square" rtlCol="0">
            <a:spAutoFit/>
          </a:bodyPr>
          <a:lstStyle/>
          <a:p>
            <a:pPr algn="ctr"/>
            <a:r>
              <a:rPr lang="en-IN" sz="4400" dirty="0">
                <a:solidFill>
                  <a:schemeClr val="bg1"/>
                </a:solidFill>
                <a:effectLst>
                  <a:outerShdw blurRad="38100" dist="38100" dir="2700000" algn="tl">
                    <a:srgbClr val="000000">
                      <a:alpha val="43137"/>
                    </a:srgbClr>
                  </a:outerShdw>
                </a:effectLst>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t>11/23/2023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1IIYZloCPSA" TargetMode="External"/><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C151D-D46B-4DA9-8493-4373A620BB0B}"/>
              </a:ext>
            </a:extLst>
          </p:cNvPr>
          <p:cNvSpPr>
            <a:spLocks noGrp="1"/>
          </p:cNvSpPr>
          <p:nvPr>
            <p:ph type="title"/>
          </p:nvPr>
        </p:nvSpPr>
        <p:spPr/>
        <p:txBody>
          <a:bodyPr/>
          <a:lstStyle/>
          <a:p>
            <a:r>
              <a:rPr lang="en-US" dirty="0"/>
              <a:t>Learning Outcomes</a:t>
            </a:r>
          </a:p>
        </p:txBody>
      </p:sp>
      <p:sp>
        <p:nvSpPr>
          <p:cNvPr id="3" name="Content Placeholder 2">
            <a:extLst>
              <a:ext uri="{FF2B5EF4-FFF2-40B4-BE49-F238E27FC236}">
                <a16:creationId xmlns:a16="http://schemas.microsoft.com/office/drawing/2014/main" id="{42504E2F-E6CE-4848-8876-EBEFA0E4BEED}"/>
              </a:ext>
            </a:extLst>
          </p:cNvPr>
          <p:cNvSpPr>
            <a:spLocks noGrp="1"/>
          </p:cNvSpPr>
          <p:nvPr>
            <p:ph idx="1"/>
          </p:nvPr>
        </p:nvSpPr>
        <p:spPr/>
        <p:txBody>
          <a:bodyPr/>
          <a:lstStyle/>
          <a:p>
            <a:pPr algn="just">
              <a:lnSpc>
                <a:spcPct val="150000"/>
              </a:lnSpc>
            </a:pPr>
            <a:r>
              <a:rPr lang="en-IN" dirty="0">
                <a:latin typeface="Book Antiqua" panose="02040602050305030304" pitchFamily="18" charset="0"/>
              </a:rPr>
              <a:t>Understand Rapid Prototyping</a:t>
            </a:r>
          </a:p>
          <a:p>
            <a:pPr algn="just">
              <a:lnSpc>
                <a:spcPct val="150000"/>
              </a:lnSpc>
            </a:pPr>
            <a:r>
              <a:rPr lang="en-US" dirty="0">
                <a:latin typeface="Book Antiqua" panose="02040602050305030304" pitchFamily="18" charset="0"/>
              </a:rPr>
              <a:t>Key technology of </a:t>
            </a:r>
            <a:r>
              <a:rPr lang="en-IN" dirty="0">
                <a:latin typeface="Book Antiqua" panose="02040602050305030304" pitchFamily="18" charset="0"/>
              </a:rPr>
              <a:t>Rapid Prototyping</a:t>
            </a:r>
            <a:endParaRPr lang="en-US" dirty="0">
              <a:latin typeface="Book Antiqua" panose="02040602050305030304" pitchFamily="18" charset="0"/>
            </a:endParaRPr>
          </a:p>
          <a:p>
            <a:pPr algn="just">
              <a:lnSpc>
                <a:spcPct val="150000"/>
              </a:lnSpc>
            </a:pPr>
            <a:endParaRPr lang="en-IN" dirty="0">
              <a:latin typeface="Book Antiqua" panose="02040602050305030304" pitchFamily="18" charset="0"/>
            </a:endParaRPr>
          </a:p>
          <a:p>
            <a:pPr marL="0" indent="0">
              <a:lnSpc>
                <a:spcPct val="150000"/>
              </a:lnSpc>
              <a:buNone/>
            </a:pPr>
            <a:endParaRPr lang="en-US" dirty="0">
              <a:latin typeface="Book Antiqua" panose="02040602050305030304" pitchFamily="18" charset="0"/>
            </a:endParaRPr>
          </a:p>
        </p:txBody>
      </p:sp>
    </p:spTree>
    <p:extLst>
      <p:ext uri="{BB962C8B-B14F-4D97-AF65-F5344CB8AC3E}">
        <p14:creationId xmlns:p14="http://schemas.microsoft.com/office/powerpoint/2010/main" val="356848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73302-61FF-4496-8486-8236A8DDD256}"/>
              </a:ext>
            </a:extLst>
          </p:cNvPr>
          <p:cNvSpPr>
            <a:spLocks noGrp="1"/>
          </p:cNvSpPr>
          <p:nvPr>
            <p:ph type="title"/>
          </p:nvPr>
        </p:nvSpPr>
        <p:spPr/>
        <p:txBody>
          <a:bodyPr>
            <a:normAutofit/>
          </a:bodyPr>
          <a:lstStyle/>
          <a:p>
            <a:pPr algn="just"/>
            <a:r>
              <a:rPr lang="en-US" sz="3200" b="1" i="0" dirty="0">
                <a:solidFill>
                  <a:schemeClr val="bg1"/>
                </a:solidFill>
                <a:effectLst/>
                <a:latin typeface="Söhne"/>
              </a:rPr>
              <a:t>Rapid Prototyping </a:t>
            </a:r>
            <a:endParaRPr lang="en-IN" sz="3200" b="1" cap="all" dirty="0">
              <a:solidFill>
                <a:schemeClr val="bg1"/>
              </a:solidFill>
              <a:effectLst/>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C46FCBCF-BF11-3681-F2AF-6903C6FB7D6A}"/>
              </a:ext>
            </a:extLst>
          </p:cNvPr>
          <p:cNvSpPr>
            <a:spLocks noGrp="1"/>
          </p:cNvSpPr>
          <p:nvPr>
            <p:ph idx="1"/>
          </p:nvPr>
        </p:nvSpPr>
        <p:spPr>
          <a:xfrm>
            <a:off x="361950" y="1295400"/>
            <a:ext cx="8582025" cy="5405651"/>
          </a:xfrm>
        </p:spPr>
        <p:txBody>
          <a:bodyPr>
            <a:noAutofit/>
          </a:bodyPr>
          <a:lstStyle/>
          <a:p>
            <a:pPr marL="0" marR="0" indent="0" algn="just">
              <a:spcBef>
                <a:spcPts val="600"/>
              </a:spcBef>
              <a:spcAft>
                <a:spcPts val="600"/>
              </a:spcAft>
              <a:buNone/>
            </a:pPr>
            <a:r>
              <a:rPr lang="en-US" sz="3600" b="1" dirty="0">
                <a:solidFill>
                  <a:srgbClr val="FF0000"/>
                </a:solidFill>
                <a:latin typeface="Book Antiqua" panose="02040602050305030304" pitchFamily="18" charset="0"/>
              </a:rPr>
              <a:t>Rapid</a:t>
            </a:r>
            <a:r>
              <a:rPr lang="en-US" sz="3600" b="1" spc="-65" dirty="0">
                <a:solidFill>
                  <a:srgbClr val="FF0000"/>
                </a:solidFill>
                <a:latin typeface="Book Antiqua" panose="02040602050305030304" pitchFamily="18" charset="0"/>
              </a:rPr>
              <a:t> </a:t>
            </a:r>
            <a:r>
              <a:rPr lang="en-US" sz="3600" b="1" dirty="0">
                <a:solidFill>
                  <a:srgbClr val="FF0000"/>
                </a:solidFill>
                <a:latin typeface="Book Antiqua" panose="02040602050305030304" pitchFamily="18" charset="0"/>
              </a:rPr>
              <a:t>Prototyping</a:t>
            </a:r>
            <a:r>
              <a:rPr lang="en-US" sz="3600" b="1" spc="-50" dirty="0">
                <a:solidFill>
                  <a:srgbClr val="FF0000"/>
                </a:solidFill>
                <a:latin typeface="Book Antiqua" panose="02040602050305030304" pitchFamily="18" charset="0"/>
              </a:rPr>
              <a:t> </a:t>
            </a:r>
            <a:r>
              <a:rPr lang="en-US" sz="3600" dirty="0"/>
              <a:t>technology</a:t>
            </a:r>
            <a:r>
              <a:rPr lang="en-US" sz="3600" spc="-15" dirty="0"/>
              <a:t> </a:t>
            </a:r>
            <a:r>
              <a:rPr lang="en-US" sz="3600" spc="-10" dirty="0"/>
              <a:t>employs </a:t>
            </a:r>
            <a:r>
              <a:rPr lang="en-US" sz="3600" dirty="0"/>
              <a:t>various</a:t>
            </a:r>
            <a:r>
              <a:rPr lang="en-US" sz="3600" spc="-35" dirty="0"/>
              <a:t> </a:t>
            </a:r>
            <a:r>
              <a:rPr lang="en-US" sz="3600" spc="-10" dirty="0"/>
              <a:t>engineering </a:t>
            </a:r>
            <a:r>
              <a:rPr lang="en-US" sz="3600" dirty="0"/>
              <a:t>e.g.</a:t>
            </a:r>
            <a:r>
              <a:rPr lang="en-US" sz="3600" spc="-30" dirty="0"/>
              <a:t> </a:t>
            </a:r>
            <a:r>
              <a:rPr lang="en-US" sz="3600" dirty="0"/>
              <a:t>computer</a:t>
            </a:r>
            <a:r>
              <a:rPr lang="en-US" sz="3600" spc="-35" dirty="0"/>
              <a:t> </a:t>
            </a:r>
            <a:r>
              <a:rPr lang="en-US" sz="3600" dirty="0"/>
              <a:t>control</a:t>
            </a:r>
            <a:r>
              <a:rPr lang="en-US" sz="3600" spc="-15" dirty="0"/>
              <a:t> </a:t>
            </a:r>
            <a:r>
              <a:rPr lang="en-US" sz="3600" spc="-25" dirty="0"/>
              <a:t>and </a:t>
            </a:r>
            <a:r>
              <a:rPr lang="en-US" sz="3600" dirty="0"/>
              <a:t>software</a:t>
            </a:r>
            <a:r>
              <a:rPr lang="en-US" sz="3600" spc="-100" dirty="0"/>
              <a:t> </a:t>
            </a:r>
            <a:r>
              <a:rPr lang="en-US" sz="3600" dirty="0"/>
              <a:t>techniques</a:t>
            </a:r>
            <a:r>
              <a:rPr lang="en-US" sz="3600" spc="-85" dirty="0"/>
              <a:t> </a:t>
            </a:r>
            <a:r>
              <a:rPr lang="en-US" sz="3600" dirty="0"/>
              <a:t>including</a:t>
            </a:r>
            <a:r>
              <a:rPr lang="en-US" sz="3600" spc="-85" dirty="0"/>
              <a:t> </a:t>
            </a:r>
            <a:r>
              <a:rPr lang="en-US" sz="3600" dirty="0"/>
              <a:t>laser,</a:t>
            </a:r>
            <a:r>
              <a:rPr lang="en-US" sz="3600" spc="-95" dirty="0"/>
              <a:t> </a:t>
            </a:r>
            <a:r>
              <a:rPr lang="en-US" sz="3600" spc="-10" dirty="0"/>
              <a:t>optical </a:t>
            </a:r>
            <a:r>
              <a:rPr lang="en-US" sz="3600" dirty="0"/>
              <a:t>scanning,</a:t>
            </a:r>
            <a:r>
              <a:rPr lang="en-US" sz="3600" spc="-65" dirty="0"/>
              <a:t> </a:t>
            </a:r>
            <a:r>
              <a:rPr lang="en-US" sz="3600" dirty="0"/>
              <a:t>photosensitive</a:t>
            </a:r>
            <a:r>
              <a:rPr lang="en-US" sz="3600" spc="-80" dirty="0"/>
              <a:t> </a:t>
            </a:r>
            <a:r>
              <a:rPr lang="en-US" sz="3600" dirty="0"/>
              <a:t>polymers,</a:t>
            </a:r>
            <a:r>
              <a:rPr lang="en-US" sz="3600" spc="-75" dirty="0"/>
              <a:t> </a:t>
            </a:r>
            <a:r>
              <a:rPr lang="en-US" sz="3600" spc="-10" dirty="0"/>
              <a:t>material </a:t>
            </a:r>
            <a:r>
              <a:rPr lang="en-US" sz="3600" dirty="0"/>
              <a:t>extrusion</a:t>
            </a:r>
            <a:r>
              <a:rPr lang="en-US" sz="3600" spc="-70" dirty="0"/>
              <a:t> </a:t>
            </a:r>
            <a:r>
              <a:rPr lang="en-US" sz="3600" dirty="0"/>
              <a:t>and</a:t>
            </a:r>
            <a:r>
              <a:rPr lang="en-US" sz="3600" spc="-65" dirty="0"/>
              <a:t> </a:t>
            </a:r>
            <a:r>
              <a:rPr lang="en-US" sz="3600" dirty="0"/>
              <a:t>deposition,</a:t>
            </a:r>
            <a:r>
              <a:rPr lang="en-US" sz="3600" spc="-60" dirty="0"/>
              <a:t> </a:t>
            </a:r>
            <a:r>
              <a:rPr lang="en-US" sz="3600" dirty="0"/>
              <a:t>powder</a:t>
            </a:r>
            <a:r>
              <a:rPr lang="en-US" sz="3600" spc="-60" dirty="0"/>
              <a:t> </a:t>
            </a:r>
            <a:r>
              <a:rPr lang="en-US" sz="3600" dirty="0"/>
              <a:t>metallurgy</a:t>
            </a:r>
            <a:r>
              <a:rPr lang="en-US" sz="3600" spc="-50" dirty="0"/>
              <a:t> </a:t>
            </a:r>
            <a:r>
              <a:rPr lang="en-US" sz="3600" dirty="0"/>
              <a:t>etc.</a:t>
            </a:r>
            <a:r>
              <a:rPr lang="en-US" sz="3600" spc="-65" dirty="0"/>
              <a:t> </a:t>
            </a:r>
            <a:r>
              <a:rPr lang="en-US" sz="3600" spc="-25" dirty="0"/>
              <a:t>to </a:t>
            </a:r>
            <a:r>
              <a:rPr lang="en-US" sz="3600" dirty="0"/>
              <a:t>directly</a:t>
            </a:r>
            <a:r>
              <a:rPr lang="en-US" sz="3600" spc="-30" dirty="0"/>
              <a:t> </a:t>
            </a:r>
            <a:r>
              <a:rPr lang="en-US" sz="3600" dirty="0"/>
              <a:t>produce</a:t>
            </a:r>
            <a:r>
              <a:rPr lang="en-US" sz="3600" spc="-25" dirty="0"/>
              <a:t> </a:t>
            </a:r>
            <a:r>
              <a:rPr lang="en-US" sz="3600" dirty="0"/>
              <a:t>a</a:t>
            </a:r>
            <a:r>
              <a:rPr lang="en-US" sz="3600" spc="-25" dirty="0"/>
              <a:t> </a:t>
            </a:r>
            <a:r>
              <a:rPr lang="en-US" sz="3600" dirty="0"/>
              <a:t>physical</a:t>
            </a:r>
            <a:r>
              <a:rPr lang="en-US" sz="3600" spc="-35" dirty="0"/>
              <a:t> </a:t>
            </a:r>
            <a:r>
              <a:rPr lang="en-US" sz="3600" dirty="0"/>
              <a:t>model</a:t>
            </a:r>
            <a:r>
              <a:rPr lang="en-US" sz="3600" spc="-30" dirty="0"/>
              <a:t> </a:t>
            </a:r>
            <a:r>
              <a:rPr lang="en-US" sz="3600" dirty="0"/>
              <a:t>layer</a:t>
            </a:r>
            <a:r>
              <a:rPr lang="en-US" sz="3600" spc="-25" dirty="0"/>
              <a:t> </a:t>
            </a:r>
            <a:r>
              <a:rPr lang="en-US" sz="3600" dirty="0"/>
              <a:t>by</a:t>
            </a:r>
            <a:r>
              <a:rPr lang="en-US" sz="3600" spc="-25" dirty="0"/>
              <a:t> </a:t>
            </a:r>
            <a:r>
              <a:rPr lang="en-US" sz="3600" spc="-10" dirty="0"/>
              <a:t>layer </a:t>
            </a:r>
            <a:r>
              <a:rPr lang="en-US" sz="3600" dirty="0"/>
              <a:t>(Layer</a:t>
            </a:r>
            <a:r>
              <a:rPr lang="en-US" sz="3600" spc="-50" dirty="0"/>
              <a:t> </a:t>
            </a:r>
            <a:r>
              <a:rPr lang="en-US" sz="3600" spc="-10" dirty="0"/>
              <a:t>Manufacturing)</a:t>
            </a:r>
            <a:r>
              <a:rPr lang="en-US" sz="3600" spc="-30" dirty="0"/>
              <a:t> </a:t>
            </a:r>
            <a:r>
              <a:rPr lang="en-US" sz="3600" dirty="0"/>
              <a:t>in</a:t>
            </a:r>
            <a:r>
              <a:rPr lang="en-US" sz="3600" spc="-50" dirty="0"/>
              <a:t> </a:t>
            </a:r>
            <a:r>
              <a:rPr lang="en-US" sz="3600" dirty="0"/>
              <a:t>accordance</a:t>
            </a:r>
            <a:r>
              <a:rPr lang="en-US" sz="3600" spc="-45" dirty="0"/>
              <a:t> </a:t>
            </a:r>
            <a:r>
              <a:rPr lang="en-US" sz="3600" dirty="0"/>
              <a:t>with</a:t>
            </a:r>
            <a:r>
              <a:rPr lang="en-US" sz="3600" spc="-50" dirty="0"/>
              <a:t> </a:t>
            </a:r>
            <a:r>
              <a:rPr lang="en-US" sz="3600" spc="-25" dirty="0"/>
              <a:t>the </a:t>
            </a:r>
            <a:r>
              <a:rPr lang="en-US" sz="3600" dirty="0"/>
              <a:t>geometrical</a:t>
            </a:r>
            <a:r>
              <a:rPr lang="en-US" sz="3600" spc="-20" dirty="0"/>
              <a:t> </a:t>
            </a:r>
            <a:r>
              <a:rPr lang="en-US" sz="3600" dirty="0"/>
              <a:t>data</a:t>
            </a:r>
            <a:r>
              <a:rPr lang="en-US" sz="3600" spc="-40" dirty="0"/>
              <a:t> </a:t>
            </a:r>
            <a:r>
              <a:rPr lang="en-US" sz="3600" dirty="0"/>
              <a:t>delivered</a:t>
            </a:r>
            <a:r>
              <a:rPr lang="en-US" sz="3600" spc="-45" dirty="0"/>
              <a:t> </a:t>
            </a:r>
            <a:r>
              <a:rPr lang="en-US" sz="3600" dirty="0"/>
              <a:t>from</a:t>
            </a:r>
            <a:r>
              <a:rPr lang="en-US" sz="3600" spc="-30" dirty="0"/>
              <a:t> </a:t>
            </a:r>
            <a:r>
              <a:rPr lang="en-US" sz="3600" dirty="0"/>
              <a:t>a</a:t>
            </a:r>
            <a:r>
              <a:rPr lang="en-US" sz="3600" spc="-40" dirty="0"/>
              <a:t> </a:t>
            </a:r>
            <a:r>
              <a:rPr lang="en-US" sz="3600" dirty="0"/>
              <a:t>3D</a:t>
            </a:r>
            <a:r>
              <a:rPr lang="en-US" sz="3600" spc="-35" dirty="0"/>
              <a:t> </a:t>
            </a:r>
            <a:r>
              <a:rPr lang="en-US" sz="3600" dirty="0"/>
              <a:t>CAD</a:t>
            </a:r>
            <a:r>
              <a:rPr lang="en-US" sz="3600" spc="-45" dirty="0"/>
              <a:t> </a:t>
            </a:r>
            <a:r>
              <a:rPr lang="en-US" sz="3600" spc="-10" dirty="0"/>
              <a:t>model</a:t>
            </a:r>
            <a:endParaRPr lang="en-US" sz="3600" dirty="0">
              <a:latin typeface="Book Antiqua" panose="02040602050305030304" pitchFamily="18" charset="0"/>
            </a:endParaRPr>
          </a:p>
        </p:txBody>
      </p:sp>
    </p:spTree>
    <p:extLst>
      <p:ext uri="{BB962C8B-B14F-4D97-AF65-F5344CB8AC3E}">
        <p14:creationId xmlns:p14="http://schemas.microsoft.com/office/powerpoint/2010/main" val="3896610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73302-61FF-4496-8486-8236A8DDD256}"/>
              </a:ext>
            </a:extLst>
          </p:cNvPr>
          <p:cNvSpPr>
            <a:spLocks noGrp="1"/>
          </p:cNvSpPr>
          <p:nvPr>
            <p:ph type="title"/>
          </p:nvPr>
        </p:nvSpPr>
        <p:spPr/>
        <p:txBody>
          <a:bodyPr>
            <a:normAutofit/>
          </a:bodyPr>
          <a:lstStyle/>
          <a:p>
            <a:pPr algn="just"/>
            <a:r>
              <a:rPr lang="en-US" sz="3200" b="1" i="0" dirty="0">
                <a:solidFill>
                  <a:schemeClr val="bg1"/>
                </a:solidFill>
                <a:effectLst/>
                <a:latin typeface="Söhne"/>
              </a:rPr>
              <a:t>Rapid Prototyping </a:t>
            </a:r>
            <a:endParaRPr lang="en-IN" sz="3200" b="1" cap="all" dirty="0">
              <a:solidFill>
                <a:schemeClr val="bg1"/>
              </a:solidFill>
              <a:effectLst/>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C46FCBCF-BF11-3681-F2AF-6903C6FB7D6A}"/>
              </a:ext>
            </a:extLst>
          </p:cNvPr>
          <p:cNvSpPr>
            <a:spLocks noGrp="1"/>
          </p:cNvSpPr>
          <p:nvPr>
            <p:ph idx="1"/>
          </p:nvPr>
        </p:nvSpPr>
        <p:spPr>
          <a:xfrm>
            <a:off x="361950" y="1295400"/>
            <a:ext cx="8582025" cy="5405651"/>
          </a:xfrm>
        </p:spPr>
        <p:txBody>
          <a:bodyPr>
            <a:noAutofit/>
          </a:bodyPr>
          <a:lstStyle/>
          <a:p>
            <a:pPr marL="0" marR="0" indent="0" algn="just">
              <a:spcBef>
                <a:spcPts val="600"/>
              </a:spcBef>
              <a:spcAft>
                <a:spcPts val="600"/>
              </a:spcAft>
              <a:buNone/>
            </a:pPr>
            <a:r>
              <a:rPr lang="en-US" sz="3200" dirty="0">
                <a:latin typeface="Book Antiqua" panose="02040602050305030304" pitchFamily="18" charset="0"/>
              </a:rPr>
              <a:t>Rapid Prototyping is basically a additive manufacturing process used to quickly fabricate a model of a part using 3-D CAM data. It can be defined as layer by layer fabrication of 3D physical models directly from CAD.</a:t>
            </a:r>
          </a:p>
          <a:p>
            <a:pPr marL="0" marR="0" indent="0" algn="just">
              <a:spcBef>
                <a:spcPts val="600"/>
              </a:spcBef>
              <a:spcAft>
                <a:spcPts val="600"/>
              </a:spcAft>
              <a:buNone/>
            </a:pPr>
            <a:r>
              <a:rPr lang="en-US" sz="3200" dirty="0">
                <a:effectLst/>
                <a:latin typeface="Book Antiqua" panose="02040602050305030304" pitchFamily="18" charset="0"/>
                <a:ea typeface="Calibri" panose="020F0502020204030204" pitchFamily="34" charset="0"/>
                <a:cs typeface="Times New Roman" panose="02020603050405020304" pitchFamily="18" charset="0"/>
              </a:rPr>
              <a:t>https://www.youtube.com/watch?v=zeI0OpaSoc0</a:t>
            </a:r>
          </a:p>
        </p:txBody>
      </p:sp>
    </p:spTree>
    <p:extLst>
      <p:ext uri="{BB962C8B-B14F-4D97-AF65-F5344CB8AC3E}">
        <p14:creationId xmlns:p14="http://schemas.microsoft.com/office/powerpoint/2010/main" val="3883086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A1ACC15B-757F-F233-8D3A-332058D447DC}"/>
              </a:ext>
            </a:extLst>
          </p:cNvPr>
          <p:cNvSpPr>
            <a:spLocks noGrp="1"/>
          </p:cNvSpPr>
          <p:nvPr>
            <p:ph type="sldNum" sz="quarter" idx="12"/>
          </p:nvPr>
        </p:nvSpPr>
        <p:spPr bwMode="auto">
          <a:xfrm>
            <a:off x="6554788" y="6248400"/>
            <a:ext cx="1903412"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8AD61803-478F-4DA3-AB9D-49C9F06DA1C0}" type="slidenum">
              <a:rPr lang="en-US" altLang="en-US" smtClean="0"/>
              <a:pPr/>
              <a:t>4</a:t>
            </a:fld>
            <a:endParaRPr lang="en-US" altLang="en-US">
              <a:latin typeface="Times New Roman" panose="02020603050405020304" pitchFamily="18" charset="0"/>
            </a:endParaRPr>
          </a:p>
        </p:txBody>
      </p:sp>
      <p:sp>
        <p:nvSpPr>
          <p:cNvPr id="10243" name="Rectangle 3">
            <a:extLst>
              <a:ext uri="{FF2B5EF4-FFF2-40B4-BE49-F238E27FC236}">
                <a16:creationId xmlns:a16="http://schemas.microsoft.com/office/drawing/2014/main" id="{44AEDA34-FD7C-E817-77C9-8A71DDC997F8}"/>
              </a:ext>
            </a:extLst>
          </p:cNvPr>
          <p:cNvSpPr>
            <a:spLocks noGrp="1" noChangeArrowheads="1"/>
          </p:cNvSpPr>
          <p:nvPr>
            <p:ph type="body" idx="1"/>
          </p:nvPr>
        </p:nvSpPr>
        <p:spPr>
          <a:xfrm>
            <a:off x="457200" y="1228298"/>
            <a:ext cx="8318310" cy="5401102"/>
          </a:xfrm>
        </p:spPr>
        <p:txBody>
          <a:bodyPr>
            <a:noAutofit/>
          </a:bodyPr>
          <a:lstStyle/>
          <a:p>
            <a:pPr marL="0" marR="0" indent="0" algn="just">
              <a:spcBef>
                <a:spcPts val="600"/>
              </a:spcBef>
              <a:spcAft>
                <a:spcPts val="600"/>
              </a:spcAft>
              <a:buNone/>
            </a:pPr>
            <a:r>
              <a:rPr lang="en-US" sz="2500" b="1" dirty="0">
                <a:effectLst/>
                <a:latin typeface="Book Antiqua" panose="02040602050305030304" pitchFamily="18" charset="0"/>
                <a:ea typeface="Calibri" panose="020F0502020204030204" pitchFamily="34" charset="0"/>
                <a:cs typeface="Times New Roman" panose="02020603050405020304" pitchFamily="18" charset="0"/>
              </a:rPr>
              <a:t>The reasons of Rapid Prototyping are</a:t>
            </a:r>
          </a:p>
          <a:p>
            <a:pPr marL="0" marR="0" indent="0" algn="just">
              <a:spcBef>
                <a:spcPts val="600"/>
              </a:spcBef>
              <a:spcAft>
                <a:spcPts val="600"/>
              </a:spcAft>
              <a:buNone/>
            </a:pPr>
            <a:r>
              <a:rPr lang="en-US" sz="2500" dirty="0">
                <a:effectLst/>
                <a:latin typeface="Book Antiqua" panose="02040602050305030304" pitchFamily="18" charset="0"/>
                <a:ea typeface="Calibri" panose="020F0502020204030204" pitchFamily="34" charset="0"/>
                <a:cs typeface="Times New Roman" panose="02020603050405020304" pitchFamily="18" charset="0"/>
              </a:rPr>
              <a:t>• To increase effective communication.</a:t>
            </a:r>
          </a:p>
          <a:p>
            <a:pPr marL="0" marR="0" indent="0" algn="just">
              <a:spcBef>
                <a:spcPts val="600"/>
              </a:spcBef>
              <a:spcAft>
                <a:spcPts val="600"/>
              </a:spcAft>
              <a:buNone/>
            </a:pPr>
            <a:r>
              <a:rPr lang="en-US" sz="2500" dirty="0">
                <a:effectLst/>
                <a:latin typeface="Book Antiqua" panose="02040602050305030304" pitchFamily="18" charset="0"/>
                <a:ea typeface="Calibri" panose="020F0502020204030204" pitchFamily="34" charset="0"/>
                <a:cs typeface="Times New Roman" panose="02020603050405020304" pitchFamily="18" charset="0"/>
              </a:rPr>
              <a:t>• To decrease development time.</a:t>
            </a:r>
          </a:p>
          <a:p>
            <a:pPr marL="0" marR="0" indent="0" algn="just">
              <a:spcBef>
                <a:spcPts val="600"/>
              </a:spcBef>
              <a:spcAft>
                <a:spcPts val="600"/>
              </a:spcAft>
              <a:buNone/>
            </a:pPr>
            <a:r>
              <a:rPr lang="en-US" sz="2500" dirty="0">
                <a:effectLst/>
                <a:latin typeface="Book Antiqua" panose="02040602050305030304" pitchFamily="18" charset="0"/>
                <a:ea typeface="Calibri" panose="020F0502020204030204" pitchFamily="34" charset="0"/>
                <a:cs typeface="Times New Roman" panose="02020603050405020304" pitchFamily="18" charset="0"/>
              </a:rPr>
              <a:t>• To decrease costly mistakes.</a:t>
            </a:r>
          </a:p>
          <a:p>
            <a:pPr marL="0" marR="0" indent="0" algn="just">
              <a:spcBef>
                <a:spcPts val="600"/>
              </a:spcBef>
              <a:spcAft>
                <a:spcPts val="600"/>
              </a:spcAft>
              <a:buNone/>
            </a:pPr>
            <a:r>
              <a:rPr lang="en-US" sz="2500" dirty="0">
                <a:effectLst/>
                <a:latin typeface="Book Antiqua" panose="02040602050305030304" pitchFamily="18" charset="0"/>
                <a:ea typeface="Calibri" panose="020F0502020204030204" pitchFamily="34" charset="0"/>
                <a:cs typeface="Times New Roman" panose="02020603050405020304" pitchFamily="18" charset="0"/>
              </a:rPr>
              <a:t>• To minimize sustaining engineering changes.</a:t>
            </a:r>
          </a:p>
          <a:p>
            <a:pPr marL="0" marR="0" indent="0" algn="just">
              <a:spcBef>
                <a:spcPts val="600"/>
              </a:spcBef>
              <a:spcAft>
                <a:spcPts val="600"/>
              </a:spcAft>
              <a:buNone/>
            </a:pPr>
            <a:r>
              <a:rPr lang="en-US" sz="2500" dirty="0">
                <a:effectLst/>
                <a:latin typeface="Book Antiqua" panose="02040602050305030304" pitchFamily="18" charset="0"/>
                <a:ea typeface="Calibri" panose="020F0502020204030204" pitchFamily="34" charset="0"/>
                <a:cs typeface="Times New Roman" panose="02020603050405020304" pitchFamily="18" charset="0"/>
              </a:rPr>
              <a:t>• To extend product lifetime by adding necessary features and eliminating redundant features</a:t>
            </a:r>
          </a:p>
          <a:p>
            <a:pPr marL="0" marR="0" indent="0" algn="just">
              <a:spcBef>
                <a:spcPts val="600"/>
              </a:spcBef>
              <a:spcAft>
                <a:spcPts val="600"/>
              </a:spcAft>
              <a:buNone/>
            </a:pPr>
            <a:r>
              <a:rPr lang="en-US" sz="2500" dirty="0">
                <a:effectLst/>
                <a:latin typeface="Book Antiqua" panose="02040602050305030304" pitchFamily="18" charset="0"/>
                <a:ea typeface="Calibri" panose="020F0502020204030204" pitchFamily="34" charset="0"/>
                <a:cs typeface="Times New Roman" panose="02020603050405020304" pitchFamily="18" charset="0"/>
              </a:rPr>
              <a:t>early in the design</a:t>
            </a:r>
            <a:endParaRPr lang="en-US" altLang="en-US" sz="2500" dirty="0">
              <a:latin typeface="Book Antiqua" panose="02040602050305030304" pitchFamily="18" charset="0"/>
            </a:endParaRPr>
          </a:p>
        </p:txBody>
      </p:sp>
      <p:sp>
        <p:nvSpPr>
          <p:cNvPr id="10244" name="Rectangle 5">
            <a:extLst>
              <a:ext uri="{FF2B5EF4-FFF2-40B4-BE49-F238E27FC236}">
                <a16:creationId xmlns:a16="http://schemas.microsoft.com/office/drawing/2014/main" id="{1BB2F7AC-E122-CF11-17A6-5DCED8D5CFF8}"/>
              </a:ext>
            </a:extLst>
          </p:cNvPr>
          <p:cNvSpPr>
            <a:spLocks noChangeArrowheads="1"/>
          </p:cNvSpPr>
          <p:nvPr/>
        </p:nvSpPr>
        <p:spPr bwMode="auto">
          <a:xfrm>
            <a:off x="533399" y="228600"/>
            <a:ext cx="777808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4400" b="1" i="0" dirty="0">
                <a:solidFill>
                  <a:schemeClr val="bg1"/>
                </a:solidFill>
                <a:effectLst/>
                <a:latin typeface="Söhne"/>
              </a:rPr>
              <a:t>Why Rapid Prototyping?</a:t>
            </a:r>
            <a:endParaRPr lang="en-US" altLang="en-US" sz="4400" b="1" dirty="0">
              <a:solidFill>
                <a:srgbClr val="FFFF66"/>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A1ACC15B-757F-F233-8D3A-332058D447DC}"/>
              </a:ext>
            </a:extLst>
          </p:cNvPr>
          <p:cNvSpPr>
            <a:spLocks noGrp="1"/>
          </p:cNvSpPr>
          <p:nvPr>
            <p:ph type="sldNum" sz="quarter" idx="12"/>
          </p:nvPr>
        </p:nvSpPr>
        <p:spPr bwMode="auto">
          <a:xfrm>
            <a:off x="6554788" y="6248400"/>
            <a:ext cx="1903412"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8AD61803-478F-4DA3-AB9D-49C9F06DA1C0}" type="slidenum">
              <a:rPr lang="en-US" altLang="en-US" smtClean="0"/>
              <a:pPr/>
              <a:t>5</a:t>
            </a:fld>
            <a:endParaRPr lang="en-US" altLang="en-US">
              <a:latin typeface="Times New Roman" panose="02020603050405020304" pitchFamily="18" charset="0"/>
            </a:endParaRPr>
          </a:p>
        </p:txBody>
      </p:sp>
      <p:sp>
        <p:nvSpPr>
          <p:cNvPr id="10243" name="Rectangle 3">
            <a:extLst>
              <a:ext uri="{FF2B5EF4-FFF2-40B4-BE49-F238E27FC236}">
                <a16:creationId xmlns:a16="http://schemas.microsoft.com/office/drawing/2014/main" id="{44AEDA34-FD7C-E817-77C9-8A71DDC997F8}"/>
              </a:ext>
            </a:extLst>
          </p:cNvPr>
          <p:cNvSpPr>
            <a:spLocks noGrp="1" noChangeArrowheads="1"/>
          </p:cNvSpPr>
          <p:nvPr>
            <p:ph type="body" idx="1"/>
          </p:nvPr>
        </p:nvSpPr>
        <p:spPr>
          <a:xfrm>
            <a:off x="457200" y="1228298"/>
            <a:ext cx="8318310" cy="5629702"/>
          </a:xfrm>
        </p:spPr>
        <p:txBody>
          <a:bodyPr>
            <a:noAutofit/>
          </a:bodyPr>
          <a:lstStyle/>
          <a:p>
            <a:pPr marL="0" marR="0" indent="0" algn="just">
              <a:spcBef>
                <a:spcPts val="600"/>
              </a:spcBef>
              <a:spcAft>
                <a:spcPts val="600"/>
              </a:spcAft>
              <a:buNone/>
            </a:pPr>
            <a:r>
              <a:rPr lang="en-US" sz="2000" dirty="0"/>
              <a:t>Rapid Prototyping, also known as 3D printing, is an additive manufacturing technology. The process begins with taking a virtual design from modeling or computer aided design (CAD) software. The 3D printing machine reads the data from the CAD drawing and lays down successive layers of liquid, powder, or sheet material — building up the physical model from a series of cross sections. These layers, which correspond to the virtual cross section from the CAD model, are automatically joined together to create the final shape. Rapid Prototyping uses a standard data interface, implemented as the STL file format, to translate from the CAD software to the 3D prototyping machine. The STL file approximates the shape of a part or assembly using triangular facets</a:t>
            </a:r>
            <a:endParaRPr lang="en-US" altLang="en-US" sz="2800" dirty="0">
              <a:solidFill>
                <a:srgbClr val="FF0000"/>
              </a:solidFill>
              <a:latin typeface="Book Antiqua" panose="02040602050305030304" pitchFamily="18" charset="0"/>
            </a:endParaRPr>
          </a:p>
        </p:txBody>
      </p:sp>
      <p:sp>
        <p:nvSpPr>
          <p:cNvPr id="10244" name="Rectangle 5">
            <a:extLst>
              <a:ext uri="{FF2B5EF4-FFF2-40B4-BE49-F238E27FC236}">
                <a16:creationId xmlns:a16="http://schemas.microsoft.com/office/drawing/2014/main" id="{1BB2F7AC-E122-CF11-17A6-5DCED8D5CFF8}"/>
              </a:ext>
            </a:extLst>
          </p:cNvPr>
          <p:cNvSpPr>
            <a:spLocks noChangeArrowheads="1"/>
          </p:cNvSpPr>
          <p:nvPr/>
        </p:nvSpPr>
        <p:spPr bwMode="auto">
          <a:xfrm>
            <a:off x="533398" y="228600"/>
            <a:ext cx="861060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2800" b="1" i="0" dirty="0">
                <a:solidFill>
                  <a:schemeClr val="bg1"/>
                </a:solidFill>
                <a:effectLst/>
                <a:latin typeface="Söhne"/>
              </a:rPr>
              <a:t>How does Rapid Prototyping Work?</a:t>
            </a:r>
            <a:endParaRPr lang="en-US" altLang="en-US" sz="2800" b="1" dirty="0">
              <a:solidFill>
                <a:srgbClr val="FFFF66"/>
              </a:solidFill>
            </a:endParaRPr>
          </a:p>
        </p:txBody>
      </p:sp>
    </p:spTree>
    <p:extLst>
      <p:ext uri="{BB962C8B-B14F-4D97-AF65-F5344CB8AC3E}">
        <p14:creationId xmlns:p14="http://schemas.microsoft.com/office/powerpoint/2010/main" val="3404579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A1ACC15B-757F-F233-8D3A-332058D447DC}"/>
              </a:ext>
            </a:extLst>
          </p:cNvPr>
          <p:cNvSpPr>
            <a:spLocks noGrp="1"/>
          </p:cNvSpPr>
          <p:nvPr>
            <p:ph type="sldNum" sz="quarter" idx="12"/>
          </p:nvPr>
        </p:nvSpPr>
        <p:spPr bwMode="auto">
          <a:xfrm>
            <a:off x="6554788" y="6248400"/>
            <a:ext cx="1903412"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8AD61803-478F-4DA3-AB9D-49C9F06DA1C0}" type="slidenum">
              <a:rPr lang="en-US" altLang="en-US" smtClean="0"/>
              <a:pPr/>
              <a:t>6</a:t>
            </a:fld>
            <a:endParaRPr lang="en-US" altLang="en-US">
              <a:latin typeface="Times New Roman" panose="02020603050405020304" pitchFamily="18" charset="0"/>
            </a:endParaRPr>
          </a:p>
        </p:txBody>
      </p:sp>
      <p:sp>
        <p:nvSpPr>
          <p:cNvPr id="10243" name="Rectangle 3">
            <a:extLst>
              <a:ext uri="{FF2B5EF4-FFF2-40B4-BE49-F238E27FC236}">
                <a16:creationId xmlns:a16="http://schemas.microsoft.com/office/drawing/2014/main" id="{44AEDA34-FD7C-E817-77C9-8A71DDC997F8}"/>
              </a:ext>
            </a:extLst>
          </p:cNvPr>
          <p:cNvSpPr>
            <a:spLocks noGrp="1" noChangeArrowheads="1"/>
          </p:cNvSpPr>
          <p:nvPr>
            <p:ph type="body" idx="1"/>
          </p:nvPr>
        </p:nvSpPr>
        <p:spPr>
          <a:xfrm>
            <a:off x="457200" y="1228298"/>
            <a:ext cx="8318310" cy="5401102"/>
          </a:xfrm>
        </p:spPr>
        <p:txBody>
          <a:bodyPr>
            <a:noAutofit/>
          </a:bodyPr>
          <a:lstStyle/>
          <a:p>
            <a:pPr marL="0" marR="0" indent="0" algn="just">
              <a:spcBef>
                <a:spcPts val="600"/>
              </a:spcBef>
              <a:spcAft>
                <a:spcPts val="600"/>
              </a:spcAft>
              <a:buNone/>
            </a:pPr>
            <a:endParaRPr lang="en-US" sz="2400" dirty="0">
              <a:effectLst/>
              <a:latin typeface="Book Antiqua" panose="02040602050305030304" pitchFamily="18" charset="0"/>
              <a:ea typeface="Calibri" panose="020F0502020204030204" pitchFamily="34" charset="0"/>
              <a:cs typeface="Times New Roman" panose="02020603050405020304" pitchFamily="18" charset="0"/>
            </a:endParaRPr>
          </a:p>
        </p:txBody>
      </p:sp>
      <p:sp>
        <p:nvSpPr>
          <p:cNvPr id="10244" name="Rectangle 5">
            <a:extLst>
              <a:ext uri="{FF2B5EF4-FFF2-40B4-BE49-F238E27FC236}">
                <a16:creationId xmlns:a16="http://schemas.microsoft.com/office/drawing/2014/main" id="{1BB2F7AC-E122-CF11-17A6-5DCED8D5CFF8}"/>
              </a:ext>
            </a:extLst>
          </p:cNvPr>
          <p:cNvSpPr>
            <a:spLocks noChangeArrowheads="1"/>
          </p:cNvSpPr>
          <p:nvPr/>
        </p:nvSpPr>
        <p:spPr bwMode="auto">
          <a:xfrm>
            <a:off x="259308" y="228600"/>
            <a:ext cx="888469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3200" b="1" i="0" dirty="0" err="1">
                <a:solidFill>
                  <a:schemeClr val="bg1"/>
                </a:solidFill>
                <a:effectLst/>
                <a:latin typeface="Söhne"/>
              </a:rPr>
              <a:t>Stereolithorgraphy</a:t>
            </a:r>
            <a:endParaRPr lang="en-US" altLang="en-US" sz="3200" b="1" dirty="0">
              <a:solidFill>
                <a:srgbClr val="FFFF66"/>
              </a:solidFill>
            </a:endParaRPr>
          </a:p>
        </p:txBody>
      </p:sp>
      <p:pic>
        <p:nvPicPr>
          <p:cNvPr id="5" name="Picture 4">
            <a:extLst>
              <a:ext uri="{FF2B5EF4-FFF2-40B4-BE49-F238E27FC236}">
                <a16:creationId xmlns:a16="http://schemas.microsoft.com/office/drawing/2014/main" id="{B2D2FF7D-53E3-19E6-D518-9C63228BBAA7}"/>
              </a:ext>
            </a:extLst>
          </p:cNvPr>
          <p:cNvPicPr>
            <a:picLocks noChangeAspect="1"/>
          </p:cNvPicPr>
          <p:nvPr/>
        </p:nvPicPr>
        <p:blipFill>
          <a:blip r:embed="rId3"/>
          <a:stretch>
            <a:fillRect/>
          </a:stretch>
        </p:blipFill>
        <p:spPr>
          <a:xfrm>
            <a:off x="685800" y="1362075"/>
            <a:ext cx="7560860" cy="4886325"/>
          </a:xfrm>
          <a:prstGeom prst="rect">
            <a:avLst/>
          </a:prstGeom>
        </p:spPr>
      </p:pic>
    </p:spTree>
    <p:extLst>
      <p:ext uri="{BB962C8B-B14F-4D97-AF65-F5344CB8AC3E}">
        <p14:creationId xmlns:p14="http://schemas.microsoft.com/office/powerpoint/2010/main" val="2389959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A1ACC15B-757F-F233-8D3A-332058D447DC}"/>
              </a:ext>
            </a:extLst>
          </p:cNvPr>
          <p:cNvSpPr>
            <a:spLocks noGrp="1"/>
          </p:cNvSpPr>
          <p:nvPr>
            <p:ph type="sldNum" sz="quarter" idx="12"/>
          </p:nvPr>
        </p:nvSpPr>
        <p:spPr bwMode="auto">
          <a:xfrm>
            <a:off x="6554788" y="6248400"/>
            <a:ext cx="1903412"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8AD61803-478F-4DA3-AB9D-49C9F06DA1C0}" type="slidenum">
              <a:rPr lang="en-US" altLang="en-US" smtClean="0"/>
              <a:pPr/>
              <a:t>7</a:t>
            </a:fld>
            <a:endParaRPr lang="en-US" altLang="en-US">
              <a:latin typeface="Times New Roman" panose="02020603050405020304" pitchFamily="18" charset="0"/>
            </a:endParaRPr>
          </a:p>
        </p:txBody>
      </p:sp>
      <p:sp>
        <p:nvSpPr>
          <p:cNvPr id="10243" name="Rectangle 3">
            <a:extLst>
              <a:ext uri="{FF2B5EF4-FFF2-40B4-BE49-F238E27FC236}">
                <a16:creationId xmlns:a16="http://schemas.microsoft.com/office/drawing/2014/main" id="{44AEDA34-FD7C-E817-77C9-8A71DDC997F8}"/>
              </a:ext>
            </a:extLst>
          </p:cNvPr>
          <p:cNvSpPr>
            <a:spLocks noGrp="1" noChangeArrowheads="1"/>
          </p:cNvSpPr>
          <p:nvPr>
            <p:ph type="body" idx="1"/>
          </p:nvPr>
        </p:nvSpPr>
        <p:spPr>
          <a:xfrm>
            <a:off x="457200" y="1228298"/>
            <a:ext cx="8318310" cy="5401102"/>
          </a:xfrm>
        </p:spPr>
        <p:txBody>
          <a:bodyPr>
            <a:noAutofit/>
          </a:bodyPr>
          <a:lstStyle/>
          <a:p>
            <a:pPr marL="0" marR="0" indent="0" algn="just">
              <a:spcBef>
                <a:spcPts val="600"/>
              </a:spcBef>
              <a:spcAft>
                <a:spcPts val="600"/>
              </a:spcAft>
              <a:buNone/>
            </a:pPr>
            <a:endParaRPr lang="en-US" sz="2400" dirty="0">
              <a:effectLst/>
              <a:latin typeface="Book Antiqua" panose="02040602050305030304" pitchFamily="18" charset="0"/>
              <a:ea typeface="Calibri" panose="020F0502020204030204" pitchFamily="34" charset="0"/>
              <a:cs typeface="Times New Roman" panose="02020603050405020304" pitchFamily="18" charset="0"/>
            </a:endParaRPr>
          </a:p>
        </p:txBody>
      </p:sp>
      <p:sp>
        <p:nvSpPr>
          <p:cNvPr id="10244" name="Rectangle 5">
            <a:extLst>
              <a:ext uri="{FF2B5EF4-FFF2-40B4-BE49-F238E27FC236}">
                <a16:creationId xmlns:a16="http://schemas.microsoft.com/office/drawing/2014/main" id="{1BB2F7AC-E122-CF11-17A6-5DCED8D5CFF8}"/>
              </a:ext>
            </a:extLst>
          </p:cNvPr>
          <p:cNvSpPr>
            <a:spLocks noChangeArrowheads="1"/>
          </p:cNvSpPr>
          <p:nvPr/>
        </p:nvSpPr>
        <p:spPr bwMode="auto">
          <a:xfrm>
            <a:off x="259308" y="228600"/>
            <a:ext cx="888469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3200" b="1" i="0" dirty="0">
                <a:solidFill>
                  <a:schemeClr val="bg1"/>
                </a:solidFill>
                <a:effectLst/>
                <a:latin typeface="Söhne"/>
              </a:rPr>
              <a:t>HISTORICAL DEVELOPMENT</a:t>
            </a:r>
            <a:endParaRPr lang="en-US" altLang="en-US" sz="3200" b="1" dirty="0">
              <a:solidFill>
                <a:srgbClr val="FFFF66"/>
              </a:solidFill>
            </a:endParaRPr>
          </a:p>
        </p:txBody>
      </p:sp>
      <p:pic>
        <p:nvPicPr>
          <p:cNvPr id="4" name="Picture 3">
            <a:extLst>
              <a:ext uri="{FF2B5EF4-FFF2-40B4-BE49-F238E27FC236}">
                <a16:creationId xmlns:a16="http://schemas.microsoft.com/office/drawing/2014/main" id="{9DBE20F3-EDEC-3EB5-C72C-96048B9952E0}"/>
              </a:ext>
            </a:extLst>
          </p:cNvPr>
          <p:cNvPicPr>
            <a:picLocks noChangeAspect="1"/>
          </p:cNvPicPr>
          <p:nvPr/>
        </p:nvPicPr>
        <p:blipFill>
          <a:blip r:embed="rId3"/>
          <a:stretch>
            <a:fillRect/>
          </a:stretch>
        </p:blipFill>
        <p:spPr>
          <a:xfrm>
            <a:off x="368490" y="1228298"/>
            <a:ext cx="8318310" cy="5281684"/>
          </a:xfrm>
          <a:prstGeom prst="rect">
            <a:avLst/>
          </a:prstGeom>
        </p:spPr>
      </p:pic>
    </p:spTree>
    <p:extLst>
      <p:ext uri="{BB962C8B-B14F-4D97-AF65-F5344CB8AC3E}">
        <p14:creationId xmlns:p14="http://schemas.microsoft.com/office/powerpoint/2010/main" val="1413247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A1ACC15B-757F-F233-8D3A-332058D447DC}"/>
              </a:ext>
            </a:extLst>
          </p:cNvPr>
          <p:cNvSpPr>
            <a:spLocks noGrp="1"/>
          </p:cNvSpPr>
          <p:nvPr>
            <p:ph type="sldNum" sz="quarter" idx="12"/>
          </p:nvPr>
        </p:nvSpPr>
        <p:spPr bwMode="auto">
          <a:xfrm>
            <a:off x="6554788" y="6248400"/>
            <a:ext cx="1903412"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8AD61803-478F-4DA3-AB9D-49C9F06DA1C0}" type="slidenum">
              <a:rPr lang="en-US" altLang="en-US" smtClean="0"/>
              <a:pPr/>
              <a:t>8</a:t>
            </a:fld>
            <a:endParaRPr lang="en-US" altLang="en-US">
              <a:latin typeface="Times New Roman" panose="02020603050405020304" pitchFamily="18" charset="0"/>
            </a:endParaRPr>
          </a:p>
        </p:txBody>
      </p:sp>
      <p:sp>
        <p:nvSpPr>
          <p:cNvPr id="10243" name="Rectangle 3">
            <a:extLst>
              <a:ext uri="{FF2B5EF4-FFF2-40B4-BE49-F238E27FC236}">
                <a16:creationId xmlns:a16="http://schemas.microsoft.com/office/drawing/2014/main" id="{44AEDA34-FD7C-E817-77C9-8A71DDC997F8}"/>
              </a:ext>
            </a:extLst>
          </p:cNvPr>
          <p:cNvSpPr>
            <a:spLocks noGrp="1" noChangeArrowheads="1"/>
          </p:cNvSpPr>
          <p:nvPr>
            <p:ph type="body" idx="1"/>
          </p:nvPr>
        </p:nvSpPr>
        <p:spPr>
          <a:xfrm>
            <a:off x="457200" y="1228298"/>
            <a:ext cx="8318310" cy="5477302"/>
          </a:xfrm>
        </p:spPr>
        <p:txBody>
          <a:bodyPr>
            <a:noAutofit/>
          </a:bodyPr>
          <a:lstStyle/>
          <a:p>
            <a:pPr marL="0" marR="0" indent="0" algn="just">
              <a:spcBef>
                <a:spcPts val="600"/>
              </a:spcBef>
              <a:spcAft>
                <a:spcPts val="600"/>
              </a:spcAft>
              <a:buNone/>
            </a:pPr>
            <a:r>
              <a:rPr lang="en-US" sz="2200" dirty="0">
                <a:latin typeface="Book Antiqua" panose="02040602050305030304" pitchFamily="18" charset="0"/>
              </a:rPr>
              <a:t>a) A model or component is modelled on a Computer-Aided Design/Computer-Aided Manufacturing (CAD/CAM) system. The model which represents the physical part to be built must be represented as closed surfaces which unambiguously define an enclosed volume. This mean that the data must specify the inside, outside and boundary of the model. This requirement ensures that all horizontal cross sections that are essential to RP are enclosed curves to create the solid object</a:t>
            </a:r>
            <a:endParaRPr lang="en-US" sz="2200" dirty="0">
              <a:effectLst/>
              <a:latin typeface="Book Antiqua" panose="02040602050305030304" pitchFamily="18" charset="0"/>
              <a:ea typeface="Calibri" panose="020F0502020204030204" pitchFamily="34" charset="0"/>
              <a:cs typeface="Times New Roman" panose="02020603050405020304" pitchFamily="18" charset="0"/>
            </a:endParaRPr>
          </a:p>
        </p:txBody>
      </p:sp>
      <p:sp>
        <p:nvSpPr>
          <p:cNvPr id="10244" name="Rectangle 5">
            <a:extLst>
              <a:ext uri="{FF2B5EF4-FFF2-40B4-BE49-F238E27FC236}">
                <a16:creationId xmlns:a16="http://schemas.microsoft.com/office/drawing/2014/main" id="{1BB2F7AC-E122-CF11-17A6-5DCED8D5CFF8}"/>
              </a:ext>
            </a:extLst>
          </p:cNvPr>
          <p:cNvSpPr>
            <a:spLocks noChangeArrowheads="1"/>
          </p:cNvSpPr>
          <p:nvPr/>
        </p:nvSpPr>
        <p:spPr bwMode="auto">
          <a:xfrm>
            <a:off x="533399" y="228600"/>
            <a:ext cx="76416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2800" b="1" i="0" dirty="0">
                <a:solidFill>
                  <a:schemeClr val="bg1"/>
                </a:solidFill>
                <a:effectLst/>
                <a:latin typeface="Söhne"/>
              </a:rPr>
              <a:t>FUNDAMENTALS OF RAPID PROTOTYPING</a:t>
            </a:r>
            <a:endParaRPr lang="en-US" altLang="en-US" sz="2800" b="1" dirty="0">
              <a:solidFill>
                <a:srgbClr val="FFFF66"/>
              </a:solidFill>
            </a:endParaRPr>
          </a:p>
        </p:txBody>
      </p:sp>
    </p:spTree>
    <p:extLst>
      <p:ext uri="{BB962C8B-B14F-4D97-AF65-F5344CB8AC3E}">
        <p14:creationId xmlns:p14="http://schemas.microsoft.com/office/powerpoint/2010/main" val="581736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A1ACC15B-757F-F233-8D3A-332058D447DC}"/>
              </a:ext>
            </a:extLst>
          </p:cNvPr>
          <p:cNvSpPr>
            <a:spLocks noGrp="1"/>
          </p:cNvSpPr>
          <p:nvPr>
            <p:ph type="sldNum" sz="quarter" idx="12"/>
          </p:nvPr>
        </p:nvSpPr>
        <p:spPr bwMode="auto">
          <a:xfrm>
            <a:off x="6554788" y="6248400"/>
            <a:ext cx="1903412"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8AD61803-478F-4DA3-AB9D-49C9F06DA1C0}" type="slidenum">
              <a:rPr lang="en-US" altLang="en-US" smtClean="0"/>
              <a:pPr/>
              <a:t>9</a:t>
            </a:fld>
            <a:endParaRPr lang="en-US" altLang="en-US">
              <a:latin typeface="Times New Roman" panose="02020603050405020304" pitchFamily="18" charset="0"/>
            </a:endParaRPr>
          </a:p>
        </p:txBody>
      </p:sp>
      <p:sp>
        <p:nvSpPr>
          <p:cNvPr id="10243" name="Rectangle 3">
            <a:extLst>
              <a:ext uri="{FF2B5EF4-FFF2-40B4-BE49-F238E27FC236}">
                <a16:creationId xmlns:a16="http://schemas.microsoft.com/office/drawing/2014/main" id="{44AEDA34-FD7C-E817-77C9-8A71DDC997F8}"/>
              </a:ext>
            </a:extLst>
          </p:cNvPr>
          <p:cNvSpPr>
            <a:spLocks noGrp="1" noChangeArrowheads="1"/>
          </p:cNvSpPr>
          <p:nvPr>
            <p:ph type="body" idx="1"/>
          </p:nvPr>
        </p:nvSpPr>
        <p:spPr>
          <a:xfrm>
            <a:off x="457200" y="1228298"/>
            <a:ext cx="8318310" cy="5401102"/>
          </a:xfrm>
        </p:spPr>
        <p:txBody>
          <a:bodyPr>
            <a:noAutofit/>
          </a:bodyPr>
          <a:lstStyle/>
          <a:p>
            <a:pPr marL="0" marR="0" indent="0" algn="just">
              <a:spcBef>
                <a:spcPts val="600"/>
              </a:spcBef>
              <a:spcAft>
                <a:spcPts val="600"/>
              </a:spcAft>
              <a:buNone/>
            </a:pPr>
            <a:r>
              <a:rPr lang="en-US" sz="2400" dirty="0">
                <a:latin typeface="Book Antiqua" panose="02040602050305030304" pitchFamily="18" charset="0"/>
              </a:rPr>
              <a:t>b) The solid or surface model to be built is next converted into a format dubbed the “STL” (Stereolithography) file format which originates from 3D systems. The STL file format approximates the surfaces of models by polygons. Highly curved surfaces must employ many polygons, which means that STL files for curved parts can be very large. However, these are some rapid prototyping systems which also accept IGES (Initial Graphics Exchange Specifications) data, provided it is of the correct “</a:t>
            </a:r>
            <a:r>
              <a:rPr lang="en-US" sz="2400" dirty="0" err="1">
                <a:latin typeface="Book Antiqua" panose="02040602050305030304" pitchFamily="18" charset="0"/>
              </a:rPr>
              <a:t>flavour</a:t>
            </a:r>
            <a:r>
              <a:rPr lang="en-US" sz="2400" dirty="0">
                <a:latin typeface="Book Antiqua" panose="02040602050305030304" pitchFamily="18" charset="0"/>
              </a:rPr>
              <a:t>”.</a:t>
            </a:r>
            <a:endParaRPr lang="en-US" sz="2400" dirty="0">
              <a:effectLst/>
              <a:latin typeface="Book Antiqua" panose="02040602050305030304" pitchFamily="18" charset="0"/>
              <a:ea typeface="Calibri" panose="020F0502020204030204" pitchFamily="34" charset="0"/>
              <a:cs typeface="Times New Roman" panose="02020603050405020304" pitchFamily="18" charset="0"/>
            </a:endParaRPr>
          </a:p>
        </p:txBody>
      </p:sp>
      <p:sp>
        <p:nvSpPr>
          <p:cNvPr id="10244" name="Rectangle 5">
            <a:extLst>
              <a:ext uri="{FF2B5EF4-FFF2-40B4-BE49-F238E27FC236}">
                <a16:creationId xmlns:a16="http://schemas.microsoft.com/office/drawing/2014/main" id="{1BB2F7AC-E122-CF11-17A6-5DCED8D5CFF8}"/>
              </a:ext>
            </a:extLst>
          </p:cNvPr>
          <p:cNvSpPr>
            <a:spLocks noChangeArrowheads="1"/>
          </p:cNvSpPr>
          <p:nvPr/>
        </p:nvSpPr>
        <p:spPr bwMode="auto">
          <a:xfrm>
            <a:off x="533400" y="228600"/>
            <a:ext cx="8153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2800" b="1" i="0" dirty="0">
                <a:solidFill>
                  <a:schemeClr val="bg1"/>
                </a:solidFill>
                <a:effectLst/>
                <a:latin typeface="Söhne"/>
              </a:rPr>
              <a:t>FUNDAMENTALS OF RAPID PROTOTYPING</a:t>
            </a:r>
            <a:endParaRPr lang="en-US" altLang="en-US" sz="2800" b="1" dirty="0">
              <a:solidFill>
                <a:srgbClr val="FFFF66"/>
              </a:solidFill>
            </a:endParaRPr>
          </a:p>
        </p:txBody>
      </p:sp>
    </p:spTree>
    <p:extLst>
      <p:ext uri="{BB962C8B-B14F-4D97-AF65-F5344CB8AC3E}">
        <p14:creationId xmlns:p14="http://schemas.microsoft.com/office/powerpoint/2010/main" val="4269796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a:extLst>
              <a:ext uri="{FF2B5EF4-FFF2-40B4-BE49-F238E27FC236}">
                <a16:creationId xmlns:a16="http://schemas.microsoft.com/office/drawing/2014/main" id="{44721A82-E630-FFD1-0FCA-F405991D9E90}"/>
              </a:ext>
            </a:extLst>
          </p:cNvPr>
          <p:cNvSpPr>
            <a:spLocks noGrp="1" noChangeArrowheads="1"/>
          </p:cNvSpPr>
          <p:nvPr>
            <p:ph type="title"/>
          </p:nvPr>
        </p:nvSpPr>
        <p:spPr>
          <a:xfrm>
            <a:off x="192088" y="0"/>
            <a:ext cx="8951912" cy="1078173"/>
          </a:xfrm>
        </p:spPr>
        <p:txBody>
          <a:bodyPr>
            <a:normAutofit/>
          </a:bodyPr>
          <a:lstStyle/>
          <a:p>
            <a:pPr eaLnBrk="1" hangingPunct="1"/>
            <a:r>
              <a:rPr lang="en-US" sz="2800" b="1" i="0" dirty="0">
                <a:solidFill>
                  <a:schemeClr val="bg1"/>
                </a:solidFill>
                <a:effectLst/>
                <a:latin typeface="Söhne"/>
              </a:rPr>
              <a:t>FUNDAMENTALS OF RAPID PROTOTYPING</a:t>
            </a:r>
            <a:endParaRPr lang="en-US" altLang="en-US" sz="2800" b="1" dirty="0">
              <a:solidFill>
                <a:srgbClr val="FFFF66"/>
              </a:solidFill>
            </a:endParaRPr>
          </a:p>
        </p:txBody>
      </p:sp>
      <p:sp>
        <p:nvSpPr>
          <p:cNvPr id="27653" name="Rectangle 3">
            <a:extLst>
              <a:ext uri="{FF2B5EF4-FFF2-40B4-BE49-F238E27FC236}">
                <a16:creationId xmlns:a16="http://schemas.microsoft.com/office/drawing/2014/main" id="{F6FF4C51-181C-5FC4-719B-25BE3538BEDE}"/>
              </a:ext>
            </a:extLst>
          </p:cNvPr>
          <p:cNvSpPr>
            <a:spLocks noGrp="1" noChangeArrowheads="1"/>
          </p:cNvSpPr>
          <p:nvPr>
            <p:ph type="body" idx="1"/>
          </p:nvPr>
        </p:nvSpPr>
        <p:spPr/>
        <p:txBody>
          <a:bodyPr>
            <a:normAutofit/>
          </a:bodyPr>
          <a:lstStyle/>
          <a:p>
            <a:pPr marL="0" marR="0" indent="0" algn="just">
              <a:spcBef>
                <a:spcPts val="600"/>
              </a:spcBef>
              <a:spcAft>
                <a:spcPts val="600"/>
              </a:spcAft>
              <a:buNone/>
            </a:pPr>
            <a:r>
              <a:rPr lang="en-US" sz="2400" dirty="0"/>
              <a:t>c) A computer program analyzes a STL file that defines the model to be fabricated and “slices” the model into cross sections. The cross sections are systematically recreated through the solidification of either liquids or powders and then combined to form a 3D model. Another possibility is that the cross sections are already thin, solid laminations and these thin laminations are glued together with adhesives to form a 3D model. Other similar methods may also be employed to build the model</a:t>
            </a:r>
            <a:endParaRPr lang="en-GB" altLang="en-US" sz="24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3">
            <a:extLst>
              <a:ext uri="{FF2B5EF4-FFF2-40B4-BE49-F238E27FC236}">
                <a16:creationId xmlns:a16="http://schemas.microsoft.com/office/drawing/2014/main" id="{C4036DA3-A42E-231B-FD4F-DDD02C1F4568}"/>
              </a:ext>
            </a:extLst>
          </p:cNvPr>
          <p:cNvSpPr>
            <a:spLocks noGrp="1" noChangeArrowheads="1"/>
          </p:cNvSpPr>
          <p:nvPr>
            <p:ph type="body" idx="1"/>
          </p:nvPr>
        </p:nvSpPr>
        <p:spPr/>
        <p:txBody>
          <a:bodyPr>
            <a:noAutofit/>
          </a:bodyPr>
          <a:lstStyle/>
          <a:p>
            <a:pPr marR="0" indent="0" algn="just">
              <a:lnSpc>
                <a:spcPct val="100000"/>
              </a:lnSpc>
              <a:spcBef>
                <a:spcPts val="600"/>
              </a:spcBef>
              <a:spcAft>
                <a:spcPts val="0"/>
              </a:spcAft>
              <a:buNone/>
            </a:pPr>
            <a:r>
              <a:rPr lang="en-US" sz="2700" dirty="0">
                <a:latin typeface="Book Antiqua" panose="02040602050305030304" pitchFamily="18" charset="0"/>
              </a:rPr>
              <a:t>Input refers to the electronic information required to describe the physical object with 3D data. These are two possible starting points- a computer model or a physical model. The computer model created by a CAD system can be either a surface model or a solid model. On the other hand, 3D data from the physical model is not at all straight forward. It requires data acquisition through a method known as reverse engineering. In reverse engineering, a wide range of equipment can be used, such as CMM (coordinate measuring machine) or a laser digitizer, to capture data points of the physical model and “reconstruct” it in a CAD system.</a:t>
            </a:r>
            <a:endParaRPr lang="en-US" sz="2700" dirty="0">
              <a:effectLst/>
              <a:latin typeface="Book Antiqua" panose="02040602050305030304" pitchFamily="18" charset="0"/>
              <a:ea typeface="Calibri" panose="020F0502020204030204" pitchFamily="34" charset="0"/>
              <a:cs typeface="Times New Roman" panose="02020603050405020304" pitchFamily="18" charset="0"/>
            </a:endParaRPr>
          </a:p>
        </p:txBody>
      </p:sp>
      <p:sp>
        <p:nvSpPr>
          <p:cNvPr id="28677" name="Rectangle 5">
            <a:extLst>
              <a:ext uri="{FF2B5EF4-FFF2-40B4-BE49-F238E27FC236}">
                <a16:creationId xmlns:a16="http://schemas.microsoft.com/office/drawing/2014/main" id="{F3FAE797-1B15-5375-53A4-71BAA1AA8425}"/>
              </a:ext>
            </a:extLst>
          </p:cNvPr>
          <p:cNvSpPr>
            <a:spLocks noGrp="1" noChangeArrowheads="1"/>
          </p:cNvSpPr>
          <p:nvPr>
            <p:ph type="title"/>
          </p:nvPr>
        </p:nvSpPr>
        <p:spPr>
          <a:xfrm>
            <a:off x="192088" y="161925"/>
            <a:ext cx="8951912" cy="875305"/>
          </a:xfrm>
          <a:noFill/>
        </p:spPr>
        <p:txBody>
          <a:bodyPr>
            <a:normAutofit/>
          </a:bodyPr>
          <a:lstStyle/>
          <a:p>
            <a:r>
              <a:rPr lang="en-US" sz="3200" b="1" dirty="0">
                <a:effectLst/>
                <a:latin typeface="Book Antiqua" panose="02040602050305030304" pitchFamily="18" charset="0"/>
                <a:ea typeface="Calibri" panose="020F0502020204030204" pitchFamily="34" charset="0"/>
                <a:cs typeface="Times New Roman" panose="02020603050405020304" pitchFamily="18" charset="0"/>
              </a:rPr>
              <a:t>INPUT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a:extLst>
              <a:ext uri="{FF2B5EF4-FFF2-40B4-BE49-F238E27FC236}">
                <a16:creationId xmlns:a16="http://schemas.microsoft.com/office/drawing/2014/main" id="{950D473B-0150-313B-BC92-81EF46C0DE1A}"/>
              </a:ext>
            </a:extLst>
          </p:cNvPr>
          <p:cNvSpPr>
            <a:spLocks noGrp="1" noChangeArrowheads="1"/>
          </p:cNvSpPr>
          <p:nvPr>
            <p:ph type="body" idx="1"/>
          </p:nvPr>
        </p:nvSpPr>
        <p:spPr>
          <a:xfrm>
            <a:off x="423081" y="1337481"/>
            <a:ext cx="8284191" cy="4801382"/>
          </a:xfrm>
        </p:spPr>
        <p:txBody>
          <a:bodyPr>
            <a:noAutofit/>
          </a:bodyPr>
          <a:lstStyle/>
          <a:p>
            <a:pPr marR="0" indent="0" algn="just">
              <a:lnSpc>
                <a:spcPct val="100000"/>
              </a:lnSpc>
              <a:spcBef>
                <a:spcPts val="600"/>
              </a:spcBef>
              <a:spcAft>
                <a:spcPts val="600"/>
              </a:spcAft>
              <a:buNone/>
            </a:pPr>
            <a:r>
              <a:rPr lang="en-US" sz="2800" dirty="0">
                <a:solidFill>
                  <a:srgbClr val="FF0000"/>
                </a:solidFill>
              </a:rPr>
              <a:t>RAPID TOOLING</a:t>
            </a:r>
          </a:p>
          <a:p>
            <a:pPr marR="0" indent="0" algn="just">
              <a:lnSpc>
                <a:spcPct val="100000"/>
              </a:lnSpc>
              <a:spcBef>
                <a:spcPts val="600"/>
              </a:spcBef>
              <a:spcAft>
                <a:spcPts val="600"/>
              </a:spcAft>
              <a:buNone/>
            </a:pPr>
            <a:r>
              <a:rPr lang="en-US" sz="2800" dirty="0"/>
              <a:t>• Patterns for Sand Casting</a:t>
            </a:r>
          </a:p>
          <a:p>
            <a:pPr marR="0" indent="0" algn="just">
              <a:lnSpc>
                <a:spcPct val="100000"/>
              </a:lnSpc>
              <a:spcBef>
                <a:spcPts val="600"/>
              </a:spcBef>
              <a:spcAft>
                <a:spcPts val="600"/>
              </a:spcAft>
              <a:buNone/>
            </a:pPr>
            <a:r>
              <a:rPr lang="en-US" sz="2800" dirty="0"/>
              <a:t>• Patterns for Investment Casting</a:t>
            </a:r>
          </a:p>
          <a:p>
            <a:pPr marR="0" indent="0" algn="just">
              <a:lnSpc>
                <a:spcPct val="100000"/>
              </a:lnSpc>
              <a:spcBef>
                <a:spcPts val="600"/>
              </a:spcBef>
              <a:spcAft>
                <a:spcPts val="600"/>
              </a:spcAft>
              <a:buNone/>
            </a:pPr>
            <a:r>
              <a:rPr lang="en-US" sz="2800" dirty="0"/>
              <a:t>• Pattern for Injection moldings</a:t>
            </a:r>
            <a:endParaRPr lang="en-GB" altLang="en-US" sz="2800" dirty="0"/>
          </a:p>
        </p:txBody>
      </p:sp>
      <p:sp>
        <p:nvSpPr>
          <p:cNvPr id="29701" name="Rectangle 4">
            <a:extLst>
              <a:ext uri="{FF2B5EF4-FFF2-40B4-BE49-F238E27FC236}">
                <a16:creationId xmlns:a16="http://schemas.microsoft.com/office/drawing/2014/main" id="{0008FBEE-CB04-23F9-525B-2831D368FFCC}"/>
              </a:ext>
            </a:extLst>
          </p:cNvPr>
          <p:cNvSpPr>
            <a:spLocks noGrp="1" noChangeArrowheads="1"/>
          </p:cNvSpPr>
          <p:nvPr>
            <p:ph type="title"/>
          </p:nvPr>
        </p:nvSpPr>
        <p:spPr>
          <a:xfrm>
            <a:off x="192088" y="152400"/>
            <a:ext cx="8951912" cy="802943"/>
          </a:xfrm>
          <a:noFill/>
        </p:spPr>
        <p:txBody>
          <a:bodyPr/>
          <a:lstStyle/>
          <a:p>
            <a:r>
              <a:rPr lang="en-US" dirty="0"/>
              <a:t>APPLICATION:</a:t>
            </a:r>
            <a:endParaRPr lang="en-GB" alt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a:extLst>
              <a:ext uri="{FF2B5EF4-FFF2-40B4-BE49-F238E27FC236}">
                <a16:creationId xmlns:a16="http://schemas.microsoft.com/office/drawing/2014/main" id="{950D473B-0150-313B-BC92-81EF46C0DE1A}"/>
              </a:ext>
            </a:extLst>
          </p:cNvPr>
          <p:cNvSpPr>
            <a:spLocks noGrp="1" noChangeArrowheads="1"/>
          </p:cNvSpPr>
          <p:nvPr>
            <p:ph type="body" idx="1"/>
          </p:nvPr>
        </p:nvSpPr>
        <p:spPr>
          <a:xfrm>
            <a:off x="700088" y="1337481"/>
            <a:ext cx="7772400" cy="4801382"/>
          </a:xfrm>
        </p:spPr>
        <p:txBody>
          <a:bodyPr>
            <a:noAutofit/>
          </a:bodyPr>
          <a:lstStyle/>
          <a:p>
            <a:pPr marR="0" indent="0">
              <a:lnSpc>
                <a:spcPct val="100000"/>
              </a:lnSpc>
              <a:spcBef>
                <a:spcPts val="600"/>
              </a:spcBef>
              <a:spcAft>
                <a:spcPts val="0"/>
              </a:spcAft>
              <a:buNone/>
            </a:pPr>
            <a:r>
              <a:rPr lang="en-US" sz="3600" b="1" dirty="0">
                <a:solidFill>
                  <a:srgbClr val="FF0000"/>
                </a:solidFill>
                <a:effectLst/>
                <a:latin typeface="Book Antiqua" panose="02040602050305030304" pitchFamily="18" charset="0"/>
                <a:ea typeface="Calibri" panose="020F0502020204030204" pitchFamily="34" charset="0"/>
                <a:cs typeface="Times New Roman" panose="02020603050405020304" pitchFamily="18" charset="0"/>
              </a:rPr>
              <a:t>RAPID MANUFACTURING</a:t>
            </a:r>
          </a:p>
          <a:p>
            <a:pPr marR="0" indent="0">
              <a:lnSpc>
                <a:spcPct val="100000"/>
              </a:lnSpc>
              <a:spcBef>
                <a:spcPts val="600"/>
              </a:spcBef>
              <a:spcAft>
                <a:spcPts val="0"/>
              </a:spcAft>
              <a:buNone/>
            </a:pPr>
            <a:r>
              <a:rPr lang="en-US" sz="3600" b="1" dirty="0">
                <a:solidFill>
                  <a:srgbClr val="FF0000"/>
                </a:solidFill>
                <a:effectLst/>
                <a:latin typeface="Book Antiqua" panose="02040602050305030304" pitchFamily="18" charset="0"/>
                <a:ea typeface="Calibri" panose="020F0502020204030204" pitchFamily="34" charset="0"/>
                <a:cs typeface="Times New Roman" panose="02020603050405020304" pitchFamily="18" charset="0"/>
              </a:rPr>
              <a:t>• </a:t>
            </a:r>
            <a:r>
              <a:rPr lang="en-US" sz="3600" b="1" dirty="0">
                <a:effectLst/>
                <a:latin typeface="Book Antiqua" panose="02040602050305030304" pitchFamily="18" charset="0"/>
                <a:ea typeface="Calibri" panose="020F0502020204030204" pitchFamily="34" charset="0"/>
                <a:cs typeface="Times New Roman" panose="02020603050405020304" pitchFamily="18" charset="0"/>
              </a:rPr>
              <a:t>Short productions run</a:t>
            </a:r>
          </a:p>
          <a:p>
            <a:pPr marR="0" indent="0">
              <a:lnSpc>
                <a:spcPct val="100000"/>
              </a:lnSpc>
              <a:spcBef>
                <a:spcPts val="600"/>
              </a:spcBef>
              <a:spcAft>
                <a:spcPts val="0"/>
              </a:spcAft>
              <a:buNone/>
            </a:pPr>
            <a:r>
              <a:rPr lang="en-US" sz="3600" b="1" dirty="0">
                <a:effectLst/>
                <a:latin typeface="Book Antiqua" panose="02040602050305030304" pitchFamily="18" charset="0"/>
                <a:ea typeface="Calibri" panose="020F0502020204030204" pitchFamily="34" charset="0"/>
                <a:cs typeface="Times New Roman" panose="02020603050405020304" pitchFamily="18" charset="0"/>
              </a:rPr>
              <a:t>• Custom made parts</a:t>
            </a:r>
          </a:p>
          <a:p>
            <a:pPr marR="0" indent="0">
              <a:lnSpc>
                <a:spcPct val="100000"/>
              </a:lnSpc>
              <a:spcBef>
                <a:spcPts val="600"/>
              </a:spcBef>
              <a:spcAft>
                <a:spcPts val="0"/>
              </a:spcAft>
              <a:buNone/>
            </a:pPr>
            <a:r>
              <a:rPr lang="en-US" sz="3600" b="1" dirty="0">
                <a:effectLst/>
                <a:latin typeface="Book Antiqua" panose="02040602050305030304" pitchFamily="18" charset="0"/>
                <a:ea typeface="Calibri" panose="020F0502020204030204" pitchFamily="34" charset="0"/>
                <a:cs typeface="Times New Roman" panose="02020603050405020304" pitchFamily="18" charset="0"/>
              </a:rPr>
              <a:t>• On-Demand Manufacturing</a:t>
            </a:r>
          </a:p>
          <a:p>
            <a:pPr marR="0" indent="0">
              <a:lnSpc>
                <a:spcPct val="100000"/>
              </a:lnSpc>
              <a:spcBef>
                <a:spcPts val="600"/>
              </a:spcBef>
              <a:spcAft>
                <a:spcPts val="0"/>
              </a:spcAft>
              <a:buNone/>
            </a:pPr>
            <a:r>
              <a:rPr lang="en-US" sz="3600" b="1" dirty="0">
                <a:effectLst/>
                <a:latin typeface="Book Antiqua" panose="02040602050305030304" pitchFamily="18" charset="0"/>
                <a:ea typeface="Calibri" panose="020F0502020204030204" pitchFamily="34" charset="0"/>
                <a:cs typeface="Times New Roman" panose="02020603050405020304" pitchFamily="18" charset="0"/>
              </a:rPr>
              <a:t>• Manufacturing of very complex shapes</a:t>
            </a:r>
            <a:endParaRPr lang="en-GB" altLang="en-US" sz="3600" dirty="0"/>
          </a:p>
        </p:txBody>
      </p:sp>
      <p:sp>
        <p:nvSpPr>
          <p:cNvPr id="29701" name="Rectangle 4">
            <a:extLst>
              <a:ext uri="{FF2B5EF4-FFF2-40B4-BE49-F238E27FC236}">
                <a16:creationId xmlns:a16="http://schemas.microsoft.com/office/drawing/2014/main" id="{0008FBEE-CB04-23F9-525B-2831D368FFCC}"/>
              </a:ext>
            </a:extLst>
          </p:cNvPr>
          <p:cNvSpPr>
            <a:spLocks noGrp="1" noChangeArrowheads="1"/>
          </p:cNvSpPr>
          <p:nvPr>
            <p:ph type="title"/>
          </p:nvPr>
        </p:nvSpPr>
        <p:spPr>
          <a:xfrm>
            <a:off x="192088" y="152400"/>
            <a:ext cx="8951912" cy="802943"/>
          </a:xfrm>
          <a:noFill/>
        </p:spPr>
        <p:txBody>
          <a:bodyPr/>
          <a:lstStyle/>
          <a:p>
            <a:r>
              <a:rPr lang="en-US" dirty="0"/>
              <a:t>APPLICATION:</a:t>
            </a:r>
            <a:endParaRPr lang="en-GB" altLang="en-US" sz="4000" dirty="0"/>
          </a:p>
        </p:txBody>
      </p:sp>
    </p:spTree>
    <p:extLst>
      <p:ext uri="{BB962C8B-B14F-4D97-AF65-F5344CB8AC3E}">
        <p14:creationId xmlns:p14="http://schemas.microsoft.com/office/powerpoint/2010/main" val="1169657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a:extLst>
              <a:ext uri="{FF2B5EF4-FFF2-40B4-BE49-F238E27FC236}">
                <a16:creationId xmlns:a16="http://schemas.microsoft.com/office/drawing/2014/main" id="{950D473B-0150-313B-BC92-81EF46C0DE1A}"/>
              </a:ext>
            </a:extLst>
          </p:cNvPr>
          <p:cNvSpPr>
            <a:spLocks noGrp="1" noChangeArrowheads="1"/>
          </p:cNvSpPr>
          <p:nvPr>
            <p:ph type="body" idx="1"/>
          </p:nvPr>
        </p:nvSpPr>
        <p:spPr>
          <a:xfrm>
            <a:off x="700088" y="1337481"/>
            <a:ext cx="7772400" cy="4801382"/>
          </a:xfrm>
        </p:spPr>
        <p:txBody>
          <a:bodyPr>
            <a:noAutofit/>
          </a:bodyPr>
          <a:lstStyle/>
          <a:p>
            <a:pPr marR="0" indent="0" algn="just">
              <a:lnSpc>
                <a:spcPct val="100000"/>
              </a:lnSpc>
              <a:spcBef>
                <a:spcPts val="600"/>
              </a:spcBef>
              <a:spcAft>
                <a:spcPts val="0"/>
              </a:spcAft>
              <a:buNone/>
            </a:pPr>
            <a:r>
              <a:rPr lang="en-US" sz="2400" b="1" dirty="0">
                <a:solidFill>
                  <a:srgbClr val="FF0000"/>
                </a:solidFill>
                <a:effectLst/>
                <a:latin typeface="Book Antiqua" panose="02040602050305030304" pitchFamily="18" charset="0"/>
                <a:ea typeface="Calibri" panose="020F0502020204030204" pitchFamily="34" charset="0"/>
                <a:cs typeface="Times New Roman" panose="02020603050405020304" pitchFamily="18" charset="0"/>
              </a:rPr>
              <a:t>AEROSPACE &amp; MARINE</a:t>
            </a:r>
          </a:p>
          <a:p>
            <a:pPr marR="0" indent="0" algn="just">
              <a:lnSpc>
                <a:spcPct val="100000"/>
              </a:lnSpc>
              <a:spcBef>
                <a:spcPts val="600"/>
              </a:spcBef>
              <a:spcAft>
                <a:spcPts val="0"/>
              </a:spcAft>
              <a:buNone/>
            </a:pPr>
            <a:r>
              <a:rPr lang="en-US" sz="2400" b="1" dirty="0">
                <a:effectLst/>
                <a:latin typeface="Book Antiqua" panose="02040602050305030304" pitchFamily="18" charset="0"/>
                <a:ea typeface="Calibri" panose="020F0502020204030204" pitchFamily="34" charset="0"/>
                <a:cs typeface="Times New Roman" panose="02020603050405020304" pitchFamily="18" charset="0"/>
              </a:rPr>
              <a:t>• Wind tunnel models</a:t>
            </a:r>
          </a:p>
          <a:p>
            <a:pPr marR="0" indent="0" algn="just">
              <a:lnSpc>
                <a:spcPct val="100000"/>
              </a:lnSpc>
              <a:spcBef>
                <a:spcPts val="600"/>
              </a:spcBef>
              <a:spcAft>
                <a:spcPts val="0"/>
              </a:spcAft>
              <a:buNone/>
            </a:pPr>
            <a:r>
              <a:rPr lang="en-US" sz="2400" b="1" dirty="0">
                <a:effectLst/>
                <a:latin typeface="Book Antiqua" panose="02040602050305030304" pitchFamily="18" charset="0"/>
                <a:ea typeface="Calibri" panose="020F0502020204030204" pitchFamily="34" charset="0"/>
                <a:cs typeface="Times New Roman" panose="02020603050405020304" pitchFamily="18" charset="0"/>
              </a:rPr>
              <a:t>• Functional prototypes</a:t>
            </a:r>
          </a:p>
          <a:p>
            <a:pPr marR="0" indent="0" algn="just">
              <a:lnSpc>
                <a:spcPct val="100000"/>
              </a:lnSpc>
              <a:spcBef>
                <a:spcPts val="600"/>
              </a:spcBef>
              <a:spcAft>
                <a:spcPts val="0"/>
              </a:spcAft>
              <a:buNone/>
            </a:pPr>
            <a:r>
              <a:rPr lang="en-US" sz="2400" b="1" dirty="0">
                <a:effectLst/>
                <a:latin typeface="Book Antiqua" panose="02040602050305030304" pitchFamily="18" charset="0"/>
                <a:ea typeface="Calibri" panose="020F0502020204030204" pitchFamily="34" charset="0"/>
                <a:cs typeface="Times New Roman" panose="02020603050405020304" pitchFamily="18" charset="0"/>
              </a:rPr>
              <a:t>• Boeing’s On-Demand-Manufacturing</a:t>
            </a:r>
          </a:p>
          <a:p>
            <a:pPr marR="0" indent="0" algn="just">
              <a:lnSpc>
                <a:spcPct val="100000"/>
              </a:lnSpc>
              <a:spcBef>
                <a:spcPts val="600"/>
              </a:spcBef>
              <a:spcAft>
                <a:spcPts val="0"/>
              </a:spcAft>
              <a:buNone/>
            </a:pPr>
            <a:r>
              <a:rPr lang="en-US" sz="2400" b="1" dirty="0">
                <a:solidFill>
                  <a:srgbClr val="FF0000"/>
                </a:solidFill>
                <a:effectLst/>
                <a:latin typeface="Book Antiqua" panose="02040602050305030304" pitchFamily="18" charset="0"/>
                <a:ea typeface="Calibri" panose="020F0502020204030204" pitchFamily="34" charset="0"/>
                <a:cs typeface="Times New Roman" panose="02020603050405020304" pitchFamily="18" charset="0"/>
              </a:rPr>
              <a:t>AUTOMOTIVE RP SERVICES</a:t>
            </a:r>
          </a:p>
          <a:p>
            <a:pPr marR="0" indent="0" algn="just">
              <a:lnSpc>
                <a:spcPct val="100000"/>
              </a:lnSpc>
              <a:spcBef>
                <a:spcPts val="600"/>
              </a:spcBef>
              <a:spcAft>
                <a:spcPts val="0"/>
              </a:spcAft>
              <a:buNone/>
            </a:pPr>
            <a:r>
              <a:rPr lang="en-US" sz="2400" b="1" dirty="0">
                <a:effectLst/>
                <a:latin typeface="Book Antiqua" panose="02040602050305030304" pitchFamily="18" charset="0"/>
                <a:ea typeface="Calibri" panose="020F0502020204030204" pitchFamily="34" charset="0"/>
                <a:cs typeface="Times New Roman" panose="02020603050405020304" pitchFamily="18" charset="0"/>
              </a:rPr>
              <a:t>• Needed from concept to production level</a:t>
            </a:r>
          </a:p>
          <a:p>
            <a:pPr marR="0" indent="0" algn="just">
              <a:lnSpc>
                <a:spcPct val="100000"/>
              </a:lnSpc>
              <a:spcBef>
                <a:spcPts val="600"/>
              </a:spcBef>
              <a:spcAft>
                <a:spcPts val="0"/>
              </a:spcAft>
              <a:buNone/>
            </a:pPr>
            <a:r>
              <a:rPr lang="en-US" sz="2400" b="1" dirty="0">
                <a:effectLst/>
                <a:latin typeface="Book Antiqua" panose="02040602050305030304" pitchFamily="18" charset="0"/>
                <a:ea typeface="Calibri" panose="020F0502020204030204" pitchFamily="34" charset="0"/>
                <a:cs typeface="Times New Roman" panose="02020603050405020304" pitchFamily="18" charset="0"/>
              </a:rPr>
              <a:t>• Reduced time to market</a:t>
            </a:r>
          </a:p>
          <a:p>
            <a:pPr marR="0" indent="0" algn="just">
              <a:lnSpc>
                <a:spcPct val="100000"/>
              </a:lnSpc>
              <a:spcBef>
                <a:spcPts val="600"/>
              </a:spcBef>
              <a:spcAft>
                <a:spcPts val="0"/>
              </a:spcAft>
              <a:buNone/>
            </a:pPr>
            <a:r>
              <a:rPr lang="en-US" sz="2400" b="1" dirty="0">
                <a:effectLst/>
                <a:latin typeface="Book Antiqua" panose="02040602050305030304" pitchFamily="18" charset="0"/>
                <a:ea typeface="Calibri" panose="020F0502020204030204" pitchFamily="34" charset="0"/>
                <a:cs typeface="Times New Roman" panose="02020603050405020304" pitchFamily="18" charset="0"/>
              </a:rPr>
              <a:t>• Functional testing</a:t>
            </a:r>
          </a:p>
          <a:p>
            <a:pPr marR="0" indent="0" algn="just">
              <a:lnSpc>
                <a:spcPct val="100000"/>
              </a:lnSpc>
              <a:spcBef>
                <a:spcPts val="600"/>
              </a:spcBef>
              <a:spcAft>
                <a:spcPts val="0"/>
              </a:spcAft>
              <a:buNone/>
            </a:pPr>
            <a:r>
              <a:rPr lang="en-US" sz="2400" b="1" dirty="0">
                <a:effectLst/>
                <a:latin typeface="Book Antiqua" panose="02040602050305030304" pitchFamily="18" charset="0"/>
                <a:ea typeface="Calibri" panose="020F0502020204030204" pitchFamily="34" charset="0"/>
                <a:cs typeface="Times New Roman" panose="02020603050405020304" pitchFamily="18" charset="0"/>
              </a:rPr>
              <a:t>• Dies &amp; </a:t>
            </a:r>
            <a:r>
              <a:rPr lang="en-US" sz="2400" b="1" dirty="0" err="1">
                <a:effectLst/>
                <a:latin typeface="Book Antiqua" panose="02040602050305030304" pitchFamily="18" charset="0"/>
                <a:ea typeface="Calibri" panose="020F0502020204030204" pitchFamily="34" charset="0"/>
                <a:cs typeface="Times New Roman" panose="02020603050405020304" pitchFamily="18" charset="0"/>
              </a:rPr>
              <a:t>Moulds</a:t>
            </a:r>
            <a:endParaRPr lang="en-US" sz="2400" dirty="0">
              <a:effectLst/>
              <a:latin typeface="Book Antiqua" panose="02040602050305030304" pitchFamily="18" charset="0"/>
              <a:ea typeface="Calibri" panose="020F0502020204030204" pitchFamily="34" charset="0"/>
              <a:cs typeface="Times New Roman" panose="02020603050405020304" pitchFamily="18" charset="0"/>
            </a:endParaRPr>
          </a:p>
        </p:txBody>
      </p:sp>
      <p:sp>
        <p:nvSpPr>
          <p:cNvPr id="29701" name="Rectangle 4">
            <a:extLst>
              <a:ext uri="{FF2B5EF4-FFF2-40B4-BE49-F238E27FC236}">
                <a16:creationId xmlns:a16="http://schemas.microsoft.com/office/drawing/2014/main" id="{0008FBEE-CB04-23F9-525B-2831D368FFCC}"/>
              </a:ext>
            </a:extLst>
          </p:cNvPr>
          <p:cNvSpPr>
            <a:spLocks noGrp="1" noChangeArrowheads="1"/>
          </p:cNvSpPr>
          <p:nvPr>
            <p:ph type="title"/>
          </p:nvPr>
        </p:nvSpPr>
        <p:spPr>
          <a:xfrm>
            <a:off x="192088" y="152400"/>
            <a:ext cx="8951912" cy="802943"/>
          </a:xfrm>
          <a:noFill/>
        </p:spPr>
        <p:txBody>
          <a:bodyPr/>
          <a:lstStyle/>
          <a:p>
            <a:r>
              <a:rPr lang="en-US" dirty="0"/>
              <a:t>APPLICATION:</a:t>
            </a:r>
            <a:endParaRPr lang="en-GB" altLang="en-US" sz="4000" dirty="0"/>
          </a:p>
        </p:txBody>
      </p:sp>
    </p:spTree>
    <p:extLst>
      <p:ext uri="{BB962C8B-B14F-4D97-AF65-F5344CB8AC3E}">
        <p14:creationId xmlns:p14="http://schemas.microsoft.com/office/powerpoint/2010/main" val="1588387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a:extLst>
              <a:ext uri="{FF2B5EF4-FFF2-40B4-BE49-F238E27FC236}">
                <a16:creationId xmlns:a16="http://schemas.microsoft.com/office/drawing/2014/main" id="{69AE0823-E739-50FA-FE33-3A1267F9450C}"/>
              </a:ext>
            </a:extLst>
          </p:cNvPr>
          <p:cNvSpPr>
            <a:spLocks noGrp="1" noChangeArrowheads="1"/>
          </p:cNvSpPr>
          <p:nvPr>
            <p:ph type="body" idx="1"/>
          </p:nvPr>
        </p:nvSpPr>
        <p:spPr/>
        <p:txBody>
          <a:bodyPr>
            <a:noAutofit/>
          </a:bodyPr>
          <a:lstStyle/>
          <a:p>
            <a:pPr marR="0" indent="0" algn="just">
              <a:lnSpc>
                <a:spcPct val="100000"/>
              </a:lnSpc>
              <a:spcBef>
                <a:spcPts val="600"/>
              </a:spcBef>
              <a:spcAft>
                <a:spcPts val="0"/>
              </a:spcAft>
              <a:buNone/>
            </a:pPr>
            <a:r>
              <a:rPr lang="en-US" sz="2800" b="1" dirty="0">
                <a:solidFill>
                  <a:srgbClr val="FF0000"/>
                </a:solidFill>
                <a:effectLst/>
                <a:latin typeface="Book Antiqua" panose="02040602050305030304" pitchFamily="18" charset="0"/>
                <a:ea typeface="Calibri" panose="020F0502020204030204" pitchFamily="34" charset="0"/>
                <a:cs typeface="Times New Roman" panose="02020603050405020304" pitchFamily="18" charset="0"/>
              </a:rPr>
              <a:t>BIOMEDICAL APPLICATIONS - I</a:t>
            </a: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Prosthetic parts</a:t>
            </a: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Use of data from MRI and CT scan to build 3D parts</a:t>
            </a: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3D visualization for education and training</a:t>
            </a:r>
          </a:p>
          <a:p>
            <a:pPr marR="0" indent="0" algn="just">
              <a:lnSpc>
                <a:spcPct val="100000"/>
              </a:lnSpc>
              <a:spcBef>
                <a:spcPts val="600"/>
              </a:spcBef>
              <a:spcAft>
                <a:spcPts val="0"/>
              </a:spcAft>
              <a:buNone/>
            </a:pPr>
            <a:r>
              <a:rPr lang="en-US" sz="2800" b="1" dirty="0">
                <a:solidFill>
                  <a:srgbClr val="FF0000"/>
                </a:solidFill>
                <a:effectLst/>
                <a:latin typeface="Book Antiqua" panose="02040602050305030304" pitchFamily="18" charset="0"/>
                <a:ea typeface="Calibri" panose="020F0502020204030204" pitchFamily="34" charset="0"/>
                <a:cs typeface="Times New Roman" panose="02020603050405020304" pitchFamily="18" charset="0"/>
              </a:rPr>
              <a:t>BIOMEDICAL APPLICATIONS - II</a:t>
            </a: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Customized surgical implants</a:t>
            </a: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Mechanical bone replicas</a:t>
            </a: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Anthropology</a:t>
            </a: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Forensics</a:t>
            </a:r>
          </a:p>
        </p:txBody>
      </p:sp>
      <p:sp>
        <p:nvSpPr>
          <p:cNvPr id="30725" name="Rectangle 4">
            <a:extLst>
              <a:ext uri="{FF2B5EF4-FFF2-40B4-BE49-F238E27FC236}">
                <a16:creationId xmlns:a16="http://schemas.microsoft.com/office/drawing/2014/main" id="{5E543A2D-147B-A1B4-332F-4099428DCEB9}"/>
              </a:ext>
            </a:extLst>
          </p:cNvPr>
          <p:cNvSpPr>
            <a:spLocks noGrp="1" noChangeArrowheads="1"/>
          </p:cNvSpPr>
          <p:nvPr>
            <p:ph type="title"/>
          </p:nvPr>
        </p:nvSpPr>
        <p:spPr>
          <a:xfrm>
            <a:off x="206375" y="161926"/>
            <a:ext cx="8937625" cy="1257442"/>
          </a:xfrm>
          <a:noFill/>
        </p:spPr>
        <p:txBody>
          <a:bodyPr/>
          <a:lstStyle/>
          <a:p>
            <a:r>
              <a:rPr lang="en-US" dirty="0"/>
              <a:t>APPLICATION:</a:t>
            </a:r>
            <a:endParaRPr lang="en-GB" alt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a:extLst>
              <a:ext uri="{FF2B5EF4-FFF2-40B4-BE49-F238E27FC236}">
                <a16:creationId xmlns:a16="http://schemas.microsoft.com/office/drawing/2014/main" id="{69AE0823-E739-50FA-FE33-3A1267F9450C}"/>
              </a:ext>
            </a:extLst>
          </p:cNvPr>
          <p:cNvSpPr>
            <a:spLocks noGrp="1" noChangeArrowheads="1"/>
          </p:cNvSpPr>
          <p:nvPr>
            <p:ph type="body" idx="1"/>
          </p:nvPr>
        </p:nvSpPr>
        <p:spPr/>
        <p:txBody>
          <a:bodyPr>
            <a:noAutofit/>
          </a:bodyPr>
          <a:lstStyle/>
          <a:p>
            <a:pPr marR="0" indent="0" algn="just">
              <a:lnSpc>
                <a:spcPct val="100000"/>
              </a:lnSpc>
              <a:spcBef>
                <a:spcPts val="600"/>
              </a:spcBef>
              <a:spcAft>
                <a:spcPts val="0"/>
              </a:spcAft>
              <a:buNone/>
            </a:pPr>
            <a:r>
              <a:rPr lang="en-US" sz="2800" b="1" dirty="0">
                <a:solidFill>
                  <a:srgbClr val="FF0000"/>
                </a:solidFill>
                <a:effectLst/>
                <a:latin typeface="Book Antiqua" panose="02040602050305030304" pitchFamily="18" charset="0"/>
                <a:ea typeface="Calibri" panose="020F0502020204030204" pitchFamily="34" charset="0"/>
                <a:cs typeface="Times New Roman" panose="02020603050405020304" pitchFamily="18" charset="0"/>
              </a:rPr>
              <a:t>ARCHITECTURE</a:t>
            </a: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3D visualization of design space</a:t>
            </a: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Iterations of shape</a:t>
            </a: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Sectioned models</a:t>
            </a:r>
          </a:p>
          <a:p>
            <a:pPr marR="0" indent="0" algn="just">
              <a:lnSpc>
                <a:spcPct val="100000"/>
              </a:lnSpc>
              <a:spcBef>
                <a:spcPts val="600"/>
              </a:spcBef>
              <a:spcAft>
                <a:spcPts val="0"/>
              </a:spcAft>
              <a:buNone/>
            </a:pPr>
            <a:r>
              <a:rPr lang="en-US" sz="2800" b="1" dirty="0">
                <a:solidFill>
                  <a:srgbClr val="FF0000"/>
                </a:solidFill>
                <a:effectLst/>
                <a:latin typeface="Book Antiqua" panose="02040602050305030304" pitchFamily="18" charset="0"/>
                <a:ea typeface="Calibri" panose="020F0502020204030204" pitchFamily="34" charset="0"/>
                <a:cs typeface="Times New Roman" panose="02020603050405020304" pitchFamily="18" charset="0"/>
              </a:rPr>
              <a:t>FASHION &amp; JEWELRY</a:t>
            </a: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Shoe Design</a:t>
            </a: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a:t>
            </a:r>
            <a:r>
              <a:rPr lang="en-US" sz="2800" b="1" dirty="0" err="1">
                <a:effectLst/>
                <a:latin typeface="Book Antiqua" panose="02040602050305030304" pitchFamily="18" charset="0"/>
                <a:ea typeface="Calibri" panose="020F0502020204030204" pitchFamily="34" charset="0"/>
                <a:cs typeface="Times New Roman" panose="02020603050405020304" pitchFamily="18" charset="0"/>
              </a:rPr>
              <a:t>Jewellery</a:t>
            </a:r>
            <a:endParaRPr lang="en-US" sz="2800" b="1" dirty="0">
              <a:effectLst/>
              <a:latin typeface="Book Antiqua" panose="02040602050305030304" pitchFamily="18" charset="0"/>
              <a:ea typeface="Calibri" panose="020F0502020204030204" pitchFamily="34" charset="0"/>
              <a:cs typeface="Times New Roman" panose="02020603050405020304" pitchFamily="18" charset="0"/>
            </a:endParaRP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Pattern for lost wax</a:t>
            </a:r>
          </a:p>
          <a:p>
            <a:pPr marR="0" indent="0" algn="just">
              <a:lnSpc>
                <a:spcPct val="100000"/>
              </a:lnSpc>
              <a:spcBef>
                <a:spcPts val="600"/>
              </a:spcBef>
              <a:spcAft>
                <a:spcPts val="0"/>
              </a:spcAft>
              <a:buNone/>
            </a:pPr>
            <a:r>
              <a:rPr lang="en-US" sz="2800" b="1" dirty="0">
                <a:effectLst/>
                <a:latin typeface="Book Antiqua" panose="02040602050305030304" pitchFamily="18" charset="0"/>
                <a:ea typeface="Calibri" panose="020F0502020204030204" pitchFamily="34" charset="0"/>
                <a:cs typeface="Times New Roman" panose="02020603050405020304" pitchFamily="18" charset="0"/>
              </a:rPr>
              <a:t>• Other castings</a:t>
            </a:r>
          </a:p>
        </p:txBody>
      </p:sp>
      <p:sp>
        <p:nvSpPr>
          <p:cNvPr id="30725" name="Rectangle 4">
            <a:extLst>
              <a:ext uri="{FF2B5EF4-FFF2-40B4-BE49-F238E27FC236}">
                <a16:creationId xmlns:a16="http://schemas.microsoft.com/office/drawing/2014/main" id="{5E543A2D-147B-A1B4-332F-4099428DCEB9}"/>
              </a:ext>
            </a:extLst>
          </p:cNvPr>
          <p:cNvSpPr>
            <a:spLocks noGrp="1" noChangeArrowheads="1"/>
          </p:cNvSpPr>
          <p:nvPr>
            <p:ph type="title"/>
          </p:nvPr>
        </p:nvSpPr>
        <p:spPr>
          <a:xfrm>
            <a:off x="206375" y="161926"/>
            <a:ext cx="8937625" cy="1257442"/>
          </a:xfrm>
          <a:noFill/>
        </p:spPr>
        <p:txBody>
          <a:bodyPr/>
          <a:lstStyle/>
          <a:p>
            <a:r>
              <a:rPr lang="en-US" dirty="0"/>
              <a:t>APPLICATION:</a:t>
            </a:r>
            <a:endParaRPr lang="en-GB" altLang="en-US" sz="4000" dirty="0"/>
          </a:p>
        </p:txBody>
      </p:sp>
    </p:spTree>
    <p:extLst>
      <p:ext uri="{BB962C8B-B14F-4D97-AF65-F5344CB8AC3E}">
        <p14:creationId xmlns:p14="http://schemas.microsoft.com/office/powerpoint/2010/main" val="2219918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a:extLst>
              <a:ext uri="{FF2B5EF4-FFF2-40B4-BE49-F238E27FC236}">
                <a16:creationId xmlns:a16="http://schemas.microsoft.com/office/drawing/2014/main" id="{69AE0823-E739-50FA-FE33-3A1267F9450C}"/>
              </a:ext>
            </a:extLst>
          </p:cNvPr>
          <p:cNvSpPr>
            <a:spLocks noGrp="1" noChangeArrowheads="1"/>
          </p:cNvSpPr>
          <p:nvPr>
            <p:ph type="body" idx="1"/>
          </p:nvPr>
        </p:nvSpPr>
        <p:spPr/>
        <p:txBody>
          <a:bodyPr>
            <a:noAutofit/>
          </a:bodyPr>
          <a:lstStyle/>
          <a:p>
            <a:pPr marR="0" indent="0" algn="just">
              <a:lnSpc>
                <a:spcPct val="100000"/>
              </a:lnSpc>
              <a:spcBef>
                <a:spcPts val="600"/>
              </a:spcBef>
              <a:spcAft>
                <a:spcPts val="0"/>
              </a:spcAft>
              <a:buNone/>
            </a:pPr>
            <a:r>
              <a:rPr lang="en-US" sz="2800" b="1" dirty="0">
                <a:solidFill>
                  <a:srgbClr val="FF0000"/>
                </a:solidFill>
                <a:effectLst/>
                <a:latin typeface="Book Antiqua" panose="02040602050305030304" pitchFamily="18" charset="0"/>
                <a:ea typeface="Calibri" panose="020F0502020204030204" pitchFamily="34" charset="0"/>
                <a:cs typeface="Times New Roman" panose="02020603050405020304" pitchFamily="18" charset="0"/>
              </a:rPr>
              <a:t>LIQUID-BASED</a:t>
            </a:r>
          </a:p>
          <a:p>
            <a:pPr marR="0" indent="0" algn="just">
              <a:lnSpc>
                <a:spcPct val="100000"/>
              </a:lnSpc>
              <a:spcBef>
                <a:spcPts val="600"/>
              </a:spcBef>
              <a:spcAft>
                <a:spcPts val="0"/>
              </a:spcAft>
              <a:buNone/>
            </a:pPr>
            <a:r>
              <a:rPr lang="en-US" sz="2800" dirty="0">
                <a:effectLst/>
                <a:latin typeface="Book Antiqua" panose="02040602050305030304" pitchFamily="18" charset="0"/>
                <a:ea typeface="Calibri" panose="020F0502020204030204" pitchFamily="34" charset="0"/>
                <a:cs typeface="Times New Roman" panose="02020603050405020304" pitchFamily="18" charset="0"/>
              </a:rPr>
              <a:t>• Stereo lithography (SLA)</a:t>
            </a:r>
          </a:p>
          <a:p>
            <a:pPr marR="0" indent="0" algn="just">
              <a:lnSpc>
                <a:spcPct val="100000"/>
              </a:lnSpc>
              <a:spcBef>
                <a:spcPts val="600"/>
              </a:spcBef>
              <a:spcAft>
                <a:spcPts val="0"/>
              </a:spcAft>
              <a:buNone/>
            </a:pPr>
            <a:r>
              <a:rPr lang="en-US" sz="2800" dirty="0">
                <a:effectLst/>
                <a:latin typeface="Book Antiqua" panose="02040602050305030304" pitchFamily="18" charset="0"/>
                <a:ea typeface="Calibri" panose="020F0502020204030204" pitchFamily="34" charset="0"/>
                <a:cs typeface="Times New Roman" panose="02020603050405020304" pitchFamily="18" charset="0"/>
              </a:rPr>
              <a:t>• Solid Ground Curing (SGA)</a:t>
            </a:r>
          </a:p>
          <a:p>
            <a:pPr marR="0" indent="0" algn="just">
              <a:lnSpc>
                <a:spcPct val="100000"/>
              </a:lnSpc>
              <a:spcBef>
                <a:spcPts val="600"/>
              </a:spcBef>
              <a:spcAft>
                <a:spcPts val="0"/>
              </a:spcAft>
              <a:buNone/>
            </a:pPr>
            <a:r>
              <a:rPr lang="en-US" sz="2800" b="1" dirty="0">
                <a:solidFill>
                  <a:srgbClr val="FF0000"/>
                </a:solidFill>
                <a:effectLst/>
                <a:latin typeface="Book Antiqua" panose="02040602050305030304" pitchFamily="18" charset="0"/>
                <a:ea typeface="Calibri" panose="020F0502020204030204" pitchFamily="34" charset="0"/>
                <a:cs typeface="Times New Roman" panose="02020603050405020304" pitchFamily="18" charset="0"/>
              </a:rPr>
              <a:t>SOLID-BASED</a:t>
            </a:r>
          </a:p>
          <a:p>
            <a:pPr marR="0" indent="0" algn="just">
              <a:lnSpc>
                <a:spcPct val="100000"/>
              </a:lnSpc>
              <a:spcBef>
                <a:spcPts val="600"/>
              </a:spcBef>
              <a:spcAft>
                <a:spcPts val="0"/>
              </a:spcAft>
              <a:buNone/>
            </a:pPr>
            <a:r>
              <a:rPr lang="en-US" sz="2800" dirty="0">
                <a:effectLst/>
                <a:latin typeface="Book Antiqua" panose="02040602050305030304" pitchFamily="18" charset="0"/>
                <a:ea typeface="Calibri" panose="020F0502020204030204" pitchFamily="34" charset="0"/>
                <a:cs typeface="Times New Roman" panose="02020603050405020304" pitchFamily="18" charset="0"/>
              </a:rPr>
              <a:t>• Fused deposition modeling (FDM)</a:t>
            </a:r>
          </a:p>
          <a:p>
            <a:pPr marR="0" indent="0" algn="just">
              <a:lnSpc>
                <a:spcPct val="100000"/>
              </a:lnSpc>
              <a:spcBef>
                <a:spcPts val="600"/>
              </a:spcBef>
              <a:spcAft>
                <a:spcPts val="0"/>
              </a:spcAft>
              <a:buNone/>
            </a:pPr>
            <a:r>
              <a:rPr lang="en-US" sz="2800" dirty="0">
                <a:effectLst/>
                <a:latin typeface="Book Antiqua" panose="02040602050305030304" pitchFamily="18" charset="0"/>
                <a:ea typeface="Calibri" panose="020F0502020204030204" pitchFamily="34" charset="0"/>
                <a:cs typeface="Times New Roman" panose="02020603050405020304" pitchFamily="18" charset="0"/>
              </a:rPr>
              <a:t>• Laminated object manufacturing (LOM)</a:t>
            </a:r>
          </a:p>
          <a:p>
            <a:pPr marR="0" indent="0" algn="just">
              <a:lnSpc>
                <a:spcPct val="100000"/>
              </a:lnSpc>
              <a:spcBef>
                <a:spcPts val="600"/>
              </a:spcBef>
              <a:spcAft>
                <a:spcPts val="0"/>
              </a:spcAft>
              <a:buNone/>
            </a:pPr>
            <a:r>
              <a:rPr lang="en-US" sz="2800" b="1" dirty="0">
                <a:solidFill>
                  <a:srgbClr val="FF0000"/>
                </a:solidFill>
                <a:effectLst/>
                <a:latin typeface="Book Antiqua" panose="02040602050305030304" pitchFamily="18" charset="0"/>
                <a:ea typeface="Calibri" panose="020F0502020204030204" pitchFamily="34" charset="0"/>
                <a:cs typeface="Times New Roman" panose="02020603050405020304" pitchFamily="18" charset="0"/>
              </a:rPr>
              <a:t>POWDER-BASED</a:t>
            </a:r>
          </a:p>
          <a:p>
            <a:pPr marR="0" indent="0" algn="just">
              <a:lnSpc>
                <a:spcPct val="100000"/>
              </a:lnSpc>
              <a:spcBef>
                <a:spcPts val="600"/>
              </a:spcBef>
              <a:spcAft>
                <a:spcPts val="0"/>
              </a:spcAft>
              <a:buNone/>
            </a:pPr>
            <a:r>
              <a:rPr lang="en-US" sz="2800" dirty="0">
                <a:effectLst/>
                <a:latin typeface="Book Antiqua" panose="02040602050305030304" pitchFamily="18" charset="0"/>
                <a:ea typeface="Calibri" panose="020F0502020204030204" pitchFamily="34" charset="0"/>
                <a:cs typeface="Times New Roman" panose="02020603050405020304" pitchFamily="18" charset="0"/>
              </a:rPr>
              <a:t>• 3D Printing</a:t>
            </a:r>
          </a:p>
          <a:p>
            <a:pPr marR="0" indent="0" algn="just">
              <a:lnSpc>
                <a:spcPct val="100000"/>
              </a:lnSpc>
              <a:spcBef>
                <a:spcPts val="600"/>
              </a:spcBef>
              <a:spcAft>
                <a:spcPts val="0"/>
              </a:spcAft>
              <a:buNone/>
            </a:pPr>
            <a:r>
              <a:rPr lang="en-US" sz="2800" dirty="0">
                <a:effectLst/>
                <a:latin typeface="Book Antiqua" panose="02040602050305030304" pitchFamily="18" charset="0"/>
                <a:ea typeface="Calibri" panose="020F0502020204030204" pitchFamily="34" charset="0"/>
                <a:cs typeface="Times New Roman" panose="02020603050405020304" pitchFamily="18" charset="0"/>
              </a:rPr>
              <a:t>• Selective laser sintering (SLS)</a:t>
            </a:r>
          </a:p>
          <a:p>
            <a:pPr marR="0" indent="0" algn="just">
              <a:lnSpc>
                <a:spcPct val="100000"/>
              </a:lnSpc>
              <a:spcBef>
                <a:spcPts val="600"/>
              </a:spcBef>
              <a:spcAft>
                <a:spcPts val="0"/>
              </a:spcAft>
              <a:buNone/>
            </a:pPr>
            <a:r>
              <a:rPr lang="en-US" sz="2800" dirty="0">
                <a:effectLst/>
                <a:latin typeface="Book Antiqua" panose="02040602050305030304" pitchFamily="18" charset="0"/>
                <a:ea typeface="Calibri" panose="020F0502020204030204" pitchFamily="34" charset="0"/>
                <a:cs typeface="Times New Roman" panose="02020603050405020304" pitchFamily="18" charset="0"/>
              </a:rPr>
              <a:t>• Direct metal laser sintering (DMLS) </a:t>
            </a:r>
          </a:p>
        </p:txBody>
      </p:sp>
      <p:sp>
        <p:nvSpPr>
          <p:cNvPr id="30725" name="Rectangle 4">
            <a:extLst>
              <a:ext uri="{FF2B5EF4-FFF2-40B4-BE49-F238E27FC236}">
                <a16:creationId xmlns:a16="http://schemas.microsoft.com/office/drawing/2014/main" id="{5E543A2D-147B-A1B4-332F-4099428DCEB9}"/>
              </a:ext>
            </a:extLst>
          </p:cNvPr>
          <p:cNvSpPr>
            <a:spLocks noGrp="1" noChangeArrowheads="1"/>
          </p:cNvSpPr>
          <p:nvPr>
            <p:ph type="title"/>
          </p:nvPr>
        </p:nvSpPr>
        <p:spPr>
          <a:xfrm>
            <a:off x="206375" y="161926"/>
            <a:ext cx="8937625" cy="1257442"/>
          </a:xfrm>
          <a:noFill/>
        </p:spPr>
        <p:txBody>
          <a:bodyPr>
            <a:normAutofit/>
          </a:bodyPr>
          <a:lstStyle/>
          <a:p>
            <a:r>
              <a:rPr lang="en-US" altLang="en-US" sz="3000" dirty="0"/>
              <a:t>Classification of Rapid Prototyping System</a:t>
            </a:r>
            <a:endParaRPr lang="en-GB" altLang="en-US" sz="3000" dirty="0"/>
          </a:p>
        </p:txBody>
      </p:sp>
    </p:spTree>
    <p:extLst>
      <p:ext uri="{BB962C8B-B14F-4D97-AF65-F5344CB8AC3E}">
        <p14:creationId xmlns:p14="http://schemas.microsoft.com/office/powerpoint/2010/main" val="3502040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78255" y="2229992"/>
            <a:ext cx="7183120" cy="4083050"/>
          </a:xfrm>
          <a:prstGeom prst="rect">
            <a:avLst/>
          </a:prstGeom>
        </p:spPr>
        <p:txBody>
          <a:bodyPr vert="horz" wrap="square" lIns="0" tIns="12065" rIns="0" bIns="0" rtlCol="0">
            <a:spAutoFit/>
          </a:bodyPr>
          <a:lstStyle/>
          <a:p>
            <a:pPr marL="12700" algn="just">
              <a:lnSpc>
                <a:spcPct val="100000"/>
              </a:lnSpc>
              <a:spcBef>
                <a:spcPts val="95"/>
              </a:spcBef>
            </a:pPr>
            <a:r>
              <a:rPr sz="2200" spc="3825" dirty="0">
                <a:solidFill>
                  <a:srgbClr val="863623"/>
                </a:solidFill>
                <a:latin typeface="Wingdings"/>
                <a:cs typeface="Wingdings"/>
              </a:rPr>
              <a:t></a:t>
            </a:r>
            <a:r>
              <a:rPr sz="2200" spc="90" dirty="0">
                <a:solidFill>
                  <a:srgbClr val="863623"/>
                </a:solidFill>
                <a:latin typeface="Times New Roman"/>
                <a:cs typeface="Times New Roman"/>
              </a:rPr>
              <a:t> </a:t>
            </a:r>
            <a:r>
              <a:rPr sz="2200" dirty="0">
                <a:solidFill>
                  <a:srgbClr val="252525"/>
                </a:solidFill>
                <a:latin typeface="P052"/>
                <a:cs typeface="P052"/>
              </a:rPr>
              <a:t>High</a:t>
            </a:r>
            <a:r>
              <a:rPr sz="2200" spc="-35" dirty="0">
                <a:solidFill>
                  <a:srgbClr val="252525"/>
                </a:solidFill>
                <a:latin typeface="P052"/>
                <a:cs typeface="P052"/>
              </a:rPr>
              <a:t> </a:t>
            </a:r>
            <a:r>
              <a:rPr sz="2200" dirty="0">
                <a:solidFill>
                  <a:srgbClr val="252525"/>
                </a:solidFill>
                <a:latin typeface="P052"/>
                <a:cs typeface="P052"/>
              </a:rPr>
              <a:t>precision</a:t>
            </a:r>
            <a:r>
              <a:rPr sz="2200" spc="-25" dirty="0">
                <a:solidFill>
                  <a:srgbClr val="252525"/>
                </a:solidFill>
                <a:latin typeface="P052"/>
                <a:cs typeface="P052"/>
              </a:rPr>
              <a:t> </a:t>
            </a:r>
            <a:r>
              <a:rPr sz="2200" dirty="0">
                <a:solidFill>
                  <a:srgbClr val="252525"/>
                </a:solidFill>
                <a:latin typeface="P052"/>
                <a:cs typeface="P052"/>
              </a:rPr>
              <a:t>RP</a:t>
            </a:r>
            <a:r>
              <a:rPr sz="2200" spc="-35" dirty="0">
                <a:solidFill>
                  <a:srgbClr val="252525"/>
                </a:solidFill>
                <a:latin typeface="P052"/>
                <a:cs typeface="P052"/>
              </a:rPr>
              <a:t> </a:t>
            </a:r>
            <a:r>
              <a:rPr sz="2200" dirty="0">
                <a:solidFill>
                  <a:srgbClr val="252525"/>
                </a:solidFill>
                <a:latin typeface="P052"/>
                <a:cs typeface="P052"/>
              </a:rPr>
              <a:t>machines</a:t>
            </a:r>
            <a:r>
              <a:rPr sz="2200" spc="-50" dirty="0">
                <a:solidFill>
                  <a:srgbClr val="252525"/>
                </a:solidFill>
                <a:latin typeface="P052"/>
                <a:cs typeface="P052"/>
              </a:rPr>
              <a:t> </a:t>
            </a:r>
            <a:r>
              <a:rPr sz="2200" dirty="0">
                <a:solidFill>
                  <a:srgbClr val="252525"/>
                </a:solidFill>
                <a:latin typeface="P052"/>
                <a:cs typeface="P052"/>
              </a:rPr>
              <a:t>are</a:t>
            </a:r>
            <a:r>
              <a:rPr sz="2200" spc="-40" dirty="0">
                <a:solidFill>
                  <a:srgbClr val="252525"/>
                </a:solidFill>
                <a:latin typeface="P052"/>
                <a:cs typeface="P052"/>
              </a:rPr>
              <a:t> </a:t>
            </a:r>
            <a:r>
              <a:rPr sz="2200" dirty="0">
                <a:solidFill>
                  <a:srgbClr val="252525"/>
                </a:solidFill>
                <a:latin typeface="P052"/>
                <a:cs typeface="P052"/>
              </a:rPr>
              <a:t>still</a:t>
            </a:r>
            <a:r>
              <a:rPr sz="2200" spc="-25" dirty="0">
                <a:solidFill>
                  <a:srgbClr val="252525"/>
                </a:solidFill>
                <a:latin typeface="P052"/>
                <a:cs typeface="P052"/>
              </a:rPr>
              <a:t> </a:t>
            </a:r>
            <a:r>
              <a:rPr sz="2200" spc="-10" dirty="0">
                <a:solidFill>
                  <a:srgbClr val="252525"/>
                </a:solidFill>
                <a:latin typeface="P052"/>
                <a:cs typeface="P052"/>
              </a:rPr>
              <a:t>expensive.</a:t>
            </a:r>
            <a:endParaRPr sz="2200" dirty="0">
              <a:latin typeface="P052"/>
              <a:cs typeface="P052"/>
            </a:endParaRPr>
          </a:p>
          <a:p>
            <a:pPr algn="just">
              <a:lnSpc>
                <a:spcPct val="100000"/>
              </a:lnSpc>
              <a:spcBef>
                <a:spcPts val="405"/>
              </a:spcBef>
            </a:pPr>
            <a:endParaRPr sz="2200" dirty="0">
              <a:latin typeface="P052"/>
              <a:cs typeface="P052"/>
            </a:endParaRPr>
          </a:p>
          <a:p>
            <a:pPr marL="377825" marR="331470" indent="-365760" algn="just">
              <a:lnSpc>
                <a:spcPts val="2380"/>
              </a:lnSpc>
            </a:pPr>
            <a:r>
              <a:rPr sz="2200" spc="3825" dirty="0">
                <a:solidFill>
                  <a:srgbClr val="863623"/>
                </a:solidFill>
                <a:latin typeface="Wingdings"/>
                <a:cs typeface="Wingdings"/>
              </a:rPr>
              <a:t></a:t>
            </a:r>
            <a:r>
              <a:rPr sz="2200" spc="90" dirty="0">
                <a:solidFill>
                  <a:srgbClr val="863623"/>
                </a:solidFill>
                <a:latin typeface="Times New Roman"/>
                <a:cs typeface="Times New Roman"/>
              </a:rPr>
              <a:t> </a:t>
            </a:r>
            <a:r>
              <a:rPr sz="2200" dirty="0">
                <a:solidFill>
                  <a:srgbClr val="252525"/>
                </a:solidFill>
                <a:latin typeface="P052"/>
                <a:cs typeface="P052"/>
              </a:rPr>
              <a:t>RP</a:t>
            </a:r>
            <a:r>
              <a:rPr sz="2200" spc="-35" dirty="0">
                <a:solidFill>
                  <a:srgbClr val="252525"/>
                </a:solidFill>
                <a:latin typeface="P052"/>
                <a:cs typeface="P052"/>
              </a:rPr>
              <a:t> </a:t>
            </a:r>
            <a:r>
              <a:rPr sz="2200" dirty="0">
                <a:solidFill>
                  <a:srgbClr val="252525"/>
                </a:solidFill>
                <a:latin typeface="P052"/>
                <a:cs typeface="P052"/>
              </a:rPr>
              <a:t>systems</a:t>
            </a:r>
            <a:r>
              <a:rPr sz="2200" spc="-40" dirty="0">
                <a:solidFill>
                  <a:srgbClr val="252525"/>
                </a:solidFill>
                <a:latin typeface="P052"/>
                <a:cs typeface="P052"/>
              </a:rPr>
              <a:t> </a:t>
            </a:r>
            <a:r>
              <a:rPr sz="2200" dirty="0">
                <a:solidFill>
                  <a:srgbClr val="252525"/>
                </a:solidFill>
                <a:latin typeface="P052"/>
                <a:cs typeface="P052"/>
              </a:rPr>
              <a:t>are</a:t>
            </a:r>
            <a:r>
              <a:rPr sz="2200" spc="-30" dirty="0">
                <a:solidFill>
                  <a:srgbClr val="252525"/>
                </a:solidFill>
                <a:latin typeface="P052"/>
                <a:cs typeface="P052"/>
              </a:rPr>
              <a:t> </a:t>
            </a:r>
            <a:r>
              <a:rPr sz="2200" dirty="0">
                <a:solidFill>
                  <a:srgbClr val="252525"/>
                </a:solidFill>
                <a:latin typeface="P052"/>
                <a:cs typeface="P052"/>
              </a:rPr>
              <a:t>difficult</a:t>
            </a:r>
            <a:r>
              <a:rPr sz="2200" spc="-15" dirty="0">
                <a:solidFill>
                  <a:srgbClr val="252525"/>
                </a:solidFill>
                <a:latin typeface="P052"/>
                <a:cs typeface="P052"/>
              </a:rPr>
              <a:t> </a:t>
            </a:r>
            <a:r>
              <a:rPr sz="2200" dirty="0">
                <a:solidFill>
                  <a:srgbClr val="252525"/>
                </a:solidFill>
                <a:latin typeface="P052"/>
                <a:cs typeface="P052"/>
              </a:rPr>
              <a:t>to</a:t>
            </a:r>
            <a:r>
              <a:rPr sz="2200" spc="-30" dirty="0">
                <a:solidFill>
                  <a:srgbClr val="252525"/>
                </a:solidFill>
                <a:latin typeface="P052"/>
                <a:cs typeface="P052"/>
              </a:rPr>
              <a:t> </a:t>
            </a:r>
            <a:r>
              <a:rPr sz="2200" dirty="0">
                <a:solidFill>
                  <a:srgbClr val="252525"/>
                </a:solidFill>
                <a:latin typeface="P052"/>
                <a:cs typeface="P052"/>
              </a:rPr>
              <a:t>build</a:t>
            </a:r>
            <a:r>
              <a:rPr sz="2200" spc="-20" dirty="0">
                <a:solidFill>
                  <a:srgbClr val="252525"/>
                </a:solidFill>
                <a:latin typeface="P052"/>
                <a:cs typeface="P052"/>
              </a:rPr>
              <a:t> </a:t>
            </a:r>
            <a:r>
              <a:rPr sz="2200" dirty="0">
                <a:solidFill>
                  <a:srgbClr val="252525"/>
                </a:solidFill>
                <a:latin typeface="P052"/>
                <a:cs typeface="P052"/>
              </a:rPr>
              <a:t>parts</a:t>
            </a:r>
            <a:r>
              <a:rPr sz="2200" spc="-25" dirty="0">
                <a:solidFill>
                  <a:srgbClr val="252525"/>
                </a:solidFill>
                <a:latin typeface="P052"/>
                <a:cs typeface="P052"/>
              </a:rPr>
              <a:t> </a:t>
            </a:r>
            <a:r>
              <a:rPr sz="2200" dirty="0">
                <a:solidFill>
                  <a:srgbClr val="252525"/>
                </a:solidFill>
                <a:latin typeface="P052"/>
                <a:cs typeface="P052"/>
              </a:rPr>
              <a:t>with</a:t>
            </a:r>
            <a:r>
              <a:rPr sz="2200" spc="-35" dirty="0">
                <a:solidFill>
                  <a:srgbClr val="252525"/>
                </a:solidFill>
                <a:latin typeface="P052"/>
                <a:cs typeface="P052"/>
              </a:rPr>
              <a:t> </a:t>
            </a:r>
            <a:r>
              <a:rPr sz="2200" spc="-475" dirty="0">
                <a:solidFill>
                  <a:srgbClr val="252525"/>
                </a:solidFill>
                <a:latin typeface="P052"/>
                <a:cs typeface="P052"/>
              </a:rPr>
              <a:t>accuracy</a:t>
            </a:r>
            <a:r>
              <a:rPr sz="2200" dirty="0">
                <a:solidFill>
                  <a:srgbClr val="252525"/>
                </a:solidFill>
                <a:latin typeface="P052"/>
                <a:cs typeface="P052"/>
              </a:rPr>
              <a:t> under</a:t>
            </a:r>
            <a:r>
              <a:rPr sz="2200" spc="-35" dirty="0">
                <a:solidFill>
                  <a:srgbClr val="252525"/>
                </a:solidFill>
                <a:latin typeface="P052"/>
                <a:cs typeface="P052"/>
              </a:rPr>
              <a:t> </a:t>
            </a:r>
            <a:r>
              <a:rPr sz="2200" dirty="0">
                <a:solidFill>
                  <a:srgbClr val="252525"/>
                </a:solidFill>
                <a:latin typeface="P052"/>
                <a:cs typeface="P052"/>
              </a:rPr>
              <a:t>+/-</a:t>
            </a:r>
            <a:r>
              <a:rPr sz="2200" spc="-10" dirty="0">
                <a:solidFill>
                  <a:srgbClr val="252525"/>
                </a:solidFill>
                <a:latin typeface="P052"/>
                <a:cs typeface="P052"/>
              </a:rPr>
              <a:t> </a:t>
            </a:r>
            <a:r>
              <a:rPr sz="2200" dirty="0">
                <a:solidFill>
                  <a:srgbClr val="252525"/>
                </a:solidFill>
                <a:latin typeface="P052"/>
                <a:cs typeface="P052"/>
              </a:rPr>
              <a:t>0.02mm</a:t>
            </a:r>
            <a:r>
              <a:rPr sz="2200" spc="-55" dirty="0">
                <a:solidFill>
                  <a:srgbClr val="252525"/>
                </a:solidFill>
                <a:latin typeface="P052"/>
                <a:cs typeface="P052"/>
              </a:rPr>
              <a:t> </a:t>
            </a:r>
            <a:r>
              <a:rPr sz="2200" dirty="0">
                <a:solidFill>
                  <a:srgbClr val="252525"/>
                </a:solidFill>
                <a:latin typeface="P052"/>
                <a:cs typeface="P052"/>
              </a:rPr>
              <a:t>and</a:t>
            </a:r>
            <a:r>
              <a:rPr sz="2200" spc="-40" dirty="0">
                <a:solidFill>
                  <a:srgbClr val="252525"/>
                </a:solidFill>
                <a:latin typeface="P052"/>
                <a:cs typeface="P052"/>
              </a:rPr>
              <a:t> </a:t>
            </a:r>
            <a:r>
              <a:rPr sz="2200" dirty="0">
                <a:solidFill>
                  <a:srgbClr val="252525"/>
                </a:solidFill>
                <a:latin typeface="P052"/>
                <a:cs typeface="P052"/>
              </a:rPr>
              <a:t>wall</a:t>
            </a:r>
            <a:r>
              <a:rPr sz="2200" spc="-40" dirty="0">
                <a:solidFill>
                  <a:srgbClr val="252525"/>
                </a:solidFill>
                <a:latin typeface="P052"/>
                <a:cs typeface="P052"/>
              </a:rPr>
              <a:t> </a:t>
            </a:r>
            <a:r>
              <a:rPr sz="2200" dirty="0">
                <a:solidFill>
                  <a:srgbClr val="252525"/>
                </a:solidFill>
                <a:latin typeface="P052"/>
                <a:cs typeface="P052"/>
              </a:rPr>
              <a:t>thickness</a:t>
            </a:r>
            <a:r>
              <a:rPr sz="2200" spc="-50" dirty="0">
                <a:solidFill>
                  <a:srgbClr val="252525"/>
                </a:solidFill>
                <a:latin typeface="P052"/>
                <a:cs typeface="P052"/>
              </a:rPr>
              <a:t> </a:t>
            </a:r>
            <a:r>
              <a:rPr sz="2200" dirty="0">
                <a:solidFill>
                  <a:srgbClr val="252525"/>
                </a:solidFill>
                <a:latin typeface="P052"/>
                <a:cs typeface="P052"/>
              </a:rPr>
              <a:t>under</a:t>
            </a:r>
            <a:r>
              <a:rPr sz="2200" spc="-30" dirty="0">
                <a:solidFill>
                  <a:srgbClr val="252525"/>
                </a:solidFill>
                <a:latin typeface="P052"/>
                <a:cs typeface="P052"/>
              </a:rPr>
              <a:t> </a:t>
            </a:r>
            <a:r>
              <a:rPr sz="2200" spc="-10" dirty="0">
                <a:solidFill>
                  <a:srgbClr val="252525"/>
                </a:solidFill>
                <a:latin typeface="P052"/>
                <a:cs typeface="P052"/>
              </a:rPr>
              <a:t>0.5mm.</a:t>
            </a:r>
            <a:endParaRPr sz="2200" dirty="0">
              <a:latin typeface="P052"/>
              <a:cs typeface="P052"/>
            </a:endParaRPr>
          </a:p>
          <a:p>
            <a:pPr algn="just">
              <a:lnSpc>
                <a:spcPct val="100000"/>
              </a:lnSpc>
              <a:spcBef>
                <a:spcPts val="330"/>
              </a:spcBef>
            </a:pPr>
            <a:endParaRPr sz="2200" dirty="0">
              <a:latin typeface="P052"/>
              <a:cs typeface="P052"/>
            </a:endParaRPr>
          </a:p>
          <a:p>
            <a:pPr marL="377825" marR="5080" indent="-365760" algn="just">
              <a:lnSpc>
                <a:spcPct val="90000"/>
              </a:lnSpc>
            </a:pPr>
            <a:r>
              <a:rPr sz="2200" spc="3825" dirty="0">
                <a:solidFill>
                  <a:srgbClr val="863623"/>
                </a:solidFill>
                <a:latin typeface="Wingdings"/>
                <a:cs typeface="Wingdings"/>
              </a:rPr>
              <a:t></a:t>
            </a:r>
            <a:r>
              <a:rPr sz="2200" spc="85" dirty="0">
                <a:solidFill>
                  <a:srgbClr val="863623"/>
                </a:solidFill>
                <a:latin typeface="Times New Roman"/>
                <a:cs typeface="Times New Roman"/>
              </a:rPr>
              <a:t> </a:t>
            </a:r>
            <a:r>
              <a:rPr sz="2200" dirty="0">
                <a:solidFill>
                  <a:srgbClr val="252525"/>
                </a:solidFill>
                <a:latin typeface="P052"/>
                <a:cs typeface="P052"/>
              </a:rPr>
              <a:t>The</a:t>
            </a:r>
            <a:r>
              <a:rPr sz="2200" spc="-40" dirty="0">
                <a:solidFill>
                  <a:srgbClr val="252525"/>
                </a:solidFill>
                <a:latin typeface="P052"/>
                <a:cs typeface="P052"/>
              </a:rPr>
              <a:t> </a:t>
            </a:r>
            <a:r>
              <a:rPr sz="2200" dirty="0">
                <a:solidFill>
                  <a:srgbClr val="252525"/>
                </a:solidFill>
                <a:latin typeface="P052"/>
                <a:cs typeface="P052"/>
              </a:rPr>
              <a:t>physical</a:t>
            </a:r>
            <a:r>
              <a:rPr sz="2200" spc="-40" dirty="0">
                <a:solidFill>
                  <a:srgbClr val="252525"/>
                </a:solidFill>
                <a:latin typeface="P052"/>
                <a:cs typeface="P052"/>
              </a:rPr>
              <a:t> </a:t>
            </a:r>
            <a:r>
              <a:rPr sz="2200" dirty="0">
                <a:solidFill>
                  <a:srgbClr val="252525"/>
                </a:solidFill>
                <a:latin typeface="P052"/>
                <a:cs typeface="P052"/>
              </a:rPr>
              <a:t>properties</a:t>
            </a:r>
            <a:r>
              <a:rPr sz="2200" spc="-20" dirty="0">
                <a:solidFill>
                  <a:srgbClr val="252525"/>
                </a:solidFill>
                <a:latin typeface="P052"/>
                <a:cs typeface="P052"/>
              </a:rPr>
              <a:t> </a:t>
            </a:r>
            <a:r>
              <a:rPr sz="2200" dirty="0">
                <a:solidFill>
                  <a:srgbClr val="252525"/>
                </a:solidFill>
                <a:latin typeface="P052"/>
                <a:cs typeface="P052"/>
              </a:rPr>
              <a:t>of</a:t>
            </a:r>
            <a:r>
              <a:rPr sz="2200" spc="-40" dirty="0">
                <a:solidFill>
                  <a:srgbClr val="252525"/>
                </a:solidFill>
                <a:latin typeface="P052"/>
                <a:cs typeface="P052"/>
              </a:rPr>
              <a:t> </a:t>
            </a:r>
            <a:r>
              <a:rPr sz="2200" dirty="0">
                <a:solidFill>
                  <a:srgbClr val="252525"/>
                </a:solidFill>
                <a:latin typeface="P052"/>
                <a:cs typeface="P052"/>
              </a:rPr>
              <a:t>the</a:t>
            </a:r>
            <a:r>
              <a:rPr sz="2200" spc="-50" dirty="0">
                <a:solidFill>
                  <a:srgbClr val="252525"/>
                </a:solidFill>
                <a:latin typeface="P052"/>
                <a:cs typeface="P052"/>
              </a:rPr>
              <a:t> </a:t>
            </a:r>
            <a:r>
              <a:rPr sz="2200" dirty="0">
                <a:solidFill>
                  <a:srgbClr val="252525"/>
                </a:solidFill>
                <a:latin typeface="P052"/>
                <a:cs typeface="P052"/>
              </a:rPr>
              <a:t>RP</a:t>
            </a:r>
            <a:r>
              <a:rPr sz="2200" spc="-25" dirty="0">
                <a:solidFill>
                  <a:srgbClr val="252525"/>
                </a:solidFill>
                <a:latin typeface="P052"/>
                <a:cs typeface="P052"/>
              </a:rPr>
              <a:t> </a:t>
            </a:r>
            <a:r>
              <a:rPr sz="2200" dirty="0">
                <a:solidFill>
                  <a:srgbClr val="252525"/>
                </a:solidFill>
                <a:latin typeface="P052"/>
                <a:cs typeface="P052"/>
              </a:rPr>
              <a:t>parts</a:t>
            </a:r>
            <a:r>
              <a:rPr sz="2200" spc="-30" dirty="0">
                <a:solidFill>
                  <a:srgbClr val="252525"/>
                </a:solidFill>
                <a:latin typeface="P052"/>
                <a:cs typeface="P052"/>
              </a:rPr>
              <a:t> </a:t>
            </a:r>
            <a:r>
              <a:rPr sz="2200" dirty="0">
                <a:solidFill>
                  <a:srgbClr val="252525"/>
                </a:solidFill>
                <a:latin typeface="P052"/>
                <a:cs typeface="P052"/>
              </a:rPr>
              <a:t>are</a:t>
            </a:r>
            <a:r>
              <a:rPr sz="2200" spc="-35" dirty="0">
                <a:solidFill>
                  <a:srgbClr val="252525"/>
                </a:solidFill>
                <a:latin typeface="P052"/>
                <a:cs typeface="P052"/>
              </a:rPr>
              <a:t> </a:t>
            </a:r>
            <a:r>
              <a:rPr sz="2200" spc="-114" dirty="0">
                <a:solidFill>
                  <a:srgbClr val="252525"/>
                </a:solidFill>
                <a:latin typeface="P052"/>
                <a:cs typeface="P052"/>
              </a:rPr>
              <a:t>normally </a:t>
            </a:r>
            <a:r>
              <a:rPr sz="2200" dirty="0">
                <a:solidFill>
                  <a:srgbClr val="252525"/>
                </a:solidFill>
                <a:latin typeface="P052"/>
                <a:cs typeface="P052"/>
              </a:rPr>
              <a:t>inferior</a:t>
            </a:r>
            <a:r>
              <a:rPr sz="2200" spc="-40" dirty="0">
                <a:solidFill>
                  <a:srgbClr val="252525"/>
                </a:solidFill>
                <a:latin typeface="P052"/>
                <a:cs typeface="P052"/>
              </a:rPr>
              <a:t> </a:t>
            </a:r>
            <a:r>
              <a:rPr sz="2200" dirty="0">
                <a:solidFill>
                  <a:srgbClr val="252525"/>
                </a:solidFill>
                <a:latin typeface="P052"/>
                <a:cs typeface="P052"/>
              </a:rPr>
              <a:t>to</a:t>
            </a:r>
            <a:r>
              <a:rPr sz="2200" spc="-45" dirty="0">
                <a:solidFill>
                  <a:srgbClr val="252525"/>
                </a:solidFill>
                <a:latin typeface="P052"/>
                <a:cs typeface="P052"/>
              </a:rPr>
              <a:t> </a:t>
            </a:r>
            <a:r>
              <a:rPr sz="2200" dirty="0">
                <a:solidFill>
                  <a:srgbClr val="252525"/>
                </a:solidFill>
                <a:latin typeface="P052"/>
                <a:cs typeface="P052"/>
              </a:rPr>
              <a:t>those</a:t>
            </a:r>
            <a:r>
              <a:rPr sz="2200" spc="-60" dirty="0">
                <a:solidFill>
                  <a:srgbClr val="252525"/>
                </a:solidFill>
                <a:latin typeface="P052"/>
                <a:cs typeface="P052"/>
              </a:rPr>
              <a:t> </a:t>
            </a:r>
            <a:r>
              <a:rPr sz="2200" dirty="0">
                <a:solidFill>
                  <a:srgbClr val="252525"/>
                </a:solidFill>
                <a:latin typeface="P052"/>
                <a:cs typeface="P052"/>
              </a:rPr>
              <a:t>samples</a:t>
            </a:r>
            <a:r>
              <a:rPr sz="2200" spc="-35" dirty="0">
                <a:solidFill>
                  <a:srgbClr val="252525"/>
                </a:solidFill>
                <a:latin typeface="P052"/>
                <a:cs typeface="P052"/>
              </a:rPr>
              <a:t> </a:t>
            </a:r>
            <a:r>
              <a:rPr sz="2200" dirty="0">
                <a:solidFill>
                  <a:srgbClr val="252525"/>
                </a:solidFill>
                <a:latin typeface="P052"/>
                <a:cs typeface="P052"/>
              </a:rPr>
              <a:t>that</a:t>
            </a:r>
            <a:r>
              <a:rPr sz="2200" spc="-70" dirty="0">
                <a:solidFill>
                  <a:srgbClr val="252525"/>
                </a:solidFill>
                <a:latin typeface="P052"/>
                <a:cs typeface="P052"/>
              </a:rPr>
              <a:t> </a:t>
            </a:r>
            <a:r>
              <a:rPr sz="2200" dirty="0">
                <a:solidFill>
                  <a:srgbClr val="252525"/>
                </a:solidFill>
                <a:latin typeface="P052"/>
                <a:cs typeface="P052"/>
              </a:rPr>
              <a:t>made</a:t>
            </a:r>
            <a:r>
              <a:rPr sz="2200" spc="-40" dirty="0">
                <a:solidFill>
                  <a:srgbClr val="252525"/>
                </a:solidFill>
                <a:latin typeface="P052"/>
                <a:cs typeface="P052"/>
              </a:rPr>
              <a:t> </a:t>
            </a:r>
            <a:r>
              <a:rPr sz="2200" dirty="0">
                <a:solidFill>
                  <a:srgbClr val="252525"/>
                </a:solidFill>
                <a:latin typeface="P052"/>
                <a:cs typeface="P052"/>
              </a:rPr>
              <a:t>in</a:t>
            </a:r>
            <a:r>
              <a:rPr sz="2200" spc="-45" dirty="0">
                <a:solidFill>
                  <a:srgbClr val="252525"/>
                </a:solidFill>
                <a:latin typeface="P052"/>
                <a:cs typeface="P052"/>
              </a:rPr>
              <a:t> </a:t>
            </a:r>
            <a:r>
              <a:rPr sz="2200" dirty="0">
                <a:solidFill>
                  <a:srgbClr val="252525"/>
                </a:solidFill>
                <a:latin typeface="P052"/>
                <a:cs typeface="P052"/>
              </a:rPr>
              <a:t>proper</a:t>
            </a:r>
            <a:r>
              <a:rPr sz="2200" spc="-15" dirty="0">
                <a:solidFill>
                  <a:srgbClr val="252525"/>
                </a:solidFill>
                <a:latin typeface="P052"/>
                <a:cs typeface="P052"/>
              </a:rPr>
              <a:t> </a:t>
            </a:r>
            <a:r>
              <a:rPr sz="2200" spc="-10" dirty="0">
                <a:solidFill>
                  <a:srgbClr val="252525"/>
                </a:solidFill>
                <a:latin typeface="P052"/>
                <a:cs typeface="P052"/>
              </a:rPr>
              <a:t>materials </a:t>
            </a:r>
            <a:r>
              <a:rPr sz="2200" dirty="0">
                <a:solidFill>
                  <a:srgbClr val="252525"/>
                </a:solidFill>
                <a:latin typeface="P052"/>
                <a:cs typeface="P052"/>
              </a:rPr>
              <a:t>and</a:t>
            </a:r>
            <a:r>
              <a:rPr sz="2200" spc="-40" dirty="0">
                <a:solidFill>
                  <a:srgbClr val="252525"/>
                </a:solidFill>
                <a:latin typeface="P052"/>
                <a:cs typeface="P052"/>
              </a:rPr>
              <a:t> </a:t>
            </a:r>
            <a:r>
              <a:rPr sz="2200" dirty="0">
                <a:solidFill>
                  <a:srgbClr val="252525"/>
                </a:solidFill>
                <a:latin typeface="P052"/>
                <a:cs typeface="P052"/>
              </a:rPr>
              <a:t>by</a:t>
            </a:r>
            <a:r>
              <a:rPr sz="2200" spc="-30" dirty="0">
                <a:solidFill>
                  <a:srgbClr val="252525"/>
                </a:solidFill>
                <a:latin typeface="P052"/>
                <a:cs typeface="P052"/>
              </a:rPr>
              <a:t> </a:t>
            </a:r>
            <a:r>
              <a:rPr sz="2200" dirty="0">
                <a:solidFill>
                  <a:srgbClr val="252525"/>
                </a:solidFill>
                <a:latin typeface="P052"/>
                <a:cs typeface="P052"/>
              </a:rPr>
              <a:t>the</a:t>
            </a:r>
            <a:r>
              <a:rPr sz="2200" spc="-40" dirty="0">
                <a:solidFill>
                  <a:srgbClr val="252525"/>
                </a:solidFill>
                <a:latin typeface="P052"/>
                <a:cs typeface="P052"/>
              </a:rPr>
              <a:t> </a:t>
            </a:r>
            <a:r>
              <a:rPr sz="2200" dirty="0">
                <a:solidFill>
                  <a:srgbClr val="252525"/>
                </a:solidFill>
                <a:latin typeface="P052"/>
                <a:cs typeface="P052"/>
              </a:rPr>
              <a:t>traditional</a:t>
            </a:r>
            <a:r>
              <a:rPr sz="2200" spc="-25" dirty="0">
                <a:solidFill>
                  <a:srgbClr val="252525"/>
                </a:solidFill>
                <a:latin typeface="P052"/>
                <a:cs typeface="P052"/>
              </a:rPr>
              <a:t> </a:t>
            </a:r>
            <a:r>
              <a:rPr sz="2200" spc="-10" dirty="0">
                <a:solidFill>
                  <a:srgbClr val="252525"/>
                </a:solidFill>
                <a:latin typeface="P052"/>
                <a:cs typeface="P052"/>
              </a:rPr>
              <a:t>tooling.</a:t>
            </a:r>
            <a:endParaRPr sz="2200" dirty="0">
              <a:latin typeface="P052"/>
              <a:cs typeface="P052"/>
            </a:endParaRPr>
          </a:p>
          <a:p>
            <a:pPr algn="just">
              <a:lnSpc>
                <a:spcPct val="100000"/>
              </a:lnSpc>
              <a:spcBef>
                <a:spcPts val="365"/>
              </a:spcBef>
            </a:pPr>
            <a:endParaRPr sz="2200" dirty="0">
              <a:latin typeface="P052"/>
              <a:cs typeface="P052"/>
            </a:endParaRPr>
          </a:p>
          <a:p>
            <a:pPr marL="377825" marR="38100" indent="-365760" algn="just">
              <a:lnSpc>
                <a:spcPct val="90000"/>
              </a:lnSpc>
              <a:spcBef>
                <a:spcPts val="5"/>
              </a:spcBef>
            </a:pPr>
            <a:r>
              <a:rPr sz="2200" spc="3825" dirty="0">
                <a:solidFill>
                  <a:srgbClr val="863623"/>
                </a:solidFill>
                <a:latin typeface="Wingdings"/>
                <a:cs typeface="Wingdings"/>
              </a:rPr>
              <a:t></a:t>
            </a:r>
            <a:r>
              <a:rPr sz="2200" spc="90" dirty="0">
                <a:solidFill>
                  <a:srgbClr val="863623"/>
                </a:solidFill>
                <a:latin typeface="Times New Roman"/>
                <a:cs typeface="Times New Roman"/>
              </a:rPr>
              <a:t> </a:t>
            </a:r>
            <a:r>
              <a:rPr sz="2200" dirty="0">
                <a:solidFill>
                  <a:srgbClr val="252525"/>
                </a:solidFill>
                <a:latin typeface="P052"/>
                <a:cs typeface="P052"/>
              </a:rPr>
              <a:t>The</a:t>
            </a:r>
            <a:r>
              <a:rPr sz="2200" spc="-35" dirty="0">
                <a:solidFill>
                  <a:srgbClr val="252525"/>
                </a:solidFill>
                <a:latin typeface="P052"/>
                <a:cs typeface="P052"/>
              </a:rPr>
              <a:t> </a:t>
            </a:r>
            <a:r>
              <a:rPr sz="2200" dirty="0">
                <a:solidFill>
                  <a:srgbClr val="252525"/>
                </a:solidFill>
                <a:latin typeface="P052"/>
                <a:cs typeface="P052"/>
              </a:rPr>
              <a:t>RP</a:t>
            </a:r>
            <a:r>
              <a:rPr sz="2200" spc="-35" dirty="0">
                <a:solidFill>
                  <a:srgbClr val="252525"/>
                </a:solidFill>
                <a:latin typeface="P052"/>
                <a:cs typeface="P052"/>
              </a:rPr>
              <a:t> </a:t>
            </a:r>
            <a:r>
              <a:rPr sz="2200" dirty="0">
                <a:solidFill>
                  <a:srgbClr val="252525"/>
                </a:solidFill>
                <a:latin typeface="P052"/>
                <a:cs typeface="P052"/>
              </a:rPr>
              <a:t>parts</a:t>
            </a:r>
            <a:r>
              <a:rPr sz="2200" spc="-15" dirty="0">
                <a:solidFill>
                  <a:srgbClr val="252525"/>
                </a:solidFill>
                <a:latin typeface="P052"/>
                <a:cs typeface="P052"/>
              </a:rPr>
              <a:t> </a:t>
            </a:r>
            <a:r>
              <a:rPr sz="2200" dirty="0">
                <a:solidFill>
                  <a:srgbClr val="252525"/>
                </a:solidFill>
                <a:latin typeface="P052"/>
                <a:cs typeface="P052"/>
              </a:rPr>
              <a:t>are</a:t>
            </a:r>
            <a:r>
              <a:rPr sz="2200" spc="-30" dirty="0">
                <a:solidFill>
                  <a:srgbClr val="252525"/>
                </a:solidFill>
                <a:latin typeface="P052"/>
                <a:cs typeface="P052"/>
              </a:rPr>
              <a:t> </a:t>
            </a:r>
            <a:r>
              <a:rPr sz="2200" dirty="0">
                <a:solidFill>
                  <a:srgbClr val="252525"/>
                </a:solidFill>
                <a:latin typeface="P052"/>
                <a:cs typeface="P052"/>
              </a:rPr>
              <a:t>not</a:t>
            </a:r>
            <a:r>
              <a:rPr sz="2200" spc="-50" dirty="0">
                <a:solidFill>
                  <a:srgbClr val="252525"/>
                </a:solidFill>
                <a:latin typeface="P052"/>
                <a:cs typeface="P052"/>
              </a:rPr>
              <a:t> </a:t>
            </a:r>
            <a:r>
              <a:rPr sz="2200" dirty="0">
                <a:solidFill>
                  <a:srgbClr val="252525"/>
                </a:solidFill>
                <a:latin typeface="P052"/>
                <a:cs typeface="P052"/>
              </a:rPr>
              <a:t>comparable</a:t>
            </a:r>
            <a:r>
              <a:rPr sz="2200" spc="-35" dirty="0">
                <a:solidFill>
                  <a:srgbClr val="252525"/>
                </a:solidFill>
                <a:latin typeface="P052"/>
                <a:cs typeface="P052"/>
              </a:rPr>
              <a:t> </a:t>
            </a:r>
            <a:r>
              <a:rPr sz="2200" dirty="0">
                <a:solidFill>
                  <a:srgbClr val="252525"/>
                </a:solidFill>
                <a:latin typeface="P052"/>
                <a:cs typeface="P052"/>
              </a:rPr>
              <a:t>to</a:t>
            </a:r>
            <a:r>
              <a:rPr sz="2200" spc="-20" dirty="0">
                <a:solidFill>
                  <a:srgbClr val="252525"/>
                </a:solidFill>
                <a:latin typeface="P052"/>
                <a:cs typeface="P052"/>
              </a:rPr>
              <a:t> </a:t>
            </a:r>
            <a:r>
              <a:rPr sz="2200" dirty="0">
                <a:solidFill>
                  <a:srgbClr val="252525"/>
                </a:solidFill>
                <a:latin typeface="P052"/>
                <a:cs typeface="P052"/>
              </a:rPr>
              <a:t>(CNC)</a:t>
            </a:r>
            <a:r>
              <a:rPr sz="2200" spc="-20" dirty="0">
                <a:solidFill>
                  <a:srgbClr val="252525"/>
                </a:solidFill>
                <a:latin typeface="P052"/>
                <a:cs typeface="P052"/>
              </a:rPr>
              <a:t> </a:t>
            </a:r>
            <a:r>
              <a:rPr sz="2200" spc="-204" dirty="0">
                <a:solidFill>
                  <a:srgbClr val="252525"/>
                </a:solidFill>
                <a:latin typeface="P052"/>
                <a:cs typeface="P052"/>
              </a:rPr>
              <a:t>prototype </a:t>
            </a:r>
            <a:r>
              <a:rPr sz="2200" dirty="0">
                <a:solidFill>
                  <a:srgbClr val="252525"/>
                </a:solidFill>
                <a:latin typeface="P052"/>
                <a:cs typeface="P052"/>
              </a:rPr>
              <a:t>parts</a:t>
            </a:r>
            <a:r>
              <a:rPr sz="2200" spc="-45" dirty="0">
                <a:solidFill>
                  <a:srgbClr val="252525"/>
                </a:solidFill>
                <a:latin typeface="P052"/>
                <a:cs typeface="P052"/>
              </a:rPr>
              <a:t> </a:t>
            </a:r>
            <a:r>
              <a:rPr sz="2200" dirty="0">
                <a:solidFill>
                  <a:srgbClr val="252525"/>
                </a:solidFill>
                <a:latin typeface="P052"/>
                <a:cs typeface="P052"/>
              </a:rPr>
              <a:t>in</a:t>
            </a:r>
            <a:r>
              <a:rPr sz="2200" spc="-50" dirty="0">
                <a:solidFill>
                  <a:srgbClr val="252525"/>
                </a:solidFill>
                <a:latin typeface="P052"/>
                <a:cs typeface="P052"/>
              </a:rPr>
              <a:t> </a:t>
            </a:r>
            <a:r>
              <a:rPr sz="2200" dirty="0">
                <a:solidFill>
                  <a:srgbClr val="252525"/>
                </a:solidFill>
                <a:latin typeface="P052"/>
                <a:cs typeface="P052"/>
              </a:rPr>
              <a:t>the</a:t>
            </a:r>
            <a:r>
              <a:rPr sz="2200" spc="-75" dirty="0">
                <a:solidFill>
                  <a:srgbClr val="252525"/>
                </a:solidFill>
                <a:latin typeface="P052"/>
                <a:cs typeface="P052"/>
              </a:rPr>
              <a:t> </a:t>
            </a:r>
            <a:r>
              <a:rPr sz="2200" dirty="0">
                <a:solidFill>
                  <a:srgbClr val="252525"/>
                </a:solidFill>
                <a:latin typeface="P052"/>
                <a:cs typeface="P052"/>
              </a:rPr>
              <a:t>surface</a:t>
            </a:r>
            <a:r>
              <a:rPr sz="2200" spc="-20" dirty="0">
                <a:solidFill>
                  <a:srgbClr val="252525"/>
                </a:solidFill>
                <a:latin typeface="P052"/>
                <a:cs typeface="P052"/>
              </a:rPr>
              <a:t> </a:t>
            </a:r>
            <a:r>
              <a:rPr sz="2200" dirty="0">
                <a:solidFill>
                  <a:srgbClr val="252525"/>
                </a:solidFill>
                <a:latin typeface="P052"/>
                <a:cs typeface="P052"/>
              </a:rPr>
              <a:t>finishing,</a:t>
            </a:r>
            <a:r>
              <a:rPr sz="2200" spc="-65" dirty="0">
                <a:solidFill>
                  <a:srgbClr val="252525"/>
                </a:solidFill>
                <a:latin typeface="P052"/>
                <a:cs typeface="P052"/>
              </a:rPr>
              <a:t> </a:t>
            </a:r>
            <a:r>
              <a:rPr sz="2200" dirty="0">
                <a:solidFill>
                  <a:srgbClr val="252525"/>
                </a:solidFill>
                <a:latin typeface="P052"/>
                <a:cs typeface="P052"/>
              </a:rPr>
              <a:t>strength,</a:t>
            </a:r>
            <a:r>
              <a:rPr sz="2200" spc="-65" dirty="0">
                <a:solidFill>
                  <a:srgbClr val="252525"/>
                </a:solidFill>
                <a:latin typeface="P052"/>
                <a:cs typeface="P052"/>
              </a:rPr>
              <a:t> </a:t>
            </a:r>
            <a:r>
              <a:rPr sz="2200" spc="-10" dirty="0">
                <a:solidFill>
                  <a:srgbClr val="252525"/>
                </a:solidFill>
                <a:latin typeface="P052"/>
                <a:cs typeface="P052"/>
              </a:rPr>
              <a:t>elasticity, </a:t>
            </a:r>
            <a:r>
              <a:rPr sz="2200" dirty="0">
                <a:solidFill>
                  <a:srgbClr val="252525"/>
                </a:solidFill>
                <a:latin typeface="P052"/>
                <a:cs typeface="P052"/>
              </a:rPr>
              <a:t>reflective</a:t>
            </a:r>
            <a:r>
              <a:rPr sz="2200" spc="-60" dirty="0">
                <a:solidFill>
                  <a:srgbClr val="252525"/>
                </a:solidFill>
                <a:latin typeface="P052"/>
                <a:cs typeface="P052"/>
              </a:rPr>
              <a:t> </a:t>
            </a:r>
            <a:r>
              <a:rPr sz="2200" dirty="0">
                <a:solidFill>
                  <a:srgbClr val="252525"/>
                </a:solidFill>
                <a:latin typeface="P052"/>
                <a:cs typeface="P052"/>
              </a:rPr>
              <a:t>index</a:t>
            </a:r>
            <a:r>
              <a:rPr sz="2200" spc="-45" dirty="0">
                <a:solidFill>
                  <a:srgbClr val="252525"/>
                </a:solidFill>
                <a:latin typeface="P052"/>
                <a:cs typeface="P052"/>
              </a:rPr>
              <a:t> </a:t>
            </a:r>
            <a:r>
              <a:rPr sz="2200" dirty="0">
                <a:solidFill>
                  <a:srgbClr val="252525"/>
                </a:solidFill>
                <a:latin typeface="P052"/>
                <a:cs typeface="P052"/>
              </a:rPr>
              <a:t>and</a:t>
            </a:r>
            <a:r>
              <a:rPr sz="2200" spc="-50" dirty="0">
                <a:solidFill>
                  <a:srgbClr val="252525"/>
                </a:solidFill>
                <a:latin typeface="P052"/>
                <a:cs typeface="P052"/>
              </a:rPr>
              <a:t> </a:t>
            </a:r>
            <a:r>
              <a:rPr sz="2200" dirty="0">
                <a:solidFill>
                  <a:srgbClr val="252525"/>
                </a:solidFill>
                <a:latin typeface="P052"/>
                <a:cs typeface="P052"/>
              </a:rPr>
              <a:t>other</a:t>
            </a:r>
            <a:r>
              <a:rPr sz="2200" spc="-50" dirty="0">
                <a:solidFill>
                  <a:srgbClr val="252525"/>
                </a:solidFill>
                <a:latin typeface="P052"/>
                <a:cs typeface="P052"/>
              </a:rPr>
              <a:t> </a:t>
            </a:r>
            <a:r>
              <a:rPr sz="2200" dirty="0">
                <a:solidFill>
                  <a:srgbClr val="252525"/>
                </a:solidFill>
                <a:latin typeface="P052"/>
                <a:cs typeface="P052"/>
              </a:rPr>
              <a:t>material</a:t>
            </a:r>
            <a:r>
              <a:rPr sz="2200" spc="-55" dirty="0">
                <a:solidFill>
                  <a:srgbClr val="252525"/>
                </a:solidFill>
                <a:latin typeface="P052"/>
                <a:cs typeface="P052"/>
              </a:rPr>
              <a:t> </a:t>
            </a:r>
            <a:r>
              <a:rPr sz="2200" dirty="0">
                <a:solidFill>
                  <a:srgbClr val="252525"/>
                </a:solidFill>
                <a:latin typeface="P052"/>
                <a:cs typeface="P052"/>
              </a:rPr>
              <a:t>physical</a:t>
            </a:r>
            <a:r>
              <a:rPr sz="2200" spc="-50" dirty="0">
                <a:solidFill>
                  <a:srgbClr val="252525"/>
                </a:solidFill>
                <a:latin typeface="P052"/>
                <a:cs typeface="P052"/>
              </a:rPr>
              <a:t> </a:t>
            </a:r>
            <a:r>
              <a:rPr sz="2200" spc="-10" dirty="0">
                <a:solidFill>
                  <a:srgbClr val="252525"/>
                </a:solidFill>
                <a:latin typeface="P052"/>
                <a:cs typeface="P052"/>
              </a:rPr>
              <a:t>properties.</a:t>
            </a:r>
            <a:endParaRPr sz="2200" dirty="0">
              <a:latin typeface="P052"/>
              <a:cs typeface="P052"/>
            </a:endParaRPr>
          </a:p>
        </p:txBody>
      </p:sp>
      <p:sp>
        <p:nvSpPr>
          <p:cNvPr id="3" name="object 3"/>
          <p:cNvSpPr txBox="1">
            <a:spLocks noGrp="1"/>
          </p:cNvSpPr>
          <p:nvPr>
            <p:ph type="title"/>
          </p:nvPr>
        </p:nvSpPr>
        <p:spPr>
          <a:xfrm>
            <a:off x="821232" y="1145501"/>
            <a:ext cx="7489825" cy="667490"/>
          </a:xfrm>
          <a:prstGeom prst="rect">
            <a:avLst/>
          </a:prstGeom>
        </p:spPr>
        <p:txBody>
          <a:bodyPr vert="horz" wrap="square" lIns="0" tIns="51435" rIns="0" bIns="0" rtlCol="0">
            <a:spAutoFit/>
          </a:bodyPr>
          <a:lstStyle/>
          <a:p>
            <a:pPr algn="ctr">
              <a:lnSpc>
                <a:spcPct val="100000"/>
              </a:lnSpc>
              <a:spcBef>
                <a:spcPts val="405"/>
              </a:spcBef>
            </a:pPr>
            <a:r>
              <a:rPr lang="en-US" sz="4000" b="0" dirty="0">
                <a:solidFill>
                  <a:srgbClr val="FF0000"/>
                </a:solidFill>
                <a:latin typeface="P052"/>
                <a:cs typeface="P052"/>
              </a:rPr>
              <a:t>Limitations</a:t>
            </a:r>
            <a:r>
              <a:rPr lang="en-US" sz="4000" b="0" spc="-114" dirty="0">
                <a:solidFill>
                  <a:srgbClr val="FF0000"/>
                </a:solidFill>
                <a:latin typeface="P052"/>
                <a:cs typeface="P052"/>
              </a:rPr>
              <a:t> </a:t>
            </a:r>
            <a:r>
              <a:rPr lang="en-US" sz="4000" b="0" dirty="0">
                <a:solidFill>
                  <a:srgbClr val="FF0000"/>
                </a:solidFill>
                <a:latin typeface="P052"/>
                <a:cs typeface="P052"/>
              </a:rPr>
              <a:t>of</a:t>
            </a:r>
            <a:r>
              <a:rPr lang="en-US" sz="4000" b="0" spc="-120" dirty="0">
                <a:solidFill>
                  <a:srgbClr val="FF0000"/>
                </a:solidFill>
                <a:latin typeface="P052"/>
                <a:cs typeface="P052"/>
              </a:rPr>
              <a:t> </a:t>
            </a:r>
            <a:r>
              <a:rPr lang="en-US" sz="4000" b="0" dirty="0">
                <a:solidFill>
                  <a:srgbClr val="FF0000"/>
                </a:solidFill>
                <a:latin typeface="P052"/>
                <a:cs typeface="P052"/>
              </a:rPr>
              <a:t>Rapid</a:t>
            </a:r>
            <a:r>
              <a:rPr lang="en-US" sz="4000" b="0" spc="-114" dirty="0">
                <a:solidFill>
                  <a:srgbClr val="FF0000"/>
                </a:solidFill>
                <a:latin typeface="P052"/>
                <a:cs typeface="P052"/>
              </a:rPr>
              <a:t> </a:t>
            </a:r>
            <a:r>
              <a:rPr lang="en-US" sz="4000" b="0" spc="-10" dirty="0">
                <a:solidFill>
                  <a:srgbClr val="FF0000"/>
                </a:solidFill>
                <a:latin typeface="P052"/>
                <a:cs typeface="P052"/>
              </a:rPr>
              <a:t>prototyping</a:t>
            </a:r>
            <a:endParaRPr lang="en-US" sz="4000" dirty="0">
              <a:solidFill>
                <a:srgbClr val="FF0000"/>
              </a:solidFill>
              <a:latin typeface="P052"/>
              <a:cs typeface="P05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6979" y="1378425"/>
            <a:ext cx="7179235" cy="5157309"/>
          </a:xfrm>
          <a:prstGeom prst="rect">
            <a:avLst/>
          </a:prstGeom>
        </p:spPr>
        <p:txBody>
          <a:bodyPr vert="horz" wrap="square" lIns="0" tIns="117475" rIns="0" bIns="0" rtlCol="0">
            <a:spAutoFit/>
          </a:bodyPr>
          <a:lstStyle/>
          <a:p>
            <a:pPr marL="621665" marR="5080">
              <a:lnSpc>
                <a:spcPct val="71300"/>
              </a:lnSpc>
              <a:spcBef>
                <a:spcPts val="925"/>
              </a:spcBef>
            </a:pPr>
            <a:r>
              <a:rPr sz="2800" dirty="0">
                <a:solidFill>
                  <a:srgbClr val="252525"/>
                </a:solidFill>
                <a:latin typeface="Book Antiqua" panose="02040602050305030304" pitchFamily="18" charset="0"/>
                <a:cs typeface="P052"/>
              </a:rPr>
              <a:t>All</a:t>
            </a:r>
            <a:r>
              <a:rPr sz="2800" spc="-3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RP</a:t>
            </a:r>
            <a:r>
              <a:rPr sz="2800" spc="-40"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techniques</a:t>
            </a:r>
            <a:r>
              <a:rPr sz="2800" spc="-2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employ</a:t>
            </a:r>
            <a:r>
              <a:rPr sz="2800" spc="-2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the</a:t>
            </a:r>
            <a:r>
              <a:rPr sz="2800" spc="-20"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basic</a:t>
            </a:r>
            <a:r>
              <a:rPr sz="2800" spc="-30" dirty="0">
                <a:solidFill>
                  <a:srgbClr val="252525"/>
                </a:solidFill>
                <a:latin typeface="Book Antiqua" panose="02040602050305030304" pitchFamily="18" charset="0"/>
                <a:cs typeface="P052"/>
              </a:rPr>
              <a:t> </a:t>
            </a:r>
            <a:r>
              <a:rPr sz="2800" spc="-10" dirty="0">
                <a:solidFill>
                  <a:srgbClr val="252525"/>
                </a:solidFill>
                <a:latin typeface="Book Antiqua" panose="02040602050305030304" pitchFamily="18" charset="0"/>
                <a:cs typeface="P052"/>
              </a:rPr>
              <a:t>five-steps processes:</a:t>
            </a:r>
            <a:endParaRPr sz="2800" dirty="0">
              <a:latin typeface="Book Antiqua" panose="02040602050305030304" pitchFamily="18" charset="0"/>
              <a:cs typeface="P052"/>
            </a:endParaRPr>
          </a:p>
          <a:p>
            <a:pPr marL="621665" indent="-608965">
              <a:lnSpc>
                <a:spcPct val="100000"/>
              </a:lnSpc>
              <a:spcBef>
                <a:spcPts val="2555"/>
              </a:spcBef>
              <a:buClr>
                <a:srgbClr val="863623"/>
              </a:buClr>
              <a:buAutoNum type="arabicPeriod"/>
              <a:tabLst>
                <a:tab pos="621665" algn="l"/>
              </a:tabLst>
            </a:pPr>
            <a:r>
              <a:rPr sz="2800" dirty="0">
                <a:solidFill>
                  <a:srgbClr val="252525"/>
                </a:solidFill>
                <a:latin typeface="Book Antiqua" panose="02040602050305030304" pitchFamily="18" charset="0"/>
                <a:cs typeface="P052"/>
              </a:rPr>
              <a:t>Create</a:t>
            </a:r>
            <a:r>
              <a:rPr sz="2800" spc="-3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a</a:t>
            </a:r>
            <a:r>
              <a:rPr sz="2800" spc="-30"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CAD</a:t>
            </a:r>
            <a:r>
              <a:rPr sz="2800" spc="-20"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model</a:t>
            </a:r>
            <a:r>
              <a:rPr sz="2800" spc="-3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of</a:t>
            </a:r>
            <a:r>
              <a:rPr sz="2800" spc="-1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the</a:t>
            </a:r>
            <a:r>
              <a:rPr sz="2800" spc="-35" dirty="0">
                <a:solidFill>
                  <a:srgbClr val="252525"/>
                </a:solidFill>
                <a:latin typeface="Book Antiqua" panose="02040602050305030304" pitchFamily="18" charset="0"/>
                <a:cs typeface="P052"/>
              </a:rPr>
              <a:t> </a:t>
            </a:r>
            <a:r>
              <a:rPr sz="2800" spc="-10" dirty="0">
                <a:solidFill>
                  <a:srgbClr val="252525"/>
                </a:solidFill>
                <a:latin typeface="Book Antiqua" panose="02040602050305030304" pitchFamily="18" charset="0"/>
                <a:cs typeface="P052"/>
              </a:rPr>
              <a:t>design.</a:t>
            </a:r>
            <a:endParaRPr sz="2800" dirty="0">
              <a:latin typeface="Book Antiqua" panose="02040602050305030304" pitchFamily="18" charset="0"/>
              <a:cs typeface="P052"/>
            </a:endParaRPr>
          </a:p>
          <a:p>
            <a:pPr marL="621665" indent="-608965">
              <a:lnSpc>
                <a:spcPct val="100000"/>
              </a:lnSpc>
              <a:spcBef>
                <a:spcPts val="2110"/>
              </a:spcBef>
              <a:buClr>
                <a:srgbClr val="863623"/>
              </a:buClr>
              <a:buAutoNum type="arabicPeriod"/>
              <a:tabLst>
                <a:tab pos="621665" algn="l"/>
              </a:tabLst>
            </a:pPr>
            <a:r>
              <a:rPr sz="2800" dirty="0">
                <a:solidFill>
                  <a:srgbClr val="252525"/>
                </a:solidFill>
                <a:latin typeface="Book Antiqua" panose="02040602050305030304" pitchFamily="18" charset="0"/>
                <a:cs typeface="P052"/>
              </a:rPr>
              <a:t>Convert</a:t>
            </a:r>
            <a:r>
              <a:rPr sz="2800" spc="-50"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the</a:t>
            </a:r>
            <a:r>
              <a:rPr sz="2800" spc="-50"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CAD</a:t>
            </a:r>
            <a:r>
              <a:rPr sz="2800" spc="-2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model</a:t>
            </a:r>
            <a:r>
              <a:rPr sz="2800" spc="-4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to</a:t>
            </a:r>
            <a:r>
              <a:rPr sz="2800" spc="-3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STL</a:t>
            </a:r>
            <a:r>
              <a:rPr sz="2800" spc="-10" dirty="0">
                <a:solidFill>
                  <a:srgbClr val="252525"/>
                </a:solidFill>
                <a:latin typeface="Book Antiqua" panose="02040602050305030304" pitchFamily="18" charset="0"/>
                <a:cs typeface="P052"/>
              </a:rPr>
              <a:t> format.</a:t>
            </a:r>
            <a:endParaRPr sz="2800" dirty="0">
              <a:latin typeface="Book Antiqua" panose="02040602050305030304" pitchFamily="18" charset="0"/>
              <a:cs typeface="P052"/>
            </a:endParaRPr>
          </a:p>
          <a:p>
            <a:pPr marL="621665" indent="-608965">
              <a:lnSpc>
                <a:spcPct val="100000"/>
              </a:lnSpc>
              <a:spcBef>
                <a:spcPts val="2115"/>
              </a:spcBef>
              <a:buClr>
                <a:srgbClr val="863623"/>
              </a:buClr>
              <a:buAutoNum type="arabicPeriod"/>
              <a:tabLst>
                <a:tab pos="621665" algn="l"/>
              </a:tabLst>
            </a:pPr>
            <a:r>
              <a:rPr sz="2800" dirty="0">
                <a:solidFill>
                  <a:srgbClr val="252525"/>
                </a:solidFill>
                <a:latin typeface="Book Antiqua" panose="02040602050305030304" pitchFamily="18" charset="0"/>
                <a:cs typeface="P052"/>
              </a:rPr>
              <a:t>Slice</a:t>
            </a:r>
            <a:r>
              <a:rPr sz="2800" spc="-20"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the</a:t>
            </a:r>
            <a:r>
              <a:rPr sz="2800" spc="-2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STL</a:t>
            </a:r>
            <a:r>
              <a:rPr sz="2800" spc="-20"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file</a:t>
            </a:r>
            <a:r>
              <a:rPr sz="2800" spc="-1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into</a:t>
            </a:r>
            <a:r>
              <a:rPr sz="2800" spc="-20"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thin</a:t>
            </a:r>
            <a:r>
              <a:rPr sz="2800" spc="-30" dirty="0">
                <a:solidFill>
                  <a:srgbClr val="252525"/>
                </a:solidFill>
                <a:latin typeface="Book Antiqua" panose="02040602050305030304" pitchFamily="18" charset="0"/>
                <a:cs typeface="P052"/>
              </a:rPr>
              <a:t> </a:t>
            </a:r>
            <a:r>
              <a:rPr sz="2800" spc="-10" dirty="0">
                <a:solidFill>
                  <a:srgbClr val="252525"/>
                </a:solidFill>
                <a:latin typeface="Book Antiqua" panose="02040602050305030304" pitchFamily="18" charset="0"/>
                <a:cs typeface="P052"/>
              </a:rPr>
              <a:t>cross-</a:t>
            </a:r>
            <a:r>
              <a:rPr sz="2800" dirty="0">
                <a:solidFill>
                  <a:srgbClr val="252525"/>
                </a:solidFill>
                <a:latin typeface="Book Antiqua" panose="02040602050305030304" pitchFamily="18" charset="0"/>
                <a:cs typeface="P052"/>
              </a:rPr>
              <a:t>sectional</a:t>
            </a:r>
            <a:r>
              <a:rPr sz="2800" spc="-15" dirty="0">
                <a:solidFill>
                  <a:srgbClr val="252525"/>
                </a:solidFill>
                <a:latin typeface="Book Antiqua" panose="02040602050305030304" pitchFamily="18" charset="0"/>
                <a:cs typeface="P052"/>
              </a:rPr>
              <a:t> </a:t>
            </a:r>
            <a:r>
              <a:rPr sz="2800" spc="-10" dirty="0">
                <a:solidFill>
                  <a:srgbClr val="252525"/>
                </a:solidFill>
                <a:latin typeface="Book Antiqua" panose="02040602050305030304" pitchFamily="18" charset="0"/>
                <a:cs typeface="P052"/>
              </a:rPr>
              <a:t>layers.</a:t>
            </a:r>
            <a:endParaRPr sz="2800" dirty="0">
              <a:latin typeface="Book Antiqua" panose="02040602050305030304" pitchFamily="18" charset="0"/>
              <a:cs typeface="P052"/>
            </a:endParaRPr>
          </a:p>
          <a:p>
            <a:pPr marL="621665" indent="-608965">
              <a:lnSpc>
                <a:spcPct val="100000"/>
              </a:lnSpc>
              <a:spcBef>
                <a:spcPts val="2110"/>
              </a:spcBef>
              <a:buClr>
                <a:srgbClr val="863623"/>
              </a:buClr>
              <a:buAutoNum type="arabicPeriod"/>
              <a:tabLst>
                <a:tab pos="621665" algn="l"/>
              </a:tabLst>
            </a:pPr>
            <a:r>
              <a:rPr sz="2800" dirty="0">
                <a:solidFill>
                  <a:srgbClr val="252525"/>
                </a:solidFill>
                <a:latin typeface="Book Antiqua" panose="02040602050305030304" pitchFamily="18" charset="0"/>
                <a:cs typeface="P052"/>
              </a:rPr>
              <a:t>Construct</a:t>
            </a:r>
            <a:r>
              <a:rPr sz="2800" spc="-50"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the</a:t>
            </a:r>
            <a:r>
              <a:rPr sz="2800" spc="-5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model</a:t>
            </a:r>
            <a:r>
              <a:rPr sz="2800" spc="-50"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one</a:t>
            </a:r>
            <a:r>
              <a:rPr sz="2800" spc="-4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layer</a:t>
            </a:r>
            <a:r>
              <a:rPr sz="2800" spc="-4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atop</a:t>
            </a:r>
            <a:r>
              <a:rPr sz="2800" spc="-20" dirty="0">
                <a:solidFill>
                  <a:srgbClr val="252525"/>
                </a:solidFill>
                <a:latin typeface="Book Antiqua" panose="02040602050305030304" pitchFamily="18" charset="0"/>
                <a:cs typeface="P052"/>
              </a:rPr>
              <a:t> </a:t>
            </a:r>
            <a:r>
              <a:rPr sz="2800" spc="-10" dirty="0">
                <a:solidFill>
                  <a:srgbClr val="252525"/>
                </a:solidFill>
                <a:latin typeface="Book Antiqua" panose="02040602050305030304" pitchFamily="18" charset="0"/>
                <a:cs typeface="P052"/>
              </a:rPr>
              <a:t>another.</a:t>
            </a:r>
            <a:endParaRPr sz="2800" dirty="0">
              <a:latin typeface="Book Antiqua" panose="02040602050305030304" pitchFamily="18" charset="0"/>
              <a:cs typeface="P052"/>
            </a:endParaRPr>
          </a:p>
          <a:p>
            <a:pPr marL="621665" indent="-608965">
              <a:lnSpc>
                <a:spcPct val="100000"/>
              </a:lnSpc>
              <a:spcBef>
                <a:spcPts val="2115"/>
              </a:spcBef>
              <a:buClr>
                <a:srgbClr val="863623"/>
              </a:buClr>
              <a:buAutoNum type="arabicPeriod"/>
              <a:tabLst>
                <a:tab pos="621665" algn="l"/>
              </a:tabLst>
            </a:pPr>
            <a:r>
              <a:rPr sz="2800" dirty="0">
                <a:solidFill>
                  <a:srgbClr val="252525"/>
                </a:solidFill>
                <a:latin typeface="Book Antiqua" panose="02040602050305030304" pitchFamily="18" charset="0"/>
                <a:cs typeface="P052"/>
              </a:rPr>
              <a:t>Clean</a:t>
            </a:r>
            <a:r>
              <a:rPr sz="2800" spc="-40"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and</a:t>
            </a:r>
            <a:r>
              <a:rPr sz="2800" spc="-4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finish</a:t>
            </a:r>
            <a:r>
              <a:rPr sz="2800" spc="-35" dirty="0">
                <a:solidFill>
                  <a:srgbClr val="252525"/>
                </a:solidFill>
                <a:latin typeface="Book Antiqua" panose="02040602050305030304" pitchFamily="18" charset="0"/>
                <a:cs typeface="P052"/>
              </a:rPr>
              <a:t> </a:t>
            </a:r>
            <a:r>
              <a:rPr sz="2800" dirty="0">
                <a:solidFill>
                  <a:srgbClr val="252525"/>
                </a:solidFill>
                <a:latin typeface="Book Antiqua" panose="02040602050305030304" pitchFamily="18" charset="0"/>
                <a:cs typeface="P052"/>
              </a:rPr>
              <a:t>the</a:t>
            </a:r>
            <a:r>
              <a:rPr sz="2800" spc="-45" dirty="0">
                <a:solidFill>
                  <a:srgbClr val="252525"/>
                </a:solidFill>
                <a:latin typeface="Book Antiqua" panose="02040602050305030304" pitchFamily="18" charset="0"/>
                <a:cs typeface="P052"/>
              </a:rPr>
              <a:t> </a:t>
            </a:r>
            <a:r>
              <a:rPr sz="2800" spc="-10" dirty="0">
                <a:solidFill>
                  <a:srgbClr val="252525"/>
                </a:solidFill>
                <a:latin typeface="Book Antiqua" panose="02040602050305030304" pitchFamily="18" charset="0"/>
                <a:cs typeface="P052"/>
              </a:rPr>
              <a:t>model.</a:t>
            </a:r>
            <a:endParaRPr sz="2800" dirty="0">
              <a:latin typeface="Book Antiqua" panose="02040602050305030304" pitchFamily="18" charset="0"/>
              <a:cs typeface="P052"/>
            </a:endParaRPr>
          </a:p>
        </p:txBody>
      </p:sp>
      <p:sp>
        <p:nvSpPr>
          <p:cNvPr id="3" name="object 3"/>
          <p:cNvSpPr txBox="1">
            <a:spLocks noGrp="1"/>
          </p:cNvSpPr>
          <p:nvPr>
            <p:ph type="title"/>
          </p:nvPr>
        </p:nvSpPr>
        <p:spPr>
          <a:xfrm>
            <a:off x="1145844" y="334719"/>
            <a:ext cx="6796404" cy="1624163"/>
          </a:xfrm>
          <a:prstGeom prst="rect">
            <a:avLst/>
          </a:prstGeom>
        </p:spPr>
        <p:txBody>
          <a:bodyPr vert="horz" wrap="square" lIns="0" tIns="13335" rIns="0" bIns="0" rtlCol="0">
            <a:spAutoFit/>
          </a:bodyPr>
          <a:lstStyle/>
          <a:p>
            <a:pPr algn="ctr">
              <a:lnSpc>
                <a:spcPct val="100000"/>
              </a:lnSpc>
              <a:spcBef>
                <a:spcPts val="105"/>
              </a:spcBef>
            </a:pPr>
            <a:r>
              <a:rPr sz="4400" dirty="0"/>
              <a:t>Workflow</a:t>
            </a:r>
            <a:r>
              <a:rPr sz="4400" spc="-25" dirty="0"/>
              <a:t> </a:t>
            </a:r>
            <a:r>
              <a:rPr sz="4400" dirty="0"/>
              <a:t>of RP</a:t>
            </a:r>
            <a:r>
              <a:rPr sz="4400" spc="-20" dirty="0"/>
              <a:t> </a:t>
            </a:r>
            <a:r>
              <a:rPr sz="4400" spc="-10" dirty="0"/>
              <a:t>processes</a:t>
            </a:r>
            <a:endParaRPr sz="4400" dirty="0"/>
          </a:p>
          <a:p>
            <a:pPr marL="29845" algn="ctr">
              <a:lnSpc>
                <a:spcPct val="100000"/>
              </a:lnSpc>
              <a:spcBef>
                <a:spcPts val="204"/>
              </a:spcBef>
            </a:pPr>
            <a:endParaRPr sz="5400" dirty="0">
              <a:latin typeface="Wingdings"/>
              <a:cs typeface="Wingding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162" y="2515361"/>
            <a:ext cx="1600200" cy="762000"/>
          </a:xfrm>
          <a:prstGeom prst="rect">
            <a:avLst/>
          </a:prstGeom>
          <a:solidFill>
            <a:srgbClr val="E7C28D"/>
          </a:solidFill>
          <a:ln w="19812">
            <a:solidFill>
              <a:srgbClr val="4D1C11"/>
            </a:solidFill>
          </a:ln>
        </p:spPr>
        <p:txBody>
          <a:bodyPr vert="horz" wrap="square" lIns="0" tIns="89535" rIns="0" bIns="0" rtlCol="0">
            <a:spAutoFit/>
          </a:bodyPr>
          <a:lstStyle/>
          <a:p>
            <a:pPr marL="476884" marR="91440" indent="-382905">
              <a:lnSpc>
                <a:spcPct val="100000"/>
              </a:lnSpc>
              <a:spcBef>
                <a:spcPts val="705"/>
              </a:spcBef>
            </a:pPr>
            <a:r>
              <a:rPr sz="1800" spc="-10" dirty="0">
                <a:latin typeface="P052"/>
                <a:cs typeface="P052"/>
              </a:rPr>
              <a:t>Surface/Solid model</a:t>
            </a:r>
            <a:endParaRPr sz="1800">
              <a:latin typeface="P052"/>
              <a:cs typeface="P052"/>
            </a:endParaRPr>
          </a:p>
        </p:txBody>
      </p:sp>
      <p:sp>
        <p:nvSpPr>
          <p:cNvPr id="3" name="object 3"/>
          <p:cNvSpPr txBox="1"/>
          <p:nvPr/>
        </p:nvSpPr>
        <p:spPr>
          <a:xfrm>
            <a:off x="2650998" y="2515361"/>
            <a:ext cx="1600200" cy="762000"/>
          </a:xfrm>
          <a:prstGeom prst="rect">
            <a:avLst/>
          </a:prstGeom>
          <a:solidFill>
            <a:srgbClr val="E7C28D"/>
          </a:solidFill>
          <a:ln w="19811">
            <a:solidFill>
              <a:srgbClr val="4D1C11"/>
            </a:solidFill>
          </a:ln>
        </p:spPr>
        <p:txBody>
          <a:bodyPr vert="horz" wrap="square" lIns="0" tIns="89535" rIns="0" bIns="0" rtlCol="0">
            <a:spAutoFit/>
          </a:bodyPr>
          <a:lstStyle/>
          <a:p>
            <a:pPr marL="638175" marR="107950" indent="-527685">
              <a:lnSpc>
                <a:spcPct val="100000"/>
              </a:lnSpc>
              <a:spcBef>
                <a:spcPts val="705"/>
              </a:spcBef>
            </a:pPr>
            <a:r>
              <a:rPr sz="1800" dirty="0">
                <a:latin typeface="P052"/>
                <a:cs typeface="P052"/>
              </a:rPr>
              <a:t>Generate</a:t>
            </a:r>
            <a:r>
              <a:rPr sz="1800" spc="-70" dirty="0">
                <a:latin typeface="P052"/>
                <a:cs typeface="P052"/>
              </a:rPr>
              <a:t> </a:t>
            </a:r>
            <a:r>
              <a:rPr sz="1800" spc="-25" dirty="0">
                <a:latin typeface="P052"/>
                <a:cs typeface="P052"/>
              </a:rPr>
              <a:t>STL </a:t>
            </a:r>
            <a:r>
              <a:rPr sz="1800" spc="-20" dirty="0">
                <a:latin typeface="P052"/>
                <a:cs typeface="P052"/>
              </a:rPr>
              <a:t>file</a:t>
            </a:r>
            <a:endParaRPr sz="1800" dirty="0">
              <a:latin typeface="P052"/>
              <a:cs typeface="P052"/>
            </a:endParaRPr>
          </a:p>
        </p:txBody>
      </p:sp>
      <p:sp>
        <p:nvSpPr>
          <p:cNvPr id="4" name="object 4"/>
          <p:cNvSpPr txBox="1"/>
          <p:nvPr/>
        </p:nvSpPr>
        <p:spPr>
          <a:xfrm>
            <a:off x="2650998" y="3748278"/>
            <a:ext cx="1600200" cy="762000"/>
          </a:xfrm>
          <a:prstGeom prst="rect">
            <a:avLst/>
          </a:prstGeom>
          <a:solidFill>
            <a:srgbClr val="E7C28D"/>
          </a:solidFill>
          <a:ln w="19811">
            <a:solidFill>
              <a:srgbClr val="4D1C11"/>
            </a:solidFill>
          </a:ln>
        </p:spPr>
        <p:txBody>
          <a:bodyPr vert="horz" wrap="square" lIns="0" tIns="123190" rIns="0" bIns="0" rtlCol="0">
            <a:spAutoFit/>
          </a:bodyPr>
          <a:lstStyle/>
          <a:p>
            <a:pPr marL="380365" marR="127000" indent="-248920">
              <a:lnSpc>
                <a:spcPct val="100000"/>
              </a:lnSpc>
              <a:spcBef>
                <a:spcPts val="970"/>
              </a:spcBef>
            </a:pPr>
            <a:r>
              <a:rPr sz="1600" dirty="0">
                <a:latin typeface="P052"/>
                <a:cs typeface="P052"/>
              </a:rPr>
              <a:t>Build</a:t>
            </a:r>
            <a:r>
              <a:rPr sz="1600" spc="-45" dirty="0">
                <a:latin typeface="P052"/>
                <a:cs typeface="P052"/>
              </a:rPr>
              <a:t> </a:t>
            </a:r>
            <a:r>
              <a:rPr sz="1600" spc="-10" dirty="0">
                <a:latin typeface="P052"/>
                <a:cs typeface="P052"/>
              </a:rPr>
              <a:t>supports </a:t>
            </a:r>
            <a:r>
              <a:rPr sz="1600" dirty="0">
                <a:latin typeface="P052"/>
                <a:cs typeface="P052"/>
              </a:rPr>
              <a:t>if</a:t>
            </a:r>
            <a:r>
              <a:rPr sz="1600" spc="-15" dirty="0">
                <a:latin typeface="P052"/>
                <a:cs typeface="P052"/>
              </a:rPr>
              <a:t> </a:t>
            </a:r>
            <a:r>
              <a:rPr sz="1600" spc="-10" dirty="0">
                <a:latin typeface="P052"/>
                <a:cs typeface="P052"/>
              </a:rPr>
              <a:t>needed</a:t>
            </a:r>
            <a:endParaRPr sz="1600">
              <a:latin typeface="P052"/>
              <a:cs typeface="P052"/>
            </a:endParaRPr>
          </a:p>
        </p:txBody>
      </p:sp>
      <p:sp>
        <p:nvSpPr>
          <p:cNvPr id="5" name="object 5"/>
          <p:cNvSpPr txBox="1"/>
          <p:nvPr/>
        </p:nvSpPr>
        <p:spPr>
          <a:xfrm>
            <a:off x="2650998" y="4877561"/>
            <a:ext cx="1600200" cy="762000"/>
          </a:xfrm>
          <a:prstGeom prst="rect">
            <a:avLst/>
          </a:prstGeom>
          <a:solidFill>
            <a:srgbClr val="E7C28D"/>
          </a:solidFill>
          <a:ln w="19811">
            <a:solidFill>
              <a:srgbClr val="4D1C11"/>
            </a:solidFill>
          </a:ln>
        </p:spPr>
        <p:txBody>
          <a:bodyPr vert="horz" wrap="square" lIns="0" tIns="226695" rIns="0" bIns="0" rtlCol="0">
            <a:spAutoFit/>
          </a:bodyPr>
          <a:lstStyle/>
          <a:p>
            <a:pPr marL="456565">
              <a:lnSpc>
                <a:spcPct val="100000"/>
              </a:lnSpc>
              <a:spcBef>
                <a:spcPts val="1785"/>
              </a:spcBef>
            </a:pPr>
            <a:r>
              <a:rPr sz="1800" spc="-10" dirty="0">
                <a:latin typeface="P052"/>
                <a:cs typeface="P052"/>
              </a:rPr>
              <a:t>Slicing</a:t>
            </a:r>
            <a:endParaRPr sz="1800">
              <a:latin typeface="P052"/>
              <a:cs typeface="P052"/>
            </a:endParaRPr>
          </a:p>
        </p:txBody>
      </p:sp>
      <p:sp>
        <p:nvSpPr>
          <p:cNvPr id="6" name="object 6"/>
          <p:cNvSpPr txBox="1"/>
          <p:nvPr/>
        </p:nvSpPr>
        <p:spPr>
          <a:xfrm>
            <a:off x="4725161" y="2515361"/>
            <a:ext cx="1600200" cy="762000"/>
          </a:xfrm>
          <a:prstGeom prst="rect">
            <a:avLst/>
          </a:prstGeom>
          <a:solidFill>
            <a:srgbClr val="E7C28D"/>
          </a:solidFill>
          <a:ln w="19811">
            <a:solidFill>
              <a:srgbClr val="4D1C11"/>
            </a:solidFill>
          </a:ln>
        </p:spPr>
        <p:txBody>
          <a:bodyPr vert="horz" wrap="square" lIns="0" tIns="89535" rIns="0" bIns="0" rtlCol="0">
            <a:spAutoFit/>
          </a:bodyPr>
          <a:lstStyle/>
          <a:p>
            <a:pPr marL="299085" marR="293370" indent="223520">
              <a:lnSpc>
                <a:spcPct val="100000"/>
              </a:lnSpc>
              <a:spcBef>
                <a:spcPts val="705"/>
              </a:spcBef>
            </a:pPr>
            <a:r>
              <a:rPr sz="1800" spc="-10" dirty="0">
                <a:latin typeface="P052"/>
                <a:cs typeface="P052"/>
              </a:rPr>
              <a:t>Build prototype</a:t>
            </a:r>
            <a:endParaRPr sz="1800">
              <a:latin typeface="P052"/>
              <a:cs typeface="P052"/>
            </a:endParaRPr>
          </a:p>
        </p:txBody>
      </p:sp>
      <p:sp>
        <p:nvSpPr>
          <p:cNvPr id="7" name="object 7"/>
          <p:cNvSpPr txBox="1"/>
          <p:nvPr/>
        </p:nvSpPr>
        <p:spPr>
          <a:xfrm>
            <a:off x="6782561" y="2515361"/>
            <a:ext cx="1600200" cy="762000"/>
          </a:xfrm>
          <a:prstGeom prst="rect">
            <a:avLst/>
          </a:prstGeom>
          <a:solidFill>
            <a:srgbClr val="E7C28D"/>
          </a:solidFill>
          <a:ln w="19811">
            <a:solidFill>
              <a:srgbClr val="4D1C11"/>
            </a:solidFill>
          </a:ln>
        </p:spPr>
        <p:txBody>
          <a:bodyPr vert="horz" wrap="square" lIns="0" tIns="89535" rIns="0" bIns="0" rtlCol="0">
            <a:spAutoFit/>
          </a:bodyPr>
          <a:lstStyle/>
          <a:p>
            <a:pPr marL="351155" marR="345440" indent="34925">
              <a:lnSpc>
                <a:spcPct val="100000"/>
              </a:lnSpc>
              <a:spcBef>
                <a:spcPts val="705"/>
              </a:spcBef>
            </a:pPr>
            <a:r>
              <a:rPr sz="1800" spc="-10" dirty="0">
                <a:latin typeface="P052"/>
                <a:cs typeface="P052"/>
              </a:rPr>
              <a:t>Remove supports</a:t>
            </a:r>
            <a:endParaRPr sz="1800">
              <a:latin typeface="P052"/>
              <a:cs typeface="P052"/>
            </a:endParaRPr>
          </a:p>
        </p:txBody>
      </p:sp>
      <p:sp>
        <p:nvSpPr>
          <p:cNvPr id="8" name="object 8"/>
          <p:cNvSpPr txBox="1"/>
          <p:nvPr/>
        </p:nvSpPr>
        <p:spPr>
          <a:xfrm>
            <a:off x="6782561" y="3734561"/>
            <a:ext cx="1600200" cy="762000"/>
          </a:xfrm>
          <a:prstGeom prst="rect">
            <a:avLst/>
          </a:prstGeom>
          <a:solidFill>
            <a:srgbClr val="E7C28D"/>
          </a:solidFill>
          <a:ln w="19811">
            <a:solidFill>
              <a:srgbClr val="4D1C11"/>
            </a:solidFill>
          </a:ln>
        </p:spPr>
        <p:txBody>
          <a:bodyPr vert="horz" wrap="square" lIns="0" tIns="89535" rIns="0" bIns="0" rtlCol="0">
            <a:spAutoFit/>
          </a:bodyPr>
          <a:lstStyle/>
          <a:p>
            <a:pPr marL="436880" marR="312420" indent="-117475">
              <a:lnSpc>
                <a:spcPct val="100000"/>
              </a:lnSpc>
              <a:spcBef>
                <a:spcPts val="705"/>
              </a:spcBef>
            </a:pPr>
            <a:r>
              <a:rPr sz="1800" dirty="0">
                <a:latin typeface="P052"/>
                <a:cs typeface="P052"/>
              </a:rPr>
              <a:t>Clean</a:t>
            </a:r>
            <a:r>
              <a:rPr sz="1800" spc="-75" dirty="0">
                <a:latin typeface="P052"/>
                <a:cs typeface="P052"/>
              </a:rPr>
              <a:t> </a:t>
            </a:r>
            <a:r>
              <a:rPr sz="1800" spc="-25" dirty="0">
                <a:latin typeface="P052"/>
                <a:cs typeface="P052"/>
              </a:rPr>
              <a:t>the </a:t>
            </a:r>
            <a:r>
              <a:rPr sz="1800" spc="-10" dirty="0">
                <a:latin typeface="P052"/>
                <a:cs typeface="P052"/>
              </a:rPr>
              <a:t>surface</a:t>
            </a:r>
            <a:endParaRPr sz="1800">
              <a:latin typeface="P052"/>
              <a:cs typeface="P052"/>
            </a:endParaRPr>
          </a:p>
        </p:txBody>
      </p:sp>
      <p:sp>
        <p:nvSpPr>
          <p:cNvPr id="9" name="object 9"/>
          <p:cNvSpPr txBox="1"/>
          <p:nvPr/>
        </p:nvSpPr>
        <p:spPr>
          <a:xfrm>
            <a:off x="6782561" y="4877561"/>
            <a:ext cx="1600200" cy="762000"/>
          </a:xfrm>
          <a:prstGeom prst="rect">
            <a:avLst/>
          </a:prstGeom>
          <a:solidFill>
            <a:srgbClr val="E7C28D"/>
          </a:solidFill>
          <a:ln w="19811">
            <a:solidFill>
              <a:srgbClr val="4D1C11"/>
            </a:solidFill>
          </a:ln>
        </p:spPr>
        <p:txBody>
          <a:bodyPr vert="horz" wrap="square" lIns="0" tIns="226695" rIns="0" bIns="0" rtlCol="0">
            <a:spAutoFit/>
          </a:bodyPr>
          <a:lstStyle/>
          <a:p>
            <a:pPr marL="334645">
              <a:lnSpc>
                <a:spcPct val="100000"/>
              </a:lnSpc>
              <a:spcBef>
                <a:spcPts val="1785"/>
              </a:spcBef>
            </a:pPr>
            <a:r>
              <a:rPr sz="1800" dirty="0">
                <a:latin typeface="P052"/>
                <a:cs typeface="P052"/>
              </a:rPr>
              <a:t>Post</a:t>
            </a:r>
            <a:r>
              <a:rPr sz="1800" spc="-35" dirty="0">
                <a:latin typeface="P052"/>
                <a:cs typeface="P052"/>
              </a:rPr>
              <a:t> </a:t>
            </a:r>
            <a:r>
              <a:rPr sz="1800" spc="-20" dirty="0">
                <a:latin typeface="P052"/>
                <a:cs typeface="P052"/>
              </a:rPr>
              <a:t>cure</a:t>
            </a:r>
            <a:endParaRPr sz="1800">
              <a:latin typeface="P052"/>
              <a:cs typeface="P052"/>
            </a:endParaRPr>
          </a:p>
        </p:txBody>
      </p:sp>
      <p:sp>
        <p:nvSpPr>
          <p:cNvPr id="10" name="object 10"/>
          <p:cNvSpPr txBox="1"/>
          <p:nvPr/>
        </p:nvSpPr>
        <p:spPr>
          <a:xfrm>
            <a:off x="6782561" y="6020560"/>
            <a:ext cx="1600200" cy="762000"/>
          </a:xfrm>
          <a:prstGeom prst="rect">
            <a:avLst/>
          </a:prstGeom>
          <a:solidFill>
            <a:srgbClr val="E7C28D"/>
          </a:solidFill>
          <a:ln w="19811">
            <a:solidFill>
              <a:srgbClr val="4D1C11"/>
            </a:solidFill>
          </a:ln>
        </p:spPr>
        <p:txBody>
          <a:bodyPr vert="horz" wrap="square" lIns="0" tIns="90170" rIns="0" bIns="0" rtlCol="0">
            <a:spAutoFit/>
          </a:bodyPr>
          <a:lstStyle/>
          <a:p>
            <a:pPr marL="266065" marR="260350" indent="324485">
              <a:lnSpc>
                <a:spcPct val="100000"/>
              </a:lnSpc>
              <a:spcBef>
                <a:spcPts val="710"/>
              </a:spcBef>
            </a:pPr>
            <a:r>
              <a:rPr sz="1800" spc="-20" dirty="0">
                <a:latin typeface="P052"/>
                <a:cs typeface="P052"/>
              </a:rPr>
              <a:t>Part </a:t>
            </a:r>
            <a:r>
              <a:rPr sz="1800" spc="-10" dirty="0">
                <a:latin typeface="P052"/>
                <a:cs typeface="P052"/>
              </a:rPr>
              <a:t>completed</a:t>
            </a:r>
            <a:endParaRPr sz="1800">
              <a:latin typeface="P052"/>
              <a:cs typeface="P052"/>
            </a:endParaRPr>
          </a:p>
        </p:txBody>
      </p:sp>
      <p:sp>
        <p:nvSpPr>
          <p:cNvPr id="11" name="object 11"/>
          <p:cNvSpPr/>
          <p:nvPr/>
        </p:nvSpPr>
        <p:spPr>
          <a:xfrm>
            <a:off x="2133600" y="2843910"/>
            <a:ext cx="516255" cy="103505"/>
          </a:xfrm>
          <a:custGeom>
            <a:avLst/>
            <a:gdLst/>
            <a:ahLst/>
            <a:cxnLst/>
            <a:rect l="l" t="t" r="r" b="b"/>
            <a:pathLst>
              <a:path w="516255" h="103505">
                <a:moveTo>
                  <a:pt x="490891" y="51688"/>
                </a:moveTo>
                <a:lnTo>
                  <a:pt x="424052" y="90677"/>
                </a:lnTo>
                <a:lnTo>
                  <a:pt x="421131" y="92455"/>
                </a:lnTo>
                <a:lnTo>
                  <a:pt x="420116" y="96265"/>
                </a:lnTo>
                <a:lnTo>
                  <a:pt x="421767" y="99313"/>
                </a:lnTo>
                <a:lnTo>
                  <a:pt x="423544" y="102362"/>
                </a:lnTo>
                <a:lnTo>
                  <a:pt x="427481" y="103377"/>
                </a:lnTo>
                <a:lnTo>
                  <a:pt x="505237" y="58038"/>
                </a:lnTo>
                <a:lnTo>
                  <a:pt x="503555" y="58038"/>
                </a:lnTo>
                <a:lnTo>
                  <a:pt x="503555" y="57150"/>
                </a:lnTo>
                <a:lnTo>
                  <a:pt x="500252" y="57150"/>
                </a:lnTo>
                <a:lnTo>
                  <a:pt x="490891" y="51688"/>
                </a:lnTo>
                <a:close/>
              </a:path>
              <a:path w="516255" h="103505">
                <a:moveTo>
                  <a:pt x="480005" y="45338"/>
                </a:moveTo>
                <a:lnTo>
                  <a:pt x="0" y="45338"/>
                </a:lnTo>
                <a:lnTo>
                  <a:pt x="0" y="58038"/>
                </a:lnTo>
                <a:lnTo>
                  <a:pt x="480005" y="58038"/>
                </a:lnTo>
                <a:lnTo>
                  <a:pt x="490891" y="51688"/>
                </a:lnTo>
                <a:lnTo>
                  <a:pt x="480005" y="45338"/>
                </a:lnTo>
                <a:close/>
              </a:path>
              <a:path w="516255" h="103505">
                <a:moveTo>
                  <a:pt x="505237" y="45338"/>
                </a:moveTo>
                <a:lnTo>
                  <a:pt x="503555" y="45338"/>
                </a:lnTo>
                <a:lnTo>
                  <a:pt x="503555" y="58038"/>
                </a:lnTo>
                <a:lnTo>
                  <a:pt x="505237" y="58038"/>
                </a:lnTo>
                <a:lnTo>
                  <a:pt x="516127" y="51688"/>
                </a:lnTo>
                <a:lnTo>
                  <a:pt x="505237" y="45338"/>
                </a:lnTo>
                <a:close/>
              </a:path>
              <a:path w="516255" h="103505">
                <a:moveTo>
                  <a:pt x="500252" y="46227"/>
                </a:moveTo>
                <a:lnTo>
                  <a:pt x="490891" y="51688"/>
                </a:lnTo>
                <a:lnTo>
                  <a:pt x="500252" y="57150"/>
                </a:lnTo>
                <a:lnTo>
                  <a:pt x="500252" y="46227"/>
                </a:lnTo>
                <a:close/>
              </a:path>
              <a:path w="516255" h="103505">
                <a:moveTo>
                  <a:pt x="503555" y="46227"/>
                </a:moveTo>
                <a:lnTo>
                  <a:pt x="500252" y="46227"/>
                </a:lnTo>
                <a:lnTo>
                  <a:pt x="500252" y="57150"/>
                </a:lnTo>
                <a:lnTo>
                  <a:pt x="503555" y="57150"/>
                </a:lnTo>
                <a:lnTo>
                  <a:pt x="503555" y="46227"/>
                </a:lnTo>
                <a:close/>
              </a:path>
              <a:path w="516255" h="103505">
                <a:moveTo>
                  <a:pt x="427481" y="0"/>
                </a:moveTo>
                <a:lnTo>
                  <a:pt x="423544" y="1015"/>
                </a:lnTo>
                <a:lnTo>
                  <a:pt x="421767" y="4063"/>
                </a:lnTo>
                <a:lnTo>
                  <a:pt x="420116" y="7112"/>
                </a:lnTo>
                <a:lnTo>
                  <a:pt x="421131" y="10922"/>
                </a:lnTo>
                <a:lnTo>
                  <a:pt x="424052" y="12700"/>
                </a:lnTo>
                <a:lnTo>
                  <a:pt x="490891" y="51688"/>
                </a:lnTo>
                <a:lnTo>
                  <a:pt x="500252" y="46227"/>
                </a:lnTo>
                <a:lnTo>
                  <a:pt x="503555" y="46227"/>
                </a:lnTo>
                <a:lnTo>
                  <a:pt x="503555" y="45338"/>
                </a:lnTo>
                <a:lnTo>
                  <a:pt x="505237" y="45338"/>
                </a:lnTo>
                <a:lnTo>
                  <a:pt x="427481" y="0"/>
                </a:lnTo>
                <a:close/>
              </a:path>
            </a:pathLst>
          </a:custGeom>
          <a:solidFill>
            <a:srgbClr val="742D1E"/>
          </a:solidFill>
        </p:spPr>
        <p:txBody>
          <a:bodyPr wrap="square" lIns="0" tIns="0" rIns="0" bIns="0" rtlCol="0"/>
          <a:lstStyle/>
          <a:p>
            <a:endParaRPr/>
          </a:p>
        </p:txBody>
      </p:sp>
      <p:sp>
        <p:nvSpPr>
          <p:cNvPr id="12" name="object 12"/>
          <p:cNvSpPr/>
          <p:nvPr/>
        </p:nvSpPr>
        <p:spPr>
          <a:xfrm>
            <a:off x="3398646" y="3276600"/>
            <a:ext cx="103505" cy="471170"/>
          </a:xfrm>
          <a:custGeom>
            <a:avLst/>
            <a:gdLst/>
            <a:ahLst/>
            <a:cxnLst/>
            <a:rect l="l" t="t" r="r" b="b"/>
            <a:pathLst>
              <a:path w="103504" h="471170">
                <a:moveTo>
                  <a:pt x="7112" y="375031"/>
                </a:moveTo>
                <a:lnTo>
                  <a:pt x="1015" y="378587"/>
                </a:lnTo>
                <a:lnTo>
                  <a:pt x="0" y="382397"/>
                </a:lnTo>
                <a:lnTo>
                  <a:pt x="51688" y="471043"/>
                </a:lnTo>
                <a:lnTo>
                  <a:pt x="59020" y="458469"/>
                </a:lnTo>
                <a:lnTo>
                  <a:pt x="45338" y="458469"/>
                </a:lnTo>
                <a:lnTo>
                  <a:pt x="45338" y="435047"/>
                </a:lnTo>
                <a:lnTo>
                  <a:pt x="10922" y="376047"/>
                </a:lnTo>
                <a:lnTo>
                  <a:pt x="7112" y="375031"/>
                </a:lnTo>
                <a:close/>
              </a:path>
              <a:path w="103504" h="471170">
                <a:moveTo>
                  <a:pt x="45338" y="435047"/>
                </a:moveTo>
                <a:lnTo>
                  <a:pt x="45338" y="458469"/>
                </a:lnTo>
                <a:lnTo>
                  <a:pt x="58038" y="458469"/>
                </a:lnTo>
                <a:lnTo>
                  <a:pt x="58038" y="455294"/>
                </a:lnTo>
                <a:lnTo>
                  <a:pt x="46227" y="455294"/>
                </a:lnTo>
                <a:lnTo>
                  <a:pt x="51688" y="445933"/>
                </a:lnTo>
                <a:lnTo>
                  <a:pt x="45338" y="435047"/>
                </a:lnTo>
                <a:close/>
              </a:path>
              <a:path w="103504" h="471170">
                <a:moveTo>
                  <a:pt x="96265" y="375031"/>
                </a:moveTo>
                <a:lnTo>
                  <a:pt x="92455" y="376047"/>
                </a:lnTo>
                <a:lnTo>
                  <a:pt x="58038" y="435047"/>
                </a:lnTo>
                <a:lnTo>
                  <a:pt x="58038" y="458469"/>
                </a:lnTo>
                <a:lnTo>
                  <a:pt x="59020" y="458469"/>
                </a:lnTo>
                <a:lnTo>
                  <a:pt x="103377" y="382397"/>
                </a:lnTo>
                <a:lnTo>
                  <a:pt x="102362" y="378587"/>
                </a:lnTo>
                <a:lnTo>
                  <a:pt x="96265" y="375031"/>
                </a:lnTo>
                <a:close/>
              </a:path>
              <a:path w="103504" h="471170">
                <a:moveTo>
                  <a:pt x="51688" y="445933"/>
                </a:moveTo>
                <a:lnTo>
                  <a:pt x="46227" y="455294"/>
                </a:lnTo>
                <a:lnTo>
                  <a:pt x="57150" y="455294"/>
                </a:lnTo>
                <a:lnTo>
                  <a:pt x="51688" y="445933"/>
                </a:lnTo>
                <a:close/>
              </a:path>
              <a:path w="103504" h="471170">
                <a:moveTo>
                  <a:pt x="58038" y="435047"/>
                </a:moveTo>
                <a:lnTo>
                  <a:pt x="51688" y="445933"/>
                </a:lnTo>
                <a:lnTo>
                  <a:pt x="57150" y="455294"/>
                </a:lnTo>
                <a:lnTo>
                  <a:pt x="58038" y="455294"/>
                </a:lnTo>
                <a:lnTo>
                  <a:pt x="58038" y="435047"/>
                </a:lnTo>
                <a:close/>
              </a:path>
              <a:path w="103504" h="471170">
                <a:moveTo>
                  <a:pt x="58038" y="0"/>
                </a:moveTo>
                <a:lnTo>
                  <a:pt x="45338" y="0"/>
                </a:lnTo>
                <a:lnTo>
                  <a:pt x="45338" y="435047"/>
                </a:lnTo>
                <a:lnTo>
                  <a:pt x="51688" y="445933"/>
                </a:lnTo>
                <a:lnTo>
                  <a:pt x="58038" y="435047"/>
                </a:lnTo>
                <a:lnTo>
                  <a:pt x="58038" y="0"/>
                </a:lnTo>
                <a:close/>
              </a:path>
            </a:pathLst>
          </a:custGeom>
          <a:solidFill>
            <a:srgbClr val="742D1E"/>
          </a:solidFill>
        </p:spPr>
        <p:txBody>
          <a:bodyPr wrap="square" lIns="0" tIns="0" rIns="0" bIns="0" rtlCol="0"/>
          <a:lstStyle/>
          <a:p>
            <a:endParaRPr/>
          </a:p>
        </p:txBody>
      </p:sp>
      <p:sp>
        <p:nvSpPr>
          <p:cNvPr id="13" name="object 13"/>
          <p:cNvSpPr/>
          <p:nvPr/>
        </p:nvSpPr>
        <p:spPr>
          <a:xfrm>
            <a:off x="3398646" y="4509515"/>
            <a:ext cx="103505" cy="367665"/>
          </a:xfrm>
          <a:custGeom>
            <a:avLst/>
            <a:gdLst/>
            <a:ahLst/>
            <a:cxnLst/>
            <a:rect l="l" t="t" r="r" b="b"/>
            <a:pathLst>
              <a:path w="103504" h="367664">
                <a:moveTo>
                  <a:pt x="7112" y="271144"/>
                </a:moveTo>
                <a:lnTo>
                  <a:pt x="1015" y="274700"/>
                </a:lnTo>
                <a:lnTo>
                  <a:pt x="0" y="278510"/>
                </a:lnTo>
                <a:lnTo>
                  <a:pt x="51688" y="367156"/>
                </a:lnTo>
                <a:lnTo>
                  <a:pt x="59020" y="354583"/>
                </a:lnTo>
                <a:lnTo>
                  <a:pt x="45338" y="354583"/>
                </a:lnTo>
                <a:lnTo>
                  <a:pt x="45338" y="331161"/>
                </a:lnTo>
                <a:lnTo>
                  <a:pt x="10922" y="272160"/>
                </a:lnTo>
                <a:lnTo>
                  <a:pt x="7112" y="271144"/>
                </a:lnTo>
                <a:close/>
              </a:path>
              <a:path w="103504" h="367664">
                <a:moveTo>
                  <a:pt x="45338" y="331161"/>
                </a:moveTo>
                <a:lnTo>
                  <a:pt x="45338" y="354583"/>
                </a:lnTo>
                <a:lnTo>
                  <a:pt x="58038" y="354583"/>
                </a:lnTo>
                <a:lnTo>
                  <a:pt x="58038" y="351408"/>
                </a:lnTo>
                <a:lnTo>
                  <a:pt x="46227" y="351408"/>
                </a:lnTo>
                <a:lnTo>
                  <a:pt x="51688" y="342047"/>
                </a:lnTo>
                <a:lnTo>
                  <a:pt x="45338" y="331161"/>
                </a:lnTo>
                <a:close/>
              </a:path>
              <a:path w="103504" h="367664">
                <a:moveTo>
                  <a:pt x="96265" y="271144"/>
                </a:moveTo>
                <a:lnTo>
                  <a:pt x="92455" y="272160"/>
                </a:lnTo>
                <a:lnTo>
                  <a:pt x="58038" y="331161"/>
                </a:lnTo>
                <a:lnTo>
                  <a:pt x="58038" y="354583"/>
                </a:lnTo>
                <a:lnTo>
                  <a:pt x="59020" y="354583"/>
                </a:lnTo>
                <a:lnTo>
                  <a:pt x="103377" y="278510"/>
                </a:lnTo>
                <a:lnTo>
                  <a:pt x="102362" y="274700"/>
                </a:lnTo>
                <a:lnTo>
                  <a:pt x="96265" y="271144"/>
                </a:lnTo>
                <a:close/>
              </a:path>
              <a:path w="103504" h="367664">
                <a:moveTo>
                  <a:pt x="51688" y="342047"/>
                </a:moveTo>
                <a:lnTo>
                  <a:pt x="46227" y="351408"/>
                </a:lnTo>
                <a:lnTo>
                  <a:pt x="57150" y="351408"/>
                </a:lnTo>
                <a:lnTo>
                  <a:pt x="51688" y="342047"/>
                </a:lnTo>
                <a:close/>
              </a:path>
              <a:path w="103504" h="367664">
                <a:moveTo>
                  <a:pt x="58038" y="331161"/>
                </a:moveTo>
                <a:lnTo>
                  <a:pt x="51688" y="342047"/>
                </a:lnTo>
                <a:lnTo>
                  <a:pt x="57150" y="351408"/>
                </a:lnTo>
                <a:lnTo>
                  <a:pt x="58038" y="351408"/>
                </a:lnTo>
                <a:lnTo>
                  <a:pt x="58038" y="331161"/>
                </a:lnTo>
                <a:close/>
              </a:path>
              <a:path w="103504" h="367664">
                <a:moveTo>
                  <a:pt x="58038" y="0"/>
                </a:moveTo>
                <a:lnTo>
                  <a:pt x="45338" y="0"/>
                </a:lnTo>
                <a:lnTo>
                  <a:pt x="45338" y="331161"/>
                </a:lnTo>
                <a:lnTo>
                  <a:pt x="51688" y="342047"/>
                </a:lnTo>
                <a:lnTo>
                  <a:pt x="58038" y="331161"/>
                </a:lnTo>
                <a:lnTo>
                  <a:pt x="58038" y="0"/>
                </a:lnTo>
                <a:close/>
              </a:path>
            </a:pathLst>
          </a:custGeom>
          <a:solidFill>
            <a:srgbClr val="742D1E"/>
          </a:solidFill>
        </p:spPr>
        <p:txBody>
          <a:bodyPr wrap="square" lIns="0" tIns="0" rIns="0" bIns="0" rtlCol="0"/>
          <a:lstStyle/>
          <a:p>
            <a:endParaRPr/>
          </a:p>
        </p:txBody>
      </p:sp>
      <p:sp>
        <p:nvSpPr>
          <p:cNvPr id="14" name="object 14"/>
          <p:cNvSpPr/>
          <p:nvPr/>
        </p:nvSpPr>
        <p:spPr>
          <a:xfrm>
            <a:off x="4250435" y="3276600"/>
            <a:ext cx="1326515" cy="1987550"/>
          </a:xfrm>
          <a:custGeom>
            <a:avLst/>
            <a:gdLst/>
            <a:ahLst/>
            <a:cxnLst/>
            <a:rect l="l" t="t" r="r" b="b"/>
            <a:pathLst>
              <a:path w="1326514" h="1987550">
                <a:moveTo>
                  <a:pt x="1268222" y="1974850"/>
                </a:moveTo>
                <a:lnTo>
                  <a:pt x="0" y="1974850"/>
                </a:lnTo>
                <a:lnTo>
                  <a:pt x="0" y="1987550"/>
                </a:lnTo>
                <a:lnTo>
                  <a:pt x="1278127" y="1987550"/>
                </a:lnTo>
                <a:lnTo>
                  <a:pt x="1280922" y="1984756"/>
                </a:lnTo>
                <a:lnTo>
                  <a:pt x="1280922" y="1981200"/>
                </a:lnTo>
                <a:lnTo>
                  <a:pt x="1268222" y="1981200"/>
                </a:lnTo>
                <a:lnTo>
                  <a:pt x="1268222" y="1974850"/>
                </a:lnTo>
                <a:close/>
              </a:path>
              <a:path w="1326514" h="1987550">
                <a:moveTo>
                  <a:pt x="1274635" y="25218"/>
                </a:moveTo>
                <a:lnTo>
                  <a:pt x="1268349" y="35995"/>
                </a:lnTo>
                <a:lnTo>
                  <a:pt x="1268222" y="1981200"/>
                </a:lnTo>
                <a:lnTo>
                  <a:pt x="1274572" y="1974850"/>
                </a:lnTo>
                <a:lnTo>
                  <a:pt x="1280922" y="1974850"/>
                </a:lnTo>
                <a:lnTo>
                  <a:pt x="1280922" y="35995"/>
                </a:lnTo>
                <a:lnTo>
                  <a:pt x="1274635" y="25218"/>
                </a:lnTo>
                <a:close/>
              </a:path>
              <a:path w="1326514" h="1987550">
                <a:moveTo>
                  <a:pt x="1280922" y="1974850"/>
                </a:moveTo>
                <a:lnTo>
                  <a:pt x="1274572" y="1974850"/>
                </a:lnTo>
                <a:lnTo>
                  <a:pt x="1268222" y="1981200"/>
                </a:lnTo>
                <a:lnTo>
                  <a:pt x="1280922" y="1981200"/>
                </a:lnTo>
                <a:lnTo>
                  <a:pt x="1280922" y="1974850"/>
                </a:lnTo>
                <a:close/>
              </a:path>
              <a:path w="1326514" h="1987550">
                <a:moveTo>
                  <a:pt x="1274572" y="0"/>
                </a:moveTo>
                <a:lnTo>
                  <a:pt x="1222883" y="88646"/>
                </a:lnTo>
                <a:lnTo>
                  <a:pt x="1223899" y="92455"/>
                </a:lnTo>
                <a:lnTo>
                  <a:pt x="1229994" y="96012"/>
                </a:lnTo>
                <a:lnTo>
                  <a:pt x="1233931" y="94996"/>
                </a:lnTo>
                <a:lnTo>
                  <a:pt x="1268222" y="36213"/>
                </a:lnTo>
                <a:lnTo>
                  <a:pt x="1268222" y="12573"/>
                </a:lnTo>
                <a:lnTo>
                  <a:pt x="1281921" y="12573"/>
                </a:lnTo>
                <a:lnTo>
                  <a:pt x="1274572" y="0"/>
                </a:lnTo>
                <a:close/>
              </a:path>
              <a:path w="1326514" h="1987550">
                <a:moveTo>
                  <a:pt x="1281921" y="12573"/>
                </a:moveTo>
                <a:lnTo>
                  <a:pt x="1280922" y="12573"/>
                </a:lnTo>
                <a:lnTo>
                  <a:pt x="1281049" y="36213"/>
                </a:lnTo>
                <a:lnTo>
                  <a:pt x="1315339" y="94996"/>
                </a:lnTo>
                <a:lnTo>
                  <a:pt x="1319276" y="96012"/>
                </a:lnTo>
                <a:lnTo>
                  <a:pt x="1322324" y="94234"/>
                </a:lnTo>
                <a:lnTo>
                  <a:pt x="1325244" y="92455"/>
                </a:lnTo>
                <a:lnTo>
                  <a:pt x="1326261" y="88646"/>
                </a:lnTo>
                <a:lnTo>
                  <a:pt x="1324610" y="85598"/>
                </a:lnTo>
                <a:lnTo>
                  <a:pt x="1281921" y="12573"/>
                </a:lnTo>
                <a:close/>
              </a:path>
              <a:path w="1326514" h="1987550">
                <a:moveTo>
                  <a:pt x="1280922" y="12573"/>
                </a:moveTo>
                <a:lnTo>
                  <a:pt x="1268222" y="12573"/>
                </a:lnTo>
                <a:lnTo>
                  <a:pt x="1268222" y="36213"/>
                </a:lnTo>
                <a:lnTo>
                  <a:pt x="1274635" y="25218"/>
                </a:lnTo>
                <a:lnTo>
                  <a:pt x="1269111" y="15748"/>
                </a:lnTo>
                <a:lnTo>
                  <a:pt x="1280922" y="15748"/>
                </a:lnTo>
                <a:lnTo>
                  <a:pt x="1280922" y="12573"/>
                </a:lnTo>
                <a:close/>
              </a:path>
              <a:path w="1326514" h="1987550">
                <a:moveTo>
                  <a:pt x="1280922" y="15748"/>
                </a:moveTo>
                <a:lnTo>
                  <a:pt x="1280160" y="15748"/>
                </a:lnTo>
                <a:lnTo>
                  <a:pt x="1274635" y="25218"/>
                </a:lnTo>
                <a:lnTo>
                  <a:pt x="1280922" y="35995"/>
                </a:lnTo>
                <a:lnTo>
                  <a:pt x="1280922" y="15748"/>
                </a:lnTo>
                <a:close/>
              </a:path>
              <a:path w="1326514" h="1987550">
                <a:moveTo>
                  <a:pt x="1280160" y="15748"/>
                </a:moveTo>
                <a:lnTo>
                  <a:pt x="1269111" y="15748"/>
                </a:lnTo>
                <a:lnTo>
                  <a:pt x="1274635" y="25218"/>
                </a:lnTo>
                <a:lnTo>
                  <a:pt x="1280160" y="15748"/>
                </a:lnTo>
                <a:close/>
              </a:path>
            </a:pathLst>
          </a:custGeom>
          <a:solidFill>
            <a:srgbClr val="742D1E"/>
          </a:solidFill>
        </p:spPr>
        <p:txBody>
          <a:bodyPr wrap="square" lIns="0" tIns="0" rIns="0" bIns="0" rtlCol="0"/>
          <a:lstStyle/>
          <a:p>
            <a:endParaRPr/>
          </a:p>
        </p:txBody>
      </p:sp>
      <p:sp>
        <p:nvSpPr>
          <p:cNvPr id="15" name="object 15"/>
          <p:cNvSpPr/>
          <p:nvPr/>
        </p:nvSpPr>
        <p:spPr>
          <a:xfrm>
            <a:off x="6324600" y="2843910"/>
            <a:ext cx="457200" cy="103505"/>
          </a:xfrm>
          <a:custGeom>
            <a:avLst/>
            <a:gdLst/>
            <a:ahLst/>
            <a:cxnLst/>
            <a:rect l="l" t="t" r="r" b="b"/>
            <a:pathLst>
              <a:path w="457200" h="103505">
                <a:moveTo>
                  <a:pt x="432090" y="51688"/>
                </a:moveTo>
                <a:lnTo>
                  <a:pt x="362203" y="92455"/>
                </a:lnTo>
                <a:lnTo>
                  <a:pt x="361188" y="96265"/>
                </a:lnTo>
                <a:lnTo>
                  <a:pt x="364744" y="102362"/>
                </a:lnTo>
                <a:lnTo>
                  <a:pt x="368553" y="103377"/>
                </a:lnTo>
                <a:lnTo>
                  <a:pt x="446309" y="58038"/>
                </a:lnTo>
                <a:lnTo>
                  <a:pt x="444626" y="58038"/>
                </a:lnTo>
                <a:lnTo>
                  <a:pt x="444626" y="57150"/>
                </a:lnTo>
                <a:lnTo>
                  <a:pt x="441451" y="57150"/>
                </a:lnTo>
                <a:lnTo>
                  <a:pt x="432090" y="51688"/>
                </a:lnTo>
                <a:close/>
              </a:path>
              <a:path w="457200" h="103505">
                <a:moveTo>
                  <a:pt x="421204" y="45338"/>
                </a:moveTo>
                <a:lnTo>
                  <a:pt x="0" y="45338"/>
                </a:lnTo>
                <a:lnTo>
                  <a:pt x="0" y="58038"/>
                </a:lnTo>
                <a:lnTo>
                  <a:pt x="421204" y="58038"/>
                </a:lnTo>
                <a:lnTo>
                  <a:pt x="432090" y="51688"/>
                </a:lnTo>
                <a:lnTo>
                  <a:pt x="421204" y="45338"/>
                </a:lnTo>
                <a:close/>
              </a:path>
              <a:path w="457200" h="103505">
                <a:moveTo>
                  <a:pt x="446309" y="45338"/>
                </a:moveTo>
                <a:lnTo>
                  <a:pt x="444626" y="45338"/>
                </a:lnTo>
                <a:lnTo>
                  <a:pt x="444626" y="58038"/>
                </a:lnTo>
                <a:lnTo>
                  <a:pt x="446309" y="58038"/>
                </a:lnTo>
                <a:lnTo>
                  <a:pt x="457200" y="51688"/>
                </a:lnTo>
                <a:lnTo>
                  <a:pt x="446309" y="45338"/>
                </a:lnTo>
                <a:close/>
              </a:path>
              <a:path w="457200" h="103505">
                <a:moveTo>
                  <a:pt x="441451" y="46227"/>
                </a:moveTo>
                <a:lnTo>
                  <a:pt x="432090" y="51688"/>
                </a:lnTo>
                <a:lnTo>
                  <a:pt x="441451" y="57150"/>
                </a:lnTo>
                <a:lnTo>
                  <a:pt x="441451" y="46227"/>
                </a:lnTo>
                <a:close/>
              </a:path>
              <a:path w="457200" h="103505">
                <a:moveTo>
                  <a:pt x="444626" y="46227"/>
                </a:moveTo>
                <a:lnTo>
                  <a:pt x="441451" y="46227"/>
                </a:lnTo>
                <a:lnTo>
                  <a:pt x="441451" y="57150"/>
                </a:lnTo>
                <a:lnTo>
                  <a:pt x="444626" y="57150"/>
                </a:lnTo>
                <a:lnTo>
                  <a:pt x="444626" y="46227"/>
                </a:lnTo>
                <a:close/>
              </a:path>
              <a:path w="457200" h="103505">
                <a:moveTo>
                  <a:pt x="368553" y="0"/>
                </a:moveTo>
                <a:lnTo>
                  <a:pt x="364744" y="1015"/>
                </a:lnTo>
                <a:lnTo>
                  <a:pt x="361188" y="7112"/>
                </a:lnTo>
                <a:lnTo>
                  <a:pt x="362203" y="10922"/>
                </a:lnTo>
                <a:lnTo>
                  <a:pt x="432090" y="51688"/>
                </a:lnTo>
                <a:lnTo>
                  <a:pt x="441451" y="46227"/>
                </a:lnTo>
                <a:lnTo>
                  <a:pt x="444626" y="46227"/>
                </a:lnTo>
                <a:lnTo>
                  <a:pt x="444626" y="45338"/>
                </a:lnTo>
                <a:lnTo>
                  <a:pt x="446309" y="45338"/>
                </a:lnTo>
                <a:lnTo>
                  <a:pt x="368553" y="0"/>
                </a:lnTo>
                <a:close/>
              </a:path>
            </a:pathLst>
          </a:custGeom>
          <a:solidFill>
            <a:srgbClr val="742D1E"/>
          </a:solidFill>
        </p:spPr>
        <p:txBody>
          <a:bodyPr wrap="square" lIns="0" tIns="0" rIns="0" bIns="0" rtlCol="0"/>
          <a:lstStyle/>
          <a:p>
            <a:endParaRPr/>
          </a:p>
        </p:txBody>
      </p:sp>
      <p:sp>
        <p:nvSpPr>
          <p:cNvPr id="16" name="object 16"/>
          <p:cNvSpPr/>
          <p:nvPr/>
        </p:nvSpPr>
        <p:spPr>
          <a:xfrm>
            <a:off x="7530210" y="3276600"/>
            <a:ext cx="103505" cy="457200"/>
          </a:xfrm>
          <a:custGeom>
            <a:avLst/>
            <a:gdLst/>
            <a:ahLst/>
            <a:cxnLst/>
            <a:rect l="l" t="t" r="r" b="b"/>
            <a:pathLst>
              <a:path w="103504" h="457200">
                <a:moveTo>
                  <a:pt x="7112" y="361188"/>
                </a:moveTo>
                <a:lnTo>
                  <a:pt x="1016" y="364744"/>
                </a:lnTo>
                <a:lnTo>
                  <a:pt x="0" y="368554"/>
                </a:lnTo>
                <a:lnTo>
                  <a:pt x="51689" y="457200"/>
                </a:lnTo>
                <a:lnTo>
                  <a:pt x="59020" y="444626"/>
                </a:lnTo>
                <a:lnTo>
                  <a:pt x="45339" y="444626"/>
                </a:lnTo>
                <a:lnTo>
                  <a:pt x="45339" y="421204"/>
                </a:lnTo>
                <a:lnTo>
                  <a:pt x="10922" y="362204"/>
                </a:lnTo>
                <a:lnTo>
                  <a:pt x="7112" y="361188"/>
                </a:lnTo>
                <a:close/>
              </a:path>
              <a:path w="103504" h="457200">
                <a:moveTo>
                  <a:pt x="45339" y="421204"/>
                </a:moveTo>
                <a:lnTo>
                  <a:pt x="45339" y="444626"/>
                </a:lnTo>
                <a:lnTo>
                  <a:pt x="58039" y="444626"/>
                </a:lnTo>
                <a:lnTo>
                  <a:pt x="58039" y="441451"/>
                </a:lnTo>
                <a:lnTo>
                  <a:pt x="46228" y="441451"/>
                </a:lnTo>
                <a:lnTo>
                  <a:pt x="51689" y="432090"/>
                </a:lnTo>
                <a:lnTo>
                  <a:pt x="45339" y="421204"/>
                </a:lnTo>
                <a:close/>
              </a:path>
              <a:path w="103504" h="457200">
                <a:moveTo>
                  <a:pt x="96266" y="361188"/>
                </a:moveTo>
                <a:lnTo>
                  <a:pt x="92456" y="362204"/>
                </a:lnTo>
                <a:lnTo>
                  <a:pt x="58039" y="421204"/>
                </a:lnTo>
                <a:lnTo>
                  <a:pt x="58039" y="444626"/>
                </a:lnTo>
                <a:lnTo>
                  <a:pt x="59020" y="444626"/>
                </a:lnTo>
                <a:lnTo>
                  <a:pt x="103378" y="368554"/>
                </a:lnTo>
                <a:lnTo>
                  <a:pt x="102362" y="364744"/>
                </a:lnTo>
                <a:lnTo>
                  <a:pt x="96266" y="361188"/>
                </a:lnTo>
                <a:close/>
              </a:path>
              <a:path w="103504" h="457200">
                <a:moveTo>
                  <a:pt x="51689" y="432090"/>
                </a:moveTo>
                <a:lnTo>
                  <a:pt x="46228" y="441451"/>
                </a:lnTo>
                <a:lnTo>
                  <a:pt x="57150" y="441451"/>
                </a:lnTo>
                <a:lnTo>
                  <a:pt x="51689" y="432090"/>
                </a:lnTo>
                <a:close/>
              </a:path>
              <a:path w="103504" h="457200">
                <a:moveTo>
                  <a:pt x="58039" y="421204"/>
                </a:moveTo>
                <a:lnTo>
                  <a:pt x="51689" y="432090"/>
                </a:lnTo>
                <a:lnTo>
                  <a:pt x="57150" y="441451"/>
                </a:lnTo>
                <a:lnTo>
                  <a:pt x="58039" y="441451"/>
                </a:lnTo>
                <a:lnTo>
                  <a:pt x="58039" y="421204"/>
                </a:lnTo>
                <a:close/>
              </a:path>
              <a:path w="103504" h="457200">
                <a:moveTo>
                  <a:pt x="58039" y="0"/>
                </a:moveTo>
                <a:lnTo>
                  <a:pt x="45339" y="0"/>
                </a:lnTo>
                <a:lnTo>
                  <a:pt x="45339" y="421204"/>
                </a:lnTo>
                <a:lnTo>
                  <a:pt x="51689" y="432090"/>
                </a:lnTo>
                <a:lnTo>
                  <a:pt x="58039" y="421204"/>
                </a:lnTo>
                <a:lnTo>
                  <a:pt x="58039" y="0"/>
                </a:lnTo>
                <a:close/>
              </a:path>
            </a:pathLst>
          </a:custGeom>
          <a:solidFill>
            <a:srgbClr val="742D1E"/>
          </a:solidFill>
        </p:spPr>
        <p:txBody>
          <a:bodyPr wrap="square" lIns="0" tIns="0" rIns="0" bIns="0" rtlCol="0"/>
          <a:lstStyle/>
          <a:p>
            <a:endParaRPr/>
          </a:p>
        </p:txBody>
      </p:sp>
      <p:sp>
        <p:nvSpPr>
          <p:cNvPr id="17" name="object 17"/>
          <p:cNvSpPr/>
          <p:nvPr/>
        </p:nvSpPr>
        <p:spPr>
          <a:xfrm>
            <a:off x="7530210" y="4495800"/>
            <a:ext cx="103505" cy="381000"/>
          </a:xfrm>
          <a:custGeom>
            <a:avLst/>
            <a:gdLst/>
            <a:ahLst/>
            <a:cxnLst/>
            <a:rect l="l" t="t" r="r" b="b"/>
            <a:pathLst>
              <a:path w="103504" h="381000">
                <a:moveTo>
                  <a:pt x="7112" y="284988"/>
                </a:moveTo>
                <a:lnTo>
                  <a:pt x="1016" y="288544"/>
                </a:lnTo>
                <a:lnTo>
                  <a:pt x="0" y="292354"/>
                </a:lnTo>
                <a:lnTo>
                  <a:pt x="51689" y="381000"/>
                </a:lnTo>
                <a:lnTo>
                  <a:pt x="59020" y="368426"/>
                </a:lnTo>
                <a:lnTo>
                  <a:pt x="45339" y="368426"/>
                </a:lnTo>
                <a:lnTo>
                  <a:pt x="45339" y="345004"/>
                </a:lnTo>
                <a:lnTo>
                  <a:pt x="10922" y="286004"/>
                </a:lnTo>
                <a:lnTo>
                  <a:pt x="7112" y="284988"/>
                </a:lnTo>
                <a:close/>
              </a:path>
              <a:path w="103504" h="381000">
                <a:moveTo>
                  <a:pt x="45339" y="345004"/>
                </a:moveTo>
                <a:lnTo>
                  <a:pt x="45339" y="368426"/>
                </a:lnTo>
                <a:lnTo>
                  <a:pt x="58039" y="368426"/>
                </a:lnTo>
                <a:lnTo>
                  <a:pt x="58039" y="365251"/>
                </a:lnTo>
                <a:lnTo>
                  <a:pt x="46228" y="365251"/>
                </a:lnTo>
                <a:lnTo>
                  <a:pt x="51689" y="355890"/>
                </a:lnTo>
                <a:lnTo>
                  <a:pt x="45339" y="345004"/>
                </a:lnTo>
                <a:close/>
              </a:path>
              <a:path w="103504" h="381000">
                <a:moveTo>
                  <a:pt x="96266" y="284988"/>
                </a:moveTo>
                <a:lnTo>
                  <a:pt x="92456" y="286004"/>
                </a:lnTo>
                <a:lnTo>
                  <a:pt x="58039" y="345004"/>
                </a:lnTo>
                <a:lnTo>
                  <a:pt x="58039" y="368426"/>
                </a:lnTo>
                <a:lnTo>
                  <a:pt x="59020" y="368426"/>
                </a:lnTo>
                <a:lnTo>
                  <a:pt x="103378" y="292354"/>
                </a:lnTo>
                <a:lnTo>
                  <a:pt x="102362" y="288544"/>
                </a:lnTo>
                <a:lnTo>
                  <a:pt x="96266" y="284988"/>
                </a:lnTo>
                <a:close/>
              </a:path>
              <a:path w="103504" h="381000">
                <a:moveTo>
                  <a:pt x="51689" y="355890"/>
                </a:moveTo>
                <a:lnTo>
                  <a:pt x="46228" y="365251"/>
                </a:lnTo>
                <a:lnTo>
                  <a:pt x="57150" y="365251"/>
                </a:lnTo>
                <a:lnTo>
                  <a:pt x="51689" y="355890"/>
                </a:lnTo>
                <a:close/>
              </a:path>
              <a:path w="103504" h="381000">
                <a:moveTo>
                  <a:pt x="58039" y="345004"/>
                </a:moveTo>
                <a:lnTo>
                  <a:pt x="51689" y="355890"/>
                </a:lnTo>
                <a:lnTo>
                  <a:pt x="57150" y="365251"/>
                </a:lnTo>
                <a:lnTo>
                  <a:pt x="58039" y="365251"/>
                </a:lnTo>
                <a:lnTo>
                  <a:pt x="58039" y="345004"/>
                </a:lnTo>
                <a:close/>
              </a:path>
              <a:path w="103504" h="381000">
                <a:moveTo>
                  <a:pt x="58039" y="0"/>
                </a:moveTo>
                <a:lnTo>
                  <a:pt x="45339" y="0"/>
                </a:lnTo>
                <a:lnTo>
                  <a:pt x="45339" y="345004"/>
                </a:lnTo>
                <a:lnTo>
                  <a:pt x="51689" y="355890"/>
                </a:lnTo>
                <a:lnTo>
                  <a:pt x="58039" y="345004"/>
                </a:lnTo>
                <a:lnTo>
                  <a:pt x="58039" y="0"/>
                </a:lnTo>
                <a:close/>
              </a:path>
            </a:pathLst>
          </a:custGeom>
          <a:solidFill>
            <a:srgbClr val="742D1E"/>
          </a:solidFill>
        </p:spPr>
        <p:txBody>
          <a:bodyPr wrap="square" lIns="0" tIns="0" rIns="0" bIns="0" rtlCol="0"/>
          <a:lstStyle/>
          <a:p>
            <a:endParaRPr/>
          </a:p>
        </p:txBody>
      </p:sp>
      <p:sp>
        <p:nvSpPr>
          <p:cNvPr id="18" name="object 18"/>
          <p:cNvSpPr/>
          <p:nvPr/>
        </p:nvSpPr>
        <p:spPr>
          <a:xfrm>
            <a:off x="7530210" y="5638800"/>
            <a:ext cx="103505" cy="381635"/>
          </a:xfrm>
          <a:custGeom>
            <a:avLst/>
            <a:gdLst/>
            <a:ahLst/>
            <a:cxnLst/>
            <a:rect l="l" t="t" r="r" b="b"/>
            <a:pathLst>
              <a:path w="103504" h="381635">
                <a:moveTo>
                  <a:pt x="7112" y="284975"/>
                </a:moveTo>
                <a:lnTo>
                  <a:pt x="1016" y="288505"/>
                </a:lnTo>
                <a:lnTo>
                  <a:pt x="0" y="292392"/>
                </a:lnTo>
                <a:lnTo>
                  <a:pt x="51689" y="381025"/>
                </a:lnTo>
                <a:lnTo>
                  <a:pt x="59034" y="368427"/>
                </a:lnTo>
                <a:lnTo>
                  <a:pt x="45339" y="368427"/>
                </a:lnTo>
                <a:lnTo>
                  <a:pt x="45339" y="344982"/>
                </a:lnTo>
                <a:lnTo>
                  <a:pt x="10922" y="285991"/>
                </a:lnTo>
                <a:lnTo>
                  <a:pt x="7112" y="284975"/>
                </a:lnTo>
                <a:close/>
              </a:path>
              <a:path w="103504" h="381635">
                <a:moveTo>
                  <a:pt x="45339" y="344982"/>
                </a:moveTo>
                <a:lnTo>
                  <a:pt x="45339" y="368427"/>
                </a:lnTo>
                <a:lnTo>
                  <a:pt x="58039" y="368427"/>
                </a:lnTo>
                <a:lnTo>
                  <a:pt x="58039" y="365226"/>
                </a:lnTo>
                <a:lnTo>
                  <a:pt x="46228" y="365226"/>
                </a:lnTo>
                <a:lnTo>
                  <a:pt x="51689" y="355866"/>
                </a:lnTo>
                <a:lnTo>
                  <a:pt x="45339" y="344982"/>
                </a:lnTo>
                <a:close/>
              </a:path>
              <a:path w="103504" h="381635">
                <a:moveTo>
                  <a:pt x="96266" y="284975"/>
                </a:moveTo>
                <a:lnTo>
                  <a:pt x="92456" y="285991"/>
                </a:lnTo>
                <a:lnTo>
                  <a:pt x="58039" y="344982"/>
                </a:lnTo>
                <a:lnTo>
                  <a:pt x="58039" y="368427"/>
                </a:lnTo>
                <a:lnTo>
                  <a:pt x="59034" y="368427"/>
                </a:lnTo>
                <a:lnTo>
                  <a:pt x="103378" y="292392"/>
                </a:lnTo>
                <a:lnTo>
                  <a:pt x="102362" y="288505"/>
                </a:lnTo>
                <a:lnTo>
                  <a:pt x="96266" y="284975"/>
                </a:lnTo>
                <a:close/>
              </a:path>
              <a:path w="103504" h="381635">
                <a:moveTo>
                  <a:pt x="51689" y="355866"/>
                </a:moveTo>
                <a:lnTo>
                  <a:pt x="46228" y="365226"/>
                </a:lnTo>
                <a:lnTo>
                  <a:pt x="57150" y="365226"/>
                </a:lnTo>
                <a:lnTo>
                  <a:pt x="51689" y="355866"/>
                </a:lnTo>
                <a:close/>
              </a:path>
              <a:path w="103504" h="381635">
                <a:moveTo>
                  <a:pt x="58039" y="344982"/>
                </a:moveTo>
                <a:lnTo>
                  <a:pt x="51689" y="355866"/>
                </a:lnTo>
                <a:lnTo>
                  <a:pt x="57150" y="365226"/>
                </a:lnTo>
                <a:lnTo>
                  <a:pt x="58039" y="365226"/>
                </a:lnTo>
                <a:lnTo>
                  <a:pt x="58039" y="344982"/>
                </a:lnTo>
                <a:close/>
              </a:path>
              <a:path w="103504" h="381635">
                <a:moveTo>
                  <a:pt x="58039" y="0"/>
                </a:moveTo>
                <a:lnTo>
                  <a:pt x="45339" y="0"/>
                </a:lnTo>
                <a:lnTo>
                  <a:pt x="45339" y="344982"/>
                </a:lnTo>
                <a:lnTo>
                  <a:pt x="51689" y="355866"/>
                </a:lnTo>
                <a:lnTo>
                  <a:pt x="58039" y="344982"/>
                </a:lnTo>
                <a:lnTo>
                  <a:pt x="58039" y="0"/>
                </a:lnTo>
                <a:close/>
              </a:path>
            </a:pathLst>
          </a:custGeom>
          <a:solidFill>
            <a:srgbClr val="742D1E"/>
          </a:solidFill>
        </p:spPr>
        <p:txBody>
          <a:bodyPr wrap="square" lIns="0" tIns="0" rIns="0" bIns="0" rtlCol="0"/>
          <a:lstStyle/>
          <a:p>
            <a:endParaRPr/>
          </a:p>
        </p:txBody>
      </p:sp>
      <p:sp>
        <p:nvSpPr>
          <p:cNvPr id="19" name="object 19"/>
          <p:cNvSpPr txBox="1"/>
          <p:nvPr/>
        </p:nvSpPr>
        <p:spPr>
          <a:xfrm>
            <a:off x="673709" y="2003805"/>
            <a:ext cx="12426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962009"/>
                </a:solidFill>
                <a:latin typeface="P052"/>
                <a:cs typeface="P052"/>
              </a:rPr>
              <a:t>CAD</a:t>
            </a:r>
            <a:r>
              <a:rPr sz="1800" spc="-5" dirty="0">
                <a:solidFill>
                  <a:srgbClr val="962009"/>
                </a:solidFill>
                <a:latin typeface="P052"/>
                <a:cs typeface="P052"/>
              </a:rPr>
              <a:t> </a:t>
            </a:r>
            <a:r>
              <a:rPr sz="1800" spc="-10" dirty="0">
                <a:solidFill>
                  <a:srgbClr val="962009"/>
                </a:solidFill>
                <a:latin typeface="P052"/>
                <a:cs typeface="P052"/>
              </a:rPr>
              <a:t>model</a:t>
            </a:r>
            <a:endParaRPr sz="1800">
              <a:latin typeface="P052"/>
              <a:cs typeface="P052"/>
            </a:endParaRPr>
          </a:p>
        </p:txBody>
      </p:sp>
      <p:sp>
        <p:nvSpPr>
          <p:cNvPr id="20" name="object 20"/>
          <p:cNvSpPr txBox="1"/>
          <p:nvPr/>
        </p:nvSpPr>
        <p:spPr>
          <a:xfrm>
            <a:off x="2822575" y="1405890"/>
            <a:ext cx="3228975" cy="953135"/>
          </a:xfrm>
          <a:prstGeom prst="rect">
            <a:avLst/>
          </a:prstGeom>
        </p:spPr>
        <p:txBody>
          <a:bodyPr vert="horz" wrap="square" lIns="0" tIns="12700" rIns="0" bIns="0" rtlCol="0">
            <a:spAutoFit/>
          </a:bodyPr>
          <a:lstStyle/>
          <a:p>
            <a:pPr marL="289560" algn="ctr">
              <a:lnSpc>
                <a:spcPts val="5810"/>
              </a:lnSpc>
              <a:spcBef>
                <a:spcPts val="100"/>
              </a:spcBef>
            </a:pPr>
            <a:endParaRPr sz="5400" dirty="0">
              <a:latin typeface="Wingdings"/>
              <a:cs typeface="Wingdings"/>
            </a:endParaRPr>
          </a:p>
          <a:p>
            <a:pPr marL="12700">
              <a:lnSpc>
                <a:spcPts val="1490"/>
              </a:lnSpc>
              <a:tabLst>
                <a:tab pos="2110105" algn="l"/>
              </a:tabLst>
            </a:pPr>
            <a:r>
              <a:rPr sz="2700" baseline="1543" dirty="0">
                <a:solidFill>
                  <a:srgbClr val="962009"/>
                </a:solidFill>
                <a:latin typeface="P052"/>
                <a:cs typeface="P052"/>
              </a:rPr>
              <a:t>Pre</a:t>
            </a:r>
            <a:r>
              <a:rPr sz="2700" spc="-44" baseline="1543" dirty="0">
                <a:solidFill>
                  <a:srgbClr val="962009"/>
                </a:solidFill>
                <a:latin typeface="P052"/>
                <a:cs typeface="P052"/>
              </a:rPr>
              <a:t> </a:t>
            </a:r>
            <a:r>
              <a:rPr sz="2700" spc="-15" baseline="1543" dirty="0">
                <a:solidFill>
                  <a:srgbClr val="962009"/>
                </a:solidFill>
                <a:latin typeface="P052"/>
                <a:cs typeface="P052"/>
              </a:rPr>
              <a:t>process</a:t>
            </a:r>
            <a:r>
              <a:rPr sz="2700" baseline="1543" dirty="0">
                <a:solidFill>
                  <a:srgbClr val="962009"/>
                </a:solidFill>
                <a:latin typeface="P052"/>
                <a:cs typeface="P052"/>
              </a:rPr>
              <a:t>	</a:t>
            </a:r>
            <a:r>
              <a:rPr sz="1800" dirty="0">
                <a:solidFill>
                  <a:srgbClr val="962009"/>
                </a:solidFill>
                <a:latin typeface="P052"/>
                <a:cs typeface="P052"/>
              </a:rPr>
              <a:t>RP </a:t>
            </a:r>
            <a:r>
              <a:rPr sz="1800" spc="-10" dirty="0">
                <a:solidFill>
                  <a:srgbClr val="962009"/>
                </a:solidFill>
                <a:latin typeface="P052"/>
                <a:cs typeface="P052"/>
              </a:rPr>
              <a:t>process</a:t>
            </a:r>
            <a:endParaRPr sz="1800" dirty="0">
              <a:latin typeface="P052"/>
              <a:cs typeface="P052"/>
            </a:endParaRPr>
          </a:p>
        </p:txBody>
      </p:sp>
      <p:sp>
        <p:nvSpPr>
          <p:cNvPr id="21" name="object 21"/>
          <p:cNvSpPr txBox="1"/>
          <p:nvPr/>
        </p:nvSpPr>
        <p:spPr>
          <a:xfrm>
            <a:off x="6906259" y="2059304"/>
            <a:ext cx="12757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962009"/>
                </a:solidFill>
                <a:latin typeface="P052"/>
                <a:cs typeface="P052"/>
              </a:rPr>
              <a:t>Post</a:t>
            </a:r>
            <a:r>
              <a:rPr sz="1800" spc="-35" dirty="0">
                <a:solidFill>
                  <a:srgbClr val="962009"/>
                </a:solidFill>
                <a:latin typeface="P052"/>
                <a:cs typeface="P052"/>
              </a:rPr>
              <a:t> </a:t>
            </a:r>
            <a:r>
              <a:rPr sz="1800" spc="-10" dirty="0">
                <a:solidFill>
                  <a:srgbClr val="962009"/>
                </a:solidFill>
                <a:latin typeface="P052"/>
                <a:cs typeface="P052"/>
              </a:rPr>
              <a:t>process</a:t>
            </a:r>
            <a:endParaRPr sz="1800">
              <a:latin typeface="P052"/>
              <a:cs typeface="P052"/>
            </a:endParaRPr>
          </a:p>
        </p:txBody>
      </p:sp>
      <p:sp>
        <p:nvSpPr>
          <p:cNvPr id="22" name="object 22"/>
          <p:cNvSpPr txBox="1">
            <a:spLocks noGrp="1"/>
          </p:cNvSpPr>
          <p:nvPr>
            <p:ph type="title"/>
          </p:nvPr>
        </p:nvSpPr>
        <p:spPr>
          <a:xfrm>
            <a:off x="928049" y="353694"/>
            <a:ext cx="6952682" cy="690574"/>
          </a:xfrm>
          <a:prstGeom prst="rect">
            <a:avLst/>
          </a:prstGeom>
        </p:spPr>
        <p:txBody>
          <a:bodyPr vert="horz" wrap="square" lIns="0" tIns="13335" rIns="0" bIns="0" rtlCol="0">
            <a:spAutoFit/>
          </a:bodyPr>
          <a:lstStyle/>
          <a:p>
            <a:pPr marL="12700">
              <a:lnSpc>
                <a:spcPct val="100000"/>
              </a:lnSpc>
              <a:spcBef>
                <a:spcPts val="105"/>
              </a:spcBef>
            </a:pPr>
            <a:r>
              <a:rPr sz="4400" dirty="0"/>
              <a:t>Workflow</a:t>
            </a:r>
            <a:r>
              <a:rPr sz="4400" spc="-35" dirty="0"/>
              <a:t> </a:t>
            </a:r>
            <a:r>
              <a:rPr sz="4400" dirty="0"/>
              <a:t>of</a:t>
            </a:r>
            <a:r>
              <a:rPr sz="4400" spc="-5" dirty="0"/>
              <a:t> </a:t>
            </a:r>
            <a:r>
              <a:rPr sz="4400" dirty="0"/>
              <a:t>RP</a:t>
            </a:r>
            <a:r>
              <a:rPr sz="4400" spc="-20" dirty="0"/>
              <a:t> </a:t>
            </a:r>
            <a:r>
              <a:rPr sz="4400" spc="-10" dirty="0"/>
              <a:t>processes</a:t>
            </a:r>
            <a:endParaRPr sz="4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6478" y="1228299"/>
            <a:ext cx="8830101" cy="4167166"/>
          </a:xfrm>
          <a:prstGeom prst="rect">
            <a:avLst/>
          </a:prstGeom>
        </p:spPr>
        <p:txBody>
          <a:bodyPr vert="horz" wrap="square" lIns="0" tIns="12065" rIns="0" bIns="0" rtlCol="0">
            <a:spAutoFit/>
          </a:bodyPr>
          <a:lstStyle/>
          <a:p>
            <a:pPr marL="469265" marR="531495" indent="-457200">
              <a:lnSpc>
                <a:spcPct val="100000"/>
              </a:lnSpc>
              <a:spcBef>
                <a:spcPts val="95"/>
              </a:spcBef>
              <a:buFont typeface="Arial" panose="020B0604020202020204" pitchFamily="34" charset="0"/>
              <a:buChar char="•"/>
            </a:pPr>
            <a:r>
              <a:rPr sz="2600" spc="3825" dirty="0">
                <a:solidFill>
                  <a:srgbClr val="863623"/>
                </a:solidFill>
                <a:latin typeface="Book Antiqua" panose="02040602050305030304" pitchFamily="18" charset="0"/>
                <a:cs typeface="Wingdings"/>
              </a:rPr>
              <a:t></a:t>
            </a:r>
            <a:r>
              <a:rPr sz="2600" spc="95" dirty="0">
                <a:solidFill>
                  <a:srgbClr val="863623"/>
                </a:solidFill>
                <a:latin typeface="Book Antiqua" panose="02040602050305030304" pitchFamily="18" charset="0"/>
                <a:cs typeface="Times New Roman"/>
              </a:rPr>
              <a:t> </a:t>
            </a:r>
            <a:r>
              <a:rPr sz="2600" dirty="0">
                <a:solidFill>
                  <a:srgbClr val="252525"/>
                </a:solidFill>
                <a:latin typeface="Book Antiqua" panose="02040602050305030304" pitchFamily="18" charset="0"/>
                <a:cs typeface="P052"/>
              </a:rPr>
              <a:t>First,</a:t>
            </a:r>
            <a:r>
              <a:rPr sz="2600" spc="-20"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the</a:t>
            </a:r>
            <a:r>
              <a:rPr sz="2600" spc="-40"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object</a:t>
            </a:r>
            <a:r>
              <a:rPr sz="2600" spc="-30"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to</a:t>
            </a:r>
            <a:r>
              <a:rPr sz="2600" spc="-3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be</a:t>
            </a:r>
            <a:r>
              <a:rPr sz="2600" spc="-2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built</a:t>
            </a:r>
            <a:r>
              <a:rPr sz="2600" spc="-30"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is</a:t>
            </a:r>
            <a:r>
              <a:rPr sz="2600" spc="-1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modeled</a:t>
            </a:r>
            <a:r>
              <a:rPr sz="2600" spc="-30"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using</a:t>
            </a:r>
            <a:r>
              <a:rPr sz="2600" spc="-25" dirty="0">
                <a:solidFill>
                  <a:srgbClr val="252525"/>
                </a:solidFill>
                <a:latin typeface="Book Antiqua" panose="02040602050305030304" pitchFamily="18" charset="0"/>
                <a:cs typeface="P052"/>
              </a:rPr>
              <a:t> </a:t>
            </a:r>
            <a:r>
              <a:rPr sz="2600" spc="-50" dirty="0">
                <a:solidFill>
                  <a:srgbClr val="252525"/>
                </a:solidFill>
                <a:latin typeface="Book Antiqua" panose="02040602050305030304" pitchFamily="18" charset="0"/>
                <a:cs typeface="P052"/>
              </a:rPr>
              <a:t>a </a:t>
            </a:r>
            <a:r>
              <a:rPr sz="2600" spc="-20" dirty="0">
                <a:solidFill>
                  <a:srgbClr val="252525"/>
                </a:solidFill>
                <a:latin typeface="Book Antiqua" panose="02040602050305030304" pitchFamily="18" charset="0"/>
                <a:cs typeface="P052"/>
              </a:rPr>
              <a:t>Computer-</a:t>
            </a:r>
            <a:r>
              <a:rPr sz="2600" dirty="0">
                <a:solidFill>
                  <a:srgbClr val="252525"/>
                </a:solidFill>
                <a:latin typeface="Book Antiqua" panose="02040602050305030304" pitchFamily="18" charset="0"/>
                <a:cs typeface="P052"/>
              </a:rPr>
              <a:t>Aided</a:t>
            </a:r>
            <a:r>
              <a:rPr sz="2600" spc="-20"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Design</a:t>
            </a:r>
            <a:r>
              <a:rPr sz="2600" spc="-50"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(CAD)</a:t>
            </a:r>
            <a:r>
              <a:rPr sz="2600" spc="-3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software</a:t>
            </a:r>
            <a:r>
              <a:rPr sz="2600" spc="-45" dirty="0">
                <a:solidFill>
                  <a:srgbClr val="252525"/>
                </a:solidFill>
                <a:latin typeface="Book Antiqua" panose="02040602050305030304" pitchFamily="18" charset="0"/>
                <a:cs typeface="P052"/>
              </a:rPr>
              <a:t> </a:t>
            </a:r>
            <a:r>
              <a:rPr sz="2600" spc="-10" dirty="0">
                <a:solidFill>
                  <a:srgbClr val="252525"/>
                </a:solidFill>
                <a:latin typeface="Book Antiqua" panose="02040602050305030304" pitchFamily="18" charset="0"/>
                <a:cs typeface="P052"/>
              </a:rPr>
              <a:t>package.</a:t>
            </a:r>
            <a:endParaRPr sz="2600" dirty="0">
              <a:latin typeface="Book Antiqua" panose="02040602050305030304" pitchFamily="18" charset="0"/>
              <a:cs typeface="P052"/>
            </a:endParaRPr>
          </a:p>
          <a:p>
            <a:pPr marL="457200" indent="-457200">
              <a:lnSpc>
                <a:spcPct val="100000"/>
              </a:lnSpc>
              <a:spcBef>
                <a:spcPts val="635"/>
              </a:spcBef>
              <a:buFont typeface="Arial" panose="020B0604020202020204" pitchFamily="34" charset="0"/>
              <a:buChar char="•"/>
            </a:pPr>
            <a:endParaRPr sz="2600" dirty="0">
              <a:latin typeface="Book Antiqua" panose="02040602050305030304" pitchFamily="18" charset="0"/>
              <a:cs typeface="P052"/>
            </a:endParaRPr>
          </a:p>
          <a:p>
            <a:pPr marL="469265" marR="5080" indent="-457200" algn="just">
              <a:lnSpc>
                <a:spcPct val="100000"/>
              </a:lnSpc>
              <a:buFont typeface="Arial" panose="020B0604020202020204" pitchFamily="34" charset="0"/>
              <a:buChar char="•"/>
            </a:pPr>
            <a:r>
              <a:rPr sz="2600" dirty="0">
                <a:solidFill>
                  <a:srgbClr val="252525"/>
                </a:solidFill>
                <a:latin typeface="Book Antiqua" panose="02040602050305030304" pitchFamily="18" charset="0"/>
                <a:cs typeface="P052"/>
              </a:rPr>
              <a:t>Solid</a:t>
            </a:r>
            <a:r>
              <a:rPr sz="2600" spc="17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modelers,</a:t>
            </a:r>
            <a:r>
              <a:rPr sz="2600" spc="18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such</a:t>
            </a:r>
            <a:r>
              <a:rPr sz="2600" spc="18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as</a:t>
            </a:r>
            <a:r>
              <a:rPr sz="2600" spc="18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Pro/ENGINEER,</a:t>
            </a:r>
            <a:r>
              <a:rPr sz="2600" spc="185" dirty="0">
                <a:solidFill>
                  <a:srgbClr val="252525"/>
                </a:solidFill>
                <a:latin typeface="Book Antiqua" panose="02040602050305030304" pitchFamily="18" charset="0"/>
                <a:cs typeface="P052"/>
              </a:rPr>
              <a:t>  </a:t>
            </a:r>
            <a:r>
              <a:rPr sz="2600" spc="-35" dirty="0">
                <a:solidFill>
                  <a:srgbClr val="252525"/>
                </a:solidFill>
                <a:latin typeface="Book Antiqua" panose="02040602050305030304" pitchFamily="18" charset="0"/>
                <a:cs typeface="P052"/>
              </a:rPr>
              <a:t>tend </a:t>
            </a:r>
            <a:r>
              <a:rPr sz="2600" dirty="0">
                <a:solidFill>
                  <a:srgbClr val="252525"/>
                </a:solidFill>
                <a:latin typeface="Book Antiqua" panose="02040602050305030304" pitchFamily="18" charset="0"/>
                <a:cs typeface="P052"/>
              </a:rPr>
              <a:t>to</a:t>
            </a:r>
            <a:r>
              <a:rPr sz="2600" spc="-4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represent </a:t>
            </a:r>
            <a:r>
              <a:rPr sz="2600" spc="-10" dirty="0">
                <a:solidFill>
                  <a:srgbClr val="252525"/>
                </a:solidFill>
                <a:latin typeface="Book Antiqua" panose="02040602050305030304" pitchFamily="18" charset="0"/>
                <a:cs typeface="P052"/>
              </a:rPr>
              <a:t>3-</a:t>
            </a:r>
            <a:r>
              <a:rPr sz="2600" dirty="0">
                <a:solidFill>
                  <a:srgbClr val="252525"/>
                </a:solidFill>
                <a:latin typeface="Book Antiqua" panose="02040602050305030304" pitchFamily="18" charset="0"/>
                <a:cs typeface="P052"/>
              </a:rPr>
              <a:t>D objects more accurately than </a:t>
            </a:r>
            <a:r>
              <a:rPr sz="2600" spc="-10" dirty="0">
                <a:solidFill>
                  <a:srgbClr val="252525"/>
                </a:solidFill>
                <a:latin typeface="Book Antiqua" panose="02040602050305030304" pitchFamily="18" charset="0"/>
                <a:cs typeface="P052"/>
              </a:rPr>
              <a:t>wire-</a:t>
            </a:r>
            <a:r>
              <a:rPr sz="2600" dirty="0">
                <a:solidFill>
                  <a:srgbClr val="252525"/>
                </a:solidFill>
                <a:latin typeface="Book Antiqua" panose="02040602050305030304" pitchFamily="18" charset="0"/>
                <a:cs typeface="P052"/>
              </a:rPr>
              <a:t>frame</a:t>
            </a:r>
            <a:r>
              <a:rPr sz="2600" spc="-4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modelers</a:t>
            </a:r>
            <a:r>
              <a:rPr sz="2600" spc="27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such</a:t>
            </a:r>
            <a:r>
              <a:rPr sz="2600" spc="27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as</a:t>
            </a:r>
            <a:r>
              <a:rPr sz="2600" spc="27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AutoCAD,</a:t>
            </a:r>
            <a:r>
              <a:rPr sz="2600" spc="27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and</a:t>
            </a:r>
            <a:r>
              <a:rPr sz="2600" spc="270" dirty="0">
                <a:solidFill>
                  <a:srgbClr val="252525"/>
                </a:solidFill>
                <a:latin typeface="Book Antiqua" panose="02040602050305030304" pitchFamily="18" charset="0"/>
                <a:cs typeface="P052"/>
              </a:rPr>
              <a:t> </a:t>
            </a:r>
            <a:r>
              <a:rPr sz="2600" spc="-20" dirty="0">
                <a:solidFill>
                  <a:srgbClr val="252525"/>
                </a:solidFill>
                <a:latin typeface="Book Antiqua" panose="02040602050305030304" pitchFamily="18" charset="0"/>
                <a:cs typeface="P052"/>
              </a:rPr>
              <a:t>will</a:t>
            </a:r>
            <a:r>
              <a:rPr sz="2600" spc="550"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therefore</a:t>
            </a:r>
            <a:r>
              <a:rPr sz="2600" spc="270"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yield</a:t>
            </a:r>
            <a:r>
              <a:rPr sz="2600" spc="-50"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better</a:t>
            </a:r>
            <a:r>
              <a:rPr sz="2600" spc="-50" dirty="0">
                <a:solidFill>
                  <a:srgbClr val="252525"/>
                </a:solidFill>
                <a:latin typeface="Book Antiqua" panose="02040602050305030304" pitchFamily="18" charset="0"/>
                <a:cs typeface="P052"/>
              </a:rPr>
              <a:t> </a:t>
            </a:r>
            <a:r>
              <a:rPr sz="2600" spc="-10" dirty="0">
                <a:solidFill>
                  <a:srgbClr val="252525"/>
                </a:solidFill>
                <a:latin typeface="Book Antiqua" panose="02040602050305030304" pitchFamily="18" charset="0"/>
                <a:cs typeface="P052"/>
              </a:rPr>
              <a:t>results.</a:t>
            </a:r>
            <a:endParaRPr sz="2600" dirty="0">
              <a:latin typeface="Book Antiqua" panose="02040602050305030304" pitchFamily="18" charset="0"/>
              <a:cs typeface="P052"/>
            </a:endParaRPr>
          </a:p>
          <a:p>
            <a:pPr marL="457200" indent="-457200">
              <a:lnSpc>
                <a:spcPct val="100000"/>
              </a:lnSpc>
              <a:spcBef>
                <a:spcPts val="635"/>
              </a:spcBef>
              <a:buFont typeface="Arial" panose="020B0604020202020204" pitchFamily="34" charset="0"/>
              <a:buChar char="•"/>
            </a:pPr>
            <a:endParaRPr sz="2600" dirty="0">
              <a:latin typeface="Book Antiqua" panose="02040602050305030304" pitchFamily="18" charset="0"/>
              <a:cs typeface="P052"/>
            </a:endParaRPr>
          </a:p>
          <a:p>
            <a:pPr marL="469265" marR="1139825" indent="-457200">
              <a:lnSpc>
                <a:spcPct val="100000"/>
              </a:lnSpc>
              <a:buFont typeface="Arial" panose="020B0604020202020204" pitchFamily="34" charset="0"/>
              <a:buChar char="•"/>
            </a:pPr>
            <a:r>
              <a:rPr sz="2600" dirty="0">
                <a:solidFill>
                  <a:srgbClr val="252525"/>
                </a:solidFill>
                <a:latin typeface="Book Antiqua" panose="02040602050305030304" pitchFamily="18" charset="0"/>
                <a:cs typeface="P052"/>
              </a:rPr>
              <a:t>This</a:t>
            </a:r>
            <a:r>
              <a:rPr sz="2600" spc="-1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process</a:t>
            </a:r>
            <a:r>
              <a:rPr sz="2600" spc="-10"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is</a:t>
            </a:r>
            <a:r>
              <a:rPr sz="2600" spc="-2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identical</a:t>
            </a:r>
            <a:r>
              <a:rPr sz="2600" spc="-3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for</a:t>
            </a:r>
            <a:r>
              <a:rPr sz="2600" spc="-20"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all</a:t>
            </a:r>
            <a:r>
              <a:rPr sz="2600" spc="-25"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of</a:t>
            </a:r>
            <a:r>
              <a:rPr sz="2600" spc="-20" dirty="0">
                <a:solidFill>
                  <a:srgbClr val="252525"/>
                </a:solidFill>
                <a:latin typeface="Book Antiqua" panose="02040602050305030304" pitchFamily="18" charset="0"/>
                <a:cs typeface="P052"/>
              </a:rPr>
              <a:t> </a:t>
            </a:r>
            <a:r>
              <a:rPr sz="2600" dirty="0">
                <a:solidFill>
                  <a:srgbClr val="252525"/>
                </a:solidFill>
                <a:latin typeface="Book Antiqua" panose="02040602050305030304" pitchFamily="18" charset="0"/>
                <a:cs typeface="P052"/>
              </a:rPr>
              <a:t>the</a:t>
            </a:r>
            <a:r>
              <a:rPr sz="2600" spc="-45" dirty="0">
                <a:solidFill>
                  <a:srgbClr val="252525"/>
                </a:solidFill>
                <a:latin typeface="Book Antiqua" panose="02040602050305030304" pitchFamily="18" charset="0"/>
                <a:cs typeface="P052"/>
              </a:rPr>
              <a:t> </a:t>
            </a:r>
            <a:r>
              <a:rPr sz="2600" spc="-25" dirty="0">
                <a:solidFill>
                  <a:srgbClr val="252525"/>
                </a:solidFill>
                <a:latin typeface="Book Antiqua" panose="02040602050305030304" pitchFamily="18" charset="0"/>
                <a:cs typeface="P052"/>
              </a:rPr>
              <a:t>RP</a:t>
            </a:r>
            <a:r>
              <a:rPr sz="2600" spc="550" dirty="0">
                <a:solidFill>
                  <a:srgbClr val="252525"/>
                </a:solidFill>
                <a:latin typeface="Book Antiqua" panose="02040602050305030304" pitchFamily="18" charset="0"/>
                <a:cs typeface="P052"/>
              </a:rPr>
              <a:t> </a:t>
            </a:r>
            <a:r>
              <a:rPr sz="2600" spc="-775" dirty="0">
                <a:solidFill>
                  <a:srgbClr val="252525"/>
                </a:solidFill>
                <a:latin typeface="Book Antiqua" panose="02040602050305030304" pitchFamily="18" charset="0"/>
                <a:cs typeface="P052"/>
              </a:rPr>
              <a:t>build</a:t>
            </a:r>
            <a:r>
              <a:rPr sz="2600" spc="10" dirty="0">
                <a:solidFill>
                  <a:srgbClr val="252525"/>
                </a:solidFill>
                <a:latin typeface="Book Antiqua" panose="02040602050305030304" pitchFamily="18" charset="0"/>
                <a:cs typeface="P052"/>
              </a:rPr>
              <a:t> </a:t>
            </a:r>
            <a:r>
              <a:rPr sz="2600" spc="-10" dirty="0">
                <a:solidFill>
                  <a:srgbClr val="252525"/>
                </a:solidFill>
                <a:latin typeface="Book Antiqua" panose="02040602050305030304" pitchFamily="18" charset="0"/>
                <a:cs typeface="P052"/>
              </a:rPr>
              <a:t>techniques.</a:t>
            </a:r>
            <a:endParaRPr sz="2600" dirty="0">
              <a:latin typeface="Book Antiqua" panose="02040602050305030304" pitchFamily="18" charset="0"/>
              <a:cs typeface="P052"/>
            </a:endParaRPr>
          </a:p>
        </p:txBody>
      </p:sp>
      <p:sp>
        <p:nvSpPr>
          <p:cNvPr id="3" name="object 3"/>
          <p:cNvSpPr txBox="1">
            <a:spLocks noGrp="1"/>
          </p:cNvSpPr>
          <p:nvPr>
            <p:ph type="title"/>
          </p:nvPr>
        </p:nvSpPr>
        <p:spPr>
          <a:xfrm>
            <a:off x="1023582" y="328244"/>
            <a:ext cx="6746278" cy="1616661"/>
          </a:xfrm>
          <a:prstGeom prst="rect">
            <a:avLst/>
          </a:prstGeom>
        </p:spPr>
        <p:txBody>
          <a:bodyPr vert="horz" wrap="square" lIns="0" tIns="12700" rIns="0" bIns="0" rtlCol="0">
            <a:spAutoFit/>
          </a:bodyPr>
          <a:lstStyle/>
          <a:p>
            <a:pPr marL="12700">
              <a:lnSpc>
                <a:spcPts val="5760"/>
              </a:lnSpc>
              <a:spcBef>
                <a:spcPts val="100"/>
              </a:spcBef>
              <a:tabLst>
                <a:tab pos="621665" algn="l"/>
                <a:tab pos="4055745" algn="l"/>
              </a:tabLst>
            </a:pPr>
            <a:r>
              <a:rPr sz="4800" b="0" spc="-25" dirty="0">
                <a:latin typeface="P052"/>
                <a:cs typeface="P052"/>
              </a:rPr>
              <a:t>1.</a:t>
            </a:r>
            <a:r>
              <a:rPr sz="4800" b="0" dirty="0">
                <a:latin typeface="P052"/>
                <a:cs typeface="P052"/>
              </a:rPr>
              <a:t>	CAD</a:t>
            </a:r>
            <a:r>
              <a:rPr sz="4800" b="0" spc="-15" dirty="0">
                <a:latin typeface="P052"/>
                <a:cs typeface="P052"/>
              </a:rPr>
              <a:t> </a:t>
            </a:r>
            <a:r>
              <a:rPr sz="4800" b="0" spc="-10" dirty="0">
                <a:latin typeface="P052"/>
                <a:cs typeface="P052"/>
              </a:rPr>
              <a:t>Model</a:t>
            </a:r>
            <a:r>
              <a:rPr sz="4800" b="0" dirty="0">
                <a:latin typeface="P052"/>
                <a:cs typeface="P052"/>
              </a:rPr>
              <a:t>	</a:t>
            </a:r>
            <a:r>
              <a:rPr sz="4800" b="0" spc="-10" dirty="0">
                <a:latin typeface="P052"/>
                <a:cs typeface="P052"/>
              </a:rPr>
              <a:t>Creation</a:t>
            </a:r>
            <a:endParaRPr lang="en-US" sz="4800" b="0" spc="-10" dirty="0">
              <a:latin typeface="P052"/>
              <a:cs typeface="P052"/>
            </a:endParaRPr>
          </a:p>
          <a:p>
            <a:pPr marL="29209" algn="ctr">
              <a:lnSpc>
                <a:spcPts val="6480"/>
              </a:lnSpc>
            </a:pPr>
            <a:endParaRPr lang="en-US" sz="5400" dirty="0">
              <a:latin typeface="Wingdings"/>
              <a:cs typeface="Wingding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0739" y="2223642"/>
            <a:ext cx="7580630" cy="3890168"/>
          </a:xfrm>
          <a:prstGeom prst="rect">
            <a:avLst/>
          </a:prstGeom>
        </p:spPr>
        <p:txBody>
          <a:bodyPr vert="horz" wrap="square" lIns="0" tIns="12065" rIns="0" bIns="0" rtlCol="0">
            <a:spAutoFit/>
          </a:bodyPr>
          <a:lstStyle/>
          <a:p>
            <a:pPr marL="378460" marR="5080" indent="-366395" algn="just">
              <a:lnSpc>
                <a:spcPct val="100000"/>
              </a:lnSpc>
              <a:spcBef>
                <a:spcPts val="95"/>
              </a:spcBef>
            </a:pPr>
            <a:r>
              <a:rPr sz="2200" spc="3825" dirty="0">
                <a:solidFill>
                  <a:srgbClr val="863623"/>
                </a:solidFill>
                <a:latin typeface="Wingdings"/>
                <a:cs typeface="Wingdings"/>
              </a:rPr>
              <a:t></a:t>
            </a:r>
            <a:r>
              <a:rPr sz="2200" spc="90" dirty="0">
                <a:solidFill>
                  <a:srgbClr val="863623"/>
                </a:solidFill>
                <a:latin typeface="Times New Roman"/>
                <a:cs typeface="Times New Roman"/>
              </a:rPr>
              <a:t> </a:t>
            </a:r>
            <a:r>
              <a:rPr sz="2200" dirty="0">
                <a:solidFill>
                  <a:srgbClr val="252525"/>
                </a:solidFill>
                <a:latin typeface="P052"/>
                <a:cs typeface="P052"/>
              </a:rPr>
              <a:t>To</a:t>
            </a:r>
            <a:r>
              <a:rPr sz="2200" spc="-30" dirty="0">
                <a:solidFill>
                  <a:srgbClr val="252525"/>
                </a:solidFill>
                <a:latin typeface="P052"/>
                <a:cs typeface="P052"/>
              </a:rPr>
              <a:t> </a:t>
            </a:r>
            <a:r>
              <a:rPr sz="2200" dirty="0">
                <a:solidFill>
                  <a:srgbClr val="252525"/>
                </a:solidFill>
                <a:latin typeface="P052"/>
                <a:cs typeface="P052"/>
              </a:rPr>
              <a:t>establish</a:t>
            </a:r>
            <a:r>
              <a:rPr sz="2200" spc="-40" dirty="0">
                <a:solidFill>
                  <a:srgbClr val="252525"/>
                </a:solidFill>
                <a:latin typeface="P052"/>
                <a:cs typeface="P052"/>
              </a:rPr>
              <a:t> </a:t>
            </a:r>
            <a:r>
              <a:rPr sz="2200" dirty="0">
                <a:solidFill>
                  <a:srgbClr val="252525"/>
                </a:solidFill>
                <a:latin typeface="P052"/>
                <a:cs typeface="P052"/>
              </a:rPr>
              <a:t>consistency,</a:t>
            </a:r>
            <a:r>
              <a:rPr sz="2200" spc="-35" dirty="0">
                <a:solidFill>
                  <a:srgbClr val="252525"/>
                </a:solidFill>
                <a:latin typeface="P052"/>
                <a:cs typeface="P052"/>
              </a:rPr>
              <a:t> </a:t>
            </a:r>
            <a:r>
              <a:rPr sz="2200" dirty="0">
                <a:solidFill>
                  <a:srgbClr val="252525"/>
                </a:solidFill>
                <a:latin typeface="P052"/>
                <a:cs typeface="P052"/>
              </a:rPr>
              <a:t>the</a:t>
            </a:r>
            <a:r>
              <a:rPr sz="2200" spc="-55" dirty="0">
                <a:solidFill>
                  <a:srgbClr val="252525"/>
                </a:solidFill>
                <a:latin typeface="P052"/>
                <a:cs typeface="P052"/>
              </a:rPr>
              <a:t> </a:t>
            </a:r>
            <a:r>
              <a:rPr sz="2200" dirty="0">
                <a:solidFill>
                  <a:srgbClr val="252525"/>
                </a:solidFill>
                <a:latin typeface="P052"/>
                <a:cs typeface="P052"/>
              </a:rPr>
              <a:t>STL</a:t>
            </a:r>
            <a:r>
              <a:rPr sz="2200" spc="-20" dirty="0">
                <a:solidFill>
                  <a:srgbClr val="252525"/>
                </a:solidFill>
                <a:latin typeface="P052"/>
                <a:cs typeface="P052"/>
              </a:rPr>
              <a:t> </a:t>
            </a:r>
            <a:r>
              <a:rPr sz="2200" dirty="0">
                <a:solidFill>
                  <a:srgbClr val="252525"/>
                </a:solidFill>
                <a:latin typeface="P052"/>
                <a:cs typeface="P052"/>
              </a:rPr>
              <a:t>format</a:t>
            </a:r>
            <a:r>
              <a:rPr sz="2200" spc="-30" dirty="0">
                <a:solidFill>
                  <a:srgbClr val="252525"/>
                </a:solidFill>
                <a:latin typeface="P052"/>
                <a:cs typeface="P052"/>
              </a:rPr>
              <a:t> </a:t>
            </a:r>
            <a:r>
              <a:rPr sz="2200" dirty="0">
                <a:solidFill>
                  <a:srgbClr val="252525"/>
                </a:solidFill>
                <a:latin typeface="P052"/>
                <a:cs typeface="P052"/>
              </a:rPr>
              <a:t>has</a:t>
            </a:r>
            <a:r>
              <a:rPr sz="2200" spc="-30" dirty="0">
                <a:solidFill>
                  <a:srgbClr val="252525"/>
                </a:solidFill>
                <a:latin typeface="P052"/>
                <a:cs typeface="P052"/>
              </a:rPr>
              <a:t> </a:t>
            </a:r>
            <a:r>
              <a:rPr sz="2200" dirty="0">
                <a:solidFill>
                  <a:srgbClr val="252525"/>
                </a:solidFill>
                <a:latin typeface="P052"/>
                <a:cs typeface="P052"/>
              </a:rPr>
              <a:t>been</a:t>
            </a:r>
            <a:r>
              <a:rPr sz="2200" spc="-45" dirty="0">
                <a:solidFill>
                  <a:srgbClr val="252525"/>
                </a:solidFill>
                <a:latin typeface="P052"/>
                <a:cs typeface="P052"/>
              </a:rPr>
              <a:t> </a:t>
            </a:r>
            <a:r>
              <a:rPr sz="2200" spc="-570" dirty="0">
                <a:solidFill>
                  <a:srgbClr val="252525"/>
                </a:solidFill>
                <a:latin typeface="P052"/>
                <a:cs typeface="P052"/>
              </a:rPr>
              <a:t>adopted</a:t>
            </a:r>
            <a:r>
              <a:rPr sz="2200" dirty="0">
                <a:solidFill>
                  <a:srgbClr val="252525"/>
                </a:solidFill>
                <a:latin typeface="P052"/>
                <a:cs typeface="P052"/>
              </a:rPr>
              <a:t> as</a:t>
            </a:r>
            <a:r>
              <a:rPr sz="2200" spc="-25" dirty="0">
                <a:solidFill>
                  <a:srgbClr val="252525"/>
                </a:solidFill>
                <a:latin typeface="P052"/>
                <a:cs typeface="P052"/>
              </a:rPr>
              <a:t> </a:t>
            </a:r>
            <a:r>
              <a:rPr sz="2200" dirty="0">
                <a:solidFill>
                  <a:srgbClr val="252525"/>
                </a:solidFill>
                <a:latin typeface="P052"/>
                <a:cs typeface="P052"/>
              </a:rPr>
              <a:t>the</a:t>
            </a:r>
            <a:r>
              <a:rPr sz="2200" spc="-45" dirty="0">
                <a:solidFill>
                  <a:srgbClr val="252525"/>
                </a:solidFill>
                <a:latin typeface="P052"/>
                <a:cs typeface="P052"/>
              </a:rPr>
              <a:t> </a:t>
            </a:r>
            <a:r>
              <a:rPr sz="2200" dirty="0">
                <a:solidFill>
                  <a:srgbClr val="252525"/>
                </a:solidFill>
                <a:latin typeface="P052"/>
                <a:cs typeface="P052"/>
              </a:rPr>
              <a:t>standard</a:t>
            </a:r>
            <a:r>
              <a:rPr sz="2200" spc="-45" dirty="0">
                <a:solidFill>
                  <a:srgbClr val="252525"/>
                </a:solidFill>
                <a:latin typeface="P052"/>
                <a:cs typeface="P052"/>
              </a:rPr>
              <a:t> </a:t>
            </a:r>
            <a:r>
              <a:rPr sz="2200" dirty="0">
                <a:solidFill>
                  <a:srgbClr val="252525"/>
                </a:solidFill>
                <a:latin typeface="P052"/>
                <a:cs typeface="P052"/>
              </a:rPr>
              <a:t>of</a:t>
            </a:r>
            <a:r>
              <a:rPr sz="2200" spc="-20" dirty="0">
                <a:solidFill>
                  <a:srgbClr val="252525"/>
                </a:solidFill>
                <a:latin typeface="P052"/>
                <a:cs typeface="P052"/>
              </a:rPr>
              <a:t> </a:t>
            </a:r>
            <a:r>
              <a:rPr sz="2200" dirty="0">
                <a:solidFill>
                  <a:srgbClr val="252525"/>
                </a:solidFill>
                <a:latin typeface="P052"/>
                <a:cs typeface="P052"/>
              </a:rPr>
              <a:t>the</a:t>
            </a:r>
            <a:r>
              <a:rPr sz="2200" spc="-45" dirty="0">
                <a:solidFill>
                  <a:srgbClr val="252525"/>
                </a:solidFill>
                <a:latin typeface="P052"/>
                <a:cs typeface="P052"/>
              </a:rPr>
              <a:t> </a:t>
            </a:r>
            <a:r>
              <a:rPr sz="2200" dirty="0">
                <a:solidFill>
                  <a:srgbClr val="252525"/>
                </a:solidFill>
                <a:latin typeface="P052"/>
                <a:cs typeface="P052"/>
              </a:rPr>
              <a:t>rapid</a:t>
            </a:r>
            <a:r>
              <a:rPr sz="2200" spc="-20" dirty="0">
                <a:solidFill>
                  <a:srgbClr val="252525"/>
                </a:solidFill>
                <a:latin typeface="P052"/>
                <a:cs typeface="P052"/>
              </a:rPr>
              <a:t> </a:t>
            </a:r>
            <a:r>
              <a:rPr sz="2200" spc="-10" dirty="0">
                <a:solidFill>
                  <a:srgbClr val="252525"/>
                </a:solidFill>
                <a:latin typeface="P052"/>
                <a:cs typeface="P052"/>
              </a:rPr>
              <a:t>prototyping</a:t>
            </a:r>
            <a:r>
              <a:rPr sz="2200" spc="-25" dirty="0">
                <a:solidFill>
                  <a:srgbClr val="252525"/>
                </a:solidFill>
                <a:latin typeface="P052"/>
                <a:cs typeface="P052"/>
              </a:rPr>
              <a:t> </a:t>
            </a:r>
            <a:r>
              <a:rPr sz="2200" spc="-10" dirty="0">
                <a:solidFill>
                  <a:srgbClr val="252525"/>
                </a:solidFill>
                <a:latin typeface="P052"/>
                <a:cs typeface="P052"/>
              </a:rPr>
              <a:t>industry.</a:t>
            </a:r>
            <a:endParaRPr sz="2200" dirty="0">
              <a:latin typeface="P052"/>
              <a:cs typeface="P052"/>
            </a:endParaRPr>
          </a:p>
          <a:p>
            <a:pPr algn="just">
              <a:lnSpc>
                <a:spcPct val="100000"/>
              </a:lnSpc>
              <a:spcBef>
                <a:spcPts val="630"/>
              </a:spcBef>
            </a:pPr>
            <a:endParaRPr sz="2200" dirty="0">
              <a:latin typeface="P052"/>
              <a:cs typeface="P052"/>
            </a:endParaRPr>
          </a:p>
          <a:p>
            <a:pPr marL="378460" marR="128270" indent="-366395" algn="just">
              <a:lnSpc>
                <a:spcPct val="100000"/>
              </a:lnSpc>
              <a:spcBef>
                <a:spcPts val="5"/>
              </a:spcBef>
            </a:pPr>
            <a:r>
              <a:rPr sz="2200" spc="3825" dirty="0">
                <a:solidFill>
                  <a:srgbClr val="863623"/>
                </a:solidFill>
                <a:latin typeface="Wingdings"/>
                <a:cs typeface="Wingdings"/>
              </a:rPr>
              <a:t></a:t>
            </a:r>
            <a:r>
              <a:rPr sz="2200" spc="100" dirty="0">
                <a:solidFill>
                  <a:srgbClr val="863623"/>
                </a:solidFill>
                <a:latin typeface="Times New Roman"/>
                <a:cs typeface="Times New Roman"/>
              </a:rPr>
              <a:t> </a:t>
            </a:r>
            <a:r>
              <a:rPr sz="2200" dirty="0">
                <a:solidFill>
                  <a:srgbClr val="252525"/>
                </a:solidFill>
                <a:latin typeface="P052"/>
                <a:cs typeface="P052"/>
              </a:rPr>
              <a:t>The</a:t>
            </a:r>
            <a:r>
              <a:rPr sz="2200" spc="-30" dirty="0">
                <a:solidFill>
                  <a:srgbClr val="252525"/>
                </a:solidFill>
                <a:latin typeface="P052"/>
                <a:cs typeface="P052"/>
              </a:rPr>
              <a:t> </a:t>
            </a:r>
            <a:r>
              <a:rPr sz="2200" dirty="0">
                <a:solidFill>
                  <a:srgbClr val="252525"/>
                </a:solidFill>
                <a:latin typeface="P052"/>
                <a:cs typeface="P052"/>
              </a:rPr>
              <a:t>second</a:t>
            </a:r>
            <a:r>
              <a:rPr sz="2200" spc="-25" dirty="0">
                <a:solidFill>
                  <a:srgbClr val="252525"/>
                </a:solidFill>
                <a:latin typeface="P052"/>
                <a:cs typeface="P052"/>
              </a:rPr>
              <a:t> </a:t>
            </a:r>
            <a:r>
              <a:rPr sz="2200" dirty="0">
                <a:solidFill>
                  <a:srgbClr val="252525"/>
                </a:solidFill>
                <a:latin typeface="P052"/>
                <a:cs typeface="P052"/>
              </a:rPr>
              <a:t>step,</a:t>
            </a:r>
            <a:r>
              <a:rPr sz="2200" spc="-30" dirty="0">
                <a:solidFill>
                  <a:srgbClr val="252525"/>
                </a:solidFill>
                <a:latin typeface="P052"/>
                <a:cs typeface="P052"/>
              </a:rPr>
              <a:t> </a:t>
            </a:r>
            <a:r>
              <a:rPr sz="2200" dirty="0">
                <a:solidFill>
                  <a:srgbClr val="252525"/>
                </a:solidFill>
                <a:latin typeface="P052"/>
                <a:cs typeface="P052"/>
              </a:rPr>
              <a:t>therefore,</a:t>
            </a:r>
            <a:r>
              <a:rPr sz="2200" spc="-30" dirty="0">
                <a:solidFill>
                  <a:srgbClr val="252525"/>
                </a:solidFill>
                <a:latin typeface="P052"/>
                <a:cs typeface="P052"/>
              </a:rPr>
              <a:t> </a:t>
            </a:r>
            <a:r>
              <a:rPr sz="2200" dirty="0">
                <a:solidFill>
                  <a:srgbClr val="252525"/>
                </a:solidFill>
                <a:latin typeface="P052"/>
                <a:cs typeface="P052"/>
              </a:rPr>
              <a:t>is</a:t>
            </a:r>
            <a:r>
              <a:rPr sz="2200" spc="-25" dirty="0">
                <a:solidFill>
                  <a:srgbClr val="252525"/>
                </a:solidFill>
                <a:latin typeface="P052"/>
                <a:cs typeface="P052"/>
              </a:rPr>
              <a:t> </a:t>
            </a:r>
            <a:r>
              <a:rPr sz="2200" dirty="0">
                <a:solidFill>
                  <a:srgbClr val="252525"/>
                </a:solidFill>
                <a:latin typeface="P052"/>
                <a:cs typeface="P052"/>
              </a:rPr>
              <a:t>to</a:t>
            </a:r>
            <a:r>
              <a:rPr sz="2200" spc="-30" dirty="0">
                <a:solidFill>
                  <a:srgbClr val="252525"/>
                </a:solidFill>
                <a:latin typeface="P052"/>
                <a:cs typeface="P052"/>
              </a:rPr>
              <a:t> </a:t>
            </a:r>
            <a:r>
              <a:rPr sz="2200" dirty="0">
                <a:solidFill>
                  <a:srgbClr val="252525"/>
                </a:solidFill>
                <a:latin typeface="P052"/>
                <a:cs typeface="P052"/>
              </a:rPr>
              <a:t>convert</a:t>
            </a:r>
            <a:r>
              <a:rPr sz="2200" spc="-35" dirty="0">
                <a:solidFill>
                  <a:srgbClr val="252525"/>
                </a:solidFill>
                <a:latin typeface="P052"/>
                <a:cs typeface="P052"/>
              </a:rPr>
              <a:t> </a:t>
            </a:r>
            <a:r>
              <a:rPr sz="2200" dirty="0">
                <a:solidFill>
                  <a:srgbClr val="252525"/>
                </a:solidFill>
                <a:latin typeface="P052"/>
                <a:cs typeface="P052"/>
              </a:rPr>
              <a:t>the</a:t>
            </a:r>
            <a:r>
              <a:rPr sz="2200" spc="-40" dirty="0">
                <a:solidFill>
                  <a:srgbClr val="252525"/>
                </a:solidFill>
                <a:latin typeface="P052"/>
                <a:cs typeface="P052"/>
              </a:rPr>
              <a:t> </a:t>
            </a:r>
            <a:r>
              <a:rPr sz="2200" dirty="0">
                <a:solidFill>
                  <a:srgbClr val="252525"/>
                </a:solidFill>
                <a:latin typeface="P052"/>
                <a:cs typeface="P052"/>
              </a:rPr>
              <a:t>CAD</a:t>
            </a:r>
            <a:r>
              <a:rPr sz="2200" spc="-20" dirty="0">
                <a:solidFill>
                  <a:srgbClr val="252525"/>
                </a:solidFill>
                <a:latin typeface="P052"/>
                <a:cs typeface="P052"/>
              </a:rPr>
              <a:t> file</a:t>
            </a:r>
            <a:r>
              <a:rPr sz="2200" spc="550" dirty="0">
                <a:solidFill>
                  <a:srgbClr val="252525"/>
                </a:solidFill>
                <a:latin typeface="P052"/>
                <a:cs typeface="P052"/>
              </a:rPr>
              <a:t> </a:t>
            </a:r>
            <a:r>
              <a:rPr sz="2200" spc="-955" dirty="0">
                <a:solidFill>
                  <a:srgbClr val="252525"/>
                </a:solidFill>
                <a:latin typeface="P052"/>
                <a:cs typeface="P052"/>
              </a:rPr>
              <a:t>into</a:t>
            </a:r>
            <a:r>
              <a:rPr lang="en-US" sz="2200" dirty="0">
                <a:solidFill>
                  <a:srgbClr val="252525"/>
                </a:solidFill>
                <a:latin typeface="P052"/>
                <a:cs typeface="P052"/>
              </a:rPr>
              <a:t> S</a:t>
            </a:r>
            <a:r>
              <a:rPr sz="2200" dirty="0">
                <a:solidFill>
                  <a:srgbClr val="252525"/>
                </a:solidFill>
                <a:latin typeface="P052"/>
                <a:cs typeface="P052"/>
              </a:rPr>
              <a:t>TL</a:t>
            </a:r>
            <a:r>
              <a:rPr sz="2200" spc="-55" dirty="0">
                <a:solidFill>
                  <a:srgbClr val="252525"/>
                </a:solidFill>
                <a:latin typeface="P052"/>
                <a:cs typeface="P052"/>
              </a:rPr>
              <a:t> </a:t>
            </a:r>
            <a:r>
              <a:rPr sz="2200" dirty="0">
                <a:solidFill>
                  <a:srgbClr val="252525"/>
                </a:solidFill>
                <a:latin typeface="P052"/>
                <a:cs typeface="P052"/>
              </a:rPr>
              <a:t>format.</a:t>
            </a:r>
            <a:r>
              <a:rPr sz="2200" spc="-40" dirty="0">
                <a:solidFill>
                  <a:srgbClr val="252525"/>
                </a:solidFill>
                <a:latin typeface="P052"/>
                <a:cs typeface="P052"/>
              </a:rPr>
              <a:t> </a:t>
            </a:r>
            <a:r>
              <a:rPr sz="2200" dirty="0">
                <a:solidFill>
                  <a:srgbClr val="252525"/>
                </a:solidFill>
                <a:latin typeface="P052"/>
                <a:cs typeface="P052"/>
              </a:rPr>
              <a:t>This</a:t>
            </a:r>
            <a:r>
              <a:rPr sz="2200" spc="-25" dirty="0">
                <a:solidFill>
                  <a:srgbClr val="252525"/>
                </a:solidFill>
                <a:latin typeface="P052"/>
                <a:cs typeface="P052"/>
              </a:rPr>
              <a:t> </a:t>
            </a:r>
            <a:r>
              <a:rPr sz="2200" dirty="0">
                <a:solidFill>
                  <a:srgbClr val="252525"/>
                </a:solidFill>
                <a:latin typeface="P052"/>
                <a:cs typeface="P052"/>
              </a:rPr>
              <a:t>format</a:t>
            </a:r>
            <a:r>
              <a:rPr sz="2200" spc="-30" dirty="0">
                <a:solidFill>
                  <a:srgbClr val="252525"/>
                </a:solidFill>
                <a:latin typeface="P052"/>
                <a:cs typeface="P052"/>
              </a:rPr>
              <a:t> </a:t>
            </a:r>
            <a:r>
              <a:rPr sz="2200" dirty="0">
                <a:solidFill>
                  <a:srgbClr val="252525"/>
                </a:solidFill>
                <a:latin typeface="P052"/>
                <a:cs typeface="P052"/>
              </a:rPr>
              <a:t>represents</a:t>
            </a:r>
            <a:r>
              <a:rPr sz="2200" spc="-35" dirty="0">
                <a:solidFill>
                  <a:srgbClr val="252525"/>
                </a:solidFill>
                <a:latin typeface="P052"/>
                <a:cs typeface="P052"/>
              </a:rPr>
              <a:t> </a:t>
            </a:r>
            <a:r>
              <a:rPr sz="2200" dirty="0">
                <a:solidFill>
                  <a:srgbClr val="252525"/>
                </a:solidFill>
                <a:latin typeface="P052"/>
                <a:cs typeface="P052"/>
              </a:rPr>
              <a:t>a</a:t>
            </a:r>
            <a:r>
              <a:rPr sz="2200" spc="-35" dirty="0">
                <a:solidFill>
                  <a:srgbClr val="252525"/>
                </a:solidFill>
                <a:latin typeface="P052"/>
                <a:cs typeface="P052"/>
              </a:rPr>
              <a:t> </a:t>
            </a:r>
            <a:r>
              <a:rPr sz="2200" spc="-10" dirty="0">
                <a:solidFill>
                  <a:srgbClr val="252525"/>
                </a:solidFill>
                <a:latin typeface="P052"/>
                <a:cs typeface="P052"/>
              </a:rPr>
              <a:t>three-dimensional </a:t>
            </a:r>
            <a:r>
              <a:rPr sz="2200" dirty="0">
                <a:solidFill>
                  <a:srgbClr val="252525"/>
                </a:solidFill>
                <a:latin typeface="P052"/>
                <a:cs typeface="P052"/>
              </a:rPr>
              <a:t>surface</a:t>
            </a:r>
            <a:r>
              <a:rPr sz="2200" spc="-30" dirty="0">
                <a:solidFill>
                  <a:srgbClr val="252525"/>
                </a:solidFill>
                <a:latin typeface="P052"/>
                <a:cs typeface="P052"/>
              </a:rPr>
              <a:t> </a:t>
            </a:r>
            <a:r>
              <a:rPr sz="2200" dirty="0">
                <a:solidFill>
                  <a:srgbClr val="252525"/>
                </a:solidFill>
                <a:latin typeface="P052"/>
                <a:cs typeface="P052"/>
              </a:rPr>
              <a:t>as</a:t>
            </a:r>
            <a:r>
              <a:rPr sz="2200" spc="-35" dirty="0">
                <a:solidFill>
                  <a:srgbClr val="252525"/>
                </a:solidFill>
                <a:latin typeface="P052"/>
                <a:cs typeface="P052"/>
              </a:rPr>
              <a:t> </a:t>
            </a:r>
            <a:r>
              <a:rPr sz="2200" dirty="0">
                <a:solidFill>
                  <a:srgbClr val="252525"/>
                </a:solidFill>
                <a:latin typeface="P052"/>
                <a:cs typeface="P052"/>
              </a:rPr>
              <a:t>an</a:t>
            </a:r>
            <a:r>
              <a:rPr sz="2200" spc="-40" dirty="0">
                <a:solidFill>
                  <a:srgbClr val="252525"/>
                </a:solidFill>
                <a:latin typeface="P052"/>
                <a:cs typeface="P052"/>
              </a:rPr>
              <a:t> </a:t>
            </a:r>
            <a:r>
              <a:rPr sz="2200" dirty="0">
                <a:solidFill>
                  <a:srgbClr val="252525"/>
                </a:solidFill>
                <a:latin typeface="P052"/>
                <a:cs typeface="P052"/>
              </a:rPr>
              <a:t>assembly</a:t>
            </a:r>
            <a:r>
              <a:rPr sz="2200" spc="-45" dirty="0">
                <a:solidFill>
                  <a:srgbClr val="252525"/>
                </a:solidFill>
                <a:latin typeface="P052"/>
                <a:cs typeface="P052"/>
              </a:rPr>
              <a:t> </a:t>
            </a:r>
            <a:r>
              <a:rPr sz="2200" dirty="0">
                <a:solidFill>
                  <a:srgbClr val="252525"/>
                </a:solidFill>
                <a:latin typeface="P052"/>
                <a:cs typeface="P052"/>
              </a:rPr>
              <a:t>of</a:t>
            </a:r>
            <a:r>
              <a:rPr sz="2200" spc="-45" dirty="0">
                <a:solidFill>
                  <a:srgbClr val="252525"/>
                </a:solidFill>
                <a:latin typeface="P052"/>
                <a:cs typeface="P052"/>
              </a:rPr>
              <a:t> </a:t>
            </a:r>
            <a:r>
              <a:rPr sz="2200" dirty="0">
                <a:solidFill>
                  <a:srgbClr val="252525"/>
                </a:solidFill>
                <a:latin typeface="P052"/>
                <a:cs typeface="P052"/>
              </a:rPr>
              <a:t>planar</a:t>
            </a:r>
            <a:r>
              <a:rPr sz="2200" spc="-20" dirty="0">
                <a:solidFill>
                  <a:srgbClr val="252525"/>
                </a:solidFill>
                <a:latin typeface="P052"/>
                <a:cs typeface="P052"/>
              </a:rPr>
              <a:t> </a:t>
            </a:r>
            <a:r>
              <a:rPr sz="2200" spc="-10" dirty="0">
                <a:solidFill>
                  <a:srgbClr val="252525"/>
                </a:solidFill>
                <a:latin typeface="P052"/>
                <a:cs typeface="P052"/>
              </a:rPr>
              <a:t>triangles</a:t>
            </a:r>
            <a:endParaRPr sz="2200" dirty="0">
              <a:latin typeface="P052"/>
              <a:cs typeface="P052"/>
            </a:endParaRPr>
          </a:p>
          <a:p>
            <a:pPr algn="just">
              <a:lnSpc>
                <a:spcPct val="100000"/>
              </a:lnSpc>
              <a:spcBef>
                <a:spcPts val="635"/>
              </a:spcBef>
            </a:pPr>
            <a:endParaRPr sz="2200" dirty="0">
              <a:latin typeface="P052"/>
              <a:cs typeface="P052"/>
            </a:endParaRPr>
          </a:p>
          <a:p>
            <a:pPr marL="378460" marR="786765" indent="-366395" algn="just">
              <a:lnSpc>
                <a:spcPct val="100000"/>
              </a:lnSpc>
            </a:pPr>
            <a:r>
              <a:rPr sz="2200" spc="3825" dirty="0">
                <a:solidFill>
                  <a:srgbClr val="863623"/>
                </a:solidFill>
                <a:latin typeface="Wingdings"/>
                <a:cs typeface="Wingdings"/>
              </a:rPr>
              <a:t></a:t>
            </a:r>
            <a:r>
              <a:rPr sz="2200" spc="95" dirty="0">
                <a:solidFill>
                  <a:srgbClr val="863623"/>
                </a:solidFill>
                <a:latin typeface="Times New Roman"/>
                <a:cs typeface="Times New Roman"/>
              </a:rPr>
              <a:t> </a:t>
            </a:r>
            <a:r>
              <a:rPr sz="2200" dirty="0">
                <a:solidFill>
                  <a:srgbClr val="252525"/>
                </a:solidFill>
                <a:latin typeface="P052"/>
                <a:cs typeface="P052"/>
              </a:rPr>
              <a:t>STL</a:t>
            </a:r>
            <a:r>
              <a:rPr sz="2200" spc="-20" dirty="0">
                <a:solidFill>
                  <a:srgbClr val="252525"/>
                </a:solidFill>
                <a:latin typeface="P052"/>
                <a:cs typeface="P052"/>
              </a:rPr>
              <a:t> </a:t>
            </a:r>
            <a:r>
              <a:rPr sz="2200" dirty="0">
                <a:solidFill>
                  <a:srgbClr val="252525"/>
                </a:solidFill>
                <a:latin typeface="P052"/>
                <a:cs typeface="P052"/>
              </a:rPr>
              <a:t>files</a:t>
            </a:r>
            <a:r>
              <a:rPr sz="2200" spc="-30" dirty="0">
                <a:solidFill>
                  <a:srgbClr val="252525"/>
                </a:solidFill>
                <a:latin typeface="P052"/>
                <a:cs typeface="P052"/>
              </a:rPr>
              <a:t> </a:t>
            </a:r>
            <a:r>
              <a:rPr sz="2200" dirty="0">
                <a:solidFill>
                  <a:srgbClr val="252525"/>
                </a:solidFill>
                <a:latin typeface="P052"/>
                <a:cs typeface="P052"/>
              </a:rPr>
              <a:t>use</a:t>
            </a:r>
            <a:r>
              <a:rPr sz="2200" spc="-25" dirty="0">
                <a:solidFill>
                  <a:srgbClr val="252525"/>
                </a:solidFill>
                <a:latin typeface="P052"/>
                <a:cs typeface="P052"/>
              </a:rPr>
              <a:t> </a:t>
            </a:r>
            <a:r>
              <a:rPr sz="2200" dirty="0">
                <a:solidFill>
                  <a:srgbClr val="252525"/>
                </a:solidFill>
                <a:latin typeface="P052"/>
                <a:cs typeface="P052"/>
              </a:rPr>
              <a:t>planar</a:t>
            </a:r>
            <a:r>
              <a:rPr sz="2200" spc="-30" dirty="0">
                <a:solidFill>
                  <a:srgbClr val="252525"/>
                </a:solidFill>
                <a:latin typeface="P052"/>
                <a:cs typeface="P052"/>
              </a:rPr>
              <a:t> </a:t>
            </a:r>
            <a:r>
              <a:rPr sz="2200" dirty="0">
                <a:solidFill>
                  <a:srgbClr val="252525"/>
                </a:solidFill>
                <a:latin typeface="P052"/>
                <a:cs typeface="P052"/>
              </a:rPr>
              <a:t>elements,</a:t>
            </a:r>
            <a:r>
              <a:rPr sz="2200" spc="-60" dirty="0">
                <a:solidFill>
                  <a:srgbClr val="252525"/>
                </a:solidFill>
                <a:latin typeface="P052"/>
                <a:cs typeface="P052"/>
              </a:rPr>
              <a:t> </a:t>
            </a:r>
            <a:r>
              <a:rPr sz="2200" dirty="0">
                <a:solidFill>
                  <a:srgbClr val="252525"/>
                </a:solidFill>
                <a:latin typeface="P052"/>
                <a:cs typeface="P052"/>
              </a:rPr>
              <a:t>they</a:t>
            </a:r>
            <a:r>
              <a:rPr sz="2200" spc="-50" dirty="0">
                <a:solidFill>
                  <a:srgbClr val="252525"/>
                </a:solidFill>
                <a:latin typeface="P052"/>
                <a:cs typeface="P052"/>
              </a:rPr>
              <a:t> </a:t>
            </a:r>
            <a:r>
              <a:rPr sz="2200" dirty="0">
                <a:solidFill>
                  <a:srgbClr val="252525"/>
                </a:solidFill>
                <a:latin typeface="P052"/>
                <a:cs typeface="P052"/>
              </a:rPr>
              <a:t>cannot</a:t>
            </a:r>
            <a:r>
              <a:rPr sz="2200" spc="-45" dirty="0">
                <a:solidFill>
                  <a:srgbClr val="252525"/>
                </a:solidFill>
                <a:latin typeface="P052"/>
                <a:cs typeface="P052"/>
              </a:rPr>
              <a:t> </a:t>
            </a:r>
            <a:r>
              <a:rPr sz="2200" spc="-445" dirty="0">
                <a:solidFill>
                  <a:srgbClr val="252525"/>
                </a:solidFill>
                <a:latin typeface="P052"/>
                <a:cs typeface="P052"/>
              </a:rPr>
              <a:t>represent</a:t>
            </a:r>
            <a:r>
              <a:rPr sz="2200" dirty="0">
                <a:solidFill>
                  <a:srgbClr val="252525"/>
                </a:solidFill>
                <a:latin typeface="P052"/>
                <a:cs typeface="P052"/>
              </a:rPr>
              <a:t> curved</a:t>
            </a:r>
            <a:r>
              <a:rPr sz="2200" spc="-30" dirty="0">
                <a:solidFill>
                  <a:srgbClr val="252525"/>
                </a:solidFill>
                <a:latin typeface="P052"/>
                <a:cs typeface="P052"/>
              </a:rPr>
              <a:t> </a:t>
            </a:r>
            <a:r>
              <a:rPr sz="2200" dirty="0">
                <a:solidFill>
                  <a:srgbClr val="252525"/>
                </a:solidFill>
                <a:latin typeface="P052"/>
                <a:cs typeface="P052"/>
              </a:rPr>
              <a:t>surfaces</a:t>
            </a:r>
            <a:r>
              <a:rPr sz="2200" spc="-40" dirty="0">
                <a:solidFill>
                  <a:srgbClr val="252525"/>
                </a:solidFill>
                <a:latin typeface="P052"/>
                <a:cs typeface="P052"/>
              </a:rPr>
              <a:t> </a:t>
            </a:r>
            <a:r>
              <a:rPr sz="2200" dirty="0">
                <a:solidFill>
                  <a:srgbClr val="252525"/>
                </a:solidFill>
                <a:latin typeface="P052"/>
                <a:cs typeface="P052"/>
              </a:rPr>
              <a:t>exactly.</a:t>
            </a:r>
            <a:r>
              <a:rPr sz="2200" spc="-60" dirty="0">
                <a:solidFill>
                  <a:srgbClr val="252525"/>
                </a:solidFill>
                <a:latin typeface="P052"/>
                <a:cs typeface="P052"/>
              </a:rPr>
              <a:t> </a:t>
            </a:r>
            <a:r>
              <a:rPr sz="2200" dirty="0">
                <a:solidFill>
                  <a:srgbClr val="252525"/>
                </a:solidFill>
                <a:latin typeface="P052"/>
                <a:cs typeface="P052"/>
              </a:rPr>
              <a:t>Increasing</a:t>
            </a:r>
            <a:r>
              <a:rPr sz="2200" spc="-60" dirty="0">
                <a:solidFill>
                  <a:srgbClr val="252525"/>
                </a:solidFill>
                <a:latin typeface="P052"/>
                <a:cs typeface="P052"/>
              </a:rPr>
              <a:t> </a:t>
            </a:r>
            <a:r>
              <a:rPr sz="2200" dirty="0">
                <a:solidFill>
                  <a:srgbClr val="252525"/>
                </a:solidFill>
                <a:latin typeface="P052"/>
                <a:cs typeface="P052"/>
              </a:rPr>
              <a:t>the</a:t>
            </a:r>
            <a:r>
              <a:rPr sz="2200" spc="-75" dirty="0">
                <a:solidFill>
                  <a:srgbClr val="252525"/>
                </a:solidFill>
                <a:latin typeface="P052"/>
                <a:cs typeface="P052"/>
              </a:rPr>
              <a:t> </a:t>
            </a:r>
            <a:r>
              <a:rPr sz="2200" dirty="0">
                <a:solidFill>
                  <a:srgbClr val="252525"/>
                </a:solidFill>
                <a:latin typeface="P052"/>
                <a:cs typeface="P052"/>
              </a:rPr>
              <a:t>number</a:t>
            </a:r>
            <a:r>
              <a:rPr sz="2200" spc="-70" dirty="0">
                <a:solidFill>
                  <a:srgbClr val="252525"/>
                </a:solidFill>
                <a:latin typeface="P052"/>
                <a:cs typeface="P052"/>
              </a:rPr>
              <a:t> </a:t>
            </a:r>
            <a:r>
              <a:rPr sz="2200" spc="-35" dirty="0">
                <a:solidFill>
                  <a:srgbClr val="252525"/>
                </a:solidFill>
                <a:latin typeface="P052"/>
                <a:cs typeface="P052"/>
              </a:rPr>
              <a:t>of </a:t>
            </a:r>
            <a:r>
              <a:rPr sz="2200" dirty="0">
                <a:solidFill>
                  <a:srgbClr val="252525"/>
                </a:solidFill>
                <a:latin typeface="P052"/>
                <a:cs typeface="P052"/>
              </a:rPr>
              <a:t>triangles</a:t>
            </a:r>
            <a:r>
              <a:rPr sz="2200" spc="-70" dirty="0">
                <a:solidFill>
                  <a:srgbClr val="252525"/>
                </a:solidFill>
                <a:latin typeface="P052"/>
                <a:cs typeface="P052"/>
              </a:rPr>
              <a:t> </a:t>
            </a:r>
            <a:r>
              <a:rPr sz="2200" dirty="0">
                <a:solidFill>
                  <a:srgbClr val="252525"/>
                </a:solidFill>
                <a:latin typeface="P052"/>
                <a:cs typeface="P052"/>
              </a:rPr>
              <a:t>improves</a:t>
            </a:r>
            <a:r>
              <a:rPr sz="2200" spc="-55" dirty="0">
                <a:solidFill>
                  <a:srgbClr val="252525"/>
                </a:solidFill>
                <a:latin typeface="P052"/>
                <a:cs typeface="P052"/>
              </a:rPr>
              <a:t> </a:t>
            </a:r>
            <a:r>
              <a:rPr sz="2200" dirty="0">
                <a:solidFill>
                  <a:srgbClr val="252525"/>
                </a:solidFill>
                <a:latin typeface="P052"/>
                <a:cs typeface="P052"/>
              </a:rPr>
              <a:t>the</a:t>
            </a:r>
            <a:r>
              <a:rPr sz="2200" spc="-90" dirty="0">
                <a:solidFill>
                  <a:srgbClr val="252525"/>
                </a:solidFill>
                <a:latin typeface="P052"/>
                <a:cs typeface="P052"/>
              </a:rPr>
              <a:t> </a:t>
            </a:r>
            <a:r>
              <a:rPr sz="2200" spc="-10" dirty="0">
                <a:solidFill>
                  <a:srgbClr val="252525"/>
                </a:solidFill>
                <a:latin typeface="P052"/>
                <a:cs typeface="P052"/>
              </a:rPr>
              <a:t>approximation</a:t>
            </a:r>
            <a:endParaRPr lang="en-US" sz="2200" spc="-10" dirty="0">
              <a:solidFill>
                <a:srgbClr val="252525"/>
              </a:solidFill>
              <a:latin typeface="P052"/>
              <a:cs typeface="P052"/>
            </a:endParaRPr>
          </a:p>
          <a:p>
            <a:pPr marL="378460" marR="786765" indent="-366395" algn="just">
              <a:lnSpc>
                <a:spcPct val="100000"/>
              </a:lnSpc>
            </a:pPr>
            <a:r>
              <a:rPr lang="en-US" sz="2200" dirty="0">
                <a:latin typeface="P052"/>
                <a:cs typeface="P052"/>
              </a:rPr>
              <a:t>https://www.youtube.com/watch?v=yW4EbCWaJHE</a:t>
            </a:r>
            <a:endParaRPr sz="2200" dirty="0">
              <a:latin typeface="P052"/>
              <a:cs typeface="P052"/>
            </a:endParaRPr>
          </a:p>
        </p:txBody>
      </p:sp>
      <p:sp>
        <p:nvSpPr>
          <p:cNvPr id="3" name="object 3"/>
          <p:cNvSpPr txBox="1">
            <a:spLocks noGrp="1"/>
          </p:cNvSpPr>
          <p:nvPr>
            <p:ph type="title"/>
          </p:nvPr>
        </p:nvSpPr>
        <p:spPr>
          <a:xfrm>
            <a:off x="1005636" y="708406"/>
            <a:ext cx="7123430" cy="1546225"/>
          </a:xfrm>
          <a:prstGeom prst="rect">
            <a:avLst/>
          </a:prstGeom>
        </p:spPr>
        <p:txBody>
          <a:bodyPr vert="horz" wrap="square" lIns="0" tIns="13335" rIns="0" bIns="0" rtlCol="0">
            <a:spAutoFit/>
          </a:bodyPr>
          <a:lstStyle/>
          <a:p>
            <a:pPr marL="12700">
              <a:lnSpc>
                <a:spcPct val="100000"/>
              </a:lnSpc>
              <a:spcBef>
                <a:spcPts val="105"/>
              </a:spcBef>
            </a:pPr>
            <a:r>
              <a:rPr sz="4400" b="0" dirty="0">
                <a:latin typeface="P052"/>
                <a:cs typeface="P052"/>
              </a:rPr>
              <a:t>2.</a:t>
            </a:r>
            <a:r>
              <a:rPr sz="4400" b="0" spc="-15" dirty="0">
                <a:latin typeface="P052"/>
                <a:cs typeface="P052"/>
              </a:rPr>
              <a:t> </a:t>
            </a:r>
            <a:r>
              <a:rPr sz="4400" b="0" dirty="0">
                <a:latin typeface="P052"/>
                <a:cs typeface="P052"/>
              </a:rPr>
              <a:t>Conversion</a:t>
            </a:r>
            <a:r>
              <a:rPr sz="4400" b="0" spc="-35" dirty="0">
                <a:latin typeface="P052"/>
                <a:cs typeface="P052"/>
              </a:rPr>
              <a:t> </a:t>
            </a:r>
            <a:r>
              <a:rPr sz="4400" b="0" dirty="0">
                <a:latin typeface="P052"/>
                <a:cs typeface="P052"/>
              </a:rPr>
              <a:t>to</a:t>
            </a:r>
            <a:r>
              <a:rPr sz="4400" b="0" spc="-10" dirty="0">
                <a:latin typeface="P052"/>
                <a:cs typeface="P052"/>
              </a:rPr>
              <a:t> </a:t>
            </a:r>
            <a:r>
              <a:rPr sz="4400" b="0" dirty="0">
                <a:latin typeface="P052"/>
                <a:cs typeface="P052"/>
              </a:rPr>
              <a:t>STL</a:t>
            </a:r>
            <a:r>
              <a:rPr sz="4400" b="0" spc="-10" dirty="0">
                <a:latin typeface="P052"/>
                <a:cs typeface="P052"/>
              </a:rPr>
              <a:t> Format</a:t>
            </a:r>
            <a:endParaRPr sz="4400">
              <a:latin typeface="P052"/>
              <a:cs typeface="P052"/>
            </a:endParaRPr>
          </a:p>
          <a:p>
            <a:pPr marL="29845" algn="ctr">
              <a:lnSpc>
                <a:spcPct val="100000"/>
              </a:lnSpc>
              <a:spcBef>
                <a:spcPts val="204"/>
              </a:spcBef>
            </a:pPr>
            <a:r>
              <a:rPr sz="5400" b="0" spc="9290" dirty="0">
                <a:solidFill>
                  <a:srgbClr val="DBA354"/>
                </a:solidFill>
                <a:latin typeface="Wingdings"/>
                <a:cs typeface="Wingdings"/>
              </a:rPr>
              <a:t></a:t>
            </a:r>
            <a:endParaRPr sz="5400">
              <a:latin typeface="Wingdings"/>
              <a:cs typeface="Wingding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6858000"/>
          </a:xfrm>
          <a:prstGeom prst="rect">
            <a:avLst/>
          </a:prstGeom>
        </p:spPr>
      </p:pic>
      <p:sp>
        <p:nvSpPr>
          <p:cNvPr id="3" name="object 3"/>
          <p:cNvSpPr txBox="1">
            <a:spLocks noGrp="1"/>
          </p:cNvSpPr>
          <p:nvPr>
            <p:ph type="title"/>
          </p:nvPr>
        </p:nvSpPr>
        <p:spPr>
          <a:xfrm>
            <a:off x="5343905" y="2145919"/>
            <a:ext cx="3094990" cy="391160"/>
          </a:xfrm>
          <a:prstGeom prst="rect">
            <a:avLst/>
          </a:prstGeom>
        </p:spPr>
        <p:txBody>
          <a:bodyPr vert="horz" wrap="square" lIns="0" tIns="12700" rIns="0" bIns="0" rtlCol="0">
            <a:spAutoFit/>
          </a:bodyPr>
          <a:lstStyle/>
          <a:p>
            <a:pPr marL="12700">
              <a:lnSpc>
                <a:spcPct val="100000"/>
              </a:lnSpc>
              <a:spcBef>
                <a:spcPts val="100"/>
              </a:spcBef>
            </a:pPr>
            <a:r>
              <a:rPr sz="2400" b="0" dirty="0">
                <a:latin typeface="P052"/>
                <a:cs typeface="P052"/>
              </a:rPr>
              <a:t>Example</a:t>
            </a:r>
            <a:r>
              <a:rPr sz="2400" b="0" spc="-25" dirty="0">
                <a:latin typeface="P052"/>
                <a:cs typeface="P052"/>
              </a:rPr>
              <a:t> </a:t>
            </a:r>
            <a:r>
              <a:rPr sz="2400" b="0" dirty="0">
                <a:latin typeface="P052"/>
                <a:cs typeface="P052"/>
              </a:rPr>
              <a:t>of</a:t>
            </a:r>
            <a:r>
              <a:rPr sz="2400" b="0" spc="-20" dirty="0">
                <a:latin typeface="P052"/>
                <a:cs typeface="P052"/>
              </a:rPr>
              <a:t> </a:t>
            </a:r>
            <a:r>
              <a:rPr sz="2400" b="0" dirty="0">
                <a:latin typeface="P052"/>
                <a:cs typeface="P052"/>
              </a:rPr>
              <a:t>STL</a:t>
            </a:r>
            <a:r>
              <a:rPr sz="2400" b="0" spc="-20" dirty="0">
                <a:latin typeface="P052"/>
                <a:cs typeface="P052"/>
              </a:rPr>
              <a:t> </a:t>
            </a:r>
            <a:r>
              <a:rPr sz="2400" b="0" spc="-10" dirty="0">
                <a:latin typeface="P052"/>
                <a:cs typeface="P052"/>
              </a:rPr>
              <a:t>model</a:t>
            </a:r>
            <a:endParaRPr sz="2400">
              <a:latin typeface="P052"/>
              <a:cs typeface="P052"/>
            </a:endParaRPr>
          </a:p>
        </p:txBody>
      </p:sp>
      <p:sp>
        <p:nvSpPr>
          <p:cNvPr id="4" name="object 4"/>
          <p:cNvSpPr txBox="1"/>
          <p:nvPr/>
        </p:nvSpPr>
        <p:spPr>
          <a:xfrm>
            <a:off x="5354573" y="2831973"/>
            <a:ext cx="3249295" cy="3745256"/>
          </a:xfrm>
          <a:prstGeom prst="rect">
            <a:avLst/>
          </a:prstGeom>
        </p:spPr>
        <p:txBody>
          <a:bodyPr vert="horz" wrap="square" lIns="0" tIns="13335" rIns="0" bIns="0" rtlCol="0">
            <a:spAutoFit/>
          </a:bodyPr>
          <a:lstStyle/>
          <a:p>
            <a:pPr marL="12700" marR="5080">
              <a:lnSpc>
                <a:spcPct val="100000"/>
              </a:lnSpc>
              <a:spcBef>
                <a:spcPts val="105"/>
              </a:spcBef>
            </a:pPr>
            <a:r>
              <a:rPr sz="2000" dirty="0">
                <a:solidFill>
                  <a:srgbClr val="252525"/>
                </a:solidFill>
                <a:latin typeface="P052"/>
                <a:cs typeface="P052"/>
              </a:rPr>
              <a:t>This</a:t>
            </a:r>
            <a:r>
              <a:rPr sz="2000" spc="-15" dirty="0">
                <a:solidFill>
                  <a:srgbClr val="252525"/>
                </a:solidFill>
                <a:latin typeface="P052"/>
                <a:cs typeface="P052"/>
              </a:rPr>
              <a:t> </a:t>
            </a:r>
            <a:r>
              <a:rPr sz="2000" dirty="0">
                <a:solidFill>
                  <a:srgbClr val="252525"/>
                </a:solidFill>
                <a:latin typeface="P052"/>
                <a:cs typeface="P052"/>
              </a:rPr>
              <a:t>figure</a:t>
            </a:r>
            <a:r>
              <a:rPr sz="2000" spc="-20" dirty="0">
                <a:solidFill>
                  <a:srgbClr val="252525"/>
                </a:solidFill>
                <a:latin typeface="P052"/>
                <a:cs typeface="P052"/>
              </a:rPr>
              <a:t> </a:t>
            </a:r>
            <a:r>
              <a:rPr sz="2000" dirty="0">
                <a:solidFill>
                  <a:srgbClr val="252525"/>
                </a:solidFill>
                <a:latin typeface="P052"/>
                <a:cs typeface="P052"/>
              </a:rPr>
              <a:t>shows</a:t>
            </a:r>
            <a:r>
              <a:rPr sz="2000" spc="-30" dirty="0">
                <a:solidFill>
                  <a:srgbClr val="252525"/>
                </a:solidFill>
                <a:latin typeface="P052"/>
                <a:cs typeface="P052"/>
              </a:rPr>
              <a:t> </a:t>
            </a:r>
            <a:r>
              <a:rPr sz="2000" dirty="0">
                <a:solidFill>
                  <a:srgbClr val="252525"/>
                </a:solidFill>
                <a:latin typeface="P052"/>
                <a:cs typeface="P052"/>
              </a:rPr>
              <a:t>a</a:t>
            </a:r>
            <a:r>
              <a:rPr sz="2000" spc="-5" dirty="0">
                <a:solidFill>
                  <a:srgbClr val="252525"/>
                </a:solidFill>
                <a:latin typeface="P052"/>
                <a:cs typeface="P052"/>
              </a:rPr>
              <a:t> </a:t>
            </a:r>
            <a:r>
              <a:rPr sz="2000" spc="-10" dirty="0">
                <a:solidFill>
                  <a:srgbClr val="252525"/>
                </a:solidFill>
                <a:latin typeface="P052"/>
                <a:cs typeface="P052"/>
              </a:rPr>
              <a:t>typical </a:t>
            </a:r>
            <a:r>
              <a:rPr sz="2000" dirty="0">
                <a:solidFill>
                  <a:srgbClr val="252525"/>
                </a:solidFill>
                <a:latin typeface="P052"/>
                <a:cs typeface="P052"/>
              </a:rPr>
              <a:t>example</a:t>
            </a:r>
            <a:r>
              <a:rPr sz="2000" spc="-5" dirty="0">
                <a:solidFill>
                  <a:srgbClr val="252525"/>
                </a:solidFill>
                <a:latin typeface="P052"/>
                <a:cs typeface="P052"/>
              </a:rPr>
              <a:t> </a:t>
            </a:r>
            <a:r>
              <a:rPr sz="2000" dirty="0">
                <a:solidFill>
                  <a:srgbClr val="252525"/>
                </a:solidFill>
                <a:latin typeface="P052"/>
                <a:cs typeface="P052"/>
              </a:rPr>
              <a:t>of</a:t>
            </a:r>
            <a:r>
              <a:rPr sz="2000" spc="-30" dirty="0">
                <a:solidFill>
                  <a:srgbClr val="252525"/>
                </a:solidFill>
                <a:latin typeface="P052"/>
                <a:cs typeface="P052"/>
              </a:rPr>
              <a:t> </a:t>
            </a:r>
            <a:r>
              <a:rPr sz="2000" dirty="0">
                <a:solidFill>
                  <a:srgbClr val="252525"/>
                </a:solidFill>
                <a:latin typeface="P052"/>
                <a:cs typeface="P052"/>
              </a:rPr>
              <a:t>STL </a:t>
            </a:r>
            <a:r>
              <a:rPr sz="2000" spc="-20" dirty="0">
                <a:solidFill>
                  <a:srgbClr val="252525"/>
                </a:solidFill>
                <a:latin typeface="P052"/>
                <a:cs typeface="P052"/>
              </a:rPr>
              <a:t>model </a:t>
            </a:r>
            <a:r>
              <a:rPr sz="2000" dirty="0">
                <a:solidFill>
                  <a:srgbClr val="252525"/>
                </a:solidFill>
                <a:latin typeface="P052"/>
                <a:cs typeface="P052"/>
              </a:rPr>
              <a:t>which</a:t>
            </a:r>
            <a:r>
              <a:rPr sz="2000" spc="-45" dirty="0">
                <a:solidFill>
                  <a:srgbClr val="252525"/>
                </a:solidFill>
                <a:latin typeface="P052"/>
                <a:cs typeface="P052"/>
              </a:rPr>
              <a:t> </a:t>
            </a:r>
            <a:r>
              <a:rPr sz="2000" dirty="0">
                <a:solidFill>
                  <a:srgbClr val="252525"/>
                </a:solidFill>
                <a:latin typeface="P052"/>
                <a:cs typeface="P052"/>
              </a:rPr>
              <a:t>is</a:t>
            </a:r>
            <a:r>
              <a:rPr sz="2000" spc="-35" dirty="0">
                <a:solidFill>
                  <a:srgbClr val="252525"/>
                </a:solidFill>
                <a:latin typeface="P052"/>
                <a:cs typeface="P052"/>
              </a:rPr>
              <a:t> </a:t>
            </a:r>
            <a:r>
              <a:rPr sz="2000" dirty="0">
                <a:solidFill>
                  <a:srgbClr val="252525"/>
                </a:solidFill>
                <a:latin typeface="P052"/>
                <a:cs typeface="P052"/>
              </a:rPr>
              <a:t>composed</a:t>
            </a:r>
            <a:r>
              <a:rPr sz="2000" spc="-35" dirty="0">
                <a:solidFill>
                  <a:srgbClr val="252525"/>
                </a:solidFill>
                <a:latin typeface="P052"/>
                <a:cs typeface="P052"/>
              </a:rPr>
              <a:t> </a:t>
            </a:r>
            <a:r>
              <a:rPr sz="2000" spc="-25" dirty="0">
                <a:solidFill>
                  <a:srgbClr val="252525"/>
                </a:solidFill>
                <a:latin typeface="P052"/>
                <a:cs typeface="P052"/>
              </a:rPr>
              <a:t>of </a:t>
            </a:r>
            <a:r>
              <a:rPr sz="2000" dirty="0">
                <a:solidFill>
                  <a:srgbClr val="252525"/>
                </a:solidFill>
                <a:latin typeface="P052"/>
                <a:cs typeface="P052"/>
              </a:rPr>
              <a:t>triangles</a:t>
            </a:r>
            <a:r>
              <a:rPr sz="2000" spc="-30" dirty="0">
                <a:solidFill>
                  <a:srgbClr val="252525"/>
                </a:solidFill>
                <a:latin typeface="P052"/>
                <a:cs typeface="P052"/>
              </a:rPr>
              <a:t> </a:t>
            </a:r>
            <a:r>
              <a:rPr sz="2000" dirty="0">
                <a:solidFill>
                  <a:srgbClr val="252525"/>
                </a:solidFill>
                <a:latin typeface="P052"/>
                <a:cs typeface="P052"/>
              </a:rPr>
              <a:t>and</a:t>
            </a:r>
            <a:r>
              <a:rPr sz="2000" spc="-10" dirty="0">
                <a:solidFill>
                  <a:srgbClr val="252525"/>
                </a:solidFill>
                <a:latin typeface="P052"/>
                <a:cs typeface="P052"/>
              </a:rPr>
              <a:t> </a:t>
            </a:r>
            <a:r>
              <a:rPr sz="2000" dirty="0">
                <a:solidFill>
                  <a:srgbClr val="252525"/>
                </a:solidFill>
                <a:latin typeface="P052"/>
                <a:cs typeface="P052"/>
              </a:rPr>
              <a:t>each</a:t>
            </a:r>
            <a:r>
              <a:rPr sz="2000" spc="-20" dirty="0">
                <a:solidFill>
                  <a:srgbClr val="252525"/>
                </a:solidFill>
                <a:latin typeface="P052"/>
                <a:cs typeface="P052"/>
              </a:rPr>
              <a:t> </a:t>
            </a:r>
            <a:r>
              <a:rPr sz="2000" dirty="0">
                <a:solidFill>
                  <a:srgbClr val="252525"/>
                </a:solidFill>
                <a:latin typeface="P052"/>
                <a:cs typeface="P052"/>
              </a:rPr>
              <a:t>triangle</a:t>
            </a:r>
            <a:r>
              <a:rPr sz="2000" spc="-20" dirty="0">
                <a:solidFill>
                  <a:srgbClr val="252525"/>
                </a:solidFill>
                <a:latin typeface="P052"/>
                <a:cs typeface="P052"/>
              </a:rPr>
              <a:t> </a:t>
            </a:r>
            <a:r>
              <a:rPr sz="2000" spc="-25" dirty="0">
                <a:solidFill>
                  <a:srgbClr val="252525"/>
                </a:solidFill>
                <a:latin typeface="P052"/>
                <a:cs typeface="P052"/>
              </a:rPr>
              <a:t>is </a:t>
            </a:r>
            <a:r>
              <a:rPr sz="2000" dirty="0">
                <a:solidFill>
                  <a:srgbClr val="252525"/>
                </a:solidFill>
                <a:latin typeface="P052"/>
                <a:cs typeface="P052"/>
              </a:rPr>
              <a:t>described</a:t>
            </a:r>
            <a:r>
              <a:rPr sz="2000" spc="-5" dirty="0">
                <a:solidFill>
                  <a:srgbClr val="252525"/>
                </a:solidFill>
                <a:latin typeface="P052"/>
                <a:cs typeface="P052"/>
              </a:rPr>
              <a:t> </a:t>
            </a:r>
            <a:r>
              <a:rPr sz="2000" dirty="0">
                <a:solidFill>
                  <a:srgbClr val="252525"/>
                </a:solidFill>
                <a:latin typeface="P052"/>
                <a:cs typeface="P052"/>
              </a:rPr>
              <a:t>by a unit</a:t>
            </a:r>
            <a:r>
              <a:rPr sz="2000" spc="-15" dirty="0">
                <a:solidFill>
                  <a:srgbClr val="252525"/>
                </a:solidFill>
                <a:latin typeface="P052"/>
                <a:cs typeface="P052"/>
              </a:rPr>
              <a:t> </a:t>
            </a:r>
            <a:r>
              <a:rPr sz="2000" spc="-10" dirty="0">
                <a:solidFill>
                  <a:srgbClr val="252525"/>
                </a:solidFill>
                <a:latin typeface="P052"/>
                <a:cs typeface="P052"/>
              </a:rPr>
              <a:t>normal </a:t>
            </a:r>
            <a:r>
              <a:rPr sz="2000" dirty="0">
                <a:solidFill>
                  <a:srgbClr val="252525"/>
                </a:solidFill>
                <a:latin typeface="P052"/>
                <a:cs typeface="P052"/>
              </a:rPr>
              <a:t>vector</a:t>
            </a:r>
            <a:r>
              <a:rPr sz="2000" spc="-45" dirty="0">
                <a:solidFill>
                  <a:srgbClr val="252525"/>
                </a:solidFill>
                <a:latin typeface="P052"/>
                <a:cs typeface="P052"/>
              </a:rPr>
              <a:t> </a:t>
            </a:r>
            <a:r>
              <a:rPr sz="2000" dirty="0">
                <a:solidFill>
                  <a:srgbClr val="252525"/>
                </a:solidFill>
                <a:latin typeface="P052"/>
                <a:cs typeface="P052"/>
              </a:rPr>
              <a:t>direction</a:t>
            </a:r>
            <a:r>
              <a:rPr sz="2000" spc="-35" dirty="0">
                <a:solidFill>
                  <a:srgbClr val="252525"/>
                </a:solidFill>
                <a:latin typeface="P052"/>
                <a:cs typeface="P052"/>
              </a:rPr>
              <a:t> </a:t>
            </a:r>
            <a:r>
              <a:rPr sz="2000" dirty="0">
                <a:solidFill>
                  <a:srgbClr val="252525"/>
                </a:solidFill>
                <a:latin typeface="P052"/>
                <a:cs typeface="P052"/>
              </a:rPr>
              <a:t>and</a:t>
            </a:r>
            <a:r>
              <a:rPr sz="2000" spc="-20" dirty="0">
                <a:solidFill>
                  <a:srgbClr val="252525"/>
                </a:solidFill>
                <a:latin typeface="P052"/>
                <a:cs typeface="P052"/>
              </a:rPr>
              <a:t> </a:t>
            </a:r>
            <a:r>
              <a:rPr sz="2000" spc="-10" dirty="0">
                <a:solidFill>
                  <a:srgbClr val="252525"/>
                </a:solidFill>
                <a:latin typeface="P052"/>
                <a:cs typeface="P052"/>
              </a:rPr>
              <a:t>three </a:t>
            </a:r>
            <a:r>
              <a:rPr sz="2000" dirty="0">
                <a:solidFill>
                  <a:srgbClr val="252525"/>
                </a:solidFill>
                <a:latin typeface="P052"/>
                <a:cs typeface="P052"/>
              </a:rPr>
              <a:t>points</a:t>
            </a:r>
            <a:r>
              <a:rPr sz="2000" spc="-55" dirty="0">
                <a:solidFill>
                  <a:srgbClr val="252525"/>
                </a:solidFill>
                <a:latin typeface="P052"/>
                <a:cs typeface="P052"/>
              </a:rPr>
              <a:t> </a:t>
            </a:r>
            <a:r>
              <a:rPr sz="2000" dirty="0">
                <a:solidFill>
                  <a:srgbClr val="252525"/>
                </a:solidFill>
                <a:latin typeface="P052"/>
                <a:cs typeface="P052"/>
              </a:rPr>
              <a:t>representing</a:t>
            </a:r>
            <a:r>
              <a:rPr sz="2000" spc="-50" dirty="0">
                <a:solidFill>
                  <a:srgbClr val="252525"/>
                </a:solidFill>
                <a:latin typeface="P052"/>
                <a:cs typeface="P052"/>
              </a:rPr>
              <a:t> </a:t>
            </a:r>
            <a:r>
              <a:rPr sz="2000" spc="-25" dirty="0">
                <a:solidFill>
                  <a:srgbClr val="252525"/>
                </a:solidFill>
                <a:latin typeface="P052"/>
                <a:cs typeface="P052"/>
              </a:rPr>
              <a:t>the </a:t>
            </a:r>
            <a:r>
              <a:rPr sz="2000" dirty="0">
                <a:solidFill>
                  <a:srgbClr val="252525"/>
                </a:solidFill>
                <a:latin typeface="P052"/>
                <a:cs typeface="P052"/>
              </a:rPr>
              <a:t>vertices</a:t>
            </a:r>
            <a:r>
              <a:rPr sz="2000" spc="-30" dirty="0">
                <a:solidFill>
                  <a:srgbClr val="252525"/>
                </a:solidFill>
                <a:latin typeface="P052"/>
                <a:cs typeface="P052"/>
              </a:rPr>
              <a:t> </a:t>
            </a:r>
            <a:r>
              <a:rPr sz="2000" dirty="0">
                <a:solidFill>
                  <a:srgbClr val="252525"/>
                </a:solidFill>
                <a:latin typeface="P052"/>
                <a:cs typeface="P052"/>
              </a:rPr>
              <a:t>of</a:t>
            </a:r>
            <a:r>
              <a:rPr sz="2000" spc="-40" dirty="0">
                <a:solidFill>
                  <a:srgbClr val="252525"/>
                </a:solidFill>
                <a:latin typeface="P052"/>
                <a:cs typeface="P052"/>
              </a:rPr>
              <a:t> </a:t>
            </a:r>
            <a:r>
              <a:rPr sz="2000" dirty="0">
                <a:solidFill>
                  <a:srgbClr val="252525"/>
                </a:solidFill>
                <a:latin typeface="P052"/>
                <a:cs typeface="P052"/>
              </a:rPr>
              <a:t>the</a:t>
            </a:r>
            <a:r>
              <a:rPr sz="2000" spc="-30" dirty="0">
                <a:solidFill>
                  <a:srgbClr val="252525"/>
                </a:solidFill>
                <a:latin typeface="P052"/>
                <a:cs typeface="P052"/>
              </a:rPr>
              <a:t> </a:t>
            </a:r>
            <a:r>
              <a:rPr sz="2000" spc="-10" dirty="0">
                <a:solidFill>
                  <a:srgbClr val="252525"/>
                </a:solidFill>
                <a:latin typeface="P052"/>
                <a:cs typeface="P052"/>
              </a:rPr>
              <a:t>triangle.</a:t>
            </a:r>
            <a:endParaRPr lang="en-US" sz="2000" spc="-10" dirty="0">
              <a:solidFill>
                <a:srgbClr val="252525"/>
              </a:solidFill>
              <a:latin typeface="P052"/>
              <a:cs typeface="P052"/>
            </a:endParaRPr>
          </a:p>
          <a:p>
            <a:pPr marL="12700" marR="5080">
              <a:lnSpc>
                <a:spcPct val="100000"/>
              </a:lnSpc>
              <a:spcBef>
                <a:spcPts val="105"/>
              </a:spcBef>
            </a:pPr>
            <a:r>
              <a:rPr lang="en-US" sz="2000" dirty="0">
                <a:latin typeface="P052"/>
                <a:cs typeface="P052"/>
                <a:hlinkClick r:id="rId3"/>
              </a:rPr>
              <a:t>https://www.youtube.com/watch?v=1IIYZloCPSA</a:t>
            </a:r>
            <a:endParaRPr lang="en-US" sz="2000" spc="-10" dirty="0">
              <a:solidFill>
                <a:srgbClr val="252525"/>
              </a:solidFill>
              <a:latin typeface="P052"/>
              <a:cs typeface="P052"/>
            </a:endParaRPr>
          </a:p>
          <a:p>
            <a:pPr marL="12700" marR="5080">
              <a:lnSpc>
                <a:spcPct val="100000"/>
              </a:lnSpc>
              <a:spcBef>
                <a:spcPts val="105"/>
              </a:spcBef>
            </a:pPr>
            <a:endParaRPr lang="en-US" sz="2000" spc="-10" dirty="0">
              <a:solidFill>
                <a:srgbClr val="252525"/>
              </a:solidFill>
              <a:latin typeface="P052"/>
              <a:cs typeface="P052"/>
            </a:endParaRPr>
          </a:p>
          <a:p>
            <a:pPr marL="12700" marR="5080">
              <a:lnSpc>
                <a:spcPct val="100000"/>
              </a:lnSpc>
              <a:spcBef>
                <a:spcPts val="105"/>
              </a:spcBef>
            </a:pPr>
            <a:r>
              <a:rPr lang="en-US" sz="2000">
                <a:latin typeface="P052"/>
                <a:cs typeface="P052"/>
              </a:rPr>
              <a:t>https://www.youtube.com/watch?v=_5XfHAjk0Xs</a:t>
            </a:r>
            <a:endParaRPr sz="2000">
              <a:latin typeface="P052"/>
              <a:cs typeface="P052"/>
            </a:endParaRPr>
          </a:p>
        </p:txBody>
      </p:sp>
      <p:grpSp>
        <p:nvGrpSpPr>
          <p:cNvPr id="5" name="object 5"/>
          <p:cNvGrpSpPr/>
          <p:nvPr/>
        </p:nvGrpSpPr>
        <p:grpSpPr>
          <a:xfrm>
            <a:off x="228600" y="2080260"/>
            <a:ext cx="4814570" cy="3177540"/>
            <a:chOff x="228600" y="2080260"/>
            <a:chExt cx="4814570" cy="3177540"/>
          </a:xfrm>
        </p:grpSpPr>
        <p:pic>
          <p:nvPicPr>
            <p:cNvPr id="6" name="object 6"/>
            <p:cNvPicPr/>
            <p:nvPr/>
          </p:nvPicPr>
          <p:blipFill>
            <a:blip r:embed="rId4" cstate="print"/>
            <a:stretch>
              <a:fillRect/>
            </a:stretch>
          </p:blipFill>
          <p:spPr>
            <a:xfrm>
              <a:off x="228600" y="2080260"/>
              <a:ext cx="2350008" cy="1972056"/>
            </a:xfrm>
            <a:prstGeom prst="rect">
              <a:avLst/>
            </a:prstGeom>
          </p:spPr>
        </p:pic>
        <p:pic>
          <p:nvPicPr>
            <p:cNvPr id="7" name="object 7"/>
            <p:cNvPicPr/>
            <p:nvPr/>
          </p:nvPicPr>
          <p:blipFill>
            <a:blip r:embed="rId5" cstate="print"/>
            <a:stretch>
              <a:fillRect/>
            </a:stretch>
          </p:blipFill>
          <p:spPr>
            <a:xfrm>
              <a:off x="2255520" y="3657600"/>
              <a:ext cx="2787396" cy="1600200"/>
            </a:xfrm>
            <a:prstGeom prst="rect">
              <a:avLst/>
            </a:prstGeom>
          </p:spPr>
        </p:pic>
        <p:sp>
          <p:nvSpPr>
            <p:cNvPr id="8" name="object 8"/>
            <p:cNvSpPr/>
            <p:nvPr/>
          </p:nvSpPr>
          <p:spPr>
            <a:xfrm>
              <a:off x="3378707" y="4622292"/>
              <a:ext cx="53340" cy="0"/>
            </a:xfrm>
            <a:custGeom>
              <a:avLst/>
              <a:gdLst/>
              <a:ahLst/>
              <a:cxnLst/>
              <a:rect l="l" t="t" r="r" b="b"/>
              <a:pathLst>
                <a:path w="53339">
                  <a:moveTo>
                    <a:pt x="0" y="0"/>
                  </a:moveTo>
                  <a:lnTo>
                    <a:pt x="53339" y="0"/>
                  </a:lnTo>
                </a:path>
              </a:pathLst>
            </a:custGeom>
            <a:ln w="3175">
              <a:solidFill>
                <a:srgbClr val="000000"/>
              </a:solidFill>
            </a:ln>
          </p:spPr>
          <p:txBody>
            <a:bodyPr wrap="square" lIns="0" tIns="0" rIns="0" bIns="0" rtlCol="0"/>
            <a:lstStyle/>
            <a:p>
              <a:endParaRPr/>
            </a:p>
          </p:txBody>
        </p:sp>
        <p:sp>
          <p:nvSpPr>
            <p:cNvPr id="9" name="object 9"/>
            <p:cNvSpPr/>
            <p:nvPr/>
          </p:nvSpPr>
          <p:spPr>
            <a:xfrm>
              <a:off x="1966848" y="3393059"/>
              <a:ext cx="1296670" cy="961390"/>
            </a:xfrm>
            <a:custGeom>
              <a:avLst/>
              <a:gdLst/>
              <a:ahLst/>
              <a:cxnLst/>
              <a:rect l="l" t="t" r="r" b="b"/>
              <a:pathLst>
                <a:path w="1296670" h="961389">
                  <a:moveTo>
                    <a:pt x="100202" y="82550"/>
                  </a:moveTo>
                  <a:lnTo>
                    <a:pt x="92837" y="96774"/>
                  </a:lnTo>
                  <a:lnTo>
                    <a:pt x="89407" y="98678"/>
                  </a:lnTo>
                  <a:lnTo>
                    <a:pt x="1282953" y="961135"/>
                  </a:lnTo>
                  <a:lnTo>
                    <a:pt x="1289050" y="961263"/>
                  </a:lnTo>
                  <a:lnTo>
                    <a:pt x="1294129" y="956055"/>
                  </a:lnTo>
                  <a:lnTo>
                    <a:pt x="1296670" y="950340"/>
                  </a:lnTo>
                  <a:lnTo>
                    <a:pt x="1295146" y="945895"/>
                  </a:lnTo>
                  <a:lnTo>
                    <a:pt x="100202" y="82550"/>
                  </a:lnTo>
                  <a:close/>
                </a:path>
                <a:path w="1296670" h="961389">
                  <a:moveTo>
                    <a:pt x="84200" y="0"/>
                  </a:moveTo>
                  <a:lnTo>
                    <a:pt x="45212" y="12191"/>
                  </a:lnTo>
                  <a:lnTo>
                    <a:pt x="14986" y="42417"/>
                  </a:lnTo>
                  <a:lnTo>
                    <a:pt x="0" y="80137"/>
                  </a:lnTo>
                  <a:lnTo>
                    <a:pt x="6095" y="114426"/>
                  </a:lnTo>
                  <a:lnTo>
                    <a:pt x="13969" y="122300"/>
                  </a:lnTo>
                  <a:lnTo>
                    <a:pt x="22225" y="125729"/>
                  </a:lnTo>
                  <a:lnTo>
                    <a:pt x="59181" y="122681"/>
                  </a:lnTo>
                  <a:lnTo>
                    <a:pt x="89407" y="98678"/>
                  </a:lnTo>
                  <a:lnTo>
                    <a:pt x="52069" y="72008"/>
                  </a:lnTo>
                  <a:lnTo>
                    <a:pt x="51181" y="66675"/>
                  </a:lnTo>
                  <a:lnTo>
                    <a:pt x="53086" y="60451"/>
                  </a:lnTo>
                  <a:lnTo>
                    <a:pt x="58293" y="55244"/>
                  </a:lnTo>
                  <a:lnTo>
                    <a:pt x="113079" y="55244"/>
                  </a:lnTo>
                  <a:lnTo>
                    <a:pt x="113411" y="21716"/>
                  </a:lnTo>
                  <a:lnTo>
                    <a:pt x="110236" y="12953"/>
                  </a:lnTo>
                  <a:lnTo>
                    <a:pt x="101600" y="6095"/>
                  </a:lnTo>
                  <a:lnTo>
                    <a:pt x="92709" y="2031"/>
                  </a:lnTo>
                  <a:lnTo>
                    <a:pt x="84200" y="0"/>
                  </a:lnTo>
                  <a:close/>
                </a:path>
                <a:path w="1296670" h="961389">
                  <a:moveTo>
                    <a:pt x="113079" y="55244"/>
                  </a:moveTo>
                  <a:lnTo>
                    <a:pt x="58293" y="55244"/>
                  </a:lnTo>
                  <a:lnTo>
                    <a:pt x="64134" y="56768"/>
                  </a:lnTo>
                  <a:lnTo>
                    <a:pt x="100202" y="82550"/>
                  </a:lnTo>
                  <a:lnTo>
                    <a:pt x="113030" y="60198"/>
                  </a:lnTo>
                  <a:lnTo>
                    <a:pt x="113079" y="55244"/>
                  </a:lnTo>
                  <a:close/>
                </a:path>
              </a:pathLst>
            </a:custGeom>
            <a:solidFill>
              <a:srgbClr val="000000"/>
            </a:solidFill>
          </p:spPr>
          <p:txBody>
            <a:bodyPr wrap="square" lIns="0" tIns="0" rIns="0" bIns="0" rtlCol="0"/>
            <a:lstStyle/>
            <a:p>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9736" y="2169033"/>
            <a:ext cx="7054850" cy="4013200"/>
          </a:xfrm>
          <a:prstGeom prst="rect">
            <a:avLst/>
          </a:prstGeom>
        </p:spPr>
        <p:txBody>
          <a:bodyPr vert="horz" wrap="square" lIns="0" tIns="53975" rIns="0" bIns="0" rtlCol="0">
            <a:spAutoFit/>
          </a:bodyPr>
          <a:lstStyle/>
          <a:p>
            <a:pPr marL="393700" marR="871219" indent="-381000">
              <a:lnSpc>
                <a:spcPts val="2590"/>
              </a:lnSpc>
              <a:spcBef>
                <a:spcPts val="425"/>
              </a:spcBef>
            </a:pPr>
            <a:r>
              <a:rPr sz="2400" spc="4175" dirty="0">
                <a:solidFill>
                  <a:srgbClr val="863623"/>
                </a:solidFill>
                <a:latin typeface="Wingdings"/>
                <a:cs typeface="Wingdings"/>
              </a:rPr>
              <a:t></a:t>
            </a:r>
            <a:r>
              <a:rPr sz="2400" spc="-140" dirty="0">
                <a:solidFill>
                  <a:srgbClr val="863623"/>
                </a:solidFill>
                <a:latin typeface="Times New Roman"/>
                <a:cs typeface="Times New Roman"/>
              </a:rPr>
              <a:t> </a:t>
            </a:r>
            <a:r>
              <a:rPr sz="2400" dirty="0">
                <a:solidFill>
                  <a:srgbClr val="252525"/>
                </a:solidFill>
                <a:latin typeface="P052"/>
                <a:cs typeface="P052"/>
              </a:rPr>
              <a:t>In</a:t>
            </a:r>
            <a:r>
              <a:rPr sz="2400" spc="-10" dirty="0">
                <a:solidFill>
                  <a:srgbClr val="252525"/>
                </a:solidFill>
                <a:latin typeface="P052"/>
                <a:cs typeface="P052"/>
              </a:rPr>
              <a:t> </a:t>
            </a:r>
            <a:r>
              <a:rPr sz="2400" dirty="0">
                <a:solidFill>
                  <a:srgbClr val="252525"/>
                </a:solidFill>
                <a:latin typeface="P052"/>
                <a:cs typeface="P052"/>
              </a:rPr>
              <a:t>the</a:t>
            </a:r>
            <a:r>
              <a:rPr sz="2400" spc="-10" dirty="0">
                <a:solidFill>
                  <a:srgbClr val="252525"/>
                </a:solidFill>
                <a:latin typeface="P052"/>
                <a:cs typeface="P052"/>
              </a:rPr>
              <a:t> </a:t>
            </a:r>
            <a:r>
              <a:rPr sz="2400" dirty="0">
                <a:solidFill>
                  <a:srgbClr val="252525"/>
                </a:solidFill>
                <a:latin typeface="P052"/>
                <a:cs typeface="P052"/>
              </a:rPr>
              <a:t>third step,</a:t>
            </a:r>
            <a:r>
              <a:rPr sz="2400" spc="-25" dirty="0">
                <a:solidFill>
                  <a:srgbClr val="252525"/>
                </a:solidFill>
                <a:latin typeface="P052"/>
                <a:cs typeface="P052"/>
              </a:rPr>
              <a:t> </a:t>
            </a:r>
            <a:r>
              <a:rPr sz="2400" dirty="0">
                <a:solidFill>
                  <a:srgbClr val="252525"/>
                </a:solidFill>
                <a:latin typeface="P052"/>
                <a:cs typeface="P052"/>
              </a:rPr>
              <a:t>a</a:t>
            </a:r>
            <a:r>
              <a:rPr sz="2400" spc="-20" dirty="0">
                <a:solidFill>
                  <a:srgbClr val="252525"/>
                </a:solidFill>
                <a:latin typeface="P052"/>
                <a:cs typeface="P052"/>
              </a:rPr>
              <a:t> </a:t>
            </a:r>
            <a:r>
              <a:rPr sz="2400" spc="-10" dirty="0">
                <a:solidFill>
                  <a:srgbClr val="252525"/>
                </a:solidFill>
                <a:latin typeface="P052"/>
                <a:cs typeface="P052"/>
              </a:rPr>
              <a:t>pre-</a:t>
            </a:r>
            <a:r>
              <a:rPr sz="2400" dirty="0">
                <a:solidFill>
                  <a:srgbClr val="252525"/>
                </a:solidFill>
                <a:latin typeface="P052"/>
                <a:cs typeface="P052"/>
              </a:rPr>
              <a:t>processing</a:t>
            </a:r>
            <a:r>
              <a:rPr sz="2400" spc="-25" dirty="0">
                <a:solidFill>
                  <a:srgbClr val="252525"/>
                </a:solidFill>
                <a:latin typeface="P052"/>
                <a:cs typeface="P052"/>
              </a:rPr>
              <a:t> </a:t>
            </a:r>
            <a:r>
              <a:rPr sz="2400" spc="-620" dirty="0">
                <a:solidFill>
                  <a:srgbClr val="252525"/>
                </a:solidFill>
                <a:latin typeface="P052"/>
                <a:cs typeface="P052"/>
              </a:rPr>
              <a:t>program</a:t>
            </a:r>
            <a:r>
              <a:rPr sz="2400" dirty="0">
                <a:solidFill>
                  <a:srgbClr val="252525"/>
                </a:solidFill>
                <a:latin typeface="P052"/>
                <a:cs typeface="P052"/>
              </a:rPr>
              <a:t> prepares</a:t>
            </a:r>
            <a:r>
              <a:rPr sz="2400" spc="-40" dirty="0">
                <a:solidFill>
                  <a:srgbClr val="252525"/>
                </a:solidFill>
                <a:latin typeface="P052"/>
                <a:cs typeface="P052"/>
              </a:rPr>
              <a:t> </a:t>
            </a:r>
            <a:r>
              <a:rPr sz="2400" dirty="0">
                <a:solidFill>
                  <a:srgbClr val="252525"/>
                </a:solidFill>
                <a:latin typeface="P052"/>
                <a:cs typeface="P052"/>
              </a:rPr>
              <a:t>the</a:t>
            </a:r>
            <a:r>
              <a:rPr sz="2400" spc="-15" dirty="0">
                <a:solidFill>
                  <a:srgbClr val="252525"/>
                </a:solidFill>
                <a:latin typeface="P052"/>
                <a:cs typeface="P052"/>
              </a:rPr>
              <a:t> </a:t>
            </a:r>
            <a:r>
              <a:rPr sz="2400" dirty="0">
                <a:solidFill>
                  <a:srgbClr val="252525"/>
                </a:solidFill>
                <a:latin typeface="P052"/>
                <a:cs typeface="P052"/>
              </a:rPr>
              <a:t>STL</a:t>
            </a:r>
            <a:r>
              <a:rPr sz="2400" spc="-25" dirty="0">
                <a:solidFill>
                  <a:srgbClr val="252525"/>
                </a:solidFill>
                <a:latin typeface="P052"/>
                <a:cs typeface="P052"/>
              </a:rPr>
              <a:t> </a:t>
            </a:r>
            <a:r>
              <a:rPr sz="2400" dirty="0">
                <a:solidFill>
                  <a:srgbClr val="252525"/>
                </a:solidFill>
                <a:latin typeface="P052"/>
                <a:cs typeface="P052"/>
              </a:rPr>
              <a:t>file</a:t>
            </a:r>
            <a:r>
              <a:rPr sz="2400" spc="-25" dirty="0">
                <a:solidFill>
                  <a:srgbClr val="252525"/>
                </a:solidFill>
                <a:latin typeface="P052"/>
                <a:cs typeface="P052"/>
              </a:rPr>
              <a:t> </a:t>
            </a:r>
            <a:r>
              <a:rPr sz="2400" dirty="0">
                <a:solidFill>
                  <a:srgbClr val="252525"/>
                </a:solidFill>
                <a:latin typeface="P052"/>
                <a:cs typeface="P052"/>
              </a:rPr>
              <a:t>to</a:t>
            </a:r>
            <a:r>
              <a:rPr sz="2400" spc="-20" dirty="0">
                <a:solidFill>
                  <a:srgbClr val="252525"/>
                </a:solidFill>
                <a:latin typeface="P052"/>
                <a:cs typeface="P052"/>
              </a:rPr>
              <a:t> </a:t>
            </a:r>
            <a:r>
              <a:rPr sz="2400" dirty="0">
                <a:solidFill>
                  <a:srgbClr val="252525"/>
                </a:solidFill>
                <a:latin typeface="P052"/>
                <a:cs typeface="P052"/>
              </a:rPr>
              <a:t>be</a:t>
            </a:r>
            <a:r>
              <a:rPr sz="2400" spc="-20" dirty="0">
                <a:solidFill>
                  <a:srgbClr val="252525"/>
                </a:solidFill>
                <a:latin typeface="P052"/>
                <a:cs typeface="P052"/>
              </a:rPr>
              <a:t> </a:t>
            </a:r>
            <a:r>
              <a:rPr sz="2400" spc="-10" dirty="0">
                <a:solidFill>
                  <a:srgbClr val="252525"/>
                </a:solidFill>
                <a:latin typeface="P052"/>
                <a:cs typeface="P052"/>
              </a:rPr>
              <a:t>built.</a:t>
            </a:r>
            <a:endParaRPr sz="2400">
              <a:latin typeface="P052"/>
              <a:cs typeface="P052"/>
            </a:endParaRPr>
          </a:p>
          <a:p>
            <a:pPr marL="393700" marR="5080" indent="-381000">
              <a:lnSpc>
                <a:spcPts val="2590"/>
              </a:lnSpc>
              <a:spcBef>
                <a:spcPts val="2600"/>
              </a:spcBef>
            </a:pPr>
            <a:r>
              <a:rPr sz="2400" spc="4175" dirty="0">
                <a:solidFill>
                  <a:srgbClr val="863623"/>
                </a:solidFill>
                <a:latin typeface="Wingdings"/>
                <a:cs typeface="Wingdings"/>
              </a:rPr>
              <a:t></a:t>
            </a:r>
            <a:r>
              <a:rPr sz="2400" spc="-150" dirty="0">
                <a:solidFill>
                  <a:srgbClr val="863623"/>
                </a:solidFill>
                <a:latin typeface="Times New Roman"/>
                <a:cs typeface="Times New Roman"/>
              </a:rPr>
              <a:t> </a:t>
            </a:r>
            <a:r>
              <a:rPr sz="2400" dirty="0">
                <a:solidFill>
                  <a:srgbClr val="252525"/>
                </a:solidFill>
                <a:latin typeface="P052"/>
                <a:cs typeface="P052"/>
              </a:rPr>
              <a:t>The</a:t>
            </a:r>
            <a:r>
              <a:rPr sz="2400" spc="-30" dirty="0">
                <a:solidFill>
                  <a:srgbClr val="252525"/>
                </a:solidFill>
                <a:latin typeface="P052"/>
                <a:cs typeface="P052"/>
              </a:rPr>
              <a:t> </a:t>
            </a:r>
            <a:r>
              <a:rPr sz="2400" spc="-10" dirty="0">
                <a:solidFill>
                  <a:srgbClr val="252525"/>
                </a:solidFill>
                <a:latin typeface="P052"/>
                <a:cs typeface="P052"/>
              </a:rPr>
              <a:t>pre-</a:t>
            </a:r>
            <a:r>
              <a:rPr sz="2400" dirty="0">
                <a:solidFill>
                  <a:srgbClr val="252525"/>
                </a:solidFill>
                <a:latin typeface="P052"/>
                <a:cs typeface="P052"/>
              </a:rPr>
              <a:t>processing</a:t>
            </a:r>
            <a:r>
              <a:rPr sz="2400" spc="-50" dirty="0">
                <a:solidFill>
                  <a:srgbClr val="252525"/>
                </a:solidFill>
                <a:latin typeface="P052"/>
                <a:cs typeface="P052"/>
              </a:rPr>
              <a:t> </a:t>
            </a:r>
            <a:r>
              <a:rPr sz="2400" dirty="0">
                <a:solidFill>
                  <a:srgbClr val="252525"/>
                </a:solidFill>
                <a:latin typeface="P052"/>
                <a:cs typeface="P052"/>
              </a:rPr>
              <a:t>software</a:t>
            </a:r>
            <a:r>
              <a:rPr sz="2400" spc="-25" dirty="0">
                <a:solidFill>
                  <a:srgbClr val="252525"/>
                </a:solidFill>
                <a:latin typeface="P052"/>
                <a:cs typeface="P052"/>
              </a:rPr>
              <a:t> </a:t>
            </a:r>
            <a:r>
              <a:rPr sz="2400" dirty="0">
                <a:solidFill>
                  <a:srgbClr val="252525"/>
                </a:solidFill>
                <a:latin typeface="P052"/>
                <a:cs typeface="P052"/>
              </a:rPr>
              <a:t>slices</a:t>
            </a:r>
            <a:r>
              <a:rPr sz="2400" spc="-55" dirty="0">
                <a:solidFill>
                  <a:srgbClr val="252525"/>
                </a:solidFill>
                <a:latin typeface="P052"/>
                <a:cs typeface="P052"/>
              </a:rPr>
              <a:t> </a:t>
            </a:r>
            <a:r>
              <a:rPr sz="2400" dirty="0">
                <a:solidFill>
                  <a:srgbClr val="252525"/>
                </a:solidFill>
                <a:latin typeface="P052"/>
                <a:cs typeface="P052"/>
              </a:rPr>
              <a:t>the</a:t>
            </a:r>
            <a:r>
              <a:rPr sz="2400" spc="-25" dirty="0">
                <a:solidFill>
                  <a:srgbClr val="252525"/>
                </a:solidFill>
                <a:latin typeface="P052"/>
                <a:cs typeface="P052"/>
              </a:rPr>
              <a:t> STL</a:t>
            </a:r>
            <a:r>
              <a:rPr sz="2400" spc="600" dirty="0">
                <a:solidFill>
                  <a:srgbClr val="252525"/>
                </a:solidFill>
                <a:latin typeface="P052"/>
                <a:cs typeface="P052"/>
              </a:rPr>
              <a:t> </a:t>
            </a:r>
            <a:r>
              <a:rPr sz="2400" spc="-850" dirty="0">
                <a:solidFill>
                  <a:srgbClr val="252525"/>
                </a:solidFill>
                <a:latin typeface="P052"/>
                <a:cs typeface="P052"/>
              </a:rPr>
              <a:t>model</a:t>
            </a:r>
            <a:r>
              <a:rPr sz="2400" spc="-10" dirty="0">
                <a:solidFill>
                  <a:srgbClr val="252525"/>
                </a:solidFill>
                <a:latin typeface="P052"/>
                <a:cs typeface="P052"/>
              </a:rPr>
              <a:t> </a:t>
            </a:r>
            <a:r>
              <a:rPr sz="2400" dirty="0">
                <a:solidFill>
                  <a:srgbClr val="252525"/>
                </a:solidFill>
                <a:latin typeface="P052"/>
                <a:cs typeface="P052"/>
              </a:rPr>
              <a:t>into</a:t>
            </a:r>
            <a:r>
              <a:rPr sz="2400" spc="-60" dirty="0">
                <a:solidFill>
                  <a:srgbClr val="252525"/>
                </a:solidFill>
                <a:latin typeface="P052"/>
                <a:cs typeface="P052"/>
              </a:rPr>
              <a:t> </a:t>
            </a:r>
            <a:r>
              <a:rPr sz="2400" dirty="0">
                <a:solidFill>
                  <a:srgbClr val="252525"/>
                </a:solidFill>
                <a:latin typeface="P052"/>
                <a:cs typeface="P052"/>
              </a:rPr>
              <a:t>a</a:t>
            </a:r>
            <a:r>
              <a:rPr sz="2400" spc="-35" dirty="0">
                <a:solidFill>
                  <a:srgbClr val="252525"/>
                </a:solidFill>
                <a:latin typeface="P052"/>
                <a:cs typeface="P052"/>
              </a:rPr>
              <a:t> </a:t>
            </a:r>
            <a:r>
              <a:rPr sz="2400" dirty="0">
                <a:solidFill>
                  <a:srgbClr val="252525"/>
                </a:solidFill>
                <a:latin typeface="P052"/>
                <a:cs typeface="P052"/>
              </a:rPr>
              <a:t>number</a:t>
            </a:r>
            <a:r>
              <a:rPr sz="2400" spc="-30" dirty="0">
                <a:solidFill>
                  <a:srgbClr val="252525"/>
                </a:solidFill>
                <a:latin typeface="P052"/>
                <a:cs typeface="P052"/>
              </a:rPr>
              <a:t> </a:t>
            </a:r>
            <a:r>
              <a:rPr sz="2400" dirty="0">
                <a:solidFill>
                  <a:srgbClr val="252525"/>
                </a:solidFill>
                <a:latin typeface="P052"/>
                <a:cs typeface="P052"/>
              </a:rPr>
              <a:t>of</a:t>
            </a:r>
            <a:r>
              <a:rPr sz="2400" spc="-30" dirty="0">
                <a:solidFill>
                  <a:srgbClr val="252525"/>
                </a:solidFill>
                <a:latin typeface="P052"/>
                <a:cs typeface="P052"/>
              </a:rPr>
              <a:t> </a:t>
            </a:r>
            <a:r>
              <a:rPr sz="2400" dirty="0">
                <a:solidFill>
                  <a:srgbClr val="252525"/>
                </a:solidFill>
                <a:latin typeface="P052"/>
                <a:cs typeface="P052"/>
              </a:rPr>
              <a:t>layers</a:t>
            </a:r>
            <a:r>
              <a:rPr sz="2400" spc="-40" dirty="0">
                <a:solidFill>
                  <a:srgbClr val="252525"/>
                </a:solidFill>
                <a:latin typeface="P052"/>
                <a:cs typeface="P052"/>
              </a:rPr>
              <a:t> </a:t>
            </a:r>
            <a:r>
              <a:rPr sz="2400" dirty="0">
                <a:solidFill>
                  <a:srgbClr val="252525"/>
                </a:solidFill>
                <a:latin typeface="P052"/>
                <a:cs typeface="P052"/>
              </a:rPr>
              <a:t>from</a:t>
            </a:r>
            <a:r>
              <a:rPr sz="2400" spc="-15" dirty="0">
                <a:solidFill>
                  <a:srgbClr val="252525"/>
                </a:solidFill>
                <a:latin typeface="P052"/>
                <a:cs typeface="P052"/>
              </a:rPr>
              <a:t> </a:t>
            </a:r>
            <a:r>
              <a:rPr sz="2400" dirty="0">
                <a:solidFill>
                  <a:srgbClr val="252525"/>
                </a:solidFill>
                <a:latin typeface="P052"/>
                <a:cs typeface="P052"/>
              </a:rPr>
              <a:t>0.01</a:t>
            </a:r>
            <a:r>
              <a:rPr sz="2400" spc="-35" dirty="0">
                <a:solidFill>
                  <a:srgbClr val="252525"/>
                </a:solidFill>
                <a:latin typeface="P052"/>
                <a:cs typeface="P052"/>
              </a:rPr>
              <a:t> </a:t>
            </a:r>
            <a:r>
              <a:rPr sz="2400" dirty="0">
                <a:solidFill>
                  <a:srgbClr val="252525"/>
                </a:solidFill>
                <a:latin typeface="P052"/>
                <a:cs typeface="P052"/>
              </a:rPr>
              <a:t>mm</a:t>
            </a:r>
            <a:r>
              <a:rPr sz="2400" spc="-30" dirty="0">
                <a:solidFill>
                  <a:srgbClr val="252525"/>
                </a:solidFill>
                <a:latin typeface="P052"/>
                <a:cs typeface="P052"/>
              </a:rPr>
              <a:t> </a:t>
            </a:r>
            <a:r>
              <a:rPr sz="2400" dirty="0">
                <a:solidFill>
                  <a:srgbClr val="252525"/>
                </a:solidFill>
                <a:latin typeface="P052"/>
                <a:cs typeface="P052"/>
              </a:rPr>
              <a:t>to</a:t>
            </a:r>
            <a:r>
              <a:rPr sz="2400" spc="-25" dirty="0">
                <a:solidFill>
                  <a:srgbClr val="252525"/>
                </a:solidFill>
                <a:latin typeface="P052"/>
                <a:cs typeface="P052"/>
              </a:rPr>
              <a:t> 0.7 </a:t>
            </a:r>
            <a:r>
              <a:rPr sz="2400" dirty="0">
                <a:solidFill>
                  <a:srgbClr val="252525"/>
                </a:solidFill>
                <a:latin typeface="P052"/>
                <a:cs typeface="P052"/>
              </a:rPr>
              <a:t>mm</a:t>
            </a:r>
            <a:r>
              <a:rPr sz="2400" spc="-50" dirty="0">
                <a:solidFill>
                  <a:srgbClr val="252525"/>
                </a:solidFill>
                <a:latin typeface="P052"/>
                <a:cs typeface="P052"/>
              </a:rPr>
              <a:t> </a:t>
            </a:r>
            <a:r>
              <a:rPr sz="2400" dirty="0">
                <a:solidFill>
                  <a:srgbClr val="252525"/>
                </a:solidFill>
                <a:latin typeface="P052"/>
                <a:cs typeface="P052"/>
              </a:rPr>
              <a:t>thick,</a:t>
            </a:r>
            <a:r>
              <a:rPr sz="2400" spc="-20" dirty="0">
                <a:solidFill>
                  <a:srgbClr val="252525"/>
                </a:solidFill>
                <a:latin typeface="P052"/>
                <a:cs typeface="P052"/>
              </a:rPr>
              <a:t> </a:t>
            </a:r>
            <a:r>
              <a:rPr sz="2400" dirty="0">
                <a:solidFill>
                  <a:srgbClr val="252525"/>
                </a:solidFill>
                <a:latin typeface="P052"/>
                <a:cs typeface="P052"/>
              </a:rPr>
              <a:t>depending</a:t>
            </a:r>
            <a:r>
              <a:rPr sz="2400" spc="-40" dirty="0">
                <a:solidFill>
                  <a:srgbClr val="252525"/>
                </a:solidFill>
                <a:latin typeface="P052"/>
                <a:cs typeface="P052"/>
              </a:rPr>
              <a:t> </a:t>
            </a:r>
            <a:r>
              <a:rPr sz="2400" dirty="0">
                <a:solidFill>
                  <a:srgbClr val="252525"/>
                </a:solidFill>
                <a:latin typeface="P052"/>
                <a:cs typeface="P052"/>
              </a:rPr>
              <a:t>on</a:t>
            </a:r>
            <a:r>
              <a:rPr sz="2400" spc="-35" dirty="0">
                <a:solidFill>
                  <a:srgbClr val="252525"/>
                </a:solidFill>
                <a:latin typeface="P052"/>
                <a:cs typeface="P052"/>
              </a:rPr>
              <a:t> </a:t>
            </a:r>
            <a:r>
              <a:rPr sz="2400" dirty="0">
                <a:solidFill>
                  <a:srgbClr val="252525"/>
                </a:solidFill>
                <a:latin typeface="P052"/>
                <a:cs typeface="P052"/>
              </a:rPr>
              <a:t>the</a:t>
            </a:r>
            <a:r>
              <a:rPr sz="2400" spc="-30" dirty="0">
                <a:solidFill>
                  <a:srgbClr val="252525"/>
                </a:solidFill>
                <a:latin typeface="P052"/>
                <a:cs typeface="P052"/>
              </a:rPr>
              <a:t> </a:t>
            </a:r>
            <a:r>
              <a:rPr sz="2400" dirty="0">
                <a:solidFill>
                  <a:srgbClr val="252525"/>
                </a:solidFill>
                <a:latin typeface="P052"/>
                <a:cs typeface="P052"/>
              </a:rPr>
              <a:t>build</a:t>
            </a:r>
            <a:r>
              <a:rPr sz="2400" spc="-50" dirty="0">
                <a:solidFill>
                  <a:srgbClr val="252525"/>
                </a:solidFill>
                <a:latin typeface="P052"/>
                <a:cs typeface="P052"/>
              </a:rPr>
              <a:t> </a:t>
            </a:r>
            <a:r>
              <a:rPr sz="2400" spc="-10" dirty="0">
                <a:solidFill>
                  <a:srgbClr val="252525"/>
                </a:solidFill>
                <a:latin typeface="P052"/>
                <a:cs typeface="P052"/>
              </a:rPr>
              <a:t>technique.</a:t>
            </a:r>
            <a:endParaRPr sz="2400">
              <a:latin typeface="P052"/>
              <a:cs typeface="P052"/>
            </a:endParaRPr>
          </a:p>
          <a:p>
            <a:pPr marL="393700" marR="143510" indent="-381000">
              <a:lnSpc>
                <a:spcPts val="2590"/>
              </a:lnSpc>
              <a:spcBef>
                <a:spcPts val="2600"/>
              </a:spcBef>
            </a:pPr>
            <a:r>
              <a:rPr sz="2400" spc="4175" dirty="0">
                <a:solidFill>
                  <a:srgbClr val="863623"/>
                </a:solidFill>
                <a:latin typeface="Wingdings"/>
                <a:cs typeface="Wingdings"/>
              </a:rPr>
              <a:t></a:t>
            </a:r>
            <a:r>
              <a:rPr sz="2400" spc="-150" dirty="0">
                <a:solidFill>
                  <a:srgbClr val="863623"/>
                </a:solidFill>
                <a:latin typeface="Times New Roman"/>
                <a:cs typeface="Times New Roman"/>
              </a:rPr>
              <a:t> </a:t>
            </a:r>
            <a:r>
              <a:rPr sz="2400" dirty="0">
                <a:solidFill>
                  <a:srgbClr val="252525"/>
                </a:solidFill>
                <a:latin typeface="P052"/>
                <a:cs typeface="P052"/>
              </a:rPr>
              <a:t>The</a:t>
            </a:r>
            <a:r>
              <a:rPr sz="2400" spc="-60" dirty="0">
                <a:solidFill>
                  <a:srgbClr val="252525"/>
                </a:solidFill>
                <a:latin typeface="P052"/>
                <a:cs typeface="P052"/>
              </a:rPr>
              <a:t> </a:t>
            </a:r>
            <a:r>
              <a:rPr sz="2400" dirty="0">
                <a:solidFill>
                  <a:srgbClr val="252525"/>
                </a:solidFill>
                <a:latin typeface="P052"/>
                <a:cs typeface="P052"/>
              </a:rPr>
              <a:t>program</a:t>
            </a:r>
            <a:r>
              <a:rPr sz="2400" spc="-35" dirty="0">
                <a:solidFill>
                  <a:srgbClr val="252525"/>
                </a:solidFill>
                <a:latin typeface="P052"/>
                <a:cs typeface="P052"/>
              </a:rPr>
              <a:t> </a:t>
            </a:r>
            <a:r>
              <a:rPr sz="2400" dirty="0">
                <a:solidFill>
                  <a:srgbClr val="252525"/>
                </a:solidFill>
                <a:latin typeface="P052"/>
                <a:cs typeface="P052"/>
              </a:rPr>
              <a:t>may</a:t>
            </a:r>
            <a:r>
              <a:rPr sz="2400" spc="-35" dirty="0">
                <a:solidFill>
                  <a:srgbClr val="252525"/>
                </a:solidFill>
                <a:latin typeface="P052"/>
                <a:cs typeface="P052"/>
              </a:rPr>
              <a:t> </a:t>
            </a:r>
            <a:r>
              <a:rPr sz="2400" dirty="0">
                <a:solidFill>
                  <a:srgbClr val="252525"/>
                </a:solidFill>
                <a:latin typeface="P052"/>
                <a:cs typeface="P052"/>
              </a:rPr>
              <a:t>also</a:t>
            </a:r>
            <a:r>
              <a:rPr sz="2400" spc="-55" dirty="0">
                <a:solidFill>
                  <a:srgbClr val="252525"/>
                </a:solidFill>
                <a:latin typeface="P052"/>
                <a:cs typeface="P052"/>
              </a:rPr>
              <a:t> </a:t>
            </a:r>
            <a:r>
              <a:rPr sz="2400" dirty="0">
                <a:solidFill>
                  <a:srgbClr val="252525"/>
                </a:solidFill>
                <a:latin typeface="P052"/>
                <a:cs typeface="P052"/>
              </a:rPr>
              <a:t>generate</a:t>
            </a:r>
            <a:r>
              <a:rPr sz="2400" spc="-30" dirty="0">
                <a:solidFill>
                  <a:srgbClr val="252525"/>
                </a:solidFill>
                <a:latin typeface="P052"/>
                <a:cs typeface="P052"/>
              </a:rPr>
              <a:t> </a:t>
            </a:r>
            <a:r>
              <a:rPr sz="2400" dirty="0">
                <a:solidFill>
                  <a:srgbClr val="252525"/>
                </a:solidFill>
                <a:latin typeface="P052"/>
                <a:cs typeface="P052"/>
              </a:rPr>
              <a:t>an</a:t>
            </a:r>
            <a:r>
              <a:rPr sz="2400" spc="-55" dirty="0">
                <a:solidFill>
                  <a:srgbClr val="252525"/>
                </a:solidFill>
                <a:latin typeface="P052"/>
                <a:cs typeface="P052"/>
              </a:rPr>
              <a:t> </a:t>
            </a:r>
            <a:r>
              <a:rPr sz="2400" spc="-10" dirty="0">
                <a:solidFill>
                  <a:srgbClr val="252525"/>
                </a:solidFill>
                <a:latin typeface="P052"/>
                <a:cs typeface="P052"/>
              </a:rPr>
              <a:t>auxiliary </a:t>
            </a:r>
            <a:r>
              <a:rPr sz="2400" dirty="0">
                <a:solidFill>
                  <a:srgbClr val="252525"/>
                </a:solidFill>
                <a:latin typeface="P052"/>
                <a:cs typeface="P052"/>
              </a:rPr>
              <a:t>structure</a:t>
            </a:r>
            <a:r>
              <a:rPr sz="2400" spc="-55" dirty="0">
                <a:solidFill>
                  <a:srgbClr val="252525"/>
                </a:solidFill>
                <a:latin typeface="P052"/>
                <a:cs typeface="P052"/>
              </a:rPr>
              <a:t> </a:t>
            </a:r>
            <a:r>
              <a:rPr sz="2400" dirty="0">
                <a:solidFill>
                  <a:srgbClr val="252525"/>
                </a:solidFill>
                <a:latin typeface="P052"/>
                <a:cs typeface="P052"/>
              </a:rPr>
              <a:t>to</a:t>
            </a:r>
            <a:r>
              <a:rPr sz="2400" spc="-50" dirty="0">
                <a:solidFill>
                  <a:srgbClr val="252525"/>
                </a:solidFill>
                <a:latin typeface="P052"/>
                <a:cs typeface="P052"/>
              </a:rPr>
              <a:t> </a:t>
            </a:r>
            <a:r>
              <a:rPr sz="2400" dirty="0">
                <a:solidFill>
                  <a:srgbClr val="252525"/>
                </a:solidFill>
                <a:latin typeface="P052"/>
                <a:cs typeface="P052"/>
              </a:rPr>
              <a:t>support</a:t>
            </a:r>
            <a:r>
              <a:rPr sz="2400" spc="-55" dirty="0">
                <a:solidFill>
                  <a:srgbClr val="252525"/>
                </a:solidFill>
                <a:latin typeface="P052"/>
                <a:cs typeface="P052"/>
              </a:rPr>
              <a:t> </a:t>
            </a:r>
            <a:r>
              <a:rPr sz="2400" dirty="0">
                <a:solidFill>
                  <a:srgbClr val="252525"/>
                </a:solidFill>
                <a:latin typeface="P052"/>
                <a:cs typeface="P052"/>
              </a:rPr>
              <a:t>the</a:t>
            </a:r>
            <a:r>
              <a:rPr sz="2400" spc="-45" dirty="0">
                <a:solidFill>
                  <a:srgbClr val="252525"/>
                </a:solidFill>
                <a:latin typeface="P052"/>
                <a:cs typeface="P052"/>
              </a:rPr>
              <a:t> </a:t>
            </a:r>
            <a:r>
              <a:rPr sz="2400" dirty="0">
                <a:solidFill>
                  <a:srgbClr val="252525"/>
                </a:solidFill>
                <a:latin typeface="P052"/>
                <a:cs typeface="P052"/>
              </a:rPr>
              <a:t>model</a:t>
            </a:r>
            <a:r>
              <a:rPr sz="2400" spc="-45" dirty="0">
                <a:solidFill>
                  <a:srgbClr val="252525"/>
                </a:solidFill>
                <a:latin typeface="P052"/>
                <a:cs typeface="P052"/>
              </a:rPr>
              <a:t> </a:t>
            </a:r>
            <a:r>
              <a:rPr sz="2400" dirty="0">
                <a:solidFill>
                  <a:srgbClr val="252525"/>
                </a:solidFill>
                <a:latin typeface="P052"/>
                <a:cs typeface="P052"/>
              </a:rPr>
              <a:t>during</a:t>
            </a:r>
            <a:r>
              <a:rPr sz="2400" spc="-55" dirty="0">
                <a:solidFill>
                  <a:srgbClr val="252525"/>
                </a:solidFill>
                <a:latin typeface="P052"/>
                <a:cs typeface="P052"/>
              </a:rPr>
              <a:t> </a:t>
            </a:r>
            <a:r>
              <a:rPr sz="2400" dirty="0">
                <a:solidFill>
                  <a:srgbClr val="252525"/>
                </a:solidFill>
                <a:latin typeface="P052"/>
                <a:cs typeface="P052"/>
              </a:rPr>
              <a:t>the</a:t>
            </a:r>
            <a:r>
              <a:rPr sz="2400" spc="-45" dirty="0">
                <a:solidFill>
                  <a:srgbClr val="252525"/>
                </a:solidFill>
                <a:latin typeface="P052"/>
                <a:cs typeface="P052"/>
              </a:rPr>
              <a:t> </a:t>
            </a:r>
            <a:r>
              <a:rPr sz="2400" spc="-10" dirty="0">
                <a:solidFill>
                  <a:srgbClr val="252525"/>
                </a:solidFill>
                <a:latin typeface="P052"/>
                <a:cs typeface="P052"/>
              </a:rPr>
              <a:t>build. </a:t>
            </a:r>
            <a:r>
              <a:rPr sz="2400" dirty="0">
                <a:solidFill>
                  <a:srgbClr val="252525"/>
                </a:solidFill>
                <a:latin typeface="P052"/>
                <a:cs typeface="P052"/>
              </a:rPr>
              <a:t>Supports</a:t>
            </a:r>
            <a:r>
              <a:rPr sz="2400" spc="-50" dirty="0">
                <a:solidFill>
                  <a:srgbClr val="252525"/>
                </a:solidFill>
                <a:latin typeface="P052"/>
                <a:cs typeface="P052"/>
              </a:rPr>
              <a:t> </a:t>
            </a:r>
            <a:r>
              <a:rPr sz="2400" dirty="0">
                <a:solidFill>
                  <a:srgbClr val="252525"/>
                </a:solidFill>
                <a:latin typeface="P052"/>
                <a:cs typeface="P052"/>
              </a:rPr>
              <a:t>are</a:t>
            </a:r>
            <a:r>
              <a:rPr sz="2400" spc="-45" dirty="0">
                <a:solidFill>
                  <a:srgbClr val="252525"/>
                </a:solidFill>
                <a:latin typeface="P052"/>
                <a:cs typeface="P052"/>
              </a:rPr>
              <a:t> </a:t>
            </a:r>
            <a:r>
              <a:rPr sz="2400" dirty="0">
                <a:solidFill>
                  <a:srgbClr val="252525"/>
                </a:solidFill>
                <a:latin typeface="P052"/>
                <a:cs typeface="P052"/>
              </a:rPr>
              <a:t>useful</a:t>
            </a:r>
            <a:r>
              <a:rPr sz="2400" spc="-55" dirty="0">
                <a:solidFill>
                  <a:srgbClr val="252525"/>
                </a:solidFill>
                <a:latin typeface="P052"/>
                <a:cs typeface="P052"/>
              </a:rPr>
              <a:t> </a:t>
            </a:r>
            <a:r>
              <a:rPr sz="2400" dirty="0">
                <a:solidFill>
                  <a:srgbClr val="252525"/>
                </a:solidFill>
                <a:latin typeface="P052"/>
                <a:cs typeface="P052"/>
              </a:rPr>
              <a:t>for</a:t>
            </a:r>
            <a:r>
              <a:rPr sz="2400" spc="-40" dirty="0">
                <a:solidFill>
                  <a:srgbClr val="252525"/>
                </a:solidFill>
                <a:latin typeface="P052"/>
                <a:cs typeface="P052"/>
              </a:rPr>
              <a:t> </a:t>
            </a:r>
            <a:r>
              <a:rPr sz="2400" dirty="0">
                <a:solidFill>
                  <a:srgbClr val="252525"/>
                </a:solidFill>
                <a:latin typeface="P052"/>
                <a:cs typeface="P052"/>
              </a:rPr>
              <a:t>delicate</a:t>
            </a:r>
            <a:r>
              <a:rPr sz="2400" spc="-35" dirty="0">
                <a:solidFill>
                  <a:srgbClr val="252525"/>
                </a:solidFill>
                <a:latin typeface="P052"/>
                <a:cs typeface="P052"/>
              </a:rPr>
              <a:t> </a:t>
            </a:r>
            <a:r>
              <a:rPr sz="2400" dirty="0">
                <a:solidFill>
                  <a:srgbClr val="252525"/>
                </a:solidFill>
                <a:latin typeface="P052"/>
                <a:cs typeface="P052"/>
              </a:rPr>
              <a:t>features</a:t>
            </a:r>
            <a:r>
              <a:rPr sz="2400" spc="-50" dirty="0">
                <a:solidFill>
                  <a:srgbClr val="252525"/>
                </a:solidFill>
                <a:latin typeface="P052"/>
                <a:cs typeface="P052"/>
              </a:rPr>
              <a:t> </a:t>
            </a:r>
            <a:r>
              <a:rPr sz="2400" dirty="0">
                <a:solidFill>
                  <a:srgbClr val="252525"/>
                </a:solidFill>
                <a:latin typeface="P052"/>
                <a:cs typeface="P052"/>
              </a:rPr>
              <a:t>such</a:t>
            </a:r>
            <a:r>
              <a:rPr sz="2400" spc="-60" dirty="0">
                <a:solidFill>
                  <a:srgbClr val="252525"/>
                </a:solidFill>
                <a:latin typeface="P052"/>
                <a:cs typeface="P052"/>
              </a:rPr>
              <a:t> </a:t>
            </a:r>
            <a:r>
              <a:rPr sz="2400" spc="-35" dirty="0">
                <a:solidFill>
                  <a:srgbClr val="252525"/>
                </a:solidFill>
                <a:latin typeface="P052"/>
                <a:cs typeface="P052"/>
              </a:rPr>
              <a:t>as </a:t>
            </a:r>
            <a:r>
              <a:rPr sz="2400" dirty="0">
                <a:solidFill>
                  <a:srgbClr val="252525"/>
                </a:solidFill>
                <a:latin typeface="P052"/>
                <a:cs typeface="P052"/>
              </a:rPr>
              <a:t>overhangs,</a:t>
            </a:r>
            <a:r>
              <a:rPr sz="2400" spc="-40" dirty="0">
                <a:solidFill>
                  <a:srgbClr val="252525"/>
                </a:solidFill>
                <a:latin typeface="P052"/>
                <a:cs typeface="P052"/>
              </a:rPr>
              <a:t> </a:t>
            </a:r>
            <a:r>
              <a:rPr sz="2400" dirty="0">
                <a:solidFill>
                  <a:srgbClr val="252525"/>
                </a:solidFill>
                <a:latin typeface="P052"/>
                <a:cs typeface="P052"/>
              </a:rPr>
              <a:t>internal</a:t>
            </a:r>
            <a:r>
              <a:rPr sz="2400" spc="-20" dirty="0">
                <a:solidFill>
                  <a:srgbClr val="252525"/>
                </a:solidFill>
                <a:latin typeface="P052"/>
                <a:cs typeface="P052"/>
              </a:rPr>
              <a:t> </a:t>
            </a:r>
            <a:r>
              <a:rPr sz="2400" dirty="0">
                <a:solidFill>
                  <a:srgbClr val="252525"/>
                </a:solidFill>
                <a:latin typeface="P052"/>
                <a:cs typeface="P052"/>
              </a:rPr>
              <a:t>cavities,</a:t>
            </a:r>
            <a:r>
              <a:rPr sz="2400" spc="-55" dirty="0">
                <a:solidFill>
                  <a:srgbClr val="252525"/>
                </a:solidFill>
                <a:latin typeface="P052"/>
                <a:cs typeface="P052"/>
              </a:rPr>
              <a:t> </a:t>
            </a:r>
            <a:r>
              <a:rPr sz="2400" dirty="0">
                <a:solidFill>
                  <a:srgbClr val="252525"/>
                </a:solidFill>
                <a:latin typeface="P052"/>
                <a:cs typeface="P052"/>
              </a:rPr>
              <a:t>and</a:t>
            </a:r>
            <a:r>
              <a:rPr sz="2400" spc="-45" dirty="0">
                <a:solidFill>
                  <a:srgbClr val="252525"/>
                </a:solidFill>
                <a:latin typeface="P052"/>
                <a:cs typeface="P052"/>
              </a:rPr>
              <a:t> </a:t>
            </a:r>
            <a:r>
              <a:rPr sz="2400" spc="-25" dirty="0">
                <a:solidFill>
                  <a:srgbClr val="252525"/>
                </a:solidFill>
                <a:latin typeface="P052"/>
                <a:cs typeface="P052"/>
              </a:rPr>
              <a:t>thin-</a:t>
            </a:r>
            <a:r>
              <a:rPr sz="2400" spc="-10" dirty="0">
                <a:solidFill>
                  <a:srgbClr val="252525"/>
                </a:solidFill>
                <a:latin typeface="P052"/>
                <a:cs typeface="P052"/>
              </a:rPr>
              <a:t>walled sections.</a:t>
            </a:r>
            <a:endParaRPr sz="2400">
              <a:latin typeface="P052"/>
              <a:cs typeface="P052"/>
            </a:endParaRPr>
          </a:p>
        </p:txBody>
      </p:sp>
      <p:sp>
        <p:nvSpPr>
          <p:cNvPr id="3" name="object 3"/>
          <p:cNvSpPr txBox="1">
            <a:spLocks noGrp="1"/>
          </p:cNvSpPr>
          <p:nvPr>
            <p:ph type="title"/>
          </p:nvPr>
        </p:nvSpPr>
        <p:spPr>
          <a:xfrm>
            <a:off x="1952370" y="674878"/>
            <a:ext cx="5229225" cy="1579880"/>
          </a:xfrm>
          <a:prstGeom prst="rect">
            <a:avLst/>
          </a:prstGeom>
        </p:spPr>
        <p:txBody>
          <a:bodyPr vert="horz" wrap="square" lIns="0" tIns="12700" rIns="0" bIns="0" rtlCol="0">
            <a:spAutoFit/>
          </a:bodyPr>
          <a:lstStyle/>
          <a:p>
            <a:pPr marL="12700">
              <a:lnSpc>
                <a:spcPts val="5760"/>
              </a:lnSpc>
              <a:spcBef>
                <a:spcPts val="100"/>
              </a:spcBef>
              <a:tabLst>
                <a:tab pos="621665" algn="l"/>
                <a:tab pos="3011805" algn="l"/>
              </a:tabLst>
            </a:pPr>
            <a:r>
              <a:rPr sz="4800" b="0" spc="-25" dirty="0">
                <a:latin typeface="P052"/>
                <a:cs typeface="P052"/>
              </a:rPr>
              <a:t>3.</a:t>
            </a:r>
            <a:r>
              <a:rPr sz="4800" b="0" dirty="0">
                <a:latin typeface="P052"/>
                <a:cs typeface="P052"/>
              </a:rPr>
              <a:t>	Slice</a:t>
            </a:r>
            <a:r>
              <a:rPr sz="4800" b="0" spc="-85" dirty="0">
                <a:latin typeface="P052"/>
                <a:cs typeface="P052"/>
              </a:rPr>
              <a:t> </a:t>
            </a:r>
            <a:r>
              <a:rPr sz="4800" b="0" spc="-25" dirty="0">
                <a:latin typeface="P052"/>
                <a:cs typeface="P052"/>
              </a:rPr>
              <a:t>the</a:t>
            </a:r>
            <a:r>
              <a:rPr sz="4800" b="0" dirty="0">
                <a:latin typeface="P052"/>
                <a:cs typeface="P052"/>
              </a:rPr>
              <a:t>	STL</a:t>
            </a:r>
            <a:r>
              <a:rPr sz="4800" b="0" spc="-85" dirty="0">
                <a:latin typeface="P052"/>
                <a:cs typeface="P052"/>
              </a:rPr>
              <a:t> </a:t>
            </a:r>
            <a:r>
              <a:rPr sz="4800" b="0" spc="-20" dirty="0">
                <a:latin typeface="P052"/>
                <a:cs typeface="P052"/>
              </a:rPr>
              <a:t>File</a:t>
            </a:r>
            <a:endParaRPr sz="4800">
              <a:latin typeface="P052"/>
              <a:cs typeface="P052"/>
            </a:endParaRPr>
          </a:p>
          <a:p>
            <a:pPr marL="29845" algn="ctr">
              <a:lnSpc>
                <a:spcPts val="6480"/>
              </a:lnSpc>
            </a:pPr>
            <a:r>
              <a:rPr sz="5400" b="0" spc="9290" dirty="0">
                <a:solidFill>
                  <a:srgbClr val="DBA354"/>
                </a:solidFill>
                <a:latin typeface="Wingdings"/>
                <a:cs typeface="Wingdings"/>
              </a:rPr>
              <a:t></a:t>
            </a:r>
            <a:endParaRPr sz="5400">
              <a:latin typeface="Wingdings"/>
              <a:cs typeface="Wingding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661593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2268</TotalTime>
  <Words>1772</Words>
  <Application>Microsoft Office PowerPoint</Application>
  <PresentationFormat>On-screen Show (4:3)</PresentationFormat>
  <Paragraphs>151</Paragraphs>
  <Slides>25</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Agency FB</vt:lpstr>
      <vt:lpstr>Arial</vt:lpstr>
      <vt:lpstr>Bahnschrift</vt:lpstr>
      <vt:lpstr>Bahnschrift SemiBold</vt:lpstr>
      <vt:lpstr>Book Antiqua</vt:lpstr>
      <vt:lpstr>Calibri</vt:lpstr>
      <vt:lpstr>P052</vt:lpstr>
      <vt:lpstr>Söhne</vt:lpstr>
      <vt:lpstr>Times New Roman</vt:lpstr>
      <vt:lpstr>Wingdings</vt:lpstr>
      <vt:lpstr>Office Theme</vt:lpstr>
      <vt:lpstr>Learning Outcomes</vt:lpstr>
      <vt:lpstr>Rapid Prototyping </vt:lpstr>
      <vt:lpstr>Rapid Prototyping </vt:lpstr>
      <vt:lpstr>PowerPoint Presentation</vt:lpstr>
      <vt:lpstr>PowerPoint Presentation</vt:lpstr>
      <vt:lpstr>PowerPoint Presentation</vt:lpstr>
      <vt:lpstr>PowerPoint Presentation</vt:lpstr>
      <vt:lpstr>PowerPoint Presentation</vt:lpstr>
      <vt:lpstr>PowerPoint Presentation</vt:lpstr>
      <vt:lpstr>FUNDAMENTALS OF RAPID PROTOTYPING</vt:lpstr>
      <vt:lpstr>INPUT</vt:lpstr>
      <vt:lpstr>APPLICATION:</vt:lpstr>
      <vt:lpstr>APPLICATION:</vt:lpstr>
      <vt:lpstr>APPLICATION:</vt:lpstr>
      <vt:lpstr>APPLICATION:</vt:lpstr>
      <vt:lpstr>APPLICATION:</vt:lpstr>
      <vt:lpstr>Classification of Rapid Prototyping System</vt:lpstr>
      <vt:lpstr>Limitations of Rapid prototyping</vt:lpstr>
      <vt:lpstr>Workflow of RP processes </vt:lpstr>
      <vt:lpstr>Workflow of RP processes</vt:lpstr>
      <vt:lpstr>1. CAD Model Creation </vt:lpstr>
      <vt:lpstr>2. Conversion to STL Format </vt:lpstr>
      <vt:lpstr>Example of STL model</vt:lpstr>
      <vt:lpstr>3. Slice the STL File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er.sahilsharmamaruti@gmail.com</cp:lastModifiedBy>
  <cp:revision>1046</cp:revision>
  <dcterms:created xsi:type="dcterms:W3CDTF">2020-12-18T18:59:12Z</dcterms:created>
  <dcterms:modified xsi:type="dcterms:W3CDTF">2023-11-23T06:25:51Z</dcterms:modified>
</cp:coreProperties>
</file>