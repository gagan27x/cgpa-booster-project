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7" r:id="rId37"/>
  </p:sldIdLst>
  <p:sldSz cx="12192000" cy="6858000"/>
  <p:notesSz cx="6858000" cy="9144000"/>
  <p:embeddedFontLs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Palatino Linotype" panose="02040502050505030304" pitchFamily="18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jQS9IfF2uAGMB9bXcAK4JibKHb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31978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</p:txBody>
      </p:sp>
      <p:sp>
        <p:nvSpPr>
          <p:cNvPr id="111" name="Google Shape;11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</p:txBody>
      </p:sp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</p:txBody>
      </p:sp>
      <p:sp>
        <p:nvSpPr>
          <p:cNvPr id="126" name="Google Shape;12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</p:txBody>
      </p:sp>
      <p:sp>
        <p:nvSpPr>
          <p:cNvPr id="134" name="Google Shape;13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A) same day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(Compulsory)</a:t>
            </a:r>
            <a:br>
              <a:rPr lang="en-US"/>
            </a:br>
            <a:endParaRPr/>
          </a:p>
        </p:txBody>
      </p:sp>
      <p:sp>
        <p:nvSpPr>
          <p:cNvPr id="141" name="Google Shape;14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Easy (Compulsory)</a:t>
            </a:r>
            <a:endParaRPr/>
          </a:p>
        </p:txBody>
      </p:sp>
      <p:sp>
        <p:nvSpPr>
          <p:cNvPr id="148" name="Google Shape;14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A) 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(Optional)</a:t>
            </a:r>
            <a:br>
              <a:rPr lang="en-US"/>
            </a:br>
            <a:endParaRPr/>
          </a:p>
        </p:txBody>
      </p:sp>
      <p:sp>
        <p:nvSpPr>
          <p:cNvPr id="155" name="Google Shape;15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Easy (Optional)</a:t>
            </a:r>
            <a:endParaRPr/>
          </a:p>
        </p:txBody>
      </p:sp>
      <p:sp>
        <p:nvSpPr>
          <p:cNvPr id="162" name="Google Shape;16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C) Wednesday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(Compulsory)</a:t>
            </a:r>
            <a:endParaRPr/>
          </a:p>
        </p:txBody>
      </p:sp>
      <p:sp>
        <p:nvSpPr>
          <p:cNvPr id="169" name="Google Shape;16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Easy (Optional)</a:t>
            </a:r>
            <a:endParaRPr/>
          </a:p>
        </p:txBody>
      </p:sp>
      <p:sp>
        <p:nvSpPr>
          <p:cNvPr id="176" name="Google Shape;17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Easy (Compulsory)</a:t>
            </a:r>
            <a:endParaRPr/>
          </a:p>
        </p:txBody>
      </p:sp>
      <p:sp>
        <p:nvSpPr>
          <p:cNvPr id="183" name="Google Shape;18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(Compulsory)</a:t>
            </a:r>
            <a:endParaRPr/>
          </a:p>
        </p:txBody>
      </p:sp>
      <p:sp>
        <p:nvSpPr>
          <p:cNvPr id="190" name="Google Shape;19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(Optional)</a:t>
            </a:r>
            <a:endParaRPr/>
          </a:p>
        </p:txBody>
      </p:sp>
      <p:sp>
        <p:nvSpPr>
          <p:cNvPr id="197" name="Google Shape;19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(Optional)</a:t>
            </a:r>
            <a:endParaRPr/>
          </a:p>
        </p:txBody>
      </p:sp>
      <p:sp>
        <p:nvSpPr>
          <p:cNvPr id="204" name="Google Shape;20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C) Thursday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 (Optional)</a:t>
            </a:r>
            <a:br>
              <a:rPr lang="en-US"/>
            </a:br>
            <a:endParaRPr/>
          </a:p>
        </p:txBody>
      </p:sp>
      <p:sp>
        <p:nvSpPr>
          <p:cNvPr id="211" name="Google Shape;21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A) Sunday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 (Compulsory)</a:t>
            </a:r>
            <a:endParaRPr/>
          </a:p>
        </p:txBody>
      </p:sp>
      <p:sp>
        <p:nvSpPr>
          <p:cNvPr id="218" name="Google Shape;21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A) Saturday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Expert (Compulsory)</a:t>
            </a:r>
            <a:endParaRPr/>
          </a:p>
        </p:txBody>
      </p:sp>
      <p:sp>
        <p:nvSpPr>
          <p:cNvPr id="225" name="Google Shape;22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B) 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(Compulsory)</a:t>
            </a:r>
            <a:br>
              <a:rPr lang="en-US"/>
            </a:br>
            <a:endParaRPr/>
          </a:p>
        </p:txBody>
      </p:sp>
      <p:sp>
        <p:nvSpPr>
          <p:cNvPr id="232" name="Google Shape;23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Easy (Optional)</a:t>
            </a:r>
            <a:endParaRPr/>
          </a:p>
        </p:txBody>
      </p:sp>
      <p:sp>
        <p:nvSpPr>
          <p:cNvPr id="239" name="Google Shape;23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(Compulsory)</a:t>
            </a:r>
            <a:endParaRPr/>
          </a:p>
        </p:txBody>
      </p:sp>
      <p:sp>
        <p:nvSpPr>
          <p:cNvPr id="246" name="Google Shape;24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(Optional)</a:t>
            </a:r>
            <a:endParaRPr/>
          </a:p>
        </p:txBody>
      </p:sp>
      <p:sp>
        <p:nvSpPr>
          <p:cNvPr id="253" name="Google Shape;25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Option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Expert (Optional)</a:t>
            </a:r>
            <a:endParaRPr/>
          </a:p>
        </p:txBody>
      </p:sp>
      <p:sp>
        <p:nvSpPr>
          <p:cNvPr id="260" name="Google Shape;26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Expert (Compulsory)</a:t>
            </a:r>
            <a:br>
              <a:rPr lang="en-US"/>
            </a:br>
            <a:br>
              <a:rPr lang="en-US"/>
            </a:br>
            <a:br>
              <a:rPr lang="en-US"/>
            </a:br>
            <a:endParaRPr sz="12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(Compulsory)</a:t>
            </a:r>
            <a:endParaRPr/>
          </a:p>
        </p:txBody>
      </p:sp>
      <p:sp>
        <p:nvSpPr>
          <p:cNvPr id="281" name="Google Shape;281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(Optional)</a:t>
            </a:r>
            <a:endParaRPr/>
          </a:p>
        </p:txBody>
      </p:sp>
      <p:sp>
        <p:nvSpPr>
          <p:cNvPr id="288" name="Google Shape;288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(Compulsory)</a:t>
            </a:r>
            <a:endParaRPr/>
          </a:p>
        </p:txBody>
      </p:sp>
      <p:sp>
        <p:nvSpPr>
          <p:cNvPr id="295" name="Google Shape;295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(Optional)</a:t>
            </a:r>
            <a:endParaRPr/>
          </a:p>
        </p:txBody>
      </p:sp>
      <p:sp>
        <p:nvSpPr>
          <p:cNvPr id="302" name="Google Shape;30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(Compulsory)</a:t>
            </a:r>
            <a:endParaRPr/>
          </a:p>
        </p:txBody>
      </p:sp>
      <p:sp>
        <p:nvSpPr>
          <p:cNvPr id="309" name="Google Shape;309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(Compulsory)</a:t>
            </a:r>
            <a:endParaRPr/>
          </a:p>
        </p:txBody>
      </p:sp>
      <p:sp>
        <p:nvSpPr>
          <p:cNvPr id="316" name="Google Shape;316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Moderate (Optional)</a:t>
            </a:r>
            <a:endParaRPr/>
          </a:p>
        </p:txBody>
      </p:sp>
      <p:sp>
        <p:nvSpPr>
          <p:cNvPr id="323" name="Google Shape;32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B) 4th,11th,18th,25</a:t>
            </a:r>
            <a:r>
              <a:rPr lang="en-US" sz="1200" b="0" i="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endParaRPr sz="1200"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Expert (Compulsory)</a:t>
            </a:r>
            <a:endParaRPr/>
          </a:p>
        </p:txBody>
      </p:sp>
      <p:sp>
        <p:nvSpPr>
          <p:cNvPr id="330" name="Google Shape;330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D) 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 (Compulsory)</a:t>
            </a:r>
            <a:br>
              <a:rPr lang="en-US"/>
            </a:br>
            <a:endParaRPr/>
          </a:p>
        </p:txBody>
      </p:sp>
      <p:sp>
        <p:nvSpPr>
          <p:cNvPr id="337" name="Google Shape;337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A) 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 (Compulsory)</a:t>
            </a:r>
            <a:endParaRPr/>
          </a:p>
        </p:txBody>
      </p:sp>
      <p:sp>
        <p:nvSpPr>
          <p:cNvPr id="344" name="Google Shape;344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4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4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4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5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5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Palatino Linotyp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lvl="1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6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7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7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8"/>
          <p:cNvSpPr txBox="1"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  <a:defRPr sz="4800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5" name="Google Shape;45;p48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6" name="Google Shape;46;p48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7" name="Google Shape;47;p4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9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body" idx="1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9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4" name="Google Shape;54;p49"/>
          <p:cNvSpPr txBox="1">
            <a:spLocks noGrp="1"/>
          </p:cNvSpPr>
          <p:nvPr>
            <p:ph type="body" idx="2"/>
          </p:nvPr>
        </p:nvSpPr>
        <p:spPr>
          <a:xfrm>
            <a:off x="487680" y="1600200"/>
            <a:ext cx="5388864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0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50"/>
          <p:cNvSpPr txBox="1">
            <a:spLocks noGrp="1"/>
          </p:cNvSpPr>
          <p:nvPr>
            <p:ph type="body" idx="2"/>
          </p:nvPr>
        </p:nvSpPr>
        <p:spPr>
          <a:xfrm>
            <a:off x="6197601" y="1600200"/>
            <a:ext cx="538903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50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0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0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62" name="Google Shape;62;p50"/>
          <p:cNvSpPr txBox="1">
            <a:spLocks noGrp="1"/>
          </p:cNvSpPr>
          <p:nvPr>
            <p:ph type="body" idx="3"/>
          </p:nvPr>
        </p:nvSpPr>
        <p:spPr>
          <a:xfrm>
            <a:off x="609600" y="2212848"/>
            <a:ext cx="5388864" cy="391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50"/>
          <p:cNvSpPr txBox="1">
            <a:spLocks noGrp="1"/>
          </p:cNvSpPr>
          <p:nvPr>
            <p:ph type="body" idx="4"/>
          </p:nvPr>
        </p:nvSpPr>
        <p:spPr>
          <a:xfrm>
            <a:off x="6230112" y="2212849"/>
            <a:ext cx="5388864" cy="391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1"/>
          <p:cNvSpPr txBox="1"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latino Linotype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1"/>
          <p:cNvSpPr txBox="1">
            <a:spLocks noGrp="1"/>
          </p:cNvSpPr>
          <p:nvPr>
            <p:ph type="body" idx="1"/>
          </p:nvPr>
        </p:nvSpPr>
        <p:spPr>
          <a:xfrm>
            <a:off x="958850" y="273051"/>
            <a:ext cx="6661151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7F7F7F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7F7F7F"/>
              </a:buClr>
              <a:buSzPts val="2800"/>
              <a:buChar char="o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51"/>
          <p:cNvSpPr txBox="1">
            <a:spLocks noGrp="1"/>
          </p:cNvSpPr>
          <p:nvPr>
            <p:ph type="body" idx="2"/>
          </p:nvPr>
        </p:nvSpPr>
        <p:spPr>
          <a:xfrm>
            <a:off x="7876117" y="2438401"/>
            <a:ext cx="4011084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5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1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1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2"/>
          <p:cNvSpPr txBox="1"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latino Linotype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2"/>
          <p:cNvSpPr>
            <a:spLocks noGrp="1"/>
          </p:cNvSpPr>
          <p:nvPr>
            <p:ph type="pic" idx="2"/>
          </p:nvPr>
        </p:nvSpPr>
        <p:spPr>
          <a:xfrm>
            <a:off x="2010835" y="1143000"/>
            <a:ext cx="8072965" cy="4541044"/>
          </a:xfrm>
          <a:prstGeom prst="rect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50800" dir="5400000" algn="ctr" rotWithShape="0">
              <a:srgbClr val="000000">
                <a:alpha val="24705"/>
              </a:srgbClr>
            </a:outerShdw>
          </a:effectLst>
        </p:spPr>
      </p:sp>
      <p:sp>
        <p:nvSpPr>
          <p:cNvPr id="74" name="Google Shape;74;p52"/>
          <p:cNvSpPr txBox="1">
            <a:spLocks noGrp="1"/>
          </p:cNvSpPr>
          <p:nvPr>
            <p:ph type="body" idx="1"/>
          </p:nvPr>
        </p:nvSpPr>
        <p:spPr>
          <a:xfrm>
            <a:off x="2239435" y="5810250"/>
            <a:ext cx="761576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2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2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2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3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3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3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3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3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4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4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54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4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4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0000">
              <a:schemeClr val="lt1"/>
            </a:gs>
            <a:gs pos="76000">
              <a:srgbClr val="F3F3F3"/>
            </a:gs>
            <a:gs pos="92000">
              <a:srgbClr val="D8D8D8"/>
            </a:gs>
            <a:gs pos="100000">
              <a:srgbClr val="D8D8D8"/>
            </a:gs>
          </a:gsLst>
          <a:path path="circle">
            <a:fillToRect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5" name="Google Shape;15;p43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6" name="Google Shape;16;p43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5722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title"/>
          </p:nvPr>
        </p:nvSpPr>
        <p:spPr>
          <a:xfrm>
            <a:off x="513347" y="1905007"/>
            <a:ext cx="11229474" cy="326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Palatino Linotype"/>
              <a:buNone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CALENDAR</a:t>
            </a:r>
            <a:endParaRPr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ctr" rtl="0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Palatino Linotype"/>
              <a:buNone/>
            </a:pPr>
            <a:br>
              <a:rPr lang="en-US" b="1" dirty="0">
                <a:solidFill>
                  <a:srgbClr val="C00000"/>
                </a:solidFill>
              </a:rPr>
            </a:b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475989" y="1427967"/>
            <a:ext cx="112233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563659" y="902099"/>
            <a:ext cx="8455056" cy="4268399"/>
            <a:chOff x="106947" y="1135467"/>
            <a:chExt cx="11273408" cy="1452786"/>
          </a:xfrm>
        </p:grpSpPr>
        <p:sp>
          <p:nvSpPr>
            <p:cNvPr id="106" name="Google Shape;106;p2"/>
            <p:cNvSpPr/>
            <p:nvPr/>
          </p:nvSpPr>
          <p:spPr>
            <a:xfrm>
              <a:off x="407555" y="1377303"/>
              <a:ext cx="10972800" cy="121095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106947" y="1135467"/>
              <a:ext cx="10972800" cy="1210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1275" tIns="15225" rIns="85325" bIns="15225" anchor="t" anchorCtr="0">
              <a:noAutofit/>
            </a:bodyPr>
            <a:lstStyle/>
            <a:p>
              <a:pPr marL="128588" indent="-128588">
                <a:lnSpc>
                  <a:spcPct val="90000"/>
                </a:lnSpc>
                <a:buSzPts val="1600"/>
                <a:buFont typeface="Palatino Linotype"/>
                <a:buChar char="•"/>
              </a:pPr>
              <a:endParaRPr lang="en-US" sz="3200" b="0" i="0" u="none" strike="noStrike" cap="none" dirty="0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  <a:p>
              <a:pPr marL="128588" indent="-128588">
                <a:lnSpc>
                  <a:spcPct val="90000"/>
                </a:lnSpc>
                <a:buSzPts val="1600"/>
                <a:buFont typeface="Palatino Linotype"/>
                <a:buChar char="•"/>
              </a:pPr>
              <a:endParaRPr lang="en-US" sz="3200" dirty="0">
                <a:latin typeface="Palatino Linotype"/>
                <a:ea typeface="Palatino Linotype"/>
                <a:cs typeface="Palatino Linotype"/>
                <a:sym typeface="Palatino Linotype"/>
              </a:endParaRPr>
            </a:p>
            <a:p>
              <a:pPr marL="128588" indent="-128588">
                <a:lnSpc>
                  <a:spcPct val="90000"/>
                </a:lnSpc>
                <a:buSzPts val="1600"/>
                <a:buFont typeface="Palatino Linotype"/>
                <a:buChar char="•"/>
              </a:pPr>
              <a:r>
                <a:rPr lang="en-US" sz="3200" b="0" i="0" u="none" strike="noStrike" cap="none" dirty="0">
                  <a:solidFill>
                    <a:srgbClr val="000000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Introduction</a:t>
              </a:r>
              <a:endParaRPr sz="3200" dirty="0"/>
            </a:p>
            <a:p>
              <a:pPr marL="128588" marR="0" lvl="1" indent="-128588" algn="l" rtl="0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alatino Linotype"/>
                <a:buChar char="•"/>
              </a:pPr>
              <a:r>
                <a:rPr lang="en-US" sz="3200" b="0" i="0" u="none" strike="noStrike" cap="none" dirty="0">
                  <a:solidFill>
                    <a:schemeClr val="dk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Concept of odd days </a:t>
              </a:r>
              <a:endParaRPr sz="3200" dirty="0"/>
            </a:p>
            <a:p>
              <a:pPr marL="128588" marR="0" lvl="1" indent="-128588" algn="l" rtl="0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alatino Linotype"/>
                <a:buChar char="•"/>
              </a:pPr>
              <a:r>
                <a:rPr lang="en-US" sz="3200" b="0" i="0" u="none" strike="noStrike" cap="none" dirty="0">
                  <a:solidFill>
                    <a:schemeClr val="dk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Leap and non-leap years and centuries</a:t>
              </a:r>
              <a:endParaRPr sz="3200" dirty="0"/>
            </a:p>
            <a:p>
              <a:pPr marL="128588" marR="0" lvl="1" indent="-128588" algn="l" rtl="0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alatino Linotype"/>
                <a:buChar char="•"/>
              </a:pPr>
              <a:r>
                <a:rPr lang="en-US" sz="3200" b="0" i="0" u="none" strike="noStrike" cap="none" dirty="0">
                  <a:solidFill>
                    <a:schemeClr val="dk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Same calendar concept </a:t>
              </a:r>
              <a:endParaRPr sz="3200" dirty="0"/>
            </a:p>
            <a:p>
              <a:pPr marL="128588" marR="0" lvl="1" indent="-128588" algn="l" rtl="0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alatino Linotype"/>
                <a:buChar char="•"/>
              </a:pPr>
              <a:r>
                <a:rPr lang="en-US" sz="3200" b="0" i="0" u="none" strike="noStrike" cap="none" dirty="0">
                  <a:solidFill>
                    <a:schemeClr val="dk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Finding day on a given date </a:t>
              </a:r>
              <a:endParaRPr sz="3200" dirty="0"/>
            </a:p>
            <a:p>
              <a:pPr marL="128588" marR="0" lvl="1" indent="-128588" algn="l" rtl="0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alatino Linotype"/>
                <a:buChar char="•"/>
              </a:pPr>
              <a:r>
                <a:rPr lang="en-US" sz="3200" b="0" i="0" u="none" strike="noStrike" cap="none" dirty="0">
                  <a:solidFill>
                    <a:schemeClr val="dk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Miscellaneous  questions  </a:t>
              </a:r>
              <a:endParaRPr sz="3200" b="0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475989" y="1427967"/>
            <a:ext cx="11223321" cy="495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Counting odd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Odd days in an ordinary year:</a:t>
            </a: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An ordinary year contains 365 days. On dividing 365 by 7, we get 1 as a remainder (52*7 +1) or (52 weeks + 1 day). It means an ordinary year has one odd day.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Odd days in a leap year:</a:t>
            </a: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A leap year contains 366. On dividing 366 by 7, we get 2 as remainder (52*7 + 2) or (52 weeks + 2). It means a leap year has two odd days.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Odd days in a century:</a:t>
            </a: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A century has 76 ordinary years and 24 leap years.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∴100 years = 76 ordinary years + 24 leap years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= [(76*52) weeks + 76 odd days] + [(24*52) weeks + 48 odd days]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= [(100*52) weeks + 124 odd days]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= (5200 weeks + 17 weeks + 5 odd days)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= (5217 weeks + 5 odd days)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∴A century or 100 years have 5 odd days.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Similarly, in 200 years, there will be 10 (5+5) days, 7 days (1 week) + 3 odd days. So, 200 years have 3 odd days.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354904" y="1376530"/>
            <a:ext cx="60960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Tables of odd </a:t>
            </a:r>
            <a:endParaRPr sz="2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a.) Table showing the relation between the year and the number of odd </a:t>
            </a:r>
            <a:endParaRPr/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015" y="2922610"/>
            <a:ext cx="8517830" cy="3636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313151" y="1414821"/>
            <a:ext cx="90563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b.) Table showing the relation between the day of the week and the number of odd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089" y="1968740"/>
            <a:ext cx="8926425" cy="4131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475989" y="1427967"/>
            <a:ext cx="11223321" cy="495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Points to remember</a:t>
            </a: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1. Problems on calendar mainly deal with finding the day of the week on a given date using the number of odd days.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2. </a:t>
            </a:r>
            <a:r>
              <a:rPr lang="en-US" sz="1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Odd days:</a:t>
            </a: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Odd days are different from odd numbers. They are the number of days more than the complete number of weeks in a given period.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3. To find the number of odd days divide the given number of by seven. The remainder left represents the number of odd days.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For example:</a:t>
            </a: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if the given number of days is 80, after dividing 80 by 7, the remainder left is 3. Hence, there are three odd days.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Similarly, if the given number of days is 77, after dividing 77 by 7, the remainder left is 0. Hence, there are 0 odd days.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4. </a:t>
            </a:r>
            <a:r>
              <a:rPr lang="en-US" sz="1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Ordinary year:</a:t>
            </a: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A year which is not a leap year is called an ordinary year. It has 365 days.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5. </a:t>
            </a:r>
            <a:r>
              <a:rPr lang="en-US" sz="1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Leap year:</a:t>
            </a: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A year which is divisible by 4 is called a leap year, e.g. 1992, 1996, 2000, etc., are leap years. A leap year has 366 days. If the year is a century, it will be a leap year if it is divisible by 400, i.e. every 4th century is a leap year, e.g. 400, 800, 1200, etc., but 200, 500, 1900, etc., are not leap years.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615463" y="1195754"/>
            <a:ext cx="718472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1.What is two weeks from today?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A]Same day               B] Previous day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Next day               D] None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510742" y="1237222"/>
            <a:ext cx="1013451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2.How many days are there in k weeks k days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A]8+K  DAYS                                  B] 7+K DAYS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8K DAYS                                    D] 7/K DAYS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/>
          <p:nvPr/>
        </p:nvSpPr>
        <p:spPr>
          <a:xfrm>
            <a:off x="474786" y="791308"/>
            <a:ext cx="734623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3. How many weekends in a non-leap year?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A] 52                                  B] 53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C] 103                                D] 104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What is the number of odd days in a leap year?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1            		B] 2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3			D] 4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457200" y="896816"/>
            <a:ext cx="1173480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5.If the third day of a month is Tuesday, which of the following would be the 25th day of that month?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A] Tuesday                                    B] Monday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C] Wednesday                              D] Sunday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Today is Wednesday, What will be the day after 27 days?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Monday            		B] Wednesday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Friday			D] Tuesday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Today is Wednesday, What will be the day after 62 days?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Monday            		B] Wednesday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Friday			D] Tuesday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545432" y="994156"/>
            <a:ext cx="11085094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Arnav's birthday is on Tuesday 14th March. On what day of the week will be Pranay's Birthday in the same year if Pranay was born on 13th September?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Monday             		B] Tuesday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Wednesday			D] Thursday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/>
          <p:nvPr/>
        </p:nvSpPr>
        <p:spPr>
          <a:xfrm>
            <a:off x="545432" y="994156"/>
            <a:ext cx="11085094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Aniruddh's birthday is on Sunday 2nd April. On what day of the week will be Priyansh's Birthday in the same year if Priyansh was born on 28th October?</a:t>
            </a: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Saturday     		B] Wednesday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Friday			D] Thursday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/>
          <p:nvPr/>
        </p:nvSpPr>
        <p:spPr>
          <a:xfrm>
            <a:off x="545432" y="994156"/>
            <a:ext cx="11085094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Priya's birthday is on Tuesday 11th April. On what day of the week will be Rani's Birthday in the same year if Rani was born on 31st August?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Monday           			B] Wednesday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Tuesday				D] Thursday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/>
          <p:nvPr/>
        </p:nvSpPr>
        <p:spPr>
          <a:xfrm>
            <a:off x="422031" y="844062"/>
            <a:ext cx="8721969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11.If Feb 12th,1986 falls on Wednesday then Jan 1st,1987 falls on which day?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A] Wednesday                        B] Tuesday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C] Thursday                            D] Friday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693683" y="1179964"/>
            <a:ext cx="100584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12.If 6th March, 2005 is Monday, what was the day of the week on 6th March, 2004?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A] Sunday                              B] Saturday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C] Tuesday                             D] Wednesday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/>
          <p:nvPr/>
        </p:nvSpPr>
        <p:spPr>
          <a:xfrm>
            <a:off x="439615" y="1143001"/>
            <a:ext cx="1144758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13.Given that on 9th August 2016 is Saturday. What was the day on 9th August 1616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A] Saturday                               B] Sunday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C] Friday                                    D] Monday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/>
          <p:nvPr/>
        </p:nvSpPr>
        <p:spPr>
          <a:xfrm>
            <a:off x="703385" y="1336431"/>
            <a:ext cx="1058593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14.The maximum gap between two successive leap year is?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A]4                                              B]8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C] 2                                             D]1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15. Which of the following is not a leap year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800           			B] 900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1600			D] 2400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 How many leap years are there in 160 years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80          		B] 90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39			D] 40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 How many leap years are there in between 2000 to 2160 years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80          		B] 90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39			D] 40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18. How many leap years are there in 900 years</a:t>
            </a:r>
            <a:r>
              <a:rPr lang="en-US" sz="24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218      		B] 217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225			D] 223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/>
          <p:nvPr/>
        </p:nvSpPr>
        <p:spPr>
          <a:xfrm>
            <a:off x="436098" y="1125415"/>
            <a:ext cx="753237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19.The last day of a century cannot be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A] Tuesday                              B] Saturday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C] Thursday                            D]All of the above</a:t>
            </a:r>
            <a:endParaRPr/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None/>
            </a:pP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21.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Which of the calendars would be same as that of the year 1907?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1918              		B] 1917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1915			D] 1916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"/>
          <p:cNvSpPr/>
          <p:nvPr/>
        </p:nvSpPr>
        <p:spPr>
          <a:xfrm>
            <a:off x="465221" y="1026241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22.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Which of the calendars would be same as that of the year 1965?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1970            		B] 1971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1972			D] 1973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23.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Which of the calendars would be same as that of the year 2028?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2056          		 	B] 2057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2058			D] 2059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Which of the calendars would be same as that of the year 2032?</a:t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2002             		B] 2003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2004			D] 2005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25.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What was the day of the week on 20th May, 2007?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Sunday       		B] Monday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Tuesday			D] Wednesday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26.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What was the day of the week on 20th April, 1806?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Sunday       		B] Monday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Tuesday			D] Wednesday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4"/>
          <p:cNvSpPr/>
          <p:nvPr/>
        </p:nvSpPr>
        <p:spPr>
          <a:xfrm>
            <a:off x="545432" y="994156"/>
            <a:ext cx="1108509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27.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What was the day of the week on 01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Jan, 1996?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A] Sunday       		B] Monday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C] Tuesday			D] Wednesday</a:t>
            </a:r>
            <a:endParaRPr sz="2400" baseline="30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/>
          <p:nvPr/>
        </p:nvSpPr>
        <p:spPr>
          <a:xfrm>
            <a:off x="520611" y="983673"/>
            <a:ext cx="796679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28.On what dates of April, 2001 did Wednesday fall?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A] 2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nd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,9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,16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,23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rd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      B] 4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,11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,18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,25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C] 12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,18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,27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,6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     D] 1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,8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,15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,22</a:t>
            </a:r>
            <a:r>
              <a:rPr lang="en-US" sz="2400" baseline="30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nd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"/>
          <p:cNvSpPr/>
          <p:nvPr/>
        </p:nvSpPr>
        <p:spPr>
          <a:xfrm>
            <a:off x="334109" y="1090246"/>
            <a:ext cx="11703216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29. If every seconds Saturday and all Sundays are holidays in a 30 days month beginning on Saturday, then how many working days are there in that month ? (Month starts from Saturday)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A] 25                                                      B] 24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C] 22                                                      D] 23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7"/>
          <p:cNvSpPr/>
          <p:nvPr/>
        </p:nvSpPr>
        <p:spPr>
          <a:xfrm>
            <a:off x="562708" y="984738"/>
            <a:ext cx="9900138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30.Second &amp; fourth Saturdays and every Sunday is a holiday. How many working days will be there in a month of 31 days beginning on a Friday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A] 24                                                        B] 23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C] 22                                                       D] 25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>
            <a:spLocks noGrp="1"/>
          </p:cNvSpPr>
          <p:nvPr>
            <p:ph type="sldNum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/>
          </a:p>
        </p:txBody>
      </p:sp>
      <p:sp>
        <p:nvSpPr>
          <p:cNvPr id="389" name="Google Shape;389;p42"/>
          <p:cNvSpPr/>
          <p:nvPr/>
        </p:nvSpPr>
        <p:spPr>
          <a:xfrm>
            <a:off x="3724201" y="2967335"/>
            <a:ext cx="474360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cap="none" dirty="0">
                <a:solidFill>
                  <a:schemeClr val="tx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Any </a:t>
            </a:r>
            <a:r>
              <a:rPr lang="en-US" sz="5400" b="1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Doubts</a:t>
            </a:r>
            <a:r>
              <a:rPr lang="en-US" sz="5400" b="1" cap="none" dirty="0">
                <a:solidFill>
                  <a:schemeClr val="tx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???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ecutive">
  <a:themeElements>
    <a:clrScheme name="Executive">
      <a:dk1>
        <a:srgbClr val="000000"/>
      </a:dk1>
      <a:lt1>
        <a:srgbClr val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1818</Words>
  <Application>Microsoft Office PowerPoint</Application>
  <PresentationFormat>Widescreen</PresentationFormat>
  <Paragraphs>228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Century Gothic</vt:lpstr>
      <vt:lpstr>Times New Roman</vt:lpstr>
      <vt:lpstr>Palatino Linotype</vt:lpstr>
      <vt:lpstr>Calibri</vt:lpstr>
      <vt:lpstr>Arial</vt:lpstr>
      <vt:lpstr>Executive</vt:lpstr>
      <vt:lpstr>CALENDAR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CALENDAR L - 2  </dc:title>
  <dc:creator>cu</dc:creator>
  <cp:lastModifiedBy>Akshara Rana</cp:lastModifiedBy>
  <cp:revision>5</cp:revision>
  <dcterms:created xsi:type="dcterms:W3CDTF">2017-07-13T07:57:18Z</dcterms:created>
  <dcterms:modified xsi:type="dcterms:W3CDTF">2025-09-15T14:17:14Z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12613C00-399C-43BE-915C-184C2582EF5B</vt:lpwstr>
  </property>
  <property fmtid="{D5CDD505-2E9C-101B-9397-08002B2CF9AE}" pid="3" name="ArticulatePath">
    <vt:lpwstr>Calendar Class ppt (1)</vt:lpwstr>
  </property>
</Properties>
</file>