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23"/>
  </p:notesMasterIdLst>
  <p:sldIdLst>
    <p:sldId id="256" r:id="rId2"/>
    <p:sldId id="318" r:id="rId3"/>
    <p:sldId id="319" r:id="rId4"/>
    <p:sldId id="320" r:id="rId5"/>
    <p:sldId id="321" r:id="rId6"/>
    <p:sldId id="322" r:id="rId7"/>
    <p:sldId id="313" r:id="rId8"/>
    <p:sldId id="314" r:id="rId9"/>
    <p:sldId id="315" r:id="rId10"/>
    <p:sldId id="316" r:id="rId11"/>
    <p:sldId id="317" r:id="rId12"/>
    <p:sldId id="281" r:id="rId13"/>
    <p:sldId id="267" r:id="rId14"/>
    <p:sldId id="276" r:id="rId15"/>
    <p:sldId id="260" r:id="rId16"/>
    <p:sldId id="323" r:id="rId17"/>
    <p:sldId id="324" r:id="rId18"/>
    <p:sldId id="325" r:id="rId19"/>
    <p:sldId id="326" r:id="rId20"/>
    <p:sldId id="327" r:id="rId21"/>
    <p:sldId id="292" r:id="rId22"/>
  </p:sldIdLst>
  <p:sldSz cx="12192000" cy="6858000"/>
  <p:notesSz cx="6858000" cy="9144000"/>
  <p:embeddedFontLst>
    <p:embeddedFont>
      <p:font typeface="Calibri" pitchFamily="34" charset="0"/>
      <p:regular r:id="rId24"/>
      <p:bold r:id="rId25"/>
      <p:italic r:id="rId26"/>
      <p:boldItalic r:id="rId27"/>
    </p:embeddedFont>
    <p:embeddedFont>
      <p:font typeface="Cambria" pitchFamily="18" charset="0"/>
      <p:regular r:id="rId28"/>
      <p:bold r:id="rId29"/>
      <p:italic r:id="rId30"/>
      <p:boldItalic r:id="rId31"/>
    </p:embeddedFont>
    <p:embeddedFont>
      <p:font typeface="Cambria Math" pitchFamily="18" charset="0"/>
      <p:regular r:id="rId32"/>
    </p:embeddedFont>
    <p:embeddedFont>
      <p:font typeface="Tahoma" pitchFamily="34" charset="0"/>
      <p:regular r:id="rId33"/>
      <p:bold r:id="rId34"/>
    </p:embeddedFont>
    <p:embeddedFont>
      <p:font typeface="Palatino Linotype" pitchFamily="18"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1" roundtripDataSignature="AMtx7mj0SB/WShcLtacAm/mCpHgCgUwPi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606" autoAdjust="0"/>
    <p:restoredTop sz="72067" autoAdjust="0"/>
  </p:normalViewPr>
  <p:slideViewPr>
    <p:cSldViewPr snapToGrid="0">
      <p:cViewPr>
        <p:scale>
          <a:sx n="70" d="100"/>
          <a:sy n="70" d="100"/>
        </p:scale>
        <p:origin x="-924" y="-18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11.fntdata"/><Relationship Id="rId63"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61"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6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spcBef>
                  <a:spcPts val="0"/>
                </a:spcBef>
                <a:spcAft>
                  <a:spcPts val="0"/>
                </a:spcAft>
                <a:buNone/>
              </a:p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0848886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203720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 name="Google Shape;97;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r>
              <a:rPr lang="en-IN" dirty="0"/>
              <a:t>Correct Answer: Option A</a:t>
            </a:r>
          </a:p>
          <a:p>
            <a:r>
              <a:rPr lang="en-IN" dirty="0"/>
              <a:t>Level: Easy (Compulsory)</a:t>
            </a:r>
          </a:p>
        </p:txBody>
      </p:sp>
      <p:sp>
        <p:nvSpPr>
          <p:cNvPr id="98" name="Google Shape;98;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2</a:t>
            </a:fld>
            <a:endParaRPr/>
          </a:p>
        </p:txBody>
      </p:sp>
    </p:spTree>
    <p:extLst>
      <p:ext uri="{BB962C8B-B14F-4D97-AF65-F5344CB8AC3E}">
        <p14:creationId xmlns:p14="http://schemas.microsoft.com/office/powerpoint/2010/main" val="32083537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1" name="Google Shape;241;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r>
              <a:rPr lang="en-IN" dirty="0"/>
              <a:t>Correct Answer: Option A</a:t>
            </a:r>
          </a:p>
          <a:p>
            <a:r>
              <a:rPr lang="en-IN" dirty="0"/>
              <a:t>Level: Easy (Compulsory)</a:t>
            </a:r>
          </a:p>
        </p:txBody>
      </p:sp>
      <p:sp>
        <p:nvSpPr>
          <p:cNvPr id="242" name="Google Shape;242;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3</a:t>
            </a:fld>
            <a:endParaRPr/>
          </a:p>
        </p:txBody>
      </p:sp>
    </p:spTree>
    <p:extLst>
      <p:ext uri="{BB962C8B-B14F-4D97-AF65-F5344CB8AC3E}">
        <p14:creationId xmlns:p14="http://schemas.microsoft.com/office/powerpoint/2010/main" val="7652487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r>
              <a:rPr lang="en-IN" dirty="0"/>
              <a:t>Correct Answer: Option D</a:t>
            </a:r>
          </a:p>
          <a:p>
            <a:r>
              <a:rPr lang="en-IN" dirty="0"/>
              <a:t>Level: Easy (Compulsory)</a:t>
            </a:r>
          </a:p>
        </p:txBody>
      </p:sp>
      <p:sp>
        <p:nvSpPr>
          <p:cNvPr id="137" name="Google Shape;137;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4</a:t>
            </a:fld>
            <a:endParaRPr/>
          </a:p>
        </p:txBody>
      </p:sp>
    </p:spTree>
    <p:extLst>
      <p:ext uri="{BB962C8B-B14F-4D97-AF65-F5344CB8AC3E}">
        <p14:creationId xmlns:p14="http://schemas.microsoft.com/office/powerpoint/2010/main" val="41150133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r>
              <a:rPr lang="en-IN" dirty="0"/>
              <a:t>Correct Answer: Option B</a:t>
            </a:r>
          </a:p>
          <a:p>
            <a:r>
              <a:rPr lang="en-IN" dirty="0"/>
              <a:t>Level: Easy (Compulsory)</a:t>
            </a:r>
          </a:p>
        </p:txBody>
      </p:sp>
      <p:sp>
        <p:nvSpPr>
          <p:cNvPr id="145" name="Google Shape;145;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5</a:t>
            </a:fld>
            <a:endParaRPr/>
          </a:p>
        </p:txBody>
      </p:sp>
    </p:spTree>
    <p:extLst>
      <p:ext uri="{BB962C8B-B14F-4D97-AF65-F5344CB8AC3E}">
        <p14:creationId xmlns:p14="http://schemas.microsoft.com/office/powerpoint/2010/main" val="618835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r>
              <a:rPr lang="en-IN" dirty="0"/>
              <a:t>Correct Answer: Option C</a:t>
            </a:r>
          </a:p>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IN" dirty="0"/>
              <a:t>Level: Easy (Optional)</a:t>
            </a:r>
          </a:p>
          <a:p>
            <a:endParaRPr lang="en-IN" dirty="0"/>
          </a:p>
        </p:txBody>
      </p:sp>
      <p:sp>
        <p:nvSpPr>
          <p:cNvPr id="169" name="Google Shape;169;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6</a:t>
            </a:fld>
            <a:endParaRPr/>
          </a:p>
        </p:txBody>
      </p:sp>
    </p:spTree>
    <p:extLst>
      <p:ext uri="{BB962C8B-B14F-4D97-AF65-F5344CB8AC3E}">
        <p14:creationId xmlns:p14="http://schemas.microsoft.com/office/powerpoint/2010/main" val="7067526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 name="Google Shape;112;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r>
              <a:rPr lang="en-US" dirty="0"/>
              <a:t>Correct Answer: Option B</a:t>
            </a:r>
          </a:p>
          <a:p>
            <a:r>
              <a:rPr lang="en-US" dirty="0"/>
              <a:t>Level: Moderate (Compulsory)</a:t>
            </a:r>
          </a:p>
          <a:p>
            <a:pPr marL="0" lvl="0" indent="0" algn="l" rtl="0">
              <a:spcBef>
                <a:spcPts val="0"/>
              </a:spcBef>
              <a:spcAft>
                <a:spcPts val="0"/>
              </a:spcAft>
              <a:buClr>
                <a:schemeClr val="dk1"/>
              </a:buClr>
              <a:buFont typeface="Arial"/>
              <a:buNone/>
            </a:pPr>
            <a:endParaRPr lang="en-US" dirty="0"/>
          </a:p>
          <a:p>
            <a:pPr marL="0" lvl="0" indent="0" algn="l" rtl="0">
              <a:spcBef>
                <a:spcPts val="0"/>
              </a:spcBef>
              <a:spcAft>
                <a:spcPts val="0"/>
              </a:spcAft>
              <a:buClr>
                <a:schemeClr val="dk1"/>
              </a:buClr>
              <a:buFont typeface="Arial"/>
              <a:buNone/>
            </a:pPr>
            <a:endParaRPr dirty="0"/>
          </a:p>
        </p:txBody>
      </p:sp>
      <p:sp>
        <p:nvSpPr>
          <p:cNvPr id="113" name="Google Shape;113;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7</a:t>
            </a:fld>
            <a:endParaRPr/>
          </a:p>
        </p:txBody>
      </p:sp>
    </p:spTree>
    <p:extLst>
      <p:ext uri="{BB962C8B-B14F-4D97-AF65-F5344CB8AC3E}">
        <p14:creationId xmlns:p14="http://schemas.microsoft.com/office/powerpoint/2010/main" val="31249470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5" name="Google Shape;265;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dirty="0"/>
              <a:t>Correct Answer: Option C</a:t>
            </a:r>
          </a:p>
          <a:p>
            <a:r>
              <a:rPr lang="en-US" dirty="0"/>
              <a:t>Level: Moderate (Compulsory)</a:t>
            </a:r>
          </a:p>
          <a:p>
            <a:pPr marL="0" lvl="0" indent="0" algn="l" rtl="0">
              <a:spcBef>
                <a:spcPts val="0"/>
              </a:spcBef>
              <a:spcAft>
                <a:spcPts val="0"/>
              </a:spcAft>
              <a:buClr>
                <a:schemeClr val="dk1"/>
              </a:buClr>
              <a:buFont typeface="Arial"/>
              <a:buNone/>
            </a:pPr>
            <a:endParaRPr lang="en-US" dirty="0"/>
          </a:p>
        </p:txBody>
      </p:sp>
      <p:sp>
        <p:nvSpPr>
          <p:cNvPr id="266" name="Google Shape;266;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8</a:t>
            </a:fld>
            <a:endParaRPr/>
          </a:p>
        </p:txBody>
      </p:sp>
    </p:spTree>
    <p:extLst>
      <p:ext uri="{BB962C8B-B14F-4D97-AF65-F5344CB8AC3E}">
        <p14:creationId xmlns:p14="http://schemas.microsoft.com/office/powerpoint/2010/main" val="7406200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5" name="Google Shape;185;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r>
              <a:rPr lang="en-US" dirty="0"/>
              <a:t>Correct Answer: Option D</a:t>
            </a:r>
          </a:p>
          <a:p>
            <a:pPr marL="0" lvl="0" indent="0" algn="l" rtl="0">
              <a:spcBef>
                <a:spcPts val="0"/>
              </a:spcBef>
              <a:spcAft>
                <a:spcPts val="0"/>
              </a:spcAft>
              <a:buClr>
                <a:schemeClr val="dk1"/>
              </a:buClr>
              <a:buFont typeface="Arial"/>
              <a:buNone/>
            </a:pPr>
            <a:endParaRPr lang="en-US" dirty="0"/>
          </a:p>
        </p:txBody>
      </p:sp>
      <p:sp>
        <p:nvSpPr>
          <p:cNvPr id="186" name="Google Shape;186;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9</a:t>
            </a:fld>
            <a:endParaRPr/>
          </a:p>
        </p:txBody>
      </p:sp>
    </p:spTree>
    <p:extLst>
      <p:ext uri="{BB962C8B-B14F-4D97-AF65-F5344CB8AC3E}">
        <p14:creationId xmlns:p14="http://schemas.microsoft.com/office/powerpoint/2010/main" val="7078932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1" name="Google Shape;201;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r>
              <a:rPr lang="en-US" dirty="0"/>
              <a:t>Correct Answer: Option C</a:t>
            </a:r>
          </a:p>
          <a:p>
            <a:r>
              <a:rPr lang="en-US" dirty="0"/>
              <a:t>Level: Moderate (Compulsory)</a:t>
            </a:r>
          </a:p>
          <a:p>
            <a:pPr marL="0" lvl="0" indent="0" algn="l" rtl="0">
              <a:spcBef>
                <a:spcPts val="0"/>
              </a:spcBef>
              <a:spcAft>
                <a:spcPts val="0"/>
              </a:spcAft>
              <a:buClr>
                <a:schemeClr val="dk1"/>
              </a:buClr>
              <a:buFont typeface="Arial"/>
              <a:buNone/>
            </a:pPr>
            <a:endParaRPr lang="en-US" dirty="0"/>
          </a:p>
          <a:p>
            <a:pPr marL="0" lvl="0" indent="0" algn="l" rtl="0">
              <a:spcBef>
                <a:spcPts val="0"/>
              </a:spcBef>
              <a:spcAft>
                <a:spcPts val="0"/>
              </a:spcAft>
              <a:buClr>
                <a:schemeClr val="dk1"/>
              </a:buClr>
              <a:buFont typeface="Arial"/>
              <a:buNone/>
            </a:pPr>
            <a:endParaRPr dirty="0"/>
          </a:p>
        </p:txBody>
      </p:sp>
      <p:sp>
        <p:nvSpPr>
          <p:cNvPr id="202" name="Google Shape;202;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10</a:t>
            </a:fld>
            <a:endParaRPr/>
          </a:p>
        </p:txBody>
      </p:sp>
    </p:spTree>
    <p:extLst>
      <p:ext uri="{BB962C8B-B14F-4D97-AF65-F5344CB8AC3E}">
        <p14:creationId xmlns:p14="http://schemas.microsoft.com/office/powerpoint/2010/main" val="42846355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9" name="Google Shape;209;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r>
              <a:rPr lang="en-US" dirty="0"/>
              <a:t>Correct Answer: Option C</a:t>
            </a:r>
          </a:p>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Level: Moderate (Optional)</a:t>
            </a:r>
          </a:p>
          <a:p>
            <a:endParaRPr lang="en-US" dirty="0"/>
          </a:p>
        </p:txBody>
      </p:sp>
      <p:sp>
        <p:nvSpPr>
          <p:cNvPr id="210" name="Google Shape;210;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11</a:t>
            </a:fld>
            <a:endParaRPr/>
          </a:p>
        </p:txBody>
      </p:sp>
    </p:spTree>
    <p:extLst>
      <p:ext uri="{BB962C8B-B14F-4D97-AF65-F5344CB8AC3E}">
        <p14:creationId xmlns:p14="http://schemas.microsoft.com/office/powerpoint/2010/main" val="30885779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9" name="Google Shape;289;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IN" dirty="0"/>
              <a:t>Correct Answer: Option B</a:t>
            </a:r>
          </a:p>
          <a:p>
            <a:r>
              <a:rPr lang="en-IN" dirty="0"/>
              <a:t>Level: Moderate (Compulsory)</a:t>
            </a:r>
          </a:p>
        </p:txBody>
      </p:sp>
      <p:sp>
        <p:nvSpPr>
          <p:cNvPr id="290" name="Google Shape;290;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12</a:t>
            </a:fld>
            <a:endParaRPr/>
          </a:p>
        </p:txBody>
      </p:sp>
    </p:spTree>
    <p:extLst>
      <p:ext uri="{BB962C8B-B14F-4D97-AF65-F5344CB8AC3E}">
        <p14:creationId xmlns:p14="http://schemas.microsoft.com/office/powerpoint/2010/main" val="10934443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6" name="Google Shape;176;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r>
              <a:rPr lang="en-IN" dirty="0"/>
              <a:t>Correct Answer: Option C</a:t>
            </a:r>
          </a:p>
          <a:p>
            <a:r>
              <a:rPr lang="en-IN" dirty="0"/>
              <a:t>Level: Moderate (Compulsory)</a:t>
            </a:r>
          </a:p>
        </p:txBody>
      </p:sp>
      <p:sp>
        <p:nvSpPr>
          <p:cNvPr id="177" name="Google Shape;177;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13</a:t>
            </a:fld>
            <a:endParaRPr/>
          </a:p>
        </p:txBody>
      </p:sp>
    </p:spTree>
    <p:extLst>
      <p:ext uri="{BB962C8B-B14F-4D97-AF65-F5344CB8AC3E}">
        <p14:creationId xmlns:p14="http://schemas.microsoft.com/office/powerpoint/2010/main" val="33474958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9" name="Google Shape;249;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r>
              <a:rPr lang="en-IN" dirty="0"/>
              <a:t>Correct Answer: Option C</a:t>
            </a:r>
          </a:p>
          <a:p>
            <a:r>
              <a:rPr lang="en-IN" dirty="0"/>
              <a:t>Level: Moderate (Compulsory)</a:t>
            </a:r>
          </a:p>
        </p:txBody>
      </p:sp>
      <p:sp>
        <p:nvSpPr>
          <p:cNvPr id="250" name="Google Shape;250;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14</a:t>
            </a:fld>
            <a:endParaRPr/>
          </a:p>
        </p:txBody>
      </p:sp>
    </p:spTree>
    <p:extLst>
      <p:ext uri="{BB962C8B-B14F-4D97-AF65-F5344CB8AC3E}">
        <p14:creationId xmlns:p14="http://schemas.microsoft.com/office/powerpoint/2010/main" val="17871796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0" name="Google Shape;120;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r>
              <a:rPr lang="en-IN" dirty="0"/>
              <a:t>Correct Answer: Option D</a:t>
            </a:r>
          </a:p>
          <a:p>
            <a:r>
              <a:rPr lang="en-IN" dirty="0"/>
              <a:t>Level: Moderate(Optional)</a:t>
            </a:r>
          </a:p>
          <a:p>
            <a:pPr marL="0" lvl="0" indent="0" algn="l" rtl="0">
              <a:spcBef>
                <a:spcPts val="0"/>
              </a:spcBef>
              <a:spcAft>
                <a:spcPts val="0"/>
              </a:spcAft>
              <a:buClr>
                <a:schemeClr val="dk1"/>
              </a:buClr>
              <a:buFont typeface="Arial"/>
              <a:buNone/>
            </a:pPr>
            <a:endParaRPr dirty="0"/>
          </a:p>
        </p:txBody>
      </p:sp>
      <p:sp>
        <p:nvSpPr>
          <p:cNvPr id="121" name="Google Shape;121;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15</a:t>
            </a:fld>
            <a:endParaRPr/>
          </a:p>
        </p:txBody>
      </p:sp>
    </p:spTree>
    <p:extLst>
      <p:ext uri="{BB962C8B-B14F-4D97-AF65-F5344CB8AC3E}">
        <p14:creationId xmlns:p14="http://schemas.microsoft.com/office/powerpoint/2010/main" val="2437218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Correct Answer: Option B</a:t>
            </a:r>
          </a:p>
          <a:p>
            <a:r>
              <a:rPr lang="en-IN" dirty="0"/>
              <a:t>Level: Easy (Compulsory)</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pPr marL="0" marR="0" lvl="0" indent="0" algn="r" rtl="0">
                <a:spcBef>
                  <a:spcPts val="0"/>
                </a:spcBef>
                <a:spcAft>
                  <a:spcPts val="0"/>
                </a:spcAft>
                <a:buNone/>
              </a:pPr>
              <a:t>16</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8822180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Correct Answer: Option A</a:t>
            </a:r>
          </a:p>
          <a:p>
            <a:r>
              <a:rPr lang="en-IN" dirty="0"/>
              <a:t>Level: Easy (Compulsory)</a:t>
            </a:r>
          </a:p>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pPr marL="0" marR="0" lvl="0" indent="0" algn="r" rtl="0">
                <a:spcBef>
                  <a:spcPts val="0"/>
                </a:spcBef>
                <a:spcAft>
                  <a:spcPts val="0"/>
                </a:spcAft>
                <a:buNone/>
              </a:pPr>
              <a:t>17</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7098940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Correct Answer: Option D</a:t>
            </a:r>
          </a:p>
          <a:p>
            <a:r>
              <a:rPr lang="en-IN" dirty="0"/>
              <a:t>Level: Easy (Compulsory)</a:t>
            </a:r>
          </a:p>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pPr marL="0" marR="0" lvl="0" indent="0" algn="r" rtl="0">
                <a:spcBef>
                  <a:spcPts val="0"/>
                </a:spcBef>
                <a:spcAft>
                  <a:spcPts val="0"/>
                </a:spcAft>
                <a:buNone/>
              </a:pPr>
              <a:t>18</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675419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 name="Google Shape;97;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r>
              <a:rPr lang="en-IN" dirty="0"/>
              <a:t>Correct Answer: Option C</a:t>
            </a:r>
          </a:p>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IN" dirty="0"/>
              <a:t>Level: Easy (Optional)</a:t>
            </a:r>
          </a:p>
          <a:p>
            <a:endParaRPr lang="en-IN" dirty="0"/>
          </a:p>
        </p:txBody>
      </p:sp>
      <p:sp>
        <p:nvSpPr>
          <p:cNvPr id="98" name="Google Shape;98;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19</a:t>
            </a:fld>
            <a:endParaRPr/>
          </a:p>
        </p:txBody>
      </p:sp>
    </p:spTree>
    <p:extLst>
      <p:ext uri="{BB962C8B-B14F-4D97-AF65-F5344CB8AC3E}">
        <p14:creationId xmlns:p14="http://schemas.microsoft.com/office/powerpoint/2010/main" val="23255963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 name="Google Shape;97;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r>
              <a:rPr lang="en-IN" dirty="0"/>
              <a:t>Correct Answer: Option B</a:t>
            </a:r>
          </a:p>
          <a:p>
            <a:r>
              <a:rPr lang="en-IN" dirty="0"/>
              <a:t>Level: Easy (Compulsory)</a:t>
            </a:r>
          </a:p>
        </p:txBody>
      </p:sp>
      <p:sp>
        <p:nvSpPr>
          <p:cNvPr id="98" name="Google Shape;98;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20</a:t>
            </a:fld>
            <a:endParaRPr/>
          </a:p>
        </p:txBody>
      </p:sp>
    </p:spTree>
    <p:extLst>
      <p:ext uri="{BB962C8B-B14F-4D97-AF65-F5344CB8AC3E}">
        <p14:creationId xmlns:p14="http://schemas.microsoft.com/office/powerpoint/2010/main" val="11609567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2" name="Google Shape;382;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673841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a:t>
            </a:fld>
            <a:endParaRPr lang="en-US"/>
          </a:p>
        </p:txBody>
      </p:sp>
    </p:spTree>
    <p:extLst>
      <p:ext uri="{BB962C8B-B14F-4D97-AF65-F5344CB8AC3E}">
        <p14:creationId xmlns:p14="http://schemas.microsoft.com/office/powerpoint/2010/main" val="11445393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a:t>
            </a:fld>
            <a:endParaRPr lang="en-US"/>
          </a:p>
        </p:txBody>
      </p:sp>
    </p:spTree>
    <p:extLst>
      <p:ext uri="{BB962C8B-B14F-4D97-AF65-F5344CB8AC3E}">
        <p14:creationId xmlns:p14="http://schemas.microsoft.com/office/powerpoint/2010/main" val="23715176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a:t>
            </a:fld>
            <a:endParaRPr lang="en-US"/>
          </a:p>
        </p:txBody>
      </p:sp>
    </p:spTree>
    <p:extLst>
      <p:ext uri="{BB962C8B-B14F-4D97-AF65-F5344CB8AC3E}">
        <p14:creationId xmlns:p14="http://schemas.microsoft.com/office/powerpoint/2010/main" val="604447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a:t>
            </a:fld>
            <a:endParaRPr lang="en-US"/>
          </a:p>
        </p:txBody>
      </p:sp>
    </p:spTree>
    <p:extLst>
      <p:ext uri="{BB962C8B-B14F-4D97-AF65-F5344CB8AC3E}">
        <p14:creationId xmlns:p14="http://schemas.microsoft.com/office/powerpoint/2010/main" val="17561455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a:t>
            </a:fld>
            <a:endParaRPr lang="en-US"/>
          </a:p>
        </p:txBody>
      </p:sp>
    </p:spTree>
    <p:extLst>
      <p:ext uri="{BB962C8B-B14F-4D97-AF65-F5344CB8AC3E}">
        <p14:creationId xmlns:p14="http://schemas.microsoft.com/office/powerpoint/2010/main" val="24196667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a:t>
            </a:fld>
            <a:endParaRPr lang="en-US"/>
          </a:p>
        </p:txBody>
      </p:sp>
    </p:spTree>
    <p:extLst>
      <p:ext uri="{BB962C8B-B14F-4D97-AF65-F5344CB8AC3E}">
        <p14:creationId xmlns:p14="http://schemas.microsoft.com/office/powerpoint/2010/main" val="3671553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a:t>
            </a:fld>
            <a:endParaRPr lang="en-US"/>
          </a:p>
        </p:txBody>
      </p:sp>
    </p:spTree>
    <p:extLst>
      <p:ext uri="{BB962C8B-B14F-4D97-AF65-F5344CB8AC3E}">
        <p14:creationId xmlns:p14="http://schemas.microsoft.com/office/powerpoint/2010/main" val="4116081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a:t>
            </a:fld>
            <a:endParaRPr lang="en-US"/>
          </a:p>
        </p:txBody>
      </p:sp>
    </p:spTree>
    <p:extLst>
      <p:ext uri="{BB962C8B-B14F-4D97-AF65-F5344CB8AC3E}">
        <p14:creationId xmlns:p14="http://schemas.microsoft.com/office/powerpoint/2010/main" val="42555879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a:t>
            </a:fld>
            <a:endParaRPr lang="en-US"/>
          </a:p>
        </p:txBody>
      </p:sp>
    </p:spTree>
    <p:extLst>
      <p:ext uri="{BB962C8B-B14F-4D97-AF65-F5344CB8AC3E}">
        <p14:creationId xmlns:p14="http://schemas.microsoft.com/office/powerpoint/2010/main" val="3395090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a:t>
            </a:fld>
            <a:endParaRPr lang="en-US"/>
          </a:p>
        </p:txBody>
      </p:sp>
    </p:spTree>
    <p:extLst>
      <p:ext uri="{BB962C8B-B14F-4D97-AF65-F5344CB8AC3E}">
        <p14:creationId xmlns:p14="http://schemas.microsoft.com/office/powerpoint/2010/main" val="38651704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a:t>
            </a:fld>
            <a:endParaRPr lang="en-US"/>
          </a:p>
        </p:txBody>
      </p:sp>
    </p:spTree>
    <p:extLst>
      <p:ext uri="{BB962C8B-B14F-4D97-AF65-F5344CB8AC3E}">
        <p14:creationId xmlns:p14="http://schemas.microsoft.com/office/powerpoint/2010/main" val="15869569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a:t>
            </a:fld>
            <a:endParaRPr lang="en-US"/>
          </a:p>
        </p:txBody>
      </p:sp>
      <p:pic>
        <p:nvPicPr>
          <p:cNvPr id="7" name="Picture 6"/>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0"/>
            <a:ext cx="12192000" cy="657225"/>
          </a:xfrm>
          <a:prstGeom prst="rect">
            <a:avLst/>
          </a:prstGeom>
        </p:spPr>
      </p:pic>
    </p:spTree>
    <p:extLst>
      <p:ext uri="{BB962C8B-B14F-4D97-AF65-F5344CB8AC3E}">
        <p14:creationId xmlns:p14="http://schemas.microsoft.com/office/powerpoint/2010/main" val="21121819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30.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
          <p:cNvSpPr txBox="1">
            <a:spLocks noGrp="1"/>
          </p:cNvSpPr>
          <p:nvPr>
            <p:ph type="title"/>
          </p:nvPr>
        </p:nvSpPr>
        <p:spPr>
          <a:xfrm>
            <a:off x="513347" y="1905007"/>
            <a:ext cx="11229474" cy="3260551"/>
          </a:xfrm>
          <a:prstGeom prst="rect">
            <a:avLst/>
          </a:prstGeom>
          <a:noFill/>
          <a:ln>
            <a:noFill/>
          </a:ln>
        </p:spPr>
        <p:txBody>
          <a:bodyPr spcFirstLastPara="1" wrap="square" lIns="91425" tIns="45700" rIns="91425" bIns="45700" anchor="b" anchorCtr="0">
            <a:normAutofit/>
          </a:bodyPr>
          <a:lstStyle/>
          <a:p>
            <a:pPr marL="0" lvl="0" indent="0" algn="ctr" rtl="0">
              <a:lnSpc>
                <a:spcPct val="107407"/>
              </a:lnSpc>
              <a:spcBef>
                <a:spcPts val="0"/>
              </a:spcBef>
              <a:spcAft>
                <a:spcPts val="0"/>
              </a:spcAft>
              <a:buClr>
                <a:srgbClr val="C00000"/>
              </a:buClr>
              <a:buSzPts val="5400"/>
              <a:buFont typeface="Palatino Linotype"/>
              <a:buNone/>
            </a:pPr>
            <a:r>
              <a:rPr lang="en-US" b="1" dirty="0">
                <a:solidFill>
                  <a:schemeClr val="bg2">
                    <a:lumMod val="50000"/>
                  </a:schemeClr>
                </a:solidFill>
                <a:latin typeface="Tahoma" pitchFamily="34" charset="0"/>
                <a:ea typeface="Tahoma" pitchFamily="34" charset="0"/>
                <a:cs typeface="Tahoma" pitchFamily="34" charset="0"/>
              </a:rPr>
              <a:t>DATA INTERPRETATION</a:t>
            </a:r>
            <a:br>
              <a:rPr lang="en-US" b="1" dirty="0">
                <a:solidFill>
                  <a:schemeClr val="bg2">
                    <a:lumMod val="50000"/>
                  </a:schemeClr>
                </a:solidFill>
                <a:latin typeface="Tahoma" pitchFamily="34" charset="0"/>
                <a:ea typeface="Tahoma" pitchFamily="34" charset="0"/>
                <a:cs typeface="Tahoma" pitchFamily="34" charset="0"/>
              </a:rPr>
            </a:br>
            <a:r>
              <a:rPr lang="en-US" b="1" dirty="0">
                <a:solidFill>
                  <a:schemeClr val="bg2">
                    <a:lumMod val="50000"/>
                  </a:schemeClr>
                </a:solidFill>
                <a:latin typeface="Tahoma" pitchFamily="34" charset="0"/>
                <a:ea typeface="Tahoma" pitchFamily="34" charset="0"/>
                <a:cs typeface="Tahoma" pitchFamily="34" charset="0"/>
              </a:rPr>
              <a:t/>
            </a:r>
            <a:br>
              <a:rPr lang="en-US" b="1" dirty="0">
                <a:solidFill>
                  <a:schemeClr val="bg2">
                    <a:lumMod val="50000"/>
                  </a:schemeClr>
                </a:solidFill>
                <a:latin typeface="Tahoma" pitchFamily="34" charset="0"/>
                <a:ea typeface="Tahoma" pitchFamily="34" charset="0"/>
                <a:cs typeface="Tahoma" pitchFamily="34" charset="0"/>
              </a:rPr>
            </a:br>
            <a:endParaRPr dirty="0">
              <a:solidFill>
                <a:schemeClr val="bg2">
                  <a:lumMod val="50000"/>
                </a:schemeClr>
              </a:solidFill>
              <a:latin typeface="Tahoma" pitchFamily="34" charset="0"/>
              <a:ea typeface="Tahoma" pitchFamily="34" charset="0"/>
              <a:cs typeface="Tahoma"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6" name="TextBox 5">
            <a:extLst>
              <a:ext uri="{FF2B5EF4-FFF2-40B4-BE49-F238E27FC236}">
                <a16:creationId xmlns:a16="http://schemas.microsoft.com/office/drawing/2014/main" xmlns="" id="{0A4BAAC6-3A23-4780-8024-B7833B9112FE}"/>
              </a:ext>
            </a:extLst>
          </p:cNvPr>
          <p:cNvSpPr txBox="1"/>
          <p:nvPr/>
        </p:nvSpPr>
        <p:spPr>
          <a:xfrm>
            <a:off x="0" y="750643"/>
            <a:ext cx="11176250" cy="400110"/>
          </a:xfrm>
          <a:prstGeom prst="rect">
            <a:avLst/>
          </a:prstGeom>
          <a:noFill/>
        </p:spPr>
        <p:txBody>
          <a:bodyPr wrap="square">
            <a:spAutoFit/>
          </a:bodyPr>
          <a:lstStyle/>
          <a:p>
            <a:r>
              <a:rPr lang="en-US" sz="2000" b="1" i="0" u="none" strike="noStrike" baseline="0" dirty="0">
                <a:latin typeface="Times New Roman" panose="02020603050405020304" pitchFamily="18" charset="0"/>
                <a:cs typeface="Times New Roman" panose="02020603050405020304" pitchFamily="18" charset="0"/>
              </a:rPr>
              <a:t>Directions (Q1 to </a:t>
            </a:r>
            <a:r>
              <a:rPr lang="en-US" sz="2000" b="1" dirty="0">
                <a:latin typeface="Times New Roman" panose="02020603050405020304" pitchFamily="18" charset="0"/>
                <a:cs typeface="Times New Roman" panose="02020603050405020304" pitchFamily="18" charset="0"/>
              </a:rPr>
              <a:t>5</a:t>
            </a:r>
            <a:r>
              <a:rPr lang="en-US" sz="2000" b="1" i="0" u="none" strike="noStrike" baseline="0" dirty="0">
                <a:latin typeface="Times New Roman" panose="02020603050405020304" pitchFamily="18" charset="0"/>
                <a:cs typeface="Times New Roman" panose="02020603050405020304" pitchFamily="18" charset="0"/>
              </a:rPr>
              <a:t>):</a:t>
            </a:r>
            <a:r>
              <a:rPr lang="en-US" sz="2000" b="0" i="0" u="none" strike="noStrike" baseline="0" dirty="0">
                <a:latin typeface="Times New Roman" panose="02020603050405020304" pitchFamily="18" charset="0"/>
                <a:cs typeface="Times New Roman" panose="02020603050405020304" pitchFamily="18" charset="0"/>
              </a:rPr>
              <a:t> Study the following information carefully and answer the questions given beside:</a:t>
            </a:r>
            <a:endParaRPr lang="en-IN" sz="20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xmlns="" id="{4118B034-9EF1-40A3-87FE-682344155E90}"/>
              </a:ext>
            </a:extLst>
          </p:cNvPr>
          <p:cNvSpPr txBox="1"/>
          <p:nvPr/>
        </p:nvSpPr>
        <p:spPr>
          <a:xfrm>
            <a:off x="359228" y="1622754"/>
            <a:ext cx="5812972" cy="707886"/>
          </a:xfrm>
          <a:prstGeom prst="rect">
            <a:avLst/>
          </a:prstGeom>
          <a:noFill/>
        </p:spPr>
        <p:txBody>
          <a:bodyPr wrap="square">
            <a:spAutoFit/>
          </a:bodyPr>
          <a:lstStyle/>
          <a:p>
            <a:pPr algn="l"/>
            <a:r>
              <a:rPr lang="en-US" sz="2000" b="0" i="0" u="none" strike="noStrike" baseline="0" dirty="0">
                <a:latin typeface="Times New Roman" panose="02020603050405020304" pitchFamily="18" charset="0"/>
                <a:cs typeface="Times New Roman" panose="02020603050405020304" pitchFamily="18" charset="0"/>
              </a:rPr>
              <a:t>Number of male and number of females are given, they are visiting a place from Monday to </a:t>
            </a:r>
            <a:r>
              <a:rPr lang="en-IN" sz="2000" b="0" i="0" u="none" strike="noStrike" baseline="0" dirty="0">
                <a:latin typeface="Times New Roman" panose="02020603050405020304" pitchFamily="18" charset="0"/>
                <a:cs typeface="Times New Roman" panose="02020603050405020304" pitchFamily="18" charset="0"/>
              </a:rPr>
              <a:t>Friday.</a:t>
            </a:r>
            <a:endParaRPr lang="en-IN" sz="20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xmlns="" id="{89932928-6127-4AC4-9FC7-809A07D02458}"/>
              </a:ext>
            </a:extLst>
          </p:cNvPr>
          <p:cNvPicPr>
            <a:picLocks noChangeAspect="1"/>
          </p:cNvPicPr>
          <p:nvPr/>
        </p:nvPicPr>
        <p:blipFill>
          <a:blip r:embed="rId3"/>
          <a:stretch>
            <a:fillRect/>
          </a:stretch>
        </p:blipFill>
        <p:spPr>
          <a:xfrm>
            <a:off x="359228" y="2420710"/>
            <a:ext cx="6734175" cy="3867150"/>
          </a:xfrm>
          <a:prstGeom prst="rect">
            <a:avLst/>
          </a:prstGeom>
        </p:spPr>
      </p:pic>
      <p:sp>
        <p:nvSpPr>
          <p:cNvPr id="12" name="TextBox 11">
            <a:extLst>
              <a:ext uri="{FF2B5EF4-FFF2-40B4-BE49-F238E27FC236}">
                <a16:creationId xmlns:a16="http://schemas.microsoft.com/office/drawing/2014/main" xmlns="" id="{1045EC64-F521-48A8-9A28-1A3CBD63D49C}"/>
              </a:ext>
            </a:extLst>
          </p:cNvPr>
          <p:cNvSpPr txBox="1"/>
          <p:nvPr/>
        </p:nvSpPr>
        <p:spPr>
          <a:xfrm>
            <a:off x="6752522" y="1427431"/>
            <a:ext cx="5080250" cy="3170099"/>
          </a:xfrm>
          <a:prstGeom prst="rect">
            <a:avLst/>
          </a:prstGeom>
          <a:noFill/>
        </p:spPr>
        <p:txBody>
          <a:bodyPr wrap="square">
            <a:spAutoFit/>
          </a:bodyPr>
          <a:lstStyle/>
          <a:p>
            <a:pPr algn="l"/>
            <a:r>
              <a:rPr lang="en-US" sz="2000" b="0" i="0" u="none" strike="noStrike" baseline="0" dirty="0">
                <a:latin typeface="Times New Roman" panose="02020603050405020304" pitchFamily="18" charset="0"/>
                <a:cs typeface="Times New Roman" panose="02020603050405020304" pitchFamily="18" charset="0"/>
              </a:rPr>
              <a:t>Q1. Find the ratio of the total number of males visited the place on Tuesday and Thursday together to the total number of females visited the place on Monday and Friday together?</a:t>
            </a:r>
          </a:p>
          <a:p>
            <a:pPr algn="l"/>
            <a:endParaRPr lang="en-US" sz="2000" b="0" i="0" u="none" strike="noStrike" baseline="0" dirty="0">
              <a:latin typeface="Times New Roman" panose="02020603050405020304" pitchFamily="18" charset="0"/>
              <a:cs typeface="Times New Roman" panose="02020603050405020304" pitchFamily="18" charset="0"/>
            </a:endParaRPr>
          </a:p>
          <a:p>
            <a:pPr marL="457200" indent="-457200" algn="l">
              <a:buAutoNum type="alphaUcPeriod"/>
            </a:pPr>
            <a:r>
              <a:rPr lang="en-US" sz="2000" dirty="0">
                <a:latin typeface="Times New Roman" panose="02020603050405020304" pitchFamily="18" charset="0"/>
                <a:cs typeface="Times New Roman" panose="02020603050405020304" pitchFamily="18" charset="0"/>
              </a:rPr>
              <a:t>29: 30</a:t>
            </a:r>
          </a:p>
          <a:p>
            <a:pPr marL="457200" indent="-457200" algn="l">
              <a:buAutoNum type="alphaUcPeriod"/>
            </a:pPr>
            <a:r>
              <a:rPr lang="en-US" sz="2000" dirty="0">
                <a:latin typeface="Times New Roman" panose="02020603050405020304" pitchFamily="18" charset="0"/>
                <a:cs typeface="Times New Roman" panose="02020603050405020304" pitchFamily="18" charset="0"/>
              </a:rPr>
              <a:t>30: 29</a:t>
            </a:r>
          </a:p>
          <a:p>
            <a:pPr marL="457200" indent="-457200" algn="l">
              <a:buAutoNum type="alphaUcPeriod"/>
            </a:pPr>
            <a:r>
              <a:rPr lang="en-US" sz="2000" dirty="0">
                <a:latin typeface="Times New Roman" panose="02020603050405020304" pitchFamily="18" charset="0"/>
                <a:cs typeface="Times New Roman" panose="02020603050405020304" pitchFamily="18" charset="0"/>
              </a:rPr>
              <a:t>25: 26</a:t>
            </a:r>
          </a:p>
          <a:p>
            <a:pPr marL="457200" indent="-457200" algn="l">
              <a:buAutoNum type="alphaUcPeriod"/>
            </a:pPr>
            <a:r>
              <a:rPr lang="en-US" sz="2000" dirty="0">
                <a:latin typeface="Times New Roman" panose="02020603050405020304" pitchFamily="18" charset="0"/>
                <a:cs typeface="Times New Roman" panose="02020603050405020304" pitchFamily="18" charset="0"/>
              </a:rPr>
              <a:t>26: 25</a:t>
            </a:r>
          </a:p>
          <a:p>
            <a:pPr marL="457200" indent="-457200" algn="l">
              <a:buAutoNum type="alphaUcPeriod"/>
            </a:pPr>
            <a:r>
              <a:rPr lang="en-US" sz="2000" dirty="0">
                <a:latin typeface="Times New Roman" panose="02020603050405020304" pitchFamily="18" charset="0"/>
                <a:cs typeface="Times New Roman" panose="02020603050405020304" pitchFamily="18" charset="0"/>
              </a:rPr>
              <a:t>None of these</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812172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6" name="TextBox 5">
            <a:extLst>
              <a:ext uri="{FF2B5EF4-FFF2-40B4-BE49-F238E27FC236}">
                <a16:creationId xmlns:a16="http://schemas.microsoft.com/office/drawing/2014/main" xmlns="" id="{9ACFF3E2-0C9E-48F0-8C79-5E978F9B33F1}"/>
              </a:ext>
            </a:extLst>
          </p:cNvPr>
          <p:cNvSpPr txBox="1"/>
          <p:nvPr/>
        </p:nvSpPr>
        <p:spPr>
          <a:xfrm>
            <a:off x="0" y="725214"/>
            <a:ext cx="11176250" cy="400110"/>
          </a:xfrm>
          <a:prstGeom prst="rect">
            <a:avLst/>
          </a:prstGeom>
          <a:noFill/>
        </p:spPr>
        <p:txBody>
          <a:bodyPr wrap="square">
            <a:spAutoFit/>
          </a:bodyPr>
          <a:lstStyle/>
          <a:p>
            <a:r>
              <a:rPr lang="en-US" sz="2000" b="1" i="0" u="none" strike="noStrike" baseline="0" dirty="0">
                <a:latin typeface="Times New Roman" panose="02020603050405020304" pitchFamily="18" charset="0"/>
                <a:cs typeface="Times New Roman" panose="02020603050405020304" pitchFamily="18" charset="0"/>
              </a:rPr>
              <a:t>Directions (Q1 to </a:t>
            </a:r>
            <a:r>
              <a:rPr lang="en-US" sz="2000" b="1" dirty="0">
                <a:latin typeface="Times New Roman" panose="02020603050405020304" pitchFamily="18" charset="0"/>
                <a:cs typeface="Times New Roman" panose="02020603050405020304" pitchFamily="18" charset="0"/>
              </a:rPr>
              <a:t>5</a:t>
            </a:r>
            <a:r>
              <a:rPr lang="en-US" sz="2000" b="1" i="0" u="none" strike="noStrike" baseline="0" dirty="0">
                <a:latin typeface="Times New Roman" panose="02020603050405020304" pitchFamily="18" charset="0"/>
                <a:cs typeface="Times New Roman" panose="02020603050405020304" pitchFamily="18" charset="0"/>
              </a:rPr>
              <a:t>):</a:t>
            </a:r>
            <a:r>
              <a:rPr lang="en-US" sz="2000" b="0" i="0" u="none" strike="noStrike" baseline="0" dirty="0">
                <a:latin typeface="Times New Roman" panose="02020603050405020304" pitchFamily="18" charset="0"/>
                <a:cs typeface="Times New Roman" panose="02020603050405020304" pitchFamily="18" charset="0"/>
              </a:rPr>
              <a:t> Study the following information carefully and answer the questions given beside:</a:t>
            </a:r>
            <a:endParaRPr lang="en-IN" sz="2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xmlns="" id="{A2F85DEF-C2BF-4CE9-B602-09F998A1C896}"/>
              </a:ext>
            </a:extLst>
          </p:cNvPr>
          <p:cNvSpPr txBox="1"/>
          <p:nvPr/>
        </p:nvSpPr>
        <p:spPr>
          <a:xfrm>
            <a:off x="359228" y="1622754"/>
            <a:ext cx="5377543" cy="707886"/>
          </a:xfrm>
          <a:prstGeom prst="rect">
            <a:avLst/>
          </a:prstGeom>
          <a:noFill/>
        </p:spPr>
        <p:txBody>
          <a:bodyPr wrap="square">
            <a:spAutoFit/>
          </a:bodyPr>
          <a:lstStyle/>
          <a:p>
            <a:pPr algn="l"/>
            <a:r>
              <a:rPr lang="en-US" sz="2000" b="0" i="0" u="none" strike="noStrike" baseline="0" dirty="0">
                <a:latin typeface="Times New Roman" panose="02020603050405020304" pitchFamily="18" charset="0"/>
                <a:cs typeface="Times New Roman" panose="02020603050405020304" pitchFamily="18" charset="0"/>
              </a:rPr>
              <a:t>Number of male and number of females are given, they are visiting a place from Monday to </a:t>
            </a:r>
            <a:r>
              <a:rPr lang="en-IN" sz="2000" b="0" i="0" u="none" strike="noStrike" baseline="0" dirty="0">
                <a:latin typeface="Times New Roman" panose="02020603050405020304" pitchFamily="18" charset="0"/>
                <a:cs typeface="Times New Roman" panose="02020603050405020304" pitchFamily="18" charset="0"/>
              </a:rPr>
              <a:t>Friday.</a:t>
            </a:r>
            <a:endParaRPr lang="en-IN" sz="20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xmlns="" id="{02044018-5825-4E78-BAC1-66F7B325FCCC}"/>
              </a:ext>
            </a:extLst>
          </p:cNvPr>
          <p:cNvPicPr>
            <a:picLocks noChangeAspect="1"/>
          </p:cNvPicPr>
          <p:nvPr/>
        </p:nvPicPr>
        <p:blipFill>
          <a:blip r:embed="rId3"/>
          <a:stretch>
            <a:fillRect/>
          </a:stretch>
        </p:blipFill>
        <p:spPr>
          <a:xfrm>
            <a:off x="359228" y="2409825"/>
            <a:ext cx="5638801" cy="3424919"/>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xmlns="" id="{3B6C6129-91FC-45F8-9273-DC1F694CE716}"/>
                  </a:ext>
                </a:extLst>
              </p:cNvPr>
              <p:cNvSpPr txBox="1"/>
              <p:nvPr/>
            </p:nvSpPr>
            <p:spPr>
              <a:xfrm>
                <a:off x="6193971" y="1427431"/>
                <a:ext cx="5638801" cy="2812693"/>
              </a:xfrm>
              <a:prstGeom prst="rect">
                <a:avLst/>
              </a:prstGeom>
              <a:noFill/>
            </p:spPr>
            <p:txBody>
              <a:bodyPr wrap="square">
                <a:spAutoFit/>
              </a:bodyPr>
              <a:lstStyle/>
              <a:p>
                <a:pPr algn="l"/>
                <a:r>
                  <a:rPr lang="en-US" sz="2000" b="0" i="0" u="none" strike="noStrike" baseline="0" dirty="0">
                    <a:latin typeface="Times New Roman" panose="02020603050405020304" pitchFamily="18" charset="0"/>
                    <a:cs typeface="Times New Roman" panose="02020603050405020304" pitchFamily="18" charset="0"/>
                  </a:rPr>
                  <a:t>Q2. Total number of males and females together visited the place on Tuesday are what percent more/less than the total number of male and females together visited the place on Thursday?</a:t>
                </a:r>
              </a:p>
              <a:p>
                <a:pPr algn="l"/>
                <a:endParaRPr lang="en-US" sz="2000" b="0" i="0" u="none" strike="noStrike" baseline="0" dirty="0">
                  <a:latin typeface="Times New Roman" panose="02020603050405020304" pitchFamily="18" charset="0"/>
                  <a:cs typeface="Times New Roman" panose="02020603050405020304" pitchFamily="18" charset="0"/>
                </a:endParaRPr>
              </a:p>
              <a:p>
                <a:pPr algn="l"/>
                <a:r>
                  <a:rPr lang="en-IN" sz="2000" b="0" dirty="0">
                    <a:latin typeface="Times New Roman" panose="02020603050405020304" pitchFamily="18" charset="0"/>
                    <a:cs typeface="Times New Roman" panose="02020603050405020304" pitchFamily="18" charset="0"/>
                  </a:rPr>
                  <a:t>A. </a:t>
                </a:r>
                <a14:m>
                  <m:oMath xmlns:m="http://schemas.openxmlformats.org/officeDocument/2006/math">
                    <m:r>
                      <a:rPr lang="en-IN" sz="2000" b="0" i="1" smtClean="0">
                        <a:latin typeface="Cambria Math" panose="02040503050406030204" pitchFamily="18" charset="0"/>
                        <a:cs typeface="Times New Roman" panose="02020603050405020304" pitchFamily="18" charset="0"/>
                      </a:rPr>
                      <m:t>26</m:t>
                    </m:r>
                    <m:f>
                      <m:fPr>
                        <m:ctrlPr>
                          <a:rPr lang="en-IN" sz="2000" b="0" i="1" smtClean="0">
                            <a:latin typeface="Cambria Math"/>
                            <a:cs typeface="Times New Roman" panose="02020603050405020304" pitchFamily="18" charset="0"/>
                          </a:rPr>
                        </m:ctrlPr>
                      </m:fPr>
                      <m:num>
                        <m:r>
                          <a:rPr lang="en-IN" sz="2000" b="0" i="1" smtClean="0">
                            <a:latin typeface="Cambria Math" panose="02040503050406030204" pitchFamily="18" charset="0"/>
                            <a:cs typeface="Times New Roman" panose="02020603050405020304" pitchFamily="18" charset="0"/>
                          </a:rPr>
                          <m:t>12</m:t>
                        </m:r>
                      </m:num>
                      <m:den>
                        <m:r>
                          <a:rPr lang="en-IN" sz="2000" b="0" i="1" smtClean="0">
                            <a:latin typeface="Cambria Math" panose="02040503050406030204" pitchFamily="18" charset="0"/>
                            <a:cs typeface="Times New Roman" panose="02020603050405020304" pitchFamily="18" charset="0"/>
                          </a:rPr>
                          <m:t>13</m:t>
                        </m:r>
                      </m:den>
                    </m:f>
                  </m:oMath>
                </a14:m>
                <a:r>
                  <a:rPr lang="en-IN" sz="2000" dirty="0">
                    <a:latin typeface="Times New Roman" panose="02020603050405020304" pitchFamily="18" charset="0"/>
                    <a:cs typeface="Times New Roman" panose="02020603050405020304" pitchFamily="18" charset="0"/>
                  </a:rPr>
                  <a:t> % more		B. </a:t>
                </a:r>
                <a14:m>
                  <m:oMath xmlns:m="http://schemas.openxmlformats.org/officeDocument/2006/math">
                    <m:r>
                      <a:rPr lang="en-IN" sz="2000" b="0" i="1" smtClean="0">
                        <a:latin typeface="Cambria Math" panose="02040503050406030204" pitchFamily="18" charset="0"/>
                        <a:cs typeface="Times New Roman" panose="02020603050405020304" pitchFamily="18" charset="0"/>
                      </a:rPr>
                      <m:t>26</m:t>
                    </m:r>
                    <m:f>
                      <m:fPr>
                        <m:ctrlPr>
                          <a:rPr lang="en-IN" sz="2000" b="0" i="1" smtClean="0">
                            <a:latin typeface="Cambria Math"/>
                            <a:cs typeface="Times New Roman" panose="02020603050405020304" pitchFamily="18" charset="0"/>
                          </a:rPr>
                        </m:ctrlPr>
                      </m:fPr>
                      <m:num>
                        <m:r>
                          <a:rPr lang="en-IN" sz="2000" b="0" i="1" smtClean="0">
                            <a:latin typeface="Cambria Math" panose="02040503050406030204" pitchFamily="18" charset="0"/>
                            <a:cs typeface="Times New Roman" panose="02020603050405020304" pitchFamily="18" charset="0"/>
                          </a:rPr>
                          <m:t>12</m:t>
                        </m:r>
                      </m:num>
                      <m:den>
                        <m:r>
                          <a:rPr lang="en-IN" sz="2000" b="0" i="1" smtClean="0">
                            <a:latin typeface="Cambria Math" panose="02040503050406030204" pitchFamily="18" charset="0"/>
                            <a:cs typeface="Times New Roman" panose="02020603050405020304" pitchFamily="18" charset="0"/>
                          </a:rPr>
                          <m:t>13</m:t>
                        </m:r>
                      </m:den>
                    </m:f>
                  </m:oMath>
                </a14:m>
                <a:r>
                  <a:rPr lang="en-IN" sz="2000" dirty="0">
                    <a:latin typeface="Times New Roman" panose="02020603050405020304" pitchFamily="18" charset="0"/>
                    <a:cs typeface="Times New Roman" panose="02020603050405020304" pitchFamily="18" charset="0"/>
                  </a:rPr>
                  <a:t> % less</a:t>
                </a:r>
              </a:p>
              <a:p>
                <a:pPr algn="l"/>
                <a:endParaRPr lang="en-IN" sz="2000" dirty="0">
                  <a:latin typeface="Times New Roman" panose="02020603050405020304" pitchFamily="18" charset="0"/>
                  <a:cs typeface="Times New Roman" panose="02020603050405020304" pitchFamily="18" charset="0"/>
                </a:endParaRPr>
              </a:p>
              <a:p>
                <a:pPr algn="l"/>
                <a:r>
                  <a:rPr lang="en-IN" sz="2000" dirty="0">
                    <a:latin typeface="Times New Roman" panose="02020603050405020304" pitchFamily="18" charset="0"/>
                    <a:cs typeface="Times New Roman" panose="02020603050405020304" pitchFamily="18" charset="0"/>
                  </a:rPr>
                  <a:t>C. </a:t>
                </a:r>
                <a14:m>
                  <m:oMath xmlns:m="http://schemas.openxmlformats.org/officeDocument/2006/math">
                    <m:r>
                      <a:rPr lang="en-IN" sz="2000" b="0" i="1" smtClean="0">
                        <a:latin typeface="Cambria Math" panose="02040503050406030204" pitchFamily="18" charset="0"/>
                        <a:cs typeface="Times New Roman" panose="02020603050405020304" pitchFamily="18" charset="0"/>
                      </a:rPr>
                      <m:t>26</m:t>
                    </m:r>
                    <m:f>
                      <m:fPr>
                        <m:ctrlPr>
                          <a:rPr lang="en-IN" sz="2000" b="0" i="1" smtClean="0">
                            <a:latin typeface="Cambria Math"/>
                            <a:cs typeface="Times New Roman" panose="02020603050405020304" pitchFamily="18" charset="0"/>
                          </a:rPr>
                        </m:ctrlPr>
                      </m:fPr>
                      <m:num>
                        <m:r>
                          <a:rPr lang="en-IN" sz="2000" b="0" i="1" smtClean="0">
                            <a:latin typeface="Cambria Math" panose="02040503050406030204" pitchFamily="18" charset="0"/>
                            <a:cs typeface="Times New Roman" panose="02020603050405020304" pitchFamily="18" charset="0"/>
                          </a:rPr>
                          <m:t>3</m:t>
                        </m:r>
                      </m:num>
                      <m:den>
                        <m:r>
                          <a:rPr lang="en-IN" sz="2000" b="0" i="1" smtClean="0">
                            <a:latin typeface="Cambria Math" panose="02040503050406030204" pitchFamily="18" charset="0"/>
                            <a:cs typeface="Times New Roman" panose="02020603050405020304" pitchFamily="18" charset="0"/>
                          </a:rPr>
                          <m:t>13</m:t>
                        </m:r>
                      </m:den>
                    </m:f>
                  </m:oMath>
                </a14:m>
                <a:r>
                  <a:rPr lang="en-IN" sz="2000" dirty="0">
                    <a:latin typeface="Times New Roman" panose="02020603050405020304" pitchFamily="18" charset="0"/>
                    <a:cs typeface="Times New Roman" panose="02020603050405020304" pitchFamily="18" charset="0"/>
                  </a:rPr>
                  <a:t> % more		D. </a:t>
                </a:r>
                <a14:m>
                  <m:oMath xmlns:m="http://schemas.openxmlformats.org/officeDocument/2006/math">
                    <m:r>
                      <a:rPr lang="en-IN" sz="2000" b="0" i="1" smtClean="0">
                        <a:latin typeface="Cambria Math" panose="02040503050406030204" pitchFamily="18" charset="0"/>
                        <a:cs typeface="Times New Roman" panose="02020603050405020304" pitchFamily="18" charset="0"/>
                      </a:rPr>
                      <m:t>26</m:t>
                    </m:r>
                    <m:f>
                      <m:fPr>
                        <m:ctrlPr>
                          <a:rPr lang="en-IN" sz="2000" b="0" i="1" smtClean="0">
                            <a:latin typeface="Cambria Math"/>
                            <a:cs typeface="Times New Roman" panose="02020603050405020304" pitchFamily="18" charset="0"/>
                          </a:rPr>
                        </m:ctrlPr>
                      </m:fPr>
                      <m:num>
                        <m:r>
                          <a:rPr lang="en-IN" sz="2000" b="0" i="1" smtClean="0">
                            <a:latin typeface="Cambria Math" panose="02040503050406030204" pitchFamily="18" charset="0"/>
                            <a:cs typeface="Times New Roman" panose="02020603050405020304" pitchFamily="18" charset="0"/>
                          </a:rPr>
                          <m:t>3</m:t>
                        </m:r>
                      </m:num>
                      <m:den>
                        <m:r>
                          <a:rPr lang="en-IN" sz="2000" b="0" i="1" smtClean="0">
                            <a:latin typeface="Cambria Math" panose="02040503050406030204" pitchFamily="18" charset="0"/>
                            <a:cs typeface="Times New Roman" panose="02020603050405020304" pitchFamily="18" charset="0"/>
                          </a:rPr>
                          <m:t>13</m:t>
                        </m:r>
                      </m:den>
                    </m:f>
                  </m:oMath>
                </a14:m>
                <a:r>
                  <a:rPr lang="en-IN" sz="2000" dirty="0">
                    <a:latin typeface="Times New Roman" panose="02020603050405020304" pitchFamily="18" charset="0"/>
                    <a:cs typeface="Times New Roman" panose="02020603050405020304" pitchFamily="18" charset="0"/>
                  </a:rPr>
                  <a:t>% less</a:t>
                </a:r>
              </a:p>
            </p:txBody>
          </p:sp>
        </mc:Choice>
        <mc:Fallback xmlns="">
          <p:sp>
            <p:nvSpPr>
              <p:cNvPr id="9" name="TextBox 8">
                <a:extLst>
                  <a:ext uri="{FF2B5EF4-FFF2-40B4-BE49-F238E27FC236}">
                    <a16:creationId xmlns:a16="http://schemas.microsoft.com/office/drawing/2014/main" xmlns="" xmlns:a14="http://schemas.microsoft.com/office/drawing/2010/main" id="{3B6C6129-91FC-45F8-9273-DC1F694CE716}"/>
                  </a:ext>
                </a:extLst>
              </p:cNvPr>
              <p:cNvSpPr txBox="1">
                <a:spLocks noRot="1" noChangeAspect="1" noMove="1" noResize="1" noEditPoints="1" noAdjustHandles="1" noChangeArrowheads="1" noChangeShapeType="1" noTextEdit="1"/>
              </p:cNvSpPr>
              <p:nvPr/>
            </p:nvSpPr>
            <p:spPr>
              <a:xfrm>
                <a:off x="6193971" y="1427431"/>
                <a:ext cx="5638801" cy="2812693"/>
              </a:xfrm>
              <a:prstGeom prst="rect">
                <a:avLst/>
              </a:prstGeom>
              <a:blipFill rotWithShape="1">
                <a:blip r:embed="rId4"/>
                <a:stretch>
                  <a:fillRect l="-1081" t="-1082" b="-433"/>
                </a:stretch>
              </a:blipFill>
            </p:spPr>
            <p:txBody>
              <a:bodyPr/>
              <a:lstStyle/>
              <a:p>
                <a:r>
                  <a:rPr lang="en-US">
                    <a:noFill/>
                  </a:rPr>
                  <a:t> </a:t>
                </a:r>
              </a:p>
            </p:txBody>
          </p:sp>
        </mc:Fallback>
      </mc:AlternateContent>
    </p:spTree>
    <p:extLst>
      <p:ext uri="{BB962C8B-B14F-4D97-AF65-F5344CB8AC3E}">
        <p14:creationId xmlns:p14="http://schemas.microsoft.com/office/powerpoint/2010/main" val="2315807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6" name="TextBox 5">
            <a:extLst>
              <a:ext uri="{FF2B5EF4-FFF2-40B4-BE49-F238E27FC236}">
                <a16:creationId xmlns:a16="http://schemas.microsoft.com/office/drawing/2014/main" xmlns="" id="{B062CA09-0CA4-4C59-AB3A-23115B853630}"/>
              </a:ext>
            </a:extLst>
          </p:cNvPr>
          <p:cNvSpPr txBox="1"/>
          <p:nvPr/>
        </p:nvSpPr>
        <p:spPr>
          <a:xfrm>
            <a:off x="0" y="725214"/>
            <a:ext cx="11176250" cy="400110"/>
          </a:xfrm>
          <a:prstGeom prst="rect">
            <a:avLst/>
          </a:prstGeom>
          <a:noFill/>
        </p:spPr>
        <p:txBody>
          <a:bodyPr wrap="square">
            <a:spAutoFit/>
          </a:bodyPr>
          <a:lstStyle/>
          <a:p>
            <a:r>
              <a:rPr lang="en-US" sz="2000" b="1" i="0" u="none" strike="noStrike" baseline="0" dirty="0">
                <a:latin typeface="Times New Roman" panose="02020603050405020304" pitchFamily="18" charset="0"/>
                <a:cs typeface="Times New Roman" panose="02020603050405020304" pitchFamily="18" charset="0"/>
              </a:rPr>
              <a:t>Directions (Q1 to </a:t>
            </a:r>
            <a:r>
              <a:rPr lang="en-US" sz="2000" b="1" dirty="0">
                <a:latin typeface="Times New Roman" panose="02020603050405020304" pitchFamily="18" charset="0"/>
                <a:cs typeface="Times New Roman" panose="02020603050405020304" pitchFamily="18" charset="0"/>
              </a:rPr>
              <a:t>5</a:t>
            </a:r>
            <a:r>
              <a:rPr lang="en-US" sz="2000" b="1" i="0" u="none" strike="noStrike" baseline="0" dirty="0">
                <a:latin typeface="Times New Roman" panose="02020603050405020304" pitchFamily="18" charset="0"/>
                <a:cs typeface="Times New Roman" panose="02020603050405020304" pitchFamily="18" charset="0"/>
              </a:rPr>
              <a:t>):</a:t>
            </a:r>
            <a:r>
              <a:rPr lang="en-US" sz="2000" b="0" i="0" u="none" strike="noStrike" baseline="0" dirty="0">
                <a:latin typeface="Times New Roman" panose="02020603050405020304" pitchFamily="18" charset="0"/>
                <a:cs typeface="Times New Roman" panose="02020603050405020304" pitchFamily="18" charset="0"/>
              </a:rPr>
              <a:t> Study the following information carefully and answer the questions given beside:</a:t>
            </a:r>
            <a:endParaRPr lang="en-IN" sz="2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xmlns="" id="{15E36B73-69B1-4117-8D28-35A6ED3EB429}"/>
              </a:ext>
            </a:extLst>
          </p:cNvPr>
          <p:cNvSpPr txBox="1"/>
          <p:nvPr/>
        </p:nvSpPr>
        <p:spPr>
          <a:xfrm>
            <a:off x="359228" y="1622754"/>
            <a:ext cx="5377543" cy="707886"/>
          </a:xfrm>
          <a:prstGeom prst="rect">
            <a:avLst/>
          </a:prstGeom>
          <a:noFill/>
        </p:spPr>
        <p:txBody>
          <a:bodyPr wrap="square">
            <a:spAutoFit/>
          </a:bodyPr>
          <a:lstStyle/>
          <a:p>
            <a:pPr algn="l"/>
            <a:r>
              <a:rPr lang="en-US" sz="2000" b="0" i="0" u="none" strike="noStrike" baseline="0" dirty="0">
                <a:latin typeface="Times New Roman" panose="02020603050405020304" pitchFamily="18" charset="0"/>
                <a:cs typeface="Times New Roman" panose="02020603050405020304" pitchFamily="18" charset="0"/>
              </a:rPr>
              <a:t>Number of male and number of females are given, they are visiting a place from Monday to </a:t>
            </a:r>
            <a:r>
              <a:rPr lang="en-IN" sz="2000" b="0" i="0" u="none" strike="noStrike" baseline="0" dirty="0">
                <a:latin typeface="Times New Roman" panose="02020603050405020304" pitchFamily="18" charset="0"/>
                <a:cs typeface="Times New Roman" panose="02020603050405020304" pitchFamily="18" charset="0"/>
              </a:rPr>
              <a:t>Friday.</a:t>
            </a:r>
            <a:endParaRPr lang="en-IN" sz="20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xmlns="" id="{E930F6F2-D578-4712-AC9D-AE5AF091E68E}"/>
              </a:ext>
            </a:extLst>
          </p:cNvPr>
          <p:cNvPicPr>
            <a:picLocks noChangeAspect="1"/>
          </p:cNvPicPr>
          <p:nvPr/>
        </p:nvPicPr>
        <p:blipFill>
          <a:blip r:embed="rId3"/>
          <a:stretch>
            <a:fillRect/>
          </a:stretch>
        </p:blipFill>
        <p:spPr>
          <a:xfrm>
            <a:off x="359228" y="2409825"/>
            <a:ext cx="5638801" cy="3424919"/>
          </a:xfrm>
          <a:prstGeom prst="rect">
            <a:avLst/>
          </a:prstGeom>
        </p:spPr>
      </p:pic>
      <p:sp>
        <p:nvSpPr>
          <p:cNvPr id="9" name="TextBox 8">
            <a:extLst>
              <a:ext uri="{FF2B5EF4-FFF2-40B4-BE49-F238E27FC236}">
                <a16:creationId xmlns:a16="http://schemas.microsoft.com/office/drawing/2014/main" xmlns="" id="{7A79FE16-5401-4C17-9ED1-B7A07E6D9D26}"/>
              </a:ext>
            </a:extLst>
          </p:cNvPr>
          <p:cNvSpPr txBox="1"/>
          <p:nvPr/>
        </p:nvSpPr>
        <p:spPr>
          <a:xfrm>
            <a:off x="6193971" y="1427431"/>
            <a:ext cx="5638801" cy="2862322"/>
          </a:xfrm>
          <a:prstGeom prst="rect">
            <a:avLst/>
          </a:prstGeom>
          <a:noFill/>
        </p:spPr>
        <p:txBody>
          <a:bodyPr wrap="square">
            <a:spAutoFit/>
          </a:bodyPr>
          <a:lstStyle/>
          <a:p>
            <a:pPr algn="l"/>
            <a:r>
              <a:rPr lang="en-US" sz="2000" b="0" i="0" u="none" strike="noStrike" baseline="0" dirty="0">
                <a:latin typeface="Times New Roman" panose="02020603050405020304" pitchFamily="18" charset="0"/>
                <a:cs typeface="Times New Roman" panose="02020603050405020304" pitchFamily="18" charset="0"/>
              </a:rPr>
              <a:t>Q3. Find the difference between the total number of females visited the place from Monday to</a:t>
            </a:r>
          </a:p>
          <a:p>
            <a:pPr algn="l"/>
            <a:r>
              <a:rPr lang="en-US" sz="2000" b="0" i="0" u="none" strike="noStrike" baseline="0" dirty="0">
                <a:latin typeface="Times New Roman" panose="02020603050405020304" pitchFamily="18" charset="0"/>
                <a:cs typeface="Times New Roman" panose="02020603050405020304" pitchFamily="18" charset="0"/>
              </a:rPr>
              <a:t>Wednesday and the total number of males visited the place from Wednesday to Friday?</a:t>
            </a:r>
          </a:p>
          <a:p>
            <a:pPr algn="l"/>
            <a:endParaRPr lang="en-US" sz="2000" b="0" i="0" u="none" strike="noStrike" baseline="0" dirty="0">
              <a:latin typeface="Times New Roman" panose="02020603050405020304" pitchFamily="18" charset="0"/>
              <a:cs typeface="Times New Roman" panose="02020603050405020304" pitchFamily="18" charset="0"/>
            </a:endParaRPr>
          </a:p>
          <a:p>
            <a:pPr algn="l"/>
            <a:r>
              <a:rPr lang="en-IN" sz="2000" dirty="0">
                <a:latin typeface="Times New Roman" panose="02020603050405020304" pitchFamily="18" charset="0"/>
                <a:cs typeface="Times New Roman" panose="02020603050405020304" pitchFamily="18" charset="0"/>
              </a:rPr>
              <a:t>A. 30</a:t>
            </a:r>
          </a:p>
          <a:p>
            <a:pPr algn="l"/>
            <a:r>
              <a:rPr lang="en-IN" sz="2000" dirty="0">
                <a:latin typeface="Times New Roman" panose="02020603050405020304" pitchFamily="18" charset="0"/>
                <a:cs typeface="Times New Roman" panose="02020603050405020304" pitchFamily="18" charset="0"/>
              </a:rPr>
              <a:t>B. 60</a:t>
            </a:r>
          </a:p>
          <a:p>
            <a:pPr algn="l"/>
            <a:r>
              <a:rPr lang="en-IN" sz="2000" dirty="0">
                <a:latin typeface="Times New Roman" panose="02020603050405020304" pitchFamily="18" charset="0"/>
                <a:cs typeface="Times New Roman" panose="02020603050405020304" pitchFamily="18" charset="0"/>
              </a:rPr>
              <a:t>C. 40</a:t>
            </a:r>
          </a:p>
          <a:p>
            <a:pPr algn="l"/>
            <a:r>
              <a:rPr lang="en-IN" sz="2000" dirty="0">
                <a:latin typeface="Times New Roman" panose="02020603050405020304" pitchFamily="18" charset="0"/>
                <a:cs typeface="Times New Roman" panose="02020603050405020304" pitchFamily="18" charset="0"/>
              </a:rPr>
              <a:t>D. 50</a:t>
            </a:r>
          </a:p>
        </p:txBody>
      </p:sp>
    </p:spTree>
    <p:extLst>
      <p:ext uri="{BB962C8B-B14F-4D97-AF65-F5344CB8AC3E}">
        <p14:creationId xmlns:p14="http://schemas.microsoft.com/office/powerpoint/2010/main" val="18346442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6" name="TextBox 5">
            <a:extLst>
              <a:ext uri="{FF2B5EF4-FFF2-40B4-BE49-F238E27FC236}">
                <a16:creationId xmlns:a16="http://schemas.microsoft.com/office/drawing/2014/main" xmlns="" id="{12F7DA0B-C988-4632-9167-9D4674BE67D0}"/>
              </a:ext>
            </a:extLst>
          </p:cNvPr>
          <p:cNvSpPr txBox="1"/>
          <p:nvPr/>
        </p:nvSpPr>
        <p:spPr>
          <a:xfrm>
            <a:off x="0" y="725214"/>
            <a:ext cx="11176250" cy="400110"/>
          </a:xfrm>
          <a:prstGeom prst="rect">
            <a:avLst/>
          </a:prstGeom>
          <a:noFill/>
        </p:spPr>
        <p:txBody>
          <a:bodyPr wrap="square">
            <a:spAutoFit/>
          </a:bodyPr>
          <a:lstStyle/>
          <a:p>
            <a:r>
              <a:rPr lang="en-US" sz="2000" b="1" i="0" u="none" strike="noStrike" baseline="0" dirty="0">
                <a:latin typeface="Times New Roman" panose="02020603050405020304" pitchFamily="18" charset="0"/>
                <a:cs typeface="Times New Roman" panose="02020603050405020304" pitchFamily="18" charset="0"/>
              </a:rPr>
              <a:t>Directions (Q1 to </a:t>
            </a:r>
            <a:r>
              <a:rPr lang="en-US" sz="2000" b="1" dirty="0">
                <a:latin typeface="Times New Roman" panose="02020603050405020304" pitchFamily="18" charset="0"/>
                <a:cs typeface="Times New Roman" panose="02020603050405020304" pitchFamily="18" charset="0"/>
              </a:rPr>
              <a:t>5</a:t>
            </a:r>
            <a:r>
              <a:rPr lang="en-US" sz="2000" b="1" i="0" u="none" strike="noStrike" baseline="0" dirty="0">
                <a:latin typeface="Times New Roman" panose="02020603050405020304" pitchFamily="18" charset="0"/>
                <a:cs typeface="Times New Roman" panose="02020603050405020304" pitchFamily="18" charset="0"/>
              </a:rPr>
              <a:t>):</a:t>
            </a:r>
            <a:r>
              <a:rPr lang="en-US" sz="2000" b="0" i="0" u="none" strike="noStrike" baseline="0" dirty="0">
                <a:latin typeface="Times New Roman" panose="02020603050405020304" pitchFamily="18" charset="0"/>
                <a:cs typeface="Times New Roman" panose="02020603050405020304" pitchFamily="18" charset="0"/>
              </a:rPr>
              <a:t> Study the following information carefully and answer the questions given beside:</a:t>
            </a:r>
            <a:endParaRPr lang="en-IN" sz="2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xmlns="" id="{AC329F72-2C8B-4E76-9EB9-A98D7B149CCD}"/>
              </a:ext>
            </a:extLst>
          </p:cNvPr>
          <p:cNvSpPr txBox="1"/>
          <p:nvPr/>
        </p:nvSpPr>
        <p:spPr>
          <a:xfrm>
            <a:off x="359228" y="1622754"/>
            <a:ext cx="5377543" cy="707886"/>
          </a:xfrm>
          <a:prstGeom prst="rect">
            <a:avLst/>
          </a:prstGeom>
          <a:noFill/>
        </p:spPr>
        <p:txBody>
          <a:bodyPr wrap="square">
            <a:spAutoFit/>
          </a:bodyPr>
          <a:lstStyle/>
          <a:p>
            <a:pPr algn="l"/>
            <a:r>
              <a:rPr lang="en-US" sz="2000" b="0" i="0" u="none" strike="noStrike" baseline="0" dirty="0">
                <a:latin typeface="Times New Roman" panose="02020603050405020304" pitchFamily="18" charset="0"/>
                <a:cs typeface="Times New Roman" panose="02020603050405020304" pitchFamily="18" charset="0"/>
              </a:rPr>
              <a:t>Number of male and number of females are given, they are visiting a place from Monday to </a:t>
            </a:r>
            <a:r>
              <a:rPr lang="en-IN" sz="2000" b="0" i="0" u="none" strike="noStrike" baseline="0" dirty="0">
                <a:latin typeface="Times New Roman" panose="02020603050405020304" pitchFamily="18" charset="0"/>
                <a:cs typeface="Times New Roman" panose="02020603050405020304" pitchFamily="18" charset="0"/>
              </a:rPr>
              <a:t>Friday.</a:t>
            </a:r>
            <a:endParaRPr lang="en-IN" sz="20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xmlns="" id="{37EBAFCB-CD4C-4939-AEA6-3D1264964F65}"/>
              </a:ext>
            </a:extLst>
          </p:cNvPr>
          <p:cNvPicPr>
            <a:picLocks noChangeAspect="1"/>
          </p:cNvPicPr>
          <p:nvPr/>
        </p:nvPicPr>
        <p:blipFill>
          <a:blip r:embed="rId3"/>
          <a:stretch>
            <a:fillRect/>
          </a:stretch>
        </p:blipFill>
        <p:spPr>
          <a:xfrm>
            <a:off x="359228" y="2409825"/>
            <a:ext cx="5638801" cy="3424919"/>
          </a:xfrm>
          <a:prstGeom prst="rect">
            <a:avLst/>
          </a:prstGeom>
        </p:spPr>
      </p:pic>
      <p:sp>
        <p:nvSpPr>
          <p:cNvPr id="9" name="TextBox 8">
            <a:extLst>
              <a:ext uri="{FF2B5EF4-FFF2-40B4-BE49-F238E27FC236}">
                <a16:creationId xmlns:a16="http://schemas.microsoft.com/office/drawing/2014/main" xmlns="" id="{249B93B3-968F-41B2-A6CB-BDA35FD9DB6B}"/>
              </a:ext>
            </a:extLst>
          </p:cNvPr>
          <p:cNvSpPr txBox="1"/>
          <p:nvPr/>
        </p:nvSpPr>
        <p:spPr>
          <a:xfrm>
            <a:off x="6193971" y="1427431"/>
            <a:ext cx="5638801" cy="3170099"/>
          </a:xfrm>
          <a:prstGeom prst="rect">
            <a:avLst/>
          </a:prstGeom>
          <a:noFill/>
        </p:spPr>
        <p:txBody>
          <a:bodyPr wrap="square">
            <a:spAutoFit/>
          </a:bodyPr>
          <a:lstStyle/>
          <a:p>
            <a:pPr algn="l"/>
            <a:r>
              <a:rPr lang="en-US" sz="2000" b="0" i="0" u="none" strike="noStrike" baseline="0" dirty="0">
                <a:latin typeface="Times New Roman" panose="02020603050405020304" pitchFamily="18" charset="0"/>
                <a:cs typeface="Times New Roman" panose="02020603050405020304" pitchFamily="18" charset="0"/>
              </a:rPr>
              <a:t>Q4. If on Saturday number of males and number of females increased by 25% and 20% respectively</a:t>
            </a:r>
          </a:p>
          <a:p>
            <a:pPr algn="l"/>
            <a:r>
              <a:rPr lang="en-US" sz="2000" b="0" i="0" u="none" strike="noStrike" baseline="0" dirty="0">
                <a:latin typeface="Times New Roman" panose="02020603050405020304" pitchFamily="18" charset="0"/>
                <a:cs typeface="Times New Roman" panose="02020603050405020304" pitchFamily="18" charset="0"/>
              </a:rPr>
              <a:t>as compared to that on Friday then find the total number of males and females together visited</a:t>
            </a:r>
          </a:p>
          <a:p>
            <a:pPr algn="l"/>
            <a:r>
              <a:rPr lang="en-IN" sz="2000" b="0" i="0" u="none" strike="noStrike" baseline="0" dirty="0">
                <a:latin typeface="Times New Roman" panose="02020603050405020304" pitchFamily="18" charset="0"/>
                <a:cs typeface="Times New Roman" panose="02020603050405020304" pitchFamily="18" charset="0"/>
              </a:rPr>
              <a:t>the place on Saturday?</a:t>
            </a:r>
          </a:p>
          <a:p>
            <a:pPr algn="l"/>
            <a:endParaRPr lang="en-IN" sz="2000" b="0" i="0" u="none" strike="noStrike" baseline="0" dirty="0">
              <a:latin typeface="Times New Roman" panose="02020603050405020304" pitchFamily="18" charset="0"/>
              <a:cs typeface="Times New Roman" panose="02020603050405020304" pitchFamily="18" charset="0"/>
            </a:endParaRPr>
          </a:p>
          <a:p>
            <a:pPr algn="l"/>
            <a:r>
              <a:rPr lang="en-IN" sz="2000" dirty="0">
                <a:latin typeface="Times New Roman" panose="02020603050405020304" pitchFamily="18" charset="0"/>
                <a:cs typeface="Times New Roman" panose="02020603050405020304" pitchFamily="18" charset="0"/>
              </a:rPr>
              <a:t>A. 196</a:t>
            </a:r>
          </a:p>
          <a:p>
            <a:pPr algn="l"/>
            <a:r>
              <a:rPr lang="en-IN" sz="2000" dirty="0">
                <a:latin typeface="Times New Roman" panose="02020603050405020304" pitchFamily="18" charset="0"/>
                <a:cs typeface="Times New Roman" panose="02020603050405020304" pitchFamily="18" charset="0"/>
              </a:rPr>
              <a:t>B. 306</a:t>
            </a:r>
          </a:p>
          <a:p>
            <a:pPr algn="l"/>
            <a:r>
              <a:rPr lang="en-IN" sz="2000" dirty="0">
                <a:latin typeface="Times New Roman" panose="02020603050405020304" pitchFamily="18" charset="0"/>
                <a:cs typeface="Times New Roman" panose="02020603050405020304" pitchFamily="18" charset="0"/>
              </a:rPr>
              <a:t>C. 316</a:t>
            </a:r>
          </a:p>
          <a:p>
            <a:pPr algn="l"/>
            <a:r>
              <a:rPr lang="en-IN" sz="2000" dirty="0">
                <a:latin typeface="Times New Roman" panose="02020603050405020304" pitchFamily="18" charset="0"/>
                <a:cs typeface="Times New Roman" panose="02020603050405020304" pitchFamily="18" charset="0"/>
              </a:rPr>
              <a:t>D. 206</a:t>
            </a:r>
          </a:p>
        </p:txBody>
      </p:sp>
    </p:spTree>
    <p:extLst>
      <p:ext uri="{BB962C8B-B14F-4D97-AF65-F5344CB8AC3E}">
        <p14:creationId xmlns:p14="http://schemas.microsoft.com/office/powerpoint/2010/main" val="7141342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6" name="TextBox 5">
            <a:extLst>
              <a:ext uri="{FF2B5EF4-FFF2-40B4-BE49-F238E27FC236}">
                <a16:creationId xmlns:a16="http://schemas.microsoft.com/office/drawing/2014/main" xmlns="" id="{1F1F39B1-2869-4120-B801-1C3597501051}"/>
              </a:ext>
            </a:extLst>
          </p:cNvPr>
          <p:cNvSpPr txBox="1"/>
          <p:nvPr/>
        </p:nvSpPr>
        <p:spPr>
          <a:xfrm>
            <a:off x="0" y="702516"/>
            <a:ext cx="11176250" cy="400110"/>
          </a:xfrm>
          <a:prstGeom prst="rect">
            <a:avLst/>
          </a:prstGeom>
          <a:noFill/>
        </p:spPr>
        <p:txBody>
          <a:bodyPr wrap="square">
            <a:spAutoFit/>
          </a:bodyPr>
          <a:lstStyle/>
          <a:p>
            <a:r>
              <a:rPr lang="en-US" sz="2000" b="1" i="0" u="none" strike="noStrike" baseline="0" dirty="0">
                <a:latin typeface="Times New Roman" panose="02020603050405020304" pitchFamily="18" charset="0"/>
                <a:cs typeface="Times New Roman" panose="02020603050405020304" pitchFamily="18" charset="0"/>
              </a:rPr>
              <a:t>Directions (Q1 to </a:t>
            </a:r>
            <a:r>
              <a:rPr lang="en-US" sz="2000" b="1" dirty="0">
                <a:latin typeface="Times New Roman" panose="02020603050405020304" pitchFamily="18" charset="0"/>
                <a:cs typeface="Times New Roman" panose="02020603050405020304" pitchFamily="18" charset="0"/>
              </a:rPr>
              <a:t>5</a:t>
            </a:r>
            <a:r>
              <a:rPr lang="en-US" sz="2000" b="1" i="0" u="none" strike="noStrike" baseline="0" dirty="0">
                <a:latin typeface="Times New Roman" panose="02020603050405020304" pitchFamily="18" charset="0"/>
                <a:cs typeface="Times New Roman" panose="02020603050405020304" pitchFamily="18" charset="0"/>
              </a:rPr>
              <a:t>):</a:t>
            </a:r>
            <a:r>
              <a:rPr lang="en-US" sz="2000" b="0" i="0" u="none" strike="noStrike" baseline="0" dirty="0">
                <a:latin typeface="Times New Roman" panose="02020603050405020304" pitchFamily="18" charset="0"/>
                <a:cs typeface="Times New Roman" panose="02020603050405020304" pitchFamily="18" charset="0"/>
              </a:rPr>
              <a:t> Study the following information carefully and answer the questions given beside:</a:t>
            </a:r>
            <a:endParaRPr lang="en-IN" sz="2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xmlns="" id="{C245D297-2E23-4BFA-9745-CDD492C32265}"/>
              </a:ext>
            </a:extLst>
          </p:cNvPr>
          <p:cNvSpPr txBox="1"/>
          <p:nvPr/>
        </p:nvSpPr>
        <p:spPr>
          <a:xfrm>
            <a:off x="359228" y="1622754"/>
            <a:ext cx="5377543" cy="707886"/>
          </a:xfrm>
          <a:prstGeom prst="rect">
            <a:avLst/>
          </a:prstGeom>
          <a:noFill/>
        </p:spPr>
        <p:txBody>
          <a:bodyPr wrap="square">
            <a:spAutoFit/>
          </a:bodyPr>
          <a:lstStyle/>
          <a:p>
            <a:pPr algn="l"/>
            <a:r>
              <a:rPr lang="en-US" sz="2000" b="0" i="0" u="none" strike="noStrike" baseline="0" dirty="0">
                <a:latin typeface="Times New Roman" panose="02020603050405020304" pitchFamily="18" charset="0"/>
                <a:cs typeface="Times New Roman" panose="02020603050405020304" pitchFamily="18" charset="0"/>
              </a:rPr>
              <a:t>Number of male and number of females are given, they are visiting a place from Monday to </a:t>
            </a:r>
            <a:r>
              <a:rPr lang="en-IN" sz="2000" b="0" i="0" u="none" strike="noStrike" baseline="0" dirty="0">
                <a:latin typeface="Times New Roman" panose="02020603050405020304" pitchFamily="18" charset="0"/>
                <a:cs typeface="Times New Roman" panose="02020603050405020304" pitchFamily="18" charset="0"/>
              </a:rPr>
              <a:t>Friday.</a:t>
            </a:r>
            <a:endParaRPr lang="en-IN" sz="20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xmlns="" id="{D9DF285E-B034-4DFA-B2DA-18E0B3B33D90}"/>
              </a:ext>
            </a:extLst>
          </p:cNvPr>
          <p:cNvPicPr>
            <a:picLocks noChangeAspect="1"/>
          </p:cNvPicPr>
          <p:nvPr/>
        </p:nvPicPr>
        <p:blipFill>
          <a:blip r:embed="rId3"/>
          <a:stretch>
            <a:fillRect/>
          </a:stretch>
        </p:blipFill>
        <p:spPr>
          <a:xfrm>
            <a:off x="359228" y="2409825"/>
            <a:ext cx="5638801" cy="3424919"/>
          </a:xfrm>
          <a:prstGeom prst="rect">
            <a:avLst/>
          </a:prstGeom>
        </p:spPr>
      </p:pic>
      <p:sp>
        <p:nvSpPr>
          <p:cNvPr id="9" name="TextBox 8">
            <a:extLst>
              <a:ext uri="{FF2B5EF4-FFF2-40B4-BE49-F238E27FC236}">
                <a16:creationId xmlns:a16="http://schemas.microsoft.com/office/drawing/2014/main" xmlns="" id="{A0CDBF20-FC19-4F8C-9224-CAB56F783471}"/>
              </a:ext>
            </a:extLst>
          </p:cNvPr>
          <p:cNvSpPr txBox="1"/>
          <p:nvPr/>
        </p:nvSpPr>
        <p:spPr>
          <a:xfrm>
            <a:off x="6193971" y="1427431"/>
            <a:ext cx="5638801" cy="3170099"/>
          </a:xfrm>
          <a:prstGeom prst="rect">
            <a:avLst/>
          </a:prstGeom>
          <a:noFill/>
        </p:spPr>
        <p:txBody>
          <a:bodyPr wrap="square">
            <a:spAutoFit/>
          </a:bodyPr>
          <a:lstStyle/>
          <a:p>
            <a:pPr algn="l"/>
            <a:r>
              <a:rPr lang="en-US" sz="2000" b="0" i="0" u="none" strike="noStrike" baseline="0" dirty="0">
                <a:latin typeface="Times New Roman" panose="02020603050405020304" pitchFamily="18" charset="0"/>
                <a:cs typeface="Times New Roman" panose="02020603050405020304" pitchFamily="18" charset="0"/>
              </a:rPr>
              <a:t>Q5. Total number of males and females visited the place on Monday and Tuesday together is how</a:t>
            </a:r>
          </a:p>
          <a:p>
            <a:pPr algn="l"/>
            <a:r>
              <a:rPr lang="en-US" sz="2000" b="0" i="0" u="none" strike="noStrike" baseline="0" dirty="0">
                <a:latin typeface="Times New Roman" panose="02020603050405020304" pitchFamily="18" charset="0"/>
                <a:cs typeface="Times New Roman" panose="02020603050405020304" pitchFamily="18" charset="0"/>
              </a:rPr>
              <a:t>much more than the total number of males and females visited the place on Thursday and</a:t>
            </a:r>
          </a:p>
          <a:p>
            <a:pPr algn="l"/>
            <a:r>
              <a:rPr lang="en-IN" sz="2000" b="0" i="0" u="none" strike="noStrike" baseline="0" dirty="0">
                <a:latin typeface="Times New Roman" panose="02020603050405020304" pitchFamily="18" charset="0"/>
                <a:cs typeface="Times New Roman" panose="02020603050405020304" pitchFamily="18" charset="0"/>
              </a:rPr>
              <a:t>Friday together?</a:t>
            </a:r>
          </a:p>
          <a:p>
            <a:pPr algn="l"/>
            <a:endParaRPr lang="en-IN" sz="2000" b="0" i="0" u="none" strike="noStrike" baseline="0" dirty="0">
              <a:latin typeface="Times New Roman" panose="02020603050405020304" pitchFamily="18" charset="0"/>
              <a:cs typeface="Times New Roman" panose="02020603050405020304" pitchFamily="18" charset="0"/>
            </a:endParaRPr>
          </a:p>
          <a:p>
            <a:pPr algn="l"/>
            <a:r>
              <a:rPr lang="en-IN" sz="2000" dirty="0">
                <a:latin typeface="Times New Roman" panose="02020603050405020304" pitchFamily="18" charset="0"/>
                <a:cs typeface="Times New Roman" panose="02020603050405020304" pitchFamily="18" charset="0"/>
              </a:rPr>
              <a:t>A. 175</a:t>
            </a:r>
          </a:p>
          <a:p>
            <a:pPr algn="l"/>
            <a:r>
              <a:rPr lang="en-IN" sz="2000" dirty="0">
                <a:latin typeface="Times New Roman" panose="02020603050405020304" pitchFamily="18" charset="0"/>
                <a:cs typeface="Times New Roman" panose="02020603050405020304" pitchFamily="18" charset="0"/>
              </a:rPr>
              <a:t>B. 125</a:t>
            </a:r>
          </a:p>
          <a:p>
            <a:pPr algn="l"/>
            <a:r>
              <a:rPr lang="en-IN" sz="2000" dirty="0">
                <a:latin typeface="Times New Roman" panose="02020603050405020304" pitchFamily="18" charset="0"/>
                <a:cs typeface="Times New Roman" panose="02020603050405020304" pitchFamily="18" charset="0"/>
              </a:rPr>
              <a:t>C. 150</a:t>
            </a:r>
          </a:p>
          <a:p>
            <a:pPr algn="l"/>
            <a:r>
              <a:rPr lang="en-IN" sz="2000" dirty="0">
                <a:latin typeface="Times New Roman" panose="02020603050405020304" pitchFamily="18" charset="0"/>
                <a:cs typeface="Times New Roman" panose="02020603050405020304" pitchFamily="18" charset="0"/>
              </a:rPr>
              <a:t>D. 160</a:t>
            </a:r>
          </a:p>
        </p:txBody>
      </p:sp>
    </p:spTree>
    <p:extLst>
      <p:ext uri="{BB962C8B-B14F-4D97-AF65-F5344CB8AC3E}">
        <p14:creationId xmlns:p14="http://schemas.microsoft.com/office/powerpoint/2010/main" val="4349146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7" name="TextBox 6">
            <a:extLst>
              <a:ext uri="{FF2B5EF4-FFF2-40B4-BE49-F238E27FC236}">
                <a16:creationId xmlns:a16="http://schemas.microsoft.com/office/drawing/2014/main" xmlns="" id="{B304D2AD-2FFE-4DDF-9B0F-0EC4CB5CF2E6}"/>
              </a:ext>
            </a:extLst>
          </p:cNvPr>
          <p:cNvSpPr txBox="1"/>
          <p:nvPr/>
        </p:nvSpPr>
        <p:spPr>
          <a:xfrm>
            <a:off x="0" y="744578"/>
            <a:ext cx="10929258" cy="400110"/>
          </a:xfrm>
          <a:prstGeom prst="rect">
            <a:avLst/>
          </a:prstGeom>
          <a:noFill/>
        </p:spPr>
        <p:txBody>
          <a:bodyPr wrap="square">
            <a:spAutoFit/>
          </a:bodyPr>
          <a:lstStyle/>
          <a:p>
            <a:r>
              <a:rPr lang="en-US" sz="2000" b="1" i="0" u="none" strike="noStrike" baseline="0" dirty="0">
                <a:latin typeface="Times New Roman" panose="02020603050405020304" pitchFamily="18" charset="0"/>
                <a:cs typeface="Times New Roman" panose="02020603050405020304" pitchFamily="18" charset="0"/>
              </a:rPr>
              <a:t>Directions: </a:t>
            </a:r>
            <a:r>
              <a:rPr lang="en-US" sz="2000" b="0" i="0" u="none" strike="noStrike" baseline="0" dirty="0">
                <a:latin typeface="Times New Roman" panose="02020603050405020304" pitchFamily="18" charset="0"/>
                <a:cs typeface="Times New Roman" panose="02020603050405020304" pitchFamily="18" charset="0"/>
              </a:rPr>
              <a:t>(Q</a:t>
            </a:r>
            <a:r>
              <a:rPr lang="en-US" sz="2000" dirty="0">
                <a:latin typeface="Times New Roman" panose="02020603050405020304" pitchFamily="18" charset="0"/>
                <a:cs typeface="Times New Roman" panose="02020603050405020304" pitchFamily="18" charset="0"/>
              </a:rPr>
              <a:t> </a:t>
            </a:r>
            <a:r>
              <a:rPr lang="en-US" sz="2000" b="0" i="0" u="none" strike="noStrike" dirty="0">
                <a:latin typeface="Times New Roman" panose="02020603050405020304" pitchFamily="18" charset="0"/>
                <a:cs typeface="Times New Roman" panose="02020603050405020304" pitchFamily="18" charset="0"/>
              </a:rPr>
              <a:t>6- 10</a:t>
            </a:r>
            <a:r>
              <a:rPr lang="en-US" sz="2000" b="0" i="0" u="none" strike="noStrike" baseline="0" dirty="0">
                <a:latin typeface="Times New Roman" panose="02020603050405020304" pitchFamily="18" charset="0"/>
                <a:cs typeface="Times New Roman" panose="02020603050405020304" pitchFamily="18" charset="0"/>
              </a:rPr>
              <a:t>) : Study the following bar chart carefully and answer the questions given</a:t>
            </a:r>
            <a:endParaRPr lang="en-IN" sz="20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xmlns="" id="{93F5756A-B5D1-44CD-B7D5-8BC0A6A542D0}"/>
              </a:ext>
            </a:extLst>
          </p:cNvPr>
          <p:cNvSpPr txBox="1"/>
          <p:nvPr/>
        </p:nvSpPr>
        <p:spPr>
          <a:xfrm>
            <a:off x="381000" y="1437676"/>
            <a:ext cx="5442858" cy="1569660"/>
          </a:xfrm>
          <a:prstGeom prst="rect">
            <a:avLst/>
          </a:prstGeom>
          <a:noFill/>
        </p:spPr>
        <p:txBody>
          <a:bodyPr wrap="square">
            <a:spAutoFit/>
          </a:bodyPr>
          <a:lstStyle/>
          <a:p>
            <a:pPr algn="just"/>
            <a:r>
              <a:rPr lang="en-US" sz="1600" b="0" i="0" u="none" strike="noStrike" baseline="0" dirty="0">
                <a:latin typeface="Times New Roman" panose="02020603050405020304" pitchFamily="18" charset="0"/>
                <a:cs typeface="Times New Roman" panose="02020603050405020304" pitchFamily="18" charset="0"/>
              </a:rPr>
              <a:t>The data given below shows the amount of salary received by Kartik and the total expenditure for Five months. If his salary falls short of the expenditure in any month, he borrows the required money to meet the expenditure from his friend Arun. If he saves some money in any month he gives that complete amount to Arun.</a:t>
            </a:r>
            <a:endParaRPr lang="en-IN" sz="16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xmlns="" id="{5E4B341C-D1A9-4200-898C-E6540E3CF31E}"/>
              </a:ext>
            </a:extLst>
          </p:cNvPr>
          <p:cNvPicPr>
            <a:picLocks noChangeAspect="1"/>
          </p:cNvPicPr>
          <p:nvPr/>
        </p:nvPicPr>
        <p:blipFill>
          <a:blip r:embed="rId3"/>
          <a:stretch>
            <a:fillRect/>
          </a:stretch>
        </p:blipFill>
        <p:spPr>
          <a:xfrm>
            <a:off x="729342" y="3163512"/>
            <a:ext cx="4629807" cy="3240865"/>
          </a:xfrm>
          <a:prstGeom prst="rect">
            <a:avLst/>
          </a:prstGeom>
        </p:spPr>
      </p:pic>
      <p:sp>
        <p:nvSpPr>
          <p:cNvPr id="13" name="TextBox 12">
            <a:extLst>
              <a:ext uri="{FF2B5EF4-FFF2-40B4-BE49-F238E27FC236}">
                <a16:creationId xmlns:a16="http://schemas.microsoft.com/office/drawing/2014/main" xmlns="" id="{F0D612A9-F8E0-4FC4-8983-384301104FC2}"/>
              </a:ext>
            </a:extLst>
          </p:cNvPr>
          <p:cNvSpPr txBox="1"/>
          <p:nvPr/>
        </p:nvSpPr>
        <p:spPr>
          <a:xfrm>
            <a:off x="6858000" y="1600982"/>
            <a:ext cx="4953000" cy="2308324"/>
          </a:xfrm>
          <a:prstGeom prst="rect">
            <a:avLst/>
          </a:prstGeom>
          <a:noFill/>
        </p:spPr>
        <p:txBody>
          <a:bodyPr wrap="square">
            <a:spAutoFit/>
          </a:bodyPr>
          <a:lstStyle/>
          <a:p>
            <a:pPr algn="just"/>
            <a:r>
              <a:rPr lang="en-US" sz="1800" b="0" i="0" u="none" strike="noStrike" baseline="0" dirty="0">
                <a:latin typeface="Times New Roman" panose="02020603050405020304" pitchFamily="18" charset="0"/>
                <a:cs typeface="Times New Roman" panose="02020603050405020304" pitchFamily="18" charset="0"/>
              </a:rPr>
              <a:t>Q6. What is the total amount of money that Kartik owes his friend Arun at the end of the month of </a:t>
            </a:r>
            <a:r>
              <a:rPr lang="en-IN" sz="1800" b="0" i="0" u="none" strike="noStrike" baseline="0" dirty="0">
                <a:latin typeface="Times New Roman" panose="02020603050405020304" pitchFamily="18" charset="0"/>
                <a:cs typeface="Times New Roman" panose="02020603050405020304" pitchFamily="18" charset="0"/>
              </a:rPr>
              <a:t>May?</a:t>
            </a:r>
          </a:p>
          <a:p>
            <a:pPr algn="just"/>
            <a:endParaRPr lang="en-IN" sz="1800" b="0" i="0" u="none" strike="noStrike" baseline="0" dirty="0">
              <a:latin typeface="Times New Roman" panose="02020603050405020304" pitchFamily="18" charset="0"/>
              <a:cs typeface="Times New Roman" panose="02020603050405020304" pitchFamily="18" charset="0"/>
            </a:endParaRPr>
          </a:p>
          <a:p>
            <a:pPr algn="just"/>
            <a:r>
              <a:rPr lang="en-IN" sz="1800" dirty="0">
                <a:latin typeface="Times New Roman" panose="02020603050405020304" pitchFamily="18" charset="0"/>
                <a:cs typeface="Times New Roman" panose="02020603050405020304" pitchFamily="18" charset="0"/>
              </a:rPr>
              <a:t>A. Rs. 1529</a:t>
            </a:r>
          </a:p>
          <a:p>
            <a:pPr algn="just"/>
            <a:r>
              <a:rPr lang="en-IN" sz="1800" dirty="0">
                <a:latin typeface="Times New Roman" panose="02020603050405020304" pitchFamily="18" charset="0"/>
                <a:cs typeface="Times New Roman" panose="02020603050405020304" pitchFamily="18" charset="0"/>
              </a:rPr>
              <a:t>B. Rs. 1489</a:t>
            </a:r>
          </a:p>
          <a:p>
            <a:pPr algn="just"/>
            <a:r>
              <a:rPr lang="en-IN" sz="1800" dirty="0">
                <a:latin typeface="Times New Roman" panose="02020603050405020304" pitchFamily="18" charset="0"/>
                <a:cs typeface="Times New Roman" panose="02020603050405020304" pitchFamily="18" charset="0"/>
              </a:rPr>
              <a:t>C. Rs. 1389</a:t>
            </a:r>
          </a:p>
          <a:p>
            <a:pPr algn="just"/>
            <a:r>
              <a:rPr lang="en-IN" sz="1800" dirty="0">
                <a:latin typeface="Times New Roman" panose="02020603050405020304" pitchFamily="18" charset="0"/>
                <a:cs typeface="Times New Roman" panose="02020603050405020304" pitchFamily="18" charset="0"/>
              </a:rPr>
              <a:t>D. Rs. 1469</a:t>
            </a:r>
          </a:p>
        </p:txBody>
      </p:sp>
    </p:spTree>
    <p:extLst>
      <p:ext uri="{BB962C8B-B14F-4D97-AF65-F5344CB8AC3E}">
        <p14:creationId xmlns:p14="http://schemas.microsoft.com/office/powerpoint/2010/main" val="26421956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6" name="TextBox 5">
            <a:extLst>
              <a:ext uri="{FF2B5EF4-FFF2-40B4-BE49-F238E27FC236}">
                <a16:creationId xmlns:a16="http://schemas.microsoft.com/office/drawing/2014/main" xmlns="" id="{DFF2915A-E5E7-48F0-8FD4-1E34B2B52A2D}"/>
              </a:ext>
            </a:extLst>
          </p:cNvPr>
          <p:cNvSpPr txBox="1"/>
          <p:nvPr/>
        </p:nvSpPr>
        <p:spPr>
          <a:xfrm>
            <a:off x="-38387" y="704926"/>
            <a:ext cx="10929258" cy="400110"/>
          </a:xfrm>
          <a:prstGeom prst="rect">
            <a:avLst/>
          </a:prstGeom>
          <a:noFill/>
        </p:spPr>
        <p:txBody>
          <a:bodyPr wrap="square">
            <a:spAutoFit/>
          </a:bodyPr>
          <a:lstStyle/>
          <a:p>
            <a:r>
              <a:rPr lang="en-US" sz="2000" b="1" i="0" u="none" strike="noStrike" baseline="0" dirty="0">
                <a:latin typeface="Times New Roman" panose="02020603050405020304" pitchFamily="18" charset="0"/>
                <a:cs typeface="Times New Roman" panose="02020603050405020304" pitchFamily="18" charset="0"/>
              </a:rPr>
              <a:t>Directions: </a:t>
            </a:r>
            <a:r>
              <a:rPr lang="en-US" sz="2000" b="0" i="0" u="none" strike="noStrike" baseline="0" dirty="0">
                <a:latin typeface="Times New Roman" panose="02020603050405020304" pitchFamily="18" charset="0"/>
                <a:cs typeface="Times New Roman" panose="02020603050405020304" pitchFamily="18" charset="0"/>
              </a:rPr>
              <a:t>(Q</a:t>
            </a:r>
            <a:r>
              <a:rPr lang="en-US" sz="2000" b="0" i="0" u="none" strike="noStrike"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6- 10</a:t>
            </a:r>
            <a:r>
              <a:rPr lang="en-US" sz="2000" b="0" i="0" u="none" strike="noStrike" baseline="0" dirty="0">
                <a:latin typeface="Times New Roman" panose="02020603050405020304" pitchFamily="18" charset="0"/>
                <a:cs typeface="Times New Roman" panose="02020603050405020304" pitchFamily="18" charset="0"/>
              </a:rPr>
              <a:t>) : Study the following bar chart carefully and answer the questions given</a:t>
            </a:r>
            <a:endParaRPr lang="en-IN" sz="2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xmlns="" id="{7DE00E19-5647-431E-9320-9B88399787C3}"/>
              </a:ext>
            </a:extLst>
          </p:cNvPr>
          <p:cNvSpPr txBox="1"/>
          <p:nvPr/>
        </p:nvSpPr>
        <p:spPr>
          <a:xfrm>
            <a:off x="381000" y="1437676"/>
            <a:ext cx="5442858" cy="1569660"/>
          </a:xfrm>
          <a:prstGeom prst="rect">
            <a:avLst/>
          </a:prstGeom>
          <a:noFill/>
        </p:spPr>
        <p:txBody>
          <a:bodyPr wrap="square">
            <a:spAutoFit/>
          </a:bodyPr>
          <a:lstStyle/>
          <a:p>
            <a:pPr algn="just"/>
            <a:r>
              <a:rPr lang="en-US" sz="1600" b="0" i="0" u="none" strike="noStrike" baseline="0" dirty="0">
                <a:latin typeface="Times New Roman" panose="02020603050405020304" pitchFamily="18" charset="0"/>
                <a:cs typeface="Times New Roman" panose="02020603050405020304" pitchFamily="18" charset="0"/>
              </a:rPr>
              <a:t>The data given below shows the amount of salary received by Kartik and the total expenditure for Five months. If his salary falls short of the expenditure in any month, he borrows the required money to meet the expenditure from his friend Arun. If he saves some money in any month he gives that complete amount to Arun.</a:t>
            </a:r>
            <a:endParaRPr lang="en-IN" sz="16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xmlns="" id="{885EE1A4-08F5-4364-A88A-87D0948223C3}"/>
              </a:ext>
            </a:extLst>
          </p:cNvPr>
          <p:cNvPicPr>
            <a:picLocks noChangeAspect="1"/>
          </p:cNvPicPr>
          <p:nvPr/>
        </p:nvPicPr>
        <p:blipFill>
          <a:blip r:embed="rId3"/>
          <a:stretch>
            <a:fillRect/>
          </a:stretch>
        </p:blipFill>
        <p:spPr>
          <a:xfrm>
            <a:off x="729342" y="3163512"/>
            <a:ext cx="4629807" cy="3240865"/>
          </a:xfrm>
          <a:prstGeom prst="rect">
            <a:avLst/>
          </a:prstGeom>
        </p:spPr>
      </p:pic>
      <p:sp>
        <p:nvSpPr>
          <p:cNvPr id="9" name="TextBox 8">
            <a:extLst>
              <a:ext uri="{FF2B5EF4-FFF2-40B4-BE49-F238E27FC236}">
                <a16:creationId xmlns:a16="http://schemas.microsoft.com/office/drawing/2014/main" xmlns="" id="{AF23FDA0-6EAC-4348-BFD8-A71B8793707D}"/>
              </a:ext>
            </a:extLst>
          </p:cNvPr>
          <p:cNvSpPr txBox="1"/>
          <p:nvPr/>
        </p:nvSpPr>
        <p:spPr>
          <a:xfrm>
            <a:off x="6858000" y="1600982"/>
            <a:ext cx="4953000" cy="2585323"/>
          </a:xfrm>
          <a:prstGeom prst="rect">
            <a:avLst/>
          </a:prstGeom>
          <a:noFill/>
        </p:spPr>
        <p:txBody>
          <a:bodyPr wrap="square">
            <a:spAutoFit/>
          </a:bodyPr>
          <a:lstStyle/>
          <a:p>
            <a:pPr algn="l"/>
            <a:r>
              <a:rPr lang="en-US" sz="1800" b="0" i="0" u="none" strike="noStrike" baseline="0" dirty="0">
                <a:latin typeface="Times New Roman" panose="02020603050405020304" pitchFamily="18" charset="0"/>
                <a:cs typeface="Times New Roman" panose="02020603050405020304" pitchFamily="18" charset="0"/>
              </a:rPr>
              <a:t>Q7. During these five months the total amount of money returned by Kartik to Arun is what percent of the total amount of money he borrowed from him?</a:t>
            </a:r>
          </a:p>
          <a:p>
            <a:pPr algn="l"/>
            <a:endParaRPr lang="en-US" sz="1800" b="0" i="0" u="none" strike="noStrike" baseline="0" dirty="0">
              <a:latin typeface="Times New Roman" panose="02020603050405020304" pitchFamily="18" charset="0"/>
              <a:cs typeface="Times New Roman" panose="02020603050405020304" pitchFamily="18" charset="0"/>
            </a:endParaRPr>
          </a:p>
          <a:p>
            <a:pPr algn="l"/>
            <a:r>
              <a:rPr lang="en-IN" sz="1800" dirty="0">
                <a:latin typeface="Times New Roman" panose="02020603050405020304" pitchFamily="18" charset="0"/>
                <a:cs typeface="Times New Roman" panose="02020603050405020304" pitchFamily="18" charset="0"/>
              </a:rPr>
              <a:t>A. 36.56%</a:t>
            </a:r>
          </a:p>
          <a:p>
            <a:pPr algn="just"/>
            <a:r>
              <a:rPr lang="en-IN" sz="1800" dirty="0">
                <a:latin typeface="Times New Roman" panose="02020603050405020304" pitchFamily="18" charset="0"/>
                <a:cs typeface="Times New Roman" panose="02020603050405020304" pitchFamily="18" charset="0"/>
              </a:rPr>
              <a:t>B. 38.56%</a:t>
            </a:r>
          </a:p>
          <a:p>
            <a:pPr algn="just"/>
            <a:r>
              <a:rPr lang="en-IN" sz="1800" dirty="0">
                <a:latin typeface="Times New Roman" panose="02020603050405020304" pitchFamily="18" charset="0"/>
                <a:cs typeface="Times New Roman" panose="02020603050405020304" pitchFamily="18" charset="0"/>
              </a:rPr>
              <a:t>C. 37.23%</a:t>
            </a:r>
          </a:p>
          <a:p>
            <a:pPr algn="just"/>
            <a:r>
              <a:rPr lang="en-IN" sz="1800" dirty="0">
                <a:latin typeface="Times New Roman" panose="02020603050405020304" pitchFamily="18" charset="0"/>
                <a:cs typeface="Times New Roman" panose="02020603050405020304" pitchFamily="18" charset="0"/>
              </a:rPr>
              <a:t>D. 39.13%</a:t>
            </a:r>
          </a:p>
        </p:txBody>
      </p:sp>
    </p:spTree>
    <p:extLst>
      <p:ext uri="{BB962C8B-B14F-4D97-AF65-F5344CB8AC3E}">
        <p14:creationId xmlns:p14="http://schemas.microsoft.com/office/powerpoint/2010/main" val="17093411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6" name="TextBox 5">
            <a:extLst>
              <a:ext uri="{FF2B5EF4-FFF2-40B4-BE49-F238E27FC236}">
                <a16:creationId xmlns:a16="http://schemas.microsoft.com/office/drawing/2014/main" xmlns="" id="{3B8CFE65-E85A-4A11-A7A8-13397042D981}"/>
              </a:ext>
            </a:extLst>
          </p:cNvPr>
          <p:cNvSpPr txBox="1"/>
          <p:nvPr/>
        </p:nvSpPr>
        <p:spPr>
          <a:xfrm>
            <a:off x="0" y="725214"/>
            <a:ext cx="10929258" cy="400110"/>
          </a:xfrm>
          <a:prstGeom prst="rect">
            <a:avLst/>
          </a:prstGeom>
          <a:noFill/>
        </p:spPr>
        <p:txBody>
          <a:bodyPr wrap="square">
            <a:spAutoFit/>
          </a:bodyPr>
          <a:lstStyle/>
          <a:p>
            <a:r>
              <a:rPr lang="en-US" sz="2000" b="1" i="0" u="none" strike="noStrike" baseline="0" dirty="0">
                <a:latin typeface="Times New Roman" panose="02020603050405020304" pitchFamily="18" charset="0"/>
                <a:cs typeface="Times New Roman" panose="02020603050405020304" pitchFamily="18" charset="0"/>
              </a:rPr>
              <a:t>Directions: </a:t>
            </a:r>
            <a:r>
              <a:rPr lang="en-US" sz="2000" b="0" i="0" u="none" strike="noStrike" baseline="0" dirty="0">
                <a:latin typeface="Times New Roman" panose="02020603050405020304" pitchFamily="18" charset="0"/>
                <a:cs typeface="Times New Roman" panose="02020603050405020304" pitchFamily="18" charset="0"/>
              </a:rPr>
              <a:t>(Q</a:t>
            </a:r>
            <a:r>
              <a:rPr lang="en-US" sz="2000" b="0" i="0" u="none" strike="noStrike"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6- 10</a:t>
            </a:r>
            <a:r>
              <a:rPr lang="en-US" sz="2000" b="0" i="0" u="none" strike="noStrike" baseline="0" dirty="0">
                <a:latin typeface="Times New Roman" panose="02020603050405020304" pitchFamily="18" charset="0"/>
                <a:cs typeface="Times New Roman" panose="02020603050405020304" pitchFamily="18" charset="0"/>
              </a:rPr>
              <a:t>) : Study the following bar chart carefully and answer the questions given</a:t>
            </a:r>
            <a:endParaRPr lang="en-IN" sz="2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xmlns="" id="{B5DDECA7-7967-4790-B274-8A89847CC3AC}"/>
              </a:ext>
            </a:extLst>
          </p:cNvPr>
          <p:cNvSpPr txBox="1"/>
          <p:nvPr/>
        </p:nvSpPr>
        <p:spPr>
          <a:xfrm>
            <a:off x="381000" y="1437676"/>
            <a:ext cx="5442858" cy="1569660"/>
          </a:xfrm>
          <a:prstGeom prst="rect">
            <a:avLst/>
          </a:prstGeom>
          <a:noFill/>
        </p:spPr>
        <p:txBody>
          <a:bodyPr wrap="square">
            <a:spAutoFit/>
          </a:bodyPr>
          <a:lstStyle/>
          <a:p>
            <a:pPr algn="just"/>
            <a:r>
              <a:rPr lang="en-US" sz="1600" b="0" i="0" u="none" strike="noStrike" baseline="0" dirty="0">
                <a:latin typeface="Times New Roman" panose="02020603050405020304" pitchFamily="18" charset="0"/>
                <a:cs typeface="Times New Roman" panose="02020603050405020304" pitchFamily="18" charset="0"/>
              </a:rPr>
              <a:t>The data given below shows the amount of salary received by Kartik and the total expenditure for Five months. If his salary falls short of the expenditure in any month, he borrows the required money to meet the expenditure from his friend Arun. If he saves some money in any month he gives that complete amount to Arun.</a:t>
            </a:r>
            <a:endParaRPr lang="en-IN" sz="16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xmlns="" id="{BECC6068-0D73-4809-B253-9259F5EDF55C}"/>
              </a:ext>
            </a:extLst>
          </p:cNvPr>
          <p:cNvPicPr>
            <a:picLocks noChangeAspect="1"/>
          </p:cNvPicPr>
          <p:nvPr/>
        </p:nvPicPr>
        <p:blipFill>
          <a:blip r:embed="rId3"/>
          <a:stretch>
            <a:fillRect/>
          </a:stretch>
        </p:blipFill>
        <p:spPr>
          <a:xfrm>
            <a:off x="729342" y="3163512"/>
            <a:ext cx="4629807" cy="3240865"/>
          </a:xfrm>
          <a:prstGeom prst="rect">
            <a:avLst/>
          </a:prstGeom>
        </p:spPr>
      </p:pic>
      <p:sp>
        <p:nvSpPr>
          <p:cNvPr id="9" name="TextBox 8">
            <a:extLst>
              <a:ext uri="{FF2B5EF4-FFF2-40B4-BE49-F238E27FC236}">
                <a16:creationId xmlns:a16="http://schemas.microsoft.com/office/drawing/2014/main" xmlns="" id="{CFE8D60A-8C50-4F2B-B192-9208A9E3BDA2}"/>
              </a:ext>
            </a:extLst>
          </p:cNvPr>
          <p:cNvSpPr txBox="1"/>
          <p:nvPr/>
        </p:nvSpPr>
        <p:spPr>
          <a:xfrm>
            <a:off x="6858000" y="1600982"/>
            <a:ext cx="4953000" cy="2031325"/>
          </a:xfrm>
          <a:prstGeom prst="rect">
            <a:avLst/>
          </a:prstGeom>
          <a:noFill/>
        </p:spPr>
        <p:txBody>
          <a:bodyPr wrap="square">
            <a:spAutoFit/>
          </a:bodyPr>
          <a:lstStyle/>
          <a:p>
            <a:pPr algn="l"/>
            <a:r>
              <a:rPr lang="en-US" sz="1800" b="0" i="0" u="none" strike="noStrike" baseline="0" dirty="0">
                <a:latin typeface="Times New Roman" panose="02020603050405020304" pitchFamily="18" charset="0"/>
                <a:cs typeface="Times New Roman" panose="02020603050405020304" pitchFamily="18" charset="0"/>
              </a:rPr>
              <a:t>Q8. What is the average expenditure of Kartik from January to May?</a:t>
            </a:r>
          </a:p>
          <a:p>
            <a:pPr algn="l"/>
            <a:endParaRPr lang="en-US" sz="1800" b="0" i="0" u="none" strike="noStrike" baseline="0" dirty="0">
              <a:latin typeface="Times New Roman" panose="02020603050405020304" pitchFamily="18" charset="0"/>
              <a:cs typeface="Times New Roman" panose="02020603050405020304" pitchFamily="18" charset="0"/>
            </a:endParaRPr>
          </a:p>
          <a:p>
            <a:pPr algn="l"/>
            <a:r>
              <a:rPr lang="en-IN" sz="1800" dirty="0">
                <a:latin typeface="Times New Roman" panose="02020603050405020304" pitchFamily="18" charset="0"/>
                <a:cs typeface="Times New Roman" panose="02020603050405020304" pitchFamily="18" charset="0"/>
              </a:rPr>
              <a:t>A. Rs. 4788</a:t>
            </a:r>
          </a:p>
          <a:p>
            <a:pPr algn="just"/>
            <a:r>
              <a:rPr lang="en-IN" sz="1800" dirty="0">
                <a:latin typeface="Times New Roman" panose="02020603050405020304" pitchFamily="18" charset="0"/>
                <a:cs typeface="Times New Roman" panose="02020603050405020304" pitchFamily="18" charset="0"/>
              </a:rPr>
              <a:t>B. Rs. 4789.6</a:t>
            </a:r>
          </a:p>
          <a:p>
            <a:pPr algn="just"/>
            <a:r>
              <a:rPr lang="en-IN" sz="1800" dirty="0">
                <a:latin typeface="Times New Roman" panose="02020603050405020304" pitchFamily="18" charset="0"/>
                <a:cs typeface="Times New Roman" panose="02020603050405020304" pitchFamily="18" charset="0"/>
              </a:rPr>
              <a:t>C. Rs. 4667.8</a:t>
            </a:r>
          </a:p>
          <a:p>
            <a:pPr algn="just"/>
            <a:r>
              <a:rPr lang="en-IN" sz="1800" dirty="0">
                <a:latin typeface="Times New Roman" panose="02020603050405020304" pitchFamily="18" charset="0"/>
                <a:cs typeface="Times New Roman" panose="02020603050405020304" pitchFamily="18" charset="0"/>
              </a:rPr>
              <a:t>D. Rs. 4711.8</a:t>
            </a:r>
          </a:p>
        </p:txBody>
      </p:sp>
    </p:spTree>
    <p:extLst>
      <p:ext uri="{BB962C8B-B14F-4D97-AF65-F5344CB8AC3E}">
        <p14:creationId xmlns:p14="http://schemas.microsoft.com/office/powerpoint/2010/main" val="39211288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6" name="TextBox 5">
            <a:extLst>
              <a:ext uri="{FF2B5EF4-FFF2-40B4-BE49-F238E27FC236}">
                <a16:creationId xmlns:a16="http://schemas.microsoft.com/office/drawing/2014/main" xmlns="" id="{603C5DE6-D81A-4BBC-9B0B-04112C19C5F4}"/>
              </a:ext>
            </a:extLst>
          </p:cNvPr>
          <p:cNvSpPr txBox="1"/>
          <p:nvPr/>
        </p:nvSpPr>
        <p:spPr>
          <a:xfrm>
            <a:off x="0" y="712493"/>
            <a:ext cx="10929258" cy="400110"/>
          </a:xfrm>
          <a:prstGeom prst="rect">
            <a:avLst/>
          </a:prstGeom>
          <a:noFill/>
        </p:spPr>
        <p:txBody>
          <a:bodyPr wrap="square">
            <a:spAutoFit/>
          </a:bodyPr>
          <a:lstStyle/>
          <a:p>
            <a:r>
              <a:rPr lang="en-US" sz="2000" b="1" i="0" u="none" strike="noStrike" baseline="0" dirty="0">
                <a:latin typeface="Times New Roman" panose="02020603050405020304" pitchFamily="18" charset="0"/>
                <a:cs typeface="Times New Roman" panose="02020603050405020304" pitchFamily="18" charset="0"/>
              </a:rPr>
              <a:t>Directions: </a:t>
            </a:r>
            <a:r>
              <a:rPr lang="en-US" sz="2000" b="0" i="0" u="none" strike="noStrike" baseline="0" dirty="0">
                <a:latin typeface="Times New Roman" panose="02020603050405020304" pitchFamily="18" charset="0"/>
                <a:cs typeface="Times New Roman" panose="02020603050405020304" pitchFamily="18" charset="0"/>
              </a:rPr>
              <a:t>(Q</a:t>
            </a:r>
            <a:r>
              <a:rPr lang="en-US" sz="2000" b="0" i="0" u="none" strike="noStrike"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6- 10</a:t>
            </a:r>
            <a:r>
              <a:rPr lang="en-US" sz="2000" b="0" i="0" u="none" strike="noStrike" baseline="0" dirty="0">
                <a:latin typeface="Times New Roman" panose="02020603050405020304" pitchFamily="18" charset="0"/>
                <a:cs typeface="Times New Roman" panose="02020603050405020304" pitchFamily="18" charset="0"/>
              </a:rPr>
              <a:t>) : Study the following bar chart carefully and answer the questions given</a:t>
            </a:r>
            <a:endParaRPr lang="en-IN" sz="2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xmlns="" id="{F699FFCF-22D6-45EC-87D3-B98039EE99F3}"/>
              </a:ext>
            </a:extLst>
          </p:cNvPr>
          <p:cNvSpPr txBox="1"/>
          <p:nvPr/>
        </p:nvSpPr>
        <p:spPr>
          <a:xfrm>
            <a:off x="381000" y="1437676"/>
            <a:ext cx="5442858" cy="1569660"/>
          </a:xfrm>
          <a:prstGeom prst="rect">
            <a:avLst/>
          </a:prstGeom>
          <a:noFill/>
        </p:spPr>
        <p:txBody>
          <a:bodyPr wrap="square">
            <a:spAutoFit/>
          </a:bodyPr>
          <a:lstStyle/>
          <a:p>
            <a:pPr algn="just"/>
            <a:r>
              <a:rPr lang="en-US" sz="1600" b="0" i="0" u="none" strike="noStrike" baseline="0" dirty="0">
                <a:latin typeface="Times New Roman" panose="02020603050405020304" pitchFamily="18" charset="0"/>
                <a:cs typeface="Times New Roman" panose="02020603050405020304" pitchFamily="18" charset="0"/>
              </a:rPr>
              <a:t>The data given below shows the amount of salary received by Kartik and the total expenditure for Five months. If his salary falls short of the expenditure in any month, he borrows the required money to meet the expenditure from his friend Arun. If he saves some money in any month he gives that complete amount to Arun.</a:t>
            </a:r>
            <a:endParaRPr lang="en-IN" sz="16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xmlns="" id="{96FE6511-1708-4F24-8D4C-25EACA7D0E47}"/>
              </a:ext>
            </a:extLst>
          </p:cNvPr>
          <p:cNvPicPr>
            <a:picLocks noChangeAspect="1"/>
          </p:cNvPicPr>
          <p:nvPr/>
        </p:nvPicPr>
        <p:blipFill>
          <a:blip r:embed="rId3"/>
          <a:stretch>
            <a:fillRect/>
          </a:stretch>
        </p:blipFill>
        <p:spPr>
          <a:xfrm>
            <a:off x="729342" y="3163512"/>
            <a:ext cx="4629807" cy="3240865"/>
          </a:xfrm>
          <a:prstGeom prst="rect">
            <a:avLst/>
          </a:prstGeom>
        </p:spPr>
      </p:pic>
      <p:sp>
        <p:nvSpPr>
          <p:cNvPr id="9" name="TextBox 8">
            <a:extLst>
              <a:ext uri="{FF2B5EF4-FFF2-40B4-BE49-F238E27FC236}">
                <a16:creationId xmlns:a16="http://schemas.microsoft.com/office/drawing/2014/main" xmlns="" id="{59F7EC82-2DF0-4E65-85B5-F80024540087}"/>
              </a:ext>
            </a:extLst>
          </p:cNvPr>
          <p:cNvSpPr txBox="1"/>
          <p:nvPr/>
        </p:nvSpPr>
        <p:spPr>
          <a:xfrm>
            <a:off x="6858000" y="1600982"/>
            <a:ext cx="4953000" cy="3416320"/>
          </a:xfrm>
          <a:prstGeom prst="rect">
            <a:avLst/>
          </a:prstGeom>
          <a:noFill/>
        </p:spPr>
        <p:txBody>
          <a:bodyPr wrap="square">
            <a:spAutoFit/>
          </a:bodyPr>
          <a:lstStyle/>
          <a:p>
            <a:pPr algn="just"/>
            <a:r>
              <a:rPr lang="en-US" sz="1800" b="0" i="0" u="none" strike="noStrike" baseline="0" dirty="0">
                <a:latin typeface="Times New Roman" panose="02020603050405020304" pitchFamily="18" charset="0"/>
                <a:cs typeface="Times New Roman" panose="02020603050405020304" pitchFamily="18" charset="0"/>
              </a:rPr>
              <a:t>Q9. </a:t>
            </a:r>
            <a:r>
              <a:rPr lang="en-US" sz="1800" b="0" i="0" u="none" strike="noStrike" baseline="0" dirty="0">
                <a:latin typeface="Cambria" panose="02040503050406030204" pitchFamily="18" charset="0"/>
              </a:rPr>
              <a:t>In the month of June the expenditure of Kartik is Rs. 36489 and Kartik wants to clear the total amount he owes to Arun, then what was the salary of Kartik in the month of June if he saves Rs. 1200 after clearing the amount he owes to </a:t>
            </a:r>
            <a:r>
              <a:rPr lang="en-US" sz="1800" b="0" i="0" u="none" strike="noStrike" baseline="0" dirty="0" err="1">
                <a:latin typeface="Cambria" panose="02040503050406030204" pitchFamily="18" charset="0"/>
              </a:rPr>
              <a:t>Arun</a:t>
            </a:r>
            <a:r>
              <a:rPr lang="en-US" sz="1800" b="0" i="0" u="none" strike="noStrike" baseline="0" dirty="0">
                <a:latin typeface="Cambria" panose="02040503050406030204" pitchFamily="18" charset="0"/>
              </a:rPr>
              <a:t>?</a:t>
            </a:r>
          </a:p>
          <a:p>
            <a:pPr algn="just"/>
            <a:endParaRPr lang="en-US" sz="1800" b="0" i="0" u="none" strike="noStrike" baseline="0" dirty="0">
              <a:latin typeface="Cambria" panose="02040503050406030204" pitchFamily="18" charset="0"/>
            </a:endParaRPr>
          </a:p>
          <a:p>
            <a:pPr algn="just"/>
            <a:r>
              <a:rPr lang="en-IN" sz="1800" dirty="0">
                <a:latin typeface="Times New Roman" panose="02020603050405020304" pitchFamily="18" charset="0"/>
                <a:cs typeface="Times New Roman" panose="02020603050405020304" pitchFamily="18" charset="0"/>
              </a:rPr>
              <a:t>A. Rs. 39168</a:t>
            </a:r>
          </a:p>
          <a:p>
            <a:pPr algn="just"/>
            <a:r>
              <a:rPr lang="en-IN" sz="1800" dirty="0">
                <a:latin typeface="Times New Roman" panose="02020603050405020304" pitchFamily="18" charset="0"/>
                <a:cs typeface="Times New Roman" panose="02020603050405020304" pitchFamily="18" charset="0"/>
              </a:rPr>
              <a:t>B. Rs. 37189</a:t>
            </a:r>
          </a:p>
          <a:p>
            <a:pPr algn="just"/>
            <a:r>
              <a:rPr lang="en-IN" sz="1800" dirty="0">
                <a:latin typeface="Times New Roman" panose="02020603050405020304" pitchFamily="18" charset="0"/>
                <a:cs typeface="Times New Roman" panose="02020603050405020304" pitchFamily="18" charset="0"/>
              </a:rPr>
              <a:t>C. Rs. 39178</a:t>
            </a:r>
          </a:p>
          <a:p>
            <a:pPr algn="just"/>
            <a:r>
              <a:rPr lang="en-IN" sz="1800" dirty="0">
                <a:latin typeface="Times New Roman" panose="02020603050405020304" pitchFamily="18" charset="0"/>
                <a:cs typeface="Times New Roman" panose="02020603050405020304" pitchFamily="18" charset="0"/>
              </a:rPr>
              <a:t>D. Rs. 38179</a:t>
            </a:r>
          </a:p>
          <a:p>
            <a:pPr algn="just"/>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11307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6" name="TextBox 5">
            <a:extLst>
              <a:ext uri="{FF2B5EF4-FFF2-40B4-BE49-F238E27FC236}">
                <a16:creationId xmlns:a16="http://schemas.microsoft.com/office/drawing/2014/main" xmlns="" id="{F2E98BD1-8F55-46A4-AB8B-CC36953A18F4}"/>
              </a:ext>
            </a:extLst>
          </p:cNvPr>
          <p:cNvSpPr txBox="1"/>
          <p:nvPr/>
        </p:nvSpPr>
        <p:spPr>
          <a:xfrm>
            <a:off x="0" y="725214"/>
            <a:ext cx="10929258" cy="400110"/>
          </a:xfrm>
          <a:prstGeom prst="rect">
            <a:avLst/>
          </a:prstGeom>
          <a:noFill/>
        </p:spPr>
        <p:txBody>
          <a:bodyPr wrap="square">
            <a:spAutoFit/>
          </a:bodyPr>
          <a:lstStyle/>
          <a:p>
            <a:r>
              <a:rPr lang="en-US" sz="2000" b="1" i="0" u="none" strike="noStrike" baseline="0" dirty="0">
                <a:latin typeface="Times New Roman" panose="02020603050405020304" pitchFamily="18" charset="0"/>
                <a:cs typeface="Times New Roman" panose="02020603050405020304" pitchFamily="18" charset="0"/>
              </a:rPr>
              <a:t>Directions: </a:t>
            </a:r>
            <a:r>
              <a:rPr lang="en-US" sz="2000" b="0" i="0" u="none" strike="noStrike" baseline="0" dirty="0">
                <a:latin typeface="Times New Roman" panose="02020603050405020304" pitchFamily="18" charset="0"/>
                <a:cs typeface="Times New Roman" panose="02020603050405020304" pitchFamily="18" charset="0"/>
              </a:rPr>
              <a:t>(Q</a:t>
            </a:r>
            <a:r>
              <a:rPr lang="en-US" sz="2000" b="0" i="0" u="none" strike="noStrike"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6- 10</a:t>
            </a:r>
            <a:r>
              <a:rPr lang="en-US" sz="2000" b="0" i="0" u="none" strike="noStrike" baseline="0" dirty="0">
                <a:latin typeface="Times New Roman" panose="02020603050405020304" pitchFamily="18" charset="0"/>
                <a:cs typeface="Times New Roman" panose="02020603050405020304" pitchFamily="18" charset="0"/>
              </a:rPr>
              <a:t>) : Study the following bar chart carefully and answer the questions given</a:t>
            </a:r>
            <a:endParaRPr lang="en-IN" sz="2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xmlns="" id="{ECFB7E51-F512-4CF0-B359-B2F2B9A8B2A0}"/>
              </a:ext>
            </a:extLst>
          </p:cNvPr>
          <p:cNvSpPr txBox="1"/>
          <p:nvPr/>
        </p:nvSpPr>
        <p:spPr>
          <a:xfrm>
            <a:off x="381000" y="1437676"/>
            <a:ext cx="5442858" cy="1569660"/>
          </a:xfrm>
          <a:prstGeom prst="rect">
            <a:avLst/>
          </a:prstGeom>
          <a:noFill/>
        </p:spPr>
        <p:txBody>
          <a:bodyPr wrap="square">
            <a:spAutoFit/>
          </a:bodyPr>
          <a:lstStyle/>
          <a:p>
            <a:pPr algn="just"/>
            <a:r>
              <a:rPr lang="en-US" sz="1600" b="0" i="0" u="none" strike="noStrike" baseline="0" dirty="0">
                <a:latin typeface="Times New Roman" panose="02020603050405020304" pitchFamily="18" charset="0"/>
                <a:cs typeface="Times New Roman" panose="02020603050405020304" pitchFamily="18" charset="0"/>
              </a:rPr>
              <a:t>The data given below shows the amount of salary received by Kartik and the total expenditure for Five months. If his salary falls short of the expenditure in any month, he borrows the required money to meet the expenditure from his friend Arun. If he saves some money in any month he gives that complete amount to Arun.</a:t>
            </a:r>
            <a:endParaRPr lang="en-IN" sz="16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xmlns="" id="{0F1CC5E0-DF37-4D7A-9742-010E8A473375}"/>
              </a:ext>
            </a:extLst>
          </p:cNvPr>
          <p:cNvPicPr>
            <a:picLocks noChangeAspect="1"/>
          </p:cNvPicPr>
          <p:nvPr/>
        </p:nvPicPr>
        <p:blipFill>
          <a:blip r:embed="rId3"/>
          <a:stretch>
            <a:fillRect/>
          </a:stretch>
        </p:blipFill>
        <p:spPr>
          <a:xfrm>
            <a:off x="729342" y="3163512"/>
            <a:ext cx="4629807" cy="3240865"/>
          </a:xfrm>
          <a:prstGeom prst="rect">
            <a:avLst/>
          </a:prstGeom>
        </p:spPr>
      </p:pic>
      <p:sp>
        <p:nvSpPr>
          <p:cNvPr id="9" name="TextBox 8">
            <a:extLst>
              <a:ext uri="{FF2B5EF4-FFF2-40B4-BE49-F238E27FC236}">
                <a16:creationId xmlns:a16="http://schemas.microsoft.com/office/drawing/2014/main" xmlns="" id="{15E51C3E-4F7C-4B7F-AE15-F88D049B7C98}"/>
              </a:ext>
            </a:extLst>
          </p:cNvPr>
          <p:cNvSpPr txBox="1"/>
          <p:nvPr/>
        </p:nvSpPr>
        <p:spPr>
          <a:xfrm>
            <a:off x="6858000" y="1600982"/>
            <a:ext cx="4953000" cy="2308324"/>
          </a:xfrm>
          <a:prstGeom prst="rect">
            <a:avLst/>
          </a:prstGeom>
          <a:noFill/>
        </p:spPr>
        <p:txBody>
          <a:bodyPr wrap="square">
            <a:spAutoFit/>
          </a:bodyPr>
          <a:lstStyle/>
          <a:p>
            <a:pPr algn="just"/>
            <a:r>
              <a:rPr lang="en-US" sz="1800" b="0" i="0" u="none" strike="noStrike" baseline="0" dirty="0">
                <a:latin typeface="Times New Roman" panose="02020603050405020304" pitchFamily="18" charset="0"/>
                <a:cs typeface="Times New Roman" panose="02020603050405020304" pitchFamily="18" charset="0"/>
              </a:rPr>
              <a:t>Q10. </a:t>
            </a:r>
            <a:r>
              <a:rPr lang="en-US" sz="1800" b="0" i="0" u="none" strike="noStrike" baseline="0" dirty="0">
                <a:latin typeface="Cambria" panose="02040503050406030204" pitchFamily="18" charset="0"/>
              </a:rPr>
              <a:t>What is the difference between the total income of January, February and April and the total expenditure of February, March and May?</a:t>
            </a:r>
          </a:p>
          <a:p>
            <a:pPr algn="just"/>
            <a:endParaRPr lang="en-US" sz="1800" b="0" i="0" u="none" strike="noStrike" baseline="0" dirty="0">
              <a:latin typeface="Cambria" panose="02040503050406030204" pitchFamily="18" charset="0"/>
            </a:endParaRPr>
          </a:p>
          <a:p>
            <a:pPr algn="just"/>
            <a:r>
              <a:rPr lang="en-IN" sz="1800" dirty="0">
                <a:latin typeface="Times New Roman" panose="02020603050405020304" pitchFamily="18" charset="0"/>
                <a:cs typeface="Times New Roman" panose="02020603050405020304" pitchFamily="18" charset="0"/>
              </a:rPr>
              <a:t>A. Rs. 1395</a:t>
            </a:r>
          </a:p>
          <a:p>
            <a:pPr algn="just"/>
            <a:r>
              <a:rPr lang="en-IN" sz="1800" dirty="0">
                <a:latin typeface="Times New Roman" panose="02020603050405020304" pitchFamily="18" charset="0"/>
                <a:cs typeface="Times New Roman" panose="02020603050405020304" pitchFamily="18" charset="0"/>
              </a:rPr>
              <a:t>B. Rs. 1365</a:t>
            </a:r>
          </a:p>
          <a:p>
            <a:pPr algn="just"/>
            <a:r>
              <a:rPr lang="en-IN" sz="1800" dirty="0">
                <a:latin typeface="Times New Roman" panose="02020603050405020304" pitchFamily="18" charset="0"/>
                <a:cs typeface="Times New Roman" panose="02020603050405020304" pitchFamily="18" charset="0"/>
              </a:rPr>
              <a:t>C. Rs. 1295</a:t>
            </a:r>
          </a:p>
          <a:p>
            <a:pPr algn="just"/>
            <a:r>
              <a:rPr lang="en-IN" sz="1800" dirty="0">
                <a:latin typeface="Times New Roman" panose="02020603050405020304" pitchFamily="18" charset="0"/>
                <a:cs typeface="Times New Roman" panose="02020603050405020304" pitchFamily="18" charset="0"/>
              </a:rPr>
              <a:t>D. Rs. 1465</a:t>
            </a:r>
          </a:p>
        </p:txBody>
      </p:sp>
    </p:spTree>
    <p:extLst>
      <p:ext uri="{BB962C8B-B14F-4D97-AF65-F5344CB8AC3E}">
        <p14:creationId xmlns:p14="http://schemas.microsoft.com/office/powerpoint/2010/main" val="36399804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7" name="TextBox 6">
            <a:extLst>
              <a:ext uri="{FF2B5EF4-FFF2-40B4-BE49-F238E27FC236}">
                <a16:creationId xmlns:a16="http://schemas.microsoft.com/office/drawing/2014/main" xmlns="" id="{C6BA7709-DA82-4386-A5C1-DF7C6471FA77}"/>
              </a:ext>
            </a:extLst>
          </p:cNvPr>
          <p:cNvSpPr txBox="1"/>
          <p:nvPr/>
        </p:nvSpPr>
        <p:spPr>
          <a:xfrm>
            <a:off x="0" y="725214"/>
            <a:ext cx="10918372" cy="400110"/>
          </a:xfrm>
          <a:prstGeom prst="rect">
            <a:avLst/>
          </a:prstGeom>
          <a:noFill/>
        </p:spPr>
        <p:txBody>
          <a:bodyPr wrap="square">
            <a:spAutoFit/>
          </a:bodyPr>
          <a:lstStyle/>
          <a:p>
            <a:pPr algn="l"/>
            <a:r>
              <a:rPr lang="en-US" sz="2000" b="1" i="0" u="none" strike="noStrike" baseline="0" dirty="0">
                <a:latin typeface="Times New Roman" panose="02020603050405020304" pitchFamily="18" charset="0"/>
                <a:cs typeface="Times New Roman" panose="02020603050405020304" pitchFamily="18" charset="0"/>
              </a:rPr>
              <a:t>Directions (Q</a:t>
            </a:r>
            <a:r>
              <a:rPr lang="en-US" sz="2000" b="1" dirty="0">
                <a:latin typeface="Times New Roman" panose="02020603050405020304" pitchFamily="18" charset="0"/>
                <a:cs typeface="Times New Roman" panose="02020603050405020304" pitchFamily="18" charset="0"/>
              </a:rPr>
              <a:t>1</a:t>
            </a:r>
            <a:r>
              <a:rPr lang="en-US" sz="2000" b="1" i="0" u="none" strike="noStrike" baseline="0" dirty="0">
                <a:latin typeface="Times New Roman" panose="02020603050405020304" pitchFamily="18" charset="0"/>
                <a:cs typeface="Times New Roman" panose="02020603050405020304" pitchFamily="18" charset="0"/>
              </a:rPr>
              <a:t>1 to 15): </a:t>
            </a:r>
            <a:r>
              <a:rPr lang="en-US" sz="2000" b="0" i="0" u="none" strike="noStrike" baseline="0" dirty="0">
                <a:latin typeface="Times New Roman" panose="02020603050405020304" pitchFamily="18" charset="0"/>
                <a:cs typeface="Times New Roman" panose="02020603050405020304" pitchFamily="18" charset="0"/>
              </a:rPr>
              <a:t>Study the following table carefully and answer the questions below.</a:t>
            </a:r>
          </a:p>
        </p:txBody>
      </p:sp>
      <p:sp>
        <p:nvSpPr>
          <p:cNvPr id="9" name="TextBox 8">
            <a:extLst>
              <a:ext uri="{FF2B5EF4-FFF2-40B4-BE49-F238E27FC236}">
                <a16:creationId xmlns:a16="http://schemas.microsoft.com/office/drawing/2014/main" xmlns="" id="{4B3EF6B3-3145-4299-B07E-1102910DE931}"/>
              </a:ext>
            </a:extLst>
          </p:cNvPr>
          <p:cNvSpPr txBox="1"/>
          <p:nvPr/>
        </p:nvSpPr>
        <p:spPr>
          <a:xfrm>
            <a:off x="283028" y="1511626"/>
            <a:ext cx="6096000" cy="707886"/>
          </a:xfrm>
          <a:prstGeom prst="rect">
            <a:avLst/>
          </a:prstGeom>
          <a:noFill/>
        </p:spPr>
        <p:txBody>
          <a:bodyPr wrap="square">
            <a:spAutoFit/>
          </a:bodyPr>
          <a:lstStyle/>
          <a:p>
            <a:r>
              <a:rPr lang="en-US" sz="2000" b="0" i="0" u="none" strike="noStrike" baseline="0" dirty="0">
                <a:latin typeface="Times New Roman" panose="02020603050405020304" pitchFamily="18" charset="0"/>
                <a:cs typeface="Times New Roman" panose="02020603050405020304" pitchFamily="18" charset="0"/>
              </a:rPr>
              <a:t>Distribution of Salary of Abhay, Aditya and Anubhav over 2015 and 2016:</a:t>
            </a:r>
            <a:endParaRPr lang="en-IN" sz="20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xmlns="" id="{A04990D2-2537-4EF2-AB3C-C6D6176ADB7B}"/>
              </a:ext>
            </a:extLst>
          </p:cNvPr>
          <p:cNvPicPr>
            <a:picLocks noChangeAspect="1"/>
          </p:cNvPicPr>
          <p:nvPr/>
        </p:nvPicPr>
        <p:blipFill>
          <a:blip r:embed="rId3"/>
          <a:stretch>
            <a:fillRect/>
          </a:stretch>
        </p:blipFill>
        <p:spPr>
          <a:xfrm>
            <a:off x="283029" y="2343728"/>
            <a:ext cx="5812972" cy="3579399"/>
          </a:xfrm>
          <a:prstGeom prst="rect">
            <a:avLst/>
          </a:prstGeom>
        </p:spPr>
      </p:pic>
      <p:sp>
        <p:nvSpPr>
          <p:cNvPr id="13" name="TextBox 12">
            <a:extLst>
              <a:ext uri="{FF2B5EF4-FFF2-40B4-BE49-F238E27FC236}">
                <a16:creationId xmlns:a16="http://schemas.microsoft.com/office/drawing/2014/main" xmlns="" id="{2F968BEE-5260-4D29-AE97-E992E1CC1390}"/>
              </a:ext>
            </a:extLst>
          </p:cNvPr>
          <p:cNvSpPr txBox="1"/>
          <p:nvPr/>
        </p:nvSpPr>
        <p:spPr>
          <a:xfrm>
            <a:off x="6096000" y="1603959"/>
            <a:ext cx="5584371" cy="2554545"/>
          </a:xfrm>
          <a:prstGeom prst="rect">
            <a:avLst/>
          </a:prstGeom>
          <a:noFill/>
        </p:spPr>
        <p:txBody>
          <a:bodyPr wrap="square">
            <a:spAutoFit/>
          </a:bodyPr>
          <a:lstStyle/>
          <a:p>
            <a:pPr algn="l"/>
            <a:r>
              <a:rPr lang="en-US" sz="2000" b="0" i="0" u="none" strike="noStrike" baseline="0" dirty="0">
                <a:latin typeface="Times New Roman" panose="02020603050405020304" pitchFamily="18" charset="0"/>
                <a:cs typeface="Times New Roman" panose="02020603050405020304" pitchFamily="18" charset="0"/>
              </a:rPr>
              <a:t>Q11. What was the approximate salary of Abhay in 2015 and Aditya in 2016 together if saving of Aditya in 2016 is 70% of that in 2015(in </a:t>
            </a:r>
            <a:r>
              <a:rPr lang="en-US" sz="2000" b="0" i="0" u="none" strike="noStrike" baseline="0" dirty="0" err="1">
                <a:latin typeface="Times New Roman" panose="02020603050405020304" pitchFamily="18" charset="0"/>
                <a:cs typeface="Times New Roman" panose="02020603050405020304" pitchFamily="18" charset="0"/>
              </a:rPr>
              <a:t>Rs</a:t>
            </a:r>
            <a:r>
              <a:rPr lang="en-US" sz="2000" b="0" i="0" u="none" strike="noStrike" baseline="0" dirty="0">
                <a:latin typeface="Times New Roman" panose="02020603050405020304" pitchFamily="18" charset="0"/>
                <a:cs typeface="Times New Roman" panose="02020603050405020304" pitchFamily="18" charset="0"/>
              </a:rPr>
              <a:t>.)?</a:t>
            </a:r>
          </a:p>
          <a:p>
            <a:pPr algn="l"/>
            <a:endParaRPr lang="en-US" sz="2000" b="0" i="0" u="none" strike="noStrike" baseline="0" dirty="0">
              <a:latin typeface="Times New Roman" panose="02020603050405020304" pitchFamily="18" charset="0"/>
              <a:cs typeface="Times New Roman" panose="02020603050405020304" pitchFamily="18" charset="0"/>
            </a:endParaRPr>
          </a:p>
          <a:p>
            <a:pPr algn="l"/>
            <a:r>
              <a:rPr lang="en-US" sz="2000" dirty="0">
                <a:latin typeface="Times New Roman" panose="02020603050405020304" pitchFamily="18" charset="0"/>
                <a:cs typeface="Times New Roman" panose="02020603050405020304" pitchFamily="18" charset="0"/>
              </a:rPr>
              <a:t>A. 51286</a:t>
            </a:r>
          </a:p>
          <a:p>
            <a:pPr algn="l"/>
            <a:r>
              <a:rPr lang="en-IN" sz="2000" dirty="0">
                <a:latin typeface="Times New Roman" panose="02020603050405020304" pitchFamily="18" charset="0"/>
                <a:cs typeface="Times New Roman" panose="02020603050405020304" pitchFamily="18" charset="0"/>
              </a:rPr>
              <a:t>B. 43118</a:t>
            </a:r>
          </a:p>
          <a:p>
            <a:pPr algn="l"/>
            <a:r>
              <a:rPr lang="en-IN" sz="2000" dirty="0">
                <a:latin typeface="Times New Roman" panose="02020603050405020304" pitchFamily="18" charset="0"/>
                <a:cs typeface="Times New Roman" panose="02020603050405020304" pitchFamily="18" charset="0"/>
              </a:rPr>
              <a:t>C. 32811</a:t>
            </a:r>
          </a:p>
          <a:p>
            <a:pPr algn="l"/>
            <a:r>
              <a:rPr lang="en-IN" sz="2000" dirty="0">
                <a:latin typeface="Times New Roman" panose="02020603050405020304" pitchFamily="18" charset="0"/>
                <a:cs typeface="Times New Roman" panose="02020603050405020304" pitchFamily="18" charset="0"/>
              </a:rPr>
              <a:t>D. 40290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7" name="TextBox 6">
            <a:extLst>
              <a:ext uri="{FF2B5EF4-FFF2-40B4-BE49-F238E27FC236}">
                <a16:creationId xmlns:a16="http://schemas.microsoft.com/office/drawing/2014/main" xmlns="" id="{64C238A7-E8EE-47DB-9403-3BDD6577A388}"/>
              </a:ext>
            </a:extLst>
          </p:cNvPr>
          <p:cNvSpPr txBox="1"/>
          <p:nvPr/>
        </p:nvSpPr>
        <p:spPr>
          <a:xfrm>
            <a:off x="0" y="725214"/>
            <a:ext cx="10918372" cy="400110"/>
          </a:xfrm>
          <a:prstGeom prst="rect">
            <a:avLst/>
          </a:prstGeom>
          <a:noFill/>
        </p:spPr>
        <p:txBody>
          <a:bodyPr wrap="square">
            <a:spAutoFit/>
          </a:bodyPr>
          <a:lstStyle/>
          <a:p>
            <a:pPr algn="l"/>
            <a:r>
              <a:rPr lang="en-US" sz="2000" b="1" i="0" u="none" strike="noStrike" baseline="0" dirty="0">
                <a:latin typeface="Times New Roman" panose="02020603050405020304" pitchFamily="18" charset="0"/>
                <a:cs typeface="Times New Roman" panose="02020603050405020304" pitchFamily="18" charset="0"/>
              </a:rPr>
              <a:t>Directions (Q</a:t>
            </a:r>
            <a:r>
              <a:rPr lang="en-US" sz="2000" b="1" dirty="0">
                <a:latin typeface="Times New Roman" panose="02020603050405020304" pitchFamily="18" charset="0"/>
                <a:cs typeface="Times New Roman" panose="02020603050405020304" pitchFamily="18" charset="0"/>
              </a:rPr>
              <a:t>1</a:t>
            </a:r>
            <a:r>
              <a:rPr lang="en-US" sz="2000" b="1" i="0" u="none" strike="noStrike" baseline="0" dirty="0">
                <a:latin typeface="Times New Roman" panose="02020603050405020304" pitchFamily="18" charset="0"/>
                <a:cs typeface="Times New Roman" panose="02020603050405020304" pitchFamily="18" charset="0"/>
              </a:rPr>
              <a:t>1 to 15): </a:t>
            </a:r>
            <a:r>
              <a:rPr lang="en-US" sz="2000" b="0" i="0" u="none" strike="noStrike" baseline="0" dirty="0">
                <a:latin typeface="Times New Roman" panose="02020603050405020304" pitchFamily="18" charset="0"/>
                <a:cs typeface="Times New Roman" panose="02020603050405020304" pitchFamily="18" charset="0"/>
              </a:rPr>
              <a:t>Study the following table carefully and answer the questions below.</a:t>
            </a:r>
          </a:p>
        </p:txBody>
      </p:sp>
      <p:sp>
        <p:nvSpPr>
          <p:cNvPr id="8" name="TextBox 7">
            <a:extLst>
              <a:ext uri="{FF2B5EF4-FFF2-40B4-BE49-F238E27FC236}">
                <a16:creationId xmlns:a16="http://schemas.microsoft.com/office/drawing/2014/main" xmlns="" id="{99061E41-3699-460C-B079-E668E85797E2}"/>
              </a:ext>
            </a:extLst>
          </p:cNvPr>
          <p:cNvSpPr txBox="1"/>
          <p:nvPr/>
        </p:nvSpPr>
        <p:spPr>
          <a:xfrm>
            <a:off x="283028" y="1511626"/>
            <a:ext cx="6096000" cy="707886"/>
          </a:xfrm>
          <a:prstGeom prst="rect">
            <a:avLst/>
          </a:prstGeom>
          <a:noFill/>
        </p:spPr>
        <p:txBody>
          <a:bodyPr wrap="square">
            <a:spAutoFit/>
          </a:bodyPr>
          <a:lstStyle/>
          <a:p>
            <a:r>
              <a:rPr lang="en-US" sz="2000" b="0" i="0" u="none" strike="noStrike" baseline="0" dirty="0">
                <a:latin typeface="Times New Roman" panose="02020603050405020304" pitchFamily="18" charset="0"/>
                <a:cs typeface="Times New Roman" panose="02020603050405020304" pitchFamily="18" charset="0"/>
              </a:rPr>
              <a:t>Distribution of Salary of Abhay, Aditya and Anubhav over 2015 and 2016:</a:t>
            </a:r>
            <a:endParaRPr lang="en-IN" sz="20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xmlns="" id="{711D0A4F-0113-4FB1-B4F6-08876C33ED70}"/>
              </a:ext>
            </a:extLst>
          </p:cNvPr>
          <p:cNvPicPr>
            <a:picLocks noChangeAspect="1"/>
          </p:cNvPicPr>
          <p:nvPr/>
        </p:nvPicPr>
        <p:blipFill>
          <a:blip r:embed="rId3"/>
          <a:stretch>
            <a:fillRect/>
          </a:stretch>
        </p:blipFill>
        <p:spPr>
          <a:xfrm>
            <a:off x="283029" y="2343729"/>
            <a:ext cx="5522808" cy="3120900"/>
          </a:xfrm>
          <a:prstGeom prst="rect">
            <a:avLst/>
          </a:prstGeom>
        </p:spPr>
      </p:pic>
      <p:sp>
        <p:nvSpPr>
          <p:cNvPr id="10" name="TextBox 9">
            <a:extLst>
              <a:ext uri="{FF2B5EF4-FFF2-40B4-BE49-F238E27FC236}">
                <a16:creationId xmlns:a16="http://schemas.microsoft.com/office/drawing/2014/main" xmlns="" id="{140AFBD1-77A6-4937-BD6B-0F2F443362B4}"/>
              </a:ext>
            </a:extLst>
          </p:cNvPr>
          <p:cNvSpPr txBox="1"/>
          <p:nvPr/>
        </p:nvSpPr>
        <p:spPr>
          <a:xfrm>
            <a:off x="6096000" y="1603959"/>
            <a:ext cx="5584371" cy="2246769"/>
          </a:xfrm>
          <a:prstGeom prst="rect">
            <a:avLst/>
          </a:prstGeom>
          <a:noFill/>
        </p:spPr>
        <p:txBody>
          <a:bodyPr wrap="square">
            <a:spAutoFit/>
          </a:bodyPr>
          <a:lstStyle/>
          <a:p>
            <a:pPr algn="l"/>
            <a:r>
              <a:rPr lang="en-US" sz="2000" b="0" i="0" u="none" strike="noStrike" baseline="0" dirty="0">
                <a:latin typeface="Times New Roman" panose="02020603050405020304" pitchFamily="18" charset="0"/>
                <a:cs typeface="Times New Roman" panose="02020603050405020304" pitchFamily="18" charset="0"/>
              </a:rPr>
              <a:t>Q12. What was the percentage change in Abhay’s</a:t>
            </a:r>
          </a:p>
          <a:p>
            <a:pPr algn="l"/>
            <a:r>
              <a:rPr lang="en-US" sz="2000" b="0" i="0" u="none" strike="noStrike" baseline="0" dirty="0">
                <a:latin typeface="Times New Roman" panose="02020603050405020304" pitchFamily="18" charset="0"/>
                <a:cs typeface="Times New Roman" panose="02020603050405020304" pitchFamily="18" charset="0"/>
              </a:rPr>
              <a:t>expenditure from 2015 to 2016?</a:t>
            </a:r>
          </a:p>
          <a:p>
            <a:pPr algn="l"/>
            <a:endParaRPr lang="en-US" sz="2000" b="0" i="0" u="none" strike="noStrike" baseline="0" dirty="0">
              <a:latin typeface="Times New Roman" panose="02020603050405020304" pitchFamily="18" charset="0"/>
              <a:cs typeface="Times New Roman" panose="02020603050405020304" pitchFamily="18" charset="0"/>
            </a:endParaRPr>
          </a:p>
          <a:p>
            <a:pPr algn="l"/>
            <a:r>
              <a:rPr lang="en-IN" sz="2000" b="0" i="0" u="none" strike="noStrike" baseline="0" dirty="0">
                <a:latin typeface="Times New Roman" panose="02020603050405020304" pitchFamily="18" charset="0"/>
                <a:cs typeface="Times New Roman" panose="02020603050405020304" pitchFamily="18" charset="0"/>
              </a:rPr>
              <a:t>A. 16.5% decrease</a:t>
            </a:r>
          </a:p>
          <a:p>
            <a:pPr algn="l"/>
            <a:r>
              <a:rPr lang="en-IN" sz="2000" dirty="0">
                <a:latin typeface="Times New Roman" panose="02020603050405020304" pitchFamily="18" charset="0"/>
                <a:cs typeface="Times New Roman" panose="02020603050405020304" pitchFamily="18" charset="0"/>
              </a:rPr>
              <a:t>B. </a:t>
            </a:r>
            <a:r>
              <a:rPr lang="en-IN" sz="2000" b="0" i="0" u="none" strike="noStrike" baseline="0" dirty="0">
                <a:latin typeface="Times New Roman" panose="02020603050405020304" pitchFamily="18" charset="0"/>
                <a:cs typeface="Times New Roman" panose="02020603050405020304" pitchFamily="18" charset="0"/>
              </a:rPr>
              <a:t>26.7% increase</a:t>
            </a:r>
          </a:p>
          <a:p>
            <a:pPr algn="l"/>
            <a:r>
              <a:rPr lang="en-IN" sz="2000" dirty="0">
                <a:latin typeface="Times New Roman" panose="02020603050405020304" pitchFamily="18" charset="0"/>
                <a:cs typeface="Times New Roman" panose="02020603050405020304" pitchFamily="18" charset="0"/>
              </a:rPr>
              <a:t>C. </a:t>
            </a:r>
            <a:r>
              <a:rPr lang="en-IN" sz="2000" b="0" i="0" u="none" strike="noStrike" baseline="0" dirty="0">
                <a:latin typeface="Times New Roman" panose="02020603050405020304" pitchFamily="18" charset="0"/>
                <a:cs typeface="Times New Roman" panose="02020603050405020304" pitchFamily="18" charset="0"/>
              </a:rPr>
              <a:t>26.7% decrease</a:t>
            </a:r>
          </a:p>
          <a:p>
            <a:pPr algn="l"/>
            <a:r>
              <a:rPr lang="en-IN" sz="2000" dirty="0">
                <a:latin typeface="Times New Roman" panose="02020603050405020304" pitchFamily="18" charset="0"/>
                <a:cs typeface="Times New Roman" panose="02020603050405020304" pitchFamily="18" charset="0"/>
              </a:rPr>
              <a:t>D. </a:t>
            </a:r>
            <a:r>
              <a:rPr lang="en-IN" sz="2000" b="0" i="0" u="none" strike="noStrike" baseline="0" dirty="0">
                <a:latin typeface="Times New Roman" panose="02020603050405020304" pitchFamily="18" charset="0"/>
                <a:cs typeface="Times New Roman" panose="02020603050405020304" pitchFamily="18" charset="0"/>
              </a:rPr>
              <a:t>16.6% decrease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6" name="TextBox 5">
            <a:extLst>
              <a:ext uri="{FF2B5EF4-FFF2-40B4-BE49-F238E27FC236}">
                <a16:creationId xmlns:a16="http://schemas.microsoft.com/office/drawing/2014/main" xmlns="" id="{341DEBFF-9180-4040-AA56-7147FAB9851D}"/>
              </a:ext>
            </a:extLst>
          </p:cNvPr>
          <p:cNvSpPr txBox="1"/>
          <p:nvPr/>
        </p:nvSpPr>
        <p:spPr>
          <a:xfrm>
            <a:off x="0" y="719122"/>
            <a:ext cx="10918372" cy="400110"/>
          </a:xfrm>
          <a:prstGeom prst="rect">
            <a:avLst/>
          </a:prstGeom>
          <a:noFill/>
        </p:spPr>
        <p:txBody>
          <a:bodyPr wrap="square">
            <a:spAutoFit/>
          </a:bodyPr>
          <a:lstStyle/>
          <a:p>
            <a:pPr algn="l"/>
            <a:r>
              <a:rPr lang="en-US" sz="2000" b="1" i="0" u="none" strike="noStrike" baseline="0" dirty="0">
                <a:latin typeface="Times New Roman" panose="02020603050405020304" pitchFamily="18" charset="0"/>
                <a:cs typeface="Times New Roman" panose="02020603050405020304" pitchFamily="18" charset="0"/>
              </a:rPr>
              <a:t>Directions (Q</a:t>
            </a:r>
            <a:r>
              <a:rPr lang="en-US" sz="2000" b="1" dirty="0">
                <a:latin typeface="Times New Roman" panose="02020603050405020304" pitchFamily="18" charset="0"/>
                <a:cs typeface="Times New Roman" panose="02020603050405020304" pitchFamily="18" charset="0"/>
              </a:rPr>
              <a:t>1</a:t>
            </a:r>
            <a:r>
              <a:rPr lang="en-US" sz="2000" b="1" i="0" u="none" strike="noStrike" baseline="0" dirty="0">
                <a:latin typeface="Times New Roman" panose="02020603050405020304" pitchFamily="18" charset="0"/>
                <a:cs typeface="Times New Roman" panose="02020603050405020304" pitchFamily="18" charset="0"/>
              </a:rPr>
              <a:t>1 to 15): </a:t>
            </a:r>
            <a:r>
              <a:rPr lang="en-US" sz="2000" b="0" i="0" u="none" strike="noStrike" baseline="0" dirty="0">
                <a:latin typeface="Times New Roman" panose="02020603050405020304" pitchFamily="18" charset="0"/>
                <a:cs typeface="Times New Roman" panose="02020603050405020304" pitchFamily="18" charset="0"/>
              </a:rPr>
              <a:t>Study the following table carefully and answer the questions below.</a:t>
            </a:r>
          </a:p>
        </p:txBody>
      </p:sp>
      <p:sp>
        <p:nvSpPr>
          <p:cNvPr id="7" name="TextBox 6">
            <a:extLst>
              <a:ext uri="{FF2B5EF4-FFF2-40B4-BE49-F238E27FC236}">
                <a16:creationId xmlns:a16="http://schemas.microsoft.com/office/drawing/2014/main" xmlns="" id="{42F50E2F-E405-4B5E-9C60-C6FF01BFEAF9}"/>
              </a:ext>
            </a:extLst>
          </p:cNvPr>
          <p:cNvSpPr txBox="1"/>
          <p:nvPr/>
        </p:nvSpPr>
        <p:spPr>
          <a:xfrm>
            <a:off x="283028" y="1511626"/>
            <a:ext cx="6096000" cy="707886"/>
          </a:xfrm>
          <a:prstGeom prst="rect">
            <a:avLst/>
          </a:prstGeom>
          <a:noFill/>
        </p:spPr>
        <p:txBody>
          <a:bodyPr wrap="square">
            <a:spAutoFit/>
          </a:bodyPr>
          <a:lstStyle/>
          <a:p>
            <a:r>
              <a:rPr lang="en-US" sz="2000" b="0" i="0" u="none" strike="noStrike" baseline="0" dirty="0">
                <a:latin typeface="Times New Roman" panose="02020603050405020304" pitchFamily="18" charset="0"/>
                <a:cs typeface="Times New Roman" panose="02020603050405020304" pitchFamily="18" charset="0"/>
              </a:rPr>
              <a:t>Distribution of Salary of Abhay, Aditya and Anubhav over 2015 and 2016:</a:t>
            </a:r>
            <a:endParaRPr lang="en-IN" sz="20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xmlns="" id="{60A087ED-769A-47AC-8B7A-C70F8EDC41A5}"/>
              </a:ext>
            </a:extLst>
          </p:cNvPr>
          <p:cNvPicPr>
            <a:picLocks noChangeAspect="1"/>
          </p:cNvPicPr>
          <p:nvPr/>
        </p:nvPicPr>
        <p:blipFill>
          <a:blip r:embed="rId3"/>
          <a:stretch>
            <a:fillRect/>
          </a:stretch>
        </p:blipFill>
        <p:spPr>
          <a:xfrm>
            <a:off x="283029" y="2343729"/>
            <a:ext cx="5522808" cy="3120900"/>
          </a:xfrm>
          <a:prstGeom prst="rect">
            <a:avLst/>
          </a:prstGeom>
        </p:spPr>
      </p:pic>
      <p:sp>
        <p:nvSpPr>
          <p:cNvPr id="9" name="TextBox 8">
            <a:extLst>
              <a:ext uri="{FF2B5EF4-FFF2-40B4-BE49-F238E27FC236}">
                <a16:creationId xmlns:a16="http://schemas.microsoft.com/office/drawing/2014/main" xmlns="" id="{8C2AA2C4-F97F-4196-BD98-4F4F215BA62F}"/>
              </a:ext>
            </a:extLst>
          </p:cNvPr>
          <p:cNvSpPr txBox="1"/>
          <p:nvPr/>
        </p:nvSpPr>
        <p:spPr>
          <a:xfrm>
            <a:off x="6096000" y="1603959"/>
            <a:ext cx="5584371" cy="2862322"/>
          </a:xfrm>
          <a:prstGeom prst="rect">
            <a:avLst/>
          </a:prstGeom>
          <a:noFill/>
        </p:spPr>
        <p:txBody>
          <a:bodyPr wrap="square">
            <a:spAutoFit/>
          </a:bodyPr>
          <a:lstStyle/>
          <a:p>
            <a:pPr algn="l"/>
            <a:r>
              <a:rPr lang="en-US" sz="2000" b="0" i="0" u="none" strike="noStrike" baseline="0" dirty="0">
                <a:latin typeface="Times New Roman" panose="02020603050405020304" pitchFamily="18" charset="0"/>
                <a:cs typeface="Times New Roman" panose="02020603050405020304" pitchFamily="18" charset="0"/>
              </a:rPr>
              <a:t>Q13. The percentage increase in the Aditya’s savings from 2015 to 2016 is 30%, then find the percentage increment in his salary from 2015 to 2016?</a:t>
            </a:r>
          </a:p>
          <a:p>
            <a:pPr algn="l"/>
            <a:endParaRPr lang="en-US" sz="2000" b="0" i="0" u="none" strike="noStrike" baseline="0" dirty="0">
              <a:latin typeface="Times New Roman" panose="02020603050405020304" pitchFamily="18" charset="0"/>
              <a:cs typeface="Times New Roman" panose="02020603050405020304" pitchFamily="18" charset="0"/>
            </a:endParaRPr>
          </a:p>
          <a:p>
            <a:pPr algn="l"/>
            <a:r>
              <a:rPr lang="en-IN" sz="2000" b="0" i="0" u="none" strike="noStrike" baseline="0" dirty="0">
                <a:latin typeface="Times New Roman" panose="02020603050405020304" pitchFamily="18" charset="0"/>
                <a:cs typeface="Times New Roman" panose="02020603050405020304" pitchFamily="18" charset="0"/>
              </a:rPr>
              <a:t>A. 68.5%</a:t>
            </a:r>
          </a:p>
          <a:p>
            <a:pPr algn="l"/>
            <a:r>
              <a:rPr lang="en-IN" sz="2000" dirty="0">
                <a:latin typeface="Times New Roman" panose="02020603050405020304" pitchFamily="18" charset="0"/>
                <a:cs typeface="Times New Roman" panose="02020603050405020304" pitchFamily="18" charset="0"/>
              </a:rPr>
              <a:t>B. </a:t>
            </a:r>
            <a:r>
              <a:rPr lang="en-IN" sz="2000" b="0" i="0" u="none" strike="noStrike" baseline="0" dirty="0">
                <a:latin typeface="Times New Roman" panose="02020603050405020304" pitchFamily="18" charset="0"/>
                <a:cs typeface="Times New Roman" panose="02020603050405020304" pitchFamily="18" charset="0"/>
              </a:rPr>
              <a:t>49.9%</a:t>
            </a:r>
          </a:p>
          <a:p>
            <a:pPr algn="l"/>
            <a:r>
              <a:rPr lang="en-IN" sz="2000" dirty="0">
                <a:latin typeface="Times New Roman" panose="02020603050405020304" pitchFamily="18" charset="0"/>
                <a:cs typeface="Times New Roman" panose="02020603050405020304" pitchFamily="18" charset="0"/>
              </a:rPr>
              <a:t>C. </a:t>
            </a:r>
            <a:r>
              <a:rPr lang="en-IN" sz="2000" b="0" i="0" u="none" strike="noStrike" baseline="0" dirty="0">
                <a:latin typeface="Times New Roman" panose="02020603050405020304" pitchFamily="18" charset="0"/>
                <a:cs typeface="Times New Roman" panose="02020603050405020304" pitchFamily="18" charset="0"/>
              </a:rPr>
              <a:t>87.3%</a:t>
            </a:r>
          </a:p>
          <a:p>
            <a:pPr algn="l"/>
            <a:r>
              <a:rPr lang="en-IN" sz="2000" dirty="0">
                <a:latin typeface="Times New Roman" panose="02020603050405020304" pitchFamily="18" charset="0"/>
                <a:cs typeface="Times New Roman" panose="02020603050405020304" pitchFamily="18" charset="0"/>
              </a:rPr>
              <a:t>D. </a:t>
            </a:r>
            <a:r>
              <a:rPr lang="en-IN" sz="2000" b="0" i="0" u="none" strike="noStrike" baseline="0" dirty="0">
                <a:latin typeface="Times New Roman" panose="02020603050405020304" pitchFamily="18" charset="0"/>
                <a:cs typeface="Times New Roman" panose="02020603050405020304" pitchFamily="18" charset="0"/>
              </a:rPr>
              <a:t>92.7%</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6" name="TextBox 5">
            <a:extLst>
              <a:ext uri="{FF2B5EF4-FFF2-40B4-BE49-F238E27FC236}">
                <a16:creationId xmlns:a16="http://schemas.microsoft.com/office/drawing/2014/main" xmlns="" id="{56884373-10A5-47FA-9DA1-A094C752B4FC}"/>
              </a:ext>
            </a:extLst>
          </p:cNvPr>
          <p:cNvSpPr txBox="1"/>
          <p:nvPr/>
        </p:nvSpPr>
        <p:spPr>
          <a:xfrm>
            <a:off x="0" y="725214"/>
            <a:ext cx="10918372" cy="400110"/>
          </a:xfrm>
          <a:prstGeom prst="rect">
            <a:avLst/>
          </a:prstGeom>
          <a:noFill/>
        </p:spPr>
        <p:txBody>
          <a:bodyPr wrap="square">
            <a:spAutoFit/>
          </a:bodyPr>
          <a:lstStyle/>
          <a:p>
            <a:pPr algn="l"/>
            <a:r>
              <a:rPr lang="en-US" sz="2000" b="1" i="0" u="none" strike="noStrike" baseline="0" dirty="0">
                <a:latin typeface="Times New Roman" panose="02020603050405020304" pitchFamily="18" charset="0"/>
                <a:cs typeface="Times New Roman" panose="02020603050405020304" pitchFamily="18" charset="0"/>
              </a:rPr>
              <a:t>Directions (Q</a:t>
            </a:r>
            <a:r>
              <a:rPr lang="en-US" sz="2000" b="1" dirty="0">
                <a:latin typeface="Times New Roman" panose="02020603050405020304" pitchFamily="18" charset="0"/>
                <a:cs typeface="Times New Roman" panose="02020603050405020304" pitchFamily="18" charset="0"/>
              </a:rPr>
              <a:t>1</a:t>
            </a:r>
            <a:r>
              <a:rPr lang="en-US" sz="2000" b="1" i="0" u="none" strike="noStrike" baseline="0" dirty="0">
                <a:latin typeface="Times New Roman" panose="02020603050405020304" pitchFamily="18" charset="0"/>
                <a:cs typeface="Times New Roman" panose="02020603050405020304" pitchFamily="18" charset="0"/>
              </a:rPr>
              <a:t>1 to 15): </a:t>
            </a:r>
            <a:r>
              <a:rPr lang="en-US" sz="2000" b="0" i="0" u="none" strike="noStrike" baseline="0" dirty="0">
                <a:latin typeface="Times New Roman" panose="02020603050405020304" pitchFamily="18" charset="0"/>
                <a:cs typeface="Times New Roman" panose="02020603050405020304" pitchFamily="18" charset="0"/>
              </a:rPr>
              <a:t>Study the following table carefully and answer the questions below.</a:t>
            </a:r>
          </a:p>
        </p:txBody>
      </p:sp>
      <p:sp>
        <p:nvSpPr>
          <p:cNvPr id="7" name="TextBox 6">
            <a:extLst>
              <a:ext uri="{FF2B5EF4-FFF2-40B4-BE49-F238E27FC236}">
                <a16:creationId xmlns:a16="http://schemas.microsoft.com/office/drawing/2014/main" xmlns="" id="{AC7F547F-91DD-48BD-9025-F0B9D70F5F03}"/>
              </a:ext>
            </a:extLst>
          </p:cNvPr>
          <p:cNvSpPr txBox="1"/>
          <p:nvPr/>
        </p:nvSpPr>
        <p:spPr>
          <a:xfrm>
            <a:off x="283028" y="1511626"/>
            <a:ext cx="6096000" cy="707886"/>
          </a:xfrm>
          <a:prstGeom prst="rect">
            <a:avLst/>
          </a:prstGeom>
          <a:noFill/>
        </p:spPr>
        <p:txBody>
          <a:bodyPr wrap="square">
            <a:spAutoFit/>
          </a:bodyPr>
          <a:lstStyle/>
          <a:p>
            <a:r>
              <a:rPr lang="en-US" sz="2000" b="0" i="0" u="none" strike="noStrike" baseline="0" dirty="0">
                <a:latin typeface="Times New Roman" panose="02020603050405020304" pitchFamily="18" charset="0"/>
                <a:cs typeface="Times New Roman" panose="02020603050405020304" pitchFamily="18" charset="0"/>
              </a:rPr>
              <a:t>Distribution of Salary of Abhay, Aditya and Anubhav over 2015 and 2016:</a:t>
            </a:r>
            <a:endParaRPr lang="en-IN" sz="20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xmlns="" id="{3D39B345-0EFB-4834-878E-47C5472206B5}"/>
              </a:ext>
            </a:extLst>
          </p:cNvPr>
          <p:cNvPicPr>
            <a:picLocks noChangeAspect="1"/>
          </p:cNvPicPr>
          <p:nvPr/>
        </p:nvPicPr>
        <p:blipFill>
          <a:blip r:embed="rId3"/>
          <a:stretch>
            <a:fillRect/>
          </a:stretch>
        </p:blipFill>
        <p:spPr>
          <a:xfrm>
            <a:off x="283029" y="2343729"/>
            <a:ext cx="5522808" cy="3120900"/>
          </a:xfrm>
          <a:prstGeom prst="rect">
            <a:avLst/>
          </a:prstGeom>
        </p:spPr>
      </p:pic>
      <p:sp>
        <p:nvSpPr>
          <p:cNvPr id="9" name="TextBox 8">
            <a:extLst>
              <a:ext uri="{FF2B5EF4-FFF2-40B4-BE49-F238E27FC236}">
                <a16:creationId xmlns:a16="http://schemas.microsoft.com/office/drawing/2014/main" xmlns="" id="{9662A145-B3FF-4BFA-B0DE-F8D5077DD9A0}"/>
              </a:ext>
            </a:extLst>
          </p:cNvPr>
          <p:cNvSpPr txBox="1"/>
          <p:nvPr/>
        </p:nvSpPr>
        <p:spPr>
          <a:xfrm>
            <a:off x="6096000" y="1603959"/>
            <a:ext cx="5584371" cy="2246769"/>
          </a:xfrm>
          <a:prstGeom prst="rect">
            <a:avLst/>
          </a:prstGeom>
          <a:noFill/>
        </p:spPr>
        <p:txBody>
          <a:bodyPr wrap="square">
            <a:spAutoFit/>
          </a:bodyPr>
          <a:lstStyle/>
          <a:p>
            <a:pPr algn="l"/>
            <a:r>
              <a:rPr lang="en-US" sz="2000" b="0" i="0" u="none" strike="noStrike" baseline="0" dirty="0">
                <a:latin typeface="Times New Roman" panose="02020603050405020304" pitchFamily="18" charset="0"/>
                <a:cs typeface="Times New Roman" panose="02020603050405020304" pitchFamily="18" charset="0"/>
              </a:rPr>
              <a:t>Q15. What is the total expenditure of Abhay, Aditya and Anubhav for two years?</a:t>
            </a:r>
          </a:p>
          <a:p>
            <a:pPr algn="l"/>
            <a:endParaRPr lang="en-US" sz="2000" b="0" i="0" u="none" strike="noStrike" baseline="0" dirty="0">
              <a:latin typeface="Times New Roman" panose="02020603050405020304" pitchFamily="18" charset="0"/>
              <a:cs typeface="Times New Roman" panose="02020603050405020304" pitchFamily="18" charset="0"/>
            </a:endParaRPr>
          </a:p>
          <a:p>
            <a:pPr algn="l"/>
            <a:r>
              <a:rPr lang="en-IN" sz="2000" b="0" i="0" u="none" strike="noStrike" baseline="0" dirty="0">
                <a:latin typeface="Times New Roman" panose="02020603050405020304" pitchFamily="18" charset="0"/>
                <a:cs typeface="Times New Roman" panose="02020603050405020304" pitchFamily="18" charset="0"/>
              </a:rPr>
              <a:t>A. 68930</a:t>
            </a:r>
          </a:p>
          <a:p>
            <a:pPr algn="l"/>
            <a:r>
              <a:rPr lang="en-IN" sz="2000" dirty="0">
                <a:latin typeface="Times New Roman" panose="02020603050405020304" pitchFamily="18" charset="0"/>
                <a:cs typeface="Times New Roman" panose="02020603050405020304" pitchFamily="18" charset="0"/>
              </a:rPr>
              <a:t>B. </a:t>
            </a:r>
            <a:r>
              <a:rPr lang="en-IN" sz="2000" b="0" i="0" u="none" strike="noStrike" baseline="0" dirty="0">
                <a:latin typeface="Times New Roman" panose="02020603050405020304" pitchFamily="18" charset="0"/>
                <a:cs typeface="Times New Roman" panose="02020603050405020304" pitchFamily="18" charset="0"/>
              </a:rPr>
              <a:t>42829</a:t>
            </a:r>
          </a:p>
          <a:p>
            <a:pPr algn="l"/>
            <a:r>
              <a:rPr lang="en-IN" sz="2000" dirty="0">
                <a:latin typeface="Times New Roman" panose="02020603050405020304" pitchFamily="18" charset="0"/>
                <a:cs typeface="Times New Roman" panose="02020603050405020304" pitchFamily="18" charset="0"/>
              </a:rPr>
              <a:t>C. 21990</a:t>
            </a:r>
            <a:endParaRPr lang="en-IN" sz="2000" b="0" i="0" u="none" strike="noStrike" baseline="0" dirty="0">
              <a:latin typeface="Times New Roman" panose="02020603050405020304" pitchFamily="18" charset="0"/>
              <a:cs typeface="Times New Roman" panose="02020603050405020304" pitchFamily="18" charset="0"/>
            </a:endParaRPr>
          </a:p>
          <a:p>
            <a:pPr algn="l"/>
            <a:r>
              <a:rPr lang="en-IN" sz="2000" dirty="0">
                <a:latin typeface="Times New Roman" panose="02020603050405020304" pitchFamily="18" charset="0"/>
                <a:cs typeface="Times New Roman" panose="02020603050405020304" pitchFamily="18" charset="0"/>
              </a:rPr>
              <a:t>D. 68390</a:t>
            </a:r>
            <a:endParaRPr lang="en-IN" sz="2000" b="0" i="0" u="none" strike="noStrike" baseline="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02AC5A4B-3276-4DCD-AB4D-F3BDEA58A076}"/>
              </a:ext>
            </a:extLst>
          </p:cNvPr>
          <p:cNvSpPr txBox="1"/>
          <p:nvPr/>
        </p:nvSpPr>
        <p:spPr>
          <a:xfrm>
            <a:off x="0" y="694640"/>
            <a:ext cx="11226800" cy="400110"/>
          </a:xfrm>
          <a:prstGeom prst="rect">
            <a:avLst/>
          </a:prstGeom>
          <a:noFill/>
        </p:spPr>
        <p:txBody>
          <a:bodyPr wrap="square">
            <a:spAutoFit/>
          </a:bodyPr>
          <a:lstStyle/>
          <a:p>
            <a:r>
              <a:rPr lang="en-US" sz="2000" b="1" i="0" u="none" strike="noStrike" baseline="0" dirty="0">
                <a:latin typeface="Times New Roman" panose="02020603050405020304" pitchFamily="18" charset="0"/>
                <a:cs typeface="Times New Roman" panose="02020603050405020304" pitchFamily="18" charset="0"/>
              </a:rPr>
              <a:t>Directions (Q16 to 20): </a:t>
            </a:r>
            <a:r>
              <a:rPr lang="en-US" sz="2000" b="0" i="0" u="none" strike="noStrike" baseline="0" dirty="0">
                <a:latin typeface="Times New Roman" panose="02020603050405020304" pitchFamily="18" charset="0"/>
                <a:cs typeface="Times New Roman" panose="02020603050405020304" pitchFamily="18" charset="0"/>
              </a:rPr>
              <a:t>Study the following information carefully and answer the questions given beside:</a:t>
            </a:r>
            <a:endParaRPr lang="en-IN" sz="2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xmlns="" id="{30440330-9A55-40CE-9696-6EECF3566435}"/>
              </a:ext>
            </a:extLst>
          </p:cNvPr>
          <p:cNvSpPr txBox="1"/>
          <p:nvPr/>
        </p:nvSpPr>
        <p:spPr>
          <a:xfrm>
            <a:off x="264160" y="1602786"/>
            <a:ext cx="5913120" cy="1015663"/>
          </a:xfrm>
          <a:prstGeom prst="rect">
            <a:avLst/>
          </a:prstGeom>
          <a:noFill/>
        </p:spPr>
        <p:txBody>
          <a:bodyPr wrap="square">
            <a:spAutoFit/>
          </a:bodyPr>
          <a:lstStyle/>
          <a:p>
            <a:pPr algn="l"/>
            <a:r>
              <a:rPr lang="en-US" sz="2000" b="0" i="0" u="none" strike="noStrike" baseline="0" dirty="0">
                <a:latin typeface="Times New Roman" panose="02020603050405020304" pitchFamily="18" charset="0"/>
                <a:cs typeface="Times New Roman" panose="02020603050405020304" pitchFamily="18" charset="0"/>
              </a:rPr>
              <a:t>The following chart shows the percentage purchase of 5 different people P, Q, R, S and T done </a:t>
            </a:r>
            <a:r>
              <a:rPr lang="en-IN" sz="2000" b="0" i="0" u="none" strike="noStrike" baseline="0" dirty="0">
                <a:latin typeface="Times New Roman" panose="02020603050405020304" pitchFamily="18" charset="0"/>
                <a:cs typeface="Times New Roman" panose="02020603050405020304" pitchFamily="18" charset="0"/>
              </a:rPr>
              <a:t>for upcoming festivals.</a:t>
            </a:r>
            <a:endParaRPr lang="en-IN" sz="20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xmlns="" id="{FAAE7BA5-8DFC-4C08-A138-8D4B90F2116C}"/>
              </a:ext>
            </a:extLst>
          </p:cNvPr>
          <p:cNvPicPr>
            <a:picLocks noChangeAspect="1"/>
          </p:cNvPicPr>
          <p:nvPr/>
        </p:nvPicPr>
        <p:blipFill>
          <a:blip r:embed="rId3"/>
          <a:stretch>
            <a:fillRect/>
          </a:stretch>
        </p:blipFill>
        <p:spPr>
          <a:xfrm>
            <a:off x="627380" y="2726375"/>
            <a:ext cx="3886200" cy="2914650"/>
          </a:xfrm>
          <a:prstGeom prst="rect">
            <a:avLst/>
          </a:prstGeom>
        </p:spPr>
      </p:pic>
      <p:sp>
        <p:nvSpPr>
          <p:cNvPr id="10" name="TextBox 9">
            <a:extLst>
              <a:ext uri="{FF2B5EF4-FFF2-40B4-BE49-F238E27FC236}">
                <a16:creationId xmlns:a16="http://schemas.microsoft.com/office/drawing/2014/main" xmlns="" id="{22E62F74-1217-48C3-A355-070937FDBB17}"/>
              </a:ext>
            </a:extLst>
          </p:cNvPr>
          <p:cNvSpPr txBox="1"/>
          <p:nvPr/>
        </p:nvSpPr>
        <p:spPr>
          <a:xfrm>
            <a:off x="627380" y="5755620"/>
            <a:ext cx="6096000" cy="400110"/>
          </a:xfrm>
          <a:prstGeom prst="rect">
            <a:avLst/>
          </a:prstGeom>
          <a:noFill/>
        </p:spPr>
        <p:txBody>
          <a:bodyPr wrap="square">
            <a:spAutoFit/>
          </a:bodyPr>
          <a:lstStyle/>
          <a:p>
            <a:r>
              <a:rPr lang="en-US" sz="2000" b="0" i="0" u="none" strike="noStrike" baseline="0" dirty="0">
                <a:latin typeface="Times New Roman" panose="02020603050405020304" pitchFamily="18" charset="0"/>
                <a:cs typeface="Times New Roman" panose="02020603050405020304" pitchFamily="18" charset="0"/>
              </a:rPr>
              <a:t>No. of total items purchased = 4700</a:t>
            </a:r>
            <a:endParaRPr lang="en-IN" sz="20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xmlns="" id="{F8F390C6-7417-49CB-ADDA-5A252B1B51D9}"/>
              </a:ext>
            </a:extLst>
          </p:cNvPr>
          <p:cNvSpPr txBox="1"/>
          <p:nvPr/>
        </p:nvSpPr>
        <p:spPr>
          <a:xfrm>
            <a:off x="6723380" y="1609455"/>
            <a:ext cx="5204460" cy="2862322"/>
          </a:xfrm>
          <a:prstGeom prst="rect">
            <a:avLst/>
          </a:prstGeom>
          <a:noFill/>
        </p:spPr>
        <p:txBody>
          <a:bodyPr wrap="square">
            <a:spAutoFit/>
          </a:bodyPr>
          <a:lstStyle/>
          <a:p>
            <a:pPr algn="l"/>
            <a:r>
              <a:rPr lang="en-US" sz="2000" b="0" i="0" u="none" strike="noStrike" baseline="0" dirty="0">
                <a:latin typeface="Times New Roman" panose="02020603050405020304" pitchFamily="18" charset="0"/>
                <a:cs typeface="Times New Roman" panose="02020603050405020304" pitchFamily="18" charset="0"/>
              </a:rPr>
              <a:t>Q16. What is the difference between the total purchase of items made by R and T together and the total purchase of items made by P and S together?</a:t>
            </a:r>
          </a:p>
          <a:p>
            <a:pPr algn="l"/>
            <a:endParaRPr lang="en-US" sz="2000" b="0" i="0" u="none" strike="noStrike" baseline="0" dirty="0">
              <a:latin typeface="Times New Roman" panose="02020603050405020304" pitchFamily="18" charset="0"/>
              <a:cs typeface="Times New Roman" panose="02020603050405020304" pitchFamily="18" charset="0"/>
            </a:endParaRPr>
          </a:p>
          <a:p>
            <a:pPr marL="342900" indent="-342900" algn="l">
              <a:buAutoNum type="alphaUcPeriod"/>
            </a:pPr>
            <a:r>
              <a:rPr lang="en-US" sz="2000" dirty="0">
                <a:latin typeface="Times New Roman" panose="02020603050405020304" pitchFamily="18" charset="0"/>
                <a:cs typeface="Times New Roman" panose="02020603050405020304" pitchFamily="18" charset="0"/>
              </a:rPr>
              <a:t>237</a:t>
            </a:r>
          </a:p>
          <a:p>
            <a:pPr marL="342900" indent="-342900" algn="l">
              <a:buAutoNum type="alphaUcPeriod"/>
            </a:pPr>
            <a:r>
              <a:rPr lang="en-US" sz="2000" dirty="0">
                <a:latin typeface="Times New Roman" panose="02020603050405020304" pitchFamily="18" charset="0"/>
                <a:cs typeface="Times New Roman" panose="02020603050405020304" pitchFamily="18" charset="0"/>
              </a:rPr>
              <a:t>235</a:t>
            </a:r>
          </a:p>
          <a:p>
            <a:pPr marL="342900" indent="-342900" algn="l">
              <a:buAutoNum type="alphaUcPeriod"/>
            </a:pPr>
            <a:r>
              <a:rPr lang="en-US" sz="2000" dirty="0">
                <a:latin typeface="Times New Roman" panose="02020603050405020304" pitchFamily="18" charset="0"/>
                <a:cs typeface="Times New Roman" panose="02020603050405020304" pitchFamily="18" charset="0"/>
              </a:rPr>
              <a:t>335</a:t>
            </a:r>
          </a:p>
          <a:p>
            <a:pPr marL="342900" indent="-342900" algn="l">
              <a:buAutoNum type="alphaUcPeriod"/>
            </a:pPr>
            <a:r>
              <a:rPr lang="en-US" sz="2000" dirty="0">
                <a:latin typeface="Times New Roman" panose="02020603050405020304" pitchFamily="18" charset="0"/>
                <a:cs typeface="Times New Roman" panose="02020603050405020304" pitchFamily="18" charset="0"/>
              </a:rPr>
              <a:t>245</a:t>
            </a:r>
          </a:p>
        </p:txBody>
      </p:sp>
    </p:spTree>
    <p:extLst>
      <p:ext uri="{BB962C8B-B14F-4D97-AF65-F5344CB8AC3E}">
        <p14:creationId xmlns:p14="http://schemas.microsoft.com/office/powerpoint/2010/main" val="18895987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7A0FBAA1-C419-423B-B66C-8F3EA9D637FE}"/>
              </a:ext>
            </a:extLst>
          </p:cNvPr>
          <p:cNvSpPr txBox="1"/>
          <p:nvPr/>
        </p:nvSpPr>
        <p:spPr>
          <a:xfrm>
            <a:off x="0" y="729101"/>
            <a:ext cx="11226800" cy="400110"/>
          </a:xfrm>
          <a:prstGeom prst="rect">
            <a:avLst/>
          </a:prstGeom>
          <a:noFill/>
        </p:spPr>
        <p:txBody>
          <a:bodyPr wrap="square">
            <a:spAutoFit/>
          </a:bodyPr>
          <a:lstStyle/>
          <a:p>
            <a:r>
              <a:rPr lang="en-US" sz="2000" b="1" i="0" u="none" strike="noStrike" baseline="0" dirty="0">
                <a:latin typeface="Times New Roman" panose="02020603050405020304" pitchFamily="18" charset="0"/>
                <a:cs typeface="Times New Roman" panose="02020603050405020304" pitchFamily="18" charset="0"/>
              </a:rPr>
              <a:t>Directions (Q16 </a:t>
            </a:r>
            <a:r>
              <a:rPr lang="en-US" sz="2000" b="1" dirty="0">
                <a:latin typeface="Times New Roman" panose="02020603050405020304" pitchFamily="18" charset="0"/>
                <a:cs typeface="Times New Roman" panose="02020603050405020304" pitchFamily="18" charset="0"/>
              </a:rPr>
              <a:t>to </a:t>
            </a:r>
            <a:r>
              <a:rPr lang="en-US" sz="2000" b="1" i="0" u="none" strike="noStrike" baseline="0" dirty="0">
                <a:latin typeface="Times New Roman" panose="02020603050405020304" pitchFamily="18" charset="0"/>
                <a:cs typeface="Times New Roman" panose="02020603050405020304" pitchFamily="18" charset="0"/>
              </a:rPr>
              <a:t>20): </a:t>
            </a:r>
            <a:r>
              <a:rPr lang="en-US" sz="2000" b="0" i="0" u="none" strike="noStrike" baseline="0" dirty="0">
                <a:latin typeface="Times New Roman" panose="02020603050405020304" pitchFamily="18" charset="0"/>
                <a:cs typeface="Times New Roman" panose="02020603050405020304" pitchFamily="18" charset="0"/>
              </a:rPr>
              <a:t>Study the following information carefully and answer the questions given beside:</a:t>
            </a:r>
            <a:endParaRPr lang="en-IN" sz="20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xmlns="" id="{58166E4E-2844-431B-B9C0-DEE787240356}"/>
              </a:ext>
            </a:extLst>
          </p:cNvPr>
          <p:cNvSpPr txBox="1"/>
          <p:nvPr/>
        </p:nvSpPr>
        <p:spPr>
          <a:xfrm>
            <a:off x="264160" y="1602786"/>
            <a:ext cx="5913120" cy="1015663"/>
          </a:xfrm>
          <a:prstGeom prst="rect">
            <a:avLst/>
          </a:prstGeom>
          <a:noFill/>
        </p:spPr>
        <p:txBody>
          <a:bodyPr wrap="square">
            <a:spAutoFit/>
          </a:bodyPr>
          <a:lstStyle/>
          <a:p>
            <a:pPr algn="l"/>
            <a:r>
              <a:rPr lang="en-US" sz="2000" b="0" i="0" u="none" strike="noStrike" baseline="0" dirty="0">
                <a:latin typeface="Times New Roman" panose="02020603050405020304" pitchFamily="18" charset="0"/>
                <a:cs typeface="Times New Roman" panose="02020603050405020304" pitchFamily="18" charset="0"/>
              </a:rPr>
              <a:t>The following chart shows the percentage purchase of 5 different people P, Q, R, S and T done </a:t>
            </a:r>
            <a:r>
              <a:rPr lang="en-IN" sz="2000" b="0" i="0" u="none" strike="noStrike" baseline="0" dirty="0">
                <a:latin typeface="Times New Roman" panose="02020603050405020304" pitchFamily="18" charset="0"/>
                <a:cs typeface="Times New Roman" panose="02020603050405020304" pitchFamily="18" charset="0"/>
              </a:rPr>
              <a:t>for upcoming festivals.</a:t>
            </a:r>
            <a:endParaRPr lang="en-IN"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xmlns="" id="{676E869E-C7BE-4AF3-A40D-3B1F726E277D}"/>
              </a:ext>
            </a:extLst>
          </p:cNvPr>
          <p:cNvPicPr>
            <a:picLocks noChangeAspect="1"/>
          </p:cNvPicPr>
          <p:nvPr/>
        </p:nvPicPr>
        <p:blipFill>
          <a:blip r:embed="rId3"/>
          <a:stretch>
            <a:fillRect/>
          </a:stretch>
        </p:blipFill>
        <p:spPr>
          <a:xfrm>
            <a:off x="627380" y="2726375"/>
            <a:ext cx="3886200" cy="2914650"/>
          </a:xfrm>
          <a:prstGeom prst="rect">
            <a:avLst/>
          </a:prstGeom>
        </p:spPr>
      </p:pic>
      <p:sp>
        <p:nvSpPr>
          <p:cNvPr id="6" name="TextBox 5">
            <a:extLst>
              <a:ext uri="{FF2B5EF4-FFF2-40B4-BE49-F238E27FC236}">
                <a16:creationId xmlns:a16="http://schemas.microsoft.com/office/drawing/2014/main" xmlns="" id="{0F501C9D-158D-4FDA-9E11-4193D0DA2E5A}"/>
              </a:ext>
            </a:extLst>
          </p:cNvPr>
          <p:cNvSpPr txBox="1"/>
          <p:nvPr/>
        </p:nvSpPr>
        <p:spPr>
          <a:xfrm>
            <a:off x="627380" y="5755620"/>
            <a:ext cx="6096000" cy="400110"/>
          </a:xfrm>
          <a:prstGeom prst="rect">
            <a:avLst/>
          </a:prstGeom>
          <a:noFill/>
        </p:spPr>
        <p:txBody>
          <a:bodyPr wrap="square">
            <a:spAutoFit/>
          </a:bodyPr>
          <a:lstStyle/>
          <a:p>
            <a:r>
              <a:rPr lang="en-US" sz="2000" b="0" i="0" u="none" strike="noStrike" baseline="0" dirty="0">
                <a:latin typeface="Times New Roman" panose="02020603050405020304" pitchFamily="18" charset="0"/>
                <a:cs typeface="Times New Roman" panose="02020603050405020304" pitchFamily="18" charset="0"/>
              </a:rPr>
              <a:t>No. of total items purchased = 4700</a:t>
            </a:r>
            <a:endParaRPr lang="en-IN" sz="2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xmlns="" id="{96628415-3789-466A-8987-46DE5384225A}"/>
              </a:ext>
            </a:extLst>
          </p:cNvPr>
          <p:cNvSpPr txBox="1"/>
          <p:nvPr/>
        </p:nvSpPr>
        <p:spPr>
          <a:xfrm>
            <a:off x="6723380" y="1609455"/>
            <a:ext cx="5204460" cy="2554545"/>
          </a:xfrm>
          <a:prstGeom prst="rect">
            <a:avLst/>
          </a:prstGeom>
          <a:noFill/>
        </p:spPr>
        <p:txBody>
          <a:bodyPr wrap="square">
            <a:spAutoFit/>
          </a:bodyPr>
          <a:lstStyle/>
          <a:p>
            <a:pPr algn="l"/>
            <a:r>
              <a:rPr lang="en-US" sz="2000" b="0" i="0" u="none" strike="noStrike" baseline="0" dirty="0">
                <a:latin typeface="Times New Roman" panose="02020603050405020304" pitchFamily="18" charset="0"/>
                <a:cs typeface="Times New Roman" panose="02020603050405020304" pitchFamily="18" charset="0"/>
              </a:rPr>
              <a:t>Q17. What is the ratio of the total purchase made by P, R and T together to that of S and Q together?</a:t>
            </a:r>
          </a:p>
          <a:p>
            <a:pPr algn="l"/>
            <a:endParaRPr lang="en-US" sz="2000" b="0" i="0" u="none" strike="noStrike" baseline="0" dirty="0">
              <a:latin typeface="Times New Roman" panose="02020603050405020304" pitchFamily="18" charset="0"/>
              <a:cs typeface="Times New Roman" panose="02020603050405020304" pitchFamily="18" charset="0"/>
            </a:endParaRPr>
          </a:p>
          <a:p>
            <a:pPr marL="342900" indent="-342900" algn="l">
              <a:buAutoNum type="alphaUcPeriod"/>
            </a:pPr>
            <a:r>
              <a:rPr lang="en-US" sz="2000" dirty="0">
                <a:latin typeface="Times New Roman" panose="02020603050405020304" pitchFamily="18" charset="0"/>
                <a:cs typeface="Times New Roman" panose="02020603050405020304" pitchFamily="18" charset="0"/>
              </a:rPr>
              <a:t>23: 25</a:t>
            </a:r>
          </a:p>
          <a:p>
            <a:pPr marL="342900" indent="-342900" algn="l">
              <a:buAutoNum type="alphaUcPeriod"/>
            </a:pPr>
            <a:r>
              <a:rPr lang="en-US" sz="2000" dirty="0">
                <a:latin typeface="Times New Roman" panose="02020603050405020304" pitchFamily="18" charset="0"/>
                <a:cs typeface="Times New Roman" panose="02020603050405020304" pitchFamily="18" charset="0"/>
              </a:rPr>
              <a:t>25: 27</a:t>
            </a:r>
          </a:p>
          <a:p>
            <a:pPr marL="342900" indent="-342900" algn="l">
              <a:buAutoNum type="alphaUcPeriod"/>
            </a:pPr>
            <a:r>
              <a:rPr lang="en-US" sz="2000" dirty="0">
                <a:latin typeface="Times New Roman" panose="02020603050405020304" pitchFamily="18" charset="0"/>
                <a:cs typeface="Times New Roman" panose="02020603050405020304" pitchFamily="18" charset="0"/>
              </a:rPr>
              <a:t>31: 33</a:t>
            </a:r>
          </a:p>
          <a:p>
            <a:pPr marL="342900" indent="-342900" algn="l">
              <a:buAutoNum type="alphaUcPeriod"/>
            </a:pPr>
            <a:r>
              <a:rPr lang="en-US" sz="2000" dirty="0">
                <a:latin typeface="Times New Roman" panose="02020603050405020304" pitchFamily="18" charset="0"/>
                <a:cs typeface="Times New Roman" panose="02020603050405020304" pitchFamily="18" charset="0"/>
              </a:rPr>
              <a:t>13: 15</a:t>
            </a:r>
          </a:p>
        </p:txBody>
      </p:sp>
    </p:spTree>
    <p:extLst>
      <p:ext uri="{BB962C8B-B14F-4D97-AF65-F5344CB8AC3E}">
        <p14:creationId xmlns:p14="http://schemas.microsoft.com/office/powerpoint/2010/main" val="19434637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EFD7E1AF-C72E-4675-87CB-66911E13DD57}"/>
              </a:ext>
            </a:extLst>
          </p:cNvPr>
          <p:cNvSpPr txBox="1"/>
          <p:nvPr/>
        </p:nvSpPr>
        <p:spPr>
          <a:xfrm>
            <a:off x="0" y="725214"/>
            <a:ext cx="11226800" cy="400110"/>
          </a:xfrm>
          <a:prstGeom prst="rect">
            <a:avLst/>
          </a:prstGeom>
          <a:noFill/>
        </p:spPr>
        <p:txBody>
          <a:bodyPr wrap="square">
            <a:spAutoFit/>
          </a:bodyPr>
          <a:lstStyle/>
          <a:p>
            <a:r>
              <a:rPr lang="en-US" sz="2000" b="1" i="0" u="none" strike="noStrike" baseline="0" dirty="0">
                <a:latin typeface="Times New Roman" panose="02020603050405020304" pitchFamily="18" charset="0"/>
                <a:cs typeface="Times New Roman" panose="02020603050405020304" pitchFamily="18" charset="0"/>
              </a:rPr>
              <a:t>Directions (Q16 </a:t>
            </a:r>
            <a:r>
              <a:rPr lang="en-US" sz="2000" b="1" dirty="0">
                <a:latin typeface="Times New Roman" panose="02020603050405020304" pitchFamily="18" charset="0"/>
                <a:cs typeface="Times New Roman" panose="02020603050405020304" pitchFamily="18" charset="0"/>
              </a:rPr>
              <a:t>to </a:t>
            </a:r>
            <a:r>
              <a:rPr lang="en-US" sz="2000" b="1" i="0" u="none" strike="noStrike" baseline="0" dirty="0">
                <a:latin typeface="Times New Roman" panose="02020603050405020304" pitchFamily="18" charset="0"/>
                <a:cs typeface="Times New Roman" panose="02020603050405020304" pitchFamily="18" charset="0"/>
              </a:rPr>
              <a:t>20): </a:t>
            </a:r>
            <a:r>
              <a:rPr lang="en-US" sz="2000" b="0" i="0" u="none" strike="noStrike" baseline="0" dirty="0">
                <a:latin typeface="Times New Roman" panose="02020603050405020304" pitchFamily="18" charset="0"/>
                <a:cs typeface="Times New Roman" panose="02020603050405020304" pitchFamily="18" charset="0"/>
              </a:rPr>
              <a:t>Study the following information carefully and answer the questions given beside:</a:t>
            </a:r>
            <a:endParaRPr lang="en-IN" sz="20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xmlns="" id="{E4F8DBC8-C3F4-4981-811D-1CAA532A8D9A}"/>
              </a:ext>
            </a:extLst>
          </p:cNvPr>
          <p:cNvSpPr txBox="1"/>
          <p:nvPr/>
        </p:nvSpPr>
        <p:spPr>
          <a:xfrm>
            <a:off x="264160" y="1602786"/>
            <a:ext cx="5913120" cy="1015663"/>
          </a:xfrm>
          <a:prstGeom prst="rect">
            <a:avLst/>
          </a:prstGeom>
          <a:noFill/>
        </p:spPr>
        <p:txBody>
          <a:bodyPr wrap="square">
            <a:spAutoFit/>
          </a:bodyPr>
          <a:lstStyle/>
          <a:p>
            <a:pPr algn="l"/>
            <a:r>
              <a:rPr lang="en-US" sz="2000" b="0" i="0" u="none" strike="noStrike" baseline="0" dirty="0">
                <a:latin typeface="Times New Roman" panose="02020603050405020304" pitchFamily="18" charset="0"/>
                <a:cs typeface="Times New Roman" panose="02020603050405020304" pitchFamily="18" charset="0"/>
              </a:rPr>
              <a:t>The following chart shows the percentage purchase of 5 different people P, Q, R, S and T done </a:t>
            </a:r>
            <a:r>
              <a:rPr lang="en-IN" sz="2000" b="0" i="0" u="none" strike="noStrike" baseline="0" dirty="0">
                <a:latin typeface="Times New Roman" panose="02020603050405020304" pitchFamily="18" charset="0"/>
                <a:cs typeface="Times New Roman" panose="02020603050405020304" pitchFamily="18" charset="0"/>
              </a:rPr>
              <a:t>for upcoming festivals.</a:t>
            </a:r>
            <a:endParaRPr lang="en-IN"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xmlns="" id="{BA505278-E528-4AA4-BABD-B0AFD32B45E9}"/>
              </a:ext>
            </a:extLst>
          </p:cNvPr>
          <p:cNvPicPr>
            <a:picLocks noChangeAspect="1"/>
          </p:cNvPicPr>
          <p:nvPr/>
        </p:nvPicPr>
        <p:blipFill>
          <a:blip r:embed="rId3"/>
          <a:stretch>
            <a:fillRect/>
          </a:stretch>
        </p:blipFill>
        <p:spPr>
          <a:xfrm>
            <a:off x="627380" y="2726375"/>
            <a:ext cx="3886200" cy="2914650"/>
          </a:xfrm>
          <a:prstGeom prst="rect">
            <a:avLst/>
          </a:prstGeom>
        </p:spPr>
      </p:pic>
      <p:sp>
        <p:nvSpPr>
          <p:cNvPr id="6" name="TextBox 5">
            <a:extLst>
              <a:ext uri="{FF2B5EF4-FFF2-40B4-BE49-F238E27FC236}">
                <a16:creationId xmlns:a16="http://schemas.microsoft.com/office/drawing/2014/main" xmlns="" id="{36B2A595-5464-471B-B9AD-F6041FC233D6}"/>
              </a:ext>
            </a:extLst>
          </p:cNvPr>
          <p:cNvSpPr txBox="1"/>
          <p:nvPr/>
        </p:nvSpPr>
        <p:spPr>
          <a:xfrm>
            <a:off x="627380" y="5755620"/>
            <a:ext cx="6096000" cy="400110"/>
          </a:xfrm>
          <a:prstGeom prst="rect">
            <a:avLst/>
          </a:prstGeom>
          <a:noFill/>
        </p:spPr>
        <p:txBody>
          <a:bodyPr wrap="square">
            <a:spAutoFit/>
          </a:bodyPr>
          <a:lstStyle/>
          <a:p>
            <a:r>
              <a:rPr lang="en-US" sz="2000" b="0" i="0" u="none" strike="noStrike" baseline="0" dirty="0">
                <a:latin typeface="Times New Roman" panose="02020603050405020304" pitchFamily="18" charset="0"/>
                <a:cs typeface="Times New Roman" panose="02020603050405020304" pitchFamily="18" charset="0"/>
              </a:rPr>
              <a:t>No. of total items purchased = 4700</a:t>
            </a:r>
            <a:endParaRPr lang="en-IN" sz="2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xmlns="" id="{2094912F-D456-41AB-955A-1B1EAD1F9CF8}"/>
              </a:ext>
            </a:extLst>
          </p:cNvPr>
          <p:cNvSpPr txBox="1"/>
          <p:nvPr/>
        </p:nvSpPr>
        <p:spPr>
          <a:xfrm>
            <a:off x="6723380" y="1609455"/>
            <a:ext cx="5204460" cy="2554545"/>
          </a:xfrm>
          <a:prstGeom prst="rect">
            <a:avLst/>
          </a:prstGeom>
          <a:noFill/>
        </p:spPr>
        <p:txBody>
          <a:bodyPr wrap="square">
            <a:spAutoFit/>
          </a:bodyPr>
          <a:lstStyle/>
          <a:p>
            <a:pPr algn="l"/>
            <a:r>
              <a:rPr lang="en-US" sz="2000" b="0" i="0" u="none" strike="noStrike" baseline="0" dirty="0">
                <a:latin typeface="Times New Roman" panose="02020603050405020304" pitchFamily="18" charset="0"/>
                <a:cs typeface="Times New Roman" panose="02020603050405020304" pitchFamily="18" charset="0"/>
              </a:rPr>
              <a:t>Q18. If Q pays Rs. 6300 for his total purchase then how much money P has to pay for his purchase?</a:t>
            </a:r>
          </a:p>
          <a:p>
            <a:pPr algn="l"/>
            <a:endParaRPr lang="en-US" sz="2000" b="0" i="0" u="none" strike="noStrike" baseline="0" dirty="0">
              <a:latin typeface="Times New Roman" panose="02020603050405020304" pitchFamily="18" charset="0"/>
              <a:cs typeface="Times New Roman" panose="02020603050405020304" pitchFamily="18" charset="0"/>
            </a:endParaRPr>
          </a:p>
          <a:p>
            <a:pPr algn="l"/>
            <a:r>
              <a:rPr lang="en-US" sz="2000" dirty="0">
                <a:latin typeface="Times New Roman" panose="02020603050405020304" pitchFamily="18" charset="0"/>
                <a:cs typeface="Times New Roman" panose="02020603050405020304" pitchFamily="18" charset="0"/>
              </a:rPr>
              <a:t>A. </a:t>
            </a:r>
            <a:r>
              <a:rPr lang="en-US" sz="2000" dirty="0" err="1">
                <a:latin typeface="Times New Roman" panose="02020603050405020304" pitchFamily="18" charset="0"/>
                <a:cs typeface="Times New Roman" panose="02020603050405020304" pitchFamily="18" charset="0"/>
              </a:rPr>
              <a:t>Rs</a:t>
            </a:r>
            <a:r>
              <a:rPr lang="en-US" sz="2000" dirty="0">
                <a:latin typeface="Times New Roman" panose="02020603050405020304" pitchFamily="18" charset="0"/>
                <a:cs typeface="Times New Roman" panose="02020603050405020304" pitchFamily="18" charset="0"/>
              </a:rPr>
              <a:t>. 1240</a:t>
            </a:r>
          </a:p>
          <a:p>
            <a:r>
              <a:rPr lang="en-US" sz="2000" dirty="0">
                <a:latin typeface="Times New Roman" panose="02020603050405020304" pitchFamily="18" charset="0"/>
                <a:cs typeface="Times New Roman" panose="02020603050405020304" pitchFamily="18" charset="0"/>
              </a:rPr>
              <a:t>B. </a:t>
            </a:r>
            <a:r>
              <a:rPr lang="en-US" sz="2000" dirty="0" err="1">
                <a:latin typeface="Times New Roman" panose="02020603050405020304" pitchFamily="18" charset="0"/>
                <a:cs typeface="Times New Roman" panose="02020603050405020304" pitchFamily="18" charset="0"/>
              </a:rPr>
              <a:t>Rs</a:t>
            </a:r>
            <a:r>
              <a:rPr lang="en-US" sz="2000" dirty="0">
                <a:latin typeface="Times New Roman" panose="02020603050405020304" pitchFamily="18" charset="0"/>
                <a:cs typeface="Times New Roman" panose="02020603050405020304" pitchFamily="18" charset="0"/>
              </a:rPr>
              <a:t>. 2260</a:t>
            </a:r>
          </a:p>
          <a:p>
            <a:r>
              <a:rPr lang="en-US" sz="2000" dirty="0">
                <a:latin typeface="Times New Roman" panose="02020603050405020304" pitchFamily="18" charset="0"/>
                <a:cs typeface="Times New Roman" panose="02020603050405020304" pitchFamily="18" charset="0"/>
              </a:rPr>
              <a:t>C. </a:t>
            </a:r>
            <a:r>
              <a:rPr lang="en-US" sz="2000" dirty="0" err="1">
                <a:latin typeface="Times New Roman" panose="02020603050405020304" pitchFamily="18" charset="0"/>
                <a:cs typeface="Times New Roman" panose="02020603050405020304" pitchFamily="18" charset="0"/>
              </a:rPr>
              <a:t>Rs</a:t>
            </a:r>
            <a:r>
              <a:rPr lang="en-US" sz="2000" dirty="0">
                <a:latin typeface="Times New Roman" panose="02020603050405020304" pitchFamily="18" charset="0"/>
                <a:cs typeface="Times New Roman" panose="02020603050405020304" pitchFamily="18" charset="0"/>
              </a:rPr>
              <a:t>. 3644</a:t>
            </a:r>
          </a:p>
          <a:p>
            <a:r>
              <a:rPr lang="en-US" sz="2000" dirty="0">
                <a:latin typeface="Times New Roman" panose="02020603050405020304" pitchFamily="18" charset="0"/>
                <a:cs typeface="Times New Roman" panose="02020603050405020304" pitchFamily="18" charset="0"/>
              </a:rPr>
              <a:t>D. </a:t>
            </a:r>
            <a:r>
              <a:rPr lang="en-US" sz="2000" dirty="0" err="1">
                <a:latin typeface="Times New Roman" panose="02020603050405020304" pitchFamily="18" charset="0"/>
                <a:cs typeface="Times New Roman" panose="02020603050405020304" pitchFamily="18" charset="0"/>
              </a:rPr>
              <a:t>Rs</a:t>
            </a:r>
            <a:r>
              <a:rPr lang="en-US" sz="2000" dirty="0">
                <a:latin typeface="Times New Roman" panose="02020603050405020304" pitchFamily="18" charset="0"/>
                <a:cs typeface="Times New Roman" panose="02020603050405020304" pitchFamily="18" charset="0"/>
              </a:rPr>
              <a:t>. 3240</a:t>
            </a:r>
          </a:p>
        </p:txBody>
      </p:sp>
    </p:spTree>
    <p:extLst>
      <p:ext uri="{BB962C8B-B14F-4D97-AF65-F5344CB8AC3E}">
        <p14:creationId xmlns:p14="http://schemas.microsoft.com/office/powerpoint/2010/main" val="22004205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5" name="TextBox 4">
            <a:extLst>
              <a:ext uri="{FF2B5EF4-FFF2-40B4-BE49-F238E27FC236}">
                <a16:creationId xmlns:a16="http://schemas.microsoft.com/office/drawing/2014/main" xmlns="" id="{ECF53C80-4F19-4C16-9AF6-68DC0E7C1483}"/>
              </a:ext>
            </a:extLst>
          </p:cNvPr>
          <p:cNvSpPr txBox="1"/>
          <p:nvPr/>
        </p:nvSpPr>
        <p:spPr>
          <a:xfrm>
            <a:off x="0" y="725214"/>
            <a:ext cx="11226800" cy="400110"/>
          </a:xfrm>
          <a:prstGeom prst="rect">
            <a:avLst/>
          </a:prstGeom>
          <a:noFill/>
        </p:spPr>
        <p:txBody>
          <a:bodyPr wrap="square">
            <a:spAutoFit/>
          </a:bodyPr>
          <a:lstStyle/>
          <a:p>
            <a:r>
              <a:rPr lang="en-US" sz="2000" b="1" i="0" u="none" strike="noStrike" baseline="0" dirty="0">
                <a:latin typeface="Times New Roman" panose="02020603050405020304" pitchFamily="18" charset="0"/>
                <a:cs typeface="Times New Roman" panose="02020603050405020304" pitchFamily="18" charset="0"/>
              </a:rPr>
              <a:t>Directions (Q16 </a:t>
            </a:r>
            <a:r>
              <a:rPr lang="en-US" sz="2000" b="1" dirty="0">
                <a:latin typeface="Times New Roman" panose="02020603050405020304" pitchFamily="18" charset="0"/>
                <a:cs typeface="Times New Roman" panose="02020603050405020304" pitchFamily="18" charset="0"/>
              </a:rPr>
              <a:t>to </a:t>
            </a:r>
            <a:r>
              <a:rPr lang="en-US" sz="2000" b="1" i="0" u="none" strike="noStrike" baseline="0" dirty="0">
                <a:latin typeface="Times New Roman" panose="02020603050405020304" pitchFamily="18" charset="0"/>
                <a:cs typeface="Times New Roman" panose="02020603050405020304" pitchFamily="18" charset="0"/>
              </a:rPr>
              <a:t>20): </a:t>
            </a:r>
            <a:r>
              <a:rPr lang="en-US" sz="2000" b="0" i="0" u="none" strike="noStrike" baseline="0" dirty="0">
                <a:latin typeface="Times New Roman" panose="02020603050405020304" pitchFamily="18" charset="0"/>
                <a:cs typeface="Times New Roman" panose="02020603050405020304" pitchFamily="18" charset="0"/>
              </a:rPr>
              <a:t>Study the following information carefully and answer the questions given beside:</a:t>
            </a:r>
            <a:endParaRPr lang="en-IN" sz="2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xmlns="" id="{01FC12E9-9D6E-410A-BF2B-0B9F8E3B1819}"/>
              </a:ext>
            </a:extLst>
          </p:cNvPr>
          <p:cNvSpPr txBox="1"/>
          <p:nvPr/>
        </p:nvSpPr>
        <p:spPr>
          <a:xfrm>
            <a:off x="264160" y="1602786"/>
            <a:ext cx="5913120" cy="1015663"/>
          </a:xfrm>
          <a:prstGeom prst="rect">
            <a:avLst/>
          </a:prstGeom>
          <a:noFill/>
        </p:spPr>
        <p:txBody>
          <a:bodyPr wrap="square">
            <a:spAutoFit/>
          </a:bodyPr>
          <a:lstStyle/>
          <a:p>
            <a:pPr algn="l"/>
            <a:r>
              <a:rPr lang="en-US" sz="2000" b="0" i="0" u="none" strike="noStrike" baseline="0" dirty="0">
                <a:latin typeface="Times New Roman" panose="02020603050405020304" pitchFamily="18" charset="0"/>
                <a:cs typeface="Times New Roman" panose="02020603050405020304" pitchFamily="18" charset="0"/>
              </a:rPr>
              <a:t>The following chart shows the percentage purchase of 5 different people P, Q, R, S and T done </a:t>
            </a:r>
            <a:r>
              <a:rPr lang="en-IN" sz="2000" b="0" i="0" u="none" strike="noStrike" baseline="0" dirty="0">
                <a:latin typeface="Times New Roman" panose="02020603050405020304" pitchFamily="18" charset="0"/>
                <a:cs typeface="Times New Roman" panose="02020603050405020304" pitchFamily="18" charset="0"/>
              </a:rPr>
              <a:t>for upcoming festivals.</a:t>
            </a:r>
            <a:endParaRPr lang="en-IN" sz="20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xmlns="" id="{CABAECAF-9FC7-41AE-9859-D0ECDE242065}"/>
              </a:ext>
            </a:extLst>
          </p:cNvPr>
          <p:cNvPicPr>
            <a:picLocks noChangeAspect="1"/>
          </p:cNvPicPr>
          <p:nvPr/>
        </p:nvPicPr>
        <p:blipFill>
          <a:blip r:embed="rId3"/>
          <a:stretch>
            <a:fillRect/>
          </a:stretch>
        </p:blipFill>
        <p:spPr>
          <a:xfrm>
            <a:off x="627380" y="2726375"/>
            <a:ext cx="3886200" cy="2914650"/>
          </a:xfrm>
          <a:prstGeom prst="rect">
            <a:avLst/>
          </a:prstGeom>
        </p:spPr>
      </p:pic>
      <p:sp>
        <p:nvSpPr>
          <p:cNvPr id="8" name="TextBox 7">
            <a:extLst>
              <a:ext uri="{FF2B5EF4-FFF2-40B4-BE49-F238E27FC236}">
                <a16:creationId xmlns:a16="http://schemas.microsoft.com/office/drawing/2014/main" xmlns="" id="{36A586A8-E705-4346-86D2-2846D41496FA}"/>
              </a:ext>
            </a:extLst>
          </p:cNvPr>
          <p:cNvSpPr txBox="1"/>
          <p:nvPr/>
        </p:nvSpPr>
        <p:spPr>
          <a:xfrm>
            <a:off x="627380" y="5755620"/>
            <a:ext cx="6096000" cy="400110"/>
          </a:xfrm>
          <a:prstGeom prst="rect">
            <a:avLst/>
          </a:prstGeom>
          <a:noFill/>
        </p:spPr>
        <p:txBody>
          <a:bodyPr wrap="square">
            <a:spAutoFit/>
          </a:bodyPr>
          <a:lstStyle/>
          <a:p>
            <a:r>
              <a:rPr lang="en-US" sz="2000" b="0" i="0" u="none" strike="noStrike" baseline="0" dirty="0">
                <a:latin typeface="Times New Roman" panose="02020603050405020304" pitchFamily="18" charset="0"/>
                <a:cs typeface="Times New Roman" panose="02020603050405020304" pitchFamily="18" charset="0"/>
              </a:rPr>
              <a:t>No. of total items purchased = 4700</a:t>
            </a:r>
            <a:endParaRPr lang="en-IN" sz="20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xmlns="" id="{2D77F3B0-2DFB-4768-8797-80CE6CAA8CD9}"/>
              </a:ext>
            </a:extLst>
          </p:cNvPr>
          <p:cNvSpPr txBox="1"/>
          <p:nvPr/>
        </p:nvSpPr>
        <p:spPr>
          <a:xfrm>
            <a:off x="6723380" y="1609455"/>
            <a:ext cx="5204460" cy="2246769"/>
          </a:xfrm>
          <a:prstGeom prst="rect">
            <a:avLst/>
          </a:prstGeom>
          <a:noFill/>
        </p:spPr>
        <p:txBody>
          <a:bodyPr wrap="square">
            <a:spAutoFit/>
          </a:bodyPr>
          <a:lstStyle/>
          <a:p>
            <a:pPr algn="l"/>
            <a:r>
              <a:rPr lang="en-US" sz="2000" b="0" i="0" u="none" strike="noStrike" baseline="0" dirty="0">
                <a:latin typeface="Times New Roman" panose="02020603050405020304" pitchFamily="18" charset="0"/>
                <a:cs typeface="Times New Roman" panose="02020603050405020304" pitchFamily="18" charset="0"/>
              </a:rPr>
              <a:t>Q19. Total purchase made by R is what percent less than the purchase made by S?</a:t>
            </a:r>
          </a:p>
          <a:p>
            <a:pPr algn="l"/>
            <a:endParaRPr lang="en-US" sz="2000" b="0" i="0" u="none" strike="noStrike" baseline="0" dirty="0">
              <a:latin typeface="Times New Roman" panose="02020603050405020304" pitchFamily="18" charset="0"/>
              <a:cs typeface="Times New Roman" panose="02020603050405020304" pitchFamily="18" charset="0"/>
            </a:endParaRPr>
          </a:p>
          <a:p>
            <a:pPr algn="l"/>
            <a:r>
              <a:rPr lang="en-US" sz="2000" dirty="0">
                <a:latin typeface="Times New Roman" panose="02020603050405020304" pitchFamily="18" charset="0"/>
                <a:cs typeface="Times New Roman" panose="02020603050405020304" pitchFamily="18" charset="0"/>
              </a:rPr>
              <a:t>A. 10%</a:t>
            </a:r>
          </a:p>
          <a:p>
            <a:pPr algn="l"/>
            <a:r>
              <a:rPr lang="en-US" sz="2000" dirty="0">
                <a:latin typeface="Times New Roman" panose="02020603050405020304" pitchFamily="18" charset="0"/>
                <a:cs typeface="Times New Roman" panose="02020603050405020304" pitchFamily="18" charset="0"/>
              </a:rPr>
              <a:t>B. 15%</a:t>
            </a:r>
          </a:p>
          <a:p>
            <a:pPr algn="l"/>
            <a:r>
              <a:rPr lang="en-US" sz="2000" dirty="0">
                <a:latin typeface="Times New Roman" panose="02020603050405020304" pitchFamily="18" charset="0"/>
                <a:cs typeface="Times New Roman" panose="02020603050405020304" pitchFamily="18" charset="0"/>
              </a:rPr>
              <a:t>C. 20%</a:t>
            </a:r>
          </a:p>
          <a:p>
            <a:pPr algn="l"/>
            <a:r>
              <a:rPr lang="en-US" sz="2000" dirty="0">
                <a:latin typeface="Times New Roman" panose="02020603050405020304" pitchFamily="18" charset="0"/>
                <a:cs typeface="Times New Roman" panose="02020603050405020304" pitchFamily="18" charset="0"/>
              </a:rPr>
              <a:t>D. 25%</a:t>
            </a:r>
          </a:p>
        </p:txBody>
      </p:sp>
    </p:spTree>
    <p:extLst>
      <p:ext uri="{BB962C8B-B14F-4D97-AF65-F5344CB8AC3E}">
        <p14:creationId xmlns:p14="http://schemas.microsoft.com/office/powerpoint/2010/main" val="6556184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5" name="TextBox 4">
            <a:extLst>
              <a:ext uri="{FF2B5EF4-FFF2-40B4-BE49-F238E27FC236}">
                <a16:creationId xmlns:a16="http://schemas.microsoft.com/office/drawing/2014/main" xmlns="" id="{1D9AED7F-E915-4F53-A664-042EC67FAFA7}"/>
              </a:ext>
            </a:extLst>
          </p:cNvPr>
          <p:cNvSpPr txBox="1"/>
          <p:nvPr/>
        </p:nvSpPr>
        <p:spPr>
          <a:xfrm>
            <a:off x="0" y="745143"/>
            <a:ext cx="11226800" cy="400110"/>
          </a:xfrm>
          <a:prstGeom prst="rect">
            <a:avLst/>
          </a:prstGeom>
          <a:noFill/>
        </p:spPr>
        <p:txBody>
          <a:bodyPr wrap="square">
            <a:spAutoFit/>
          </a:bodyPr>
          <a:lstStyle/>
          <a:p>
            <a:r>
              <a:rPr lang="en-US" sz="2000" b="1" i="0" u="none" strike="noStrike" baseline="0" dirty="0">
                <a:latin typeface="Times New Roman" panose="02020603050405020304" pitchFamily="18" charset="0"/>
                <a:cs typeface="Times New Roman" panose="02020603050405020304" pitchFamily="18" charset="0"/>
              </a:rPr>
              <a:t>Directions (Q16 </a:t>
            </a:r>
            <a:r>
              <a:rPr lang="en-US" sz="2000" b="1" dirty="0">
                <a:latin typeface="Times New Roman" panose="02020603050405020304" pitchFamily="18" charset="0"/>
                <a:cs typeface="Times New Roman" panose="02020603050405020304" pitchFamily="18" charset="0"/>
              </a:rPr>
              <a:t>to </a:t>
            </a:r>
            <a:r>
              <a:rPr lang="en-US" sz="2000" b="1" i="0" u="none" strike="noStrike" baseline="0" dirty="0">
                <a:latin typeface="Times New Roman" panose="02020603050405020304" pitchFamily="18" charset="0"/>
                <a:cs typeface="Times New Roman" panose="02020603050405020304" pitchFamily="18" charset="0"/>
              </a:rPr>
              <a:t>20): </a:t>
            </a:r>
            <a:r>
              <a:rPr lang="en-US" sz="2000" b="0" i="0" u="none" strike="noStrike" baseline="0" dirty="0">
                <a:latin typeface="Times New Roman" panose="02020603050405020304" pitchFamily="18" charset="0"/>
                <a:cs typeface="Times New Roman" panose="02020603050405020304" pitchFamily="18" charset="0"/>
              </a:rPr>
              <a:t>Study the following information carefully and answer the questions given beside:</a:t>
            </a:r>
            <a:endParaRPr lang="en-IN" sz="2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xmlns="" id="{0FF2FC8A-A52E-4C64-8C49-FE45B5E5A637}"/>
              </a:ext>
            </a:extLst>
          </p:cNvPr>
          <p:cNvSpPr txBox="1"/>
          <p:nvPr/>
        </p:nvSpPr>
        <p:spPr>
          <a:xfrm>
            <a:off x="264160" y="1602786"/>
            <a:ext cx="5913120" cy="1015663"/>
          </a:xfrm>
          <a:prstGeom prst="rect">
            <a:avLst/>
          </a:prstGeom>
          <a:noFill/>
        </p:spPr>
        <p:txBody>
          <a:bodyPr wrap="square">
            <a:spAutoFit/>
          </a:bodyPr>
          <a:lstStyle/>
          <a:p>
            <a:pPr algn="l"/>
            <a:r>
              <a:rPr lang="en-US" sz="2000" b="0" i="0" u="none" strike="noStrike" baseline="0" dirty="0">
                <a:latin typeface="Times New Roman" panose="02020603050405020304" pitchFamily="18" charset="0"/>
                <a:cs typeface="Times New Roman" panose="02020603050405020304" pitchFamily="18" charset="0"/>
              </a:rPr>
              <a:t>The following chart shows the percentage purchase of 5 different people P, Q, R, S and T done </a:t>
            </a:r>
            <a:r>
              <a:rPr lang="en-IN" sz="2000" b="0" i="0" u="none" strike="noStrike" baseline="0" dirty="0">
                <a:latin typeface="Times New Roman" panose="02020603050405020304" pitchFamily="18" charset="0"/>
                <a:cs typeface="Times New Roman" panose="02020603050405020304" pitchFamily="18" charset="0"/>
              </a:rPr>
              <a:t>for upcoming festivals.</a:t>
            </a:r>
            <a:endParaRPr lang="en-IN" sz="20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xmlns="" id="{15AC819D-CB17-48D8-88A3-B2FEBA32B1DE}"/>
              </a:ext>
            </a:extLst>
          </p:cNvPr>
          <p:cNvPicPr>
            <a:picLocks noChangeAspect="1"/>
          </p:cNvPicPr>
          <p:nvPr/>
        </p:nvPicPr>
        <p:blipFill>
          <a:blip r:embed="rId3"/>
          <a:stretch>
            <a:fillRect/>
          </a:stretch>
        </p:blipFill>
        <p:spPr>
          <a:xfrm>
            <a:off x="627380" y="2726375"/>
            <a:ext cx="3886200" cy="2914650"/>
          </a:xfrm>
          <a:prstGeom prst="rect">
            <a:avLst/>
          </a:prstGeom>
        </p:spPr>
      </p:pic>
      <p:sp>
        <p:nvSpPr>
          <p:cNvPr id="8" name="TextBox 7">
            <a:extLst>
              <a:ext uri="{FF2B5EF4-FFF2-40B4-BE49-F238E27FC236}">
                <a16:creationId xmlns:a16="http://schemas.microsoft.com/office/drawing/2014/main" xmlns="" id="{298437DE-0AE6-4322-947D-6755C1C167A9}"/>
              </a:ext>
            </a:extLst>
          </p:cNvPr>
          <p:cNvSpPr txBox="1"/>
          <p:nvPr/>
        </p:nvSpPr>
        <p:spPr>
          <a:xfrm>
            <a:off x="627380" y="5755620"/>
            <a:ext cx="6096000" cy="400110"/>
          </a:xfrm>
          <a:prstGeom prst="rect">
            <a:avLst/>
          </a:prstGeom>
          <a:noFill/>
        </p:spPr>
        <p:txBody>
          <a:bodyPr wrap="square">
            <a:spAutoFit/>
          </a:bodyPr>
          <a:lstStyle/>
          <a:p>
            <a:r>
              <a:rPr lang="en-US" sz="2000" b="0" i="0" u="none" strike="noStrike" baseline="0" dirty="0">
                <a:latin typeface="Times New Roman" panose="02020603050405020304" pitchFamily="18" charset="0"/>
                <a:cs typeface="Times New Roman" panose="02020603050405020304" pitchFamily="18" charset="0"/>
              </a:rPr>
              <a:t>No. of total items purchased = 4700</a:t>
            </a:r>
            <a:endParaRPr lang="en-IN" sz="20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xmlns="" id="{5175C9F2-7764-4642-81E7-11C222A3C21E}"/>
              </a:ext>
            </a:extLst>
          </p:cNvPr>
          <p:cNvSpPr txBox="1"/>
          <p:nvPr/>
        </p:nvSpPr>
        <p:spPr>
          <a:xfrm>
            <a:off x="6723380" y="1609455"/>
            <a:ext cx="5204460" cy="2246769"/>
          </a:xfrm>
          <a:prstGeom prst="rect">
            <a:avLst/>
          </a:prstGeom>
          <a:noFill/>
        </p:spPr>
        <p:txBody>
          <a:bodyPr wrap="square">
            <a:spAutoFit/>
          </a:bodyPr>
          <a:lstStyle/>
          <a:p>
            <a:pPr algn="l"/>
            <a:r>
              <a:rPr lang="en-US" sz="2000" b="0" i="0" u="none" strike="noStrike" baseline="0" dirty="0">
                <a:latin typeface="Times New Roman" panose="02020603050405020304" pitchFamily="18" charset="0"/>
                <a:cs typeface="Times New Roman" panose="02020603050405020304" pitchFamily="18" charset="0"/>
              </a:rPr>
              <a:t>Q20. Find the central angle of the purchase made by S?</a:t>
            </a:r>
          </a:p>
          <a:p>
            <a:pPr algn="l"/>
            <a:endParaRPr lang="en-US" sz="2000" b="0" i="0" u="none" strike="noStrike" baseline="0" dirty="0">
              <a:latin typeface="Times New Roman" panose="02020603050405020304" pitchFamily="18" charset="0"/>
              <a:cs typeface="Times New Roman" panose="02020603050405020304" pitchFamily="18" charset="0"/>
            </a:endParaRPr>
          </a:p>
          <a:p>
            <a:pPr algn="l"/>
            <a:r>
              <a:rPr lang="en-US" sz="2000" dirty="0">
                <a:latin typeface="Times New Roman" panose="02020603050405020304" pitchFamily="18" charset="0"/>
                <a:cs typeface="Times New Roman" panose="02020603050405020304" pitchFamily="18" charset="0"/>
              </a:rPr>
              <a:t>A. </a:t>
            </a:r>
            <a:r>
              <a:rPr lang="en-IN" sz="1800" b="0" i="0" u="none" strike="noStrike" baseline="0" dirty="0">
                <a:latin typeface="Cambria" panose="02040503050406030204" pitchFamily="18" charset="0"/>
              </a:rPr>
              <a:t>45°</a:t>
            </a:r>
            <a:endParaRPr lang="en-US" sz="2000" dirty="0">
              <a:latin typeface="Times New Roman" panose="02020603050405020304" pitchFamily="18" charset="0"/>
              <a:cs typeface="Times New Roman" panose="02020603050405020304" pitchFamily="18" charset="0"/>
            </a:endParaRPr>
          </a:p>
          <a:p>
            <a:pPr algn="l"/>
            <a:r>
              <a:rPr lang="en-US" sz="2000" dirty="0">
                <a:latin typeface="Times New Roman" panose="02020603050405020304" pitchFamily="18" charset="0"/>
                <a:cs typeface="Times New Roman" panose="02020603050405020304" pitchFamily="18" charset="0"/>
              </a:rPr>
              <a:t>B. </a:t>
            </a:r>
            <a:r>
              <a:rPr lang="en-IN" sz="1800" b="0" i="0" u="none" strike="noStrike" baseline="0" dirty="0">
                <a:latin typeface="Cambria" panose="02040503050406030204" pitchFamily="18" charset="0"/>
              </a:rPr>
              <a:t>54°</a:t>
            </a:r>
            <a:endParaRPr lang="en-US" sz="2000" dirty="0">
              <a:latin typeface="Times New Roman" panose="02020603050405020304" pitchFamily="18" charset="0"/>
              <a:cs typeface="Times New Roman" panose="02020603050405020304" pitchFamily="18" charset="0"/>
            </a:endParaRPr>
          </a:p>
          <a:p>
            <a:pPr algn="l"/>
            <a:r>
              <a:rPr lang="en-US" sz="2000" dirty="0">
                <a:latin typeface="Times New Roman" panose="02020603050405020304" pitchFamily="18" charset="0"/>
                <a:cs typeface="Times New Roman" panose="02020603050405020304" pitchFamily="18" charset="0"/>
              </a:rPr>
              <a:t>C. </a:t>
            </a:r>
            <a:r>
              <a:rPr lang="en-IN" sz="1800" b="0" i="0" u="none" strike="noStrike" baseline="0" dirty="0">
                <a:latin typeface="Cambria" panose="02040503050406030204" pitchFamily="18" charset="0"/>
              </a:rPr>
              <a:t>67°</a:t>
            </a:r>
            <a:endParaRPr lang="en-US" sz="2000" dirty="0">
              <a:latin typeface="Times New Roman" panose="02020603050405020304" pitchFamily="18" charset="0"/>
              <a:cs typeface="Times New Roman" panose="02020603050405020304" pitchFamily="18" charset="0"/>
            </a:endParaRPr>
          </a:p>
          <a:p>
            <a:pPr algn="l"/>
            <a:r>
              <a:rPr lang="en-US" sz="2000" dirty="0">
                <a:latin typeface="Times New Roman" panose="02020603050405020304" pitchFamily="18" charset="0"/>
                <a:cs typeface="Times New Roman" panose="02020603050405020304" pitchFamily="18" charset="0"/>
              </a:rPr>
              <a:t>D. </a:t>
            </a:r>
            <a:r>
              <a:rPr lang="en-IN" sz="1800" b="0" i="0" u="none" strike="noStrike" baseline="0" dirty="0">
                <a:latin typeface="Cambria" panose="02040503050406030204" pitchFamily="18" charset="0"/>
              </a:rPr>
              <a:t>50°</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28631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37"/>
          <p:cNvSpPr txBox="1">
            <a:spLocks noGrp="1"/>
          </p:cNvSpPr>
          <p:nvPr>
            <p:ph type="sldNum" sz="quarter" idx="12"/>
          </p:nvPr>
        </p:nvSpPr>
        <p:spPr>
          <a:prstGeom prst="rect">
            <a:avLst/>
          </a:prstGeom>
          <a:noFill/>
          <a:ln>
            <a:noFill/>
          </a:ln>
        </p:spPr>
        <p:txBody>
          <a:bodyPr spcFirstLastPara="1" wrap="square" lIns="27425" tIns="45700" rIns="45700" bIns="45700" anchor="ctr" anchorCtr="0">
            <a:noAutofit/>
          </a:body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21</a:t>
            </a:fld>
            <a:endParaRPr/>
          </a:p>
        </p:txBody>
      </p:sp>
      <p:sp>
        <p:nvSpPr>
          <p:cNvPr id="385" name="Google Shape;385;p37"/>
          <p:cNvSpPr/>
          <p:nvPr/>
        </p:nvSpPr>
        <p:spPr>
          <a:xfrm>
            <a:off x="3724201" y="2967335"/>
            <a:ext cx="4743606"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b="1" cap="none">
                <a:solidFill>
                  <a:srgbClr val="C2CCF3"/>
                </a:solidFill>
                <a:latin typeface="Palatino Linotype"/>
                <a:ea typeface="Palatino Linotype"/>
                <a:cs typeface="Palatino Linotype"/>
                <a:sym typeface="Palatino Linotype"/>
              </a:rPr>
              <a:t>Any </a:t>
            </a:r>
            <a:r>
              <a:rPr lang="en-US" sz="5400" b="1" cap="none">
                <a:solidFill>
                  <a:srgbClr val="C2CCF3"/>
                </a:solidFill>
                <a:latin typeface="Times New Roman"/>
                <a:ea typeface="Times New Roman"/>
                <a:cs typeface="Times New Roman"/>
                <a:sym typeface="Times New Roman"/>
              </a:rPr>
              <a:t>Doubts</a:t>
            </a:r>
            <a:r>
              <a:rPr lang="en-US" sz="5400" b="1" cap="none">
                <a:solidFill>
                  <a:srgbClr val="C2CCF3"/>
                </a:solidFill>
                <a:latin typeface="Palatino Linotype"/>
                <a:ea typeface="Palatino Linotype"/>
                <a:cs typeface="Palatino Linotype"/>
                <a:sym typeface="Palatino Linotype"/>
              </a:rPr>
              <a:t>???</a:t>
            </a: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2894</TotalTime>
  <Words>2017</Words>
  <Application>Microsoft Office PowerPoint</Application>
  <PresentationFormat>Custom</PresentationFormat>
  <Paragraphs>222</Paragraphs>
  <Slides>21</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Arial</vt:lpstr>
      <vt:lpstr>Calibri</vt:lpstr>
      <vt:lpstr>Times New Roman</vt:lpstr>
      <vt:lpstr>Cambria</vt:lpstr>
      <vt:lpstr>Cambria Math</vt:lpstr>
      <vt:lpstr>Tahoma</vt:lpstr>
      <vt:lpstr>Palatino Linotype</vt:lpstr>
      <vt:lpstr>Office Theme</vt:lpstr>
      <vt:lpstr>DATA INTERPRETATION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AVERAGES</dc:title>
  <dc:creator>cu</dc:creator>
  <cp:lastModifiedBy>Dell</cp:lastModifiedBy>
  <cp:revision>152</cp:revision>
  <dcterms:created xsi:type="dcterms:W3CDTF">2017-07-13T07:57:18Z</dcterms:created>
  <dcterms:modified xsi:type="dcterms:W3CDTF">2025-08-09T07:47:03Z</dcterms:modified>
</cp:coreProperties>
</file>