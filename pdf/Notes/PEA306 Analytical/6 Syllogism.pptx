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embeddedFontLst>
    <p:embeddedFont>
      <p:font typeface="Calibri" pitchFamily="34" charset="0"/>
      <p:regular r:id="rId39"/>
      <p:bold r:id="rId40"/>
      <p:italic r:id="rId41"/>
      <p:boldItalic r:id="rId42"/>
    </p:embeddedFont>
    <p:embeddedFont>
      <p:font typeface="Quattrocento Sans" charset="0"/>
      <p:regular r:id="rId43"/>
      <p:bold r:id="rId44"/>
      <p:italic r:id="rId45"/>
      <p:boldItalic r:id="rId46"/>
    </p:embeddedFont>
    <p:embeddedFont>
      <p:font typeface="Palatino Linotype" pitchFamily="18"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hdwCLSBsjd18tplPIqblGiztYt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81" autoAdjust="0"/>
    <p:restoredTop sz="99288" autoAdjust="0"/>
  </p:normalViewPr>
  <p:slideViewPr>
    <p:cSldViewPr snapToGrid="0">
      <p:cViewPr>
        <p:scale>
          <a:sx n="74" d="100"/>
          <a:sy n="74" d="100"/>
        </p:scale>
        <p:origin x="-402"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8"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8465536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9" name="Google Shape;9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endParaRPr/>
          </a:p>
        </p:txBody>
      </p:sp>
      <p:sp>
        <p:nvSpPr>
          <p:cNvPr id="107" name="Google Shape;10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E (Compulsory)</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endParaRPr/>
          </a:p>
        </p:txBody>
      </p:sp>
      <p:sp>
        <p:nvSpPr>
          <p:cNvPr id="115" name="Google Shape;11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(Compulsory)</a:t>
            </a:r>
            <a:endParaRPr/>
          </a:p>
          <a:p>
            <a:pPr marL="0" lvl="0" indent="0" algn="l" rtl="0">
              <a:spcBef>
                <a:spcPts val="0"/>
              </a:spcBef>
              <a:spcAft>
                <a:spcPts val="0"/>
              </a:spcAft>
              <a:buNone/>
            </a:pPr>
            <a:r>
              <a:rPr lang="en-US"/>
              <a:t>(Optional)</a:t>
            </a:r>
            <a:endParaRPr/>
          </a:p>
          <a:p>
            <a:pPr marL="0" lvl="0" indent="0" algn="l" rtl="0">
              <a:spcBef>
                <a:spcPts val="0"/>
              </a:spcBef>
              <a:spcAft>
                <a:spcPts val="0"/>
              </a:spcAft>
              <a:buNone/>
            </a:pPr>
            <a:endParaRPr/>
          </a:p>
        </p:txBody>
      </p:sp>
      <p:sp>
        <p:nvSpPr>
          <p:cNvPr id="123" name="Google Shape;12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A (Optional)</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(Compulsory)</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endParaRPr/>
          </a:p>
        </p:txBody>
      </p:sp>
      <p:sp>
        <p:nvSpPr>
          <p:cNvPr id="139" name="Google Shape;139;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A (Compulsory)</a:t>
            </a:r>
            <a:endParaRPr/>
          </a:p>
          <a:p>
            <a:pPr marL="0" lvl="0" indent="0" algn="l" rtl="0">
              <a:spcBef>
                <a:spcPts val="0"/>
              </a:spcBef>
              <a:spcAft>
                <a:spcPts val="0"/>
              </a:spcAft>
              <a:buNone/>
            </a:pPr>
            <a:r>
              <a:rPr lang="en-US"/>
              <a:t>(Easy)</a:t>
            </a:r>
            <a:endParaRPr/>
          </a:p>
          <a:p>
            <a:pPr marL="0" lvl="0" indent="0" algn="l" rtl="0">
              <a:spcBef>
                <a:spcPts val="0"/>
              </a:spcBef>
              <a:spcAft>
                <a:spcPts val="0"/>
              </a:spcAft>
              <a:buNone/>
            </a:pPr>
            <a:endParaRPr/>
          </a:p>
        </p:txBody>
      </p:sp>
      <p:sp>
        <p:nvSpPr>
          <p:cNvPr id="147" name="Google Shape;14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4" name="Google Shape;15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E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155" name="Google Shape;155;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163" name="Google Shape;16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171" name="Google Shape;17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179" name="Google Shape;17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7" name="Google Shape;18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195" name="Google Shape;1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03" name="Google Shape;20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11" name="Google Shape;21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19" name="Google Shape;21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27" name="Google Shape;22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35" name="Google Shape;23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43" name="Google Shape;24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51" name="Google Shape;251;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59" name="Google Shape;25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67" name="Google Shape;267;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75" name="Google Shape;275;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83" name="Google Shape;283;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E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91" name="Google Shape;291;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299" name="Google Shape;299;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A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07" name="Google Shape;307;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D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15" name="Google Shape;315;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23" name="Google Shape;323;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C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31" name="Google Shape;331;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E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39" name="Google Shape;339;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47" name="Google Shape;34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E (Compulsory)</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55" name="Google Shape;355;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r>
              <a:rPr lang="en-US"/>
              <a:t>Option B (Optional)</a:t>
            </a:r>
            <a:endParaRPr/>
          </a:p>
          <a:p>
            <a:pPr marL="0" lvl="0" indent="0" algn="l" rtl="0">
              <a:spcBef>
                <a:spcPts val="0"/>
              </a:spcBef>
              <a:spcAft>
                <a:spcPts val="0"/>
              </a:spcAft>
              <a:buNone/>
            </a:pPr>
            <a:r>
              <a:rPr lang="en-US"/>
              <a:t>(Moderate)</a:t>
            </a:r>
            <a:endParaRPr/>
          </a:p>
          <a:p>
            <a:pPr marL="0" lvl="0" indent="0" algn="l" rtl="0">
              <a:spcBef>
                <a:spcPts val="0"/>
              </a:spcBef>
              <a:spcAft>
                <a:spcPts val="0"/>
              </a:spcAft>
              <a:buNone/>
            </a:pPr>
            <a:endParaRPr/>
          </a:p>
        </p:txBody>
      </p:sp>
      <p:sp>
        <p:nvSpPr>
          <p:cNvPr id="363" name="Google Shape;36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0" name="Google Shape;37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1" name="Google Shape;371;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37550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43061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17719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08393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80910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6192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32337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42895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63597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351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39"/>
            <a:ext cx="3657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274639"/>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0840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92767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title"/>
          </p:nvPr>
        </p:nvSpPr>
        <p:spPr>
          <a:xfrm>
            <a:off x="499279" y="1944253"/>
            <a:ext cx="11229474" cy="2395044"/>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80555"/>
              </a:lnSpc>
              <a:spcBef>
                <a:spcPts val="0"/>
              </a:spcBef>
              <a:spcAft>
                <a:spcPts val="0"/>
              </a:spcAft>
              <a:buClr>
                <a:srgbClr val="C00000"/>
              </a:buClr>
              <a:buSzPct val="97006"/>
              <a:buFont typeface="Palatino Linotype"/>
              <a:buNone/>
            </a:pPr>
            <a:r>
              <a:rPr lang="en-US" sz="7422" b="1" dirty="0">
                <a:solidFill>
                  <a:schemeClr val="tx1"/>
                </a:solidFill>
                <a:latin typeface="Times New Roman" pitchFamily="18" charset="0"/>
                <a:cs typeface="Times New Roman" pitchFamily="18" charset="0"/>
              </a:rPr>
              <a:t>Syllogism</a:t>
            </a:r>
            <a:r>
              <a:rPr lang="en-US" sz="7200" b="1" dirty="0">
                <a:solidFill>
                  <a:schemeClr val="tx1"/>
                </a:solidFill>
                <a:latin typeface="Times New Roman" pitchFamily="18" charset="0"/>
                <a:cs typeface="Times New Roman" pitchFamily="18" charset="0"/>
              </a:rPr>
              <a:t> </a:t>
            </a:r>
            <a:endParaRPr sz="7200" b="1" dirty="0">
              <a:solidFill>
                <a:schemeClr val="tx1"/>
              </a:solidFill>
              <a:latin typeface="Times New Roman" pitchFamily="18" charset="0"/>
              <a:cs typeface="Times New Roman" pitchFamily="18" charset="0"/>
            </a:endParaRPr>
          </a:p>
          <a:p>
            <a:pPr marL="0" lvl="0" indent="0" algn="ctr" rtl="0">
              <a:lnSpc>
                <a:spcPct val="80555"/>
              </a:lnSpc>
              <a:spcBef>
                <a:spcPts val="0"/>
              </a:spcBef>
              <a:spcAft>
                <a:spcPts val="0"/>
              </a:spcAft>
              <a:buClr>
                <a:srgbClr val="C00000"/>
              </a:buClr>
              <a:buSzPct val="120446"/>
              <a:buFont typeface="Palatino Linotype"/>
              <a:buNone/>
            </a:pPr>
            <a:r>
              <a:rPr lang="en-US" sz="7200" b="1" dirty="0">
                <a:solidFill>
                  <a:srgbClr val="C00000"/>
                </a:solidFill>
              </a:rPr>
              <a:t/>
            </a:r>
            <a:br>
              <a:rPr lang="en-US" sz="7200" b="1" dirty="0">
                <a:solidFill>
                  <a:srgbClr val="C00000"/>
                </a:solidFill>
              </a:rPr>
            </a:br>
            <a:endParaRPr sz="72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03" name="Google Shape;103;p2"/>
          <p:cNvSpPr/>
          <p:nvPr/>
        </p:nvSpPr>
        <p:spPr>
          <a:xfrm>
            <a:off x="220717" y="937927"/>
            <a:ext cx="10723948" cy="464742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rgbClr val="000000"/>
                </a:solidFill>
                <a:latin typeface="Palatino Linotype" panose="02040502050505030304" pitchFamily="18" charset="0"/>
                <a:ea typeface="Quattrocento Sans"/>
                <a:cs typeface="Quattrocento Sans"/>
                <a:sym typeface="Quattrocento Sans"/>
              </a:rPr>
              <a:t>Directions (1-8) : </a:t>
            </a: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In each of the following questions two statements are given and these statements are followed by two conclusions numbered (1) and (2). You have to take the given two statements to be true even if they seem to be at variance from commonly known facts. Read the conclusions and then decide which of the given conclusions logically follows from the two given statements, disregarding commonly known facts.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Give answer:</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spcBef>
                <a:spcPts val="75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(A) If only (1) conclusion follows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spcBef>
                <a:spcPts val="75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(B) If only (2) conclusion follows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spcBef>
                <a:spcPts val="75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(C) If either (1) or (2) follows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spcBef>
                <a:spcPts val="75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(D) If neither (1) nor (2) follows and</a:t>
            </a:r>
            <a:endParaRPr dirty="0">
              <a:latin typeface="Palatino Linotype" panose="02040502050505030304" pitchFamily="18" charset="0"/>
            </a:endParaRPr>
          </a:p>
          <a:p>
            <a:pPr marL="0" marR="0" lvl="0" indent="0" algn="l" rtl="0">
              <a:spcBef>
                <a:spcPts val="750"/>
              </a:spcBef>
              <a:spcAft>
                <a:spcPts val="0"/>
              </a:spcAft>
              <a:buNone/>
            </a:pPr>
            <a:r>
              <a:rPr lang="en-US" sz="2000" b="0" i="0" u="none" strike="noStrike" cap="none" dirty="0">
                <a:solidFill>
                  <a:srgbClr val="000000"/>
                </a:solidFill>
                <a:latin typeface="Palatino Linotype" panose="02040502050505030304" pitchFamily="18" charset="0"/>
                <a:ea typeface="Quattrocento Sans"/>
                <a:cs typeface="Quattrocento Sans"/>
                <a:sym typeface="Quattrocento Sans"/>
              </a:rPr>
              <a:t>(E) If both (1) and (2) follow.</a:t>
            </a:r>
            <a:endParaRPr sz="2000" b="0" i="0" u="none" strike="noStrike" cap="none" dirty="0">
              <a:solidFill>
                <a:schemeClr val="dk1"/>
              </a:solidFill>
              <a:latin typeface="Palatino Linotype" panose="02040502050505030304" pitchFamily="18" charset="0"/>
              <a:ea typeface="Palatino Linotype"/>
              <a:cs typeface="Palatino Linotype"/>
              <a:sym typeface="Palatino Linotype"/>
            </a:endParaRPr>
          </a:p>
          <a:p>
            <a:pPr marL="0" marR="0" lvl="0" indent="0" algn="l" rtl="0">
              <a:spcBef>
                <a:spcPts val="750"/>
              </a:spcBef>
              <a:spcAft>
                <a:spcPts val="0"/>
              </a:spcAft>
              <a:buNone/>
            </a:pP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11" name="Google Shape;111;p3"/>
          <p:cNvSpPr/>
          <p:nvPr/>
        </p:nvSpPr>
        <p:spPr>
          <a:xfrm>
            <a:off x="545432" y="994156"/>
            <a:ext cx="9725141" cy="239834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1.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mountains are states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states are oceans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(1) Some mountains are oceans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(2) No mountains are oceans</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4"/>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19" name="Google Shape;119;p4"/>
          <p:cNvSpPr/>
          <p:nvPr/>
        </p:nvSpPr>
        <p:spPr>
          <a:xfrm>
            <a:off x="545432" y="994156"/>
            <a:ext cx="9725141" cy="239834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2.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apples are mangoes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mangoes are bananas</a:t>
            </a:r>
            <a:endParaRPr sz="20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(1) Some apples are mangoes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(2) Some mangoes are not apples is a possibility</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27" name="Google Shape;127;p5"/>
          <p:cNvSpPr/>
          <p:nvPr/>
        </p:nvSpPr>
        <p:spPr>
          <a:xfrm>
            <a:off x="545432" y="994156"/>
            <a:ext cx="9725141" cy="242117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3.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carrots are potatoes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potatoes are tomatoes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457200" marR="0" lvl="0" indent="-4572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tomatoes are not carrots </a:t>
            </a:r>
            <a:endParaRPr dirty="0">
              <a:latin typeface="Palatino Linotype" panose="02040502050505030304" pitchFamily="18" charset="0"/>
            </a:endParaRPr>
          </a:p>
          <a:p>
            <a:pPr marL="457200" marR="0" lvl="0" indent="-4572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carrots are not tomatoes</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35" name="Google Shape;135;p6"/>
          <p:cNvSpPr/>
          <p:nvPr/>
        </p:nvSpPr>
        <p:spPr>
          <a:xfrm>
            <a:off x="545432" y="994156"/>
            <a:ext cx="9725141" cy="2398349"/>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4.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locks are keys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keys are handles</a:t>
            </a:r>
            <a:endParaRPr sz="20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(1) Some handles are locks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(2) Some handles are not locks</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7"/>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43" name="Google Shape;143;p7"/>
          <p:cNvSpPr/>
          <p:nvPr/>
        </p:nvSpPr>
        <p:spPr>
          <a:xfrm>
            <a:off x="545432" y="994156"/>
            <a:ext cx="9725141" cy="275229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5.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windows are walls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walls are doors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doors are roof</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342900" marR="0" lvl="0" indent="-3429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walls are roof</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342900" marR="0" lvl="0" indent="-3429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doors are windows</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51" name="Google Shape;151;p8"/>
          <p:cNvSpPr/>
          <p:nvPr/>
        </p:nvSpPr>
        <p:spPr>
          <a:xfrm>
            <a:off x="545432" y="1000293"/>
            <a:ext cx="9725141" cy="275229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6.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hands are hair</a:t>
            </a:r>
            <a:endParaRPr dirty="0">
              <a:latin typeface="Palatino Linotype" panose="02040502050505030304" pitchFamily="18" charset="0"/>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hair are heads</a:t>
            </a:r>
            <a:endParaRPr dirty="0">
              <a:latin typeface="Palatino Linotype" panose="02040502050505030304" pitchFamily="18" charset="0"/>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heads are heart</a:t>
            </a:r>
            <a:endParaRPr sz="20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(1) Some hearts are hands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(2) No heads are hand</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9"/>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59" name="Google Shape;159;p9"/>
          <p:cNvSpPr/>
          <p:nvPr/>
        </p:nvSpPr>
        <p:spPr>
          <a:xfrm>
            <a:off x="545432" y="994156"/>
            <a:ext cx="9725141" cy="275229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7.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fans are coolers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coolers are televisions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televisions are tube light</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342900" marR="0" lvl="0" indent="-3429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fans are not tube light</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342900" marR="0" lvl="0" indent="-342900" algn="l" rtl="0">
              <a:lnSpc>
                <a:spcPct val="115000"/>
              </a:lnSpc>
              <a:spcBef>
                <a:spcPts val="750"/>
              </a:spcBef>
              <a:spcAft>
                <a:spcPts val="0"/>
              </a:spcAft>
              <a:buClr>
                <a:schemeClr val="dk1"/>
              </a:buClr>
              <a:buSzPts val="2000"/>
              <a:buFont typeface="Quattrocento Sans"/>
              <a:buAutoNum type="arabicParenBoth"/>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coolers are tube light</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0"/>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67" name="Google Shape;167;p10"/>
          <p:cNvSpPr/>
          <p:nvPr/>
        </p:nvSpPr>
        <p:spPr>
          <a:xfrm>
            <a:off x="545432" y="994156"/>
            <a:ext cx="9725141" cy="2752292"/>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8. Statements: </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Some buses are scooters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No scooters are bikes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All bikes are ships</a:t>
            </a:r>
            <a:endParaRPr sz="2000" b="0" i="0" u="none" strike="noStrike" cap="none"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Conclusions: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(1) Some bikes are not buses</a:t>
            </a:r>
            <a:endParaRPr sz="1800" b="0" i="0" u="none" strike="noStrike" cap="none" dirty="0">
              <a:solidFill>
                <a:schemeClr val="dk1"/>
              </a:solidFill>
              <a:latin typeface="Palatino Linotype" panose="02040502050505030304" pitchFamily="18" charset="0"/>
              <a:ea typeface="Calibri"/>
              <a:cs typeface="Calibri"/>
              <a:sym typeface="Calibri"/>
            </a:endParaRPr>
          </a:p>
          <a:p>
            <a:pPr marL="0" marR="0" lvl="0" indent="0" algn="l" rtl="0">
              <a:lnSpc>
                <a:spcPct val="115000"/>
              </a:lnSpc>
              <a:spcBef>
                <a:spcPts val="750"/>
              </a:spcBef>
              <a:spcAft>
                <a:spcPts val="0"/>
              </a:spcAft>
              <a:buNone/>
            </a:pPr>
            <a:r>
              <a:rPr lang="en-US" sz="2000" b="0" i="0" u="none" strike="noStrike" cap="none" dirty="0">
                <a:solidFill>
                  <a:schemeClr val="dk1"/>
                </a:solidFill>
                <a:latin typeface="Palatino Linotype" panose="02040502050505030304" pitchFamily="18" charset="0"/>
                <a:ea typeface="Quattrocento Sans"/>
                <a:cs typeface="Quattrocento Sans"/>
                <a:sym typeface="Quattrocento Sans"/>
              </a:rPr>
              <a:t>(2) Some ships are not scooters</a:t>
            </a:r>
            <a:endParaRPr sz="1800" b="0" i="0" u="none" strike="noStrike" cap="none" dirty="0">
              <a:solidFill>
                <a:schemeClr val="dk1"/>
              </a:solidFill>
              <a:latin typeface="Palatino Linotype" panose="02040502050505030304" pitchFamily="18" charset="0"/>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1"/>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 </a:t>
            </a:r>
            <a:endParaRPr/>
          </a:p>
        </p:txBody>
      </p:sp>
      <p:sp>
        <p:nvSpPr>
          <p:cNvPr id="175" name="Google Shape;175;p11"/>
          <p:cNvSpPr/>
          <p:nvPr/>
        </p:nvSpPr>
        <p:spPr>
          <a:xfrm>
            <a:off x="545432" y="994156"/>
            <a:ext cx="9725141" cy="357020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i="0" u="none" strike="noStrike" cap="none" dirty="0">
                <a:solidFill>
                  <a:schemeClr val="dk1"/>
                </a:solidFill>
                <a:latin typeface="Palatino Linotype" panose="02040502050505030304" pitchFamily="18" charset="0"/>
                <a:ea typeface="Quattrocento Sans"/>
                <a:cs typeface="Quattrocento Sans"/>
                <a:sym typeface="Quattrocento Sans"/>
              </a:rPr>
              <a:t>9. </a:t>
            </a:r>
            <a:r>
              <a:rPr lang="en-US" sz="2000" b="1" i="0" u="none" strike="noStrike" cap="none" dirty="0">
                <a:solidFill>
                  <a:srgbClr val="000000"/>
                </a:solidFill>
                <a:latin typeface="Palatino Linotype" panose="02040502050505030304" pitchFamily="18" charset="0"/>
                <a:ea typeface="Libre Franklin"/>
                <a:cs typeface="Libre Franklin"/>
                <a:sym typeface="Libre Franklin"/>
              </a:rPr>
              <a:t>Statements</a:t>
            </a:r>
            <a:r>
              <a:rPr lang="en-US" sz="2000" b="0" i="0" u="none" strike="noStrike" cap="none" dirty="0">
                <a:solidFill>
                  <a:srgbClr val="000000"/>
                </a:solidFill>
                <a:latin typeface="Palatino Linotype" panose="02040502050505030304" pitchFamily="18" charset="0"/>
                <a:ea typeface="Libre Franklin"/>
                <a:cs typeface="Libre Franklin"/>
                <a:sym typeface="Libre Franklin"/>
              </a:rPr>
              <a:t> : All machines are bad. Some bad are globe.</a:t>
            </a:r>
            <a:endParaRPr dirty="0">
              <a:latin typeface="Palatino Linotype" panose="02040502050505030304" pitchFamily="18" charset="0"/>
            </a:endParaRPr>
          </a:p>
          <a:p>
            <a:pPr marL="0" marR="0" lvl="0" indent="0" algn="l" rtl="0">
              <a:spcBef>
                <a:spcPts val="0"/>
              </a:spcBef>
              <a:spcAft>
                <a:spcPts val="0"/>
              </a:spcAft>
              <a:buNone/>
            </a:pPr>
            <a:r>
              <a:rPr lang="en-US" sz="2000" b="0" i="0" u="none" strike="noStrike" cap="none" dirty="0">
                <a:solidFill>
                  <a:srgbClr val="000000"/>
                </a:solidFill>
                <a:latin typeface="Palatino Linotype" panose="02040502050505030304" pitchFamily="18" charset="0"/>
                <a:ea typeface="Libre Franklin"/>
                <a:cs typeface="Libre Franklin"/>
                <a:sym typeface="Libre Franklin"/>
              </a:rPr>
              <a:t>All globe are round.</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Conclusions</a:t>
            </a:r>
            <a:r>
              <a:rPr lang="en-US" sz="2000" dirty="0">
                <a:solidFill>
                  <a:srgbClr val="000000"/>
                </a:solidFill>
                <a:latin typeface="Palatino Linotype" panose="02040502050505030304" pitchFamily="18" charset="0"/>
                <a:ea typeface="Libre Franklin"/>
                <a:cs typeface="Libre Franklin"/>
                <a:sym typeface="Libre Franklin"/>
              </a:rPr>
              <a:t> </a:t>
            </a:r>
            <a:r>
              <a:rPr lang="en-US" sz="2000" b="1" dirty="0">
                <a:solidFill>
                  <a:srgbClr val="000000"/>
                </a:solidFill>
                <a:latin typeface="Palatino Linotype" panose="02040502050505030304" pitchFamily="18" charset="0"/>
                <a:ea typeface="Libre Franklin"/>
                <a:cs typeface="Libre Franklin"/>
                <a:sym typeface="Libre Franklin"/>
              </a:rPr>
              <a:t>:1. </a:t>
            </a:r>
            <a:r>
              <a:rPr lang="en-US" sz="2000" dirty="0">
                <a:solidFill>
                  <a:srgbClr val="000000"/>
                </a:solidFill>
                <a:latin typeface="Palatino Linotype" panose="02040502050505030304" pitchFamily="18" charset="0"/>
                <a:ea typeface="Libre Franklin"/>
                <a:cs typeface="Libre Franklin"/>
                <a:sym typeface="Libre Franklin"/>
              </a:rPr>
              <a:t>Some machines are round.</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2.</a:t>
            </a:r>
            <a:r>
              <a:rPr lang="en-US" sz="2000" dirty="0">
                <a:solidFill>
                  <a:srgbClr val="000000"/>
                </a:solidFill>
                <a:latin typeface="Palatino Linotype" panose="02040502050505030304" pitchFamily="18" charset="0"/>
                <a:ea typeface="Libre Franklin"/>
                <a:cs typeface="Libre Franklin"/>
                <a:sym typeface="Libre Franklin"/>
              </a:rPr>
              <a:t> No machine is round.</a:t>
            </a:r>
            <a:endParaRPr dirty="0">
              <a:latin typeface="Palatino Linotype" panose="02040502050505030304" pitchFamily="18" charset="0"/>
            </a:endParaRPr>
          </a:p>
          <a:p>
            <a:pPr marL="0" marR="0" lvl="0" indent="0" algn="l" rtl="0">
              <a:spcBef>
                <a:spcPts val="0"/>
              </a:spcBef>
              <a:spcAft>
                <a:spcPts val="0"/>
              </a:spcAft>
              <a:buNone/>
            </a:pPr>
            <a:endParaRPr sz="2000" dirty="0">
              <a:solidFill>
                <a:srgbClr val="000000"/>
              </a:solidFill>
              <a:latin typeface="Palatino Linotype" panose="02040502050505030304" pitchFamily="18" charset="0"/>
              <a:ea typeface="Libre Franklin"/>
              <a:cs typeface="Libre Franklin"/>
              <a:sym typeface="Libre Franklin"/>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A. </a:t>
            </a:r>
            <a:r>
              <a:rPr lang="en-US" sz="2000" dirty="0">
                <a:solidFill>
                  <a:srgbClr val="000000"/>
                </a:solidFill>
                <a:latin typeface="Palatino Linotype" panose="02040502050505030304" pitchFamily="18" charset="0"/>
                <a:ea typeface="Libre Franklin"/>
                <a:cs typeface="Libre Franklin"/>
                <a:sym typeface="Libre Franklin"/>
              </a:rPr>
              <a:t>Only (1) conclusion follows</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B. </a:t>
            </a:r>
            <a:r>
              <a:rPr lang="en-US" sz="2000" dirty="0">
                <a:solidFill>
                  <a:srgbClr val="000000"/>
                </a:solidFill>
                <a:latin typeface="Palatino Linotype" panose="02040502050505030304" pitchFamily="18" charset="0"/>
                <a:ea typeface="Libre Franklin"/>
                <a:cs typeface="Libre Franklin"/>
                <a:sym typeface="Libre Franklin"/>
              </a:rPr>
              <a:t>Only (2) conclusion follows</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C. </a:t>
            </a:r>
            <a:r>
              <a:rPr lang="en-US" sz="2000" dirty="0">
                <a:solidFill>
                  <a:srgbClr val="000000"/>
                </a:solidFill>
                <a:latin typeface="Palatino Linotype" panose="02040502050505030304" pitchFamily="18" charset="0"/>
                <a:ea typeface="Libre Franklin"/>
                <a:cs typeface="Libre Franklin"/>
                <a:sym typeface="Libre Franklin"/>
              </a:rPr>
              <a:t>Either (1) or (2) follows</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D. </a:t>
            </a:r>
            <a:r>
              <a:rPr lang="en-US" sz="2000" dirty="0">
                <a:solidFill>
                  <a:srgbClr val="000000"/>
                </a:solidFill>
                <a:latin typeface="Palatino Linotype" panose="02040502050505030304" pitchFamily="18" charset="0"/>
                <a:ea typeface="Libre Franklin"/>
                <a:cs typeface="Libre Franklin"/>
                <a:sym typeface="Libre Franklin"/>
              </a:rPr>
              <a:t>Neither (1) nor (2) follows</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E. </a:t>
            </a:r>
            <a:r>
              <a:rPr lang="en-US" sz="2000" dirty="0">
                <a:solidFill>
                  <a:srgbClr val="000000"/>
                </a:solidFill>
                <a:latin typeface="Palatino Linotype" panose="02040502050505030304" pitchFamily="18" charset="0"/>
                <a:ea typeface="Libre Franklin"/>
                <a:cs typeface="Libre Franklin"/>
                <a:sym typeface="Libre Franklin"/>
              </a:rPr>
              <a:t>Both (1) and (2) follow</a:t>
            </a:r>
            <a:endParaRPr dirty="0">
              <a:latin typeface="Palatino Linotype" panose="02040502050505030304" pitchFamily="18" charset="0"/>
            </a:endParaRPr>
          </a:p>
          <a:p>
            <a:pPr marL="0" marR="0" lvl="0" indent="0" algn="l" rtl="0">
              <a:lnSpc>
                <a:spcPct val="115000"/>
              </a:lnSpc>
              <a:spcBef>
                <a:spcPts val="0"/>
              </a:spcBef>
              <a:spcAft>
                <a:spcPts val="0"/>
              </a:spcAft>
              <a:buNone/>
            </a:pPr>
            <a:endParaRPr sz="2000" dirty="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2"/>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183" name="Google Shape;183;p12"/>
          <p:cNvSpPr/>
          <p:nvPr/>
        </p:nvSpPr>
        <p:spPr>
          <a:xfrm>
            <a:off x="545432" y="994156"/>
            <a:ext cx="9725141"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Palatino Linotype" panose="02040502050505030304" pitchFamily="18" charset="0"/>
                <a:ea typeface="Quattrocento Sans"/>
                <a:cs typeface="Quattrocento Sans"/>
                <a:sym typeface="Quattrocento Sans"/>
              </a:rPr>
              <a:t>10. </a:t>
            </a:r>
            <a:r>
              <a:rPr lang="en-US" sz="2000" b="1" dirty="0">
                <a:solidFill>
                  <a:srgbClr val="000000"/>
                </a:solidFill>
                <a:latin typeface="Palatino Linotype" panose="02040502050505030304" pitchFamily="18" charset="0"/>
                <a:ea typeface="Libre Franklin"/>
                <a:cs typeface="Libre Franklin"/>
                <a:sym typeface="Libre Franklin"/>
              </a:rPr>
              <a:t>Statements</a:t>
            </a:r>
            <a:r>
              <a:rPr lang="en-US" sz="2000" dirty="0">
                <a:solidFill>
                  <a:srgbClr val="000000"/>
                </a:solidFill>
                <a:latin typeface="Palatino Linotype" panose="02040502050505030304" pitchFamily="18" charset="0"/>
                <a:ea typeface="Libre Franklin"/>
                <a:cs typeface="Libre Franklin"/>
                <a:sym typeface="Libre Franklin"/>
              </a:rPr>
              <a:t>:  Some red are blue. Some blue are grey.</a:t>
            </a:r>
            <a:endParaRPr dirty="0">
              <a:latin typeface="Palatino Linotype" panose="02040502050505030304" pitchFamily="18" charset="0"/>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All grey are white.  No white is black.</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Conclusions: I.</a:t>
            </a:r>
            <a:r>
              <a:rPr lang="en-US" sz="2000" dirty="0">
                <a:solidFill>
                  <a:srgbClr val="000000"/>
                </a:solidFill>
                <a:latin typeface="Palatino Linotype" panose="02040502050505030304" pitchFamily="18" charset="0"/>
                <a:ea typeface="Libre Franklin"/>
                <a:cs typeface="Libre Franklin"/>
                <a:sym typeface="Libre Franklin"/>
              </a:rPr>
              <a:t> No black is grey.   </a:t>
            </a:r>
            <a:r>
              <a:rPr lang="en-US" sz="2000" b="1" dirty="0">
                <a:solidFill>
                  <a:srgbClr val="000000"/>
                </a:solidFill>
                <a:latin typeface="Palatino Linotype" panose="02040502050505030304" pitchFamily="18" charset="0"/>
                <a:ea typeface="Libre Franklin"/>
                <a:cs typeface="Libre Franklin"/>
                <a:sym typeface="Libre Franklin"/>
              </a:rPr>
              <a:t>II.</a:t>
            </a:r>
            <a:r>
              <a:rPr lang="en-US" sz="2000" dirty="0">
                <a:solidFill>
                  <a:srgbClr val="000000"/>
                </a:solidFill>
                <a:latin typeface="Palatino Linotype" panose="02040502050505030304" pitchFamily="18" charset="0"/>
                <a:ea typeface="Libre Franklin"/>
                <a:cs typeface="Libre Franklin"/>
                <a:sym typeface="Libre Franklin"/>
              </a:rPr>
              <a:t> Some blue are white.</a:t>
            </a:r>
            <a:endParaRPr dirty="0">
              <a:latin typeface="Palatino Linotype" panose="02040502050505030304" pitchFamily="18" charset="0"/>
            </a:endParaRPr>
          </a:p>
          <a:p>
            <a:pPr marL="0" marR="0" lvl="0" indent="0" algn="l" rtl="0">
              <a:spcBef>
                <a:spcPts val="0"/>
              </a:spcBef>
              <a:spcAft>
                <a:spcPts val="0"/>
              </a:spcAft>
              <a:buNone/>
            </a:pPr>
            <a:r>
              <a:rPr lang="en-US" sz="2000" b="1" dirty="0">
                <a:solidFill>
                  <a:srgbClr val="000000"/>
                </a:solidFill>
                <a:latin typeface="Palatino Linotype" panose="02040502050505030304" pitchFamily="18" charset="0"/>
                <a:ea typeface="Libre Franklin"/>
                <a:cs typeface="Libre Franklin"/>
                <a:sym typeface="Libre Franklin"/>
              </a:rPr>
              <a:t>III.</a:t>
            </a:r>
            <a:r>
              <a:rPr lang="en-US" sz="2000" dirty="0">
                <a:solidFill>
                  <a:srgbClr val="000000"/>
                </a:solidFill>
                <a:latin typeface="Palatino Linotype" panose="02040502050505030304" pitchFamily="18" charset="0"/>
                <a:ea typeface="Libre Franklin"/>
                <a:cs typeface="Libre Franklin"/>
                <a:sym typeface="Libre Franklin"/>
              </a:rPr>
              <a:t> Some black are red</a:t>
            </a:r>
            <a:r>
              <a:rPr lang="en-US" sz="2000" b="1" dirty="0">
                <a:solidFill>
                  <a:srgbClr val="000000"/>
                </a:solidFill>
                <a:latin typeface="Palatino Linotype" panose="02040502050505030304" pitchFamily="18" charset="0"/>
                <a:ea typeface="Libre Franklin"/>
                <a:cs typeface="Libre Franklin"/>
                <a:sym typeface="Libre Franklin"/>
              </a:rPr>
              <a:t>.  </a:t>
            </a:r>
            <a:r>
              <a:rPr lang="en-US" sz="2000" dirty="0">
                <a:solidFill>
                  <a:srgbClr val="000000"/>
                </a:solidFill>
                <a:latin typeface="Palatino Linotype" panose="02040502050505030304" pitchFamily="18" charset="0"/>
                <a:ea typeface="Libre Franklin"/>
                <a:cs typeface="Libre Franklin"/>
                <a:sym typeface="Libre Franklin"/>
              </a:rPr>
              <a:t>   </a:t>
            </a:r>
            <a:r>
              <a:rPr lang="en-US" sz="2000" b="1" dirty="0">
                <a:solidFill>
                  <a:srgbClr val="000000"/>
                </a:solidFill>
                <a:latin typeface="Palatino Linotype" panose="02040502050505030304" pitchFamily="18" charset="0"/>
                <a:ea typeface="Libre Franklin"/>
                <a:cs typeface="Libre Franklin"/>
                <a:sym typeface="Libre Franklin"/>
              </a:rPr>
              <a:t>IV.</a:t>
            </a:r>
            <a:r>
              <a:rPr lang="en-US" sz="2000" dirty="0">
                <a:solidFill>
                  <a:srgbClr val="000000"/>
                </a:solidFill>
                <a:latin typeface="Palatino Linotype" panose="02040502050505030304" pitchFamily="18" charset="0"/>
                <a:ea typeface="Libre Franklin"/>
                <a:cs typeface="Libre Franklin"/>
                <a:sym typeface="Libre Franklin"/>
              </a:rPr>
              <a:t> No black is red.</a:t>
            </a:r>
            <a:endParaRPr dirty="0">
              <a:latin typeface="Palatino Linotype" panose="02040502050505030304" pitchFamily="18" charset="0"/>
            </a:endParaRPr>
          </a:p>
          <a:p>
            <a:pPr marL="0" marR="0" lvl="0" indent="0" algn="l" rtl="0">
              <a:spcBef>
                <a:spcPts val="0"/>
              </a:spcBef>
              <a:spcAft>
                <a:spcPts val="0"/>
              </a:spcAft>
              <a:buNone/>
            </a:pPr>
            <a:endParaRPr sz="2000" dirty="0">
              <a:solidFill>
                <a:srgbClr val="000000"/>
              </a:solidFill>
              <a:latin typeface="Palatino Linotype" panose="02040502050505030304" pitchFamily="18" charset="0"/>
              <a:ea typeface="Libre Franklin"/>
              <a:cs typeface="Libre Franklin"/>
              <a:sym typeface="Libre Franklin"/>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A. Only I and II follow     </a:t>
            </a:r>
            <a:endParaRPr dirty="0">
              <a:latin typeface="Palatino Linotype" panose="02040502050505030304" pitchFamily="18" charset="0"/>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B. Only either III or IV follows</a:t>
            </a:r>
            <a:endParaRPr dirty="0">
              <a:latin typeface="Palatino Linotype" panose="02040502050505030304" pitchFamily="18" charset="0"/>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C. Only I and either III or IV follow</a:t>
            </a:r>
            <a:endParaRPr dirty="0">
              <a:latin typeface="Palatino Linotype" panose="02040502050505030304" pitchFamily="18" charset="0"/>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D. Only I, II and either III or IV follow</a:t>
            </a:r>
            <a:endParaRPr dirty="0">
              <a:latin typeface="Palatino Linotype" panose="02040502050505030304" pitchFamily="18" charset="0"/>
            </a:endParaRPr>
          </a:p>
          <a:p>
            <a:pPr marL="0" marR="0" lvl="0" indent="0" algn="l" rtl="0">
              <a:spcBef>
                <a:spcPts val="0"/>
              </a:spcBef>
              <a:spcAft>
                <a:spcPts val="0"/>
              </a:spcAft>
              <a:buNone/>
            </a:pPr>
            <a:r>
              <a:rPr lang="en-US" sz="2000" dirty="0">
                <a:solidFill>
                  <a:srgbClr val="000000"/>
                </a:solidFill>
                <a:latin typeface="Palatino Linotype" panose="02040502050505030304" pitchFamily="18" charset="0"/>
                <a:ea typeface="Libre Franklin"/>
                <a:cs typeface="Libre Franklin"/>
                <a:sym typeface="Libre Franklin"/>
              </a:rPr>
              <a:t>E. None of these</a:t>
            </a:r>
            <a:endParaRPr dirty="0">
              <a:latin typeface="Palatino Linotype" panose="0204050205050503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191" name="Google Shape;191;p13"/>
          <p:cNvSpPr/>
          <p:nvPr/>
        </p:nvSpPr>
        <p:spPr>
          <a:xfrm>
            <a:off x="220717" y="937927"/>
            <a:ext cx="10723948" cy="1862048"/>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dirty="0">
                <a:solidFill>
                  <a:schemeClr val="dk1"/>
                </a:solidFill>
                <a:latin typeface="Palatino Linotype" panose="02040502050505030304" pitchFamily="18" charset="0"/>
                <a:ea typeface="Quattrocento Sans"/>
                <a:cs typeface="Quattrocento Sans"/>
                <a:sym typeface="Quattrocento Sans"/>
              </a:rPr>
              <a:t>DIRECTIONS (11 – 20):</a:t>
            </a:r>
            <a:r>
              <a:rPr lang="en-US" sz="2000" dirty="0">
                <a:solidFill>
                  <a:schemeClr val="dk1"/>
                </a:solidFill>
                <a:latin typeface="Palatino Linotype" panose="02040502050505030304" pitchFamily="18" charset="0"/>
                <a:ea typeface="Quattrocento Sans"/>
                <a:cs typeface="Quattrocento Sans"/>
                <a:sym typeface="Quattrocento Sans"/>
              </a:rPr>
              <a:t> </a:t>
            </a:r>
            <a:endParaRPr sz="20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lnSpc>
                <a:spcPct val="115000"/>
              </a:lnSpc>
              <a:spcBef>
                <a:spcPts val="0"/>
              </a:spcBef>
              <a:spcAft>
                <a:spcPts val="0"/>
              </a:spcAft>
              <a:buNone/>
            </a:pPr>
            <a:r>
              <a:rPr lang="en-US" sz="2000" dirty="0">
                <a:solidFill>
                  <a:schemeClr val="dk1"/>
                </a:solidFill>
                <a:latin typeface="Palatino Linotype" panose="02040502050505030304" pitchFamily="18" charset="0"/>
                <a:ea typeface="Quattrocento Sans"/>
                <a:cs typeface="Quattrocento Sans"/>
                <a:sym typeface="Quattrocento Sans"/>
              </a:rPr>
              <a:t>In each of the questions below are given three statements, followed by conclusions: I, II, III, IV. You have to take the given statements to be true even if they seem to be at variance from commonly known facts. Read the conclusions and then decide which of the given conclusions logically follows from the given statements disregarding commonly known facts.</a:t>
            </a:r>
            <a:endParaRPr sz="2000" dirty="0">
              <a:solidFill>
                <a:schemeClr val="dk1"/>
              </a:solidFill>
              <a:latin typeface="Palatino Linotype" panose="02040502050505030304" pitchFamily="18" charset="0"/>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4"/>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199" name="Google Shape;199;p14"/>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11.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hens are dogs.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frog are chairs.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dogs are frog.</a:t>
            </a:r>
            <a:r>
              <a:rPr lang="en-US" sz="2000" dirty="0">
                <a:solidFill>
                  <a:schemeClr val="dk1"/>
                </a:solidFill>
                <a:latin typeface="Palatino Linotype" panose="02040502050505030304" pitchFamily="18" charset="0"/>
                <a:ea typeface="Quattrocento Sans"/>
                <a:cs typeface="Quattrocento Sans"/>
                <a:sym typeface="Quattrocento Sans"/>
              </a:rPr>
              <a:t/>
            </a:r>
            <a:br>
              <a:rPr lang="en-US" sz="20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hens are frog</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All frog are dogs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All chairs are hens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All frog are hens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I &amp; 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 &amp; IV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None of these</a:t>
            </a:r>
            <a:endParaRPr dirty="0">
              <a:latin typeface="Palatino Linotype" panose="0204050205050503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5"/>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07" name="Google Shape;207;p15"/>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12. Statements:</a:t>
            </a:r>
            <a:r>
              <a:rPr lang="en-US" sz="1800" dirty="0">
                <a:solidFill>
                  <a:schemeClr val="dk1"/>
                </a:solidFill>
                <a:latin typeface="Palatino Linotype" panose="02040502050505030304" pitchFamily="18" charset="0"/>
                <a:ea typeface="Quattrocento Sans"/>
                <a:cs typeface="Quattrocento Sans"/>
                <a:sym typeface="Quattrocento Sans"/>
              </a:rPr>
              <a:t> </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hooks are crooks.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crooks are greens.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greens are yellow.</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yellow are crooks.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greens are crooks.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greens are hooks.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Some yellow are hooks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All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IV follows</a:t>
            </a:r>
            <a:endParaRPr dirty="0">
              <a:latin typeface="Palatino Linotype" panose="0204050205050503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6"/>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15" name="Google Shape;215;p16"/>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13.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lawyers are innocents.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mobile are lawyers.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bedsheets are mobile.</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All bedsheet are innocents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bedsheet are innocents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innocents are mobiles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All mobile are innocents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III follows</a:t>
            </a:r>
            <a:endParaRPr dirty="0">
              <a:latin typeface="Palatino Linotype" panose="0204050205050503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7"/>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23" name="Google Shape;223;p17"/>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14.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Most mobiles are keyboards. </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keyboard is a printer.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printers are mobiles.</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keyboards are mobiles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All mobiles are printer</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No printer is a keyboard</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Some printer are keyboard</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 follows</a:t>
            </a:r>
            <a:endParaRPr dirty="0">
              <a:latin typeface="Palatino Linotype" panose="0204050205050503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31" name="Google Shape;231;p18"/>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a:ea typeface="Palatino Linotype"/>
                <a:cs typeface="Palatino Linotype"/>
                <a:sym typeface="Palatino Linotype"/>
              </a:rPr>
              <a:t>15. Statements: </a:t>
            </a:r>
            <a:endParaRPr sz="1800" b="1"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All Gulab Jamun are Jalebi. </a:t>
            </a:r>
            <a:endParaRPr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All Jalebis are burger. </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All burgers are Barfi</a:t>
            </a:r>
            <a:br>
              <a:rPr lang="en-US" sz="1800" dirty="0">
                <a:solidFill>
                  <a:schemeClr val="dk1"/>
                </a:solidFill>
                <a:latin typeface="Palatino Linotype"/>
                <a:ea typeface="Palatino Linotype"/>
                <a:cs typeface="Palatino Linotype"/>
                <a:sym typeface="Palatino Linotype"/>
              </a:rPr>
            </a:br>
            <a:r>
              <a:rPr lang="en-US" sz="1800" b="1" dirty="0">
                <a:solidFill>
                  <a:schemeClr val="dk1"/>
                </a:solidFill>
                <a:latin typeface="Quattrocento Sans"/>
                <a:ea typeface="Quattrocento Sans"/>
                <a:cs typeface="Quattrocento Sans"/>
                <a:sym typeface="Quattrocento Sans"/>
              </a:rPr>
              <a:t>Conclusion:</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I. All Jalebis are Barfi</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II. All Gulab Jamun are Burger</a:t>
            </a:r>
            <a:endParaRPr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III. All Gulab Jamun are Barfi</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IV. All Barfi are Jalebi</a:t>
            </a:r>
            <a:endParaRPr dirty="0"/>
          </a:p>
          <a:p>
            <a:pPr marL="0" marR="0" lvl="0" indent="0" algn="l" rtl="0">
              <a:spcBef>
                <a:spcPts val="0"/>
              </a:spcBef>
              <a:spcAft>
                <a:spcPts val="0"/>
              </a:spcAft>
              <a:buNone/>
            </a:pPr>
            <a:endParaRPr sz="1800" dirty="0">
              <a:solidFill>
                <a:schemeClr val="dk1"/>
              </a:solidFill>
              <a:latin typeface="Palatino Linotype"/>
              <a:ea typeface="Palatino Linotype"/>
              <a:cs typeface="Palatino Linotype"/>
              <a:sym typeface="Palatino Linotype"/>
            </a:endParaRPr>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A. Only I and II follow</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B. Only I and III follow</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C. Only II and III follow</a:t>
            </a:r>
            <a:endParaRPr dirty="0"/>
          </a:p>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D. Only I, II and III follow</a:t>
            </a:r>
            <a:endParaRPr sz="1800" dirty="0">
              <a:solidFill>
                <a:schemeClr val="dk1"/>
              </a:solidFill>
              <a:latin typeface="Palatino Linotype"/>
              <a:ea typeface="Palatino Linotype"/>
              <a:cs typeface="Palatino Linotype"/>
              <a:sym typeface="Palatino Linotyp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9"/>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39" name="Google Shape;239;p19"/>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16.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feet are ears. </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ears are kidneys.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kidneys are hairs</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hairs are feet.</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hairs are ears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kidneys are feet</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No hair is foot</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None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IV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III follows</a:t>
            </a:r>
            <a:endParaRPr dirty="0">
              <a:latin typeface="Palatino Linotype" panose="0204050205050503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0"/>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47" name="Google Shape;247;p20"/>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17.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triangles are rectangles.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rectangles are sphere.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sphere are cones</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cones are rectangles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cones are triangles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sphere are triangles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Some rectangles are cones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None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 and 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III and IV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 and IV follow</a:t>
            </a:r>
            <a:endParaRPr dirty="0">
              <a:latin typeface="Palatino Linotype" panose="0204050205050503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21"/>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55" name="Google Shape;255;p21"/>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18.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mercury are iron.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iron is chlorine.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graphite are chlorine.</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graphite are mercury</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graphite are iron</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mercury are chlorine</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No chlorine is mercury</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IV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 and IV follow</a:t>
            </a:r>
            <a:endParaRPr dirty="0">
              <a:latin typeface="Palatino Linotype" panose="0204050205050503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2"/>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63" name="Google Shape;263;p22"/>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19.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chats are yahoo.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WhatsApp are yahoo.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yahoo are google.</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google are chats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All WhatsApp are google</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chats are WhatsApp</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Some chat are google</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All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 II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 II and IV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III and IV follow</a:t>
            </a:r>
            <a:endParaRPr dirty="0">
              <a:latin typeface="Palatino Linotype" panose="0204050205050503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3"/>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71" name="Google Shape;271;p23"/>
          <p:cNvSpPr/>
          <p:nvPr/>
        </p:nvSpPr>
        <p:spPr>
          <a:xfrm>
            <a:off x="545432" y="994156"/>
            <a:ext cx="9725141" cy="39703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20. Statements: </a:t>
            </a: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a:t>
            </a:r>
            <a:r>
              <a:rPr lang="en-US" sz="1800" dirty="0" err="1">
                <a:solidFill>
                  <a:schemeClr val="dk1"/>
                </a:solidFill>
                <a:latin typeface="Palatino Linotype" panose="02040502050505030304" pitchFamily="18" charset="0"/>
                <a:ea typeface="Quattrocento Sans"/>
                <a:cs typeface="Quattrocento Sans"/>
                <a:sym typeface="Quattrocento Sans"/>
              </a:rPr>
              <a:t>tyre</a:t>
            </a:r>
            <a:r>
              <a:rPr lang="en-US" sz="1800" dirty="0">
                <a:solidFill>
                  <a:schemeClr val="dk1"/>
                </a:solidFill>
                <a:latin typeface="Palatino Linotype" panose="02040502050505030304" pitchFamily="18" charset="0"/>
                <a:ea typeface="Quattrocento Sans"/>
                <a:cs typeface="Quattrocento Sans"/>
                <a:sym typeface="Quattrocento Sans"/>
              </a:rPr>
              <a:t> is round.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round is cycle.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a:t>
            </a:r>
            <a:r>
              <a:rPr lang="en-US" sz="1800" dirty="0" err="1">
                <a:solidFill>
                  <a:schemeClr val="dk1"/>
                </a:solidFill>
                <a:latin typeface="Palatino Linotype" panose="02040502050505030304" pitchFamily="18" charset="0"/>
                <a:ea typeface="Quattrocento Sans"/>
                <a:cs typeface="Quattrocento Sans"/>
                <a:sym typeface="Quattrocento Sans"/>
              </a:rPr>
              <a:t>scooty</a:t>
            </a:r>
            <a:r>
              <a:rPr lang="en-US" sz="1800" dirty="0">
                <a:solidFill>
                  <a:schemeClr val="dk1"/>
                </a:solidFill>
                <a:latin typeface="Palatino Linotype" panose="02040502050505030304" pitchFamily="18" charset="0"/>
                <a:ea typeface="Quattrocento Sans"/>
                <a:cs typeface="Quattrocento Sans"/>
                <a:sym typeface="Quattrocento Sans"/>
              </a:rPr>
              <a:t> are cycle</a:t>
            </a:r>
            <a:br>
              <a:rPr lang="en-US" sz="1800" dirty="0">
                <a:solidFill>
                  <a:schemeClr val="dk1"/>
                </a:solidFill>
                <a:latin typeface="Palatino Linotype" panose="02040502050505030304" pitchFamily="18" charset="0"/>
                <a:ea typeface="Quattrocento Sans"/>
                <a:cs typeface="Quattrocento Sans"/>
                <a:sym typeface="Quattrocento Sans"/>
              </a:rPr>
            </a:br>
            <a:r>
              <a:rPr lang="en-US" sz="1800" b="1" dirty="0">
                <a:solidFill>
                  <a:schemeClr val="dk1"/>
                </a:solidFill>
                <a:latin typeface="Palatino Linotype" panose="02040502050505030304" pitchFamily="18" charset="0"/>
                <a:ea typeface="Quattrocento Sans"/>
                <a:cs typeface="Quattrocento Sans"/>
                <a:sym typeface="Quattrocento Sans"/>
              </a:rPr>
              <a:t>Conclusion:</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No cycle is </a:t>
            </a:r>
            <a:r>
              <a:rPr lang="en-US" sz="1800" dirty="0" err="1">
                <a:solidFill>
                  <a:schemeClr val="dk1"/>
                </a:solidFill>
                <a:latin typeface="Palatino Linotype" panose="02040502050505030304" pitchFamily="18" charset="0"/>
                <a:ea typeface="Quattrocento Sans"/>
                <a:cs typeface="Quattrocento Sans"/>
                <a:sym typeface="Quattrocento Sans"/>
              </a:rPr>
              <a:t>tyre</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No cycle is round</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Some rounds are </a:t>
            </a:r>
            <a:r>
              <a:rPr lang="en-US" sz="1800" dirty="0" err="1">
                <a:solidFill>
                  <a:schemeClr val="dk1"/>
                </a:solidFill>
                <a:latin typeface="Palatino Linotype" panose="02040502050505030304" pitchFamily="18" charset="0"/>
                <a:ea typeface="Quattrocento Sans"/>
                <a:cs typeface="Quattrocento Sans"/>
                <a:sym typeface="Quattrocento Sans"/>
              </a:rPr>
              <a:t>tyres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All cycles are </a:t>
            </a:r>
            <a:r>
              <a:rPr lang="en-US" sz="1800" dirty="0" err="1">
                <a:solidFill>
                  <a:schemeClr val="dk1"/>
                </a:solidFill>
                <a:latin typeface="Palatino Linotype" panose="02040502050505030304" pitchFamily="18" charset="0"/>
                <a:ea typeface="Quattrocento Sans"/>
                <a:cs typeface="Quattrocento Sans"/>
                <a:sym typeface="Quattrocento Sans"/>
              </a:rPr>
              <a:t>tyres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None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None of these</a:t>
            </a:r>
            <a:endParaRPr dirty="0">
              <a:latin typeface="Palatino Linotype" panose="0204050205050503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24"/>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79" name="Google Shape;279;p24"/>
          <p:cNvSpPr/>
          <p:nvPr/>
        </p:nvSpPr>
        <p:spPr>
          <a:xfrm>
            <a:off x="220717" y="937927"/>
            <a:ext cx="10723948" cy="150806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000" b="1" dirty="0">
                <a:solidFill>
                  <a:srgbClr val="000000"/>
                </a:solidFill>
                <a:latin typeface="Palatino Linotype" panose="02040502050505030304" pitchFamily="18" charset="0"/>
                <a:ea typeface="Quattrocento Sans"/>
                <a:cs typeface="Quattrocento Sans"/>
                <a:sym typeface="Quattrocento Sans"/>
              </a:rPr>
              <a:t>Directions (21-28) </a:t>
            </a:r>
            <a:r>
              <a:rPr lang="en-US" sz="2000" dirty="0">
                <a:solidFill>
                  <a:srgbClr val="000000"/>
                </a:solidFill>
                <a:latin typeface="Palatino Linotype" panose="02040502050505030304" pitchFamily="18" charset="0"/>
                <a:ea typeface="Quattrocento Sans"/>
                <a:cs typeface="Quattrocento Sans"/>
                <a:sym typeface="Quattrocento Sans"/>
              </a:rPr>
              <a:t>:</a:t>
            </a:r>
            <a:r>
              <a:rPr lang="en-US" sz="2000" dirty="0">
                <a:solidFill>
                  <a:schemeClr val="dk1"/>
                </a:solidFill>
                <a:latin typeface="Palatino Linotype" panose="02040502050505030304" pitchFamily="18" charset="0"/>
                <a:ea typeface="Quattrocento Sans"/>
                <a:cs typeface="Quattrocento Sans"/>
                <a:sym typeface="Quattrocento Sans"/>
              </a:rPr>
              <a:t> In each of these questions two Conclusions have been given followed by 5 sets of possible Statements. You have to take the given Conclusions to be true even if they seem to be at variance with the commonly known facts and then decide that the Conclusions logically follows for which of the given statements disregarding commonly known facts</a:t>
            </a:r>
            <a:endParaRPr sz="2000" dirty="0">
              <a:solidFill>
                <a:schemeClr val="dk1"/>
              </a:solidFill>
              <a:latin typeface="Palatino Linotype" panose="02040502050505030304" pitchFamily="18" charset="0"/>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87" name="Google Shape;287;p25"/>
          <p:cNvSpPr/>
          <p:nvPr/>
        </p:nvSpPr>
        <p:spPr>
          <a:xfrm>
            <a:off x="443832" y="994156"/>
            <a:ext cx="11426174"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21.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At least some bags are shirts.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None but bags are coats is a possibility.</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Some shirts are coats. some coats are bags. All bags are caps. No caps are shirts.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some coats are shirts. some shirts are bags. some coats are bags .All bags are caps.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All shirts are coats. No coats are caps. All caps are bags. Some coats are bags.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Statements: Some bags are coats. Some coats are cap. some caps are shirts. Some shirts are coats.</a:t>
            </a:r>
            <a:endParaRPr sz="1800" dirty="0">
              <a:solidFill>
                <a:schemeClr val="dk1"/>
              </a:solidFill>
              <a:latin typeface="Palatino Linotype" panose="02040502050505030304" pitchFamily="18" charset="0"/>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6"/>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295" name="Google Shape;295;p26"/>
          <p:cNvSpPr/>
          <p:nvPr/>
        </p:nvSpPr>
        <p:spPr>
          <a:xfrm>
            <a:off x="295422" y="986225"/>
            <a:ext cx="11896578"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22.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At least some films are plays.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multiplex are action.</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Only multiplex are plays. Few multiplex are film. Some plays are action. No action is film.</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All multiplex are plays. No multiplex are films. All plays are action. All films are action.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All multiplex are plays. Some multiplex are films. No film is a action. Some plays are action.</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Statements: Some multiplex are plays. Some multiplex are films. No actions are multiplex. Some plays are action.</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Statements: No action is multiplex. Some multiplex are films. All multiplex are plays. No actions are films. </a:t>
            </a:r>
            <a:r>
              <a:rPr lang="en-US" sz="1800" dirty="0">
                <a:solidFill>
                  <a:schemeClr val="dk1"/>
                </a:solidFill>
                <a:latin typeface="Quattrocento Sans"/>
                <a:ea typeface="Quattrocento Sans"/>
                <a:cs typeface="Quattrocento Sans"/>
                <a:sym typeface="Quattrocento Sans"/>
              </a:rPr>
              <a:t> </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7"/>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03" name="Google Shape;303;p27"/>
          <p:cNvSpPr/>
          <p:nvPr/>
        </p:nvSpPr>
        <p:spPr>
          <a:xfrm>
            <a:off x="295422" y="994156"/>
            <a:ext cx="11335104"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23.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 Some radios are not laptops.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 Almost 50 % radios are signals.</a:t>
            </a:r>
            <a:endParaRPr dirty="0">
              <a:latin typeface="Palatino Linotype" panose="02040502050505030304" pitchFamily="18" charset="0"/>
            </a:endParaRPr>
          </a:p>
          <a:p>
            <a:pPr marL="0" marR="0" lvl="0" indent="0" algn="l" rtl="0">
              <a:spcBef>
                <a:spcPts val="0"/>
              </a:spcBef>
              <a:spcAft>
                <a:spcPts val="0"/>
              </a:spcAft>
              <a:buNone/>
            </a:pP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some radios are laptops. All radios are book. None of these laptops are signals. Some signal is books.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No machines are signals. Some laptops are signals. No signals are book. No radios are laptops.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All signals are radios. Rarely books are radios. No laptops are book. Some books are signals.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Statements: All books are laptops. No laptops are machines. No signals are radios. Some machines are radios.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Both c and d follows.</a:t>
            </a:r>
            <a:endParaRPr dirty="0">
              <a:latin typeface="Palatino Linotype" panose="0204050205050503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8"/>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11" name="Google Shape;311;p28"/>
          <p:cNvSpPr/>
          <p:nvPr/>
        </p:nvSpPr>
        <p:spPr>
          <a:xfrm>
            <a:off x="545432" y="994156"/>
            <a:ext cx="10919737"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24.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At least some kiwis are dry fruits.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bananas are not a dry fruits is a possibility.</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Some cherries are dry fruits. Some dry fruits are kiwis. Some cherries are bananas.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No kiwis are dry fruits. Some dry fruits are cherries. Some cherries are bananas.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All dry fruits are bananas. Some bananas are kiwis. No kiwis  are cherries.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None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Only a and b</a:t>
            </a:r>
            <a:endParaRPr dirty="0">
              <a:latin typeface="Palatino Linotype" panose="0204050205050503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9"/>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19" name="Google Shape;319;p29"/>
          <p:cNvSpPr/>
          <p:nvPr/>
        </p:nvSpPr>
        <p:spPr>
          <a:xfrm>
            <a:off x="545432" y="1080097"/>
            <a:ext cx="11227338" cy="286228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25.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whites are not violet.</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greens are being pink is a possibility.</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yellows being greens is a possibility.</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 All greens are violets. All violets are pink. Some pinks are whites. Some whites are yellows.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 Some violets are pink. Some pink are yellows. All whites are yellows. All greens are pink.</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 Some greens are violet. Some violets are pink. All yellows are greens. No yellow is white.</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 Some greens are violets. Some violets are pink. No violet is white. Some whites are yellow.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0"/>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27" name="Google Shape;327;p30"/>
          <p:cNvSpPr/>
          <p:nvPr/>
        </p:nvSpPr>
        <p:spPr>
          <a:xfrm>
            <a:off x="545432" y="994156"/>
            <a:ext cx="11646568" cy="36932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26.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Tomatoes is pea nuts       </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Tomatoes are not Potatoes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Tomatoes which are Carrot are also oranges is a possibility</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 Some Carrot is Tomatoes. All pea nuts is Carrot. No Potatoes is Carrot. Some pea nuts is oranges.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 Some Carrot is oranges. No Potatoes is pea nuts. All pea nuts is Tomatoes. Some Carrot is Tomatoes.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 No Carrot is potatoes. Some tomatoes are pea nuts. Some Potatoes is pea nuts. Some Potatoes is oranges.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 Some Carrot is Tomatoes. Some pea nuts is Carrot. No Potatoes is Carrot. Some pea nuts is oranges.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1"/>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35" name="Google Shape;335;p31"/>
          <p:cNvSpPr/>
          <p:nvPr/>
        </p:nvSpPr>
        <p:spPr>
          <a:xfrm>
            <a:off x="545432" y="994156"/>
            <a:ext cx="11369903" cy="25853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27.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dusters is marker</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papers are files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books are marker is a possibility</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All books are papers. some papers are marker. No marker are flowers. All files are dusters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All dusters is books. All books are papers. some books are marker. No marker is files.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No books are papers. some dusters are papers. all dusters are files. No marker are files.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Statements: All papers are files. No files are dusters. All books are dusters. All dusters are marker.</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2"/>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43" name="Google Shape;343;p32"/>
          <p:cNvSpPr/>
          <p:nvPr/>
        </p:nvSpPr>
        <p:spPr>
          <a:xfrm>
            <a:off x="295422" y="994156"/>
            <a:ext cx="11619913" cy="286232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28. 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tiger is horse</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monkeys are not zebra</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dogs are not tiger</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Statements: Some tigers are horse. All monkeys are dog. No dog is zebra. No zebra is tiger</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Statements: All tigers are monkey. All monkeys are dog. No dog is horse. some zebra is horse</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Statements: All horses are dog. some zebra are horses. No dog are monkey. All monkey are tiger.</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Statements: some horses are dog. All dogs are zebra. No zebra is tiger. some tiger is monkey.</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3"/>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51" name="Google Shape;351;p33"/>
          <p:cNvSpPr/>
          <p:nvPr/>
        </p:nvSpPr>
        <p:spPr>
          <a:xfrm>
            <a:off x="220717" y="937927"/>
            <a:ext cx="10723948" cy="2640723"/>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400" b="1" dirty="0">
                <a:solidFill>
                  <a:schemeClr val="dk1"/>
                </a:solidFill>
                <a:latin typeface="Palatino Linotype" panose="02040502050505030304" pitchFamily="18" charset="0"/>
                <a:ea typeface="Quattrocento Sans"/>
                <a:cs typeface="Quattrocento Sans"/>
                <a:sym typeface="Quattrocento Sans"/>
              </a:rPr>
              <a:t>Direction (29-30): </a:t>
            </a:r>
            <a:r>
              <a:rPr lang="en-US" sz="2400" dirty="0">
                <a:solidFill>
                  <a:schemeClr val="dk1"/>
                </a:solidFill>
                <a:latin typeface="Palatino Linotype" panose="02040502050505030304" pitchFamily="18" charset="0"/>
                <a:ea typeface="Quattrocento Sans"/>
                <a:cs typeface="Quattrocento Sans"/>
                <a:sym typeface="Quattrocento Sans"/>
              </a:rPr>
              <a:t>In each of the following questions three/four statements are given and these statements are followed by four conclusions numbered (I) , (II) , (III) and (IV) . You have to take the given two statements to be true even if they seem to be at variance from commonly known facts. Read the conclusions and then decide which of the given conclusions logically follows from the given statements. Disregarding commonly known facts.</a:t>
            </a:r>
            <a:endParaRPr sz="2400" dirty="0">
              <a:solidFill>
                <a:schemeClr val="dk1"/>
              </a:solidFill>
              <a:latin typeface="Palatino Linotype" panose="02040502050505030304" pitchFamily="18" charset="0"/>
              <a:ea typeface="Quattrocento Sans"/>
              <a:cs typeface="Quattrocento Sans"/>
              <a:sym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4"/>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59" name="Google Shape;359;p34"/>
          <p:cNvSpPr/>
          <p:nvPr/>
        </p:nvSpPr>
        <p:spPr>
          <a:xfrm>
            <a:off x="295422" y="994156"/>
            <a:ext cx="11619913"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29) Statements: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No car is bus.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train are car.</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trucks are buses</a:t>
            </a:r>
            <a:endParaRPr dirty="0">
              <a:latin typeface="Palatino Linotype" panose="02040502050505030304" pitchFamily="18" charset="0"/>
            </a:endParaRPr>
          </a:p>
          <a:p>
            <a:pPr marL="0" marR="0" lvl="0" indent="0" algn="l" rtl="0">
              <a:spcBef>
                <a:spcPts val="0"/>
              </a:spcBef>
              <a:spcAft>
                <a:spcPts val="0"/>
              </a:spcAft>
              <a:buNone/>
            </a:pPr>
            <a:endParaRPr sz="1800" b="1"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All train being bus is a possibility</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trucks are not buses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No train is bus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Some trucks are car is a possibility</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conclusion 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conclusion I and III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conclusion I, III and IV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5"/>
          <p:cNvSpPr/>
          <p:nvPr/>
        </p:nvSpPr>
        <p:spPr>
          <a:xfrm>
            <a:off x="545432" y="994156"/>
            <a:ext cx="1108509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Times New Roman"/>
                <a:ea typeface="Times New Roman"/>
                <a:cs typeface="Times New Roman"/>
                <a:sym typeface="Times New Roman"/>
              </a:rPr>
              <a:t> </a:t>
            </a:r>
            <a:endParaRPr/>
          </a:p>
        </p:txBody>
      </p:sp>
      <p:sp>
        <p:nvSpPr>
          <p:cNvPr id="367" name="Google Shape;367;p35"/>
          <p:cNvSpPr/>
          <p:nvPr/>
        </p:nvSpPr>
        <p:spPr>
          <a:xfrm>
            <a:off x="295422" y="994156"/>
            <a:ext cx="11619913" cy="424731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30) Statements: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Some rooms are window.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windows are door.</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All rooms are building.</a:t>
            </a:r>
            <a:endParaRPr dirty="0">
              <a:latin typeface="Palatino Linotype" panose="02040502050505030304" pitchFamily="18" charset="0"/>
            </a:endParaRPr>
          </a:p>
          <a:p>
            <a:pPr marL="0" marR="0" lvl="0" indent="0" algn="l" rtl="0">
              <a:spcBef>
                <a:spcPts val="0"/>
              </a:spcBef>
              <a:spcAft>
                <a:spcPts val="0"/>
              </a:spcAft>
              <a:buNone/>
            </a:pPr>
            <a:r>
              <a:rPr lang="en-US" sz="1800" b="1" dirty="0">
                <a:solidFill>
                  <a:schemeClr val="dk1"/>
                </a:solidFill>
                <a:latin typeface="Palatino Linotype" panose="02040502050505030304" pitchFamily="18" charset="0"/>
                <a:ea typeface="Quattrocento Sans"/>
                <a:cs typeface="Quattrocento Sans"/>
                <a:sym typeface="Quattrocento Sans"/>
              </a:rPr>
              <a:t>Conclusions:</a:t>
            </a: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 some buildings may be part of windows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 Some buildings are not window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III) All building are doors is a possibility</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IV) All rooms which are buildings are also windows</a:t>
            </a:r>
            <a:endParaRPr dirty="0">
              <a:latin typeface="Palatino Linotype" panose="02040502050505030304" pitchFamily="18" charset="0"/>
            </a:endParaRPr>
          </a:p>
          <a:p>
            <a:pPr marL="0" marR="0" lvl="0" indent="0" algn="l" rtl="0">
              <a:spcBef>
                <a:spcPts val="0"/>
              </a:spcBef>
              <a:spcAft>
                <a:spcPts val="0"/>
              </a:spcAft>
              <a:buNone/>
            </a:pPr>
            <a:endParaRPr sz="1800" dirty="0">
              <a:solidFill>
                <a:schemeClr val="dk1"/>
              </a:solidFill>
              <a:latin typeface="Palatino Linotype" panose="02040502050505030304" pitchFamily="18" charset="0"/>
              <a:ea typeface="Quattrocento Sans"/>
              <a:cs typeface="Quattrocento Sans"/>
              <a:sym typeface="Quattrocento Sans"/>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A. Only conclusion 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B. Only conclusion III follows</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C. Only conclusion I, III and IV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D. Only II follow</a:t>
            </a:r>
            <a:endParaRPr dirty="0">
              <a:latin typeface="Palatino Linotype" panose="02040502050505030304" pitchFamily="18" charset="0"/>
            </a:endParaRPr>
          </a:p>
          <a:p>
            <a:pPr marL="0" marR="0" lvl="0" indent="0" algn="l" rtl="0">
              <a:spcBef>
                <a:spcPts val="0"/>
              </a:spcBef>
              <a:spcAft>
                <a:spcPts val="0"/>
              </a:spcAft>
              <a:buNone/>
            </a:pPr>
            <a:r>
              <a:rPr lang="en-US" sz="1800" dirty="0">
                <a:solidFill>
                  <a:schemeClr val="dk1"/>
                </a:solidFill>
                <a:latin typeface="Palatino Linotype" panose="02040502050505030304" pitchFamily="18" charset="0"/>
                <a:ea typeface="Quattrocento Sans"/>
                <a:cs typeface="Quattrocento Sans"/>
                <a:sym typeface="Quattrocento Sans"/>
              </a:rPr>
              <a:t>E. None of these</a:t>
            </a:r>
            <a:endParaRPr dirty="0">
              <a:latin typeface="Palatino Linotype" panose="0204050205050503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4" name="Google Shape;374;p36"/>
          <p:cNvSpPr/>
          <p:nvPr/>
        </p:nvSpPr>
        <p:spPr>
          <a:xfrm>
            <a:off x="3724201" y="2967335"/>
            <a:ext cx="4743606"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cap="none">
                <a:solidFill>
                  <a:srgbClr val="C2CCF3"/>
                </a:solidFill>
                <a:latin typeface="Palatino Linotype"/>
                <a:ea typeface="Palatino Linotype"/>
                <a:cs typeface="Palatino Linotype"/>
                <a:sym typeface="Palatino Linotype"/>
              </a:rPr>
              <a:t>Any </a:t>
            </a:r>
            <a:r>
              <a:rPr lang="en-US" sz="5400" b="1" cap="none">
                <a:solidFill>
                  <a:srgbClr val="C2CCF3"/>
                </a:solidFill>
                <a:latin typeface="Times New Roman"/>
                <a:ea typeface="Times New Roman"/>
                <a:cs typeface="Times New Roman"/>
                <a:sym typeface="Times New Roman"/>
              </a:rPr>
              <a:t>Doubts</a:t>
            </a:r>
            <a:r>
              <a:rPr lang="en-US" sz="5400" b="1" cap="none">
                <a:solidFill>
                  <a:srgbClr val="C2CCF3"/>
                </a:solidFill>
                <a:latin typeface="Palatino Linotype"/>
                <a:ea typeface="Palatino Linotype"/>
                <a:cs typeface="Palatino Linotype"/>
                <a:sym typeface="Palatino Linotype"/>
              </a:rPr>
              <a:t>???</a:t>
            </a:r>
            <a:endParaRPr sz="5400" b="1" cap="none">
              <a:solidFill>
                <a:srgbClr val="C2CCF3"/>
              </a:solidFill>
              <a:latin typeface="Palatino Linotype"/>
              <a:ea typeface="Palatino Linotype"/>
              <a:cs typeface="Palatino Linotype"/>
              <a:sym typeface="Palatino Linotyp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1654</Words>
  <Application>Microsoft Office PowerPoint</Application>
  <PresentationFormat>Custom</PresentationFormat>
  <Paragraphs>450</Paragraphs>
  <Slides>36</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Arial</vt:lpstr>
      <vt:lpstr>Calibri</vt:lpstr>
      <vt:lpstr>Quattrocento Sans</vt:lpstr>
      <vt:lpstr>Libre Franklin</vt:lpstr>
      <vt:lpstr>Times New Roman</vt:lpstr>
      <vt:lpstr>Palatino Linotype</vt:lpstr>
      <vt:lpstr>Office Theme</vt:lpstr>
      <vt:lpstr>Syllogism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Syllogism  L-2 </dc:title>
  <dc:creator>cu</dc:creator>
  <cp:lastModifiedBy>Dell</cp:lastModifiedBy>
  <cp:revision>4</cp:revision>
  <dcterms:created xsi:type="dcterms:W3CDTF">2017-07-13T07:57:18Z</dcterms:created>
  <dcterms:modified xsi:type="dcterms:W3CDTF">2025-08-08T11:05:48Z</dcterms:modified>
</cp:coreProperties>
</file>