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36"/>
  </p:notesMasterIdLst>
  <p:sldIdLst>
    <p:sldId id="536" r:id="rId2"/>
    <p:sldId id="548" r:id="rId3"/>
    <p:sldId id="537" r:id="rId4"/>
    <p:sldId id="538" r:id="rId5"/>
    <p:sldId id="539" r:id="rId6"/>
    <p:sldId id="540" r:id="rId7"/>
    <p:sldId id="541" r:id="rId8"/>
    <p:sldId id="542" r:id="rId9"/>
    <p:sldId id="544" r:id="rId10"/>
    <p:sldId id="543" r:id="rId11"/>
    <p:sldId id="545" r:id="rId12"/>
    <p:sldId id="546" r:id="rId13"/>
    <p:sldId id="547" r:id="rId14"/>
    <p:sldId id="514" r:id="rId15"/>
    <p:sldId id="518" r:id="rId16"/>
    <p:sldId id="414" r:id="rId17"/>
    <p:sldId id="515" r:id="rId18"/>
    <p:sldId id="493" r:id="rId19"/>
    <p:sldId id="434" r:id="rId20"/>
    <p:sldId id="501" r:id="rId21"/>
    <p:sldId id="417" r:id="rId22"/>
    <p:sldId id="521" r:id="rId23"/>
    <p:sldId id="440" r:id="rId24"/>
    <p:sldId id="530" r:id="rId25"/>
    <p:sldId id="525" r:id="rId26"/>
    <p:sldId id="416" r:id="rId27"/>
    <p:sldId id="526" r:id="rId28"/>
    <p:sldId id="438" r:id="rId29"/>
    <p:sldId id="527" r:id="rId30"/>
    <p:sldId id="528" r:id="rId31"/>
    <p:sldId id="529" r:id="rId32"/>
    <p:sldId id="532" r:id="rId33"/>
    <p:sldId id="533" r:id="rId34"/>
    <p:sldId id="33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94" autoAdjust="0"/>
    <p:restoredTop sz="93980" autoAdjust="0"/>
  </p:normalViewPr>
  <p:slideViewPr>
    <p:cSldViewPr snapToGrid="0">
      <p:cViewPr varScale="1">
        <p:scale>
          <a:sx n="88" d="100"/>
          <a:sy n="88" d="100"/>
        </p:scale>
        <p:origin x="84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46A4F-F976-47AD-9E0B-DEB8B87FF1C7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E5F1C-18F0-46A8-B179-598C90B80A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fld id="{6B029315-C2A3-4D1A-B777-21829B87B0BA}" type="slidenum">
              <a:rPr lang="en-US" altLang="en-US">
                <a:latin typeface="Comic Sans MS" pitchFamily="66" charset="0"/>
              </a:rPr>
              <a:pPr/>
              <a:t>4</a:t>
            </a:fld>
            <a:endParaRPr lang="en-US" altLang="en-US">
              <a:latin typeface="Comic Sans MS" pitchFamily="66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fld id="{9D55B1DF-32F7-4F53-AA51-FA36F8C15E8F}" type="slidenum">
              <a:rPr lang="en-US" altLang="en-US">
                <a:latin typeface="Comic Sans MS" pitchFamily="66" charset="0"/>
              </a:rPr>
              <a:pPr/>
              <a:t>5</a:t>
            </a:fld>
            <a:endParaRPr lang="en-US" altLang="en-US">
              <a:latin typeface="Comic Sans MS" pitchFamily="66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fld id="{86C7A9EE-A134-4867-98A4-BB0CA54C7F9D}" type="slidenum">
              <a:rPr lang="en-US" altLang="en-US">
                <a:latin typeface="Comic Sans MS" pitchFamily="66" charset="0"/>
              </a:rPr>
              <a:pPr/>
              <a:t>6</a:t>
            </a:fld>
            <a:endParaRPr lang="en-US" altLang="en-US">
              <a:latin typeface="Comic Sans MS" pitchFamily="66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fld id="{AFDD3E53-9873-4ABC-9FF3-D761D2AD78BB}" type="slidenum">
              <a:rPr lang="en-US" altLang="en-US">
                <a:latin typeface="Comic Sans MS" pitchFamily="66" charset="0"/>
              </a:rPr>
              <a:pPr/>
              <a:t>7</a:t>
            </a:fld>
            <a:endParaRPr lang="en-US" altLang="en-US">
              <a:latin typeface="Comic Sans MS" pitchFamily="66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lang="en-US" baseline="0" dirty="0"/>
              <a:t> </a:t>
            </a:r>
            <a:r>
              <a:rPr lang="en-US" baseline="0" dirty="0" err="1"/>
              <a:t>hrs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35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240 km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3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Difficulty </a:t>
            </a:r>
            <a:r>
              <a:rPr lang="en-US" dirty="0" err="1"/>
              <a:t>Level:Easy</a:t>
            </a:r>
            <a:r>
              <a:rPr lang="en-US" dirty="0"/>
              <a:t> (Compulsory)</a:t>
            </a:r>
          </a:p>
          <a:p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93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Difficulty </a:t>
            </a:r>
            <a:r>
              <a:rPr lang="en-US" dirty="0" err="1"/>
              <a:t>Level:Easy</a:t>
            </a:r>
            <a:r>
              <a:rPr lang="en-US" dirty="0"/>
              <a:t> (Optional)</a:t>
            </a:r>
          </a:p>
          <a:p>
            <a:r>
              <a:rPr lang="en-US" dirty="0"/>
              <a:t>Correct</a:t>
            </a:r>
            <a:r>
              <a:rPr lang="en-US" baseline="0" dirty="0"/>
              <a:t> </a:t>
            </a:r>
            <a:r>
              <a:rPr lang="en-US" baseline="0" dirty="0" err="1"/>
              <a:t>Option:A</a:t>
            </a:r>
            <a:endParaRPr lang="en-US" baseline="0" dirty="0"/>
          </a:p>
          <a:p>
            <a:r>
              <a:rPr lang="en-US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88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Dificulty</a:t>
            </a:r>
            <a:r>
              <a:rPr lang="en-US" dirty="0"/>
              <a:t> </a:t>
            </a:r>
            <a:r>
              <a:rPr lang="en-US" dirty="0" err="1"/>
              <a:t>Level:Easy</a:t>
            </a:r>
            <a:r>
              <a:rPr lang="en-US" dirty="0"/>
              <a:t> (Compulsory)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D </a:t>
            </a:r>
            <a:r>
              <a:rPr lang="en-US" dirty="0"/>
              <a:t>(Optional)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10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Difficulty level : Easy (Compulsory)</a:t>
            </a:r>
          </a:p>
          <a:p>
            <a:r>
              <a:rPr lang="en-US" dirty="0"/>
              <a:t>Option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93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 </a:t>
            </a:r>
            <a:r>
              <a:rPr lang="en-US" dirty="0"/>
              <a:t>(Compulsory)</a:t>
            </a:r>
          </a:p>
          <a:p>
            <a:br>
              <a:rPr lang="en-US" dirty="0"/>
            </a:br>
            <a:br>
              <a:rPr lang="en-US" dirty="0"/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Difficulty level : Easy (Compulsory)</a:t>
            </a:r>
          </a:p>
          <a:p>
            <a:r>
              <a:rPr lang="en-US" dirty="0"/>
              <a:t>Option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98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C </a:t>
            </a:r>
            <a:r>
              <a:rPr lang="en-US" dirty="0"/>
              <a:t>(Compulsory)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D) </a:t>
            </a:r>
            <a:r>
              <a:rPr lang="en-US" dirty="0"/>
              <a:t>(Optional)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C) </a:t>
            </a:r>
            <a:r>
              <a:rPr lang="en-US" dirty="0"/>
              <a:t>(Optional)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 </a:t>
            </a:r>
            <a:r>
              <a:rPr lang="en-US" dirty="0"/>
              <a:t>(Optional)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D </a:t>
            </a:r>
            <a:r>
              <a:rPr lang="en-US" dirty="0"/>
              <a:t>(Optional)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C </a:t>
            </a:r>
            <a:r>
              <a:rPr lang="en-US" dirty="0"/>
              <a:t>(Optional)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C) </a:t>
            </a:r>
            <a:r>
              <a:rPr lang="en-US" dirty="0"/>
              <a:t>(Compulsory)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C) </a:t>
            </a:r>
            <a:r>
              <a:rPr lang="en-US" dirty="0"/>
              <a:t>(Compulsory)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C) </a:t>
            </a:r>
            <a:r>
              <a:rPr lang="en-US" dirty="0"/>
              <a:t>(Compulsory)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B) 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B) 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</a:t>
            </a:r>
            <a:r>
              <a:rPr lang="en-US" baseline="0" dirty="0"/>
              <a:t> Option: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2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8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72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0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4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0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1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6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0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7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6E1B-5CD6-457E-B12E-40DB70920123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4" y="0"/>
            <a:ext cx="11957538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5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7200">
                <a:latin typeface="Algerian" pitchFamily="82" charset="0"/>
                <a:ea typeface="Aharoni" pitchFamily="2" charset="0"/>
                <a:cs typeface="Aharoni" pitchFamily="2" charset="0"/>
              </a:rPr>
              <a:t>Time Speed </a:t>
            </a:r>
            <a:br>
              <a:rPr lang="en-US" altLang="en-US" sz="7200">
                <a:latin typeface="Algerian" pitchFamily="82" charset="0"/>
                <a:ea typeface="Aharoni" pitchFamily="2" charset="0"/>
                <a:cs typeface="Aharoni" pitchFamily="2" charset="0"/>
              </a:rPr>
            </a:br>
            <a:r>
              <a:rPr lang="en-US" altLang="en-US" sz="7200">
                <a:latin typeface="Algerian" pitchFamily="82" charset="0"/>
                <a:ea typeface="Aharoni" pitchFamily="2" charset="0"/>
                <a:cs typeface="Aharoni" pitchFamily="2" charset="0"/>
              </a:rPr>
              <a:t>And </a:t>
            </a:r>
            <a:br>
              <a:rPr lang="en-US" altLang="en-US" sz="7200">
                <a:latin typeface="Algerian" pitchFamily="82" charset="0"/>
                <a:ea typeface="Aharoni" pitchFamily="2" charset="0"/>
                <a:cs typeface="Aharoni" pitchFamily="2" charset="0"/>
              </a:rPr>
            </a:br>
            <a:r>
              <a:rPr lang="en-US" altLang="en-US" sz="7200">
                <a:latin typeface="Algerian" pitchFamily="82" charset="0"/>
                <a:ea typeface="Aharoni" pitchFamily="2" charset="0"/>
                <a:cs typeface="Aharoni" pitchFamily="2" charset="0"/>
              </a:rPr>
              <a:t>Distance</a:t>
            </a:r>
          </a:p>
        </p:txBody>
      </p:sp>
    </p:spTree>
    <p:extLst>
      <p:ext uri="{BB962C8B-B14F-4D97-AF65-F5344CB8AC3E}">
        <p14:creationId xmlns:p14="http://schemas.microsoft.com/office/powerpoint/2010/main" val="25053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5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859809" y="2116778"/>
            <a:ext cx="10363200" cy="1470025"/>
          </a:xfrm>
        </p:spPr>
        <p:txBody>
          <a:bodyPr>
            <a:normAutofit fontScale="90000"/>
          </a:bodyPr>
          <a:lstStyle/>
          <a:p>
            <a:pPr lvl="0" algn="l"/>
            <a:r>
              <a:rPr lang="en-US" altLang="en-US" sz="4900" u="sng" dirty="0">
                <a:latin typeface="Algerian" pitchFamily="82" charset="0"/>
                <a:ea typeface="Aharoni" pitchFamily="2" charset="0"/>
                <a:cs typeface="Aharoni" pitchFamily="2" charset="0"/>
              </a:rPr>
              <a:t>Subtopics:</a:t>
            </a:r>
            <a:br>
              <a:rPr lang="en-US" altLang="en-US" sz="2400" dirty="0">
                <a:latin typeface="Algerian" pitchFamily="82" charset="0"/>
                <a:ea typeface="Aharoni" pitchFamily="2" charset="0"/>
                <a:cs typeface="Aharoni" pitchFamily="2" charset="0"/>
              </a:rPr>
            </a:br>
            <a:r>
              <a:rPr lang="en-US" sz="4000" b="0" i="0" u="none" dirty="0">
                <a:latin typeface="Times New Roman" pitchFamily="18" charset="0"/>
                <a:cs typeface="Times New Roman" pitchFamily="18" charset="0"/>
              </a:rPr>
              <a:t>Relation between time, speed and distance, Conversion of speed</a:t>
            </a:r>
            <a:b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0" i="0" u="none" dirty="0">
                <a:latin typeface="Times New Roman" pitchFamily="18" charset="0"/>
                <a:cs typeface="Times New Roman" pitchFamily="18" charset="0"/>
              </a:rPr>
              <a:t>Concept of average speed</a:t>
            </a:r>
            <a:b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Concept of Relative Speed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0" i="0" u="none" dirty="0">
                <a:latin typeface="Times New Roman" pitchFamily="18" charset="0"/>
                <a:cs typeface="Times New Roman" pitchFamily="18" charset="0"/>
              </a:rPr>
              <a:t>Concept of Distance Constant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en-US" altLang="en-US" sz="4000" dirty="0">
              <a:latin typeface="Algerian" pitchFamily="82" charset="0"/>
              <a:ea typeface="Aharoni" pitchFamily="2" charset="0"/>
              <a:cs typeface="Aharon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43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6400" y="674689"/>
            <a:ext cx="108712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The 3 formulas for Speed, Time &amp; Distance:</a:t>
            </a:r>
          </a:p>
        </p:txBody>
      </p:sp>
      <p:grpSp>
        <p:nvGrpSpPr>
          <p:cNvPr id="5143" name="Group 23"/>
          <p:cNvGrpSpPr>
            <a:grpSpLocks/>
          </p:cNvGrpSpPr>
          <p:nvPr/>
        </p:nvGrpSpPr>
        <p:grpSpPr bwMode="auto">
          <a:xfrm>
            <a:off x="304800" y="1371600"/>
            <a:ext cx="3657600" cy="1524000"/>
            <a:chOff x="144" y="1584"/>
            <a:chExt cx="1728" cy="960"/>
          </a:xfrm>
        </p:grpSpPr>
        <p:grpSp>
          <p:nvGrpSpPr>
            <p:cNvPr id="4125" name="Group 12"/>
            <p:cNvGrpSpPr>
              <a:grpSpLocks/>
            </p:cNvGrpSpPr>
            <p:nvPr/>
          </p:nvGrpSpPr>
          <p:grpSpPr bwMode="auto">
            <a:xfrm>
              <a:off x="192" y="1728"/>
              <a:ext cx="1680" cy="490"/>
              <a:chOff x="720" y="1824"/>
              <a:chExt cx="1680" cy="490"/>
            </a:xfrm>
          </p:grpSpPr>
          <p:sp>
            <p:nvSpPr>
              <p:cNvPr id="4127" name="Text Box 8"/>
              <p:cNvSpPr txBox="1">
                <a:spLocks noChangeArrowheads="1"/>
              </p:cNvSpPr>
              <p:nvPr/>
            </p:nvSpPr>
            <p:spPr bwMode="auto">
              <a:xfrm>
                <a:off x="720" y="1968"/>
                <a:ext cx="8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rgbClr val="A50021"/>
                    </a:solidFill>
                    <a:latin typeface="Comic Sans MS" pitchFamily="66" charset="0"/>
                  </a:rPr>
                  <a:t>Speed</a:t>
                </a:r>
                <a:r>
                  <a:rPr lang="en-GB" altLang="en-US" sz="2000">
                    <a:latin typeface="Comic Sans MS" pitchFamily="66" charset="0"/>
                  </a:rPr>
                  <a:t> = </a:t>
                </a:r>
              </a:p>
            </p:txBody>
          </p:sp>
          <p:sp>
            <p:nvSpPr>
              <p:cNvPr id="4128" name="Text Box 9"/>
              <p:cNvSpPr txBox="1">
                <a:spLocks noChangeArrowheads="1"/>
              </p:cNvSpPr>
              <p:nvPr/>
            </p:nvSpPr>
            <p:spPr bwMode="auto">
              <a:xfrm>
                <a:off x="1392" y="182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1"/>
                    </a:solidFill>
                    <a:latin typeface="Comic Sans MS" pitchFamily="66" charset="0"/>
                  </a:rPr>
                  <a:t>Distance</a:t>
                </a:r>
              </a:p>
            </p:txBody>
          </p:sp>
          <p:sp>
            <p:nvSpPr>
              <p:cNvPr id="4129" name="Text Box 10"/>
              <p:cNvSpPr txBox="1">
                <a:spLocks noChangeArrowheads="1"/>
              </p:cNvSpPr>
              <p:nvPr/>
            </p:nvSpPr>
            <p:spPr bwMode="auto">
              <a:xfrm>
                <a:off x="1488" y="2064"/>
                <a:ext cx="9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2"/>
                    </a:solidFill>
                    <a:latin typeface="Comic Sans MS" pitchFamily="66" charset="0"/>
                  </a:rPr>
                  <a:t>Time</a:t>
                </a:r>
                <a:endParaRPr lang="en-GB" altLang="en-US" sz="2000">
                  <a:latin typeface="Comic Sans MS" pitchFamily="66" charset="0"/>
                </a:endParaRPr>
              </a:p>
            </p:txBody>
          </p:sp>
          <p:sp>
            <p:nvSpPr>
              <p:cNvPr id="4130" name="Line 11"/>
              <p:cNvSpPr>
                <a:spLocks noChangeShapeType="1"/>
              </p:cNvSpPr>
              <p:nvPr/>
            </p:nvSpPr>
            <p:spPr bwMode="auto">
              <a:xfrm>
                <a:off x="1440" y="2064"/>
                <a:ext cx="7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26" name="Rectangle 22"/>
            <p:cNvSpPr>
              <a:spLocks noChangeArrowheads="1"/>
            </p:cNvSpPr>
            <p:nvPr/>
          </p:nvSpPr>
          <p:spPr bwMode="auto">
            <a:xfrm>
              <a:off x="144" y="1584"/>
              <a:ext cx="1680" cy="9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</p:grpSp>
      <p:grpSp>
        <p:nvGrpSpPr>
          <p:cNvPr id="5145" name="Group 25"/>
          <p:cNvGrpSpPr>
            <a:grpSpLocks/>
          </p:cNvGrpSpPr>
          <p:nvPr/>
        </p:nvGrpSpPr>
        <p:grpSpPr bwMode="auto">
          <a:xfrm>
            <a:off x="4165600" y="1374776"/>
            <a:ext cx="3454400" cy="1520825"/>
            <a:chOff x="1968" y="1632"/>
            <a:chExt cx="1632" cy="912"/>
          </a:xfrm>
        </p:grpSpPr>
        <p:grpSp>
          <p:nvGrpSpPr>
            <p:cNvPr id="4119" name="Group 19"/>
            <p:cNvGrpSpPr>
              <a:grpSpLocks/>
            </p:cNvGrpSpPr>
            <p:nvPr/>
          </p:nvGrpSpPr>
          <p:grpSpPr bwMode="auto">
            <a:xfrm>
              <a:off x="2016" y="1728"/>
              <a:ext cx="1584" cy="478"/>
              <a:chOff x="2304" y="2112"/>
              <a:chExt cx="1584" cy="478"/>
            </a:xfrm>
          </p:grpSpPr>
          <p:sp>
            <p:nvSpPr>
              <p:cNvPr id="4121" name="Text Box 13"/>
              <p:cNvSpPr txBox="1">
                <a:spLocks noChangeArrowheads="1"/>
              </p:cNvSpPr>
              <p:nvPr/>
            </p:nvSpPr>
            <p:spPr bwMode="auto">
              <a:xfrm>
                <a:off x="2304" y="2256"/>
                <a:ext cx="91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2"/>
                    </a:solidFill>
                    <a:latin typeface="Comic Sans MS" pitchFamily="66" charset="0"/>
                  </a:rPr>
                  <a:t>Time</a:t>
                </a:r>
                <a:r>
                  <a:rPr lang="en-GB" altLang="en-US" sz="2000">
                    <a:latin typeface="Comic Sans MS" pitchFamily="66" charset="0"/>
                  </a:rPr>
                  <a:t> = </a:t>
                </a:r>
              </a:p>
            </p:txBody>
          </p:sp>
          <p:sp>
            <p:nvSpPr>
              <p:cNvPr id="4122" name="Text Box 14"/>
              <p:cNvSpPr txBox="1">
                <a:spLocks noChangeArrowheads="1"/>
              </p:cNvSpPr>
              <p:nvPr/>
            </p:nvSpPr>
            <p:spPr bwMode="auto">
              <a:xfrm>
                <a:off x="2880" y="2112"/>
                <a:ext cx="1008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1"/>
                    </a:solidFill>
                    <a:latin typeface="Comic Sans MS" pitchFamily="66" charset="0"/>
                  </a:rPr>
                  <a:t>Distance</a:t>
                </a:r>
                <a:endParaRPr lang="en-GB" altLang="en-US" sz="2000">
                  <a:latin typeface="Comic Sans MS" pitchFamily="66" charset="0"/>
                </a:endParaRPr>
              </a:p>
            </p:txBody>
          </p:sp>
          <p:sp>
            <p:nvSpPr>
              <p:cNvPr id="4123" name="Text Box 16"/>
              <p:cNvSpPr txBox="1">
                <a:spLocks noChangeArrowheads="1"/>
              </p:cNvSpPr>
              <p:nvPr/>
            </p:nvSpPr>
            <p:spPr bwMode="auto">
              <a:xfrm>
                <a:off x="2928" y="2352"/>
                <a:ext cx="72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rgbClr val="A50021"/>
                    </a:solidFill>
                    <a:latin typeface="Comic Sans MS" pitchFamily="66" charset="0"/>
                  </a:rPr>
                  <a:t>Speed</a:t>
                </a:r>
                <a:endParaRPr lang="en-GB" altLang="en-US" sz="2000">
                  <a:latin typeface="Comic Sans MS" pitchFamily="66" charset="0"/>
                </a:endParaRPr>
              </a:p>
            </p:txBody>
          </p:sp>
          <p:sp>
            <p:nvSpPr>
              <p:cNvPr id="4124" name="Line 18"/>
              <p:cNvSpPr>
                <a:spLocks noChangeShapeType="1"/>
              </p:cNvSpPr>
              <p:nvPr/>
            </p:nvSpPr>
            <p:spPr bwMode="auto">
              <a:xfrm>
                <a:off x="2928" y="2352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20" name="Rectangle 24"/>
            <p:cNvSpPr>
              <a:spLocks noChangeArrowheads="1"/>
            </p:cNvSpPr>
            <p:nvPr/>
          </p:nvSpPr>
          <p:spPr bwMode="auto">
            <a:xfrm>
              <a:off x="1968" y="1632"/>
              <a:ext cx="1488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</p:grpSp>
      <p:grpSp>
        <p:nvGrpSpPr>
          <p:cNvPr id="5147" name="Group 27"/>
          <p:cNvGrpSpPr>
            <a:grpSpLocks/>
          </p:cNvGrpSpPr>
          <p:nvPr/>
        </p:nvGrpSpPr>
        <p:grpSpPr bwMode="auto">
          <a:xfrm>
            <a:off x="7620000" y="1374776"/>
            <a:ext cx="4572000" cy="1520825"/>
            <a:chOff x="3600" y="1632"/>
            <a:chExt cx="2160" cy="912"/>
          </a:xfrm>
        </p:grpSpPr>
        <p:grpSp>
          <p:nvGrpSpPr>
            <p:cNvPr id="4114" name="Group 21"/>
            <p:cNvGrpSpPr>
              <a:grpSpLocks/>
            </p:cNvGrpSpPr>
            <p:nvPr/>
          </p:nvGrpSpPr>
          <p:grpSpPr bwMode="auto">
            <a:xfrm>
              <a:off x="3648" y="1824"/>
              <a:ext cx="2112" cy="238"/>
              <a:chOff x="3648" y="1824"/>
              <a:chExt cx="2112" cy="238"/>
            </a:xfrm>
          </p:grpSpPr>
          <p:sp>
            <p:nvSpPr>
              <p:cNvPr id="4116" name="Text Box 15"/>
              <p:cNvSpPr txBox="1">
                <a:spLocks noChangeArrowheads="1"/>
              </p:cNvSpPr>
              <p:nvPr/>
            </p:nvSpPr>
            <p:spPr bwMode="auto">
              <a:xfrm>
                <a:off x="3648" y="1824"/>
                <a:ext cx="1008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1"/>
                    </a:solidFill>
                    <a:latin typeface="Comic Sans MS" pitchFamily="66" charset="0"/>
                  </a:rPr>
                  <a:t>Distance</a:t>
                </a:r>
                <a:r>
                  <a:rPr lang="en-GB" altLang="en-US" sz="2000">
                    <a:latin typeface="Comic Sans MS" pitchFamily="66" charset="0"/>
                  </a:rPr>
                  <a:t> =</a:t>
                </a:r>
              </a:p>
            </p:txBody>
          </p:sp>
          <p:sp>
            <p:nvSpPr>
              <p:cNvPr id="4117" name="Text Box 17"/>
              <p:cNvSpPr txBox="1">
                <a:spLocks noChangeArrowheads="1"/>
              </p:cNvSpPr>
              <p:nvPr/>
            </p:nvSpPr>
            <p:spPr bwMode="auto">
              <a:xfrm>
                <a:off x="4464" y="1824"/>
                <a:ext cx="91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rgbClr val="A50021"/>
                    </a:solidFill>
                    <a:latin typeface="Comic Sans MS" pitchFamily="66" charset="0"/>
                  </a:rPr>
                  <a:t>Speed</a:t>
                </a:r>
                <a:r>
                  <a:rPr lang="en-GB" altLang="en-US" sz="2000">
                    <a:latin typeface="Comic Sans MS" pitchFamily="66" charset="0"/>
                  </a:rPr>
                  <a:t> x </a:t>
                </a:r>
              </a:p>
            </p:txBody>
          </p:sp>
          <p:sp>
            <p:nvSpPr>
              <p:cNvPr id="4118" name="Text Box 20"/>
              <p:cNvSpPr txBox="1">
                <a:spLocks noChangeArrowheads="1"/>
              </p:cNvSpPr>
              <p:nvPr/>
            </p:nvSpPr>
            <p:spPr bwMode="auto">
              <a:xfrm>
                <a:off x="5136" y="1824"/>
                <a:ext cx="624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accent2"/>
                    </a:solidFill>
                    <a:latin typeface="Comic Sans MS" pitchFamily="66" charset="0"/>
                  </a:rPr>
                  <a:t>Time</a:t>
                </a:r>
                <a:endParaRPr lang="en-GB" altLang="en-US" sz="2000">
                  <a:latin typeface="Comic Sans MS" pitchFamily="66" charset="0"/>
                </a:endParaRPr>
              </a:p>
            </p:txBody>
          </p:sp>
        </p:grpSp>
        <p:sp>
          <p:nvSpPr>
            <p:cNvPr id="4115" name="Rectangle 26"/>
            <p:cNvSpPr>
              <a:spLocks noChangeArrowheads="1"/>
            </p:cNvSpPr>
            <p:nvPr/>
          </p:nvSpPr>
          <p:spPr bwMode="auto">
            <a:xfrm>
              <a:off x="3600" y="1632"/>
              <a:ext cx="2016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</p:grp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2540000" y="4419600"/>
            <a:ext cx="4673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400">
                <a:solidFill>
                  <a:srgbClr val="FF0000"/>
                </a:solidFill>
                <a:latin typeface="Comic Sans MS" pitchFamily="66" charset="0"/>
              </a:rPr>
              <a:t>Remember them from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2400">
                <a:solidFill>
                  <a:srgbClr val="FF0000"/>
                </a:solidFill>
                <a:latin typeface="Comic Sans MS" pitchFamily="66" charset="0"/>
              </a:rPr>
              <a:t>this triangle:</a:t>
            </a:r>
          </a:p>
        </p:txBody>
      </p:sp>
      <p:grpSp>
        <p:nvGrpSpPr>
          <p:cNvPr id="5159" name="Group 39"/>
          <p:cNvGrpSpPr>
            <a:grpSpLocks/>
          </p:cNvGrpSpPr>
          <p:nvPr/>
        </p:nvGrpSpPr>
        <p:grpSpPr bwMode="auto">
          <a:xfrm>
            <a:off x="7823200" y="4130675"/>
            <a:ext cx="2032000" cy="1360488"/>
            <a:chOff x="2688" y="2832"/>
            <a:chExt cx="960" cy="816"/>
          </a:xfrm>
        </p:grpSpPr>
        <p:sp>
          <p:nvSpPr>
            <p:cNvPr id="4108" name="AutoShape 29"/>
            <p:cNvSpPr>
              <a:spLocks noChangeArrowheads="1"/>
            </p:cNvSpPr>
            <p:nvPr/>
          </p:nvSpPr>
          <p:spPr bwMode="auto">
            <a:xfrm>
              <a:off x="2688" y="2832"/>
              <a:ext cx="912" cy="81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  <p:sp>
          <p:nvSpPr>
            <p:cNvPr id="4109" name="Line 34"/>
            <p:cNvSpPr>
              <a:spLocks noChangeShapeType="1"/>
            </p:cNvSpPr>
            <p:nvPr/>
          </p:nvSpPr>
          <p:spPr bwMode="auto">
            <a:xfrm>
              <a:off x="2928" y="321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35"/>
            <p:cNvSpPr>
              <a:spLocks noChangeShapeType="1"/>
            </p:cNvSpPr>
            <p:nvPr/>
          </p:nvSpPr>
          <p:spPr bwMode="auto">
            <a:xfrm>
              <a:off x="3168" y="321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Text Box 36"/>
            <p:cNvSpPr txBox="1">
              <a:spLocks noChangeArrowheads="1"/>
            </p:cNvSpPr>
            <p:nvPr/>
          </p:nvSpPr>
          <p:spPr bwMode="auto">
            <a:xfrm>
              <a:off x="3024" y="2976"/>
              <a:ext cx="432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1"/>
                  </a:solidFill>
                  <a:latin typeface="Comic Sans MS" pitchFamily="66" charset="0"/>
                </a:rPr>
                <a:t>D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4112" name="Text Box 37"/>
            <p:cNvSpPr txBox="1">
              <a:spLocks noChangeArrowheads="1"/>
            </p:cNvSpPr>
            <p:nvPr/>
          </p:nvSpPr>
          <p:spPr bwMode="auto">
            <a:xfrm>
              <a:off x="2832" y="3312"/>
              <a:ext cx="33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A50021"/>
                  </a:solidFill>
                  <a:latin typeface="Comic Sans MS" pitchFamily="66" charset="0"/>
                </a:rPr>
                <a:t>S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4113" name="Text Box 38"/>
            <p:cNvSpPr txBox="1">
              <a:spLocks noChangeArrowheads="1"/>
            </p:cNvSpPr>
            <p:nvPr/>
          </p:nvSpPr>
          <p:spPr bwMode="auto">
            <a:xfrm>
              <a:off x="3168" y="3312"/>
              <a:ext cx="48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2"/>
                  </a:solidFill>
                  <a:latin typeface="Comic Sans MS" pitchFamily="66" charset="0"/>
                </a:rPr>
                <a:t>T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4104" name="Line 40"/>
          <p:cNvSpPr>
            <a:spLocks noChangeShapeType="1"/>
          </p:cNvSpPr>
          <p:nvPr/>
        </p:nvSpPr>
        <p:spPr bwMode="auto">
          <a:xfrm>
            <a:off x="508000" y="1169989"/>
            <a:ext cx="9753600" cy="7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Text Box 41"/>
          <p:cNvSpPr txBox="1">
            <a:spLocks noChangeArrowheads="1"/>
          </p:cNvSpPr>
          <p:nvPr/>
        </p:nvSpPr>
        <p:spPr bwMode="auto">
          <a:xfrm>
            <a:off x="304800" y="3048001"/>
            <a:ext cx="355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>
                <a:latin typeface="Comic Sans MS" pitchFamily="66" charset="0"/>
              </a:rPr>
              <a:t>Solving for </a:t>
            </a:r>
            <a:r>
              <a:rPr lang="en-US" altLang="en-US" sz="2000">
                <a:solidFill>
                  <a:srgbClr val="A50021"/>
                </a:solidFill>
                <a:latin typeface="Comic Sans MS" pitchFamily="66" charset="0"/>
              </a:rPr>
              <a:t>Speed</a:t>
            </a:r>
          </a:p>
        </p:txBody>
      </p:sp>
      <p:sp>
        <p:nvSpPr>
          <p:cNvPr id="4106" name="Text Box 42"/>
          <p:cNvSpPr txBox="1">
            <a:spLocks noChangeArrowheads="1"/>
          </p:cNvSpPr>
          <p:nvPr/>
        </p:nvSpPr>
        <p:spPr bwMode="auto">
          <a:xfrm>
            <a:off x="4165600" y="3048001"/>
            <a:ext cx="314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>
                <a:latin typeface="Comic Sans MS" pitchFamily="66" charset="0"/>
              </a:rPr>
              <a:t>Solving for </a:t>
            </a:r>
            <a:r>
              <a:rPr lang="en-US" altLang="en-US" sz="2000">
                <a:solidFill>
                  <a:schemeClr val="accent2"/>
                </a:solidFill>
                <a:latin typeface="Comic Sans MS" pitchFamily="66" charset="0"/>
              </a:rPr>
              <a:t>Time</a:t>
            </a:r>
          </a:p>
        </p:txBody>
      </p:sp>
      <p:sp>
        <p:nvSpPr>
          <p:cNvPr id="4107" name="Text Box 43"/>
          <p:cNvSpPr txBox="1">
            <a:spLocks noChangeArrowheads="1"/>
          </p:cNvSpPr>
          <p:nvPr/>
        </p:nvSpPr>
        <p:spPr bwMode="auto">
          <a:xfrm>
            <a:off x="7620000" y="3048001"/>
            <a:ext cx="426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>
                <a:latin typeface="Comic Sans MS" pitchFamily="66" charset="0"/>
              </a:rPr>
              <a:t>Solving for </a:t>
            </a:r>
            <a:r>
              <a:rPr lang="en-US" altLang="en-US" sz="2000">
                <a:solidFill>
                  <a:schemeClr val="accent1"/>
                </a:solidFill>
                <a:latin typeface="Comic Sans MS" pitchFamily="66" charset="0"/>
              </a:rPr>
              <a:t>Distance</a:t>
            </a:r>
          </a:p>
        </p:txBody>
      </p:sp>
    </p:spTree>
    <p:extLst>
      <p:ext uri="{BB962C8B-B14F-4D97-AF65-F5344CB8AC3E}">
        <p14:creationId xmlns:p14="http://schemas.microsoft.com/office/powerpoint/2010/main" val="384657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utoUpdateAnimBg="0"/>
      <p:bldP spid="514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7823200" y="1981200"/>
            <a:ext cx="2032000" cy="1295400"/>
            <a:chOff x="2688" y="2832"/>
            <a:chExt cx="960" cy="816"/>
          </a:xfrm>
        </p:grpSpPr>
        <p:sp>
          <p:nvSpPr>
            <p:cNvPr id="5140" name="AutoShape 3"/>
            <p:cNvSpPr>
              <a:spLocks noChangeArrowheads="1"/>
            </p:cNvSpPr>
            <p:nvPr/>
          </p:nvSpPr>
          <p:spPr bwMode="auto">
            <a:xfrm>
              <a:off x="2688" y="2832"/>
              <a:ext cx="912" cy="81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  <p:sp>
          <p:nvSpPr>
            <p:cNvPr id="5141" name="Line 4"/>
            <p:cNvSpPr>
              <a:spLocks noChangeShapeType="1"/>
            </p:cNvSpPr>
            <p:nvPr/>
          </p:nvSpPr>
          <p:spPr bwMode="auto">
            <a:xfrm>
              <a:off x="2928" y="321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Line 5"/>
            <p:cNvSpPr>
              <a:spLocks noChangeShapeType="1"/>
            </p:cNvSpPr>
            <p:nvPr/>
          </p:nvSpPr>
          <p:spPr bwMode="auto">
            <a:xfrm>
              <a:off x="3168" y="321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Text Box 6"/>
            <p:cNvSpPr txBox="1">
              <a:spLocks noChangeArrowheads="1"/>
            </p:cNvSpPr>
            <p:nvPr/>
          </p:nvSpPr>
          <p:spPr bwMode="auto">
            <a:xfrm>
              <a:off x="3024" y="29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1"/>
                  </a:solidFill>
                  <a:latin typeface="Comic Sans MS" pitchFamily="66" charset="0"/>
                </a:rPr>
                <a:t>D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5144" name="Text Box 7"/>
            <p:cNvSpPr txBox="1">
              <a:spLocks noChangeArrowheads="1"/>
            </p:cNvSpPr>
            <p:nvPr/>
          </p:nvSpPr>
          <p:spPr bwMode="auto">
            <a:xfrm>
              <a:off x="2832" y="331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A50021"/>
                  </a:solidFill>
                  <a:latin typeface="Comic Sans MS" pitchFamily="66" charset="0"/>
                </a:rPr>
                <a:t>S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5145" name="Text Box 8"/>
            <p:cNvSpPr txBox="1">
              <a:spLocks noChangeArrowheads="1"/>
            </p:cNvSpPr>
            <p:nvPr/>
          </p:nvSpPr>
          <p:spPr bwMode="auto">
            <a:xfrm>
              <a:off x="3168" y="3312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2"/>
                  </a:solidFill>
                  <a:latin typeface="Comic Sans MS" pitchFamily="66" charset="0"/>
                </a:rPr>
                <a:t>T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5123" name="Text Box 9"/>
          <p:cNvSpPr txBox="1">
            <a:spLocks noChangeArrowheads="1"/>
          </p:cNvSpPr>
          <p:nvPr/>
        </p:nvSpPr>
        <p:spPr bwMode="auto">
          <a:xfrm>
            <a:off x="711200" y="304800"/>
            <a:ext cx="11785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itchFamily="34" charset="0"/>
              <a:buNone/>
            </a:pPr>
            <a:endParaRPr lang="en-GB" altLang="en-US" sz="2400">
              <a:solidFill>
                <a:srgbClr val="FF0000"/>
              </a:solidFill>
              <a:latin typeface="Comic Sans MS" pitchFamily="66" charset="0"/>
            </a:endParaRPr>
          </a:p>
          <a:p>
            <a:pPr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itchFamily="66" charset="0"/>
              </a:rPr>
              <a:t>A windsurfer travelled 28 km in 1 hour 45 mins.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itchFamily="66" charset="0"/>
              </a:rPr>
              <a:t>Calculate his speed.</a:t>
            </a:r>
          </a:p>
        </p:txBody>
      </p:sp>
      <p:sp>
        <p:nvSpPr>
          <p:cNvPr id="6155" name="Oval 11"/>
          <p:cNvSpPr>
            <a:spLocks noChangeArrowheads="1"/>
          </p:cNvSpPr>
          <p:nvPr/>
        </p:nvSpPr>
        <p:spPr bwMode="auto">
          <a:xfrm>
            <a:off x="8229600" y="2743200"/>
            <a:ext cx="3048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6158" name="Oval 14"/>
          <p:cNvSpPr>
            <a:spLocks noChangeArrowheads="1"/>
          </p:cNvSpPr>
          <p:nvPr/>
        </p:nvSpPr>
        <p:spPr bwMode="auto">
          <a:xfrm rot="-1192175">
            <a:off x="8633885" y="2206625"/>
            <a:ext cx="613833" cy="9144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914400" y="2209801"/>
            <a:ext cx="203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solidFill>
                  <a:srgbClr val="A50021"/>
                </a:solidFill>
                <a:latin typeface="Comic Sans MS" pitchFamily="66" charset="0"/>
              </a:rPr>
              <a:t>Speed</a:t>
            </a:r>
            <a:r>
              <a:rPr lang="en-GB" altLang="en-US" sz="2800">
                <a:latin typeface="Comic Sans MS" pitchFamily="66" charset="0"/>
              </a:rPr>
              <a:t> = </a:t>
            </a:r>
          </a:p>
        </p:txBody>
      </p:sp>
      <p:grpSp>
        <p:nvGrpSpPr>
          <p:cNvPr id="6172" name="Group 28"/>
          <p:cNvGrpSpPr>
            <a:grpSpLocks/>
          </p:cNvGrpSpPr>
          <p:nvPr/>
        </p:nvGrpSpPr>
        <p:grpSpPr bwMode="auto">
          <a:xfrm>
            <a:off x="3048000" y="1981200"/>
            <a:ext cx="2743200" cy="1035050"/>
            <a:chOff x="2400" y="1680"/>
            <a:chExt cx="816" cy="481"/>
          </a:xfrm>
        </p:grpSpPr>
        <p:sp>
          <p:nvSpPr>
            <p:cNvPr id="5137" name="Text Box 15"/>
            <p:cNvSpPr txBox="1">
              <a:spLocks noChangeArrowheads="1"/>
            </p:cNvSpPr>
            <p:nvPr/>
          </p:nvSpPr>
          <p:spPr bwMode="auto">
            <a:xfrm>
              <a:off x="2400" y="1680"/>
              <a:ext cx="81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1"/>
                  </a:solidFill>
                  <a:latin typeface="Comic Sans MS" pitchFamily="66" charset="0"/>
                </a:rPr>
                <a:t>Distance</a:t>
              </a:r>
            </a:p>
          </p:txBody>
        </p:sp>
        <p:sp>
          <p:nvSpPr>
            <p:cNvPr id="5138" name="Text Box 16"/>
            <p:cNvSpPr txBox="1">
              <a:spLocks noChangeArrowheads="1"/>
            </p:cNvSpPr>
            <p:nvPr/>
          </p:nvSpPr>
          <p:spPr bwMode="auto">
            <a:xfrm>
              <a:off x="2496" y="1920"/>
              <a:ext cx="67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2"/>
                  </a:solidFill>
                  <a:latin typeface="Comic Sans MS" pitchFamily="66" charset="0"/>
                </a:rPr>
                <a:t>Time</a:t>
              </a:r>
            </a:p>
          </p:txBody>
        </p:sp>
        <p:sp>
          <p:nvSpPr>
            <p:cNvPr id="5139" name="Line 19"/>
            <p:cNvSpPr>
              <a:spLocks noChangeShapeType="1"/>
            </p:cNvSpPr>
            <p:nvPr/>
          </p:nvSpPr>
          <p:spPr bwMode="auto">
            <a:xfrm>
              <a:off x="2448" y="192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70" name="Group 26"/>
          <p:cNvGrpSpPr>
            <a:grpSpLocks/>
          </p:cNvGrpSpPr>
          <p:nvPr/>
        </p:nvGrpSpPr>
        <p:grpSpPr bwMode="auto">
          <a:xfrm>
            <a:off x="2438400" y="3062288"/>
            <a:ext cx="2540000" cy="1052512"/>
            <a:chOff x="2208" y="2448"/>
            <a:chExt cx="960" cy="473"/>
          </a:xfrm>
        </p:grpSpPr>
        <p:sp>
          <p:nvSpPr>
            <p:cNvPr id="5133" name="Text Box 21"/>
            <p:cNvSpPr txBox="1">
              <a:spLocks noChangeArrowheads="1"/>
            </p:cNvSpPr>
            <p:nvPr/>
          </p:nvSpPr>
          <p:spPr bwMode="auto">
            <a:xfrm>
              <a:off x="2544" y="2448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1"/>
                  </a:solidFill>
                  <a:latin typeface="Comic Sans MS" pitchFamily="66" charset="0"/>
                </a:rPr>
                <a:t>28</a:t>
              </a:r>
              <a:endParaRPr lang="en-GB" altLang="en-US" sz="2800">
                <a:latin typeface="Comic Sans MS" pitchFamily="66" charset="0"/>
              </a:endParaRPr>
            </a:p>
          </p:txBody>
        </p:sp>
        <p:sp>
          <p:nvSpPr>
            <p:cNvPr id="5134" name="Text Box 22"/>
            <p:cNvSpPr txBox="1">
              <a:spLocks noChangeArrowheads="1"/>
            </p:cNvSpPr>
            <p:nvPr/>
          </p:nvSpPr>
          <p:spPr bwMode="auto">
            <a:xfrm>
              <a:off x="2496" y="2688"/>
              <a:ext cx="6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2"/>
                  </a:solidFill>
                  <a:latin typeface="Comic Sans MS" pitchFamily="66" charset="0"/>
                </a:rPr>
                <a:t>1</a:t>
              </a:r>
              <a:r>
                <a:rPr lang="en-GB" altLang="en-US" sz="2800">
                  <a:solidFill>
                    <a:schemeClr val="accent2"/>
                  </a:solidFill>
                  <a:latin typeface="Comic Sans MS" pitchFamily="66" charset="0"/>
                  <a:cs typeface="Microsoft Sans Serif" pitchFamily="34" charset="0"/>
                </a:rPr>
                <a:t>•</a:t>
              </a:r>
              <a:r>
                <a:rPr lang="en-GB" altLang="en-US" sz="2800">
                  <a:solidFill>
                    <a:schemeClr val="accent2"/>
                  </a:solidFill>
                  <a:latin typeface="Comic Sans MS" pitchFamily="66" charset="0"/>
                </a:rPr>
                <a:t>75</a:t>
              </a:r>
            </a:p>
          </p:txBody>
        </p:sp>
        <p:sp>
          <p:nvSpPr>
            <p:cNvPr id="5135" name="Line 24"/>
            <p:cNvSpPr>
              <a:spLocks noChangeShapeType="1"/>
            </p:cNvSpPr>
            <p:nvPr/>
          </p:nvSpPr>
          <p:spPr bwMode="auto">
            <a:xfrm>
              <a:off x="2496" y="268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Text Box 25"/>
            <p:cNvSpPr txBox="1">
              <a:spLocks noChangeArrowheads="1"/>
            </p:cNvSpPr>
            <p:nvPr/>
          </p:nvSpPr>
          <p:spPr bwMode="auto">
            <a:xfrm>
              <a:off x="2208" y="259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latin typeface="Comic Sans MS" pitchFamily="66" charset="0"/>
                </a:rPr>
                <a:t>=</a:t>
              </a:r>
            </a:p>
          </p:txBody>
        </p:sp>
      </p:grpSp>
      <p:sp>
        <p:nvSpPr>
          <p:cNvPr id="6171" name="Text Box 27"/>
          <p:cNvSpPr txBox="1">
            <a:spLocks noChangeArrowheads="1"/>
          </p:cNvSpPr>
          <p:nvPr/>
        </p:nvSpPr>
        <p:spPr bwMode="auto">
          <a:xfrm>
            <a:off x="2438400" y="44958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=  16 km/h</a:t>
            </a:r>
          </a:p>
        </p:txBody>
      </p:sp>
      <p:sp>
        <p:nvSpPr>
          <p:cNvPr id="6178" name="Rectangle 34"/>
          <p:cNvSpPr>
            <a:spLocks noChangeArrowheads="1"/>
          </p:cNvSpPr>
          <p:nvPr/>
        </p:nvSpPr>
        <p:spPr bwMode="auto">
          <a:xfrm>
            <a:off x="6807200" y="3581401"/>
            <a:ext cx="260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GB" altLang="en-US" sz="2800">
                <a:latin typeface="Comic Sans MS" pitchFamily="66" charset="0"/>
              </a:rPr>
              <a:t>1 hour 45 mins</a:t>
            </a:r>
            <a:endParaRPr lang="en-US" altLang="en-US" sz="2800">
              <a:latin typeface="Comic Sans MS" pitchFamily="66" charset="0"/>
            </a:endParaRPr>
          </a:p>
        </p:txBody>
      </p:sp>
      <p:sp>
        <p:nvSpPr>
          <p:cNvPr id="6179" name="Line 35"/>
          <p:cNvSpPr>
            <a:spLocks noChangeShapeType="1"/>
          </p:cNvSpPr>
          <p:nvPr/>
        </p:nvSpPr>
        <p:spPr bwMode="auto">
          <a:xfrm>
            <a:off x="4775200" y="3886200"/>
            <a:ext cx="1930400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0" name="Text Box 36"/>
          <p:cNvSpPr txBox="1">
            <a:spLocks noChangeArrowheads="1"/>
          </p:cNvSpPr>
          <p:nvPr/>
        </p:nvSpPr>
        <p:spPr bwMode="auto">
          <a:xfrm>
            <a:off x="1727200" y="5334001"/>
            <a:ext cx="8737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Answer: His speed was 16 km / hour</a:t>
            </a:r>
          </a:p>
        </p:txBody>
      </p:sp>
    </p:spTree>
    <p:extLst>
      <p:ext uri="{BB962C8B-B14F-4D97-AF65-F5344CB8AC3E}">
        <p14:creationId xmlns:p14="http://schemas.microsoft.com/office/powerpoint/2010/main" val="229548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6" dur="10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6" grpId="0" autoUpdateAnimBg="0"/>
      <p:bldP spid="6171" grpId="0" autoUpdateAnimBg="0"/>
      <p:bldP spid="6178" grpId="0"/>
      <p:bldP spid="6178" grpId="1"/>
      <p:bldP spid="6179" grpId="0" animBg="1"/>
      <p:bldP spid="6179" grpId="1" animBg="1"/>
      <p:bldP spid="618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3"/>
          <p:cNvSpPr>
            <a:spLocks noChangeShapeType="1"/>
          </p:cNvSpPr>
          <p:nvPr/>
        </p:nvSpPr>
        <p:spPr bwMode="auto">
          <a:xfrm>
            <a:off x="726017" y="1752600"/>
            <a:ext cx="105664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7518400" y="3290888"/>
            <a:ext cx="26629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GB" altLang="en-US" sz="2800">
                <a:latin typeface="Comic Sans MS" pitchFamily="66" charset="0"/>
              </a:rPr>
              <a:t>2 hour 30 mins</a:t>
            </a:r>
            <a:endParaRPr lang="en-US" altLang="en-US" sz="2800">
              <a:latin typeface="Comic Sans MS" pitchFamily="66" charset="0"/>
            </a:endParaRPr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5486400" y="3595688"/>
            <a:ext cx="1930400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1727200" y="5334001"/>
            <a:ext cx="8737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Answer: He travelled 125 km</a:t>
            </a:r>
          </a:p>
        </p:txBody>
      </p:sp>
      <p:sp>
        <p:nvSpPr>
          <p:cNvPr id="6150" name="Rectangle 27"/>
          <p:cNvSpPr>
            <a:spLocks noChangeArrowheads="1"/>
          </p:cNvSpPr>
          <p:nvPr/>
        </p:nvSpPr>
        <p:spPr bwMode="auto">
          <a:xfrm>
            <a:off x="609601" y="457200"/>
            <a:ext cx="113665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endParaRPr lang="en-GB" altLang="en-US" sz="2400">
              <a:solidFill>
                <a:srgbClr val="FF0000"/>
              </a:solidFill>
              <a:latin typeface="Comic Sans MS" pitchFamily="66" charset="0"/>
            </a:endParaRPr>
          </a:p>
          <a:p>
            <a:pPr eaLnBrk="1" hangingPunct="1"/>
            <a:r>
              <a:rPr lang="en-GB" altLang="en-US" sz="2400">
                <a:solidFill>
                  <a:srgbClr val="FF0000"/>
                </a:solidFill>
                <a:latin typeface="Comic Sans MS" pitchFamily="66" charset="0"/>
              </a:rPr>
              <a:t>A salesman travelled at an average speed of 50 km/h for 2 hours 30 mins.  How far did he travel?</a:t>
            </a:r>
            <a:endParaRPr lang="en-US" altLang="en-US" sz="240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6151" name="Group 28"/>
          <p:cNvGrpSpPr>
            <a:grpSpLocks/>
          </p:cNvGrpSpPr>
          <p:nvPr/>
        </p:nvGrpSpPr>
        <p:grpSpPr bwMode="auto">
          <a:xfrm>
            <a:off x="8737600" y="1905000"/>
            <a:ext cx="2032000" cy="1295400"/>
            <a:chOff x="2688" y="2832"/>
            <a:chExt cx="960" cy="816"/>
          </a:xfrm>
        </p:grpSpPr>
        <p:sp>
          <p:nvSpPr>
            <p:cNvPr id="6158" name="AutoShape 29"/>
            <p:cNvSpPr>
              <a:spLocks noChangeArrowheads="1"/>
            </p:cNvSpPr>
            <p:nvPr/>
          </p:nvSpPr>
          <p:spPr bwMode="auto">
            <a:xfrm>
              <a:off x="2688" y="2832"/>
              <a:ext cx="912" cy="81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  <p:sp>
          <p:nvSpPr>
            <p:cNvPr id="6159" name="Line 30"/>
            <p:cNvSpPr>
              <a:spLocks noChangeShapeType="1"/>
            </p:cNvSpPr>
            <p:nvPr/>
          </p:nvSpPr>
          <p:spPr bwMode="auto">
            <a:xfrm>
              <a:off x="2928" y="321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Line 31"/>
            <p:cNvSpPr>
              <a:spLocks noChangeShapeType="1"/>
            </p:cNvSpPr>
            <p:nvPr/>
          </p:nvSpPr>
          <p:spPr bwMode="auto">
            <a:xfrm>
              <a:off x="3168" y="321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Text Box 32"/>
            <p:cNvSpPr txBox="1">
              <a:spLocks noChangeArrowheads="1"/>
            </p:cNvSpPr>
            <p:nvPr/>
          </p:nvSpPr>
          <p:spPr bwMode="auto">
            <a:xfrm>
              <a:off x="3024" y="29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1"/>
                  </a:solidFill>
                  <a:latin typeface="Comic Sans MS" pitchFamily="66" charset="0"/>
                </a:rPr>
                <a:t>D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6162" name="Text Box 33"/>
            <p:cNvSpPr txBox="1">
              <a:spLocks noChangeArrowheads="1"/>
            </p:cNvSpPr>
            <p:nvPr/>
          </p:nvSpPr>
          <p:spPr bwMode="auto">
            <a:xfrm>
              <a:off x="2832" y="331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A50021"/>
                  </a:solidFill>
                  <a:latin typeface="Comic Sans MS" pitchFamily="66" charset="0"/>
                </a:rPr>
                <a:t>S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6163" name="Text Box 34"/>
            <p:cNvSpPr txBox="1">
              <a:spLocks noChangeArrowheads="1"/>
            </p:cNvSpPr>
            <p:nvPr/>
          </p:nvSpPr>
          <p:spPr bwMode="auto">
            <a:xfrm>
              <a:off x="3168" y="3312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2"/>
                  </a:solidFill>
                  <a:latin typeface="Comic Sans MS" pitchFamily="66" charset="0"/>
                </a:rPr>
                <a:t>T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19491" name="Oval 35"/>
          <p:cNvSpPr>
            <a:spLocks noChangeArrowheads="1"/>
          </p:cNvSpPr>
          <p:nvPr/>
        </p:nvSpPr>
        <p:spPr bwMode="auto">
          <a:xfrm>
            <a:off x="9448800" y="2133600"/>
            <a:ext cx="5080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19492" name="Oval 36"/>
          <p:cNvSpPr>
            <a:spLocks noChangeArrowheads="1"/>
          </p:cNvSpPr>
          <p:nvPr/>
        </p:nvSpPr>
        <p:spPr bwMode="auto">
          <a:xfrm>
            <a:off x="8940800" y="2590800"/>
            <a:ext cx="16256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609600" y="23002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solidFill>
                  <a:schemeClr val="accent1"/>
                </a:solidFill>
                <a:latin typeface="Comic Sans MS" pitchFamily="66" charset="0"/>
              </a:rPr>
              <a:t>Distance</a:t>
            </a:r>
            <a:r>
              <a:rPr lang="en-GB" altLang="en-US" sz="2800">
                <a:latin typeface="Comic Sans MS" pitchFamily="66" charset="0"/>
              </a:rPr>
              <a:t> = </a:t>
            </a: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3048000" y="23002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solidFill>
                  <a:srgbClr val="A50021"/>
                </a:solidFill>
                <a:latin typeface="Comic Sans MS" pitchFamily="66" charset="0"/>
              </a:rPr>
              <a:t> Speed</a:t>
            </a:r>
            <a:r>
              <a:rPr lang="en-GB" altLang="en-US" sz="2800">
                <a:latin typeface="Comic Sans MS" pitchFamily="66" charset="0"/>
              </a:rPr>
              <a:t> x </a:t>
            </a:r>
            <a:r>
              <a:rPr lang="en-GB" altLang="en-US" sz="2800">
                <a:solidFill>
                  <a:schemeClr val="accent2"/>
                </a:solidFill>
                <a:latin typeface="Comic Sans MS" pitchFamily="66" charset="0"/>
              </a:rPr>
              <a:t>Time</a:t>
            </a:r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2641600" y="3290888"/>
            <a:ext cx="375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=  50 x 2</a:t>
            </a:r>
            <a:r>
              <a:rPr lang="en-GB" altLang="en-US" sz="2800">
                <a:latin typeface="Comic Sans MS" pitchFamily="66" charset="0"/>
                <a:cs typeface="Microsoft Sans Serif" pitchFamily="34" charset="0"/>
              </a:rPr>
              <a:t>•</a:t>
            </a:r>
            <a:r>
              <a:rPr lang="en-GB" altLang="en-US" sz="2800">
                <a:latin typeface="Comic Sans MS" pitchFamily="66" charset="0"/>
              </a:rPr>
              <a:t>5</a:t>
            </a:r>
          </a:p>
        </p:txBody>
      </p:sp>
      <p:sp>
        <p:nvSpPr>
          <p:cNvPr id="19503" name="Text Box 47"/>
          <p:cNvSpPr txBox="1">
            <a:spLocks noChangeArrowheads="1"/>
          </p:cNvSpPr>
          <p:nvPr/>
        </p:nvSpPr>
        <p:spPr bwMode="auto">
          <a:xfrm>
            <a:off x="2641600" y="42814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=  125 km </a:t>
            </a:r>
          </a:p>
        </p:txBody>
      </p:sp>
    </p:spTree>
    <p:extLst>
      <p:ext uri="{BB962C8B-B14F-4D97-AF65-F5344CB8AC3E}">
        <p14:creationId xmlns:p14="http://schemas.microsoft.com/office/powerpoint/2010/main" val="134554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6" dur="10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0" grpId="0"/>
      <p:bldP spid="19480" grpId="1"/>
      <p:bldP spid="19481" grpId="0" animBg="1"/>
      <p:bldP spid="19481" grpId="1" animBg="1"/>
      <p:bldP spid="19482" grpId="0"/>
      <p:bldP spid="19500" grpId="0" autoUpdateAnimBg="0"/>
      <p:bldP spid="19501" grpId="0" autoUpdateAnimBg="0"/>
      <p:bldP spid="19502" grpId="0" autoUpdateAnimBg="0"/>
      <p:bldP spid="1950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727200" y="5334001"/>
            <a:ext cx="8737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Answer: It took 9 hours 15 minutes</a:t>
            </a: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412751" y="693738"/>
            <a:ext cx="11366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GB" altLang="en-US" sz="2800">
                <a:solidFill>
                  <a:srgbClr val="FF0000"/>
                </a:solidFill>
                <a:latin typeface="Comic Sans MS" pitchFamily="66" charset="0"/>
              </a:rPr>
              <a:t>A train travelled 555 miles at an average speed of 60 mph.  How long did the journey take?</a:t>
            </a:r>
            <a:endParaRPr lang="en-US" altLang="en-US" sz="320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7172" name="Group 20"/>
          <p:cNvGrpSpPr>
            <a:grpSpLocks/>
          </p:cNvGrpSpPr>
          <p:nvPr/>
        </p:nvGrpSpPr>
        <p:grpSpPr bwMode="auto">
          <a:xfrm>
            <a:off x="8534400" y="1676400"/>
            <a:ext cx="2032000" cy="1295400"/>
            <a:chOff x="2688" y="2832"/>
            <a:chExt cx="960" cy="816"/>
          </a:xfrm>
        </p:grpSpPr>
        <p:sp>
          <p:nvSpPr>
            <p:cNvPr id="7187" name="AutoShape 21"/>
            <p:cNvSpPr>
              <a:spLocks noChangeArrowheads="1"/>
            </p:cNvSpPr>
            <p:nvPr/>
          </p:nvSpPr>
          <p:spPr bwMode="auto">
            <a:xfrm>
              <a:off x="2688" y="2832"/>
              <a:ext cx="912" cy="81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sz="2000">
                <a:latin typeface="Comic Sans MS" pitchFamily="66" charset="0"/>
              </a:endParaRPr>
            </a:p>
          </p:txBody>
        </p:sp>
        <p:sp>
          <p:nvSpPr>
            <p:cNvPr id="7188" name="Line 22"/>
            <p:cNvSpPr>
              <a:spLocks noChangeShapeType="1"/>
            </p:cNvSpPr>
            <p:nvPr/>
          </p:nvSpPr>
          <p:spPr bwMode="auto">
            <a:xfrm>
              <a:off x="2928" y="321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Line 23"/>
            <p:cNvSpPr>
              <a:spLocks noChangeShapeType="1"/>
            </p:cNvSpPr>
            <p:nvPr/>
          </p:nvSpPr>
          <p:spPr bwMode="auto">
            <a:xfrm>
              <a:off x="3168" y="321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Text Box 24"/>
            <p:cNvSpPr txBox="1">
              <a:spLocks noChangeArrowheads="1"/>
            </p:cNvSpPr>
            <p:nvPr/>
          </p:nvSpPr>
          <p:spPr bwMode="auto">
            <a:xfrm>
              <a:off x="3024" y="29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1"/>
                  </a:solidFill>
                  <a:latin typeface="Comic Sans MS" pitchFamily="66" charset="0"/>
                </a:rPr>
                <a:t>D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7191" name="Text Box 25"/>
            <p:cNvSpPr txBox="1">
              <a:spLocks noChangeArrowheads="1"/>
            </p:cNvSpPr>
            <p:nvPr/>
          </p:nvSpPr>
          <p:spPr bwMode="auto">
            <a:xfrm>
              <a:off x="2832" y="331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A50021"/>
                  </a:solidFill>
                  <a:latin typeface="Comic Sans MS" pitchFamily="66" charset="0"/>
                </a:rPr>
                <a:t>S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7192" name="Text Box 26"/>
            <p:cNvSpPr txBox="1">
              <a:spLocks noChangeArrowheads="1"/>
            </p:cNvSpPr>
            <p:nvPr/>
          </p:nvSpPr>
          <p:spPr bwMode="auto">
            <a:xfrm>
              <a:off x="3168" y="3312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chemeClr val="accent2"/>
                  </a:solidFill>
                  <a:latin typeface="Comic Sans MS" pitchFamily="66" charset="0"/>
                </a:rPr>
                <a:t>T</a:t>
              </a:r>
              <a:endParaRPr lang="en-GB" altLang="en-US" sz="20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9550400" y="2438400"/>
            <a:ext cx="5080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 rot="1731737" flipV="1">
            <a:off x="8940800" y="1828800"/>
            <a:ext cx="609600" cy="10668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508000" y="2133601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solidFill>
                  <a:schemeClr val="accent2"/>
                </a:solidFill>
                <a:latin typeface="Comic Sans MS" pitchFamily="66" charset="0"/>
              </a:rPr>
              <a:t>Time</a:t>
            </a:r>
            <a:r>
              <a:rPr lang="en-GB" altLang="en-US" sz="2800">
                <a:latin typeface="Comic Sans MS" pitchFamily="66" charset="0"/>
              </a:rPr>
              <a:t> =</a:t>
            </a:r>
          </a:p>
        </p:txBody>
      </p:sp>
      <p:grpSp>
        <p:nvGrpSpPr>
          <p:cNvPr id="21534" name="Group 30"/>
          <p:cNvGrpSpPr>
            <a:grpSpLocks/>
          </p:cNvGrpSpPr>
          <p:nvPr/>
        </p:nvGrpSpPr>
        <p:grpSpPr bwMode="auto">
          <a:xfrm>
            <a:off x="2235200" y="1905001"/>
            <a:ext cx="2438400" cy="962025"/>
            <a:chOff x="2400" y="1680"/>
            <a:chExt cx="816" cy="521"/>
          </a:xfrm>
        </p:grpSpPr>
        <p:sp>
          <p:nvSpPr>
            <p:cNvPr id="7184" name="Text Box 31"/>
            <p:cNvSpPr txBox="1">
              <a:spLocks noChangeArrowheads="1"/>
            </p:cNvSpPr>
            <p:nvPr/>
          </p:nvSpPr>
          <p:spPr bwMode="auto">
            <a:xfrm>
              <a:off x="2400" y="1680"/>
              <a:ext cx="81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1"/>
                  </a:solidFill>
                  <a:latin typeface="Comic Sans MS" pitchFamily="66" charset="0"/>
                </a:rPr>
                <a:t>Distance</a:t>
              </a:r>
              <a:endParaRPr lang="en-GB" altLang="en-US" sz="2800">
                <a:latin typeface="Comic Sans MS" pitchFamily="66" charset="0"/>
              </a:endParaRPr>
            </a:p>
          </p:txBody>
        </p:sp>
        <p:sp>
          <p:nvSpPr>
            <p:cNvPr id="7185" name="Text Box 32"/>
            <p:cNvSpPr txBox="1">
              <a:spLocks noChangeArrowheads="1"/>
            </p:cNvSpPr>
            <p:nvPr/>
          </p:nvSpPr>
          <p:spPr bwMode="auto">
            <a:xfrm>
              <a:off x="2496" y="1920"/>
              <a:ext cx="67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solidFill>
                    <a:srgbClr val="A50021"/>
                  </a:solidFill>
                  <a:latin typeface="Comic Sans MS" pitchFamily="66" charset="0"/>
                </a:rPr>
                <a:t>Speed</a:t>
              </a:r>
              <a:endParaRPr lang="en-GB" altLang="en-US" sz="2800">
                <a:latin typeface="Comic Sans MS" pitchFamily="66" charset="0"/>
              </a:endParaRPr>
            </a:p>
          </p:txBody>
        </p:sp>
        <p:sp>
          <p:nvSpPr>
            <p:cNvPr id="7186" name="Line 33"/>
            <p:cNvSpPr>
              <a:spLocks noChangeShapeType="1"/>
            </p:cNvSpPr>
            <p:nvPr/>
          </p:nvSpPr>
          <p:spPr bwMode="auto">
            <a:xfrm>
              <a:off x="2448" y="192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38" name="Group 34"/>
          <p:cNvGrpSpPr>
            <a:grpSpLocks/>
          </p:cNvGrpSpPr>
          <p:nvPr/>
        </p:nvGrpSpPr>
        <p:grpSpPr bwMode="auto">
          <a:xfrm>
            <a:off x="1727201" y="3048000"/>
            <a:ext cx="2620433" cy="971550"/>
            <a:chOff x="2016" y="2496"/>
            <a:chExt cx="1238" cy="516"/>
          </a:xfrm>
        </p:grpSpPr>
        <p:sp>
          <p:nvSpPr>
            <p:cNvPr id="7180" name="Text Box 35"/>
            <p:cNvSpPr txBox="1">
              <a:spLocks noChangeArrowheads="1"/>
            </p:cNvSpPr>
            <p:nvPr/>
          </p:nvSpPr>
          <p:spPr bwMode="auto">
            <a:xfrm>
              <a:off x="2400" y="2496"/>
              <a:ext cx="768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latin typeface="Comic Sans MS" pitchFamily="66" charset="0"/>
                </a:rPr>
                <a:t>555</a:t>
              </a:r>
            </a:p>
          </p:txBody>
        </p:sp>
        <p:sp>
          <p:nvSpPr>
            <p:cNvPr id="7181" name="Text Box 36"/>
            <p:cNvSpPr txBox="1">
              <a:spLocks noChangeArrowheads="1"/>
            </p:cNvSpPr>
            <p:nvPr/>
          </p:nvSpPr>
          <p:spPr bwMode="auto">
            <a:xfrm>
              <a:off x="2448" y="2736"/>
              <a:ext cx="806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latin typeface="Comic Sans MS" pitchFamily="66" charset="0"/>
                </a:rPr>
                <a:t>60</a:t>
              </a:r>
            </a:p>
          </p:txBody>
        </p:sp>
        <p:sp>
          <p:nvSpPr>
            <p:cNvPr id="7182" name="Line 37"/>
            <p:cNvSpPr>
              <a:spLocks noChangeShapeType="1"/>
            </p:cNvSpPr>
            <p:nvPr/>
          </p:nvSpPr>
          <p:spPr bwMode="auto">
            <a:xfrm>
              <a:off x="2362" y="2736"/>
              <a:ext cx="5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2016" y="2640"/>
              <a:ext cx="288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>
                  <a:latin typeface="Comic Sans MS" pitchFamily="66" charset="0"/>
                </a:rPr>
                <a:t>=</a:t>
              </a:r>
            </a:p>
          </p:txBody>
        </p:sp>
      </p:grp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1727200" y="4343401"/>
            <a:ext cx="355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=    9</a:t>
            </a:r>
            <a:r>
              <a:rPr lang="en-GB" altLang="en-US" sz="2800">
                <a:latin typeface="Comic Sans MS" pitchFamily="66" charset="0"/>
                <a:cs typeface="Microsoft Sans Serif" pitchFamily="34" charset="0"/>
              </a:rPr>
              <a:t>•</a:t>
            </a:r>
            <a:r>
              <a:rPr lang="en-GB" altLang="en-US" sz="2800">
                <a:latin typeface="Comic Sans MS" pitchFamily="66" charset="0"/>
              </a:rPr>
              <a:t>25 hours</a:t>
            </a:r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5384800" y="4343401"/>
            <a:ext cx="467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>
                <a:latin typeface="Comic Sans MS" pitchFamily="66" charset="0"/>
              </a:rPr>
              <a:t>=  9 hours  15 mins</a:t>
            </a:r>
          </a:p>
        </p:txBody>
      </p:sp>
    </p:spTree>
    <p:extLst>
      <p:ext uri="{BB962C8B-B14F-4D97-AF65-F5344CB8AC3E}">
        <p14:creationId xmlns:p14="http://schemas.microsoft.com/office/powerpoint/2010/main" val="393771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33" grpId="0" autoUpdateAnimBg="0"/>
      <p:bldP spid="21543" grpId="0" autoUpdateAnimBg="0"/>
      <p:bldP spid="2154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10972800" cy="6172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 b="1"/>
              <a:t>UNITS OF SPEED AND THEIR CONVERSION </a:t>
            </a:r>
            <a:endParaRPr lang="en-US" altLang="en-US" sz="180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 b="1"/>
              <a:t>Standard Units </a:t>
            </a:r>
            <a:endParaRPr lang="en-US" altLang="en-US" sz="180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The standard units of speed are as follows. 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 b="1"/>
              <a:t>        Unit 				</a:t>
            </a:r>
            <a:r>
              <a:rPr lang="en-US" altLang="en-US" sz="1800"/>
              <a:t>     </a:t>
            </a:r>
            <a:r>
              <a:rPr lang="en-US" altLang="en-US" sz="1800" b="1"/>
              <a:t>Symbols</a:t>
            </a:r>
            <a:endParaRPr lang="en-US" altLang="en-US" sz="180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metres per second 			m/s 	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kilometres per hour 			km/h 	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miles per hour 				m/h 	</a:t>
            </a:r>
          </a:p>
          <a:p>
            <a:pPr marL="0" indent="0" eaLnBrk="1" hangingPunct="1">
              <a:buFont typeface="Arial" pitchFamily="34" charset="0"/>
              <a:buNone/>
            </a:pPr>
            <a:endParaRPr lang="en-US" altLang="en-US" sz="180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1 kilometre = 1000 metres 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1 mile = 1.60934 kilometres or 1.6 kilometres 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 sz="1800"/>
              <a:t>1 hour = 3600 seconds </a:t>
            </a:r>
          </a:p>
          <a:p>
            <a:pPr marL="0" indent="0" eaLnBrk="1" hangingPunct="1">
              <a:buFont typeface="Arial" pitchFamily="34" charset="0"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63326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61555"/>
            <a:ext cx="10972800" cy="5664610"/>
          </a:xfrm>
        </p:spPr>
        <p:txBody>
          <a:bodyPr/>
          <a:lstStyle/>
          <a:p>
            <a:r>
              <a:rPr lang="en-US" dirty="0"/>
              <a:t>A.) By walking ¾ of his actual speed, a man reach his office in 8 hr. What is the actual time to reach the office?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285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61555"/>
            <a:ext cx="10972800" cy="5664610"/>
          </a:xfrm>
        </p:spPr>
        <p:txBody>
          <a:bodyPr/>
          <a:lstStyle/>
          <a:p>
            <a:r>
              <a:rPr lang="en-US" dirty="0"/>
              <a:t>B.) By walking ¾ of his actual speed, a man reach his office in 2 hour late. What is the actual time to reach the office?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121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61555"/>
            <a:ext cx="10972800" cy="5664610"/>
          </a:xfrm>
        </p:spPr>
        <p:txBody>
          <a:bodyPr/>
          <a:lstStyle/>
          <a:p>
            <a:r>
              <a:rPr lang="en-US" dirty="0"/>
              <a:t>C.) A man reaches his office with speed of 40 km/hr. If he reduces his speed to 30km/</a:t>
            </a:r>
            <a:r>
              <a:rPr lang="en-US" dirty="0" err="1"/>
              <a:t>hr</a:t>
            </a:r>
            <a:r>
              <a:rPr lang="en-US" dirty="0"/>
              <a:t>, he will be late by 2 hrs. What is the distance between home and office?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72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61555"/>
            <a:ext cx="10972800" cy="5664610"/>
          </a:xfrm>
        </p:spPr>
        <p:txBody>
          <a:bodyPr/>
          <a:lstStyle/>
          <a:p>
            <a:r>
              <a:rPr lang="en-US" dirty="0"/>
              <a:t>D.) A man covers a certain distance between his house and office on bike, Having an average speed of 30 km/</a:t>
            </a:r>
            <a:r>
              <a:rPr lang="en-US" dirty="0" err="1"/>
              <a:t>hr</a:t>
            </a:r>
            <a:r>
              <a:rPr lang="en-US" dirty="0"/>
              <a:t>, he is late by 10 minutes, </a:t>
            </a:r>
            <a:r>
              <a:rPr lang="en-US" dirty="0" err="1"/>
              <a:t>Hwever</a:t>
            </a:r>
            <a:r>
              <a:rPr lang="en-US" dirty="0"/>
              <a:t>, with a speed of 40 Km/</a:t>
            </a:r>
            <a:r>
              <a:rPr lang="en-US" dirty="0" err="1"/>
              <a:t>hr</a:t>
            </a:r>
            <a:r>
              <a:rPr lang="en-US" dirty="0"/>
              <a:t>, he </a:t>
            </a:r>
            <a:r>
              <a:rPr lang="en-US" dirty="0" err="1"/>
              <a:t>reacheshis</a:t>
            </a:r>
            <a:r>
              <a:rPr lang="en-US" dirty="0"/>
              <a:t> office 5 minutes earlier. Find the distance between his house and office.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423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02" y="480528"/>
            <a:ext cx="10972800" cy="4525963"/>
          </a:xfrm>
        </p:spPr>
        <p:txBody>
          <a:bodyPr/>
          <a:lstStyle/>
          <a:p>
            <a:r>
              <a:rPr lang="en-US" dirty="0"/>
              <a:t>If a person walks at 14km/</a:t>
            </a:r>
            <a:r>
              <a:rPr lang="en-US" dirty="0" err="1"/>
              <a:t>hr</a:t>
            </a:r>
            <a:r>
              <a:rPr lang="en-US" dirty="0"/>
              <a:t> instead of 10 km/</a:t>
            </a:r>
            <a:r>
              <a:rPr lang="en-US" dirty="0" err="1"/>
              <a:t>hr</a:t>
            </a:r>
            <a:r>
              <a:rPr lang="en-US" dirty="0"/>
              <a:t>, he would have walked 20 km more. The actual distance travelled by him?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cars starts from A and B travel towards each other at speeds of 50km/</a:t>
            </a:r>
            <a:r>
              <a:rPr lang="en-US" dirty="0" err="1"/>
              <a:t>hr</a:t>
            </a:r>
            <a:r>
              <a:rPr lang="en-US" dirty="0"/>
              <a:t>, and 60kmph. At the time of their meeting, the second car travelled 12 </a:t>
            </a:r>
            <a:r>
              <a:rPr lang="en-US" dirty="0" err="1"/>
              <a:t>kms</a:t>
            </a:r>
            <a:r>
              <a:rPr lang="en-US" dirty="0"/>
              <a:t> more than the </a:t>
            </a:r>
            <a:r>
              <a:rPr lang="en-US" dirty="0" err="1"/>
              <a:t>first.Find</a:t>
            </a:r>
            <a:r>
              <a:rPr lang="en-US" dirty="0"/>
              <a:t> the distance between A and B.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314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3046" y="922201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IN" sz="24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A car covers a distance of 750 meters in 1 minute 40 seconds. At what speed the car is running?</a:t>
            </a:r>
            <a:endParaRPr lang="en-IN" sz="20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60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B) 27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25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D) None of these</a:t>
            </a:r>
          </a:p>
        </p:txBody>
      </p:sp>
    </p:spTree>
    <p:extLst>
      <p:ext uri="{BB962C8B-B14F-4D97-AF65-F5344CB8AC3E}">
        <p14:creationId xmlns:p14="http://schemas.microsoft.com/office/powerpoint/2010/main" val="252390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3385" y="1039432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car is travelling at a constant rate of 60 km/h. The distance travelled by car from 10:45 am to 1:00 pm is:</a:t>
            </a:r>
            <a:endParaRPr lang="en-IN" sz="20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135 km					B) 100 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120 km					D) 95 km</a:t>
            </a:r>
          </a:p>
        </p:txBody>
      </p:sp>
    </p:spTree>
    <p:extLst>
      <p:ext uri="{BB962C8B-B14F-4D97-AF65-F5344CB8AC3E}">
        <p14:creationId xmlns:p14="http://schemas.microsoft.com/office/powerpoint/2010/main" val="421368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1076907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The ratio between the speeds of two trains is 8 : 9. If the second train runs 405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3 hours, then the speed of the first train is ?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83.5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B) 110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140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           			D) 120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997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6492" y="958060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man goes from A to B at a speed of 2 kmph and comes back to A at a speed of 3 kmph. Find his average speed for the entire journey?</a:t>
            </a:r>
            <a:endParaRPr lang="en-IN" sz="20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2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B) 4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2.8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           		D) 2.4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316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78331" y="1044445"/>
            <a:ext cx="1103116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5. A man travels a distance of 48 km at 4 km/hr. Another distance of 48 km at 12 km/hr and a third distance of 48 km at 16 km/hr. His average speed for the whole journey is?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7.57 km/hr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9.63 km/ hr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8.75 km/hr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10 km/hr</a:t>
            </a:r>
          </a:p>
          <a:p>
            <a:pPr algn="just"/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7538" y="1068739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man completes a journey in 5 hours. He travels first half of the journey at the rate of 21 km/hr and second half at the rate of 24 km/hr. Find the total journey in km.</a:t>
            </a:r>
            <a:endParaRPr lang="en-IN" sz="20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110 km					B) 112 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115 km					D) 117 km</a:t>
            </a:r>
          </a:p>
        </p:txBody>
      </p:sp>
    </p:spTree>
    <p:extLst>
      <p:ext uri="{BB962C8B-B14F-4D97-AF65-F5344CB8AC3E}">
        <p14:creationId xmlns:p14="http://schemas.microsoft.com/office/powerpoint/2010/main" val="67345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03384" y="839491"/>
            <a:ext cx="11031165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7. A boy rides his bicycle 20 km at an average speed of 12 km/hr and again travels 15 km at an average speed of 10 km/hr. His average speed for the entire trip is approximately?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10.4 km/hr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10.8 km/hr 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11 km/hr 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12.2 km/hr</a:t>
            </a:r>
          </a:p>
          <a:p>
            <a:pPr algn="just"/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96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3046" y="889337"/>
            <a:ext cx="110850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8. A man traveled from the village to the post-office at the rate of 20 kmph and walked back at the rate of 5 kmph. If the whole journey took 16  hours 40 minutes, find the distance of the post-office from the village?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400/3 km				B) 300/7 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200/3 km				D) 400/7 km</a:t>
            </a:r>
          </a:p>
        </p:txBody>
      </p:sp>
    </p:spTree>
    <p:extLst>
      <p:ext uri="{BB962C8B-B14F-4D97-AF65-F5344CB8AC3E}">
        <p14:creationId xmlns:p14="http://schemas.microsoft.com/office/powerpoint/2010/main" val="255690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417" y="2073499"/>
            <a:ext cx="10972800" cy="1600200"/>
          </a:xfrm>
        </p:spPr>
        <p:txBody>
          <a:bodyPr/>
          <a:lstStyle/>
          <a:p>
            <a:r>
              <a:rPr lang="en-US" dirty="0">
                <a:latin typeface="Showcard Gothic" pitchFamily="82" charset="0"/>
                <a:cs typeface="Times New Roman" pitchFamily="18" charset="0"/>
              </a:rPr>
              <a:t>Problem on Constant Distance</a:t>
            </a:r>
          </a:p>
        </p:txBody>
      </p:sp>
    </p:spTree>
    <p:extLst>
      <p:ext uri="{BB962C8B-B14F-4D97-AF65-F5344CB8AC3E}">
        <p14:creationId xmlns:p14="http://schemas.microsoft.com/office/powerpoint/2010/main" val="242732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3384" y="1065183"/>
            <a:ext cx="110850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9. Speed of father and his son is 12 km/h and 15 km/h. They start from A towards B. If son leaves 39 minutes later than his father and reaches 19 minutes later than his father. Find the distance between A and B.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(a)20km 	(b)19km 	(c)18km 	(d)9km </a:t>
            </a:r>
          </a:p>
        </p:txBody>
      </p:sp>
    </p:spTree>
    <p:extLst>
      <p:ext uri="{BB962C8B-B14F-4D97-AF65-F5344CB8AC3E}">
        <p14:creationId xmlns:p14="http://schemas.microsoft.com/office/powerpoint/2010/main" val="254596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6492" y="1334814"/>
            <a:ext cx="110850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10. Running 3/4th of his usual rate, a man is 20 min late. Find his usual time in hours  ?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2/3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B) 3/4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D) 1/4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89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8216" y="1018291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11. A child while going to school reduces his speed to 7/11 of his initial speed and reaches in 22 hours. If he had walked at his initial speed then how much time had he saved.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14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B) 9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	D) 8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0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97877" y="994844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12. A man reaches his office 20 min late, if he walks from his home at 4 km per hour and reaches 25 min early if he walks 5 km per hour. How far is his office from his house ?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20 km					B) 6 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10 km					D) 15 km </a:t>
            </a:r>
          </a:p>
        </p:txBody>
      </p:sp>
    </p:spTree>
    <p:extLst>
      <p:ext uri="{BB962C8B-B14F-4D97-AF65-F5344CB8AC3E}">
        <p14:creationId xmlns:p14="http://schemas.microsoft.com/office/powerpoint/2010/main" val="156378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5785" y="1182414"/>
            <a:ext cx="110850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13. A man reaches his home from his office at 4:00PM if he travels with 60kmph. He reaches his home at 7:00PM if he travels with the speed of 40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kmph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Find the distance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his office to home. 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A. 180km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B. 225km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C. 360 km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 500 km</a:t>
            </a:r>
          </a:p>
        </p:txBody>
      </p:sp>
    </p:spTree>
    <p:extLst>
      <p:ext uri="{BB962C8B-B14F-4D97-AF65-F5344CB8AC3E}">
        <p14:creationId xmlns:p14="http://schemas.microsoft.com/office/powerpoint/2010/main" val="35754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0646" y="983121"/>
            <a:ext cx="110850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14. Robert is traveling on his cycle and has calculated to reach point A at 2 p.m. if he travels at 10 km/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he will reach there at 12 noon if he travels at 15 km/hr. At what speed must he travel to reach A at 4 p.m. ?</a:t>
            </a:r>
          </a:p>
          <a:p>
            <a:pPr lvl="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20 kmph				B) 18 kmph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7.5 kmph				D) 16 kmph</a:t>
            </a:r>
          </a:p>
        </p:txBody>
      </p:sp>
    </p:spTree>
    <p:extLst>
      <p:ext uri="{BB962C8B-B14F-4D97-AF65-F5344CB8AC3E}">
        <p14:creationId xmlns:p14="http://schemas.microsoft.com/office/powerpoint/2010/main" val="26379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6862" y="1264475"/>
            <a:ext cx="110850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15. Speed of a bus is 45 km/h. If it stops for a few minutes in an hour then its average speed becomes 42 km/h. Find out the time duration it stops for (in an hour)?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8 min				B) 4 min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10 min				D) 5 min</a:t>
            </a:r>
          </a:p>
        </p:txBody>
      </p:sp>
    </p:spTree>
    <p:extLst>
      <p:ext uri="{BB962C8B-B14F-4D97-AF65-F5344CB8AC3E}">
        <p14:creationId xmlns:p14="http://schemas.microsoft.com/office/powerpoint/2010/main" val="42816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0646" y="1287922"/>
            <a:ext cx="11085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16. A car travels from P to Q at a constant speed. If its speed were increased by 10 km/h, it would have taken 20min less to cover the distance. It would have taken 30min more if the speed were decreased by 10 km/h. What is the speed of the car?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37.5km/h				B)37 km/h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C) 35km/h				D) 50 km/h</a:t>
            </a:r>
          </a:p>
        </p:txBody>
      </p:sp>
    </p:spTree>
    <p:extLst>
      <p:ext uri="{BB962C8B-B14F-4D97-AF65-F5344CB8AC3E}">
        <p14:creationId xmlns:p14="http://schemas.microsoft.com/office/powerpoint/2010/main" val="119979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1323" y="1580998"/>
            <a:ext cx="110850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17. A car travels from P to Q at a constant speed. If its speed were increased by 7 km/h, it would have taken one hour less to cover the distance. It would have taken 1 hour more if the speed were decreased by 5 km/h. What is the distance between two cities and find the speed of the car?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(a)210km,34km/h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(b)210km,35km/h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(c)208km,34km/h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(d)210km,36km/h</a:t>
            </a:r>
          </a:p>
        </p:txBody>
      </p:sp>
    </p:spTree>
    <p:extLst>
      <p:ext uri="{BB962C8B-B14F-4D97-AF65-F5344CB8AC3E}">
        <p14:creationId xmlns:p14="http://schemas.microsoft.com/office/powerpoint/2010/main" val="393171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2369" y="1745122"/>
            <a:ext cx="110850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18. Two bullets are fired from a place at an interval of 12 minutes. A person approaching that place hears it at the gap of 11 minutes. If speed of sound in 440 m/s then what is the speed of person.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(a)45m/sec (b)30m/sec (c)40m/sec (d)35m/sec</a:t>
            </a:r>
          </a:p>
        </p:txBody>
      </p:sp>
    </p:spTree>
    <p:extLst>
      <p:ext uri="{BB962C8B-B14F-4D97-AF65-F5344CB8AC3E}">
        <p14:creationId xmlns:p14="http://schemas.microsoft.com/office/powerpoint/2010/main" val="329610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1780291"/>
            <a:ext cx="110850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19. A metro leaves after every 15 minutes. A person is running towards metro then he catches the metro after 12 minutes. If speed of metro is 16 km/h. Find speed of man. 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(a)7km/h (b)6km/h (c)8km/h (d)4km/h</a:t>
            </a:r>
          </a:p>
        </p:txBody>
      </p:sp>
    </p:spTree>
    <p:extLst>
      <p:ext uri="{BB962C8B-B14F-4D97-AF65-F5344CB8AC3E}">
        <p14:creationId xmlns:p14="http://schemas.microsoft.com/office/powerpoint/2010/main" val="105876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A204F-4364-415F-9D65-FF2DC7C3AD9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24201" y="2967335"/>
            <a:ext cx="47436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Any </a:t>
            </a:r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Times New Roman" pitchFamily="18" charset="0"/>
                <a:cs typeface="Times New Roman" pitchFamily="18" charset="0"/>
              </a:rPr>
              <a:t>Doubts</a:t>
            </a:r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76186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0"/>
    </mc:Choice>
    <mc:Fallback xmlns="">
      <p:transition spd="slow" advTm="9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7530</TotalTime>
  <Words>2030</Words>
  <Application>Microsoft Office PowerPoint</Application>
  <PresentationFormat>Widescreen</PresentationFormat>
  <Paragraphs>214</Paragraphs>
  <Slides>34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Algerian</vt:lpstr>
      <vt:lpstr>Arial</vt:lpstr>
      <vt:lpstr>Calibri</vt:lpstr>
      <vt:lpstr>Comic Sans MS</vt:lpstr>
      <vt:lpstr>Showcard Gothic</vt:lpstr>
      <vt:lpstr>Times New Roman</vt:lpstr>
      <vt:lpstr>Office Theme</vt:lpstr>
      <vt:lpstr>Time Speed  And  Distance</vt:lpstr>
      <vt:lpstr>PowerPoint Presentation</vt:lpstr>
      <vt:lpstr>Subtopics: Relation between time, speed and distance, Conversion of speed Concept of average speed Concept of Relative Speed Concept of Distance Constant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on Constant Distance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</dc:creator>
  <cp:lastModifiedBy>Akshara Rana</cp:lastModifiedBy>
  <cp:revision>661</cp:revision>
  <dcterms:created xsi:type="dcterms:W3CDTF">2017-07-13T07:57:18Z</dcterms:created>
  <dcterms:modified xsi:type="dcterms:W3CDTF">2025-09-18T04:32:11Z</dcterms:modified>
</cp:coreProperties>
</file>