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notesMasterIdLst>
    <p:notesMasterId r:id="rId19"/>
  </p:notesMasterIdLst>
  <p:sldIdLst>
    <p:sldId id="536" r:id="rId2"/>
    <p:sldId id="537" r:id="rId3"/>
    <p:sldId id="420" r:id="rId4"/>
    <p:sldId id="520" r:id="rId5"/>
    <p:sldId id="522" r:id="rId6"/>
    <p:sldId id="523" r:id="rId7"/>
    <p:sldId id="517" r:id="rId8"/>
    <p:sldId id="433" r:id="rId9"/>
    <p:sldId id="502" r:id="rId10"/>
    <p:sldId id="543" r:id="rId11"/>
    <p:sldId id="531" r:id="rId12"/>
    <p:sldId id="512" r:id="rId13"/>
    <p:sldId id="451" r:id="rId14"/>
    <p:sldId id="511" r:id="rId15"/>
    <p:sldId id="453" r:id="rId16"/>
    <p:sldId id="464" r:id="rId17"/>
    <p:sldId id="33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494" autoAdjust="0"/>
    <p:restoredTop sz="86833" autoAdjust="0"/>
  </p:normalViewPr>
  <p:slideViewPr>
    <p:cSldViewPr snapToGrid="0">
      <p:cViewPr varScale="1">
        <p:scale>
          <a:sx n="81" d="100"/>
          <a:sy n="81" d="100"/>
        </p:scale>
        <p:origin x="1099"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646A4F-F976-47AD-9E0B-DEB8B87FF1C7}" type="datetimeFigureOut">
              <a:rPr lang="en-US" smtClean="0"/>
              <a:pPr/>
              <a:t>9/19/2025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4E5F1C-18F0-46A8-B179-598C90B80A18}" type="slidenum">
              <a:rPr lang="en-US" smtClean="0"/>
              <a:pPr/>
              <a:t>‹#›</a:t>
            </a:fld>
            <a:endParaRPr lang="en-US"/>
          </a:p>
        </p:txBody>
      </p:sp>
    </p:spTree>
    <p:extLst>
      <p:ext uri="{BB962C8B-B14F-4D97-AF65-F5344CB8AC3E}">
        <p14:creationId xmlns:p14="http://schemas.microsoft.com/office/powerpoint/2010/main" val="4008983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Correct Option: A (Compulsory)</a:t>
            </a:r>
          </a:p>
          <a:p>
            <a:endParaRPr lang="en-US" dirty="0"/>
          </a:p>
          <a:p>
            <a:r>
              <a:rPr lang="en-US" sz="1200" b="0" i="0" kern="1200" dirty="0">
                <a:solidFill>
                  <a:schemeClr val="tx1"/>
                </a:solidFill>
                <a:effectLst/>
                <a:latin typeface="+mn-lt"/>
                <a:ea typeface="+mn-ea"/>
                <a:cs typeface="+mn-cs"/>
              </a:rPr>
              <a:t>Relative speed of the thief and policeman  =  (11 – 10) km/</a:t>
            </a:r>
            <a:r>
              <a:rPr lang="en-US" sz="1200" b="0" i="0" kern="1200" dirty="0" err="1">
                <a:solidFill>
                  <a:schemeClr val="tx1"/>
                </a:solidFill>
                <a:effectLst/>
                <a:latin typeface="+mn-lt"/>
                <a:ea typeface="+mn-ea"/>
                <a:cs typeface="+mn-cs"/>
              </a:rPr>
              <a:t>hr</a:t>
            </a:r>
            <a:r>
              <a:rPr lang="en-US" sz="1200" b="0" i="0" kern="1200" dirty="0">
                <a:solidFill>
                  <a:schemeClr val="tx1"/>
                </a:solidFill>
                <a:effectLst/>
                <a:latin typeface="+mn-lt"/>
                <a:ea typeface="+mn-ea"/>
                <a:cs typeface="+mn-cs"/>
              </a:rPr>
              <a:t> = 1 km/</a:t>
            </a:r>
            <a:r>
              <a:rPr lang="en-US" sz="1200" b="0" i="0" kern="1200" dirty="0" err="1">
                <a:solidFill>
                  <a:schemeClr val="tx1"/>
                </a:solidFill>
                <a:effectLst/>
                <a:latin typeface="+mn-lt"/>
                <a:ea typeface="+mn-ea"/>
                <a:cs typeface="+mn-cs"/>
              </a:rPr>
              <a:t>hr</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Distance covered in 6 minutes  = (1/60) x 6 km   = 1/10 km = 100 m</a:t>
            </a:r>
          </a:p>
          <a:p>
            <a:r>
              <a:rPr lang="en-US" sz="1200" b="0" i="0" kern="1200" dirty="0">
                <a:solidFill>
                  <a:schemeClr val="tx1"/>
                </a:solidFill>
                <a:effectLst/>
                <a:latin typeface="+mn-lt"/>
                <a:ea typeface="+mn-ea"/>
                <a:cs typeface="+mn-cs"/>
              </a:rPr>
              <a:t>Therefore, Distance between the thief and policeman = (200 – 100) m = 100 m.</a:t>
            </a:r>
          </a:p>
        </p:txBody>
      </p:sp>
      <p:sp>
        <p:nvSpPr>
          <p:cNvPr id="4" name="Slide Number Placeholder 3"/>
          <p:cNvSpPr>
            <a:spLocks noGrp="1"/>
          </p:cNvSpPr>
          <p:nvPr>
            <p:ph type="sldNum" sz="quarter" idx="10"/>
          </p:nvPr>
        </p:nvSpPr>
        <p:spPr/>
        <p:txBody>
          <a:bodyPr/>
          <a:lstStyle/>
          <a:p>
            <a:fld id="{1C4E5F1C-18F0-46A8-B179-598C90B80A18}" type="slidenum">
              <a:rPr lang="en-US" smtClean="0"/>
              <a:pPr/>
              <a:t>3</a:t>
            </a:fld>
            <a:endParaRPr lang="en-US"/>
          </a:p>
        </p:txBody>
      </p:sp>
    </p:spTree>
    <p:extLst>
      <p:ext uri="{BB962C8B-B14F-4D97-AF65-F5344CB8AC3E}">
        <p14:creationId xmlns:p14="http://schemas.microsoft.com/office/powerpoint/2010/main" val="2488444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Correct Option: A (Compulsory)</a:t>
            </a:r>
          </a:p>
          <a:p>
            <a:endParaRPr lang="en-US" dirty="0"/>
          </a:p>
          <a:p>
            <a:r>
              <a:rPr lang="en-US" sz="1200" b="0" i="0" kern="1200" dirty="0">
                <a:solidFill>
                  <a:schemeClr val="tx1"/>
                </a:solidFill>
                <a:effectLst/>
                <a:latin typeface="+mn-lt"/>
                <a:ea typeface="+mn-ea"/>
                <a:cs typeface="+mn-cs"/>
              </a:rPr>
              <a:t>Relative speed of the thief and policeman  =  (11 – 10) km/</a:t>
            </a:r>
            <a:r>
              <a:rPr lang="en-US" sz="1200" b="0" i="0" kern="1200" dirty="0" err="1">
                <a:solidFill>
                  <a:schemeClr val="tx1"/>
                </a:solidFill>
                <a:effectLst/>
                <a:latin typeface="+mn-lt"/>
                <a:ea typeface="+mn-ea"/>
                <a:cs typeface="+mn-cs"/>
              </a:rPr>
              <a:t>hr</a:t>
            </a:r>
            <a:r>
              <a:rPr lang="en-US" sz="1200" b="0" i="0" kern="1200" dirty="0">
                <a:solidFill>
                  <a:schemeClr val="tx1"/>
                </a:solidFill>
                <a:effectLst/>
                <a:latin typeface="+mn-lt"/>
                <a:ea typeface="+mn-ea"/>
                <a:cs typeface="+mn-cs"/>
              </a:rPr>
              <a:t> = 1 km/</a:t>
            </a:r>
            <a:r>
              <a:rPr lang="en-US" sz="1200" b="0" i="0" kern="1200" dirty="0" err="1">
                <a:solidFill>
                  <a:schemeClr val="tx1"/>
                </a:solidFill>
                <a:effectLst/>
                <a:latin typeface="+mn-lt"/>
                <a:ea typeface="+mn-ea"/>
                <a:cs typeface="+mn-cs"/>
              </a:rPr>
              <a:t>hr</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Distance covered in 6 minutes  = (1/60) x 6 km   = 1/10 km = 100 m</a:t>
            </a:r>
          </a:p>
          <a:p>
            <a:r>
              <a:rPr lang="en-US" sz="1200" b="0" i="0" kern="1200" dirty="0">
                <a:solidFill>
                  <a:schemeClr val="tx1"/>
                </a:solidFill>
                <a:effectLst/>
                <a:latin typeface="+mn-lt"/>
                <a:ea typeface="+mn-ea"/>
                <a:cs typeface="+mn-cs"/>
              </a:rPr>
              <a:t>Therefore, Distance between the thief and policeman = (200 – 100) m = 100 m.</a:t>
            </a:r>
          </a:p>
        </p:txBody>
      </p:sp>
      <p:sp>
        <p:nvSpPr>
          <p:cNvPr id="4" name="Slide Number Placeholder 3"/>
          <p:cNvSpPr>
            <a:spLocks noGrp="1"/>
          </p:cNvSpPr>
          <p:nvPr>
            <p:ph type="sldNum" sz="quarter" idx="10"/>
          </p:nvPr>
        </p:nvSpPr>
        <p:spPr/>
        <p:txBody>
          <a:bodyPr/>
          <a:lstStyle/>
          <a:p>
            <a:fld id="{1C4E5F1C-18F0-46A8-B179-598C90B80A18}" type="slidenum">
              <a:rPr lang="en-US" smtClean="0"/>
              <a:pPr/>
              <a:t>4</a:t>
            </a:fld>
            <a:endParaRPr lang="en-US"/>
          </a:p>
        </p:txBody>
      </p:sp>
    </p:spTree>
    <p:extLst>
      <p:ext uri="{BB962C8B-B14F-4D97-AF65-F5344CB8AC3E}">
        <p14:creationId xmlns:p14="http://schemas.microsoft.com/office/powerpoint/2010/main" val="24884440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Correct Option: C (Compulsory)</a:t>
            </a:r>
          </a:p>
          <a:p>
            <a:endParaRPr lang="en-US" dirty="0"/>
          </a:p>
          <a:p>
            <a:r>
              <a:rPr lang="en-US" sz="1200" b="0" i="0" kern="1200" dirty="0">
                <a:solidFill>
                  <a:schemeClr val="tx1"/>
                </a:solidFill>
                <a:effectLst/>
                <a:latin typeface="+mn-lt"/>
                <a:ea typeface="+mn-ea"/>
                <a:cs typeface="+mn-cs"/>
              </a:rPr>
              <a:t>Relative speed of the thief and policeman  =  (11 – 10) km/</a:t>
            </a:r>
            <a:r>
              <a:rPr lang="en-US" sz="1200" b="0" i="0" kern="1200" dirty="0" err="1">
                <a:solidFill>
                  <a:schemeClr val="tx1"/>
                </a:solidFill>
                <a:effectLst/>
                <a:latin typeface="+mn-lt"/>
                <a:ea typeface="+mn-ea"/>
                <a:cs typeface="+mn-cs"/>
              </a:rPr>
              <a:t>hr</a:t>
            </a:r>
            <a:r>
              <a:rPr lang="en-US" sz="1200" b="0" i="0" kern="1200" dirty="0">
                <a:solidFill>
                  <a:schemeClr val="tx1"/>
                </a:solidFill>
                <a:effectLst/>
                <a:latin typeface="+mn-lt"/>
                <a:ea typeface="+mn-ea"/>
                <a:cs typeface="+mn-cs"/>
              </a:rPr>
              <a:t> = 1 km/</a:t>
            </a:r>
            <a:r>
              <a:rPr lang="en-US" sz="1200" b="0" i="0" kern="1200" dirty="0" err="1">
                <a:solidFill>
                  <a:schemeClr val="tx1"/>
                </a:solidFill>
                <a:effectLst/>
                <a:latin typeface="+mn-lt"/>
                <a:ea typeface="+mn-ea"/>
                <a:cs typeface="+mn-cs"/>
              </a:rPr>
              <a:t>hr</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Distance covered in 6 minutes  = (1/60) x 6 km   = 1/10 km = 100 m</a:t>
            </a:r>
          </a:p>
          <a:p>
            <a:r>
              <a:rPr lang="en-US" sz="1200" b="0" i="0" kern="1200" dirty="0">
                <a:solidFill>
                  <a:schemeClr val="tx1"/>
                </a:solidFill>
                <a:effectLst/>
                <a:latin typeface="+mn-lt"/>
                <a:ea typeface="+mn-ea"/>
                <a:cs typeface="+mn-cs"/>
              </a:rPr>
              <a:t>Therefore, Distance between the thief and policeman = (200 – 100) m = 100 m.</a:t>
            </a:r>
          </a:p>
        </p:txBody>
      </p:sp>
      <p:sp>
        <p:nvSpPr>
          <p:cNvPr id="4" name="Slide Number Placeholder 3"/>
          <p:cNvSpPr>
            <a:spLocks noGrp="1"/>
          </p:cNvSpPr>
          <p:nvPr>
            <p:ph type="sldNum" sz="quarter" idx="10"/>
          </p:nvPr>
        </p:nvSpPr>
        <p:spPr/>
        <p:txBody>
          <a:bodyPr/>
          <a:lstStyle/>
          <a:p>
            <a:fld id="{1C4E5F1C-18F0-46A8-B179-598C90B80A18}" type="slidenum">
              <a:rPr lang="en-US" smtClean="0"/>
              <a:pPr/>
              <a:t>5</a:t>
            </a:fld>
            <a:endParaRPr lang="en-US"/>
          </a:p>
        </p:txBody>
      </p:sp>
    </p:spTree>
    <p:extLst>
      <p:ext uri="{BB962C8B-B14F-4D97-AF65-F5344CB8AC3E}">
        <p14:creationId xmlns:p14="http://schemas.microsoft.com/office/powerpoint/2010/main" val="24884440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Correct Option: C (Compulsory)</a:t>
            </a:r>
          </a:p>
          <a:p>
            <a:endParaRPr lang="en-US" dirty="0"/>
          </a:p>
          <a:p>
            <a:r>
              <a:rPr lang="en-US" sz="1200" b="0" i="0" kern="1200" dirty="0">
                <a:solidFill>
                  <a:schemeClr val="tx1"/>
                </a:solidFill>
                <a:effectLst/>
                <a:latin typeface="+mn-lt"/>
                <a:ea typeface="+mn-ea"/>
                <a:cs typeface="+mn-cs"/>
              </a:rPr>
              <a:t>Relative speed of the thief and policeman  =  (11 – 10) km/</a:t>
            </a:r>
            <a:r>
              <a:rPr lang="en-US" sz="1200" b="0" i="0" kern="1200" dirty="0" err="1">
                <a:solidFill>
                  <a:schemeClr val="tx1"/>
                </a:solidFill>
                <a:effectLst/>
                <a:latin typeface="+mn-lt"/>
                <a:ea typeface="+mn-ea"/>
                <a:cs typeface="+mn-cs"/>
              </a:rPr>
              <a:t>hr</a:t>
            </a:r>
            <a:r>
              <a:rPr lang="en-US" sz="1200" b="0" i="0" kern="1200" dirty="0">
                <a:solidFill>
                  <a:schemeClr val="tx1"/>
                </a:solidFill>
                <a:effectLst/>
                <a:latin typeface="+mn-lt"/>
                <a:ea typeface="+mn-ea"/>
                <a:cs typeface="+mn-cs"/>
              </a:rPr>
              <a:t> = 1 km/</a:t>
            </a:r>
            <a:r>
              <a:rPr lang="en-US" sz="1200" b="0" i="0" kern="1200" dirty="0" err="1">
                <a:solidFill>
                  <a:schemeClr val="tx1"/>
                </a:solidFill>
                <a:effectLst/>
                <a:latin typeface="+mn-lt"/>
                <a:ea typeface="+mn-ea"/>
                <a:cs typeface="+mn-cs"/>
              </a:rPr>
              <a:t>hr</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Distance covered in 6 minutes  = (1/60) x 6 km   = 1/10 km = 100 m</a:t>
            </a:r>
          </a:p>
          <a:p>
            <a:r>
              <a:rPr lang="en-US" sz="1200" b="0" i="0" kern="1200" dirty="0">
                <a:solidFill>
                  <a:schemeClr val="tx1"/>
                </a:solidFill>
                <a:effectLst/>
                <a:latin typeface="+mn-lt"/>
                <a:ea typeface="+mn-ea"/>
                <a:cs typeface="+mn-cs"/>
              </a:rPr>
              <a:t>Therefore, Distance between the thief and policeman = (200 – 100) m = 100 m.</a:t>
            </a:r>
          </a:p>
        </p:txBody>
      </p:sp>
      <p:sp>
        <p:nvSpPr>
          <p:cNvPr id="4" name="Slide Number Placeholder 3"/>
          <p:cNvSpPr>
            <a:spLocks noGrp="1"/>
          </p:cNvSpPr>
          <p:nvPr>
            <p:ph type="sldNum" sz="quarter" idx="10"/>
          </p:nvPr>
        </p:nvSpPr>
        <p:spPr/>
        <p:txBody>
          <a:bodyPr/>
          <a:lstStyle/>
          <a:p>
            <a:fld id="{1C4E5F1C-18F0-46A8-B179-598C90B80A18}" type="slidenum">
              <a:rPr lang="en-US" smtClean="0"/>
              <a:pPr/>
              <a:t>6</a:t>
            </a:fld>
            <a:endParaRPr lang="en-US"/>
          </a:p>
        </p:txBody>
      </p:sp>
    </p:spTree>
    <p:extLst>
      <p:ext uri="{BB962C8B-B14F-4D97-AF65-F5344CB8AC3E}">
        <p14:creationId xmlns:p14="http://schemas.microsoft.com/office/powerpoint/2010/main" val="2488444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Correct</a:t>
            </a:r>
            <a:r>
              <a:rPr lang="en-US" baseline="0" dirty="0"/>
              <a:t> Option: </a:t>
            </a:r>
            <a:r>
              <a:rPr lang="en-US" sz="1200" b="0" i="0" kern="1200" dirty="0">
                <a:solidFill>
                  <a:schemeClr val="tx1"/>
                </a:solidFill>
                <a:effectLst/>
                <a:latin typeface="+mn-lt"/>
                <a:ea typeface="+mn-ea"/>
                <a:cs typeface="+mn-cs"/>
              </a:rPr>
              <a:t> B) </a:t>
            </a:r>
            <a:r>
              <a:rPr lang="en-US" dirty="0"/>
              <a:t>(Compulsory)</a:t>
            </a:r>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1C4E5F1C-18F0-46A8-B179-598C90B80A18}" type="slidenum">
              <a:rPr lang="en-US" smtClean="0"/>
              <a:pPr/>
              <a:t>7</a:t>
            </a:fld>
            <a:endParaRPr lang="en-US"/>
          </a:p>
        </p:txBody>
      </p:sp>
    </p:spTree>
    <p:extLst>
      <p:ext uri="{BB962C8B-B14F-4D97-AF65-F5344CB8AC3E}">
        <p14:creationId xmlns:p14="http://schemas.microsoft.com/office/powerpoint/2010/main" val="15886900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a:t>
            </a:r>
            <a:r>
              <a:rPr lang="en-US" baseline="0" dirty="0"/>
              <a:t> Option: </a:t>
            </a:r>
            <a:r>
              <a:rPr lang="en-US" sz="1200" b="0" i="0" kern="1200" baseline="0" dirty="0">
                <a:solidFill>
                  <a:schemeClr val="tx1"/>
                </a:solidFill>
                <a:effectLst/>
                <a:latin typeface="+mn-lt"/>
                <a:ea typeface="+mn-ea"/>
                <a:cs typeface="+mn-cs"/>
              </a:rPr>
              <a:t>D)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(Optional)</a:t>
            </a:r>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1C4E5F1C-18F0-46A8-B179-598C90B80A18}" type="slidenum">
              <a:rPr lang="en-US" smtClean="0"/>
              <a:pPr/>
              <a:t>8</a:t>
            </a:fld>
            <a:endParaRPr lang="en-US"/>
          </a:p>
        </p:txBody>
      </p:sp>
    </p:spTree>
    <p:extLst>
      <p:ext uri="{BB962C8B-B14F-4D97-AF65-F5344CB8AC3E}">
        <p14:creationId xmlns:p14="http://schemas.microsoft.com/office/powerpoint/2010/main" val="24884440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D</a:t>
            </a:r>
          </a:p>
        </p:txBody>
      </p:sp>
      <p:sp>
        <p:nvSpPr>
          <p:cNvPr id="4" name="Slide Number Placeholder 3"/>
          <p:cNvSpPr>
            <a:spLocks noGrp="1"/>
          </p:cNvSpPr>
          <p:nvPr>
            <p:ph type="sldNum" sz="quarter" idx="10"/>
          </p:nvPr>
        </p:nvSpPr>
        <p:spPr/>
        <p:txBody>
          <a:bodyPr/>
          <a:lstStyle/>
          <a:p>
            <a:fld id="{1C4E5F1C-18F0-46A8-B179-598C90B80A18}" type="slidenum">
              <a:rPr lang="en-US" smtClean="0"/>
              <a:pPr/>
              <a:t>9</a:t>
            </a:fld>
            <a:endParaRPr lang="en-US"/>
          </a:p>
        </p:txBody>
      </p:sp>
    </p:spTree>
    <p:extLst>
      <p:ext uri="{BB962C8B-B14F-4D97-AF65-F5344CB8AC3E}">
        <p14:creationId xmlns:p14="http://schemas.microsoft.com/office/powerpoint/2010/main" val="25760327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D</a:t>
            </a:r>
          </a:p>
        </p:txBody>
      </p:sp>
      <p:sp>
        <p:nvSpPr>
          <p:cNvPr id="4" name="Slide Number Placeholder 3"/>
          <p:cNvSpPr>
            <a:spLocks noGrp="1"/>
          </p:cNvSpPr>
          <p:nvPr>
            <p:ph type="sldNum" sz="quarter" idx="10"/>
          </p:nvPr>
        </p:nvSpPr>
        <p:spPr/>
        <p:txBody>
          <a:bodyPr/>
          <a:lstStyle/>
          <a:p>
            <a:fld id="{1C4E5F1C-18F0-46A8-B179-598C90B80A18}" type="slidenum">
              <a:rPr lang="en-US" smtClean="0"/>
              <a:pPr/>
              <a:t>10</a:t>
            </a:fld>
            <a:endParaRPr lang="en-US"/>
          </a:p>
        </p:txBody>
      </p:sp>
    </p:spTree>
    <p:extLst>
      <p:ext uri="{BB962C8B-B14F-4D97-AF65-F5344CB8AC3E}">
        <p14:creationId xmlns:p14="http://schemas.microsoft.com/office/powerpoint/2010/main" val="25760327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Difficulty level : medium (Compulsory)</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r>
              <a:rPr lang="en-US" dirty="0"/>
              <a:t>Option A</a:t>
            </a:r>
          </a:p>
        </p:txBody>
      </p:sp>
      <p:sp>
        <p:nvSpPr>
          <p:cNvPr id="4" name="Slide Number Placeholder 3"/>
          <p:cNvSpPr>
            <a:spLocks noGrp="1"/>
          </p:cNvSpPr>
          <p:nvPr>
            <p:ph type="sldNum" sz="quarter" idx="10"/>
          </p:nvPr>
        </p:nvSpPr>
        <p:spPr/>
        <p:txBody>
          <a:bodyPr/>
          <a:lstStyle/>
          <a:p>
            <a:fld id="{1C4E5F1C-18F0-46A8-B179-598C90B80A18}" type="slidenum">
              <a:rPr lang="en-US" smtClean="0"/>
              <a:pPr/>
              <a:t>11</a:t>
            </a:fld>
            <a:endParaRPr lang="en-US"/>
          </a:p>
        </p:txBody>
      </p:sp>
    </p:spTree>
    <p:extLst>
      <p:ext uri="{BB962C8B-B14F-4D97-AF65-F5344CB8AC3E}">
        <p14:creationId xmlns:p14="http://schemas.microsoft.com/office/powerpoint/2010/main" val="25760327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Difficulty level : Easy (Optional)</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Option D</a:t>
            </a:r>
          </a:p>
        </p:txBody>
      </p:sp>
      <p:sp>
        <p:nvSpPr>
          <p:cNvPr id="4" name="Slide Number Placeholder 3"/>
          <p:cNvSpPr>
            <a:spLocks noGrp="1"/>
          </p:cNvSpPr>
          <p:nvPr>
            <p:ph type="sldNum" sz="quarter" idx="10"/>
          </p:nvPr>
        </p:nvSpPr>
        <p:spPr/>
        <p:txBody>
          <a:bodyPr/>
          <a:lstStyle/>
          <a:p>
            <a:fld id="{1C4E5F1C-18F0-46A8-B179-598C90B80A18}" type="slidenum">
              <a:rPr lang="en-US" smtClean="0"/>
              <a:pPr/>
              <a:t>12</a:t>
            </a:fld>
            <a:endParaRPr lang="en-US"/>
          </a:p>
        </p:txBody>
      </p:sp>
    </p:spTree>
    <p:extLst>
      <p:ext uri="{BB962C8B-B14F-4D97-AF65-F5344CB8AC3E}">
        <p14:creationId xmlns:p14="http://schemas.microsoft.com/office/powerpoint/2010/main" val="20254089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a:p>
            <a:r>
              <a:rPr lang="en-US" dirty="0"/>
              <a:t>Option C</a:t>
            </a:r>
          </a:p>
        </p:txBody>
      </p:sp>
      <p:sp>
        <p:nvSpPr>
          <p:cNvPr id="4" name="Slide Number Placeholder 3"/>
          <p:cNvSpPr>
            <a:spLocks noGrp="1"/>
          </p:cNvSpPr>
          <p:nvPr>
            <p:ph type="sldNum" sz="quarter" idx="10"/>
          </p:nvPr>
        </p:nvSpPr>
        <p:spPr/>
        <p:txBody>
          <a:bodyPr/>
          <a:lstStyle/>
          <a:p>
            <a:fld id="{1C4E5F1C-18F0-46A8-B179-598C90B80A18}" type="slidenum">
              <a:rPr lang="en-US" smtClean="0"/>
              <a:pPr/>
              <a:t>13</a:t>
            </a:fld>
            <a:endParaRPr lang="en-US"/>
          </a:p>
        </p:txBody>
      </p:sp>
    </p:spTree>
    <p:extLst>
      <p:ext uri="{BB962C8B-B14F-4D97-AF65-F5344CB8AC3E}">
        <p14:creationId xmlns:p14="http://schemas.microsoft.com/office/powerpoint/2010/main" val="31226720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Difficulty level : Easy (Compulsory)</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r>
              <a:rPr lang="en-US" dirty="0"/>
              <a:t>Option B</a:t>
            </a:r>
          </a:p>
        </p:txBody>
      </p:sp>
      <p:sp>
        <p:nvSpPr>
          <p:cNvPr id="4" name="Slide Number Placeholder 3"/>
          <p:cNvSpPr>
            <a:spLocks noGrp="1"/>
          </p:cNvSpPr>
          <p:nvPr>
            <p:ph type="sldNum" sz="quarter" idx="10"/>
          </p:nvPr>
        </p:nvSpPr>
        <p:spPr/>
        <p:txBody>
          <a:bodyPr/>
          <a:lstStyle/>
          <a:p>
            <a:fld id="{1C4E5F1C-18F0-46A8-B179-598C90B80A18}" type="slidenum">
              <a:rPr lang="en-US" smtClean="0"/>
              <a:pPr/>
              <a:t>14</a:t>
            </a:fld>
            <a:endParaRPr lang="en-US"/>
          </a:p>
        </p:txBody>
      </p:sp>
    </p:spTree>
    <p:extLst>
      <p:ext uri="{BB962C8B-B14F-4D97-AF65-F5344CB8AC3E}">
        <p14:creationId xmlns:p14="http://schemas.microsoft.com/office/powerpoint/2010/main" val="27144927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Difficulty level : Expert (Compulsory)</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r>
              <a:rPr lang="en-US" dirty="0"/>
              <a:t>Option D</a:t>
            </a:r>
          </a:p>
        </p:txBody>
      </p:sp>
      <p:sp>
        <p:nvSpPr>
          <p:cNvPr id="4" name="Slide Number Placeholder 3"/>
          <p:cNvSpPr>
            <a:spLocks noGrp="1"/>
          </p:cNvSpPr>
          <p:nvPr>
            <p:ph type="sldNum" sz="quarter" idx="10"/>
          </p:nvPr>
        </p:nvSpPr>
        <p:spPr/>
        <p:txBody>
          <a:bodyPr/>
          <a:lstStyle/>
          <a:p>
            <a:fld id="{1C4E5F1C-18F0-46A8-B179-598C90B80A18}" type="slidenum">
              <a:rPr lang="en-US" smtClean="0"/>
              <a:pPr/>
              <a:t>15</a:t>
            </a:fld>
            <a:endParaRPr lang="en-US"/>
          </a:p>
        </p:txBody>
      </p:sp>
    </p:spTree>
    <p:extLst>
      <p:ext uri="{BB962C8B-B14F-4D97-AF65-F5344CB8AC3E}">
        <p14:creationId xmlns:p14="http://schemas.microsoft.com/office/powerpoint/2010/main" val="18539776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Difficulty level : Expert (Compulsory)</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Option B</a:t>
            </a:r>
          </a:p>
        </p:txBody>
      </p:sp>
      <p:sp>
        <p:nvSpPr>
          <p:cNvPr id="4" name="Slide Number Placeholder 3"/>
          <p:cNvSpPr>
            <a:spLocks noGrp="1"/>
          </p:cNvSpPr>
          <p:nvPr>
            <p:ph type="sldNum" sz="quarter" idx="10"/>
          </p:nvPr>
        </p:nvSpPr>
        <p:spPr/>
        <p:txBody>
          <a:bodyPr/>
          <a:lstStyle/>
          <a:p>
            <a:fld id="{1C4E5F1C-18F0-46A8-B179-598C90B80A18}" type="slidenum">
              <a:rPr lang="en-US" smtClean="0"/>
              <a:pPr/>
              <a:t>16</a:t>
            </a:fld>
            <a:endParaRPr lang="en-US"/>
          </a:p>
        </p:txBody>
      </p:sp>
    </p:spTree>
    <p:extLst>
      <p:ext uri="{BB962C8B-B14F-4D97-AF65-F5344CB8AC3E}">
        <p14:creationId xmlns:p14="http://schemas.microsoft.com/office/powerpoint/2010/main" val="6098267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C7B6E1B-5CD6-457E-B12E-40DB70920123}" type="datetimeFigureOut">
              <a:rPr lang="en-US" smtClean="0"/>
              <a:pPr/>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6FD98F-884B-4231-90DD-78567DD4FAEB}" type="slidenum">
              <a:rPr lang="en-US" smtClean="0"/>
              <a:pPr/>
              <a:t>‹#›</a:t>
            </a:fld>
            <a:endParaRPr lang="en-US"/>
          </a:p>
        </p:txBody>
      </p:sp>
    </p:spTree>
    <p:extLst>
      <p:ext uri="{BB962C8B-B14F-4D97-AF65-F5344CB8AC3E}">
        <p14:creationId xmlns:p14="http://schemas.microsoft.com/office/powerpoint/2010/main" val="10960209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7B6E1B-5CD6-457E-B12E-40DB70920123}" type="datetimeFigureOut">
              <a:rPr lang="en-US" smtClean="0"/>
              <a:pPr/>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6FD98F-884B-4231-90DD-78567DD4FAEB}" type="slidenum">
              <a:rPr lang="en-US" smtClean="0"/>
              <a:pPr/>
              <a:t>‹#›</a:t>
            </a:fld>
            <a:endParaRPr lang="en-US"/>
          </a:p>
        </p:txBody>
      </p:sp>
    </p:spTree>
    <p:extLst>
      <p:ext uri="{BB962C8B-B14F-4D97-AF65-F5344CB8AC3E}">
        <p14:creationId xmlns:p14="http://schemas.microsoft.com/office/powerpoint/2010/main" val="19989801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7B6E1B-5CD6-457E-B12E-40DB70920123}" type="datetimeFigureOut">
              <a:rPr lang="en-US" smtClean="0"/>
              <a:pPr/>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6FD98F-884B-4231-90DD-78567DD4FAEB}" type="slidenum">
              <a:rPr lang="en-US" smtClean="0"/>
              <a:pPr/>
              <a:t>‹#›</a:t>
            </a:fld>
            <a:endParaRPr lang="en-US"/>
          </a:p>
        </p:txBody>
      </p:sp>
    </p:spTree>
    <p:extLst>
      <p:ext uri="{BB962C8B-B14F-4D97-AF65-F5344CB8AC3E}">
        <p14:creationId xmlns:p14="http://schemas.microsoft.com/office/powerpoint/2010/main" val="3585872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7B6E1B-5CD6-457E-B12E-40DB70920123}" type="datetimeFigureOut">
              <a:rPr lang="en-US" smtClean="0"/>
              <a:pPr/>
              <a:t>9/19/2025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6FD98F-884B-4231-90DD-78567DD4FAEB}" type="slidenum">
              <a:rPr lang="en-US" smtClean="0"/>
              <a:pPr/>
              <a:t>‹#›</a:t>
            </a:fld>
            <a:endParaRPr lang="en-US"/>
          </a:p>
        </p:txBody>
      </p:sp>
    </p:spTree>
    <p:extLst>
      <p:ext uri="{BB962C8B-B14F-4D97-AF65-F5344CB8AC3E}">
        <p14:creationId xmlns:p14="http://schemas.microsoft.com/office/powerpoint/2010/main" val="707024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C7B6E1B-5CD6-457E-B12E-40DB70920123}" type="datetimeFigureOut">
              <a:rPr lang="en-US" smtClean="0"/>
              <a:pPr/>
              <a:t>9/19/2025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E6FD98F-884B-4231-90DD-78567DD4FAEB}" type="slidenum">
              <a:rPr lang="en-US" smtClean="0"/>
              <a:pPr/>
              <a:t>‹#›</a:t>
            </a:fld>
            <a:endParaRPr lang="en-US"/>
          </a:p>
        </p:txBody>
      </p:sp>
    </p:spTree>
    <p:extLst>
      <p:ext uri="{BB962C8B-B14F-4D97-AF65-F5344CB8AC3E}">
        <p14:creationId xmlns:p14="http://schemas.microsoft.com/office/powerpoint/2010/main" val="3363309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C7B6E1B-5CD6-457E-B12E-40DB70920123}" type="datetimeFigureOut">
              <a:rPr lang="en-US" smtClean="0"/>
              <a:pPr/>
              <a:t>9/19/2025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6FD98F-884B-4231-90DD-78567DD4FAEB}" type="slidenum">
              <a:rPr lang="en-US" smtClean="0"/>
              <a:pPr/>
              <a:t>‹#›</a:t>
            </a:fld>
            <a:endParaRPr lang="en-US"/>
          </a:p>
        </p:txBody>
      </p:sp>
    </p:spTree>
    <p:extLst>
      <p:ext uri="{BB962C8B-B14F-4D97-AF65-F5344CB8AC3E}">
        <p14:creationId xmlns:p14="http://schemas.microsoft.com/office/powerpoint/2010/main" val="2269343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7B6E1B-5CD6-457E-B12E-40DB70920123}" type="datetimeFigureOut">
              <a:rPr lang="en-US" smtClean="0"/>
              <a:pPr/>
              <a:t>9/19/2025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E6FD98F-884B-4231-90DD-78567DD4FAEB}" type="slidenum">
              <a:rPr lang="en-US" smtClean="0"/>
              <a:pPr/>
              <a:t>‹#›</a:t>
            </a:fld>
            <a:endParaRPr lang="en-US"/>
          </a:p>
        </p:txBody>
      </p:sp>
    </p:spTree>
    <p:extLst>
      <p:ext uri="{BB962C8B-B14F-4D97-AF65-F5344CB8AC3E}">
        <p14:creationId xmlns:p14="http://schemas.microsoft.com/office/powerpoint/2010/main" val="2799208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7B6E1B-5CD6-457E-B12E-40DB70920123}" type="datetimeFigureOut">
              <a:rPr lang="en-US" smtClean="0"/>
              <a:pPr/>
              <a:t>9/19/2025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6FD98F-884B-4231-90DD-78567DD4FAEB}" type="slidenum">
              <a:rPr lang="en-US" smtClean="0"/>
              <a:pPr/>
              <a:t>‹#›</a:t>
            </a:fld>
            <a:endParaRPr lang="en-US"/>
          </a:p>
        </p:txBody>
      </p:sp>
    </p:spTree>
    <p:extLst>
      <p:ext uri="{BB962C8B-B14F-4D97-AF65-F5344CB8AC3E}">
        <p14:creationId xmlns:p14="http://schemas.microsoft.com/office/powerpoint/2010/main" val="3109619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7B6E1B-5CD6-457E-B12E-40DB70920123}" type="datetimeFigureOut">
              <a:rPr lang="en-US" smtClean="0"/>
              <a:pPr/>
              <a:t>9/19/2025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6FD98F-884B-4231-90DD-78567DD4FAEB}" type="slidenum">
              <a:rPr lang="en-US" smtClean="0"/>
              <a:pPr/>
              <a:t>‹#›</a:t>
            </a:fld>
            <a:endParaRPr lang="en-US"/>
          </a:p>
        </p:txBody>
      </p:sp>
    </p:spTree>
    <p:extLst>
      <p:ext uri="{BB962C8B-B14F-4D97-AF65-F5344CB8AC3E}">
        <p14:creationId xmlns:p14="http://schemas.microsoft.com/office/powerpoint/2010/main" val="3368569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7B6E1B-5CD6-457E-B12E-40DB70920123}" type="datetimeFigureOut">
              <a:rPr lang="en-US" smtClean="0"/>
              <a:pPr/>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6FD98F-884B-4231-90DD-78567DD4FAEB}" type="slidenum">
              <a:rPr lang="en-US" smtClean="0"/>
              <a:pPr/>
              <a:t>‹#›</a:t>
            </a:fld>
            <a:endParaRPr lang="en-US"/>
          </a:p>
        </p:txBody>
      </p:sp>
    </p:spTree>
    <p:extLst>
      <p:ext uri="{BB962C8B-B14F-4D97-AF65-F5344CB8AC3E}">
        <p14:creationId xmlns:p14="http://schemas.microsoft.com/office/powerpoint/2010/main" val="31092077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7B6E1B-5CD6-457E-B12E-40DB70920123}" type="datetimeFigureOut">
              <a:rPr lang="en-US" smtClean="0"/>
              <a:pPr/>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6FD98F-884B-4231-90DD-78567DD4FAEB}" type="slidenum">
              <a:rPr lang="en-US" smtClean="0"/>
              <a:pPr/>
              <a:t>‹#›</a:t>
            </a:fld>
            <a:endParaRPr lang="en-US"/>
          </a:p>
        </p:txBody>
      </p:sp>
    </p:spTree>
    <p:extLst>
      <p:ext uri="{BB962C8B-B14F-4D97-AF65-F5344CB8AC3E}">
        <p14:creationId xmlns:p14="http://schemas.microsoft.com/office/powerpoint/2010/main" val="3154678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7B6E1B-5CD6-457E-B12E-40DB70920123}" type="datetimeFigureOut">
              <a:rPr lang="en-US" smtClean="0"/>
              <a:pPr/>
              <a:t>9/19/2025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6FD98F-884B-4231-90DD-78567DD4FAEB}" type="slidenum">
              <a:rPr lang="en-US" smtClean="0"/>
              <a:pPr/>
              <a:t>‹#›</a:t>
            </a:fld>
            <a:endParaRPr lang="en-US"/>
          </a:p>
        </p:txBody>
      </p:sp>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28954" y="0"/>
            <a:ext cx="11957538" cy="609600"/>
          </a:xfrm>
          <a:prstGeom prst="rect">
            <a:avLst/>
          </a:prstGeom>
        </p:spPr>
      </p:pic>
    </p:spTree>
    <p:extLst>
      <p:ext uri="{BB962C8B-B14F-4D97-AF65-F5344CB8AC3E}">
        <p14:creationId xmlns:p14="http://schemas.microsoft.com/office/powerpoint/2010/main" val="857254861"/>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normAutofit fontScale="90000"/>
          </a:bodyPr>
          <a:lstStyle/>
          <a:p>
            <a:pPr eaLnBrk="1" hangingPunct="1"/>
            <a:r>
              <a:rPr lang="en-US" altLang="en-US" sz="7200">
                <a:latin typeface="Algerian" pitchFamily="82" charset="0"/>
                <a:ea typeface="Aharoni" pitchFamily="2" charset="0"/>
                <a:cs typeface="Aharoni" pitchFamily="2" charset="0"/>
              </a:rPr>
              <a:t>Time Speed </a:t>
            </a:r>
            <a:br>
              <a:rPr lang="en-US" altLang="en-US" sz="7200">
                <a:latin typeface="Algerian" pitchFamily="82" charset="0"/>
                <a:ea typeface="Aharoni" pitchFamily="2" charset="0"/>
                <a:cs typeface="Aharoni" pitchFamily="2" charset="0"/>
              </a:rPr>
            </a:br>
            <a:r>
              <a:rPr lang="en-US" altLang="en-US" sz="7200">
                <a:latin typeface="Algerian" pitchFamily="82" charset="0"/>
                <a:ea typeface="Aharoni" pitchFamily="2" charset="0"/>
                <a:cs typeface="Aharoni" pitchFamily="2" charset="0"/>
              </a:rPr>
              <a:t>And </a:t>
            </a:r>
            <a:br>
              <a:rPr lang="en-US" altLang="en-US" sz="7200">
                <a:latin typeface="Algerian" pitchFamily="82" charset="0"/>
                <a:ea typeface="Aharoni" pitchFamily="2" charset="0"/>
                <a:cs typeface="Aharoni" pitchFamily="2" charset="0"/>
              </a:rPr>
            </a:br>
            <a:r>
              <a:rPr lang="en-US" altLang="en-US" sz="7200">
                <a:latin typeface="Algerian" pitchFamily="82" charset="0"/>
                <a:ea typeface="Aharoni" pitchFamily="2" charset="0"/>
                <a:cs typeface="Aharoni" pitchFamily="2" charset="0"/>
              </a:rPr>
              <a:t>Distance</a:t>
            </a:r>
          </a:p>
        </p:txBody>
      </p:sp>
    </p:spTree>
    <p:extLst>
      <p:ext uri="{BB962C8B-B14F-4D97-AF65-F5344CB8AC3E}">
        <p14:creationId xmlns:p14="http://schemas.microsoft.com/office/powerpoint/2010/main" val="2505319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noAutofit/>
          </a:bodyPr>
          <a:lstStyle/>
          <a:p>
            <a:pPr marL="342900" lvl="0" indent="-342900" algn="l">
              <a:buFont typeface="Wingdings" pitchFamily="2" charset="2"/>
              <a:buChar char="Ø"/>
            </a:pPr>
            <a:r>
              <a:rPr lang="en-US" sz="3600" b="0" i="0" u="none" dirty="0">
                <a:latin typeface="Times New Roman" pitchFamily="18" charset="0"/>
                <a:cs typeface="Times New Roman" pitchFamily="18" charset="0"/>
              </a:rPr>
              <a:t>Subtopics</a:t>
            </a:r>
            <a:br>
              <a:rPr lang="en-US" sz="3600" b="0" i="0" u="none" dirty="0">
                <a:latin typeface="Times New Roman" pitchFamily="18" charset="0"/>
                <a:cs typeface="Times New Roman" pitchFamily="18" charset="0"/>
              </a:rPr>
            </a:br>
            <a:r>
              <a:rPr lang="en-US" sz="3600" b="0" i="0" u="none" dirty="0">
                <a:latin typeface="Times New Roman" pitchFamily="18" charset="0"/>
                <a:cs typeface="Times New Roman" pitchFamily="18" charset="0"/>
              </a:rPr>
              <a:t>1. Concept of </a:t>
            </a:r>
            <a:r>
              <a:rPr lang="en-US" sz="3600" dirty="0">
                <a:latin typeface="Times New Roman" pitchFamily="18" charset="0"/>
                <a:cs typeface="Times New Roman" pitchFamily="18" charset="0"/>
              </a:rPr>
              <a:t>Constant Time</a:t>
            </a:r>
            <a:br>
              <a:rPr lang="en-US" sz="3600" dirty="0">
                <a:latin typeface="Times New Roman" pitchFamily="18" charset="0"/>
                <a:cs typeface="Times New Roman" pitchFamily="18" charset="0"/>
              </a:rPr>
            </a:br>
            <a:br>
              <a:rPr lang="en-US" sz="3600" dirty="0">
                <a:latin typeface="Times New Roman" pitchFamily="18" charset="0"/>
                <a:cs typeface="Times New Roman" pitchFamily="18" charset="0"/>
              </a:rPr>
            </a:br>
            <a:r>
              <a:rPr lang="en-US" sz="3600" dirty="0">
                <a:latin typeface="Times New Roman" pitchFamily="18" charset="0"/>
                <a:cs typeface="Times New Roman" pitchFamily="18" charset="0"/>
              </a:rPr>
              <a:t>2. </a:t>
            </a:r>
            <a:r>
              <a:rPr lang="en-US" sz="3600" b="0" i="0" u="none" dirty="0">
                <a:latin typeface="Times New Roman" pitchFamily="18" charset="0"/>
                <a:cs typeface="Times New Roman" pitchFamily="18" charset="0"/>
              </a:rPr>
              <a:t>Miscellaneous</a:t>
            </a:r>
            <a:br>
              <a:rPr lang="en-US" sz="3600" dirty="0">
                <a:latin typeface="Times New Roman" pitchFamily="18" charset="0"/>
                <a:cs typeface="Times New Roman" pitchFamily="18" charset="0"/>
              </a:rPr>
            </a:br>
            <a:endParaRPr lang="en-US" altLang="en-US" sz="3600" dirty="0">
              <a:latin typeface="Algerian" pitchFamily="82" charset="0"/>
              <a:ea typeface="Aharoni" pitchFamily="2" charset="0"/>
              <a:cs typeface="Aharoni" pitchFamily="2" charset="0"/>
            </a:endParaRPr>
          </a:p>
        </p:txBody>
      </p:sp>
    </p:spTree>
    <p:extLst>
      <p:ext uri="{BB962C8B-B14F-4D97-AF65-F5344CB8AC3E}">
        <p14:creationId xmlns:p14="http://schemas.microsoft.com/office/powerpoint/2010/main" val="10024315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90918" y="2566893"/>
            <a:ext cx="11085094" cy="923330"/>
          </a:xfrm>
          <a:prstGeom prst="rect">
            <a:avLst/>
          </a:prstGeom>
        </p:spPr>
        <p:txBody>
          <a:bodyPr wrap="square">
            <a:spAutoFit/>
          </a:bodyPr>
          <a:lstStyle/>
          <a:p>
            <a:pPr lvl="0"/>
            <a:r>
              <a:rPr lang="en-US" sz="5400" dirty="0">
                <a:latin typeface="Showcard Gothic" pitchFamily="82" charset="0"/>
                <a:cs typeface="Times New Roman" pitchFamily="18" charset="0"/>
              </a:rPr>
              <a:t>Problems on Constant Time</a:t>
            </a:r>
            <a:endParaRPr lang="en-US" sz="5400" b="1" dirty="0">
              <a:latin typeface="Showcard Gothic" pitchFamily="82" charset="0"/>
              <a:cs typeface="Times New Roman" pitchFamily="18" charset="0"/>
            </a:endParaRPr>
          </a:p>
        </p:txBody>
      </p:sp>
    </p:spTree>
    <p:extLst>
      <p:ext uri="{BB962C8B-B14F-4D97-AF65-F5344CB8AC3E}">
        <p14:creationId xmlns:p14="http://schemas.microsoft.com/office/powerpoint/2010/main" val="2798605195"/>
      </p:ext>
    </p:extLst>
  </p:cSld>
  <p:clrMapOvr>
    <a:masterClrMapping/>
  </p:clrMapOvr>
  <mc:AlternateContent xmlns:mc="http://schemas.openxmlformats.org/markup-compatibility/2006" xmlns:p14="http://schemas.microsoft.com/office/powerpoint/2010/main">
    <mc:Choice Requires="p14">
      <p:transition spd="slow" p14:dur="2000" advTm="90000"/>
    </mc:Choice>
    <mc:Fallback xmlns="">
      <p:transition spd="slow" advTm="90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4461" y="760383"/>
            <a:ext cx="11085094" cy="3046988"/>
          </a:xfrm>
          <a:prstGeom prst="rect">
            <a:avLst/>
          </a:prstGeom>
        </p:spPr>
        <p:txBody>
          <a:bodyPr wrap="square">
            <a:spAutoFit/>
          </a:bodyPr>
          <a:lstStyle/>
          <a:p>
            <a:pPr lvl="0"/>
            <a:r>
              <a:rPr lang="en-US" sz="2400" dirty="0">
                <a:latin typeface="Times New Roman" pitchFamily="18" charset="0"/>
                <a:cs typeface="Times New Roman" pitchFamily="18" charset="0"/>
              </a:rPr>
              <a:t>1. A thief is noticed by a policeman from a distance of 200 m. The thief starts running and the policeman chases him. The thief and the policeman run at the rate of 10 km and 11 km per hour respectively. What is the distance travelled by thief until he gets caught.</a:t>
            </a:r>
          </a:p>
          <a:p>
            <a:pPr lvl="0"/>
            <a:r>
              <a:rPr lang="en-US" sz="2400" dirty="0">
                <a:latin typeface="Times New Roman" pitchFamily="18" charset="0"/>
                <a:cs typeface="Times New Roman" pitchFamily="18" charset="0"/>
              </a:rPr>
              <a:t>A. 2km</a:t>
            </a:r>
          </a:p>
          <a:p>
            <a:pPr lvl="0"/>
            <a:r>
              <a:rPr lang="en-US" sz="2400" dirty="0">
                <a:latin typeface="Times New Roman" pitchFamily="18" charset="0"/>
                <a:cs typeface="Times New Roman" pitchFamily="18" charset="0"/>
              </a:rPr>
              <a:t>B. 3km</a:t>
            </a:r>
          </a:p>
          <a:p>
            <a:pPr lvl="0"/>
            <a:r>
              <a:rPr lang="en-US" sz="2400" dirty="0">
                <a:latin typeface="Times New Roman" pitchFamily="18" charset="0"/>
                <a:cs typeface="Times New Roman" pitchFamily="18" charset="0"/>
              </a:rPr>
              <a:t>C. 2.5km</a:t>
            </a:r>
          </a:p>
          <a:p>
            <a:pPr lvl="0"/>
            <a:r>
              <a:rPr lang="en-US" sz="2400" dirty="0">
                <a:latin typeface="Times New Roman" pitchFamily="18" charset="0"/>
                <a:cs typeface="Times New Roman" pitchFamily="18" charset="0"/>
              </a:rPr>
              <a:t>D. 4km</a:t>
            </a:r>
          </a:p>
          <a:p>
            <a:pPr lvl="0"/>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511138288"/>
      </p:ext>
    </p:extLst>
  </p:cSld>
  <p:clrMapOvr>
    <a:masterClrMapping/>
  </p:clrMapOvr>
  <mc:AlternateContent xmlns:mc="http://schemas.openxmlformats.org/markup-compatibility/2006" xmlns:p14="http://schemas.microsoft.com/office/powerpoint/2010/main">
    <mc:Choice Requires="p14">
      <p:transition spd="slow" p14:dur="2000" advTm="90000"/>
    </mc:Choice>
    <mc:Fallback xmlns="">
      <p:transition spd="slow" advTm="90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63416" y="1545829"/>
            <a:ext cx="11085094" cy="3046988"/>
          </a:xfrm>
          <a:prstGeom prst="rect">
            <a:avLst/>
          </a:prstGeom>
        </p:spPr>
        <p:txBody>
          <a:bodyPr wrap="square">
            <a:spAutoFit/>
          </a:bodyPr>
          <a:lstStyle/>
          <a:p>
            <a:pPr lvl="0"/>
            <a:r>
              <a:rPr lang="en-US" sz="2400" dirty="0">
                <a:latin typeface="Times New Roman" pitchFamily="18" charset="0"/>
                <a:cs typeface="Times New Roman" pitchFamily="18" charset="0"/>
              </a:rPr>
              <a:t>2. </a:t>
            </a:r>
            <a:r>
              <a:rPr lang="en-US" sz="2400" dirty="0" err="1">
                <a:latin typeface="Times New Roman" pitchFamily="18" charset="0"/>
                <a:cs typeface="Times New Roman" pitchFamily="18" charset="0"/>
              </a:rPr>
              <a:t>Shyam</a:t>
            </a:r>
            <a:r>
              <a:rPr lang="en-US" sz="2400" dirty="0">
                <a:latin typeface="Times New Roman" pitchFamily="18" charset="0"/>
                <a:cs typeface="Times New Roman" pitchFamily="18" charset="0"/>
              </a:rPr>
              <a:t> and </a:t>
            </a:r>
            <a:r>
              <a:rPr lang="en-US" sz="2400" dirty="0" err="1">
                <a:latin typeface="Times New Roman" pitchFamily="18" charset="0"/>
                <a:cs typeface="Times New Roman" pitchFamily="18" charset="0"/>
              </a:rPr>
              <a:t>Radha</a:t>
            </a:r>
            <a:r>
              <a:rPr lang="en-US" sz="2400" dirty="0">
                <a:latin typeface="Times New Roman" pitchFamily="18" charset="0"/>
                <a:cs typeface="Times New Roman" pitchFamily="18" charset="0"/>
              </a:rPr>
              <a:t> started walking towards each other from A &amp; B at the speed of 21 km/h &amp; 15 km/h respectively in order to meet each other. </a:t>
            </a:r>
            <a:r>
              <a:rPr lang="en-US" sz="2400" dirty="0" err="1">
                <a:latin typeface="Times New Roman" pitchFamily="18" charset="0"/>
                <a:cs typeface="Times New Roman" pitchFamily="18" charset="0"/>
              </a:rPr>
              <a:t>Shyam</a:t>
            </a:r>
            <a:r>
              <a:rPr lang="en-US" sz="2400" dirty="0">
                <a:latin typeface="Times New Roman" pitchFamily="18" charset="0"/>
                <a:cs typeface="Times New Roman" pitchFamily="18" charset="0"/>
              </a:rPr>
              <a:t> had walked 500 m more than </a:t>
            </a:r>
            <a:r>
              <a:rPr lang="en-US" sz="2400" dirty="0" err="1">
                <a:latin typeface="Times New Roman" pitchFamily="18" charset="0"/>
                <a:cs typeface="Times New Roman" pitchFamily="18" charset="0"/>
              </a:rPr>
              <a:t>Radha</a:t>
            </a:r>
            <a:r>
              <a:rPr lang="en-US" sz="2400" dirty="0">
                <a:latin typeface="Times New Roman" pitchFamily="18" charset="0"/>
                <a:cs typeface="Times New Roman" pitchFamily="18" charset="0"/>
              </a:rPr>
              <a:t> had walked. Find the distance between A and B. </a:t>
            </a:r>
          </a:p>
          <a:p>
            <a:pPr lvl="0"/>
            <a:endParaRPr lang="en-US" sz="2400" dirty="0">
              <a:latin typeface="Times New Roman" pitchFamily="18" charset="0"/>
              <a:cs typeface="Times New Roman" pitchFamily="18" charset="0"/>
            </a:endParaRPr>
          </a:p>
          <a:p>
            <a:pPr marL="457200" lvl="0" indent="-457200">
              <a:buAutoNum type="alphaUcPeriod"/>
            </a:pPr>
            <a:r>
              <a:rPr lang="en-US" sz="2400" dirty="0">
                <a:latin typeface="Times New Roman" pitchFamily="18" charset="0"/>
                <a:cs typeface="Times New Roman" pitchFamily="18" charset="0"/>
              </a:rPr>
              <a:t>1km</a:t>
            </a:r>
          </a:p>
          <a:p>
            <a:pPr marL="457200" lvl="0" indent="-457200">
              <a:buAutoNum type="alphaUcPeriod"/>
            </a:pPr>
            <a:r>
              <a:rPr lang="en-US" sz="2400" dirty="0">
                <a:latin typeface="Times New Roman" pitchFamily="18" charset="0"/>
                <a:cs typeface="Times New Roman" pitchFamily="18" charset="0"/>
              </a:rPr>
              <a:t>7km</a:t>
            </a:r>
          </a:p>
          <a:p>
            <a:pPr marL="457200" lvl="0" indent="-457200">
              <a:buAutoNum type="alphaUcPeriod"/>
            </a:pPr>
            <a:r>
              <a:rPr lang="en-US" sz="2400" dirty="0">
                <a:latin typeface="Times New Roman" pitchFamily="18" charset="0"/>
                <a:cs typeface="Times New Roman" pitchFamily="18" charset="0"/>
              </a:rPr>
              <a:t>3km</a:t>
            </a:r>
          </a:p>
          <a:p>
            <a:pPr marL="457200" lvl="0" indent="-457200">
              <a:buAutoNum type="alphaUcPeriod"/>
            </a:pPr>
            <a:r>
              <a:rPr lang="en-US" sz="2400" dirty="0">
                <a:latin typeface="Times New Roman" pitchFamily="18" charset="0"/>
                <a:cs typeface="Times New Roman" pitchFamily="18" charset="0"/>
              </a:rPr>
              <a:t>2km</a:t>
            </a:r>
          </a:p>
        </p:txBody>
      </p:sp>
    </p:spTree>
    <p:extLst>
      <p:ext uri="{BB962C8B-B14F-4D97-AF65-F5344CB8AC3E}">
        <p14:creationId xmlns:p14="http://schemas.microsoft.com/office/powerpoint/2010/main" val="999106300"/>
      </p:ext>
    </p:extLst>
  </p:cSld>
  <p:clrMapOvr>
    <a:masterClrMapping/>
  </p:clrMapOvr>
  <mc:AlternateContent xmlns:mc="http://schemas.openxmlformats.org/markup-compatibility/2006" xmlns:p14="http://schemas.microsoft.com/office/powerpoint/2010/main">
    <mc:Choice Requires="p14">
      <p:transition spd="slow" p14:dur="2000" advTm="90000"/>
    </mc:Choice>
    <mc:Fallback xmlns="">
      <p:transition spd="slow" advTm="90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8954" y="1745122"/>
            <a:ext cx="11085094" cy="3046988"/>
          </a:xfrm>
          <a:prstGeom prst="rect">
            <a:avLst/>
          </a:prstGeom>
        </p:spPr>
        <p:txBody>
          <a:bodyPr wrap="square">
            <a:spAutoFit/>
          </a:bodyPr>
          <a:lstStyle/>
          <a:p>
            <a:pPr lvl="0"/>
            <a:r>
              <a:rPr lang="en-US" sz="2400" dirty="0">
                <a:latin typeface="Times New Roman" pitchFamily="18" charset="0"/>
                <a:cs typeface="Times New Roman" pitchFamily="18" charset="0"/>
              </a:rPr>
              <a:t>3. Two person P &amp; Q start walking from A towards B. Distance between A and B is 100 km. Speed of P is 26 km/h and speed of Q is 54 km/h. After reaching at B person Q returns immediately to A and on the way person Q meets person P at the distance of x km from B. Find the value of x ?</a:t>
            </a:r>
          </a:p>
          <a:p>
            <a:pPr marL="457200" lvl="0" indent="-457200">
              <a:buAutoNum type="alphaUcPeriod"/>
            </a:pPr>
            <a:r>
              <a:rPr lang="en-US" sz="2400" dirty="0">
                <a:latin typeface="Times New Roman" pitchFamily="18" charset="0"/>
                <a:cs typeface="Times New Roman" pitchFamily="18" charset="0"/>
              </a:rPr>
              <a:t>23km</a:t>
            </a:r>
          </a:p>
          <a:p>
            <a:pPr marL="457200" lvl="0" indent="-457200">
              <a:buAutoNum type="alphaUcPeriod"/>
            </a:pPr>
            <a:r>
              <a:rPr lang="en-US" sz="2400" dirty="0">
                <a:latin typeface="Times New Roman" pitchFamily="18" charset="0"/>
                <a:cs typeface="Times New Roman" pitchFamily="18" charset="0"/>
              </a:rPr>
              <a:t>32km</a:t>
            </a:r>
          </a:p>
          <a:p>
            <a:pPr marL="457200" lvl="0" indent="-457200">
              <a:buAutoNum type="alphaUcPeriod"/>
            </a:pPr>
            <a:r>
              <a:rPr lang="en-US" sz="2400" dirty="0">
                <a:latin typeface="Times New Roman" pitchFamily="18" charset="0"/>
                <a:cs typeface="Times New Roman" pitchFamily="18" charset="0"/>
              </a:rPr>
              <a:t>35km</a:t>
            </a:r>
          </a:p>
          <a:p>
            <a:pPr marL="457200" lvl="0" indent="-457200">
              <a:buAutoNum type="alphaUcPeriod"/>
            </a:pPr>
            <a:r>
              <a:rPr lang="en-US" sz="2400" dirty="0">
                <a:latin typeface="Times New Roman" pitchFamily="18" charset="0"/>
                <a:cs typeface="Times New Roman" pitchFamily="18" charset="0"/>
              </a:rPr>
              <a:t>76km</a:t>
            </a:r>
          </a:p>
        </p:txBody>
      </p:sp>
    </p:spTree>
    <p:extLst>
      <p:ext uri="{BB962C8B-B14F-4D97-AF65-F5344CB8AC3E}">
        <p14:creationId xmlns:p14="http://schemas.microsoft.com/office/powerpoint/2010/main" val="145190385"/>
      </p:ext>
    </p:extLst>
  </p:cSld>
  <p:clrMapOvr>
    <a:masterClrMapping/>
  </p:clrMapOvr>
  <mc:AlternateContent xmlns:mc="http://schemas.openxmlformats.org/markup-compatibility/2006" xmlns:p14="http://schemas.microsoft.com/office/powerpoint/2010/main">
    <mc:Choice Requires="p14">
      <p:transition spd="slow" p14:dur="2000" advTm="90000"/>
    </mc:Choice>
    <mc:Fallback xmlns="">
      <p:transition spd="slow" advTm="90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22031" y="1694710"/>
            <a:ext cx="11085094" cy="1938992"/>
          </a:xfrm>
          <a:prstGeom prst="rect">
            <a:avLst/>
          </a:prstGeom>
        </p:spPr>
        <p:txBody>
          <a:bodyPr wrap="square">
            <a:spAutoFit/>
          </a:bodyPr>
          <a:lstStyle/>
          <a:p>
            <a:pPr lvl="0"/>
            <a:r>
              <a:rPr lang="en-US" sz="2400" dirty="0">
                <a:latin typeface="Times New Roman" pitchFamily="18" charset="0"/>
                <a:cs typeface="Times New Roman" pitchFamily="18" charset="0"/>
              </a:rPr>
              <a:t>5. K and L starts walking towards each other at 6 pm at speed of 3 km/</a:t>
            </a:r>
            <a:r>
              <a:rPr lang="en-US" sz="2400" dirty="0" err="1">
                <a:latin typeface="Times New Roman" pitchFamily="18" charset="0"/>
                <a:cs typeface="Times New Roman" pitchFamily="18" charset="0"/>
              </a:rPr>
              <a:t>hr</a:t>
            </a:r>
            <a:r>
              <a:rPr lang="en-US" sz="2400" dirty="0">
                <a:latin typeface="Times New Roman" pitchFamily="18" charset="0"/>
                <a:cs typeface="Times New Roman" pitchFamily="18" charset="0"/>
              </a:rPr>
              <a:t> and 4 km/</a:t>
            </a:r>
            <a:r>
              <a:rPr lang="en-US" sz="2400" dirty="0" err="1">
                <a:latin typeface="Times New Roman" pitchFamily="18" charset="0"/>
                <a:cs typeface="Times New Roman" pitchFamily="18" charset="0"/>
              </a:rPr>
              <a:t>hr</a:t>
            </a:r>
            <a:r>
              <a:rPr lang="en-US" sz="2400" dirty="0">
                <a:latin typeface="Times New Roman" pitchFamily="18" charset="0"/>
                <a:cs typeface="Times New Roman" pitchFamily="18" charset="0"/>
              </a:rPr>
              <a:t> respectively. They were initially 24.5 km apart. At what time do they meet ?</a:t>
            </a:r>
          </a:p>
          <a:p>
            <a:pPr lvl="0"/>
            <a:endParaRPr lang="en-US" sz="2400" dirty="0">
              <a:latin typeface="Times New Roman" pitchFamily="18" charset="0"/>
              <a:cs typeface="Times New Roman" pitchFamily="18" charset="0"/>
            </a:endParaRPr>
          </a:p>
          <a:p>
            <a:pPr lvl="0"/>
            <a:r>
              <a:rPr lang="en-US" sz="2400" dirty="0">
                <a:latin typeface="Times New Roman" pitchFamily="18" charset="0"/>
                <a:cs typeface="Times New Roman" pitchFamily="18" charset="0"/>
              </a:rPr>
              <a:t>A) 8:00 am				B) 9:30 pm</a:t>
            </a:r>
          </a:p>
          <a:p>
            <a:pPr lvl="0"/>
            <a:r>
              <a:rPr lang="en-US" sz="2400" dirty="0">
                <a:latin typeface="Times New Roman" pitchFamily="18" charset="0"/>
                <a:cs typeface="Times New Roman" pitchFamily="18" charset="0"/>
              </a:rPr>
              <a:t>C) 8:45 am				D) 8:52 pm</a:t>
            </a:r>
          </a:p>
        </p:txBody>
      </p:sp>
    </p:spTree>
    <p:extLst>
      <p:ext uri="{BB962C8B-B14F-4D97-AF65-F5344CB8AC3E}">
        <p14:creationId xmlns:p14="http://schemas.microsoft.com/office/powerpoint/2010/main" val="2901916183"/>
      </p:ext>
    </p:extLst>
  </p:cSld>
  <p:clrMapOvr>
    <a:masterClrMapping/>
  </p:clrMapOvr>
  <mc:AlternateContent xmlns:mc="http://schemas.openxmlformats.org/markup-compatibility/2006" xmlns:p14="http://schemas.microsoft.com/office/powerpoint/2010/main">
    <mc:Choice Requires="p14">
      <p:transition spd="slow" p14:dur="2000" advTm="90000"/>
    </mc:Choice>
    <mc:Fallback xmlns="">
      <p:transition spd="slow" advTm="90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6861" y="1801432"/>
            <a:ext cx="11085094" cy="2308324"/>
          </a:xfrm>
          <a:prstGeom prst="rect">
            <a:avLst/>
          </a:prstGeom>
        </p:spPr>
        <p:txBody>
          <a:bodyPr wrap="square">
            <a:spAutoFit/>
          </a:bodyPr>
          <a:lstStyle/>
          <a:p>
            <a:pPr lvl="0"/>
            <a:r>
              <a:rPr lang="en-US" sz="2400" dirty="0">
                <a:latin typeface="Times New Roman" pitchFamily="18" charset="0"/>
                <a:cs typeface="Times New Roman" pitchFamily="18" charset="0"/>
              </a:rPr>
              <a:t>6. A thief goes away with a  car at a speed of 50 kmph. The theft has been discovered after half an hour and the owner sets off in a bike at 60 kmph. When will the owner over take the thief from the start ?</a:t>
            </a:r>
          </a:p>
          <a:p>
            <a:pPr lvl="0"/>
            <a:endParaRPr lang="en-US" sz="2400" dirty="0">
              <a:latin typeface="Times New Roman" pitchFamily="18" charset="0"/>
              <a:cs typeface="Times New Roman" pitchFamily="18" charset="0"/>
            </a:endParaRPr>
          </a:p>
          <a:p>
            <a:pPr lvl="0"/>
            <a:r>
              <a:rPr lang="en-US" sz="2400" dirty="0">
                <a:latin typeface="Times New Roman" pitchFamily="18" charset="0"/>
                <a:cs typeface="Times New Roman" pitchFamily="18" charset="0"/>
              </a:rPr>
              <a:t>A) 2 </a:t>
            </a:r>
            <a:r>
              <a:rPr lang="en-US" sz="2400" dirty="0" err="1">
                <a:latin typeface="Times New Roman" pitchFamily="18" charset="0"/>
                <a:cs typeface="Times New Roman" pitchFamily="18" charset="0"/>
              </a:rPr>
              <a:t>hrs</a:t>
            </a:r>
            <a:r>
              <a:rPr lang="en-US" sz="2400" dirty="0">
                <a:latin typeface="Times New Roman" pitchFamily="18" charset="0"/>
                <a:cs typeface="Times New Roman" pitchFamily="18" charset="0"/>
              </a:rPr>
              <a:t> 10 min			B) 2 </a:t>
            </a:r>
            <a:r>
              <a:rPr lang="en-US" sz="2400" dirty="0" err="1">
                <a:latin typeface="Times New Roman" pitchFamily="18" charset="0"/>
                <a:cs typeface="Times New Roman" pitchFamily="18" charset="0"/>
              </a:rPr>
              <a:t>hrs</a:t>
            </a:r>
            <a:endParaRPr lang="en-US" sz="2400" dirty="0">
              <a:latin typeface="Times New Roman" pitchFamily="18" charset="0"/>
              <a:cs typeface="Times New Roman" pitchFamily="18" charset="0"/>
            </a:endParaRPr>
          </a:p>
          <a:p>
            <a:pPr lvl="0"/>
            <a:r>
              <a:rPr lang="en-US" sz="2400" dirty="0">
                <a:latin typeface="Times New Roman" pitchFamily="18" charset="0"/>
                <a:cs typeface="Times New Roman" pitchFamily="18" charset="0"/>
              </a:rPr>
              <a:t>C) 2 </a:t>
            </a:r>
            <a:r>
              <a:rPr lang="en-US" sz="2400" dirty="0" err="1">
                <a:latin typeface="Times New Roman" pitchFamily="18" charset="0"/>
                <a:cs typeface="Times New Roman" pitchFamily="18" charset="0"/>
              </a:rPr>
              <a:t>hrs</a:t>
            </a:r>
            <a:r>
              <a:rPr lang="en-US" sz="2400" dirty="0">
                <a:latin typeface="Times New Roman" pitchFamily="18" charset="0"/>
                <a:cs typeface="Times New Roman" pitchFamily="18" charset="0"/>
              </a:rPr>
              <a:t> 5 min			D) 2 </a:t>
            </a:r>
            <a:r>
              <a:rPr lang="en-US" sz="2400" dirty="0" err="1">
                <a:latin typeface="Times New Roman" pitchFamily="18" charset="0"/>
                <a:cs typeface="Times New Roman" pitchFamily="18" charset="0"/>
              </a:rPr>
              <a:t>hrs</a:t>
            </a:r>
            <a:r>
              <a:rPr lang="en-US" sz="2400" dirty="0">
                <a:latin typeface="Times New Roman" pitchFamily="18" charset="0"/>
                <a:cs typeface="Times New Roman" pitchFamily="18" charset="0"/>
              </a:rPr>
              <a:t> 30 min</a:t>
            </a:r>
          </a:p>
        </p:txBody>
      </p:sp>
    </p:spTree>
    <p:extLst>
      <p:ext uri="{BB962C8B-B14F-4D97-AF65-F5344CB8AC3E}">
        <p14:creationId xmlns:p14="http://schemas.microsoft.com/office/powerpoint/2010/main" val="838675463"/>
      </p:ext>
    </p:extLst>
  </p:cSld>
  <p:clrMapOvr>
    <a:masterClrMapping/>
  </p:clrMapOvr>
  <mc:AlternateContent xmlns:mc="http://schemas.openxmlformats.org/markup-compatibility/2006" xmlns:p14="http://schemas.microsoft.com/office/powerpoint/2010/main">
    <mc:Choice Requires="p14">
      <p:transition spd="slow" p14:dur="2000" advTm="90000"/>
    </mc:Choice>
    <mc:Fallback xmlns="">
      <p:transition spd="slow" advTm="90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41668" y="2206322"/>
            <a:ext cx="11031165" cy="1938992"/>
          </a:xfrm>
          <a:prstGeom prst="rect">
            <a:avLst/>
          </a:prstGeom>
        </p:spPr>
        <p:txBody>
          <a:bodyPr wrap="square">
            <a:spAutoFit/>
          </a:bodyPr>
          <a:lstStyle/>
          <a:p>
            <a:pPr algn="just"/>
            <a:endParaRPr lang="en-IN" sz="2400" dirty="0"/>
          </a:p>
          <a:p>
            <a:pPr marL="457200" indent="-457200" algn="just">
              <a:buAutoNum type="alphaUcPeriod"/>
            </a:pPr>
            <a:r>
              <a:rPr lang="en-IN" sz="2400" dirty="0">
                <a:latin typeface="Times New Roman" pitchFamily="18" charset="0"/>
                <a:cs typeface="Times New Roman" pitchFamily="18" charset="0"/>
              </a:rPr>
              <a:t>220 km			</a:t>
            </a:r>
          </a:p>
          <a:p>
            <a:pPr marL="457200" indent="-457200" algn="just">
              <a:buAutoNum type="alphaUcPeriod"/>
            </a:pPr>
            <a:r>
              <a:rPr lang="en-IN" sz="2400" dirty="0">
                <a:latin typeface="Times New Roman" pitchFamily="18" charset="0"/>
                <a:cs typeface="Times New Roman" pitchFamily="18" charset="0"/>
              </a:rPr>
              <a:t>140 km</a:t>
            </a:r>
          </a:p>
          <a:p>
            <a:pPr marL="457200" indent="-457200" algn="just">
              <a:buAutoNum type="alphaUcPeriod"/>
            </a:pPr>
            <a:r>
              <a:rPr lang="en-IN" sz="2400" dirty="0">
                <a:latin typeface="Times New Roman" pitchFamily="18" charset="0"/>
                <a:cs typeface="Times New Roman" pitchFamily="18" charset="0"/>
              </a:rPr>
              <a:t>280 km			</a:t>
            </a:r>
          </a:p>
          <a:p>
            <a:pPr marL="457200" indent="-457200" algn="just">
              <a:buAutoNum type="alphaUcPeriod"/>
            </a:pPr>
            <a:r>
              <a:rPr lang="en-IN" sz="2400" dirty="0">
                <a:latin typeface="Times New Roman" pitchFamily="18" charset="0"/>
                <a:cs typeface="Times New Roman" pitchFamily="18" charset="0"/>
              </a:rPr>
              <a:t>250 km</a:t>
            </a:r>
          </a:p>
        </p:txBody>
      </p:sp>
      <p:sp>
        <p:nvSpPr>
          <p:cNvPr id="2" name="TextBox 1"/>
          <p:cNvSpPr txBox="1"/>
          <p:nvPr/>
        </p:nvSpPr>
        <p:spPr>
          <a:xfrm>
            <a:off x="141668" y="756290"/>
            <a:ext cx="11994437" cy="1631216"/>
          </a:xfrm>
          <a:prstGeom prst="rect">
            <a:avLst/>
          </a:prstGeom>
          <a:noFill/>
        </p:spPr>
        <p:txBody>
          <a:bodyPr wrap="none" rtlCol="0">
            <a:spAutoFit/>
          </a:bodyPr>
          <a:lstStyle/>
          <a:p>
            <a:pPr fontAlgn="base"/>
            <a:r>
              <a:rPr lang="en-US" sz="2000" dirty="0">
                <a:latin typeface="Times New Roman" pitchFamily="18" charset="0"/>
                <a:cs typeface="Times New Roman" pitchFamily="18" charset="0"/>
              </a:rPr>
              <a:t>7. Two trains move towards each other at a speed of 45 km/h in the same rectilinear road. A certain bird can fly at </a:t>
            </a:r>
          </a:p>
          <a:p>
            <a:pPr fontAlgn="base"/>
            <a:r>
              <a:rPr lang="en-US" sz="2000" dirty="0">
                <a:latin typeface="Times New Roman" pitchFamily="18" charset="0"/>
                <a:cs typeface="Times New Roman" pitchFamily="18" charset="0"/>
              </a:rPr>
              <a:t>a speed of 50 km/h and starts flying from the front of one of the trains to the other, when they're 450 km apart. </a:t>
            </a:r>
          </a:p>
          <a:p>
            <a:pPr fontAlgn="base"/>
            <a:r>
              <a:rPr lang="en-US" sz="2000" dirty="0">
                <a:latin typeface="Times New Roman" pitchFamily="18" charset="0"/>
                <a:cs typeface="Times New Roman" pitchFamily="18" charset="0"/>
              </a:rPr>
              <a:t>When the bird reaches the front of the other train, it starts flying back to the first train, and so on.</a:t>
            </a:r>
          </a:p>
          <a:p>
            <a:pPr fontAlgn="base"/>
            <a:r>
              <a:rPr lang="en-US" sz="2000" dirty="0">
                <a:latin typeface="Times New Roman" pitchFamily="18" charset="0"/>
                <a:cs typeface="Times New Roman" pitchFamily="18" charset="0"/>
              </a:rPr>
              <a:t>What is the total distance the bird travels?</a:t>
            </a:r>
          </a:p>
          <a:p>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3784944561"/>
      </p:ext>
    </p:extLst>
  </p:cSld>
  <p:clrMapOvr>
    <a:masterClrMapping/>
  </p:clrMapOvr>
  <mc:AlternateContent xmlns:mc="http://schemas.openxmlformats.org/markup-compatibility/2006" xmlns:p14="http://schemas.microsoft.com/office/powerpoint/2010/main">
    <mc:Choice Requires="p14">
      <p:transition spd="slow" p14:dur="2000" advTm="90000"/>
    </mc:Choice>
    <mc:Fallback xmlns="">
      <p:transition spd="slow" advTm="90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1668" y="756290"/>
            <a:ext cx="11264622" cy="5016758"/>
          </a:xfrm>
          <a:prstGeom prst="rect">
            <a:avLst/>
          </a:prstGeom>
          <a:noFill/>
        </p:spPr>
        <p:txBody>
          <a:bodyPr wrap="none" rtlCol="0">
            <a:spAutoFit/>
          </a:bodyPr>
          <a:lstStyle/>
          <a:p>
            <a:pPr fontAlgn="base"/>
            <a:r>
              <a:rPr lang="en-US" sz="2000" dirty="0">
                <a:latin typeface="Times New Roman" pitchFamily="18" charset="0"/>
                <a:cs typeface="Times New Roman" pitchFamily="18" charset="0"/>
              </a:rPr>
              <a:t>8. Raj was travelling to his hometown from Mumbai. He met with a small accident 80 Km away from </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Mumbai and continued the remaining journey at 4/5 of his original speed and reached his hometown 1 hour </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and 24 minutes late. If he had met with the accident 40 Km further, he would have been an hour late. </a:t>
            </a:r>
          </a:p>
          <a:p>
            <a:pPr fontAlgn="base"/>
            <a:r>
              <a:rPr lang="en-US" sz="2000" dirty="0">
                <a:latin typeface="Times New Roman" pitchFamily="18" charset="0"/>
                <a:cs typeface="Times New Roman" pitchFamily="18" charset="0"/>
              </a:rPr>
              <a:t>i) What is </a:t>
            </a:r>
            <a:r>
              <a:rPr lang="en-US" sz="2000" dirty="0" err="1">
                <a:latin typeface="Times New Roman" pitchFamily="18" charset="0"/>
                <a:cs typeface="Times New Roman" pitchFamily="18" charset="0"/>
              </a:rPr>
              <a:t>Raj's</a:t>
            </a:r>
            <a:r>
              <a:rPr lang="en-US" sz="2000" dirty="0">
                <a:latin typeface="Times New Roman" pitchFamily="18" charset="0"/>
                <a:cs typeface="Times New Roman" pitchFamily="18" charset="0"/>
              </a:rPr>
              <a:t> normal speed?</a:t>
            </a:r>
          </a:p>
          <a:p>
            <a:pPr fontAlgn="base"/>
            <a:r>
              <a:rPr lang="en-US" sz="2000" dirty="0">
                <a:latin typeface="Times New Roman" pitchFamily="18" charset="0"/>
                <a:cs typeface="Times New Roman" pitchFamily="18" charset="0"/>
              </a:rPr>
              <a:t>A) 20 Km/</a:t>
            </a:r>
            <a:r>
              <a:rPr lang="en-US" sz="2000" dirty="0" err="1">
                <a:latin typeface="Times New Roman" pitchFamily="18" charset="0"/>
                <a:cs typeface="Times New Roman" pitchFamily="18" charset="0"/>
              </a:rPr>
              <a:t>hr</a:t>
            </a:r>
            <a:r>
              <a:rPr lang="en-US" sz="2000" dirty="0">
                <a:latin typeface="Times New Roman" pitchFamily="18" charset="0"/>
                <a:cs typeface="Times New Roman" pitchFamily="18" charset="0"/>
              </a:rPr>
              <a:t> B) 15 Km/</a:t>
            </a:r>
            <a:r>
              <a:rPr lang="en-US" sz="2000" dirty="0" err="1">
                <a:latin typeface="Times New Roman" pitchFamily="18" charset="0"/>
                <a:cs typeface="Times New Roman" pitchFamily="18" charset="0"/>
              </a:rPr>
              <a:t>hr</a:t>
            </a:r>
            <a:r>
              <a:rPr lang="en-US" sz="2000" dirty="0">
                <a:latin typeface="Times New Roman" pitchFamily="18" charset="0"/>
                <a:cs typeface="Times New Roman" pitchFamily="18" charset="0"/>
              </a:rPr>
              <a:t> C) 30 Km/</a:t>
            </a:r>
            <a:r>
              <a:rPr lang="en-US" sz="2000" dirty="0" err="1">
                <a:latin typeface="Times New Roman" pitchFamily="18" charset="0"/>
                <a:cs typeface="Times New Roman" pitchFamily="18" charset="0"/>
              </a:rPr>
              <a:t>hr</a:t>
            </a:r>
            <a:r>
              <a:rPr lang="en-US" sz="2000" dirty="0">
                <a:latin typeface="Times New Roman" pitchFamily="18" charset="0"/>
                <a:cs typeface="Times New Roman" pitchFamily="18" charset="0"/>
              </a:rPr>
              <a:t> D) 25 Km/</a:t>
            </a:r>
            <a:r>
              <a:rPr lang="en-US" sz="2000" dirty="0" err="1">
                <a:latin typeface="Times New Roman" pitchFamily="18" charset="0"/>
                <a:cs typeface="Times New Roman" pitchFamily="18" charset="0"/>
              </a:rPr>
              <a:t>hr</a:t>
            </a:r>
            <a:endParaRPr lang="en-US" sz="2000" dirty="0">
              <a:latin typeface="Times New Roman" pitchFamily="18" charset="0"/>
              <a:cs typeface="Times New Roman" pitchFamily="18" charset="0"/>
            </a:endParaRPr>
          </a:p>
          <a:p>
            <a:pPr fontAlgn="base"/>
            <a:endParaRPr lang="en-US" sz="2000" dirty="0">
              <a:latin typeface="Times New Roman" pitchFamily="18" charset="0"/>
              <a:cs typeface="Times New Roman" pitchFamily="18" charset="0"/>
            </a:endParaRPr>
          </a:p>
          <a:p>
            <a:pPr fontAlgn="base"/>
            <a:endParaRPr lang="en-US" sz="2000" dirty="0">
              <a:latin typeface="Times New Roman" pitchFamily="18" charset="0"/>
              <a:cs typeface="Times New Roman" pitchFamily="18" charset="0"/>
            </a:endParaRPr>
          </a:p>
          <a:p>
            <a:pPr fontAlgn="base"/>
            <a:endParaRPr lang="en-US" sz="2000" dirty="0">
              <a:latin typeface="Times New Roman" pitchFamily="18" charset="0"/>
              <a:cs typeface="Times New Roman" pitchFamily="18" charset="0"/>
            </a:endParaRPr>
          </a:p>
          <a:p>
            <a:pPr fontAlgn="base"/>
            <a:endParaRPr lang="en-US" sz="2000" dirty="0">
              <a:latin typeface="Times New Roman" pitchFamily="18" charset="0"/>
              <a:cs typeface="Times New Roman" pitchFamily="18" charset="0"/>
            </a:endParaRPr>
          </a:p>
          <a:p>
            <a:pPr fontAlgn="base"/>
            <a:endParaRPr lang="en-US" sz="2000" dirty="0">
              <a:latin typeface="Times New Roman" pitchFamily="18" charset="0"/>
              <a:cs typeface="Times New Roman" pitchFamily="18" charset="0"/>
            </a:endParaRPr>
          </a:p>
          <a:p>
            <a:pPr fontAlgn="base"/>
            <a:endParaRPr lang="en-US" sz="2000" dirty="0">
              <a:latin typeface="Times New Roman" pitchFamily="18" charset="0"/>
              <a:cs typeface="Times New Roman" pitchFamily="18" charset="0"/>
            </a:endParaRPr>
          </a:p>
          <a:p>
            <a:pPr fontAlgn="base"/>
            <a:endParaRPr lang="en-US" sz="2000" dirty="0">
              <a:latin typeface="Times New Roman" pitchFamily="18" charset="0"/>
              <a:cs typeface="Times New Roman" pitchFamily="18" charset="0"/>
            </a:endParaRPr>
          </a:p>
          <a:p>
            <a:pPr fontAlgn="base"/>
            <a:endParaRPr lang="en-US" sz="2000" dirty="0">
              <a:latin typeface="Times New Roman" pitchFamily="18" charset="0"/>
              <a:cs typeface="Times New Roman" pitchFamily="18" charset="0"/>
            </a:endParaRPr>
          </a:p>
          <a:p>
            <a:pPr fontAlgn="base"/>
            <a:endParaRPr lang="en-US" sz="2000" dirty="0">
              <a:latin typeface="Times New Roman" pitchFamily="18" charset="0"/>
              <a:cs typeface="Times New Roman" pitchFamily="18" charset="0"/>
            </a:endParaRPr>
          </a:p>
          <a:p>
            <a:pPr fontAlgn="base"/>
            <a:r>
              <a:rPr lang="en-US" sz="2000" dirty="0">
                <a:latin typeface="Times New Roman" pitchFamily="18" charset="0"/>
                <a:cs typeface="Times New Roman" pitchFamily="18" charset="0"/>
              </a:rPr>
              <a:t>ii) What is the distance between Mumbai and </a:t>
            </a:r>
            <a:r>
              <a:rPr lang="en-US" sz="2000" dirty="0" err="1">
                <a:latin typeface="Times New Roman" pitchFamily="18" charset="0"/>
                <a:cs typeface="Times New Roman" pitchFamily="18" charset="0"/>
              </a:rPr>
              <a:t>Raj's</a:t>
            </a:r>
            <a:r>
              <a:rPr lang="en-US" sz="2000" dirty="0">
                <a:latin typeface="Times New Roman" pitchFamily="18" charset="0"/>
                <a:cs typeface="Times New Roman" pitchFamily="18" charset="0"/>
              </a:rPr>
              <a:t> hometown?</a:t>
            </a:r>
          </a:p>
          <a:p>
            <a:pPr fontAlgn="base"/>
            <a:r>
              <a:rPr lang="en-US" sz="2000" dirty="0">
                <a:latin typeface="Times New Roman" pitchFamily="18" charset="0"/>
                <a:cs typeface="Times New Roman" pitchFamily="18" charset="0"/>
              </a:rPr>
              <a:t>A) 140 Km B) 200 Km C) 220 Km D) 250 Km</a:t>
            </a:r>
          </a:p>
        </p:txBody>
      </p:sp>
    </p:spTree>
    <p:extLst>
      <p:ext uri="{BB962C8B-B14F-4D97-AF65-F5344CB8AC3E}">
        <p14:creationId xmlns:p14="http://schemas.microsoft.com/office/powerpoint/2010/main" val="1272375928"/>
      </p:ext>
    </p:extLst>
  </p:cSld>
  <p:clrMapOvr>
    <a:masterClrMapping/>
  </p:clrMapOvr>
  <mc:AlternateContent xmlns:mc="http://schemas.openxmlformats.org/markup-compatibility/2006" xmlns:p14="http://schemas.microsoft.com/office/powerpoint/2010/main">
    <mc:Choice Requires="p14">
      <p:transition spd="slow" p14:dur="2000" advTm="90000"/>
    </mc:Choice>
    <mc:Fallback xmlns="">
      <p:transition spd="slow" advTm="90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419484" y="2329555"/>
            <a:ext cx="11031165" cy="1015663"/>
          </a:xfrm>
          <a:prstGeom prst="rect">
            <a:avLst/>
          </a:prstGeom>
        </p:spPr>
        <p:txBody>
          <a:bodyPr wrap="square">
            <a:spAutoFit/>
          </a:bodyPr>
          <a:lstStyle/>
          <a:p>
            <a:pPr algn="just"/>
            <a:r>
              <a:rPr lang="en-IN" sz="6000" dirty="0">
                <a:latin typeface="Showcard Gothic" pitchFamily="82" charset="0"/>
                <a:cs typeface="Times New Roman" pitchFamily="18" charset="0"/>
              </a:rPr>
              <a:t>Miscellaneous Questions</a:t>
            </a:r>
          </a:p>
        </p:txBody>
      </p:sp>
    </p:spTree>
    <p:extLst>
      <p:ext uri="{BB962C8B-B14F-4D97-AF65-F5344CB8AC3E}">
        <p14:creationId xmlns:p14="http://schemas.microsoft.com/office/powerpoint/2010/main" val="388513230"/>
      </p:ext>
    </p:extLst>
  </p:cSld>
  <p:clrMapOvr>
    <a:masterClrMapping/>
  </p:clrMapOvr>
  <mc:AlternateContent xmlns:mc="http://schemas.openxmlformats.org/markup-compatibility/2006" xmlns:p14="http://schemas.microsoft.com/office/powerpoint/2010/main">
    <mc:Choice Requires="p14">
      <p:transition spd="slow" p14:dur="2000" advTm="90000"/>
    </mc:Choice>
    <mc:Fallback xmlns="">
      <p:transition spd="slow" advTm="90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04092" y="1521317"/>
            <a:ext cx="11031165" cy="2677656"/>
          </a:xfrm>
          <a:prstGeom prst="rect">
            <a:avLst/>
          </a:prstGeom>
        </p:spPr>
        <p:txBody>
          <a:bodyPr wrap="square">
            <a:spAutoFit/>
          </a:bodyPr>
          <a:lstStyle/>
          <a:p>
            <a:r>
              <a:rPr lang="en-US" sz="2400" dirty="0">
                <a:latin typeface="Times New Roman" pitchFamily="18" charset="0"/>
                <a:cs typeface="Times New Roman" pitchFamily="18" charset="0"/>
              </a:rPr>
              <a:t>9. If a cyclist starts at 7 km/</a:t>
            </a:r>
            <a:r>
              <a:rPr lang="en-US" sz="2400" dirty="0" err="1">
                <a:latin typeface="Times New Roman" pitchFamily="18" charset="0"/>
                <a:cs typeface="Times New Roman" pitchFamily="18" charset="0"/>
              </a:rPr>
              <a:t>hr</a:t>
            </a:r>
            <a:r>
              <a:rPr lang="en-US" sz="2400" dirty="0">
                <a:latin typeface="Times New Roman" pitchFamily="18" charset="0"/>
                <a:cs typeface="Times New Roman" pitchFamily="18" charset="0"/>
              </a:rPr>
              <a:t> and he increases his speed in every 4 hours by 1 km/</a:t>
            </a:r>
            <a:r>
              <a:rPr lang="en-US" sz="2400" dirty="0" err="1">
                <a:latin typeface="Times New Roman" pitchFamily="18" charset="0"/>
                <a:cs typeface="Times New Roman" pitchFamily="18" charset="0"/>
              </a:rPr>
              <a:t>hr</a:t>
            </a:r>
            <a:r>
              <a:rPr lang="en-US" sz="2400" dirty="0">
                <a:latin typeface="Times New Roman" pitchFamily="18" charset="0"/>
                <a:cs typeface="Times New Roman" pitchFamily="18" charset="0"/>
              </a:rPr>
              <a:t> then the time taken by the cyclist to cover 116 km is?</a:t>
            </a:r>
          </a:p>
          <a:p>
            <a:endParaRPr lang="en-US" sz="2400" dirty="0">
              <a:latin typeface="Times New Roman" pitchFamily="18" charset="0"/>
              <a:cs typeface="Times New Roman" pitchFamily="18" charset="0"/>
            </a:endParaRPr>
          </a:p>
          <a:p>
            <a:pPr marL="457200" indent="-457200">
              <a:buAutoNum type="alphaUcPeriod"/>
            </a:pPr>
            <a:r>
              <a:rPr lang="en-US" sz="2400" dirty="0">
                <a:latin typeface="Times New Roman" pitchFamily="18" charset="0"/>
                <a:cs typeface="Times New Roman" pitchFamily="18" charset="0"/>
              </a:rPr>
              <a:t>27/2 hours</a:t>
            </a:r>
          </a:p>
          <a:p>
            <a:pPr marL="457200" indent="-457200">
              <a:buAutoNum type="alphaUcPeriod"/>
            </a:pPr>
            <a:r>
              <a:rPr lang="en-US" sz="2400" dirty="0">
                <a:latin typeface="Times New Roman" pitchFamily="18" charset="0"/>
                <a:cs typeface="Times New Roman" pitchFamily="18" charset="0"/>
              </a:rPr>
              <a:t>20/3 hours </a:t>
            </a:r>
          </a:p>
          <a:p>
            <a:pPr marL="457200" indent="-457200">
              <a:buAutoNum type="alphaUcPeriod"/>
            </a:pPr>
            <a:r>
              <a:rPr lang="en-US" sz="2400" dirty="0">
                <a:latin typeface="Times New Roman" pitchFamily="18" charset="0"/>
                <a:cs typeface="Times New Roman" pitchFamily="18" charset="0"/>
              </a:rPr>
              <a:t>12 hours </a:t>
            </a:r>
          </a:p>
          <a:p>
            <a:pPr marL="457200" indent="-457200">
              <a:buAutoNum type="alphaUcPeriod"/>
            </a:pPr>
            <a:r>
              <a:rPr lang="en-US" sz="2400" dirty="0">
                <a:latin typeface="Times New Roman" pitchFamily="18" charset="0"/>
                <a:cs typeface="Times New Roman" pitchFamily="18" charset="0"/>
              </a:rPr>
              <a:t>14 hours</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643019611"/>
      </p:ext>
    </p:extLst>
  </p:cSld>
  <p:clrMapOvr>
    <a:masterClrMapping/>
  </p:clrMapOvr>
  <mc:AlternateContent xmlns:mc="http://schemas.openxmlformats.org/markup-compatibility/2006" xmlns:p14="http://schemas.microsoft.com/office/powerpoint/2010/main">
    <mc:Choice Requires="p14">
      <p:transition spd="slow" p14:dur="2000" advTm="90000"/>
    </mc:Choice>
    <mc:Fallback xmlns="">
      <p:transition spd="slow" advTm="90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1650" y="930216"/>
            <a:ext cx="11031165" cy="3600986"/>
          </a:xfrm>
          <a:prstGeom prst="rect">
            <a:avLst/>
          </a:prstGeom>
        </p:spPr>
        <p:txBody>
          <a:bodyPr wrap="square">
            <a:spAutoFit/>
          </a:bodyPr>
          <a:lstStyle/>
          <a:p>
            <a:pPr algn="just"/>
            <a:r>
              <a:rPr lang="en-US" sz="2400" dirty="0">
                <a:latin typeface="Times New Roman" pitchFamily="18" charset="0"/>
                <a:cs typeface="Times New Roman" pitchFamily="18" charset="0"/>
              </a:rPr>
              <a:t>10. A train can travel 50% faster than a car. Both start from point A at the same time and reach point B 84 kms away from A at the same time. On the way, however, the train lost about 14 minutes while stopping at the stations. The speed of the car is?</a:t>
            </a:r>
          </a:p>
          <a:p>
            <a:pPr algn="just"/>
            <a:endParaRPr lang="en-US" sz="2400" dirty="0">
              <a:latin typeface="Times New Roman" pitchFamily="18" charset="0"/>
              <a:cs typeface="Times New Roman" pitchFamily="18" charset="0"/>
            </a:endParaRPr>
          </a:p>
          <a:p>
            <a:pPr marL="457200" indent="-457200" algn="just">
              <a:buAutoNum type="alphaUcPeriod"/>
            </a:pPr>
            <a:r>
              <a:rPr lang="en-US" sz="2400" dirty="0">
                <a:latin typeface="Times New Roman" pitchFamily="18" charset="0"/>
                <a:cs typeface="Times New Roman" pitchFamily="18" charset="0"/>
              </a:rPr>
              <a:t>100 </a:t>
            </a:r>
            <a:r>
              <a:rPr lang="en-US" sz="2400" dirty="0" err="1">
                <a:latin typeface="Times New Roman" pitchFamily="18" charset="0"/>
                <a:cs typeface="Times New Roman" pitchFamily="18" charset="0"/>
              </a:rPr>
              <a:t>kmph</a:t>
            </a:r>
            <a:r>
              <a:rPr lang="en-US" sz="2400" dirty="0">
                <a:latin typeface="Times New Roman" pitchFamily="18" charset="0"/>
                <a:cs typeface="Times New Roman" pitchFamily="18" charset="0"/>
              </a:rPr>
              <a:t> </a:t>
            </a:r>
          </a:p>
          <a:p>
            <a:pPr marL="457200" indent="-457200" algn="just">
              <a:buAutoNum type="alphaUcPeriod"/>
            </a:pPr>
            <a:r>
              <a:rPr lang="en-US" sz="2400" dirty="0">
                <a:latin typeface="Times New Roman" pitchFamily="18" charset="0"/>
                <a:cs typeface="Times New Roman" pitchFamily="18" charset="0"/>
              </a:rPr>
              <a:t>110 </a:t>
            </a:r>
            <a:r>
              <a:rPr lang="en-US" sz="2400" dirty="0" err="1">
                <a:latin typeface="Times New Roman" pitchFamily="18" charset="0"/>
                <a:cs typeface="Times New Roman" pitchFamily="18" charset="0"/>
              </a:rPr>
              <a:t>kmph</a:t>
            </a:r>
            <a:r>
              <a:rPr lang="en-US" sz="2400" dirty="0">
                <a:latin typeface="Times New Roman" pitchFamily="18" charset="0"/>
                <a:cs typeface="Times New Roman" pitchFamily="18" charset="0"/>
              </a:rPr>
              <a:t> </a:t>
            </a:r>
          </a:p>
          <a:p>
            <a:pPr marL="457200" indent="-457200" algn="just">
              <a:buAutoNum type="alphaUcPeriod"/>
            </a:pPr>
            <a:r>
              <a:rPr lang="en-US" sz="2400" dirty="0">
                <a:latin typeface="Times New Roman" pitchFamily="18" charset="0"/>
                <a:cs typeface="Times New Roman" pitchFamily="18" charset="0"/>
              </a:rPr>
              <a:t>120 </a:t>
            </a:r>
            <a:r>
              <a:rPr lang="en-US" sz="2400" dirty="0" err="1">
                <a:latin typeface="Times New Roman" pitchFamily="18" charset="0"/>
                <a:cs typeface="Times New Roman" pitchFamily="18" charset="0"/>
              </a:rPr>
              <a:t>kmph</a:t>
            </a:r>
            <a:r>
              <a:rPr lang="en-US" sz="2400" dirty="0">
                <a:latin typeface="Times New Roman" pitchFamily="18" charset="0"/>
                <a:cs typeface="Times New Roman" pitchFamily="18" charset="0"/>
              </a:rPr>
              <a:t> </a:t>
            </a:r>
          </a:p>
          <a:p>
            <a:pPr marL="457200" indent="-457200" algn="just">
              <a:buAutoNum type="alphaUcPeriod"/>
            </a:pPr>
            <a:r>
              <a:rPr lang="en-US" sz="2400" dirty="0">
                <a:latin typeface="Times New Roman" pitchFamily="18" charset="0"/>
                <a:cs typeface="Times New Roman" pitchFamily="18" charset="0"/>
              </a:rPr>
              <a:t>130 </a:t>
            </a:r>
            <a:r>
              <a:rPr lang="en-US" sz="2400" dirty="0" err="1">
                <a:latin typeface="Times New Roman" pitchFamily="18" charset="0"/>
                <a:cs typeface="Times New Roman" pitchFamily="18" charset="0"/>
              </a:rPr>
              <a:t>kmph</a:t>
            </a:r>
            <a:endParaRPr lang="en-US" sz="2400" dirty="0">
              <a:latin typeface="Times New Roman" pitchFamily="18" charset="0"/>
              <a:cs typeface="Times New Roman" pitchFamily="18" charset="0"/>
            </a:endParaRPr>
          </a:p>
          <a:p>
            <a:pPr algn="just"/>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692308978"/>
      </p:ext>
    </p:extLst>
  </p:cSld>
  <p:clrMapOvr>
    <a:masterClrMapping/>
  </p:clrMapOvr>
  <mc:AlternateContent xmlns:mc="http://schemas.openxmlformats.org/markup-compatibility/2006" xmlns:p14="http://schemas.microsoft.com/office/powerpoint/2010/main">
    <mc:Choice Requires="p14">
      <p:transition spd="slow" p14:dur="2000" advTm="90000"/>
    </mc:Choice>
    <mc:Fallback xmlns="">
      <p:transition spd="slow" advTm="90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62807" y="693299"/>
            <a:ext cx="11031165" cy="3416320"/>
          </a:xfrm>
          <a:prstGeom prst="rect">
            <a:avLst/>
          </a:prstGeom>
        </p:spPr>
        <p:txBody>
          <a:bodyPr wrap="square">
            <a:spAutoFit/>
          </a:bodyPr>
          <a:lstStyle/>
          <a:p>
            <a:pPr algn="just"/>
            <a:r>
              <a:rPr lang="en-US" sz="2400" dirty="0">
                <a:latin typeface="Times New Roman" pitchFamily="18" charset="0"/>
                <a:cs typeface="Times New Roman" pitchFamily="18" charset="0"/>
              </a:rPr>
              <a:t>11. A monkey ascends a greased pole 130 meters high, ascending 4 meters in first minute and slipping down 2 meters in next minute and repeating this process till he reaches the top. The time taken to reach at the top is?</a:t>
            </a:r>
          </a:p>
          <a:p>
            <a:pPr algn="just"/>
            <a:endParaRPr lang="en-US" sz="2400" dirty="0">
              <a:latin typeface="Times New Roman" pitchFamily="18" charset="0"/>
              <a:cs typeface="Times New Roman" pitchFamily="18" charset="0"/>
            </a:endParaRPr>
          </a:p>
          <a:p>
            <a:pPr marL="457200" indent="-457200" algn="just">
              <a:buAutoNum type="alphaUcPeriod"/>
            </a:pPr>
            <a:r>
              <a:rPr lang="en-US" sz="2400" dirty="0">
                <a:latin typeface="Times New Roman" pitchFamily="18" charset="0"/>
                <a:cs typeface="Times New Roman" pitchFamily="18" charset="0"/>
              </a:rPr>
              <a:t>126 minutes		</a:t>
            </a:r>
          </a:p>
          <a:p>
            <a:pPr marL="457200" indent="-457200" algn="just">
              <a:buAutoNum type="alphaUcPeriod"/>
            </a:pPr>
            <a:r>
              <a:rPr lang="en-US" sz="2400" dirty="0">
                <a:latin typeface="Times New Roman" pitchFamily="18" charset="0"/>
                <a:cs typeface="Times New Roman" pitchFamily="18" charset="0"/>
              </a:rPr>
              <a:t>127 minutes</a:t>
            </a:r>
          </a:p>
          <a:p>
            <a:pPr marL="457200" indent="-457200" algn="just">
              <a:buAutoNum type="alphaUcPeriod"/>
            </a:pPr>
            <a:r>
              <a:rPr lang="en-US" sz="2400" dirty="0">
                <a:latin typeface="Times New Roman" pitchFamily="18" charset="0"/>
                <a:cs typeface="Times New Roman" pitchFamily="18" charset="0"/>
              </a:rPr>
              <a:t>128 minutes		</a:t>
            </a:r>
          </a:p>
          <a:p>
            <a:pPr marL="457200" indent="-457200" algn="just">
              <a:buAutoNum type="alphaUcPeriod"/>
            </a:pPr>
            <a:r>
              <a:rPr lang="en-US" sz="2400" dirty="0">
                <a:latin typeface="Times New Roman" pitchFamily="18" charset="0"/>
                <a:cs typeface="Times New Roman" pitchFamily="18" charset="0"/>
              </a:rPr>
              <a:t>120 minutes</a:t>
            </a:r>
          </a:p>
          <a:p>
            <a:pPr algn="just"/>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991194439"/>
      </p:ext>
    </p:extLst>
  </p:cSld>
  <p:clrMapOvr>
    <a:masterClrMapping/>
  </p:clrMapOvr>
  <mc:AlternateContent xmlns:mc="http://schemas.openxmlformats.org/markup-compatibility/2006" xmlns:p14="http://schemas.microsoft.com/office/powerpoint/2010/main">
    <mc:Choice Requires="p14">
      <p:transition spd="slow" p14:dur="2000" advTm="90000"/>
    </mc:Choice>
    <mc:Fallback xmlns="">
      <p:transition spd="slow" advTm="90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41027" y="697600"/>
            <a:ext cx="11031165" cy="3785652"/>
          </a:xfrm>
          <a:prstGeom prst="rect">
            <a:avLst/>
          </a:prstGeom>
        </p:spPr>
        <p:txBody>
          <a:bodyPr wrap="square">
            <a:spAutoFit/>
          </a:bodyPr>
          <a:lstStyle/>
          <a:p>
            <a:pPr algn="just" fontAlgn="ctr"/>
            <a:r>
              <a:rPr lang="en-US" sz="2400" dirty="0">
                <a:latin typeface="Times New Roman" pitchFamily="18" charset="0"/>
                <a:cs typeface="Times New Roman" pitchFamily="18" charset="0"/>
              </a:rPr>
              <a:t>12. It takes eleven hours for a 600 km journey, if 120 km is done by train and the rest by car. It takes 40 minutes more, if 200 km is done by train and the rest by car. What is the ratio of the speed of the train to that of the car? </a:t>
            </a:r>
            <a:endParaRPr lang="en-IN" sz="2400" dirty="0">
              <a:latin typeface="Times New Roman" pitchFamily="18" charset="0"/>
              <a:cs typeface="Times New Roman" pitchFamily="18" charset="0"/>
            </a:endParaRPr>
          </a:p>
          <a:p>
            <a:pPr algn="just" fontAlgn="ctr"/>
            <a:endParaRPr lang="en-IN" sz="2400" dirty="0">
              <a:latin typeface="Times New Roman" pitchFamily="18" charset="0"/>
              <a:cs typeface="Times New Roman" pitchFamily="18" charset="0"/>
            </a:endParaRPr>
          </a:p>
          <a:p>
            <a:pPr algn="just" fontAlgn="ctr"/>
            <a:r>
              <a:rPr lang="en-IN" sz="2400" dirty="0">
                <a:latin typeface="Times New Roman" pitchFamily="18" charset="0"/>
                <a:cs typeface="Times New Roman" pitchFamily="18" charset="0"/>
              </a:rPr>
              <a:t>A. 1:2</a:t>
            </a:r>
          </a:p>
          <a:p>
            <a:pPr algn="just" fontAlgn="ctr"/>
            <a:r>
              <a:rPr lang="en-IN" sz="2400" dirty="0">
                <a:latin typeface="Times New Roman" pitchFamily="18" charset="0"/>
                <a:cs typeface="Times New Roman" pitchFamily="18" charset="0"/>
              </a:rPr>
              <a:t>B. 1:3</a:t>
            </a:r>
          </a:p>
          <a:p>
            <a:pPr algn="just" fontAlgn="ctr"/>
            <a:r>
              <a:rPr lang="en-IN" sz="2400" dirty="0">
                <a:latin typeface="Times New Roman" pitchFamily="18" charset="0"/>
                <a:cs typeface="Times New Roman" pitchFamily="18" charset="0"/>
              </a:rPr>
              <a:t>C. 3:4</a:t>
            </a:r>
          </a:p>
          <a:p>
            <a:pPr algn="just" fontAlgn="ctr"/>
            <a:r>
              <a:rPr lang="en-IN" sz="2400" dirty="0">
                <a:latin typeface="Times New Roman" pitchFamily="18" charset="0"/>
                <a:cs typeface="Times New Roman" pitchFamily="18" charset="0"/>
              </a:rPr>
              <a:t>D. 2:3</a:t>
            </a:r>
          </a:p>
          <a:p>
            <a:pPr algn="just" fontAlgn="ctr"/>
            <a:br>
              <a:rPr lang="en-US" sz="2400" dirty="0">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4254171054"/>
      </p:ext>
    </p:extLst>
  </p:cSld>
  <p:clrMapOvr>
    <a:masterClrMapping/>
  </p:clrMapOvr>
  <mc:AlternateContent xmlns:mc="http://schemas.openxmlformats.org/markup-compatibility/2006" xmlns:p14="http://schemas.microsoft.com/office/powerpoint/2010/main">
    <mc:Choice Requires="p14">
      <p:transition spd="slow" p14:dur="2000" advTm="90000"/>
    </mc:Choice>
    <mc:Fallback xmlns="">
      <p:transition spd="slow" advTm="90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28247" y="808950"/>
            <a:ext cx="1124762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just" fontAlgn="t"/>
            <a:r>
              <a:rPr lang="en-US" altLang="en-US" sz="2400" dirty="0">
                <a:solidFill>
                  <a:srgbClr val="000000"/>
                </a:solidFill>
                <a:latin typeface="Times New Roman" pitchFamily="18" charset="0"/>
                <a:cs typeface="Times New Roman" pitchFamily="18" charset="0"/>
              </a:rPr>
              <a:t>13. Vishal travelled a certain distance in 2 </a:t>
            </a:r>
            <a:r>
              <a:rPr lang="en-US" altLang="en-US" sz="2400" dirty="0" err="1">
                <a:solidFill>
                  <a:srgbClr val="000000"/>
                </a:solidFill>
                <a:latin typeface="Times New Roman" pitchFamily="18" charset="0"/>
                <a:cs typeface="Times New Roman" pitchFamily="18" charset="0"/>
              </a:rPr>
              <a:t>hr</a:t>
            </a:r>
            <a:r>
              <a:rPr lang="en-US" altLang="en-US" sz="2400" dirty="0">
                <a:solidFill>
                  <a:srgbClr val="000000"/>
                </a:solidFill>
                <a:latin typeface="Times New Roman" pitchFamily="18" charset="0"/>
                <a:cs typeface="Times New Roman" pitchFamily="18" charset="0"/>
              </a:rPr>
              <a:t> and 15 min. He travelled this distance partly by car and partly by bus. The speed of the bus is 16 km/</a:t>
            </a:r>
            <a:r>
              <a:rPr lang="en-US" altLang="en-US" sz="2400" dirty="0" err="1">
                <a:solidFill>
                  <a:srgbClr val="000000"/>
                </a:solidFill>
                <a:latin typeface="Times New Roman" pitchFamily="18" charset="0"/>
                <a:cs typeface="Times New Roman" pitchFamily="18" charset="0"/>
              </a:rPr>
              <a:t>hr</a:t>
            </a:r>
            <a:r>
              <a:rPr lang="en-US" altLang="en-US" sz="2400" dirty="0">
                <a:solidFill>
                  <a:srgbClr val="000000"/>
                </a:solidFill>
                <a:latin typeface="Times New Roman" pitchFamily="18" charset="0"/>
                <a:cs typeface="Times New Roman" pitchFamily="18" charset="0"/>
              </a:rPr>
              <a:t> and the speed of car is 32 km/ hr. If the distance travelled by car is equal to distance travelled by bus, what is the total distance that he travelled?</a:t>
            </a:r>
          </a:p>
          <a:p>
            <a:pPr lvl="0" algn="just" fontAlgn="t"/>
            <a:r>
              <a:rPr lang="en-US" altLang="en-US" sz="2400" dirty="0">
                <a:solidFill>
                  <a:srgbClr val="000000"/>
                </a:solidFill>
                <a:latin typeface="Times New Roman" pitchFamily="18" charset="0"/>
                <a:cs typeface="Times New Roman" pitchFamily="18" charset="0"/>
              </a:rPr>
              <a:t> </a:t>
            </a:r>
          </a:p>
          <a:p>
            <a:pPr marL="457200" lvl="0" indent="-457200" algn="just" fontAlgn="t">
              <a:buAutoNum type="alphaUcPeriod"/>
            </a:pPr>
            <a:r>
              <a:rPr lang="en-US" altLang="en-US" sz="2400" dirty="0">
                <a:solidFill>
                  <a:srgbClr val="000000"/>
                </a:solidFill>
                <a:latin typeface="Times New Roman" pitchFamily="18" charset="0"/>
                <a:cs typeface="Times New Roman" pitchFamily="18" charset="0"/>
              </a:rPr>
              <a:t>48.5 km </a:t>
            </a:r>
          </a:p>
          <a:p>
            <a:pPr marL="457200" lvl="0" indent="-457200" algn="just" fontAlgn="t">
              <a:buAutoNum type="alphaUcPeriod"/>
            </a:pPr>
            <a:r>
              <a:rPr lang="en-US" altLang="en-US" sz="2400" dirty="0">
                <a:solidFill>
                  <a:srgbClr val="000000"/>
                </a:solidFill>
                <a:latin typeface="Times New Roman" pitchFamily="18" charset="0"/>
                <a:cs typeface="Times New Roman" pitchFamily="18" charset="0"/>
              </a:rPr>
              <a:t>48 km  </a:t>
            </a:r>
          </a:p>
          <a:p>
            <a:pPr marL="457200" lvl="0" indent="-457200" algn="just" fontAlgn="t">
              <a:buAutoNum type="alphaUcPeriod"/>
            </a:pPr>
            <a:r>
              <a:rPr lang="en-US" altLang="en-US" sz="2400" dirty="0">
                <a:solidFill>
                  <a:srgbClr val="000000"/>
                </a:solidFill>
                <a:latin typeface="Times New Roman" pitchFamily="18" charset="0"/>
                <a:cs typeface="Times New Roman" pitchFamily="18" charset="0"/>
              </a:rPr>
              <a:t>47.35 km </a:t>
            </a:r>
          </a:p>
          <a:p>
            <a:pPr marL="457200" lvl="0" indent="-457200" algn="just" fontAlgn="t">
              <a:buAutoNum type="alphaUcPeriod"/>
            </a:pPr>
            <a:r>
              <a:rPr lang="en-US" altLang="en-US" sz="2400" dirty="0">
                <a:solidFill>
                  <a:srgbClr val="000000"/>
                </a:solidFill>
                <a:latin typeface="Times New Roman" pitchFamily="18" charset="0"/>
                <a:cs typeface="Times New Roman" pitchFamily="18" charset="0"/>
              </a:rPr>
              <a:t>42 km  </a:t>
            </a:r>
          </a:p>
          <a:p>
            <a:pPr marL="457200" lvl="0" indent="-457200" algn="just" fontAlgn="t">
              <a:buAutoNum type="alphaUcPeriod"/>
            </a:pPr>
            <a:r>
              <a:rPr lang="en-US" altLang="en-US" sz="2400" dirty="0">
                <a:solidFill>
                  <a:srgbClr val="000000"/>
                </a:solidFill>
                <a:latin typeface="Times New Roman" pitchFamily="18" charset="0"/>
                <a:cs typeface="Times New Roman" pitchFamily="18" charset="0"/>
              </a:rPr>
              <a:t>None of these</a:t>
            </a:r>
            <a:endParaRPr kumimoji="0" lang="en-US" altLang="en-US" sz="2400" b="0" i="0" u="none" strike="noStrike" cap="none" normalizeH="0" baseline="0" dirty="0">
              <a:ln>
                <a:noFill/>
              </a:ln>
              <a:solidFill>
                <a:schemeClr val="tx1"/>
              </a:solidFill>
              <a:effectLst/>
              <a:latin typeface="Times New Roman" pitchFamily="18" charset="0"/>
              <a:cs typeface="Times New Roman" pitchFamily="18" charset="0"/>
            </a:endParaRPr>
          </a:p>
        </p:txBody>
      </p:sp>
    </p:spTree>
    <p:extLst>
      <p:ext uri="{BB962C8B-B14F-4D97-AF65-F5344CB8AC3E}">
        <p14:creationId xmlns:p14="http://schemas.microsoft.com/office/powerpoint/2010/main" val="3393390752"/>
      </p:ext>
    </p:extLst>
  </p:cSld>
  <p:clrMapOvr>
    <a:masterClrMapping/>
  </p:clrMapOvr>
  <mc:AlternateContent xmlns:mc="http://schemas.openxmlformats.org/markup-compatibility/2006" xmlns:p14="http://schemas.microsoft.com/office/powerpoint/2010/main">
    <mc:Choice Requires="p14">
      <p:transition spd="slow" p14:dur="2000" advTm="90000"/>
    </mc:Choice>
    <mc:Fallback xmlns="">
      <p:transition spd="slow" advTm="90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5BA204F-4364-415F-9D65-FF2DC7C3AD91}" type="slidenum">
              <a:rPr lang="en-US" smtClean="0"/>
              <a:pPr/>
              <a:t>17</a:t>
            </a:fld>
            <a:endParaRPr lang="en-US"/>
          </a:p>
        </p:txBody>
      </p:sp>
      <p:sp>
        <p:nvSpPr>
          <p:cNvPr id="3" name="Rectangle 2"/>
          <p:cNvSpPr/>
          <p:nvPr/>
        </p:nvSpPr>
        <p:spPr>
          <a:xfrm>
            <a:off x="3724201" y="2967335"/>
            <a:ext cx="4743606" cy="923330"/>
          </a:xfrm>
          <a:prstGeom prst="rect">
            <a:avLst/>
          </a:prstGeom>
          <a:noFill/>
        </p:spPr>
        <p:txBody>
          <a:bodyPr wrap="none" lIns="91440" tIns="45720" rIns="91440" bIns="45720">
            <a:spAutoFit/>
          </a:bodyPr>
          <a:lstStyle/>
          <a:p>
            <a:pPr algn="ctr"/>
            <a:r>
              <a:rPr lang="en-US" sz="5400" b="1" cap="none" spc="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Any </a:t>
            </a:r>
            <a:r>
              <a:rPr lang="en-US" sz="5400" b="1" cap="none" spc="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latin typeface="Times New Roman" pitchFamily="18" charset="0"/>
                <a:cs typeface="Times New Roman" pitchFamily="18" charset="0"/>
              </a:rPr>
              <a:t>Doubts</a:t>
            </a:r>
            <a:r>
              <a:rPr lang="en-US" sz="5400" b="1" cap="none" spc="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a:t>
            </a:r>
          </a:p>
        </p:txBody>
      </p:sp>
    </p:spTree>
    <p:extLst>
      <p:ext uri="{BB962C8B-B14F-4D97-AF65-F5344CB8AC3E}">
        <p14:creationId xmlns:p14="http://schemas.microsoft.com/office/powerpoint/2010/main" val="2761862165"/>
      </p:ext>
    </p:extLst>
  </p:cSld>
  <p:clrMapOvr>
    <a:masterClrMapping/>
  </p:clrMapOvr>
  <mc:AlternateContent xmlns:mc="http://schemas.openxmlformats.org/markup-compatibility/2006" xmlns:p14="http://schemas.microsoft.com/office/powerpoint/2010/main">
    <mc:Choice Requires="p14">
      <p:transition spd="slow" p14:dur="2000" advTm="90000"/>
    </mc:Choice>
    <mc:Fallback xmlns="">
      <p:transition spd="slow" advTm="9000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7322</TotalTime>
  <Words>1274</Words>
  <Application>Microsoft Office PowerPoint</Application>
  <PresentationFormat>Widescreen</PresentationFormat>
  <Paragraphs>147</Paragraphs>
  <Slides>17</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Algerian</vt:lpstr>
      <vt:lpstr>Arial</vt:lpstr>
      <vt:lpstr>Calibri</vt:lpstr>
      <vt:lpstr>Showcard Gothic</vt:lpstr>
      <vt:lpstr>Times New Roman</vt:lpstr>
      <vt:lpstr>Wingdings</vt:lpstr>
      <vt:lpstr>Office Theme</vt:lpstr>
      <vt:lpstr>Time Speed  And  Distance</vt:lpstr>
      <vt:lpstr>Subtopics 1. Concept of Constant Time  2. Miscellaneous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cu</dc:creator>
  <cp:lastModifiedBy>Akshara Rana</cp:lastModifiedBy>
  <cp:revision>657</cp:revision>
  <dcterms:created xsi:type="dcterms:W3CDTF">2017-07-13T07:57:18Z</dcterms:created>
  <dcterms:modified xsi:type="dcterms:W3CDTF">2025-09-19T01:08:26Z</dcterms:modified>
</cp:coreProperties>
</file>