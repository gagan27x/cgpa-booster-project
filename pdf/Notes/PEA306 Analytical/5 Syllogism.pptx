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88825" cy="6858000"/>
  <p:notesSz cx="6858000" cy="9144000"/>
  <p:embeddedFontLst>
    <p:embeddedFont>
      <p:font typeface="Palatino Linotype" panose="02040502050505030304" pitchFamily="18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9" roundtripDataSignature="AMtx7mgtA5LUTaZ+35Pqbvv0uf7Z1eUK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81197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D</a:t>
            </a:r>
            <a:endParaRPr/>
          </a:p>
        </p:txBody>
      </p:sp>
      <p:sp>
        <p:nvSpPr>
          <p:cNvPr id="141" name="Google Shape;1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</p:txBody>
      </p:sp>
      <p:sp>
        <p:nvSpPr>
          <p:cNvPr id="229" name="Google Shape;22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</p:txBody>
      </p:sp>
      <p:sp>
        <p:nvSpPr>
          <p:cNvPr id="237" name="Google Shape;23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</p:txBody>
      </p:sp>
      <p:sp>
        <p:nvSpPr>
          <p:cNvPr id="245" name="Google Shape;24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C</a:t>
            </a:r>
            <a:endParaRPr/>
          </a:p>
        </p:txBody>
      </p:sp>
      <p:sp>
        <p:nvSpPr>
          <p:cNvPr id="261" name="Google Shape;26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C</a:t>
            </a:r>
            <a:endParaRPr/>
          </a:p>
        </p:txBody>
      </p:sp>
      <p:sp>
        <p:nvSpPr>
          <p:cNvPr id="269" name="Google Shape;269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C</a:t>
            </a:r>
            <a:endParaRPr/>
          </a:p>
        </p:txBody>
      </p:sp>
      <p:sp>
        <p:nvSpPr>
          <p:cNvPr id="277" name="Google Shape;27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C</a:t>
            </a:r>
            <a:endParaRPr/>
          </a:p>
        </p:txBody>
      </p:sp>
      <p:sp>
        <p:nvSpPr>
          <p:cNvPr id="285" name="Google Shape;285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C</a:t>
            </a:r>
            <a:endParaRPr/>
          </a:p>
        </p:txBody>
      </p:sp>
      <p:sp>
        <p:nvSpPr>
          <p:cNvPr id="293" name="Google Shape;293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</p:txBody>
      </p:sp>
      <p:sp>
        <p:nvSpPr>
          <p:cNvPr id="309" name="Google Shape;30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</p:txBody>
      </p:sp>
      <p:sp>
        <p:nvSpPr>
          <p:cNvPr id="317" name="Google Shape;31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Difficulty Level: Easy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</p:txBody>
      </p:sp>
      <p:sp>
        <p:nvSpPr>
          <p:cNvPr id="325" name="Google Shape;325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B</a:t>
            </a:r>
            <a:endParaRPr/>
          </a:p>
        </p:txBody>
      </p:sp>
      <p:sp>
        <p:nvSpPr>
          <p:cNvPr id="341" name="Google Shape;341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D</a:t>
            </a:r>
            <a:endParaRPr/>
          </a:p>
        </p:txBody>
      </p:sp>
      <p:sp>
        <p:nvSpPr>
          <p:cNvPr id="357" name="Google Shape;357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Expert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E</a:t>
            </a:r>
            <a:endParaRPr/>
          </a:p>
        </p:txBody>
      </p:sp>
      <p:sp>
        <p:nvSpPr>
          <p:cNvPr id="365" name="Google Shape;365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Difficulty Level: Moderate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Option: A</a:t>
            </a:r>
            <a:endParaRPr/>
          </a:p>
        </p:txBody>
      </p:sp>
      <p:sp>
        <p:nvSpPr>
          <p:cNvPr id="373" name="Google Shape;373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0"/>
          <p:cNvSpPr txBox="1"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2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3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3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3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3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 txBox="1"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4"/>
          <p:cNvSpPr txBox="1"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4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4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4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5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7" name="Google Shape;47;p45"/>
          <p:cNvSpPr txBox="1">
            <a:spLocks noGrp="1"/>
          </p:cNvSpPr>
          <p:nvPr>
            <p:ph type="body" idx="2"/>
          </p:nvPr>
        </p:nvSpPr>
        <p:spPr>
          <a:xfrm>
            <a:off x="6195986" y="1600201"/>
            <a:ext cx="5383398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8" name="Google Shape;48;p45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2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5" name="Google Shape;55;p46"/>
          <p:cNvSpPr txBox="1">
            <a:spLocks noGrp="1"/>
          </p:cNvSpPr>
          <p:nvPr>
            <p:ph type="body" idx="3"/>
          </p:nvPr>
        </p:nvSpPr>
        <p:spPr>
          <a:xfrm>
            <a:off x="6191754" y="1535113"/>
            <a:ext cx="538763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4"/>
          </p:nvPr>
        </p:nvSpPr>
        <p:spPr>
          <a:xfrm>
            <a:off x="6191754" y="2174875"/>
            <a:ext cx="538763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7"/>
          <p:cNvSpPr txBox="1"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7"/>
          <p:cNvSpPr txBox="1">
            <a:spLocks noGrp="1"/>
          </p:cNvSpPr>
          <p:nvPr>
            <p:ph type="body" idx="1"/>
          </p:nvPr>
        </p:nvSpPr>
        <p:spPr>
          <a:xfrm>
            <a:off x="4765492" y="273051"/>
            <a:ext cx="681389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47"/>
          <p:cNvSpPr txBox="1">
            <a:spLocks noGrp="1"/>
          </p:cNvSpPr>
          <p:nvPr>
            <p:ph type="body" idx="2"/>
          </p:nvPr>
        </p:nvSpPr>
        <p:spPr>
          <a:xfrm>
            <a:off x="609442" y="1435101"/>
            <a:ext cx="4010039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>
            <a:spLocks noGrp="1"/>
          </p:cNvSpPr>
          <p:nvPr>
            <p:ph type="pic" idx="2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>
            <a:off x="2389095" y="5367338"/>
            <a:ext cx="7313295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3831431" y="-1621789"/>
            <a:ext cx="4525963" cy="10969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 rot="5400000">
            <a:off x="7282379" y="1829159"/>
            <a:ext cx="5851525" cy="274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0"/>
          <p:cNvSpPr txBox="1">
            <a:spLocks noGrp="1"/>
          </p:cNvSpPr>
          <p:nvPr>
            <p:ph type="body" idx="1"/>
          </p:nvPr>
        </p:nvSpPr>
        <p:spPr>
          <a:xfrm rot="5400000">
            <a:off x="1695834" y="-811754"/>
            <a:ext cx="5851525" cy="802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50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0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0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9"/>
          <p:cNvSpPr txBox="1"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9"/>
          <p:cNvSpPr txBox="1">
            <a:spLocks noGrp="1"/>
          </p:cNvSpPr>
          <p:nvPr>
            <p:ph type="dt" idx="10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ftr" idx="11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284412" y="2545140"/>
            <a:ext cx="764023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SYLLOGISM</a:t>
            </a:r>
            <a:endParaRPr sz="96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457199" y="2197502"/>
            <a:ext cx="11253019" cy="3259401"/>
          </a:xfrm>
          <a:prstGeom prst="roundRect">
            <a:avLst>
              <a:gd name="adj" fmla="val 3545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471950" y="2209800"/>
            <a:ext cx="11238268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+ All based Venn Diagram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+ Some based Venn Diagram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+ Some based Venn Diagram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+ No/Some-No based Venn Diagram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Either-Or Based Venn Diagram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Possibility Based Venn Diagram</a:t>
            </a: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3278-BE60-EF42-1D74-54F1EAA3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" y="1329082"/>
            <a:ext cx="10969943" cy="1143000"/>
          </a:xfrm>
        </p:spPr>
        <p:txBody>
          <a:bodyPr>
            <a:normAutofit fontScale="90000"/>
          </a:bodyPr>
          <a:lstStyle/>
          <a:p>
            <a:pPr algn="l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sz="3100" dirty="0"/>
            </a:br>
            <a:r>
              <a:rPr lang="en-IN" sz="3100" dirty="0"/>
              <a:t>Statements are given - &gt;   Conclusions to be derived</a:t>
            </a:r>
            <a:br>
              <a:rPr lang="en-IN" dirty="0"/>
            </a:br>
            <a:br>
              <a:rPr lang="en-IN" dirty="0"/>
            </a:br>
            <a:r>
              <a:rPr lang="en-IN" sz="3100" dirty="0"/>
              <a:t>There are three relations in syllogism:-</a:t>
            </a:r>
            <a:br>
              <a:rPr lang="en-IN" sz="3100" dirty="0"/>
            </a:br>
            <a:r>
              <a:rPr lang="en-IN" sz="3100" dirty="0"/>
              <a:t>1. Definite relationship-  </a:t>
            </a:r>
            <a:r>
              <a:rPr lang="en-IN" sz="3100"/>
              <a:t>100%</a:t>
            </a:r>
            <a:br>
              <a:rPr lang="en-IN" sz="3100" dirty="0"/>
            </a:br>
            <a:r>
              <a:rPr lang="en-IN" sz="3100" dirty="0"/>
              <a:t>2. Either and OR -  50-50 %</a:t>
            </a:r>
            <a:br>
              <a:rPr lang="en-IN" sz="3100" dirty="0"/>
            </a:br>
            <a:r>
              <a:rPr lang="en-IN" sz="3100" dirty="0"/>
              <a:t>3. Possibility – chances of occurrence, not sure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4756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471949" y="1607569"/>
            <a:ext cx="1123826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SYLLOGISM</a:t>
            </a:r>
            <a:endParaRPr sz="2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50301" y="710872"/>
            <a:ext cx="8915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1.) All STATEMENT</a:t>
            </a:r>
            <a:endParaRPr dirty="0">
              <a:latin typeface="Palatino Linotype" panose="0204050205050503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All statement is written in the format “ALL A are B”, here A and B represent the subject and object of the statement.</a:t>
            </a:r>
            <a:endParaRPr sz="1800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Venn diagram</a:t>
            </a:r>
            <a:endParaRPr sz="1800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 descr="C:\Users\neeraj\Desktop\Movenent al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4050" y="2312282"/>
            <a:ext cx="5383267" cy="284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SYLLOGISM MADE EAS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33012" y="3733800"/>
            <a:ext cx="14192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586ABA-BA66-2E40-02EF-31E77FD98FC0}"/>
              </a:ext>
            </a:extLst>
          </p:cNvPr>
          <p:cNvSpPr txBox="1"/>
          <p:nvPr/>
        </p:nvSpPr>
        <p:spPr>
          <a:xfrm>
            <a:off x="1070919" y="5155318"/>
            <a:ext cx="6960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There are 2 definite conclusions :</a:t>
            </a:r>
          </a:p>
          <a:p>
            <a:pPr marL="342900" indent="-342900">
              <a:buAutoNum type="arabicPeriod"/>
            </a:pPr>
            <a:r>
              <a:rPr lang="en-IN" sz="1800" dirty="0"/>
              <a:t>All A is B</a:t>
            </a:r>
          </a:p>
          <a:p>
            <a:pPr marL="342900" indent="-342900">
              <a:buAutoNum type="arabicPeriod"/>
            </a:pPr>
            <a:r>
              <a:rPr lang="en-IN" sz="1800" dirty="0"/>
              <a:t>Some A is B.</a:t>
            </a:r>
          </a:p>
          <a:p>
            <a:pPr marL="342900" indent="-342900">
              <a:buAutoNum type="arabicPeriod"/>
            </a:pPr>
            <a:r>
              <a:rPr lang="en-IN" sz="1800" dirty="0"/>
              <a:t>Some B is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495278" y="322545"/>
            <a:ext cx="86627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2.) SOME STATEMENT</a:t>
            </a:r>
            <a:endParaRPr dirty="0">
              <a:latin typeface="Palatino Linotype" panose="0204050205050503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Some statement is written in the format “Some A are B”, here A and B represent the subject and object of the statement.</a:t>
            </a:r>
            <a:endParaRPr sz="1800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C:\Users\neeraj\Desktop\some n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6360" y="1950185"/>
            <a:ext cx="5777455" cy="25192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06E80E-61A7-014A-ECC2-68EA87803899}"/>
              </a:ext>
            </a:extLst>
          </p:cNvPr>
          <p:cNvSpPr txBox="1"/>
          <p:nvPr/>
        </p:nvSpPr>
        <p:spPr>
          <a:xfrm>
            <a:off x="914400" y="4619727"/>
            <a:ext cx="82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There are 2 definite conclusions:</a:t>
            </a:r>
          </a:p>
          <a:p>
            <a:endParaRPr lang="en-IN" sz="1800" dirty="0"/>
          </a:p>
          <a:p>
            <a:pPr marL="342900" indent="-342900">
              <a:buAutoNum type="arabicPeriod"/>
            </a:pPr>
            <a:r>
              <a:rPr lang="en-IN" sz="1800" dirty="0"/>
              <a:t>Some A is B</a:t>
            </a:r>
          </a:p>
          <a:p>
            <a:pPr marL="342900" indent="-342900">
              <a:buAutoNum type="arabicPeriod"/>
            </a:pPr>
            <a:r>
              <a:rPr lang="en-IN" sz="1800" dirty="0"/>
              <a:t>Some B is 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433692" y="596030"/>
            <a:ext cx="617084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3.) NO</a:t>
            </a:r>
            <a:r>
              <a:rPr lang="en-US" sz="1800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STATEMENT</a:t>
            </a:r>
            <a:endParaRPr sz="1800" b="1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No statement is written in the format “No A are B”, here A and B represent the subject and object of the statement</a:t>
            </a:r>
            <a:endParaRPr sz="1800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descr="C:\Users\neeraj\Desktop\No Movem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136" y="1454063"/>
            <a:ext cx="560595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F86B6E-4DC1-4B00-861C-CD7647A8EAA5}"/>
              </a:ext>
            </a:extLst>
          </p:cNvPr>
          <p:cNvSpPr txBox="1"/>
          <p:nvPr/>
        </p:nvSpPr>
        <p:spPr>
          <a:xfrm>
            <a:off x="939114" y="4876800"/>
            <a:ext cx="59394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2 Definite conclusions 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No A is B</a:t>
            </a:r>
          </a:p>
          <a:p>
            <a:pPr marL="342900" indent="-342900">
              <a:buAutoNum type="arabicPeriod"/>
            </a:pPr>
            <a:r>
              <a:rPr lang="en-IN" dirty="0"/>
              <a:t>No B is A</a:t>
            </a:r>
          </a:p>
          <a:p>
            <a:pPr marL="342900" indent="-342900">
              <a:buAutoNum type="arabicPeriod"/>
            </a:pPr>
            <a:r>
              <a:rPr lang="en-IN" dirty="0"/>
              <a:t>Some A is not B</a:t>
            </a:r>
          </a:p>
          <a:p>
            <a:pPr marL="342900" indent="-342900">
              <a:buAutoNum type="arabicPeriod"/>
            </a:pPr>
            <a:r>
              <a:rPr lang="en-IN" dirty="0"/>
              <a:t>Some B is not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544981" y="339572"/>
            <a:ext cx="8662722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4.) SOME NOT STATEMENT</a:t>
            </a:r>
            <a:endParaRPr sz="1800" dirty="0">
              <a:latin typeface="Palatino Linotype" panose="0204050205050503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Palatino Linotype" panose="02040502050505030304" pitchFamily="18" charset="0"/>
                <a:ea typeface="Calibri"/>
                <a:cs typeface="Calibri"/>
                <a:sym typeface="Calibri"/>
              </a:rPr>
              <a:t>All statement is written in the format “Some A are not B”, here A and B represent the subject and object of the statement.</a:t>
            </a:r>
            <a:endParaRPr sz="1800" dirty="0">
              <a:solidFill>
                <a:schemeClr val="dk1"/>
              </a:solidFill>
              <a:latin typeface="Palatino Linotype" panose="02040502050505030304" pitchFamily="18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 descr="C:\Users\neeraj\Desktop\Movement Some N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2487" y="2024382"/>
            <a:ext cx="5149247" cy="224281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ADD13B-B706-EE21-BEB1-69FE7121247F}"/>
              </a:ext>
            </a:extLst>
          </p:cNvPr>
          <p:cNvSpPr txBox="1"/>
          <p:nvPr/>
        </p:nvSpPr>
        <p:spPr>
          <a:xfrm>
            <a:off x="848497" y="4522573"/>
            <a:ext cx="7603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1 definite conclusion :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Some A are not B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2" y="923794"/>
            <a:ext cx="11040756" cy="3838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497399" y="1430953"/>
            <a:ext cx="1115382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rabicPeriod"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tables are factories.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pencils are factories.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tables are pencils.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pencils are tables.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A) If only Conclusion 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B) If only Conclusion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C) If either Conclusion I or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D) If neither Conclusion I nor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E) 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497399" y="1430953"/>
            <a:ext cx="11194025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singers are dancers.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dancers are actors.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the actors are dancers.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the singers are actors.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497399" y="1430953"/>
            <a:ext cx="11194025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cars are cycles.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fans are cycles.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cars are fans.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fans are cars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490657" y="1447800"/>
            <a:ext cx="1120076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4.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noodles are chowmien.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chowmien are maggi.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the noodles are maggi.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chowmien are noodles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490658" y="1447800"/>
            <a:ext cx="11207508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5.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chocolates are brown.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candies are chocolates.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chocolates are candies.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Candy is a brown.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/>
          <p:nvPr/>
        </p:nvSpPr>
        <p:spPr>
          <a:xfrm>
            <a:off x="490657" y="1447800"/>
            <a:ext cx="1120076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6.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rubbers are moulds.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moulds are wax.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rubbers are wax.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moulds are wax.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497398" y="1447800"/>
            <a:ext cx="1119402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7.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stems are roots.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roots are mangoes.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the mangoes are roots.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stems are mangoes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497398" y="1447800"/>
            <a:ext cx="11200768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8.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almirahs are tables.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chairs are tables.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tables are chairs.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tables are almirahs.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/>
          <p:nvPr/>
        </p:nvSpPr>
        <p:spPr>
          <a:xfrm>
            <a:off x="490657" y="1447800"/>
            <a:ext cx="1120076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9.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onions are gingers.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the gingers are potatoes.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onions are potatoes.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No ginger is onion.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/>
          <p:nvPr/>
        </p:nvSpPr>
        <p:spPr>
          <a:xfrm>
            <a:off x="497399" y="1447800"/>
            <a:ext cx="111940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10. Statements:  </a:t>
            </a: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copies are books.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books are trees.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 . Some copies are trees.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trees are books.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/>
          <p:nvPr/>
        </p:nvSpPr>
        <p:spPr>
          <a:xfrm>
            <a:off x="497398" y="1447800"/>
            <a:ext cx="1119402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11.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 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phones are calls.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 call is toffee.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No phone is toffee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calls are phones.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490657" y="1447800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12.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trainers are executives.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 executive is an officer.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officers are managers.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No trainer is an officer.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trainers being managers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490658" y="1442621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13.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 stars is planets.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planets are papers.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papers are glass.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No glass is planet.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At least some glasses are planets.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490657" y="1447800"/>
            <a:ext cx="11200768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14.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violins are guitars.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guitars are beds.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 bed is sofa.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Conclusion: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 No guitar is sofa.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violins being sofa is a possibility.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/>
          <p:nvPr/>
        </p:nvSpPr>
        <p:spPr>
          <a:xfrm>
            <a:off x="490657" y="1454289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15.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money are mat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mat are lion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No lion is a cog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All tigers are cogs</a:t>
            </a: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roman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money can never be tigers.</a:t>
            </a:r>
            <a:endParaRPr/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roman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mats can never be cogs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490658" y="1442621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16.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cars are houses.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houses are planes.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planes are cars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No plane is car.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A) If only Conclusion 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B) If only Conclusion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C) If either Conclusion I or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D) If neither Conclusion I nor II follows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E) If both Conclusion I and II follow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490658" y="1442621"/>
            <a:ext cx="1116056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17.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flowers are trees.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trees are horses.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horses are flowers.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No horse is flower.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490657" y="1442621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18.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schools are lions.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birds are schools.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pencils are lions.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No pencil is bird 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pencils are birds.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"/>
          <p:cNvSpPr/>
          <p:nvPr/>
        </p:nvSpPr>
        <p:spPr>
          <a:xfrm>
            <a:off x="490657" y="1442621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19.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baskets are marbles.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	    Some marbles are sticks.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	    No stick is garden.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gardens are basket.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Sticks are baskets.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III. No garden is basket.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 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531812" y="1378089"/>
            <a:ext cx="11119414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20.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All stones are hammers.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No hammer is ring.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rings are door.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All doors are windows.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windows are stones.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II. Some windows are rings.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III. No window is stone.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IV. Some rings are stones.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conclusion II and either Conclusion I or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conclusion III and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/>
          <p:nvPr/>
        </p:nvSpPr>
        <p:spPr>
          <a:xfrm>
            <a:off x="497398" y="1447800"/>
            <a:ext cx="11200768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bats are copy.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bats are chairs.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There is a possibility that All bats are not copy.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There is a possibility that Some bats are chairs.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/>
          <p:nvPr/>
        </p:nvSpPr>
        <p:spPr>
          <a:xfrm>
            <a:off x="490658" y="1447800"/>
            <a:ext cx="11207508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22.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 dogs are lions.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lions are cats.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dogs are cats is a possibility.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 Some lions are not dog is a possibility.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/>
          <p:nvPr/>
        </p:nvSpPr>
        <p:spPr>
          <a:xfrm>
            <a:off x="497399" y="1447800"/>
            <a:ext cx="111940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23.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Tiers are Liars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Liars are LED.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LED are Tiers.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All Tiers being LED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/>
          <p:nvPr/>
        </p:nvSpPr>
        <p:spPr>
          <a:xfrm>
            <a:off x="490657" y="1447800"/>
            <a:ext cx="11200767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24.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mails are cats.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dates are cats.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All mails being dates is a possibility.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No dates is a mail. 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 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/>
          <p:nvPr/>
        </p:nvSpPr>
        <p:spPr>
          <a:xfrm>
            <a:off x="497398" y="1465957"/>
            <a:ext cx="11200768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25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friends are enemies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All enemies are black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black are whites</a:t>
            </a: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1.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friends being black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2. All such friends that are not black can be enemies.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3. Some enemies are whites.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4. All whites are black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None follows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 follows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II follows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III follows 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 and IV follow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/>
          <p:nvPr/>
        </p:nvSpPr>
        <p:spPr>
          <a:xfrm>
            <a:off x="497398" y="1465957"/>
            <a:ext cx="11200768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26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reds are blues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white are blue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white are not ten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No black is blue.</a:t>
            </a: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white which are blue are also ten is a possibility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II. Some black are not red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III. Every red is ten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IV. Some blue which are reds are also ten is a possibility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 and III are follow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I, II and IV are follow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II and IV are follow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 follows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Only I and either II or IV follow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490657" y="1442621"/>
            <a:ext cx="1120076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27.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mats are calls.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pens are calls.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erasers are pens.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calls are not mats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II. Some calls are erasers.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neither Conclusion I nor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/>
          <p:nvPr/>
        </p:nvSpPr>
        <p:spPr>
          <a:xfrm>
            <a:off x="490658" y="1465957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28.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pens are clocks.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clocks are tyres.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tyres are wheeels.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		    Some wheels are buses.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buses are tyres.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II. Some wheels are clocks.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III. Some wheels are pens.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IV. Some buses are clocks.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None follows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 I and 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490658" y="1447800"/>
            <a:ext cx="11200767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29.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books are papers.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papers are roads.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roads are lanes.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lanes are streets.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I. Some streets are not roads.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                 II. All lanes being books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III. All streets being paper is a possibility.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IV. Some roads are definitely books.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None follows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Conclusions II and III follow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/>
          <p:nvPr/>
        </p:nvSpPr>
        <p:spPr>
          <a:xfrm>
            <a:off x="497398" y="1454289"/>
            <a:ext cx="1115382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30. </a:t>
            </a: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Statements: </a:t>
            </a: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axes are scissors.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scissors are blades.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Some blades are sickles.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    No sickle is an axe.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Conclusions:  </a:t>
            </a:r>
            <a:endParaRPr/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roman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Some sickles can be scissors. </a:t>
            </a:r>
            <a:endParaRPr sz="2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roman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All sickles are blades.</a:t>
            </a:r>
            <a:b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only Conclusion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either Conclusion I or III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None follows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/>
              <a:buAutoNum type="alphaUcPeriod"/>
            </a:pPr>
            <a:r>
              <a:rPr lang="en-US" sz="24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both Conclusions II and III follow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>
            <a:spLocks noGrp="1"/>
          </p:cNvSpPr>
          <p:nvPr>
            <p:ph type="sldNum" idx="12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4898266" y="2734270"/>
            <a:ext cx="474200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cap="none">
                <a:solidFill>
                  <a:srgbClr val="FC7876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Any Doubts…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cap="none">
              <a:solidFill>
                <a:srgbClr val="FC7876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84" name="Google Shape;38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0612" y="2111478"/>
            <a:ext cx="2676525" cy="235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2712</Words>
  <Application>Microsoft Office PowerPoint</Application>
  <PresentationFormat>Custom</PresentationFormat>
  <Paragraphs>527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Times New Roman</vt:lpstr>
      <vt:lpstr>Palatino Linotype</vt:lpstr>
      <vt:lpstr>Calibri</vt:lpstr>
      <vt:lpstr>Office Theme</vt:lpstr>
      <vt:lpstr>PowerPoint Presentation</vt:lpstr>
      <vt:lpstr>PowerPoint Presentation</vt:lpstr>
      <vt:lpstr>    Statements are given - &gt;   Conclusions to be derived  There are three relations in syllogism:- 1. Definite relationship-  100% 2. Either and OR -  50-50 % 3. Possibility – chances of occurrence, not sure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sunny</dc:creator>
  <cp:lastModifiedBy>Akshara Rana</cp:lastModifiedBy>
  <cp:revision>9</cp:revision>
  <dcterms:created xsi:type="dcterms:W3CDTF">2006-08-16T00:00:00Z</dcterms:created>
  <dcterms:modified xsi:type="dcterms:W3CDTF">2025-09-09T07:03:48Z</dcterms:modified>
</cp:coreProperties>
</file>