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6115B-B4AB-403A-8FD6-1AE434B29BAE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7F9C5-39A9-4BBA-985B-0A620CFBC9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360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7F9C5-39A9-4BBA-985B-0A620CFBC98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03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686690A-CA4A-4FC9-BE47-59DB8222F715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D01FE4A-05A9-4016-9007-3D15140B5D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Environmental Movements and Important Case Studies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85918" y="4000504"/>
            <a:ext cx="5286412" cy="1328023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b="1" i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en-US" b="1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“A chopped head is cheaper than a felled tree.”</a:t>
            </a:r>
          </a:p>
          <a:p>
            <a:endParaRPr lang="en-US" b="1" i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Amrita Devi</a:t>
            </a: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504351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Bishnoi</a:t>
            </a:r>
            <a:r>
              <a:rPr lang="en-US" dirty="0"/>
              <a:t> faith is a religious offshoot of Hinduism founded on </a:t>
            </a:r>
            <a:r>
              <a:rPr lang="en-US" b="1" dirty="0"/>
              <a:t>29 principles</a:t>
            </a:r>
            <a:r>
              <a:rPr lang="en-US" dirty="0"/>
              <a:t>, most of which promote </a:t>
            </a:r>
            <a:r>
              <a:rPr lang="en-US" b="1" dirty="0"/>
              <a:t>environmental stewardship</a:t>
            </a:r>
            <a:r>
              <a:rPr lang="en-US" dirty="0"/>
              <a:t>.</a:t>
            </a:r>
          </a:p>
          <a:p>
            <a:r>
              <a:rPr lang="en-US" dirty="0"/>
              <a:t>The religion was founded by </a:t>
            </a:r>
            <a:r>
              <a:rPr lang="en-US" b="1" dirty="0"/>
              <a:t>Guru </a:t>
            </a:r>
            <a:r>
              <a:rPr lang="en-US" b="1" dirty="0" err="1"/>
              <a:t>Maharaj</a:t>
            </a:r>
            <a:r>
              <a:rPr lang="en-US" b="1" dirty="0"/>
              <a:t> </a:t>
            </a:r>
            <a:r>
              <a:rPr lang="en-US" b="1" dirty="0" err="1"/>
              <a:t>Jambaji</a:t>
            </a:r>
            <a:r>
              <a:rPr lang="en-US" dirty="0"/>
              <a:t> in </a:t>
            </a:r>
            <a:r>
              <a:rPr lang="en-US" b="1" dirty="0"/>
              <a:t>1485</a:t>
            </a:r>
            <a:r>
              <a:rPr lang="en-US" dirty="0"/>
              <a:t> AD in the </a:t>
            </a:r>
            <a:r>
              <a:rPr lang="en-US" b="1" dirty="0" err="1"/>
              <a:t>Marwar</a:t>
            </a:r>
            <a:r>
              <a:rPr lang="en-US" b="1" dirty="0"/>
              <a:t> (Jodhpur) </a:t>
            </a:r>
            <a:r>
              <a:rPr lang="en-US" dirty="0"/>
              <a:t>desert region of western Rajasthan, India.</a:t>
            </a:r>
          </a:p>
          <a:p>
            <a:r>
              <a:rPr lang="en-US" dirty="0"/>
              <a:t>He banned cutting down green trees and killing birds or animals.</a:t>
            </a:r>
          </a:p>
          <a:p>
            <a:r>
              <a:rPr lang="en-US" dirty="0" err="1"/>
              <a:t>Bishnois</a:t>
            </a:r>
            <a:r>
              <a:rPr lang="en-US" dirty="0"/>
              <a:t> are famous for cultivating lush vegetation, caring for animals, and collecting drinkable water.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BISHNOI MOVEMENT</a:t>
            </a:r>
          </a:p>
        </p:txBody>
      </p:sp>
      <p:pic>
        <p:nvPicPr>
          <p:cNvPr id="11266" name="Picture 2" descr="What Are The 29 Commandments The Define The Life Of The Bishnois ..."/>
          <p:cNvPicPr>
            <a:picLocks noChangeAspect="1" noChangeArrowheads="1"/>
          </p:cNvPicPr>
          <p:nvPr/>
        </p:nvPicPr>
        <p:blipFill>
          <a:blip r:embed="rId2" cstate="print"/>
          <a:srcRect l="41727"/>
          <a:stretch>
            <a:fillRect/>
          </a:stretch>
        </p:blipFill>
        <p:spPr bwMode="auto">
          <a:xfrm>
            <a:off x="4643438" y="1571612"/>
            <a:ext cx="4289954" cy="50720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Principles of </a:t>
            </a:r>
            <a:r>
              <a:rPr lang="en-IN" b="1" dirty="0" err="1"/>
              <a:t>Bishnoi</a:t>
            </a:r>
            <a:r>
              <a:rPr lang="en-IN" b="1" dirty="0"/>
              <a:t> philosophy relevant to environmental protection</a:t>
            </a:r>
          </a:p>
          <a:p>
            <a:pPr lvl="1"/>
            <a:r>
              <a:rPr lang="en-US" dirty="0"/>
              <a:t>To be compassionate towards all living beings.</a:t>
            </a:r>
          </a:p>
          <a:p>
            <a:pPr lvl="1"/>
            <a:r>
              <a:rPr lang="en-US" dirty="0"/>
              <a:t>Do not cut the green trees, save the environment.</a:t>
            </a:r>
          </a:p>
          <a:p>
            <a:pPr lvl="1"/>
            <a:r>
              <a:rPr lang="en-US" dirty="0"/>
              <a:t>To provide a common shelter for goat/sheep to avoid them being slaughtered.</a:t>
            </a:r>
          </a:p>
          <a:p>
            <a:pPr lvl="1"/>
            <a:r>
              <a:rPr lang="en-US" dirty="0"/>
              <a:t>Don’t sterilize bulls.</a:t>
            </a:r>
          </a:p>
          <a:p>
            <a:pPr lvl="1"/>
            <a:r>
              <a:rPr lang="en-US" dirty="0"/>
              <a:t>Feed and protect wildlife.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BISHNOI MOVEMENT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401080" cy="257176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1730, maharajah (king) of Jodhpur sent soldiers to gather </a:t>
            </a:r>
            <a:r>
              <a:rPr lang="en-US" b="1" dirty="0" err="1"/>
              <a:t>khejri</a:t>
            </a:r>
            <a:r>
              <a:rPr lang="en-US" b="1" dirty="0"/>
              <a:t> (acacia)</a:t>
            </a:r>
            <a:r>
              <a:rPr lang="en-US" dirty="0"/>
              <a:t> wood from the forest region near the </a:t>
            </a:r>
            <a:r>
              <a:rPr lang="en-US" b="1" dirty="0"/>
              <a:t>village of </a:t>
            </a:r>
            <a:r>
              <a:rPr lang="en-US" b="1" dirty="0" err="1"/>
              <a:t>Khejarli</a:t>
            </a:r>
            <a:r>
              <a:rPr lang="en-US" dirty="0"/>
              <a:t>.</a:t>
            </a:r>
          </a:p>
          <a:p>
            <a:r>
              <a:rPr lang="en-US" b="1" dirty="0"/>
              <a:t>Amrita Devi </a:t>
            </a:r>
            <a:r>
              <a:rPr lang="en-US" dirty="0"/>
              <a:t>was a female villager who decided to literally hug the trees, and encouraged others to do so too.</a:t>
            </a:r>
          </a:p>
          <a:p>
            <a:r>
              <a:rPr lang="en-US" dirty="0"/>
              <a:t>As each villager </a:t>
            </a:r>
            <a:r>
              <a:rPr lang="en-US" b="1" dirty="0"/>
              <a:t>hugged a tree</a:t>
            </a:r>
            <a:r>
              <a:rPr lang="en-US" dirty="0"/>
              <a:t>, refusing to let go, they were beheaded by the soldiers.</a:t>
            </a:r>
          </a:p>
          <a:p>
            <a:r>
              <a:rPr lang="en-US" dirty="0"/>
              <a:t>This voluntary martyrdom continued until </a:t>
            </a:r>
            <a:r>
              <a:rPr lang="en-US" b="1" dirty="0"/>
              <a:t>363 </a:t>
            </a:r>
            <a:r>
              <a:rPr lang="en-US" b="1" dirty="0" err="1"/>
              <a:t>Bishnoi</a:t>
            </a:r>
            <a:r>
              <a:rPr lang="en-US" b="1" dirty="0"/>
              <a:t> villagers</a:t>
            </a:r>
            <a:r>
              <a:rPr lang="en-US" dirty="0"/>
              <a:t> were killed in the name of the sacred </a:t>
            </a:r>
            <a:r>
              <a:rPr lang="en-US" dirty="0" err="1"/>
              <a:t>Khejarli</a:t>
            </a:r>
            <a:r>
              <a:rPr lang="en-US" dirty="0"/>
              <a:t> forest.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BISHNOI MOVEMENT</a:t>
            </a:r>
          </a:p>
        </p:txBody>
      </p:sp>
      <p:pic>
        <p:nvPicPr>
          <p:cNvPr id="17410" name="Picture 2" descr="Yellow Flame Tree 10 SEEDS Rare Tropical TreeYellow blossoms | Ets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929042"/>
            <a:ext cx="4393437" cy="2928958"/>
          </a:xfrm>
          <a:prstGeom prst="rect">
            <a:avLst/>
          </a:prstGeom>
          <a:noFill/>
        </p:spPr>
      </p:pic>
      <p:pic>
        <p:nvPicPr>
          <p:cNvPr id="17412" name="Picture 4" descr="The Original Tree-Huggers: Khejarli Massacre, 1730 – A Branch in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48" y="3913907"/>
            <a:ext cx="4857752" cy="29440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186766" cy="2357454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Chipko</a:t>
            </a:r>
            <a:r>
              <a:rPr lang="en-US" dirty="0"/>
              <a:t> movement (</a:t>
            </a:r>
            <a:r>
              <a:rPr lang="en-US" dirty="0" err="1"/>
              <a:t>Chipko</a:t>
            </a:r>
            <a:r>
              <a:rPr lang="en-US" dirty="0"/>
              <a:t> </a:t>
            </a:r>
            <a:r>
              <a:rPr lang="en-US" dirty="0" err="1"/>
              <a:t>andolan</a:t>
            </a:r>
            <a:r>
              <a:rPr lang="en-US" dirty="0"/>
              <a:t>): A nonviolent social and ecological movement by rural villagers in India in the 1973, aimed at protecting trees and forests slated for government-backed logging.</a:t>
            </a:r>
          </a:p>
          <a:p>
            <a:r>
              <a:rPr lang="en-US" dirty="0"/>
              <a:t>The movement originated in the Himalayan region of Uttar Pradesh (now </a:t>
            </a:r>
            <a:r>
              <a:rPr lang="en-US" dirty="0" err="1"/>
              <a:t>Uttarakhand</a:t>
            </a:r>
            <a:r>
              <a:rPr lang="en-US" dirty="0"/>
              <a:t>).</a:t>
            </a:r>
          </a:p>
          <a:p>
            <a:r>
              <a:rPr lang="en-IN" dirty="0"/>
              <a:t>Inspired by </a:t>
            </a:r>
            <a:r>
              <a:rPr lang="en-IN" dirty="0" err="1"/>
              <a:t>Bishnoi</a:t>
            </a:r>
            <a:r>
              <a:rPr lang="en-IN" dirty="0"/>
              <a:t> movement</a:t>
            </a:r>
          </a:p>
          <a:p>
            <a:r>
              <a:rPr lang="en-US" dirty="0"/>
              <a:t>The main objective was to protect the trees on the Himalayan slopes from the axes of contractors of the forest.</a:t>
            </a:r>
          </a:p>
          <a:p>
            <a:r>
              <a:rPr lang="en-US" dirty="0"/>
              <a:t>Led by </a:t>
            </a:r>
            <a:r>
              <a:rPr lang="en-US" dirty="0" err="1"/>
              <a:t>Sundarlal</a:t>
            </a:r>
            <a:r>
              <a:rPr lang="en-US" dirty="0"/>
              <a:t> </a:t>
            </a:r>
            <a:r>
              <a:rPr lang="en-US" dirty="0" err="1"/>
              <a:t>Bahuguna</a:t>
            </a:r>
            <a:r>
              <a:rPr lang="en-US" dirty="0"/>
              <a:t>, </a:t>
            </a:r>
            <a:r>
              <a:rPr lang="en-US" dirty="0" err="1"/>
              <a:t>Gaura</a:t>
            </a:r>
            <a:r>
              <a:rPr lang="en-US" dirty="0"/>
              <a:t> Devi, </a:t>
            </a:r>
            <a:r>
              <a:rPr lang="en-US" dirty="0" err="1"/>
              <a:t>Sudesha</a:t>
            </a:r>
            <a:r>
              <a:rPr lang="en-US" dirty="0"/>
              <a:t> Devi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CHIPKO </a:t>
            </a:r>
            <a:r>
              <a:rPr lang="en-US" dirty="0"/>
              <a:t>MOVEMENT</a:t>
            </a:r>
          </a:p>
        </p:txBody>
      </p:sp>
      <p:pic>
        <p:nvPicPr>
          <p:cNvPr id="18434" name="Picture 2" descr="Chipko Andolan' Was The Strongest Movement To Conserve Forests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613755"/>
            <a:ext cx="6929454" cy="3244245"/>
          </a:xfrm>
          <a:prstGeom prst="rect">
            <a:avLst/>
          </a:prstGeom>
          <a:noFill/>
        </p:spPr>
      </p:pic>
      <p:pic>
        <p:nvPicPr>
          <p:cNvPr id="18436" name="Picture 4" descr="Antardhwani : Sunderlal Bahuguna Says That Water, Forest And Land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00860" y="3214686"/>
            <a:ext cx="2143140" cy="1428760"/>
          </a:xfrm>
          <a:prstGeom prst="rect">
            <a:avLst/>
          </a:prstGeom>
          <a:noFill/>
        </p:spPr>
      </p:pic>
      <p:pic>
        <p:nvPicPr>
          <p:cNvPr id="18438" name="Picture 6" descr="Gaura Devi - Wikipedi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00893" y="4652873"/>
            <a:ext cx="2143108" cy="22051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29312" cy="4972072"/>
          </a:xfrm>
        </p:spPr>
        <p:txBody>
          <a:bodyPr>
            <a:normAutofit/>
          </a:bodyPr>
          <a:lstStyle/>
          <a:p>
            <a:r>
              <a:rPr lang="en-US" dirty="0"/>
              <a:t>The movement first </a:t>
            </a:r>
            <a:r>
              <a:rPr lang="en-US" b="1" dirty="0"/>
              <a:t>started in 1985</a:t>
            </a:r>
            <a:r>
              <a:rPr lang="en-US" dirty="0"/>
              <a:t> as a protest for not providing </a:t>
            </a:r>
            <a:r>
              <a:rPr lang="en-US" b="1" dirty="0"/>
              <a:t>proper rehabilitation and resettlement</a:t>
            </a:r>
            <a:r>
              <a:rPr lang="en-US" dirty="0"/>
              <a:t> for the people who have been displaced by the construction of </a:t>
            </a:r>
            <a:r>
              <a:rPr lang="en-US" b="1" dirty="0" err="1"/>
              <a:t>Sardar</a:t>
            </a:r>
            <a:r>
              <a:rPr lang="en-US" b="1" dirty="0"/>
              <a:t> </a:t>
            </a:r>
            <a:r>
              <a:rPr lang="en-US" b="1" dirty="0" err="1"/>
              <a:t>Sarovar</a:t>
            </a:r>
            <a:r>
              <a:rPr lang="en-US" b="1" dirty="0"/>
              <a:t> Dam</a:t>
            </a:r>
            <a:r>
              <a:rPr lang="en-US" dirty="0"/>
              <a:t>.</a:t>
            </a:r>
          </a:p>
          <a:p>
            <a:r>
              <a:rPr lang="en-US" dirty="0"/>
              <a:t>Later on, the movement turned its focus on the </a:t>
            </a:r>
            <a:r>
              <a:rPr lang="en-US" b="1" dirty="0"/>
              <a:t>preservation of the environment and the eco-systems</a:t>
            </a:r>
            <a:r>
              <a:rPr lang="en-US" dirty="0"/>
              <a:t> of the valley.</a:t>
            </a:r>
          </a:p>
          <a:p>
            <a:r>
              <a:rPr lang="en-IN" dirty="0"/>
              <a:t>Led by </a:t>
            </a:r>
            <a:r>
              <a:rPr lang="en-IN" dirty="0" err="1"/>
              <a:t>Medha</a:t>
            </a:r>
            <a:r>
              <a:rPr lang="en-IN" dirty="0"/>
              <a:t> </a:t>
            </a:r>
            <a:r>
              <a:rPr lang="en-IN" dirty="0" err="1"/>
              <a:t>Patekar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NARMADA BACHAO ANDOLAN</a:t>
            </a:r>
          </a:p>
        </p:txBody>
      </p:sp>
      <p:pic>
        <p:nvPicPr>
          <p:cNvPr id="20484" name="Picture 4" descr="Narmada Bachao Andolan back on indefinite prot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781" y="1357298"/>
            <a:ext cx="2743219" cy="1714512"/>
          </a:xfrm>
          <a:prstGeom prst="rect">
            <a:avLst/>
          </a:prstGeom>
          <a:noFill/>
        </p:spPr>
      </p:pic>
      <p:pic>
        <p:nvPicPr>
          <p:cNvPr id="20486" name="Picture 6" descr="Profile of Vidushi Medha Patkar - Apni Maati: Personalit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1509" y="3071810"/>
            <a:ext cx="2482491" cy="37861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82919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Activists also demanded the height of the dam to be reduced to </a:t>
            </a:r>
            <a:r>
              <a:rPr lang="en-US" b="1" dirty="0"/>
              <a:t>88 m</a:t>
            </a:r>
            <a:r>
              <a:rPr lang="en-US" dirty="0"/>
              <a:t> from the proposed height of </a:t>
            </a:r>
            <a:r>
              <a:rPr lang="en-US" b="1" dirty="0"/>
              <a:t>130m</a:t>
            </a:r>
            <a:r>
              <a:rPr lang="en-US" dirty="0"/>
              <a:t>. World Bank withdrew from the project.</a:t>
            </a:r>
          </a:p>
          <a:p>
            <a:r>
              <a:rPr lang="en-US" dirty="0"/>
              <a:t> In </a:t>
            </a:r>
            <a:r>
              <a:rPr lang="en-US" b="1" dirty="0"/>
              <a:t>October 2000</a:t>
            </a:r>
            <a:r>
              <a:rPr lang="en-US" dirty="0"/>
              <a:t>, the Supreme Court gave a judgment approving the construction of the </a:t>
            </a:r>
            <a:r>
              <a:rPr lang="en-US" b="1" dirty="0" err="1"/>
              <a:t>Sardar</a:t>
            </a:r>
            <a:r>
              <a:rPr lang="en-US" b="1" dirty="0"/>
              <a:t> </a:t>
            </a:r>
            <a:r>
              <a:rPr lang="en-US" b="1" dirty="0" err="1"/>
              <a:t>Sarovar</a:t>
            </a:r>
            <a:r>
              <a:rPr lang="en-US" b="1" dirty="0"/>
              <a:t> Dam </a:t>
            </a:r>
            <a:r>
              <a:rPr lang="en-US" dirty="0"/>
              <a:t>with a condition that height of the dam could be raised to </a:t>
            </a:r>
            <a:r>
              <a:rPr lang="en-US" b="1" dirty="0"/>
              <a:t>90 m</a:t>
            </a:r>
            <a:r>
              <a:rPr lang="en-US" dirty="0"/>
              <a:t>.</a:t>
            </a:r>
          </a:p>
          <a:p>
            <a:r>
              <a:rPr lang="en-US" dirty="0"/>
              <a:t>The project was inaugurated in 2017.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NARMADA BACHAO ANDOLAN</a:t>
            </a:r>
          </a:p>
        </p:txBody>
      </p:sp>
      <p:pic>
        <p:nvPicPr>
          <p:cNvPr id="4" name="Picture 2" descr="Narmada Bachao Andolan back on indefinite protest | KalingaTV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7" y="1668134"/>
            <a:ext cx="4500563" cy="2546684"/>
          </a:xfrm>
          <a:prstGeom prst="rect">
            <a:avLst/>
          </a:prstGeom>
          <a:noFill/>
        </p:spPr>
      </p:pic>
      <p:pic>
        <p:nvPicPr>
          <p:cNvPr id="19458" name="Picture 2" descr="Legacy of Non-Violent Resistance: Remembering Narmada Bachaao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24235" y="4224947"/>
            <a:ext cx="4519765" cy="26330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57676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Silent Valley</a:t>
            </a:r>
            <a:r>
              <a:rPr lang="en-US" dirty="0"/>
              <a:t> is one of the last undisturbed rain forests and tropical moist evergreen forests in India.</a:t>
            </a:r>
          </a:p>
          <a:p>
            <a:r>
              <a:rPr lang="en-US" dirty="0"/>
              <a:t>It is located in the </a:t>
            </a:r>
            <a:r>
              <a:rPr lang="en-US" dirty="0" err="1"/>
              <a:t>Nilgiri</a:t>
            </a:r>
            <a:r>
              <a:rPr lang="en-US" dirty="0"/>
              <a:t> Hills, </a:t>
            </a:r>
            <a:r>
              <a:rPr lang="en-US" dirty="0" err="1"/>
              <a:t>Palakkad</a:t>
            </a:r>
            <a:r>
              <a:rPr lang="en-US" dirty="0"/>
              <a:t> District in Kerala, South India.</a:t>
            </a:r>
          </a:p>
          <a:p>
            <a:r>
              <a:rPr lang="en-US" dirty="0"/>
              <a:t>16 bird species and 34 species of mammals in Silent Valley are threatened.</a:t>
            </a:r>
          </a:p>
          <a:p>
            <a:r>
              <a:rPr lang="en-US" dirty="0"/>
              <a:t>Over 128 species of butterflies and 400 species of moths live here.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SILENT VALLEY MOVEMENT</a:t>
            </a:r>
          </a:p>
        </p:txBody>
      </p:sp>
      <p:pic>
        <p:nvPicPr>
          <p:cNvPr id="21506" name="Picture 2" descr="Silent Valley – A People's Movement that Saved a Forest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4876" y="3786190"/>
            <a:ext cx="4288960" cy="2857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Kerala State Electricity Board (KSEB) proposed a </a:t>
            </a:r>
            <a:r>
              <a:rPr lang="en-US" b="1" dirty="0"/>
              <a:t>hydroelectric dam</a:t>
            </a:r>
            <a:r>
              <a:rPr lang="en-US" dirty="0"/>
              <a:t> across the </a:t>
            </a:r>
            <a:r>
              <a:rPr lang="en-US" dirty="0" err="1"/>
              <a:t>Kunthipuzha</a:t>
            </a:r>
            <a:r>
              <a:rPr lang="en-US" dirty="0"/>
              <a:t> River that runs through Silent Valley.</a:t>
            </a:r>
          </a:p>
          <a:p>
            <a:r>
              <a:rPr lang="en-US" dirty="0"/>
              <a:t>In </a:t>
            </a:r>
            <a:r>
              <a:rPr lang="en-US" b="1" dirty="0"/>
              <a:t>February 1973</a:t>
            </a:r>
            <a:r>
              <a:rPr lang="en-US" dirty="0"/>
              <a:t>, the Planning Commission </a:t>
            </a:r>
            <a:r>
              <a:rPr lang="en-US" b="1" dirty="0"/>
              <a:t>approved the project</a:t>
            </a:r>
            <a:r>
              <a:rPr lang="en-US" dirty="0"/>
              <a:t>.</a:t>
            </a:r>
          </a:p>
          <a:p>
            <a:r>
              <a:rPr lang="en-US" dirty="0"/>
              <a:t>Several NGOs strongly opposed the project and urged the government to abandon it.</a:t>
            </a:r>
          </a:p>
          <a:p>
            <a:r>
              <a:rPr lang="en-US" dirty="0"/>
              <a:t>In </a:t>
            </a:r>
            <a:r>
              <a:rPr lang="en-US" b="1" dirty="0"/>
              <a:t>January 1981</a:t>
            </a:r>
            <a:r>
              <a:rPr lang="en-US" dirty="0"/>
              <a:t>, </a:t>
            </a:r>
            <a:r>
              <a:rPr lang="en-US" dirty="0" err="1"/>
              <a:t>Indira</a:t>
            </a:r>
            <a:r>
              <a:rPr lang="en-US" dirty="0"/>
              <a:t> Gandhi declared that </a:t>
            </a:r>
            <a:r>
              <a:rPr lang="en-US" b="1" dirty="0"/>
              <a:t>Silent Valley will be protected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b="1" dirty="0"/>
              <a:t>November 1983 </a:t>
            </a:r>
            <a:r>
              <a:rPr lang="en-US" dirty="0"/>
              <a:t>the Silent Valley Hydroelectric Project was </a:t>
            </a:r>
            <a:r>
              <a:rPr lang="en-US" b="1" dirty="0"/>
              <a:t>called off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b="1" dirty="0"/>
              <a:t>1985</a:t>
            </a:r>
            <a:r>
              <a:rPr lang="en-US" dirty="0"/>
              <a:t>, Prime Minister Rajiv Gandhi formally inaugurated the </a:t>
            </a:r>
            <a:r>
              <a:rPr lang="en-US" b="1" dirty="0"/>
              <a:t>Silent Valley National Park</a:t>
            </a:r>
            <a:r>
              <a:rPr lang="en-US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SILENT VALLEY MOVEMENT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Jungle Bachao Andholan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</a:t>
            </a:r>
            <a:endParaRPr kumimoji="0" lang="en-US" sz="18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026" name="Picture 2" descr="Jungle Bachao Andola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268760"/>
            <a:ext cx="3096344" cy="295275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835696" y="404664"/>
            <a:ext cx="49255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Jungle </a:t>
            </a:r>
            <a:r>
              <a:rPr lang="en-US" sz="3200" b="1" dirty="0" err="1"/>
              <a:t>Bachao</a:t>
            </a:r>
            <a:r>
              <a:rPr lang="en-US" sz="3200" b="1" dirty="0"/>
              <a:t> </a:t>
            </a:r>
            <a:r>
              <a:rPr lang="en-US" sz="3200" b="1" dirty="0" err="1"/>
              <a:t>Andholan</a:t>
            </a:r>
            <a:endParaRPr lang="en-US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4211960" y="1124744"/>
            <a:ext cx="493204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Year: 1982</a:t>
            </a:r>
          </a:p>
          <a:p>
            <a:r>
              <a:rPr lang="en-US" sz="2400" dirty="0"/>
              <a:t>Place: </a:t>
            </a:r>
            <a:r>
              <a:rPr lang="en-US" sz="2400" dirty="0" err="1"/>
              <a:t>Singhbhum</a:t>
            </a:r>
            <a:r>
              <a:rPr lang="en-US" sz="2400" dirty="0"/>
              <a:t> district of </a:t>
            </a:r>
            <a:r>
              <a:rPr lang="en-US" sz="2400" dirty="0" smtClean="0"/>
              <a:t>Bihar (now Jharkhand)</a:t>
            </a:r>
            <a:endParaRPr lang="en-US" sz="2400" dirty="0"/>
          </a:p>
          <a:p>
            <a:r>
              <a:rPr lang="en-US" sz="2400" dirty="0"/>
              <a:t>Leaders: The </a:t>
            </a:r>
            <a:r>
              <a:rPr lang="en-US" sz="2400" dirty="0" err="1"/>
              <a:t>tribals</a:t>
            </a:r>
            <a:r>
              <a:rPr lang="en-US" sz="2400" dirty="0"/>
              <a:t> of </a:t>
            </a:r>
            <a:r>
              <a:rPr lang="en-US" sz="2400" dirty="0" err="1"/>
              <a:t>Singhbhum</a:t>
            </a:r>
            <a:r>
              <a:rPr lang="en-US" sz="2400" dirty="0"/>
              <a:t>.</a:t>
            </a:r>
          </a:p>
          <a:p>
            <a:r>
              <a:rPr lang="en-US" sz="2400" dirty="0"/>
              <a:t>Aim: Against governments decision to replace the natural </a:t>
            </a:r>
            <a:r>
              <a:rPr lang="en-US" sz="2400" b="1" dirty="0" err="1"/>
              <a:t>sal</a:t>
            </a:r>
            <a:r>
              <a:rPr lang="en-US" sz="2400" b="1" dirty="0"/>
              <a:t> forest</a:t>
            </a:r>
            <a:r>
              <a:rPr lang="en-US" sz="2400" dirty="0"/>
              <a:t> with </a:t>
            </a:r>
            <a:r>
              <a:rPr lang="en-US" sz="2400" b="1" dirty="0"/>
              <a:t>Teak</a:t>
            </a:r>
            <a:r>
              <a:rPr lang="en-US" sz="2400" dirty="0"/>
              <a:t>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67544" y="4532927"/>
            <a:ext cx="84249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What was it all about: </a:t>
            </a:r>
            <a:r>
              <a:rPr lang="en-US" sz="2400" dirty="0"/>
              <a:t>The </a:t>
            </a:r>
            <a:r>
              <a:rPr lang="en-US" sz="2400" dirty="0" err="1"/>
              <a:t>tribals</a:t>
            </a:r>
            <a:r>
              <a:rPr lang="en-US" sz="2400" dirty="0"/>
              <a:t> of the </a:t>
            </a:r>
            <a:r>
              <a:rPr lang="en-US" sz="2400" dirty="0" err="1"/>
              <a:t>Singhbhum</a:t>
            </a:r>
            <a:r>
              <a:rPr lang="en-US" sz="2400" dirty="0"/>
              <a:t> district of Bihar started the protest when the government decided to replace the natural </a:t>
            </a:r>
            <a:r>
              <a:rPr lang="en-US" sz="2400" dirty="0" err="1"/>
              <a:t>sal</a:t>
            </a:r>
            <a:r>
              <a:rPr lang="en-US" sz="2400" dirty="0"/>
              <a:t> forests with the highly-priced teak. This move was called by many “Greed Game Political Populism”. Later this movement spread to Jharkhand and Orissa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3768" y="404664"/>
            <a:ext cx="41770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Appiko</a:t>
            </a:r>
            <a:r>
              <a:rPr lang="en-US" sz="3600" b="1" dirty="0"/>
              <a:t> Movement</a:t>
            </a:r>
          </a:p>
        </p:txBody>
      </p:sp>
      <p:pic>
        <p:nvPicPr>
          <p:cNvPr id="24578" name="Picture 2" descr="Appiko Move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052736"/>
            <a:ext cx="3698098" cy="2384699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211960" y="980728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Year: 1983</a:t>
            </a:r>
          </a:p>
          <a:p>
            <a:r>
              <a:rPr lang="en-US" dirty="0"/>
              <a:t>Place: </a:t>
            </a:r>
            <a:r>
              <a:rPr lang="en-US" dirty="0" err="1"/>
              <a:t>Uttara</a:t>
            </a:r>
            <a:r>
              <a:rPr lang="en-US" dirty="0"/>
              <a:t> Kannada and </a:t>
            </a:r>
            <a:r>
              <a:rPr lang="en-US" dirty="0" err="1"/>
              <a:t>Shimoga</a:t>
            </a:r>
            <a:r>
              <a:rPr lang="en-US" dirty="0"/>
              <a:t> districts  of Karnataka State</a:t>
            </a:r>
          </a:p>
          <a:p>
            <a:r>
              <a:rPr lang="en-US" dirty="0"/>
              <a:t>Leaders: </a:t>
            </a:r>
            <a:r>
              <a:rPr lang="en-US" dirty="0" err="1"/>
              <a:t>Appiko’s</a:t>
            </a:r>
            <a:r>
              <a:rPr lang="en-US" dirty="0"/>
              <a:t> greatest strengths lie in it being neither driven by a personality nor having been formally </a:t>
            </a:r>
            <a:r>
              <a:rPr lang="en-US" dirty="0" err="1"/>
              <a:t>institutionalised</a:t>
            </a:r>
            <a:r>
              <a:rPr lang="en-US" dirty="0"/>
              <a:t>. However, it does have a facilitator in </a:t>
            </a:r>
            <a:r>
              <a:rPr lang="en-US" dirty="0" err="1"/>
              <a:t>Pandurang</a:t>
            </a:r>
            <a:r>
              <a:rPr lang="en-US" dirty="0"/>
              <a:t> </a:t>
            </a:r>
            <a:r>
              <a:rPr lang="en-US" dirty="0" err="1"/>
              <a:t>Hegde</a:t>
            </a:r>
            <a:r>
              <a:rPr lang="en-US" dirty="0"/>
              <a:t>. He helped launch the movement in 1983.</a:t>
            </a:r>
          </a:p>
          <a:p>
            <a:r>
              <a:rPr lang="en-US" dirty="0"/>
              <a:t>Aim: Against the felling and commercialization of natural forest and the ruin of ancient livelihood.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520" y="4437112"/>
            <a:ext cx="8496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was it all about: </a:t>
            </a:r>
            <a:r>
              <a:rPr lang="en-US" dirty="0"/>
              <a:t>It can be said that the </a:t>
            </a:r>
            <a:r>
              <a:rPr lang="en-US" dirty="0" err="1"/>
              <a:t>Appiko</a:t>
            </a:r>
            <a:r>
              <a:rPr lang="en-US" dirty="0"/>
              <a:t> movement is the southern version of the </a:t>
            </a:r>
            <a:r>
              <a:rPr lang="en-US" dirty="0" err="1"/>
              <a:t>Chipko</a:t>
            </a:r>
            <a:r>
              <a:rPr lang="en-US" dirty="0"/>
              <a:t> movement. The </a:t>
            </a:r>
            <a:r>
              <a:rPr lang="en-US" dirty="0" err="1"/>
              <a:t>Appiko</a:t>
            </a:r>
            <a:r>
              <a:rPr lang="en-US" dirty="0"/>
              <a:t> Movement was locally known as “</a:t>
            </a:r>
            <a:r>
              <a:rPr lang="en-US" dirty="0" err="1"/>
              <a:t>Appiko</a:t>
            </a:r>
            <a:r>
              <a:rPr lang="en-US" dirty="0"/>
              <a:t> </a:t>
            </a:r>
            <a:r>
              <a:rPr lang="en-US" dirty="0" err="1"/>
              <a:t>Chaluvali</a:t>
            </a:r>
            <a:r>
              <a:rPr lang="en-US" dirty="0"/>
              <a:t>”. The locals embraced the trees which were to be cut by contractors of the forest department. The </a:t>
            </a:r>
            <a:r>
              <a:rPr lang="en-US" dirty="0" err="1"/>
              <a:t>Appiko</a:t>
            </a:r>
            <a:r>
              <a:rPr lang="en-US" dirty="0"/>
              <a:t> movement used various techniques to raise awareness such as foot marches in the interior forest, slide shows, folk dances, street plays etc.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116632"/>
            <a:ext cx="8136904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algn="ctr"/>
            <a:r>
              <a:rPr lang="en-US" sz="4800" b="1" dirty="0" err="1"/>
              <a:t>Tehri</a:t>
            </a:r>
            <a:r>
              <a:rPr lang="en-US" sz="4800" b="1" dirty="0"/>
              <a:t> Dam</a:t>
            </a:r>
          </a:p>
          <a:p>
            <a:r>
              <a:rPr lang="en-US" sz="2000" dirty="0"/>
              <a:t>With a height of 260.5 m (855 ft) </a:t>
            </a:r>
            <a:r>
              <a:rPr lang="en-US" sz="2000" dirty="0" err="1"/>
              <a:t>Tehri</a:t>
            </a:r>
            <a:r>
              <a:rPr lang="en-US" sz="2000" dirty="0"/>
              <a:t> Dam is the tallest dam in India and 12th tallest dam in the world. It is a multi-purpose rock and earth-fill embankment dam on the Bhagirathi River in New </a:t>
            </a:r>
            <a:r>
              <a:rPr lang="en-US" sz="2000" dirty="0" err="1"/>
              <a:t>Tehri</a:t>
            </a:r>
            <a:r>
              <a:rPr lang="en-US" sz="2000" dirty="0"/>
              <a:t>, </a:t>
            </a:r>
            <a:r>
              <a:rPr lang="en-US" sz="2000" dirty="0" err="1"/>
              <a:t>Tehri</a:t>
            </a:r>
            <a:r>
              <a:rPr lang="en-US" sz="2000" dirty="0"/>
              <a:t> </a:t>
            </a:r>
            <a:r>
              <a:rPr lang="en-US" sz="2000" dirty="0" err="1"/>
              <a:t>Garhwal</a:t>
            </a:r>
            <a:r>
              <a:rPr lang="en-US" sz="2000" dirty="0"/>
              <a:t> district in </a:t>
            </a:r>
            <a:r>
              <a:rPr lang="en-US" sz="2000" dirty="0" err="1"/>
              <a:t>Uttarakhand</a:t>
            </a:r>
            <a:r>
              <a:rPr lang="en-US" sz="2000" dirty="0"/>
              <a:t>, India.</a:t>
            </a:r>
          </a:p>
          <a:p>
            <a:endParaRPr lang="en-US" dirty="0"/>
          </a:p>
        </p:txBody>
      </p:sp>
      <p:pic>
        <p:nvPicPr>
          <p:cNvPr id="25602" name="Picture 2" descr="https://upload.wikimedia.org/wikipedia/commons/thumb/3/33/Tehri_dam_india.jpg/220px-Tehri_dam_ind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068960"/>
            <a:ext cx="2520280" cy="1890211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131840" y="2708920"/>
            <a:ext cx="576064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anti-</a:t>
            </a:r>
            <a:r>
              <a:rPr lang="en-US" sz="2000" dirty="0" err="1"/>
              <a:t>Tehri</a:t>
            </a:r>
            <a:r>
              <a:rPr lang="en-US" sz="2000" dirty="0"/>
              <a:t> Dam movement began around the 1980s and continued till 2004. It was led by </a:t>
            </a:r>
            <a:r>
              <a:rPr lang="en-US" sz="2000" dirty="0" err="1"/>
              <a:t>Sunderlal</a:t>
            </a:r>
            <a:r>
              <a:rPr lang="en-US" sz="2000" dirty="0"/>
              <a:t> </a:t>
            </a:r>
            <a:r>
              <a:rPr lang="en-US" sz="2000" dirty="0" err="1"/>
              <a:t>Bahuguna</a:t>
            </a:r>
            <a:r>
              <a:rPr lang="en-US" sz="2000" dirty="0"/>
              <a:t>, who was an environmental activist. The main concern was that </a:t>
            </a:r>
            <a:r>
              <a:rPr lang="en-US" sz="2000" b="1" dirty="0"/>
              <a:t>the construction of the dam would lead to the displacement of the inhabitants of the village and damage the ecosystem, which was already weak</a:t>
            </a:r>
            <a:r>
              <a:rPr lang="en-US" sz="2000" dirty="0"/>
              <a:t>.</a:t>
            </a:r>
          </a:p>
        </p:txBody>
      </p:sp>
      <p:pic>
        <p:nvPicPr>
          <p:cNvPr id="25603" name="Picture 3" descr="C:\Users\hp\Pictures\Screenshots\Screenshot (8).png"/>
          <p:cNvPicPr>
            <a:picLocks noChangeAspect="1" noChangeArrowheads="1"/>
          </p:cNvPicPr>
          <p:nvPr/>
        </p:nvPicPr>
        <p:blipFill>
          <a:blip r:embed="rId3" cstate="print"/>
          <a:srcRect l="2405" t="35235" r="27863" b="48031"/>
          <a:stretch>
            <a:fillRect/>
          </a:stretch>
        </p:blipFill>
        <p:spPr bwMode="auto">
          <a:xfrm>
            <a:off x="251520" y="5445224"/>
            <a:ext cx="8640960" cy="12241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>
            <a:normAutofit fontScale="92500"/>
          </a:bodyPr>
          <a:lstStyle/>
          <a:p>
            <a:r>
              <a:rPr lang="en-US" dirty="0"/>
              <a:t>Switch off lights, fans and other appliances when not in use.</a:t>
            </a:r>
          </a:p>
          <a:p>
            <a:r>
              <a:rPr lang="en-US" dirty="0"/>
              <a:t>Use solar heater for cooking your food on sunny days.</a:t>
            </a:r>
          </a:p>
          <a:p>
            <a:r>
              <a:rPr lang="en-US" dirty="0"/>
              <a:t>Use minimum amount of water for all domestic purposes.</a:t>
            </a:r>
          </a:p>
          <a:p>
            <a:r>
              <a:rPr lang="en-US" dirty="0"/>
              <a:t>Built rainwater harvesting system in your house.</a:t>
            </a:r>
          </a:p>
          <a:p>
            <a:r>
              <a:rPr lang="en-US" dirty="0"/>
              <a:t>Grow different types of plants, herbs, trees and grass in your garden and open areas.</a:t>
            </a:r>
          </a:p>
          <a:p>
            <a:pPr fontAlgn="base"/>
            <a:r>
              <a:rPr lang="en-US" dirty="0"/>
              <a:t>Don’t use more fertilizer and pesticides. Use nature manure to the crops.</a:t>
            </a:r>
          </a:p>
          <a:p>
            <a:pPr fontAlgn="base"/>
            <a:r>
              <a:rPr lang="en-US" dirty="0"/>
              <a:t>Don’t waste the food instead give it to someone before getting spoiled.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 of an individual in conservation of natural resources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1139</TotalTime>
  <Words>878</Words>
  <Application>Microsoft Office PowerPoint</Application>
  <PresentationFormat>On-screen Show (4:3)</PresentationFormat>
  <Paragraphs>76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Constantia</vt:lpstr>
      <vt:lpstr>Wingdings 2</vt:lpstr>
      <vt:lpstr>Paper</vt:lpstr>
      <vt:lpstr>Environmental Movements and Important Case Studies</vt:lpstr>
      <vt:lpstr>BISHNOI MOVEMENT</vt:lpstr>
      <vt:lpstr>BISHNOI MOVEMENT</vt:lpstr>
      <vt:lpstr>BISHNOI MOVEMENT</vt:lpstr>
      <vt:lpstr>CHIPKO MOVEMENT</vt:lpstr>
      <vt:lpstr>NARMADA BACHAO ANDOLAN</vt:lpstr>
      <vt:lpstr>NARMADA BACHAO ANDOLAN</vt:lpstr>
      <vt:lpstr>SILENT VALLEY MOVEMENT</vt:lpstr>
      <vt:lpstr>SILENT VALLEY MOVEMENT</vt:lpstr>
      <vt:lpstr>PowerPoint Presentation</vt:lpstr>
      <vt:lpstr>PowerPoint Presentation</vt:lpstr>
      <vt:lpstr>PowerPoint Presentation</vt:lpstr>
      <vt:lpstr>Role of an individual in conservation of natural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Prasenjit Adak</dc:creator>
  <cp:lastModifiedBy>Admin</cp:lastModifiedBy>
  <cp:revision>60</cp:revision>
  <dcterms:created xsi:type="dcterms:W3CDTF">2020-04-13T17:28:30Z</dcterms:created>
  <dcterms:modified xsi:type="dcterms:W3CDTF">2024-02-11T13:24:54Z</dcterms:modified>
</cp:coreProperties>
</file>