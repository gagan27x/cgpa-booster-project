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3701" r:id="rId1"/>
  </p:sldMasterIdLst>
  <p:notesMasterIdLst>
    <p:notesMasterId r:id="rId16"/>
  </p:notesMasterIdLst>
  <p:handoutMasterIdLst>
    <p:handoutMasterId r:id="rId17"/>
  </p:handoutMasterIdLst>
  <p:sldIdLst>
    <p:sldId id="299" r:id="rId2"/>
    <p:sldId id="318" r:id="rId3"/>
    <p:sldId id="319" r:id="rId4"/>
    <p:sldId id="320" r:id="rId5"/>
    <p:sldId id="321" r:id="rId6"/>
    <p:sldId id="322" r:id="rId7"/>
    <p:sldId id="323" r:id="rId8"/>
    <p:sldId id="324" r:id="rId9"/>
    <p:sldId id="325" r:id="rId10"/>
    <p:sldId id="333" r:id="rId11"/>
    <p:sldId id="326" r:id="rId12"/>
    <p:sldId id="327" r:id="rId13"/>
    <p:sldId id="328" r:id="rId14"/>
    <p:sldId id="331" r:id="rId15"/>
  </p:sldIdLst>
  <p:sldSz cx="9144000" cy="6858000" type="screen4x3"/>
  <p:notesSz cx="7315200" cy="96012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6600"/>
    <a:srgbClr val="CCFF99"/>
    <a:srgbClr val="FFCC99"/>
    <a:srgbClr val="FF9933"/>
    <a:srgbClr val="FFFF99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0171" autoAdjust="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00" d="100"/>
          <a:sy n="100" d="100"/>
        </p:scale>
        <p:origin x="-636" y="2586"/>
      </p:cViewPr>
      <p:guideLst>
        <p:guide orient="horz" pos="3024"/>
        <p:guide pos="2304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7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EA2130B6-B841-40C5-8C66-8DDA29CCC6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77158" name="Rectangle 6"/>
          <p:cNvSpPr>
            <a:spLocks noChangeArrowheads="1"/>
          </p:cNvSpPr>
          <p:nvPr/>
        </p:nvSpPr>
        <p:spPr bwMode="auto">
          <a:xfrm>
            <a:off x="533400" y="304800"/>
            <a:ext cx="38163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l" defTabSz="1003300">
              <a:defRPr/>
            </a:pPr>
            <a:r>
              <a:rPr lang="en-US" sz="1800" b="1" i="1"/>
              <a:t>Design and Analysis of Algorithms</a:t>
            </a:r>
          </a:p>
        </p:txBody>
      </p:sp>
      <p:sp>
        <p:nvSpPr>
          <p:cNvPr id="177159" name="Rectangle 7"/>
          <p:cNvSpPr>
            <a:spLocks noChangeArrowheads="1"/>
          </p:cNvSpPr>
          <p:nvPr/>
        </p:nvSpPr>
        <p:spPr bwMode="auto">
          <a:xfrm>
            <a:off x="4322763" y="304800"/>
            <a:ext cx="2382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00243" tIns="50122" rIns="100243" bIns="50122"/>
          <a:lstStyle/>
          <a:p>
            <a:pPr algn="r" defTabSz="1003300">
              <a:defRPr/>
            </a:pPr>
            <a:r>
              <a:rPr lang="en-US" sz="1800" b="1" i="1"/>
              <a:t>Chapter 3</a:t>
            </a:r>
          </a:p>
        </p:txBody>
      </p:sp>
    </p:spTree>
    <p:extLst>
      <p:ext uri="{BB962C8B-B14F-4D97-AF65-F5344CB8AC3E}">
        <p14:creationId xmlns=""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810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19138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6313" y="4560888"/>
            <a:ext cx="5362575" cy="43211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l" defTabSz="966788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6653" tIns="48327" rIns="96653" bIns="48327" numCol="1" anchor="b" anchorCtr="0" compatLnSpc="1">
            <a:prstTxWarp prst="textNoShape">
              <a:avLst/>
            </a:prstTxWarp>
          </a:bodyPr>
          <a:lstStyle>
            <a:lvl1pPr algn="r" defTabSz="966788">
              <a:defRPr sz="1200"/>
            </a:lvl1pPr>
          </a:lstStyle>
          <a:p>
            <a:pPr>
              <a:defRPr/>
            </a:pPr>
            <a:fld id="{4071AC33-5DD2-4A2A-9177-D292C1DD4E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NASSCOM</a:t>
            </a:r>
            <a:r>
              <a:rPr lang="en-US" dirty="0" smtClean="0"/>
              <a:t> stands for </a:t>
            </a:r>
            <a:r>
              <a:rPr lang="en-US" b="1" dirty="0" smtClean="0"/>
              <a:t>National Association of Software and Service Companies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NASSCOM is like a </a:t>
            </a:r>
            <a:r>
              <a:rPr lang="en-US" b="1" dirty="0" smtClean="0"/>
              <a:t>support and advocacy group for India’s IT industry</a:t>
            </a:r>
            <a:r>
              <a:rPr lang="en-US" dirty="0" smtClean="0"/>
              <a:t>, helping companies grow and succeed both in India and globally.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44958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/>
              <a:t>Ather</a:t>
            </a:r>
            <a:r>
              <a:rPr lang="en-US" b="1" dirty="0" smtClean="0"/>
              <a:t> Energy</a:t>
            </a:r>
            <a:r>
              <a:rPr lang="en-US" dirty="0" smtClean="0"/>
              <a:t> is one of India’s leading </a:t>
            </a:r>
            <a:r>
              <a:rPr lang="en-US" b="1" dirty="0" smtClean="0"/>
              <a:t>EV (electric vehicle) startups</a:t>
            </a:r>
            <a:r>
              <a:rPr lang="en-US" dirty="0" smtClean="0"/>
              <a:t>, mainly focused on </a:t>
            </a:r>
            <a:r>
              <a:rPr lang="en-US" b="1" dirty="0" smtClean="0"/>
              <a:t>electric scooters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NASSCOM</a:t>
            </a:r>
            <a:r>
              <a:rPr lang="en-US" dirty="0" smtClean="0"/>
              <a:t> stands for </a:t>
            </a:r>
            <a:r>
              <a:rPr lang="en-US" b="1" dirty="0" smtClean="0"/>
              <a:t>National Association of Software and Service Companies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NASSCOM is like a </a:t>
            </a:r>
            <a:r>
              <a:rPr lang="en-US" b="1" dirty="0" smtClean="0"/>
              <a:t>support and advocacy group for India’s IT industry</a:t>
            </a:r>
            <a:r>
              <a:rPr lang="en-US" dirty="0" smtClean="0"/>
              <a:t>, helping companies grow and succeed both in India and globally.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71AC33-5DD2-4A2A-9177-D292C1DD4EC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Analysis of Algorithms - Chapter 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94FF60-D5D7-4036-A5D6-4FFB9D619E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B2271B-E278-477B-BFED-E836F15DB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4D2D0E-C252-40B7-83B9-1ACF012A17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2565D-911C-4D61-9359-E832714B8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F5D234-80C8-4687-AB8B-0AD2214E7D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11FF1-D161-4523-90AF-E2F343F4DF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D394D-D6E4-420D-8802-7A1031B55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02236D-74A7-478A-BB01-6959791FE7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75121F-84C4-4DC2-9044-BBA470E3F4D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88D34-2BCF-41AF-8789-7B60FFCC42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3E6D1F-F8BA-4934-A475-DF8F20FF96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-18288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86E5091-BE1D-47EA-AF37-E0686E3F00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27"/>
          <p:cNvSpPr>
            <a:spLocks noGrp="1" noChangeArrowheads="1"/>
          </p:cNvSpPr>
          <p:nvPr userDrawn="1"/>
        </p:nvSpPr>
        <p:spPr bwMode="auto">
          <a:xfrm>
            <a:off x="6908800" y="6426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400" dirty="0">
              <a:latin typeface="Arial Narrow" pitchFamily="34" charset="0"/>
              <a:ea typeface="ヒラギノ角ゴ Pro W3" pitchFamily="84" charset="-128"/>
            </a:endParaRPr>
          </a:p>
        </p:txBody>
      </p:sp>
      <p:sp>
        <p:nvSpPr>
          <p:cNvPr id="8" name="Rectangle 28"/>
          <p:cNvSpPr>
            <a:spLocks noChangeArrowheads="1"/>
          </p:cNvSpPr>
          <p:nvPr userDrawn="1"/>
        </p:nvSpPr>
        <p:spPr bwMode="auto">
          <a:xfrm>
            <a:off x="609600" y="6197600"/>
            <a:ext cx="38862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b"/>
          <a:lstStyle/>
          <a:p>
            <a:pPr algn="l">
              <a:defRPr/>
            </a:pPr>
            <a:endParaRPr lang="en-US" sz="900" dirty="0">
              <a:latin typeface="Arial" charset="0"/>
              <a:ea typeface="ヒラギノ角ゴ Pro W3" pitchFamily="84" charset="-128"/>
            </a:endParaRPr>
          </a:p>
        </p:txBody>
      </p:sp>
      <p:sp>
        <p:nvSpPr>
          <p:cNvPr id="9" name="Rectangle 29"/>
          <p:cNvSpPr>
            <a:spLocks noGrp="1" noChangeArrowheads="1"/>
          </p:cNvSpPr>
          <p:nvPr userDrawn="1"/>
        </p:nvSpPr>
        <p:spPr bwMode="auto">
          <a:xfrm>
            <a:off x="2667000" y="6488113"/>
            <a:ext cx="6400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 sz="1000" dirty="0">
              <a:latin typeface="Arial Narrow" pitchFamily="34" charset="0"/>
              <a:ea typeface="ヒラギノ角ゴ Pro W3" pitchFamily="8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>
          <a:xfrm>
            <a:off x="179388" y="1882775"/>
            <a:ext cx="8856662" cy="1470025"/>
          </a:xfrm>
        </p:spPr>
        <p:txBody>
          <a:bodyPr/>
          <a:lstStyle/>
          <a:p>
            <a:pPr algn="ctr" eaLnBrk="1" hangingPunct="1"/>
            <a:r>
              <a:rPr lang="en-US" sz="4000" dirty="0">
                <a:latin typeface="Broadway" pitchFamily="82" charset="0"/>
              </a:rPr>
              <a:t>CSE332</a:t>
            </a:r>
            <a:endParaRPr lang="en-IN" sz="4000" dirty="0">
              <a:latin typeface="Broadway" pitchFamily="82" charset="0"/>
            </a:endParaRP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371600" y="3140968"/>
            <a:ext cx="6400800" cy="2574032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dirty="0">
                <a:solidFill>
                  <a:srgbClr val="0070C0"/>
                </a:solidFill>
              </a:rPr>
              <a:t>Unit3:- Government Funding and </a:t>
            </a:r>
            <a:r>
              <a:rPr lang="en-IN" dirty="0" err="1">
                <a:solidFill>
                  <a:srgbClr val="0070C0"/>
                </a:solidFill>
              </a:rPr>
              <a:t>startup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dirty="0" smtClean="0">
                <a:solidFill>
                  <a:srgbClr val="0070C0"/>
                </a:solidFill>
              </a:rPr>
              <a:t>schemes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IN" dirty="0" smtClean="0">
                <a:solidFill>
                  <a:srgbClr val="FF0000"/>
                </a:solidFill>
              </a:rPr>
              <a:t>Topics: </a:t>
            </a:r>
            <a:r>
              <a:rPr lang="en-US" dirty="0">
                <a:solidFill>
                  <a:srgbClr val="FF0000"/>
                </a:solidFill>
              </a:rPr>
              <a:t>Start-up India, 10000 startups -A NASSCOM </a:t>
            </a:r>
            <a:r>
              <a:rPr lang="en-US" dirty="0" smtClean="0">
                <a:solidFill>
                  <a:srgbClr val="FF0000"/>
                </a:solidFill>
              </a:rPr>
              <a:t>Initiative</a:t>
            </a:r>
            <a:endParaRPr lang="en-IN" dirty="0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892A9194-ADBB-824C-054A-C2DF3DE51F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536" y="1670992"/>
            <a:ext cx="82296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b="1" dirty="0"/>
              <a:t>Start-up India</a:t>
            </a:r>
            <a:r>
              <a:rPr lang="en-US" sz="2400" dirty="0"/>
              <a:t>, launched on </a:t>
            </a:r>
            <a:r>
              <a:rPr lang="en-US" sz="2400" b="1" dirty="0"/>
              <a:t>January 16, 2016</a:t>
            </a:r>
            <a:r>
              <a:rPr lang="en-US" sz="2400" dirty="0"/>
              <a:t>, </a:t>
            </a:r>
            <a:endParaRPr lang="en-US" sz="2400" dirty="0" smtClean="0"/>
          </a:p>
          <a:p>
            <a:pPr lvl="0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2400" dirty="0" smtClean="0"/>
              <a:t>Aims </a:t>
            </a:r>
            <a:r>
              <a:rPr lang="en-US" sz="2400" dirty="0"/>
              <a:t>to </a:t>
            </a:r>
            <a:r>
              <a:rPr lang="en-US" sz="2400" b="1" dirty="0"/>
              <a:t>promote entrepreneurship, innovation, and job creation</a:t>
            </a:r>
            <a:r>
              <a:rPr lang="en-US" sz="2400" dirty="0"/>
              <a:t> </a:t>
            </a:r>
            <a:endParaRPr lang="en-US" sz="2400" dirty="0" smtClean="0"/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400" dirty="0" smtClean="0"/>
              <a:t>3. Through </a:t>
            </a:r>
            <a:r>
              <a:rPr lang="en-US" sz="2400" b="1" dirty="0"/>
              <a:t>financial support, legal simplifications, and </a:t>
            </a:r>
            <a:r>
              <a:rPr lang="en-US" sz="2400" b="1" dirty="0" smtClean="0"/>
              <a:t>mentorship</a:t>
            </a:r>
            <a:r>
              <a:rPr lang="en-US" sz="2400" dirty="0" smtClean="0"/>
              <a:t>. 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sz="2400" dirty="0"/>
              <a:t> </a:t>
            </a:r>
            <a:r>
              <a:rPr lang="en-US" sz="2400" dirty="0" smtClean="0"/>
              <a:t>Examples : Benefiting </a:t>
            </a:r>
            <a:r>
              <a:rPr lang="en-US" sz="2400" dirty="0"/>
              <a:t>startups like </a:t>
            </a:r>
            <a:r>
              <a:rPr lang="en-US" sz="2400" b="1" dirty="0"/>
              <a:t>BYJU’S, </a:t>
            </a:r>
            <a:r>
              <a:rPr lang="en-US" sz="2400" b="1" dirty="0" err="1"/>
              <a:t>Zomato</a:t>
            </a:r>
            <a:r>
              <a:rPr lang="en-US" sz="2400" b="1" dirty="0"/>
              <a:t>, and </a:t>
            </a:r>
            <a:r>
              <a:rPr lang="en-US" sz="2400" b="1" dirty="0" err="1"/>
              <a:t>Paytm</a:t>
            </a:r>
            <a:r>
              <a:rPr lang="en-US" sz="2400" dirty="0"/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Start-up India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87126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19E191-213D-FA92-215B-115F2A4CE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475" y="116632"/>
            <a:ext cx="8229600" cy="648072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Benefits &amp; Incentives for Startups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445224"/>
          </a:xfrm>
        </p:spPr>
        <p:txBody>
          <a:bodyPr/>
          <a:lstStyle/>
          <a:p>
            <a:r>
              <a:rPr lang="en-US" b="1" dirty="0" smtClean="0"/>
              <a:t>Simplified </a:t>
            </a:r>
            <a:r>
              <a:rPr lang="en-US" b="1" dirty="0"/>
              <a:t>Compliance:</a:t>
            </a:r>
            <a:r>
              <a:rPr lang="en-US" dirty="0"/>
              <a:t> Self-certification for labor and environmental laws.</a:t>
            </a:r>
          </a:p>
          <a:p>
            <a:r>
              <a:rPr lang="en-US" b="1" dirty="0"/>
              <a:t>Tax Exemptions:</a:t>
            </a:r>
            <a:r>
              <a:rPr lang="en-US" dirty="0"/>
              <a:t> 3-year income tax holiday for eligible startups.</a:t>
            </a:r>
          </a:p>
          <a:p>
            <a:r>
              <a:rPr lang="en-US" b="1" dirty="0"/>
              <a:t>Funding Support:</a:t>
            </a:r>
            <a:r>
              <a:rPr lang="en-US" dirty="0"/>
              <a:t> ₹10,000 crore </a:t>
            </a:r>
            <a:r>
              <a:rPr lang="en-US" b="1" dirty="0"/>
              <a:t>Fund of Funds</a:t>
            </a:r>
            <a:r>
              <a:rPr lang="en-US" dirty="0"/>
              <a:t> for startups.</a:t>
            </a:r>
          </a:p>
          <a:p>
            <a:r>
              <a:rPr lang="en-US" b="1" dirty="0"/>
              <a:t>Fast-Track Patent Process:</a:t>
            </a:r>
            <a:r>
              <a:rPr lang="en-US" dirty="0"/>
              <a:t> 80% reduction in patent filing fees.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i="1" dirty="0"/>
              <a:t>Example:</a:t>
            </a:r>
            <a:r>
              <a:rPr lang="en-US" dirty="0"/>
              <a:t> </a:t>
            </a:r>
            <a:r>
              <a:rPr lang="en-US" b="1" dirty="0" err="1"/>
              <a:t>Ather</a:t>
            </a:r>
            <a:r>
              <a:rPr lang="en-US" b="1" dirty="0"/>
              <a:t> Energy (EV Startup)</a:t>
            </a:r>
            <a:r>
              <a:rPr lang="en-US" dirty="0"/>
              <a:t> leveraged government incentives to scale its business.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858311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15DBF4-0532-2292-3B4F-56300837A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0648"/>
            <a:ext cx="8229600" cy="360040"/>
          </a:xfrm>
        </p:spPr>
        <p:txBody>
          <a:bodyPr/>
          <a:lstStyle/>
          <a:p>
            <a:r>
              <a:rPr lang="en-US" sz="3200" b="1" dirty="0">
                <a:solidFill>
                  <a:srgbClr val="FF0000"/>
                </a:solidFill>
              </a:rPr>
              <a:t>Eligibility &amp; Registration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52FCCC9-73EF-0DF0-D014-7D4594232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6048672"/>
          </a:xfrm>
        </p:spPr>
        <p:txBody>
          <a:bodyPr/>
          <a:lstStyle/>
          <a:p>
            <a:r>
              <a:rPr lang="en-US" b="1" dirty="0" smtClean="0"/>
              <a:t> </a:t>
            </a:r>
            <a:r>
              <a:rPr lang="en-US" b="1" dirty="0"/>
              <a:t>Must be incorporated as a Private Limited Company, LLP, or Partnership Firm</a:t>
            </a:r>
          </a:p>
          <a:p>
            <a:r>
              <a:rPr lang="en-US" b="1" dirty="0" smtClean="0"/>
              <a:t> </a:t>
            </a:r>
            <a:r>
              <a:rPr lang="en-US" b="1" dirty="0"/>
              <a:t>Should be less than 10 years old</a:t>
            </a:r>
          </a:p>
          <a:p>
            <a:r>
              <a:rPr lang="en-US" b="1" dirty="0" smtClean="0"/>
              <a:t> </a:t>
            </a:r>
            <a:r>
              <a:rPr lang="en-US" b="1" dirty="0"/>
              <a:t>Annual turnover should not exceed ₹100 crore</a:t>
            </a:r>
          </a:p>
          <a:p>
            <a:r>
              <a:rPr lang="en-US" b="1" dirty="0" smtClean="0"/>
              <a:t> </a:t>
            </a:r>
            <a:r>
              <a:rPr lang="en-US" b="1" dirty="0"/>
              <a:t>Must be working on innovation, development, or improvement of products/services</a:t>
            </a:r>
          </a:p>
          <a:p>
            <a:pPr marL="0" indent="0">
              <a:buNone/>
            </a:pPr>
            <a:r>
              <a:rPr lang="en-US" sz="2000" b="1" i="1" dirty="0" smtClean="0">
                <a:solidFill>
                  <a:srgbClr val="FF0000"/>
                </a:solidFill>
              </a:rPr>
              <a:t>Example</a:t>
            </a:r>
            <a:r>
              <a:rPr lang="en-US" sz="2000" b="1" i="1" dirty="0">
                <a:solidFill>
                  <a:srgbClr val="FF0000"/>
                </a:solidFill>
              </a:rPr>
              <a:t>: </a:t>
            </a:r>
            <a:r>
              <a:rPr lang="en-US" sz="2000" b="1" i="1" dirty="0" err="1">
                <a:solidFill>
                  <a:srgbClr val="FF0000"/>
                </a:solidFill>
              </a:rPr>
              <a:t>Zerodha</a:t>
            </a:r>
            <a:r>
              <a:rPr lang="en-US" sz="2000" b="1" i="1" dirty="0">
                <a:solidFill>
                  <a:srgbClr val="FF0000"/>
                </a:solidFill>
              </a:rPr>
              <a:t> (Fintech Startup) registered under Start-up India and grew into a market leader.</a:t>
            </a:r>
            <a:endParaRPr lang="en-IN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17396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6461D7-D568-1026-E0D6-76D09F5A2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82880"/>
            <a:ext cx="8229600" cy="443528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 </a:t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sz="3200" b="1" dirty="0" smtClean="0">
                <a:solidFill>
                  <a:srgbClr val="FF0000"/>
                </a:solidFill>
              </a:rPr>
              <a:t>Funding </a:t>
            </a:r>
            <a:r>
              <a:rPr lang="en-US" sz="3200" b="1" dirty="0">
                <a:solidFill>
                  <a:srgbClr val="FF0000"/>
                </a:solidFill>
              </a:rPr>
              <a:t>&amp; Investment </a:t>
            </a:r>
            <a:r>
              <a:rPr lang="en-US" sz="3200" b="1" dirty="0" smtClean="0">
                <a:solidFill>
                  <a:srgbClr val="FF0000"/>
                </a:solidFill>
              </a:rPr>
              <a:t>Opportunities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1E764A8-A700-D3EC-CE2B-82FE5103D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908720"/>
            <a:ext cx="8229600" cy="5750099"/>
          </a:xfrm>
        </p:spPr>
        <p:txBody>
          <a:bodyPr/>
          <a:lstStyle/>
          <a:p>
            <a:r>
              <a:rPr lang="en-US" sz="2800" b="1" dirty="0" smtClean="0"/>
              <a:t>Fund </a:t>
            </a:r>
            <a:r>
              <a:rPr lang="en-US" sz="2800" b="1" dirty="0"/>
              <a:t>of Funds Scheme (FFS):</a:t>
            </a:r>
            <a:r>
              <a:rPr lang="en-US" sz="2800" dirty="0"/>
              <a:t> Invests in startups through SEBI-registered VC firms</a:t>
            </a:r>
            <a:r>
              <a:rPr lang="en-US" sz="2800" dirty="0" smtClean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Start-up India Seed Fund Scheme (SISFS):</a:t>
            </a:r>
            <a:r>
              <a:rPr lang="en-US" sz="2800" dirty="0"/>
              <a:t> ₹945 crore to support early-stage startups.</a:t>
            </a:r>
          </a:p>
          <a:p>
            <a:endParaRPr lang="en-US" sz="2800" b="1" dirty="0" smtClean="0"/>
          </a:p>
          <a:p>
            <a:r>
              <a:rPr lang="en-US" sz="2800" b="1" dirty="0" smtClean="0"/>
              <a:t>Government </a:t>
            </a:r>
            <a:r>
              <a:rPr lang="en-US" sz="2800" b="1" dirty="0"/>
              <a:t>Grants &amp; Incubation Centers:</a:t>
            </a:r>
            <a:r>
              <a:rPr lang="en-US" sz="2800" dirty="0"/>
              <a:t> Provides infrastructure, networking, and financial support.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</a:p>
          <a:p>
            <a:pPr marL="0" indent="0"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Example</a:t>
            </a:r>
            <a:r>
              <a:rPr lang="en-US" sz="2000" i="1" dirty="0">
                <a:solidFill>
                  <a:srgbClr val="FF0000"/>
                </a:solidFill>
              </a:rPr>
              <a:t>: </a:t>
            </a:r>
            <a:r>
              <a:rPr lang="en-US" sz="2000" b="1" i="1" dirty="0" err="1">
                <a:solidFill>
                  <a:srgbClr val="FF0000"/>
                </a:solidFill>
              </a:rPr>
              <a:t>Cure.fit</a:t>
            </a:r>
            <a:r>
              <a:rPr lang="en-US" sz="2000" b="1" i="1" dirty="0">
                <a:solidFill>
                  <a:srgbClr val="FF0000"/>
                </a:solidFill>
              </a:rPr>
              <a:t> (</a:t>
            </a:r>
            <a:r>
              <a:rPr lang="en-US" sz="2000" b="1" i="1" dirty="0" err="1">
                <a:solidFill>
                  <a:srgbClr val="FF0000"/>
                </a:solidFill>
              </a:rPr>
              <a:t>HealthTech</a:t>
            </a:r>
            <a:r>
              <a:rPr lang="en-US" sz="2000" b="1" i="1" dirty="0">
                <a:solidFill>
                  <a:srgbClr val="FF0000"/>
                </a:solidFill>
              </a:rPr>
              <a:t> Startup)</a:t>
            </a:r>
            <a:r>
              <a:rPr lang="en-US" sz="2000" i="1" dirty="0">
                <a:solidFill>
                  <a:srgbClr val="FF0000"/>
                </a:solidFill>
              </a:rPr>
              <a:t> received funding through various government and private investors.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1927102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E75A73-5F40-139E-EE91-84FE5AFC8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Challenges Faced by Indian Startups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77FA01B-9C54-8683-3400-8BBF3CC1D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8720"/>
            <a:ext cx="8229600" cy="5217443"/>
          </a:xfrm>
        </p:spPr>
        <p:txBody>
          <a:bodyPr/>
          <a:lstStyle/>
          <a:p>
            <a:r>
              <a:rPr lang="en-US" sz="2800" dirty="0" smtClean="0"/>
              <a:t> </a:t>
            </a:r>
            <a:r>
              <a:rPr lang="en-US" sz="2800" b="1" dirty="0"/>
              <a:t>Funding Constraints:</a:t>
            </a:r>
            <a:r>
              <a:rPr lang="en-US" sz="2800" dirty="0"/>
              <a:t> Many startups struggle to secure investment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 </a:t>
            </a:r>
            <a:r>
              <a:rPr lang="en-US" sz="2800" b="1" dirty="0"/>
              <a:t>Regulatory Hurdles:</a:t>
            </a:r>
            <a:r>
              <a:rPr lang="en-US" sz="2800" dirty="0"/>
              <a:t> Compliance and legal formalities take time.</a:t>
            </a:r>
            <a:br>
              <a:rPr lang="en-US" sz="2800" dirty="0"/>
            </a:br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b="1" dirty="0"/>
              <a:t>Market Competition:</a:t>
            </a:r>
            <a:r>
              <a:rPr lang="en-US" sz="2800" dirty="0"/>
              <a:t> High competition from global and local players.</a:t>
            </a:r>
            <a:br>
              <a:rPr lang="en-US" sz="2800" dirty="0"/>
            </a:br>
            <a:endParaRPr lang="en-US" sz="2800" dirty="0" smtClean="0"/>
          </a:p>
          <a:p>
            <a:r>
              <a:rPr lang="en-US" sz="2800" dirty="0" smtClean="0"/>
              <a:t> </a:t>
            </a:r>
            <a:r>
              <a:rPr lang="en-US" sz="2800" b="1" dirty="0"/>
              <a:t>Scaling Issues:</a:t>
            </a:r>
            <a:r>
              <a:rPr lang="en-US" sz="2800" dirty="0"/>
              <a:t> Difficulties in expanding due to operational challenges.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400" i="1" dirty="0">
                <a:solidFill>
                  <a:srgbClr val="FF0000"/>
                </a:solidFill>
              </a:rPr>
              <a:t>Example: </a:t>
            </a:r>
            <a:r>
              <a:rPr lang="en-US" sz="2400" b="1" i="1" dirty="0" err="1">
                <a:solidFill>
                  <a:srgbClr val="FF0000"/>
                </a:solidFill>
              </a:rPr>
              <a:t>Kirana</a:t>
            </a:r>
            <a:r>
              <a:rPr lang="en-US" sz="2400" b="1" i="1" dirty="0">
                <a:solidFill>
                  <a:srgbClr val="FF0000"/>
                </a:solidFill>
              </a:rPr>
              <a:t> King (Retail Startup)</a:t>
            </a:r>
            <a:r>
              <a:rPr lang="en-US" sz="2400" i="1" dirty="0">
                <a:solidFill>
                  <a:srgbClr val="FF0000"/>
                </a:solidFill>
              </a:rPr>
              <a:t> overcame scaling challenges through digital transformation.</a:t>
            </a:r>
          </a:p>
          <a:p>
            <a:endParaRPr lang="en-IN" sz="24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8392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296C9E-1D9A-B3A8-EE85-41C851FC6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FF0000"/>
                </a:solidFill>
              </a:rPr>
              <a:t>Impact &amp; Future of Start-up India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0C5635-577E-9AD6-F71C-00D4BDD39A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579296" cy="5661248"/>
          </a:xfrm>
        </p:spPr>
        <p:txBody>
          <a:bodyPr/>
          <a:lstStyle/>
          <a:p>
            <a:r>
              <a:rPr lang="en-US" sz="2400" b="1" dirty="0" smtClean="0"/>
              <a:t>Over </a:t>
            </a:r>
            <a:r>
              <a:rPr lang="en-US" sz="2400" b="1" dirty="0"/>
              <a:t>100,000 startups recognized</a:t>
            </a:r>
            <a:r>
              <a:rPr lang="en-US" sz="2400" dirty="0"/>
              <a:t> by the DPIIT (Department for Promotion of Industry and Internal Trade).</a:t>
            </a:r>
          </a:p>
          <a:p>
            <a:r>
              <a:rPr lang="en-US" sz="2400" b="1" dirty="0"/>
              <a:t>India is the 3rd largest startup ecosystem</a:t>
            </a:r>
            <a:r>
              <a:rPr lang="en-US" sz="2400" dirty="0"/>
              <a:t> globally.</a:t>
            </a:r>
          </a:p>
          <a:p>
            <a:r>
              <a:rPr lang="en-US" sz="2400" b="1" dirty="0"/>
              <a:t>Focus Areas for Growth:</a:t>
            </a:r>
            <a:r>
              <a:rPr lang="en-US" sz="2400" dirty="0"/>
              <a:t> </a:t>
            </a:r>
            <a:r>
              <a:rPr lang="en-US" sz="2400" dirty="0" err="1"/>
              <a:t>DeepTech</a:t>
            </a:r>
            <a:r>
              <a:rPr lang="en-US" sz="2400" dirty="0"/>
              <a:t>, AI, Green Energy, </a:t>
            </a:r>
            <a:r>
              <a:rPr lang="en-US" sz="2400" dirty="0" err="1"/>
              <a:t>FinTech</a:t>
            </a:r>
            <a:r>
              <a:rPr lang="en-US" sz="2400" dirty="0"/>
              <a:t>, </a:t>
            </a:r>
            <a:r>
              <a:rPr lang="en-US" sz="2400" dirty="0" err="1"/>
              <a:t>Agritech</a:t>
            </a:r>
            <a:r>
              <a:rPr lang="en-US" sz="2400" dirty="0"/>
              <a:t>.</a:t>
            </a:r>
          </a:p>
          <a:p>
            <a:r>
              <a:rPr lang="en-US" sz="2400" b="1" dirty="0"/>
              <a:t>Government’s Next Steps:</a:t>
            </a:r>
            <a:r>
              <a:rPr lang="en-US" sz="2400" dirty="0"/>
              <a:t> Improving ease of doing business, increasing startup funding, and promoting exports</a:t>
            </a:r>
            <a:r>
              <a:rPr lang="en-US" sz="2400" dirty="0" smtClean="0"/>
              <a:t>.</a:t>
            </a:r>
          </a:p>
          <a:p>
            <a:endParaRPr lang="en-US" sz="2400" dirty="0"/>
          </a:p>
          <a:p>
            <a:endParaRPr lang="en-US" sz="2400" dirty="0"/>
          </a:p>
          <a:p>
            <a:pPr marL="0" indent="0">
              <a:buNone/>
            </a:pPr>
            <a:r>
              <a:rPr lang="en-US" sz="2000" i="1" dirty="0" smtClean="0">
                <a:solidFill>
                  <a:srgbClr val="FF0000"/>
                </a:solidFill>
              </a:rPr>
              <a:t>Example</a:t>
            </a:r>
            <a:r>
              <a:rPr lang="en-US" sz="2000" i="1" dirty="0">
                <a:solidFill>
                  <a:srgbClr val="FF0000"/>
                </a:solidFill>
              </a:rPr>
              <a:t>: </a:t>
            </a:r>
            <a:r>
              <a:rPr lang="en-US" sz="2000" b="1" i="1" dirty="0" err="1">
                <a:solidFill>
                  <a:srgbClr val="FF0000"/>
                </a:solidFill>
              </a:rPr>
              <a:t>Nykaa</a:t>
            </a:r>
            <a:r>
              <a:rPr lang="en-US" sz="2000" b="1" i="1" dirty="0">
                <a:solidFill>
                  <a:srgbClr val="FF0000"/>
                </a:solidFill>
              </a:rPr>
              <a:t> (Beauty Startup)</a:t>
            </a:r>
            <a:r>
              <a:rPr lang="en-US" sz="2000" i="1" dirty="0">
                <a:solidFill>
                  <a:srgbClr val="FF0000"/>
                </a:solidFill>
              </a:rPr>
              <a:t> started as a small business and became a publicly traded company.</a:t>
            </a:r>
          </a:p>
        </p:txBody>
      </p:sp>
    </p:spTree>
    <p:extLst>
      <p:ext uri="{BB962C8B-B14F-4D97-AF65-F5344CB8AC3E}">
        <p14:creationId xmlns="" xmlns:p14="http://schemas.microsoft.com/office/powerpoint/2010/main" val="3807186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69702D7-CD50-CCE8-3E47-BA795232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82" y="285728"/>
            <a:ext cx="8229600" cy="11430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DCDC873-E4F5-7A62-1B34-A19E4A398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64704"/>
            <a:ext cx="8507288" cy="5904656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 smtClean="0"/>
              <a:t>.</a:t>
            </a:r>
            <a:endParaRPr lang="en-US" dirty="0"/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59632" y="3013502"/>
            <a:ext cx="696996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FF0000"/>
                </a:solidFill>
              </a:rPr>
              <a:t>10000 </a:t>
            </a:r>
            <a:r>
              <a:rPr lang="en-IN" sz="5400" b="1" dirty="0" err="1">
                <a:solidFill>
                  <a:srgbClr val="FF0000"/>
                </a:solidFill>
              </a:rPr>
              <a:t>startups</a:t>
            </a:r>
            <a:r>
              <a:rPr lang="en-IN" sz="5400" b="1" dirty="0">
                <a:solidFill>
                  <a:srgbClr val="FF0000"/>
                </a:solidFill>
              </a:rPr>
              <a:t> -A NASSCOM Initiative</a:t>
            </a:r>
          </a:p>
        </p:txBody>
      </p:sp>
    </p:spTree>
    <p:extLst>
      <p:ext uri="{BB962C8B-B14F-4D97-AF65-F5344CB8AC3E}">
        <p14:creationId xmlns="" xmlns:p14="http://schemas.microsoft.com/office/powerpoint/2010/main" val="890917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5C5CBB-D346-FB15-C5DB-3BCA4E696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0115EE-FF92-C1AC-3403-8050261A2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96752"/>
            <a:ext cx="8229600" cy="4929411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en-US" sz="2000" b="1" dirty="0" smtClean="0">
                <a:latin typeface="Arial" panose="020B0604020202020204" pitchFamily="34" charset="0"/>
              </a:rPr>
              <a:t>Introduction </a:t>
            </a:r>
            <a:r>
              <a:rPr lang="en-US" altLang="en-US" sz="2000" b="1" dirty="0">
                <a:latin typeface="Arial" panose="020B0604020202020204" pitchFamily="34" charset="0"/>
              </a:rPr>
              <a:t>&amp; Launch</a:t>
            </a:r>
            <a:r>
              <a:rPr lang="en-US" altLang="en-US" sz="2000" dirty="0">
                <a:latin typeface="Arial" panose="020B0604020202020204" pitchFamily="34" charset="0"/>
              </a:rPr>
              <a:t> – NASSCOM initiated in </a:t>
            </a:r>
            <a:r>
              <a:rPr lang="en-US" altLang="en-US" sz="2000" b="1" dirty="0">
                <a:latin typeface="Arial" panose="020B0604020202020204" pitchFamily="34" charset="0"/>
              </a:rPr>
              <a:t>2013</a:t>
            </a:r>
            <a:r>
              <a:rPr lang="en-US" altLang="en-US" sz="2000" dirty="0">
                <a:latin typeface="Arial" panose="020B0604020202020204" pitchFamily="34" charset="0"/>
              </a:rPr>
              <a:t> for startups.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Objective &amp; Vision</a:t>
            </a:r>
            <a:r>
              <a:rPr lang="en-US" altLang="en-US" sz="2000" dirty="0">
                <a:latin typeface="Arial" panose="020B0604020202020204" pitchFamily="34" charset="0"/>
              </a:rPr>
              <a:t> – Support, mentor, and scale </a:t>
            </a:r>
            <a:r>
              <a:rPr lang="en-US" altLang="en-US" sz="2000" b="1" dirty="0">
                <a:latin typeface="Arial" panose="020B0604020202020204" pitchFamily="34" charset="0"/>
              </a:rPr>
              <a:t>10,000 startups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Key Focus Areas</a:t>
            </a:r>
            <a:r>
              <a:rPr lang="en-US" altLang="en-US" sz="2000" dirty="0">
                <a:latin typeface="Arial" panose="020B0604020202020204" pitchFamily="34" charset="0"/>
              </a:rPr>
              <a:t> – AI, </a:t>
            </a:r>
            <a:r>
              <a:rPr lang="en-US" altLang="en-US" sz="2000" dirty="0" err="1">
                <a:latin typeface="Arial" panose="020B0604020202020204" pitchFamily="34" charset="0"/>
              </a:rPr>
              <a:t>FinTech</a:t>
            </a:r>
            <a:r>
              <a:rPr lang="en-US" altLang="en-US" sz="2000" dirty="0">
                <a:latin typeface="Arial" panose="020B0604020202020204" pitchFamily="34" charset="0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</a:rPr>
              <a:t>HealthTech</a:t>
            </a:r>
            <a:r>
              <a:rPr lang="en-US" altLang="en-US" sz="2000" dirty="0">
                <a:latin typeface="Arial" panose="020B0604020202020204" pitchFamily="34" charset="0"/>
              </a:rPr>
              <a:t>, SaaS, </a:t>
            </a:r>
            <a:r>
              <a:rPr lang="en-US" altLang="en-US" sz="2000" dirty="0" err="1">
                <a:latin typeface="Arial" panose="020B0604020202020204" pitchFamily="34" charset="0"/>
              </a:rPr>
              <a:t>EdTech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Startup Support</a:t>
            </a:r>
            <a:r>
              <a:rPr lang="en-US" altLang="en-US" sz="2000" dirty="0">
                <a:latin typeface="Arial" panose="020B0604020202020204" pitchFamily="34" charset="0"/>
              </a:rPr>
              <a:t> – Funding, mentorship, global expansion, acceleration.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r>
              <a:rPr lang="en-US" altLang="en-US" sz="2000" b="1" dirty="0">
                <a:latin typeface="Arial" panose="020B0604020202020204" pitchFamily="34" charset="0"/>
              </a:rPr>
              <a:t>Impact Created</a:t>
            </a:r>
            <a:r>
              <a:rPr lang="en-US" altLang="en-US" sz="2000" dirty="0">
                <a:latin typeface="Arial" panose="020B0604020202020204" pitchFamily="34" charset="0"/>
              </a:rPr>
              <a:t> – Thousands incubated, billions in funding.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endParaRPr lang="en-US" altLang="en-US" sz="2000" b="1" dirty="0" smtClean="0">
              <a:latin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FontTx/>
              <a:buChar char="•"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en-US" sz="2000" b="1" i="1" dirty="0" smtClean="0">
                <a:solidFill>
                  <a:srgbClr val="FF0000"/>
                </a:solidFill>
                <a:latin typeface="Arial" panose="020B0604020202020204" pitchFamily="34" charset="0"/>
              </a:rPr>
              <a:t>Example </a:t>
            </a:r>
            <a:r>
              <a:rPr lang="en-US" altLang="en-US" sz="2000" b="1" i="1" dirty="0">
                <a:solidFill>
                  <a:srgbClr val="FF0000"/>
                </a:solidFill>
                <a:latin typeface="Arial" panose="020B0604020202020204" pitchFamily="34" charset="0"/>
              </a:rPr>
              <a:t>Success – </a:t>
            </a:r>
            <a:r>
              <a:rPr lang="en-US" altLang="en-US" sz="2000" b="1" i="1" dirty="0" err="1">
                <a:solidFill>
                  <a:srgbClr val="FF0000"/>
                </a:solidFill>
                <a:latin typeface="Arial" panose="020B0604020202020204" pitchFamily="34" charset="0"/>
              </a:rPr>
              <a:t>Freshworks</a:t>
            </a:r>
            <a:r>
              <a:rPr lang="en-US" altLang="en-US" sz="2000" b="1" i="1" dirty="0">
                <a:solidFill>
                  <a:srgbClr val="FF0000"/>
                </a:solidFill>
                <a:latin typeface="Arial" panose="020B0604020202020204" pitchFamily="34" charset="0"/>
              </a:rPr>
              <a:t> scaled, India’s first SaaS unicorn</a:t>
            </a:r>
            <a:endParaRPr lang="en-IN" b="1" i="1" dirty="0">
              <a:solidFill>
                <a:srgbClr val="FF0000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-184666"/>
            <a:ext cx="22397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4" algn="l">
              <a:buFontTx/>
              <a:buChar char="•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="" xmlns:p14="http://schemas.microsoft.com/office/powerpoint/2010/main" val="1879605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0528" y="116632"/>
            <a:ext cx="8229600" cy="1143000"/>
          </a:xfrm>
        </p:spPr>
        <p:txBody>
          <a:bodyPr/>
          <a:lstStyle/>
          <a:p>
            <a:r>
              <a:rPr lang="en-IN" sz="4000" dirty="0">
                <a:solidFill>
                  <a:srgbClr val="FF0000"/>
                </a:solidFill>
              </a:rPr>
              <a:t>Key Features of 10,000 </a:t>
            </a:r>
            <a:r>
              <a:rPr lang="en-IN" sz="4000" dirty="0" err="1">
                <a:solidFill>
                  <a:srgbClr val="FF0000"/>
                </a:solidFill>
              </a:rPr>
              <a:t>Startups</a:t>
            </a:r>
            <a:r>
              <a:rPr lang="en-IN" sz="4000" dirty="0">
                <a:solidFill>
                  <a:srgbClr val="FF0000"/>
                </a:solidFill>
              </a:rPr>
              <a:t/>
            </a:r>
            <a:br>
              <a:rPr lang="en-IN" sz="4000" dirty="0">
                <a:solidFill>
                  <a:srgbClr val="FF0000"/>
                </a:solidFill>
              </a:rPr>
            </a:br>
            <a:endParaRPr lang="en-IN" sz="4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 err="1"/>
              <a:t>Startup</a:t>
            </a:r>
            <a:r>
              <a:rPr lang="en-IN" dirty="0"/>
              <a:t> Incubation &amp; Acceleration Programs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Funding Support via Investor Connects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Mentorship from Industry Experts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Global Expansion &amp; Market Access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 smtClean="0"/>
              <a:t> </a:t>
            </a:r>
            <a:r>
              <a:rPr lang="en-IN" dirty="0"/>
              <a:t>Corporate &amp; Government Partnerships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400" b="1" i="1" dirty="0" smtClean="0">
                <a:solidFill>
                  <a:srgbClr val="FF0000"/>
                </a:solidFill>
              </a:rPr>
              <a:t>Example</a:t>
            </a:r>
            <a:r>
              <a:rPr lang="en-IN" sz="2400" b="1" i="1" dirty="0">
                <a:solidFill>
                  <a:srgbClr val="FF0000"/>
                </a:solidFill>
              </a:rPr>
              <a:t>: </a:t>
            </a:r>
            <a:r>
              <a:rPr lang="en-IN" sz="2400" b="1" i="1" dirty="0" err="1">
                <a:solidFill>
                  <a:srgbClr val="FF0000"/>
                </a:solidFill>
              </a:rPr>
              <a:t>Razorpay</a:t>
            </a:r>
            <a:r>
              <a:rPr lang="en-IN" sz="2400" b="1" i="1" dirty="0">
                <a:solidFill>
                  <a:srgbClr val="FF0000"/>
                </a:solidFill>
              </a:rPr>
              <a:t> – Grew rapidly through </a:t>
            </a:r>
            <a:r>
              <a:rPr lang="en-IN" sz="2400" b="1" i="1" dirty="0" err="1">
                <a:solidFill>
                  <a:srgbClr val="FF0000"/>
                </a:solidFill>
              </a:rPr>
              <a:t>startup</a:t>
            </a:r>
            <a:r>
              <a:rPr lang="en-IN" sz="2400" b="1" i="1" dirty="0">
                <a:solidFill>
                  <a:srgbClr val="FF0000"/>
                </a:solidFill>
              </a:rPr>
              <a:t> mentorship and funding.</a:t>
            </a:r>
          </a:p>
        </p:txBody>
      </p:sp>
    </p:spTree>
    <p:extLst>
      <p:ext uri="{BB962C8B-B14F-4D97-AF65-F5344CB8AC3E}">
        <p14:creationId xmlns="" xmlns:p14="http://schemas.microsoft.com/office/powerpoint/2010/main" val="25051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B250EE8-5795-0023-BAED-E2CC2510E3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908720"/>
            <a:ext cx="8229600" cy="5832648"/>
          </a:xfrm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smtClean="0"/>
              <a:t>Over </a:t>
            </a:r>
            <a:r>
              <a:rPr lang="en-IN" sz="2400" b="1" dirty="0"/>
              <a:t>7,500 </a:t>
            </a:r>
            <a:r>
              <a:rPr lang="en-IN" sz="2400" b="1" dirty="0" err="1"/>
              <a:t>startups</a:t>
            </a:r>
            <a:r>
              <a:rPr lang="en-IN" sz="2400" b="1" dirty="0"/>
              <a:t> incubated</a:t>
            </a:r>
            <a:r>
              <a:rPr lang="en-IN" sz="2400" dirty="0"/>
              <a:t/>
            </a:r>
            <a:br>
              <a:rPr lang="en-IN" sz="2400" dirty="0"/>
            </a:br>
            <a:r>
              <a:rPr lang="en-IN" sz="2400" dirty="0" smtClean="0"/>
              <a:t>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b="1" dirty="0" smtClean="0"/>
              <a:t>300</a:t>
            </a:r>
            <a:r>
              <a:rPr lang="en-IN" sz="2400" b="1" dirty="0"/>
              <a:t>+ </a:t>
            </a:r>
            <a:r>
              <a:rPr lang="en-IN" sz="2400" b="1" dirty="0" err="1"/>
              <a:t>startups</a:t>
            </a:r>
            <a:r>
              <a:rPr lang="en-IN" sz="2400" b="1" dirty="0"/>
              <a:t> scaled globally</a:t>
            </a:r>
            <a:r>
              <a:rPr lang="en-IN" sz="2400" dirty="0"/>
              <a:t/>
            </a:r>
            <a:br>
              <a:rPr lang="en-IN" sz="2400" dirty="0"/>
            </a:br>
            <a:endParaRPr lang="en-IN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IN" sz="2400" b="1" dirty="0"/>
              <a:t>50+ Accelerator programs conducted</a:t>
            </a:r>
            <a:r>
              <a:rPr lang="en-IN" sz="2400" dirty="0"/>
              <a:t/>
            </a:r>
            <a:br>
              <a:rPr lang="en-IN" sz="2400" dirty="0"/>
            </a:br>
            <a:endParaRPr lang="en-IN" sz="24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 smtClean="0"/>
              <a:t> </a:t>
            </a:r>
            <a:r>
              <a:rPr lang="en-IN" sz="2400" b="1" dirty="0"/>
              <a:t>$4 billion+ funding raised</a:t>
            </a:r>
            <a:endParaRPr lang="en-IN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IN" sz="2400" dirty="0" smtClean="0"/>
              <a:t> </a:t>
            </a:r>
            <a:r>
              <a:rPr lang="en-IN" sz="2000" b="1" i="1" dirty="0">
                <a:solidFill>
                  <a:srgbClr val="FF0000"/>
                </a:solidFill>
              </a:rPr>
              <a:t>Example: </a:t>
            </a:r>
            <a:r>
              <a:rPr lang="en-IN" sz="2000" b="1" i="1" dirty="0" err="1">
                <a:solidFill>
                  <a:srgbClr val="FF0000"/>
                </a:solidFill>
              </a:rPr>
              <a:t>Unacademy</a:t>
            </a:r>
            <a:r>
              <a:rPr lang="en-IN" sz="2000" b="1" i="1" dirty="0">
                <a:solidFill>
                  <a:srgbClr val="FF0000"/>
                </a:solidFill>
              </a:rPr>
              <a:t> – Benefited from NASSCOM’s ecosystem and became a leading </a:t>
            </a:r>
            <a:r>
              <a:rPr lang="en-IN" sz="2000" b="1" i="1" dirty="0" err="1">
                <a:solidFill>
                  <a:srgbClr val="FF0000"/>
                </a:solidFill>
              </a:rPr>
              <a:t>EdTech</a:t>
            </a:r>
            <a:r>
              <a:rPr lang="en-IN" sz="2000" b="1" i="1" dirty="0">
                <a:solidFill>
                  <a:srgbClr val="FF0000"/>
                </a:solidFill>
              </a:rPr>
              <a:t> platform.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800" dirty="0"/>
          </a:p>
        </p:txBody>
      </p:sp>
      <p:sp>
        <p:nvSpPr>
          <p:cNvPr id="4" name="Rectangle 3"/>
          <p:cNvSpPr/>
          <p:nvPr/>
        </p:nvSpPr>
        <p:spPr>
          <a:xfrm>
            <a:off x="455155" y="200625"/>
            <a:ext cx="548499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Impact of 10,000 </a:t>
            </a:r>
            <a:r>
              <a:rPr lang="en-IN" b="1" dirty="0" err="1">
                <a:solidFill>
                  <a:srgbClr val="FF0000"/>
                </a:solidFill>
              </a:rPr>
              <a:t>Startups</a:t>
            </a:r>
            <a:r>
              <a:rPr lang="en-IN" sz="2800" b="1" dirty="0">
                <a:solidFill>
                  <a:srgbClr val="FF0000"/>
                </a:solidFill>
              </a:rPr>
              <a:t/>
            </a:r>
            <a:br>
              <a:rPr lang="en-IN" sz="2800" b="1" dirty="0">
                <a:solidFill>
                  <a:srgbClr val="FF0000"/>
                </a:solidFill>
              </a:rPr>
            </a:b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790107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7A0C0A-8FC0-E0AC-8CBE-CE97E086E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289" y="24965"/>
            <a:ext cx="8229600" cy="1143000"/>
          </a:xfrm>
        </p:spPr>
        <p:txBody>
          <a:bodyPr/>
          <a:lstStyle/>
          <a:p>
            <a:r>
              <a:rPr lang="en-IN" sz="3200" b="1" dirty="0" smtClean="0">
                <a:solidFill>
                  <a:srgbClr val="FF0000"/>
                </a:solidFill>
              </a:rPr>
              <a:t>Challenges </a:t>
            </a:r>
            <a:r>
              <a:rPr lang="en-IN" sz="3200" b="1" dirty="0">
                <a:solidFill>
                  <a:srgbClr val="FF0000"/>
                </a:solidFill>
              </a:rPr>
              <a:t>Faced by </a:t>
            </a:r>
            <a:r>
              <a:rPr lang="en-IN" sz="3200" b="1" dirty="0" err="1">
                <a:solidFill>
                  <a:srgbClr val="FF0000"/>
                </a:solidFill>
              </a:rPr>
              <a:t>Startups</a:t>
            </a:r>
            <a:r>
              <a:rPr lang="en-IN" sz="3200" b="1" dirty="0">
                <a:solidFill>
                  <a:srgbClr val="FF0000"/>
                </a:solidFill>
              </a:rPr>
              <a:t/>
            </a:r>
            <a:br>
              <a:rPr lang="en-IN" sz="3200" b="1" dirty="0">
                <a:solidFill>
                  <a:srgbClr val="FF0000"/>
                </a:solidFill>
              </a:rPr>
            </a:b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6425816-EDF7-2EF7-FB1E-63EFE8A03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12" y="836712"/>
            <a:ext cx="8291264" cy="49685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b="1" dirty="0" smtClean="0"/>
              <a:t>Funding </a:t>
            </a:r>
            <a:r>
              <a:rPr lang="en-IN" sz="2800" b="1" dirty="0"/>
              <a:t>&amp; Investment </a:t>
            </a:r>
            <a:r>
              <a:rPr lang="en-IN" sz="2800" b="1" dirty="0" smtClean="0"/>
              <a:t>Barriers</a:t>
            </a: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Market Competition &amp; Scalability Issues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Regulatory &amp; Compliance Challenges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Talent Acquisition &amp; Retention</a:t>
            </a:r>
            <a:endParaRPr lang="en-IN" sz="2800" dirty="0"/>
          </a:p>
          <a:p>
            <a:endParaRPr lang="en-IN" sz="2800" dirty="0" smtClean="0"/>
          </a:p>
          <a:p>
            <a:endParaRPr lang="en-IN" sz="2800" dirty="0"/>
          </a:p>
          <a:p>
            <a:r>
              <a:rPr lang="en-IN" sz="2800" dirty="0" smtClean="0"/>
              <a:t> </a:t>
            </a:r>
            <a:r>
              <a:rPr lang="en-IN" sz="2800" b="1" i="1" dirty="0">
                <a:solidFill>
                  <a:srgbClr val="FF0000"/>
                </a:solidFill>
              </a:rPr>
              <a:t>Example: Many AI-based </a:t>
            </a:r>
            <a:r>
              <a:rPr lang="en-IN" sz="2800" b="1" i="1" dirty="0" err="1">
                <a:solidFill>
                  <a:srgbClr val="FF0000"/>
                </a:solidFill>
              </a:rPr>
              <a:t>startups</a:t>
            </a:r>
            <a:r>
              <a:rPr lang="en-IN" sz="2800" b="1" i="1" dirty="0">
                <a:solidFill>
                  <a:srgbClr val="FF0000"/>
                </a:solidFill>
              </a:rPr>
              <a:t> struggle with data privacy regulations and funding gaps.</a:t>
            </a:r>
          </a:p>
          <a:p>
            <a:endParaRPr lang="en-IN" sz="3000" dirty="0"/>
          </a:p>
        </p:txBody>
      </p:sp>
    </p:spTree>
    <p:extLst>
      <p:ext uri="{BB962C8B-B14F-4D97-AF65-F5344CB8AC3E}">
        <p14:creationId xmlns="" xmlns:p14="http://schemas.microsoft.com/office/powerpoint/2010/main" val="211493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20C129-8F3F-7C8C-1BAF-9E7433B01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/>
          <a:lstStyle/>
          <a:p>
            <a:r>
              <a:rPr lang="en-IN" sz="4000" b="1" dirty="0">
                <a:solidFill>
                  <a:srgbClr val="FF0000"/>
                </a:solidFill>
              </a:rPr>
              <a:t>Future of 10,000 </a:t>
            </a:r>
            <a:r>
              <a:rPr lang="en-IN" sz="4000" b="1" dirty="0" err="1">
                <a:solidFill>
                  <a:srgbClr val="FF0000"/>
                </a:solidFill>
              </a:rPr>
              <a:t>Startups</a:t>
            </a:r>
            <a:r>
              <a:rPr lang="en-IN" sz="4000" b="1" dirty="0">
                <a:solidFill>
                  <a:srgbClr val="FF0000"/>
                </a:solidFill>
              </a:rPr>
              <a:t> Initiative</a:t>
            </a:r>
            <a:r>
              <a:rPr lang="en-IN" b="1" dirty="0">
                <a:solidFill>
                  <a:srgbClr val="FF0000"/>
                </a:solidFill>
              </a:rPr>
              <a:t/>
            </a:r>
            <a:br>
              <a:rPr lang="en-IN" b="1" dirty="0">
                <a:solidFill>
                  <a:srgbClr val="FF0000"/>
                </a:solidFill>
              </a:rPr>
            </a:b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70124AB-6937-C17A-C9C1-13967EF84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836712"/>
            <a:ext cx="8229600" cy="45259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Expanding to Tier-2 &amp; Tier-3 Cities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Focus on AI, </a:t>
            </a:r>
            <a:r>
              <a:rPr lang="en-IN" sz="2800" b="1" dirty="0" err="1"/>
              <a:t>DeepTech</a:t>
            </a:r>
            <a:r>
              <a:rPr lang="en-IN" sz="2800" b="1" dirty="0"/>
              <a:t>, and Sustainability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More Collaboration with Government &amp; Enterprises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2800" dirty="0" smtClean="0"/>
              <a:t> </a:t>
            </a:r>
            <a:r>
              <a:rPr lang="en-IN" sz="2800" b="1" dirty="0"/>
              <a:t>Scaling Indian </a:t>
            </a:r>
            <a:r>
              <a:rPr lang="en-IN" sz="2800" b="1" dirty="0" err="1"/>
              <a:t>Startups</a:t>
            </a:r>
            <a:r>
              <a:rPr lang="en-IN" sz="2800" b="1" dirty="0"/>
              <a:t> for Global Markets</a:t>
            </a:r>
            <a:endParaRPr lang="en-IN" sz="2800" dirty="0"/>
          </a:p>
          <a:p>
            <a:pPr marL="0" indent="0">
              <a:buNone/>
            </a:pPr>
            <a:endParaRPr lang="en-IN" sz="2800" dirty="0" smtClean="0"/>
          </a:p>
          <a:p>
            <a:pPr marL="0" indent="0">
              <a:buNone/>
            </a:pPr>
            <a:r>
              <a:rPr lang="en-IN" sz="2800" dirty="0" smtClean="0"/>
              <a:t> </a:t>
            </a:r>
            <a:r>
              <a:rPr lang="en-IN" sz="2800" b="1" i="1" dirty="0">
                <a:solidFill>
                  <a:srgbClr val="FF0000"/>
                </a:solidFill>
              </a:rPr>
              <a:t>Example: Digit Insurance – A </a:t>
            </a:r>
            <a:r>
              <a:rPr lang="en-IN" sz="2800" b="1" i="1" dirty="0" err="1">
                <a:solidFill>
                  <a:srgbClr val="FF0000"/>
                </a:solidFill>
              </a:rPr>
              <a:t>startup</a:t>
            </a:r>
            <a:r>
              <a:rPr lang="en-IN" sz="2800" b="1" i="1" dirty="0">
                <a:solidFill>
                  <a:srgbClr val="FF0000"/>
                </a:solidFill>
              </a:rPr>
              <a:t> that leveraged NASSCOM’s network to expand in the </a:t>
            </a:r>
            <a:r>
              <a:rPr lang="en-IN" sz="2800" b="1" i="1" dirty="0" err="1">
                <a:solidFill>
                  <a:srgbClr val="FF0000"/>
                </a:solidFill>
              </a:rPr>
              <a:t>InsurTech</a:t>
            </a:r>
            <a:r>
              <a:rPr lang="en-IN" sz="2800" b="1" i="1" dirty="0">
                <a:solidFill>
                  <a:srgbClr val="FF0000"/>
                </a:solidFill>
              </a:rPr>
              <a:t> sector</a:t>
            </a:r>
            <a:r>
              <a:rPr lang="en-IN" sz="2800" dirty="0"/>
              <a:t>.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="" xmlns:p14="http://schemas.microsoft.com/office/powerpoint/2010/main" val="2210036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B408D0-4649-1CBA-C934-B70EFDD1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24744"/>
            <a:ext cx="8604448" cy="144016"/>
          </a:xfrm>
        </p:spPr>
        <p:txBody>
          <a:bodyPr/>
          <a:lstStyle/>
          <a:p>
            <a:r>
              <a:rPr lang="en-US" sz="3600" b="1" dirty="0"/>
              <a:t/>
            </a:r>
            <a:br>
              <a:rPr lang="en-US" sz="3600" b="1" dirty="0"/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3ACD6E1-02EA-F14E-CBA0-E5EB6C4BD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4744"/>
            <a:ext cx="8686800" cy="561662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 </a:t>
            </a:r>
            <a:r>
              <a:rPr lang="en-US" sz="2800" b="1" dirty="0"/>
              <a:t>10,000 Startups is driving India’s startup </a:t>
            </a:r>
            <a:r>
              <a:rPr lang="en-US" sz="2800" b="1" dirty="0" smtClean="0"/>
              <a:t>ecosystem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 </a:t>
            </a:r>
            <a:r>
              <a:rPr lang="en-US" sz="2800" b="1" dirty="0"/>
              <a:t>Provides funding, mentorship, and global opportunities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Helps </a:t>
            </a:r>
            <a:r>
              <a:rPr lang="en-US" sz="2800" b="1" dirty="0"/>
              <a:t>startups overcome challenges &amp; scale efficiently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8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 smtClean="0"/>
              <a:t> </a:t>
            </a:r>
            <a:r>
              <a:rPr lang="en-US" sz="2800" b="1" dirty="0"/>
              <a:t>Continuous support for emerging technologies &amp; </a:t>
            </a:r>
            <a:r>
              <a:rPr lang="en-US" sz="2800" b="1" dirty="0" smtClean="0"/>
              <a:t>entrepreneurs</a:t>
            </a:r>
            <a:endParaRPr lang="en-US" sz="2800" b="1" dirty="0"/>
          </a:p>
          <a:p>
            <a:pPr marL="0" indent="0">
              <a:buNone/>
            </a:pPr>
            <a:r>
              <a:rPr lang="en-US" sz="2400" b="1" i="1" dirty="0" smtClean="0">
                <a:solidFill>
                  <a:srgbClr val="FF0000"/>
                </a:solidFill>
              </a:rPr>
              <a:t>Final </a:t>
            </a:r>
            <a:r>
              <a:rPr lang="en-US" sz="2400" b="1" i="1" dirty="0">
                <a:solidFill>
                  <a:srgbClr val="FF0000"/>
                </a:solidFill>
              </a:rPr>
              <a:t>Thought: India’s future as a global startup hub depends on initiatives like NASSCOM’s 10,000 Startups!</a:t>
            </a:r>
            <a:endParaRPr lang="en-IN" sz="2400" i="1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4348" y="116632"/>
            <a:ext cx="53458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Conclusion &amp; Key Takeaways</a:t>
            </a:r>
          </a:p>
        </p:txBody>
      </p:sp>
    </p:spTree>
    <p:extLst>
      <p:ext uri="{BB962C8B-B14F-4D97-AF65-F5344CB8AC3E}">
        <p14:creationId xmlns="" xmlns:p14="http://schemas.microsoft.com/office/powerpoint/2010/main" val="254343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2715</TotalTime>
  <Words>682</Words>
  <Application>Microsoft Office PowerPoint</Application>
  <PresentationFormat>On-screen Show (4:3)</PresentationFormat>
  <Paragraphs>103</Paragraphs>
  <Slides>14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CSE332</vt:lpstr>
      <vt:lpstr>Start-up India</vt:lpstr>
      <vt:lpstr>Benefits &amp; Incentives for Startups</vt:lpstr>
      <vt:lpstr>Eligibility &amp; Registration Process</vt:lpstr>
      <vt:lpstr>  Funding &amp; Investment Opportunities</vt:lpstr>
      <vt:lpstr>Challenges Faced by Indian Startups</vt:lpstr>
      <vt:lpstr>Impact &amp; Future of Start-up India</vt:lpstr>
      <vt:lpstr>Slide 7</vt:lpstr>
      <vt:lpstr>Slide 8</vt:lpstr>
      <vt:lpstr>Key Features of 10,000 Startups </vt:lpstr>
      <vt:lpstr>Slide 10</vt:lpstr>
      <vt:lpstr>Challenges Faced by Startups </vt:lpstr>
      <vt:lpstr>Future of 10,000 Startups Initiative </vt:lpstr>
      <vt:lpstr> </vt:lpstr>
    </vt:vector>
  </TitlesOfParts>
  <Company>Villanova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3: Brute Force</dc:title>
  <dc:creator>Anany Levitin</dc:creator>
  <cp:lastModifiedBy>HP</cp:lastModifiedBy>
  <cp:revision>165</cp:revision>
  <dcterms:created xsi:type="dcterms:W3CDTF">1999-08-23T17:38:43Z</dcterms:created>
  <dcterms:modified xsi:type="dcterms:W3CDTF">2026-04-22T10:46:37Z</dcterms:modified>
</cp:coreProperties>
</file>