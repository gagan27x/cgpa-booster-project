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76" r:id="rId14"/>
    <p:sldId id="277" r:id="rId15"/>
    <p:sldId id="269" r:id="rId16"/>
    <p:sldId id="270" r:id="rId17"/>
    <p:sldId id="273" r:id="rId18"/>
    <p:sldId id="274" r:id="rId19"/>
    <p:sldId id="275" r:id="rId20"/>
    <p:sldId id="271" r:id="rId21"/>
    <p:sldId id="272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86" y="1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nopiracy.org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0431" y="3818759"/>
            <a:ext cx="5416350" cy="30125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03375" y="3714115"/>
            <a:ext cx="54654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Ethical</a:t>
            </a:r>
            <a:r>
              <a:rPr sz="2800" spc="-6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Behavior</a:t>
            </a:r>
            <a:r>
              <a:rPr sz="2800" spc="1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of</a:t>
            </a:r>
            <a:r>
              <a:rPr sz="2800" spc="-4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9973"/>
                </a:solidFill>
                <a:latin typeface="Arial MT"/>
                <a:cs typeface="Arial MT"/>
              </a:rPr>
              <a:t>Professional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984885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 ICS  IN  INFORMATION       TECHNOLOGY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34950"/>
            <a:ext cx="8153400" cy="1015663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examples that raise public concern about the ethical use of information technology: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2484775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Ethical concerns in technology's workplace use.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Copyright violation harms music and films.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Spam emails enable low-cost marketing.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Hacking, plagiarism, and tracking persist. ​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365" y="145745"/>
            <a:ext cx="2270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Profession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859358"/>
            <a:ext cx="868235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6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7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calling</a:t>
            </a:r>
            <a:r>
              <a:rPr sz="3200" spc="7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that</a:t>
            </a:r>
            <a:r>
              <a:rPr sz="3200" spc="6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requires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specialized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often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long</a:t>
            </a:r>
            <a:r>
              <a:rPr sz="3200" spc="6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intensive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academic preparation.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591509"/>
            <a:ext cx="23190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Professional</a:t>
            </a:r>
            <a:r>
              <a:rPr sz="320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3333CC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" y="97535"/>
            <a:ext cx="7086600" cy="521334"/>
          </a:xfrm>
          <a:custGeom>
            <a:avLst/>
            <a:gdLst/>
            <a:ahLst/>
            <a:cxnLst/>
            <a:rect l="l" t="t" r="r" b="b"/>
            <a:pathLst>
              <a:path w="7086600" h="521334">
                <a:moveTo>
                  <a:pt x="7086600" y="0"/>
                </a:moveTo>
                <a:lnTo>
                  <a:pt x="0" y="0"/>
                </a:lnTo>
                <a:lnTo>
                  <a:pt x="0" y="521207"/>
                </a:lnTo>
                <a:lnTo>
                  <a:pt x="7086600" y="521207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8" rIns="0" bIns="0" rtlCol="0">
            <a:spAutoFit/>
          </a:bodyPr>
          <a:lstStyle/>
          <a:p>
            <a:pPr marL="1677035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C00000"/>
                </a:solidFill>
                <a:latin typeface="Comic Sans MS"/>
                <a:cs typeface="Comic Sans MS"/>
              </a:rPr>
              <a:t>Professional</a:t>
            </a:r>
            <a:r>
              <a:rPr sz="2800" b="1" spc="-9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omic Sans MS"/>
                <a:cs typeface="Comic Sans MS"/>
              </a:rPr>
              <a:t>Employee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" y="993647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4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One</a:t>
            </a:r>
            <a:r>
              <a:rPr spc="-5" dirty="0"/>
              <a:t> </a:t>
            </a:r>
            <a:r>
              <a:rPr dirty="0"/>
              <a:t>who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engaged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performance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work</a:t>
            </a:r>
            <a:r>
              <a:rPr spc="-10" dirty="0"/>
              <a:t> </a:t>
            </a:r>
            <a:r>
              <a:rPr spc="-50" dirty="0"/>
              <a:t>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Specialized</a:t>
            </a:r>
            <a:r>
              <a:rPr spc="-80" dirty="0"/>
              <a:t> </a:t>
            </a:r>
            <a:r>
              <a:rPr dirty="0"/>
              <a:t>intellectual</a:t>
            </a:r>
            <a:r>
              <a:rPr spc="-65" dirty="0"/>
              <a:t> </a:t>
            </a:r>
            <a:r>
              <a:rPr spc="-10" dirty="0"/>
              <a:t>instruction.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Exercise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discretion</a:t>
            </a:r>
            <a:r>
              <a:rPr spc="-9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judgement.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976" y="256031"/>
            <a:ext cx="5507990" cy="6026150"/>
            <a:chOff x="188976" y="256031"/>
            <a:chExt cx="5507990" cy="6026150"/>
          </a:xfrm>
        </p:grpSpPr>
        <p:sp>
          <p:nvSpPr>
            <p:cNvPr id="3" name="object 3"/>
            <p:cNvSpPr/>
            <p:nvPr/>
          </p:nvSpPr>
          <p:spPr>
            <a:xfrm>
              <a:off x="252984" y="320039"/>
              <a:ext cx="5379720" cy="5897880"/>
            </a:xfrm>
            <a:custGeom>
              <a:avLst/>
              <a:gdLst/>
              <a:ahLst/>
              <a:cxnLst/>
              <a:rect l="l" t="t" r="r" b="b"/>
              <a:pathLst>
                <a:path w="5379720" h="5897880">
                  <a:moveTo>
                    <a:pt x="5379720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5379720" y="5897880"/>
                  </a:lnTo>
                  <a:lnTo>
                    <a:pt x="53797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8976" y="256031"/>
              <a:ext cx="5507990" cy="6026150"/>
            </a:xfrm>
            <a:custGeom>
              <a:avLst/>
              <a:gdLst/>
              <a:ahLst/>
              <a:cxnLst/>
              <a:rect l="l" t="t" r="r" b="b"/>
              <a:pathLst>
                <a:path w="5507990" h="6026150">
                  <a:moveTo>
                    <a:pt x="5443728" y="0"/>
                  </a:moveTo>
                  <a:lnTo>
                    <a:pt x="64008" y="0"/>
                  </a:lnTo>
                  <a:lnTo>
                    <a:pt x="39090" y="5036"/>
                  </a:lnTo>
                  <a:lnTo>
                    <a:pt x="18745" y="18764"/>
                  </a:lnTo>
                  <a:lnTo>
                    <a:pt x="5029" y="39112"/>
                  </a:lnTo>
                  <a:lnTo>
                    <a:pt x="0" y="64008"/>
                  </a:lnTo>
                  <a:lnTo>
                    <a:pt x="0" y="5961888"/>
                  </a:lnTo>
                  <a:lnTo>
                    <a:pt x="5029" y="5986800"/>
                  </a:lnTo>
                  <a:lnTo>
                    <a:pt x="18745" y="6007146"/>
                  </a:lnTo>
                  <a:lnTo>
                    <a:pt x="39090" y="6020865"/>
                  </a:lnTo>
                  <a:lnTo>
                    <a:pt x="64008" y="6025896"/>
                  </a:lnTo>
                  <a:lnTo>
                    <a:pt x="5443728" y="6025896"/>
                  </a:lnTo>
                  <a:lnTo>
                    <a:pt x="5468623" y="6020865"/>
                  </a:lnTo>
                  <a:lnTo>
                    <a:pt x="5488971" y="6007146"/>
                  </a:lnTo>
                  <a:lnTo>
                    <a:pt x="5493595" y="6000292"/>
                  </a:lnTo>
                  <a:lnTo>
                    <a:pt x="64008" y="6000292"/>
                  </a:lnTo>
                  <a:lnTo>
                    <a:pt x="49059" y="5997274"/>
                  </a:lnTo>
                  <a:lnTo>
                    <a:pt x="36852" y="5989043"/>
                  </a:lnTo>
                  <a:lnTo>
                    <a:pt x="28621" y="5976836"/>
                  </a:lnTo>
                  <a:lnTo>
                    <a:pt x="25603" y="5961888"/>
                  </a:lnTo>
                  <a:lnTo>
                    <a:pt x="25603" y="64008"/>
                  </a:lnTo>
                  <a:lnTo>
                    <a:pt x="28621" y="49067"/>
                  </a:lnTo>
                  <a:lnTo>
                    <a:pt x="36852" y="36877"/>
                  </a:lnTo>
                  <a:lnTo>
                    <a:pt x="49059" y="28664"/>
                  </a:lnTo>
                  <a:lnTo>
                    <a:pt x="64008" y="25653"/>
                  </a:lnTo>
                  <a:lnTo>
                    <a:pt x="5493620" y="25653"/>
                  </a:lnTo>
                  <a:lnTo>
                    <a:pt x="5488971" y="18764"/>
                  </a:lnTo>
                  <a:lnTo>
                    <a:pt x="5468623" y="5036"/>
                  </a:lnTo>
                  <a:lnTo>
                    <a:pt x="5443728" y="0"/>
                  </a:lnTo>
                  <a:close/>
                </a:path>
                <a:path w="5507990" h="6026150">
                  <a:moveTo>
                    <a:pt x="5493620" y="25653"/>
                  </a:moveTo>
                  <a:lnTo>
                    <a:pt x="5443728" y="25653"/>
                  </a:lnTo>
                  <a:lnTo>
                    <a:pt x="5458668" y="28664"/>
                  </a:lnTo>
                  <a:lnTo>
                    <a:pt x="5470858" y="36877"/>
                  </a:lnTo>
                  <a:lnTo>
                    <a:pt x="5479071" y="49067"/>
                  </a:lnTo>
                  <a:lnTo>
                    <a:pt x="5482082" y="64008"/>
                  </a:lnTo>
                  <a:lnTo>
                    <a:pt x="5482082" y="5961888"/>
                  </a:lnTo>
                  <a:lnTo>
                    <a:pt x="5479071" y="5976836"/>
                  </a:lnTo>
                  <a:lnTo>
                    <a:pt x="5470858" y="5989043"/>
                  </a:lnTo>
                  <a:lnTo>
                    <a:pt x="5458668" y="5997274"/>
                  </a:lnTo>
                  <a:lnTo>
                    <a:pt x="5443728" y="6000292"/>
                  </a:lnTo>
                  <a:lnTo>
                    <a:pt x="5493595" y="6000292"/>
                  </a:lnTo>
                  <a:lnTo>
                    <a:pt x="5502699" y="5986800"/>
                  </a:lnTo>
                  <a:lnTo>
                    <a:pt x="5507736" y="5961888"/>
                  </a:lnTo>
                  <a:lnTo>
                    <a:pt x="5507736" y="64008"/>
                  </a:lnTo>
                  <a:lnTo>
                    <a:pt x="5502699" y="39112"/>
                  </a:lnTo>
                  <a:lnTo>
                    <a:pt x="5493620" y="25653"/>
                  </a:lnTo>
                  <a:close/>
                </a:path>
                <a:path w="5507990" h="6026150">
                  <a:moveTo>
                    <a:pt x="5450840" y="51181"/>
                  </a:moveTo>
                  <a:lnTo>
                    <a:pt x="56934" y="51181"/>
                  </a:lnTo>
                  <a:lnTo>
                    <a:pt x="51206" y="56896"/>
                  </a:lnTo>
                  <a:lnTo>
                    <a:pt x="51206" y="5968961"/>
                  </a:lnTo>
                  <a:lnTo>
                    <a:pt x="56934" y="5974689"/>
                  </a:lnTo>
                  <a:lnTo>
                    <a:pt x="5450840" y="5974689"/>
                  </a:lnTo>
                  <a:lnTo>
                    <a:pt x="5456555" y="5968961"/>
                  </a:lnTo>
                  <a:lnTo>
                    <a:pt x="5456555" y="5897880"/>
                  </a:lnTo>
                  <a:lnTo>
                    <a:pt x="128016" y="5897880"/>
                  </a:lnTo>
                  <a:lnTo>
                    <a:pt x="128016" y="128016"/>
                  </a:lnTo>
                  <a:lnTo>
                    <a:pt x="5456555" y="128016"/>
                  </a:lnTo>
                  <a:lnTo>
                    <a:pt x="5456555" y="56896"/>
                  </a:lnTo>
                  <a:lnTo>
                    <a:pt x="5450840" y="51181"/>
                  </a:lnTo>
                  <a:close/>
                </a:path>
                <a:path w="5507990" h="6026150">
                  <a:moveTo>
                    <a:pt x="5456555" y="128016"/>
                  </a:moveTo>
                  <a:lnTo>
                    <a:pt x="5379720" y="128016"/>
                  </a:lnTo>
                  <a:lnTo>
                    <a:pt x="5379720" y="5897880"/>
                  </a:lnTo>
                  <a:lnTo>
                    <a:pt x="5456555" y="5897880"/>
                  </a:lnTo>
                  <a:lnTo>
                    <a:pt x="5456555" y="128016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95045" y="2147138"/>
            <a:ext cx="450215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Professionals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such</a:t>
            </a:r>
            <a:r>
              <a:rPr sz="2000" spc="1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doctors,</a:t>
            </a:r>
            <a:r>
              <a:rPr sz="2000" b="1" spc="15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lawyers,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b="1" spc="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accountants</a:t>
            </a:r>
            <a:r>
              <a:rPr sz="2000" b="1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require</a:t>
            </a:r>
            <a:r>
              <a:rPr sz="2000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advanced</a:t>
            </a:r>
            <a:r>
              <a:rPr sz="2000" spc="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training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experience;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they</a:t>
            </a:r>
            <a:r>
              <a:rPr sz="2000" spc="254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must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exercise </a:t>
            </a:r>
            <a:r>
              <a:rPr sz="1800" b="1" dirty="0">
                <a:solidFill>
                  <a:srgbClr val="374151"/>
                </a:solidFill>
                <a:latin typeface="Times New Roman"/>
                <a:cs typeface="Times New Roman"/>
              </a:rPr>
              <a:t>Carefulness</a:t>
            </a:r>
            <a:r>
              <a:rPr sz="1800" b="1" spc="30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judgment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course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their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 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1310639"/>
            <a:ext cx="3029712" cy="1862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3319271"/>
            <a:ext cx="3029712" cy="1524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9676" y="4986528"/>
            <a:ext cx="2051766" cy="152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1" y="24383"/>
            <a:ext cx="7086600" cy="1198245"/>
          </a:xfrm>
          <a:custGeom>
            <a:avLst/>
            <a:gdLst/>
            <a:ahLst/>
            <a:cxnLst/>
            <a:rect l="l" t="t" r="r" b="b"/>
            <a:pathLst>
              <a:path w="7086600" h="1198245">
                <a:moveTo>
                  <a:pt x="7086600" y="0"/>
                </a:moveTo>
                <a:lnTo>
                  <a:pt x="0" y="0"/>
                </a:lnTo>
                <a:lnTo>
                  <a:pt x="0" y="1197863"/>
                </a:lnTo>
                <a:lnTo>
                  <a:pt x="7086600" y="1197863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002155" marR="5080" indent="-274320">
              <a:lnSpc>
                <a:spcPts val="4300"/>
              </a:lnSpc>
              <a:spcBef>
                <a:spcPts val="220"/>
              </a:spcBef>
            </a:pP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Are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IT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Workers Professionals?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" y="130759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923" y="1641852"/>
            <a:ext cx="3248025" cy="26600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Specialized</a:t>
            </a:r>
            <a:r>
              <a:rPr sz="24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Ethical</a:t>
            </a:r>
            <a:r>
              <a:rPr sz="2400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Behaviour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Accountability</a:t>
            </a:r>
            <a:endParaRPr sz="2400">
              <a:latin typeface="Times New Roman"/>
              <a:cs typeface="Times New Roman"/>
            </a:endParaRPr>
          </a:p>
          <a:p>
            <a:pPr marL="12700" marR="963930" indent="344170">
              <a:lnSpc>
                <a:spcPct val="12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Commitment</a:t>
            </a:r>
            <a:r>
              <a:rPr sz="24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Continuous Learning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9000" y="2590798"/>
            <a:ext cx="5715000" cy="4145279"/>
            <a:chOff x="3429000" y="2590798"/>
            <a:chExt cx="5715000" cy="414527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7824" y="4717385"/>
              <a:ext cx="4303776" cy="16834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590798"/>
              <a:ext cx="5715000" cy="414527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326" y="129616"/>
            <a:ext cx="6082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55" dirty="0"/>
              <a:t> </a:t>
            </a:r>
            <a:r>
              <a:rPr dirty="0"/>
              <a:t>Ethical</a:t>
            </a:r>
            <a:r>
              <a:rPr spc="-15" dirty="0"/>
              <a:t> </a:t>
            </a:r>
            <a:r>
              <a:rPr dirty="0"/>
              <a:t>Issues</a:t>
            </a:r>
            <a:r>
              <a:rPr spc="-6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76072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284" y="876173"/>
            <a:ext cx="3446779" cy="286766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Privacy</a:t>
            </a:r>
            <a:r>
              <a:rPr sz="2400" spc="2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Times New Roman"/>
                <a:cs typeface="Times New Roman"/>
              </a:rPr>
              <a:t>Concern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5" dirty="0">
                <a:solidFill>
                  <a:srgbClr val="3333CC"/>
                </a:solidFill>
                <a:latin typeface="Times New Roman"/>
                <a:cs typeface="Times New Roman"/>
              </a:rPr>
              <a:t>Cybersecurity</a:t>
            </a:r>
            <a:r>
              <a:rPr sz="2400" spc="3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Misuse</a:t>
            </a:r>
            <a:r>
              <a:rPr sz="2400" spc="2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4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2400" spc="2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Resource</a:t>
            </a:r>
            <a:endParaRPr sz="2400">
              <a:latin typeface="Times New Roman"/>
              <a:cs typeface="Times New Roman"/>
            </a:endParaRPr>
          </a:p>
          <a:p>
            <a:pPr marL="369570" marR="808990" indent="-357505">
              <a:lnSpc>
                <a:spcPts val="4490"/>
              </a:lnSpc>
              <a:spcBef>
                <a:spcPts val="195"/>
              </a:spcBef>
              <a:buChar char="•"/>
              <a:tabLst>
                <a:tab pos="369570" algn="l"/>
                <a:tab pos="405765" algn="l"/>
              </a:tabLst>
            </a:pP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80" dirty="0">
                <a:solidFill>
                  <a:srgbClr val="3333CC"/>
                </a:solidFill>
                <a:latin typeface="Times New Roman"/>
                <a:cs typeface="Times New Roman"/>
              </a:rPr>
              <a:t>Surveillance</a:t>
            </a:r>
            <a:r>
              <a:rPr sz="2400" spc="25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Monitoring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2971798"/>
            <a:ext cx="5529072" cy="3770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568" y="716737"/>
            <a:ext cx="74587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Business</a:t>
            </a:r>
            <a:r>
              <a:rPr sz="3600" b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Software</a:t>
            </a:r>
            <a:r>
              <a:rPr sz="3600" b="1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Alliance</a:t>
            </a:r>
            <a:r>
              <a:rPr sz="3600" b="1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omic Sans MS"/>
                <a:cs typeface="Comic Sans MS"/>
              </a:rPr>
              <a:t>(BSA)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01164"/>
            <a:ext cx="36772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</a:tabLst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Business</a:t>
            </a:r>
            <a:r>
              <a:rPr sz="2000" spc="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r>
              <a:rPr sz="2000" spc="1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Alliance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268" y="2005660"/>
            <a:ext cx="105283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90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(BSA)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represents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1223" y="2005660"/>
            <a:ext cx="21507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 marR="5080" indent="-18415" algn="r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515620" algn="l"/>
                <a:tab pos="960755" algn="l"/>
                <a:tab pos="988060" algn="l"/>
                <a:tab pos="1460500" algn="l"/>
                <a:tab pos="1756410" algn="l"/>
              </a:tabLst>
            </a:pPr>
            <a:r>
              <a:rPr sz="2000" spc="-5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trade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group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that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world’s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largest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hardware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921000"/>
            <a:ext cx="1872614" cy="1061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manufacturers.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84455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Its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mission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268" y="3957269"/>
            <a:ext cx="13481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unauthorized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558" y="4262754"/>
            <a:ext cx="15627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9286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produced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4564" y="3652773"/>
            <a:ext cx="1831339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 marR="5080" indent="-299085" algn="r">
              <a:lnSpc>
                <a:spcPct val="100000"/>
              </a:lnSpc>
              <a:spcBef>
                <a:spcPts val="90"/>
              </a:spcBef>
              <a:tabLst>
                <a:tab pos="414655" algn="l"/>
                <a:tab pos="847725" algn="l"/>
                <a:tab pos="1506220" algn="l"/>
                <a:tab pos="160401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stop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copying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8268" y="4262754"/>
            <a:ext cx="100965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members.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488" y="1905050"/>
            <a:ext cx="4230623" cy="40323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317116"/>
            <a:ext cx="8077834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8890" indent="-34480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More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than</a:t>
            </a:r>
            <a:r>
              <a:rPr sz="3000" spc="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100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lawyers</a:t>
            </a:r>
            <a:r>
              <a:rPr sz="3000" spc="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investigators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prosecute</a:t>
            </a:r>
            <a:r>
              <a:rPr sz="3000" spc="5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thousands</a:t>
            </a:r>
            <a:r>
              <a:rPr sz="3000" spc="5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5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piracy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each</a:t>
            </a:r>
            <a:r>
              <a:rPr sz="30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year.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5"/>
              </a:spcBef>
              <a:buClr>
                <a:srgbClr val="3333CC"/>
              </a:buClr>
              <a:buFont typeface="Times New Roman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investigations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usually</a:t>
            </a:r>
            <a:r>
              <a:rPr sz="3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triggered</a:t>
            </a:r>
            <a:r>
              <a:rPr sz="3000" spc="2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calls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hotline,</a:t>
            </a:r>
            <a:r>
              <a:rPr sz="3000" spc="229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reports</a:t>
            </a:r>
            <a:r>
              <a:rPr sz="3000" spc="2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sent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3333CC"/>
                </a:solidFill>
                <a:latin typeface="Times New Roman"/>
                <a:cs typeface="Times New Roman"/>
              </a:rPr>
              <a:t>Web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site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  <a:hlinkClick r:id="rId2"/>
              </a:rPr>
              <a:t>(www.nopiracy.org),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61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referrals</a:t>
            </a:r>
            <a:r>
              <a:rPr sz="3000" spc="60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from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member</a:t>
            </a:r>
            <a:r>
              <a:rPr sz="3000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companies.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15823"/>
            <a:ext cx="7086600" cy="878205"/>
            <a:chOff x="0" y="115823"/>
            <a:chExt cx="7086600" cy="878205"/>
          </a:xfrm>
        </p:grpSpPr>
        <p:sp>
          <p:nvSpPr>
            <p:cNvPr id="5" name="object 5"/>
            <p:cNvSpPr/>
            <p:nvPr/>
          </p:nvSpPr>
          <p:spPr>
            <a:xfrm>
              <a:off x="0" y="115823"/>
              <a:ext cx="7086600" cy="829310"/>
            </a:xfrm>
            <a:custGeom>
              <a:avLst/>
              <a:gdLst/>
              <a:ahLst/>
              <a:cxnLst/>
              <a:rect l="l" t="t" r="r" b="b"/>
              <a:pathLst>
                <a:path w="7086600" h="829310">
                  <a:moveTo>
                    <a:pt x="7086600" y="0"/>
                  </a:moveTo>
                  <a:lnTo>
                    <a:pt x="0" y="0"/>
                  </a:lnTo>
                  <a:lnTo>
                    <a:pt x="0" y="829055"/>
                  </a:lnTo>
                  <a:lnTo>
                    <a:pt x="7086600" y="829055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47927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19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4830" y="129616"/>
            <a:ext cx="6395720" cy="413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Supporting</a:t>
            </a:r>
            <a:r>
              <a:rPr sz="2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Ethical</a:t>
            </a:r>
            <a:r>
              <a:rPr sz="2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Practices Of</a:t>
            </a:r>
            <a:r>
              <a:rPr sz="2400" spc="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endParaRPr sz="2400">
              <a:latin typeface="Arial Black"/>
              <a:cs typeface="Arial Black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Arial Black"/>
                <a:cs typeface="Arial Black"/>
              </a:rPr>
              <a:t>Users</a:t>
            </a:r>
            <a:endParaRPr sz="2400">
              <a:latin typeface="Arial Black"/>
              <a:cs typeface="Arial Black"/>
            </a:endParaRPr>
          </a:p>
          <a:p>
            <a:pPr marL="529590" indent="-393065">
              <a:lnSpc>
                <a:spcPct val="100000"/>
              </a:lnSpc>
              <a:spcBef>
                <a:spcPts val="18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Education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Awareness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90"/>
              </a:spcBef>
              <a:buChar char="•"/>
              <a:tabLst>
                <a:tab pos="529590" algn="l"/>
              </a:tabLst>
            </a:pP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Clear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Policies</a:t>
            </a:r>
            <a:r>
              <a:rPr sz="2400" spc="26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Standards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610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Access</a:t>
            </a:r>
            <a:r>
              <a:rPr sz="2400" spc="19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Control</a:t>
            </a:r>
            <a:r>
              <a:rPr sz="2400" spc="24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18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Security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Ethical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Use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45" dirty="0">
                <a:solidFill>
                  <a:srgbClr val="3333CC"/>
                </a:solidFill>
                <a:latin typeface="Arial MT"/>
                <a:cs typeface="Arial MT"/>
              </a:rPr>
              <a:t>Of</a:t>
            </a:r>
            <a:r>
              <a:rPr sz="2400" spc="2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AI</a:t>
            </a:r>
            <a:r>
              <a:rPr sz="2400" spc="204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Automation</a:t>
            </a:r>
            <a:endParaRPr sz="2400">
              <a:latin typeface="Arial MT"/>
              <a:cs typeface="Arial MT"/>
            </a:endParaRPr>
          </a:p>
          <a:p>
            <a:pPr marL="530225" marR="1479550" indent="-393700">
              <a:lnSpc>
                <a:spcPct val="135100"/>
              </a:lnSpc>
              <a:spcBef>
                <a:spcPts val="600"/>
              </a:spcBef>
              <a:buChar char="•"/>
              <a:tabLst>
                <a:tab pos="530225" algn="l"/>
                <a:tab pos="333121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Collaboration</a:t>
            </a:r>
            <a:r>
              <a:rPr sz="2400" spc="25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2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community Involvement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0" y="3779520"/>
            <a:ext cx="6096000" cy="2877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/>
              <a:t>Supporting</a:t>
            </a:r>
            <a:r>
              <a:rPr spc="1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Ethical</a:t>
            </a:r>
            <a:r>
              <a:rPr spc="10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8275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1124711"/>
            <a:ext cx="8540496" cy="5221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64D909-E365-ED4C-B6CD-603B7949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615553"/>
          </a:xfrm>
        </p:spPr>
        <p:txBody>
          <a:bodyPr/>
          <a:lstStyle/>
          <a:p>
            <a:pPr algn="ctr"/>
            <a:r>
              <a:rPr lang="en-IN" sz="4000" dirty="0"/>
              <a:t>Women Empowerment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B768323-B61F-617A-DA8C-BF500C80F3AC}"/>
              </a:ext>
            </a:extLst>
          </p:cNvPr>
          <p:cNvSpPr txBox="1"/>
          <p:nvPr/>
        </p:nvSpPr>
        <p:spPr>
          <a:xfrm>
            <a:off x="381000" y="838200"/>
            <a:ext cx="838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US" sz="2800" dirty="0"/>
              <a:t>Promoting gender equality in STEM fields.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Education and mentorship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Bias training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 networks</a:t>
            </a:r>
            <a:endParaRPr lang="en-US" sz="36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8516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8849F3-DBAD-E374-6E43-76F2D3EA2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12A34F1-D434-2744-0D51-D70B5B37C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2339102"/>
          </a:xfrm>
        </p:spPr>
        <p:txBody>
          <a:bodyPr/>
          <a:lstStyle/>
          <a:p>
            <a:pPr algn="l"/>
            <a:r>
              <a:rPr lang="en-US" sz="2400" dirty="0"/>
              <a:t>2</a:t>
            </a:r>
            <a:r>
              <a:rPr lang="en-US" sz="2800" dirty="0"/>
              <a:t>. Initiatives for women leadership in engineering.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Society of Women Engineers (SWE)</a:t>
            </a:r>
            <a:endParaRPr lang="en-US" sz="32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Corporate programs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110743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E95964-1E9F-0703-4890-3615252C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D456F62-5DF5-A3FF-FAE7-7340C672E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6466100" cy="4216539"/>
          </a:xfrm>
        </p:spPr>
        <p:txBody>
          <a:bodyPr/>
          <a:lstStyle/>
          <a:p>
            <a:pPr algn="l"/>
            <a:r>
              <a:rPr lang="en-US" sz="2800" dirty="0"/>
              <a:t>3</a:t>
            </a:r>
            <a:r>
              <a:rPr lang="en-US" sz="3600" dirty="0"/>
              <a:t>. </a:t>
            </a:r>
            <a:r>
              <a:rPr lang="en-US" sz="2800" dirty="0"/>
              <a:t>Programs encouraging girls in technology.</a:t>
            </a:r>
          </a:p>
          <a:p>
            <a:pPr algn="l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Girls Who </a:t>
            </a: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-works to close gender gap in technology and computer science. It was founded in 2012 by </a:t>
            </a:r>
            <a:r>
              <a:rPr lang="en-IN" sz="2000" kern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Reshma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kern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Saujani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kern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STEMettes</a:t>
            </a: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en-IN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its goal is to increase number </a:t>
            </a:r>
            <a:r>
              <a:rPr lang="en-IN" sz="200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of women </a:t>
            </a:r>
            <a:r>
              <a:rPr lang="en-IN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in STEM fields. It was founded in 2013 by Anne-</a:t>
            </a:r>
            <a:r>
              <a:rPr lang="en-IN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marie</a:t>
            </a:r>
            <a:r>
              <a:rPr lang="en-IN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Imafidan</a:t>
            </a:r>
            <a:r>
              <a:rPr lang="en-IN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.( organize, coding session, </a:t>
            </a:r>
            <a:r>
              <a:rPr lang="en-IN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Hackathon</a:t>
            </a:r>
            <a:r>
              <a:rPr lang="en-IN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workshops)</a:t>
            </a:r>
            <a:endParaRPr lang="en-US" sz="2400" b="1" dirty="0"/>
          </a:p>
          <a:p>
            <a:pPr algn="l"/>
            <a:endParaRPr lang="en-US" sz="2000" dirty="0"/>
          </a:p>
          <a:p>
            <a:pPr algn="l"/>
            <a:r>
              <a:rPr lang="en-US" sz="2800" dirty="0"/>
              <a:t>4. Examples of empowered women in engineering.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1234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1B607A-C435-99C3-1B49-653238AC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1E3C1340-254A-273C-9BBF-5FE3AF24C25D}"/>
              </a:ext>
            </a:extLst>
          </p:cNvPr>
          <p:cNvSpPr txBox="1">
            <a:spLocks/>
          </p:cNvSpPr>
          <p:nvPr/>
        </p:nvSpPr>
        <p:spPr>
          <a:xfrm>
            <a:off x="0" y="31826"/>
            <a:ext cx="7086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/>
            <a:r>
              <a:rPr lang="en-IN" dirty="0"/>
              <a:t>Women Empowerment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7E189457-EE26-D29A-7B73-ED95112F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3" y="1357298"/>
            <a:ext cx="4756589" cy="4768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C02AEB-9380-A575-F34B-83B9D73F6A3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71868" y="1357298"/>
            <a:ext cx="5434480" cy="476886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2702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39EF1E14-0F34-AC8C-DECC-C8FFFCEE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88257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Ethical Aspects of Engineering Practices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84C8B801-FE74-B3A8-D75F-135D6263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92" y="1334950"/>
            <a:ext cx="7925308" cy="3447098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sz="3600" dirty="0"/>
              <a:t>Integrity and accountability in engineering.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being honest, transparent, and fair in all aspects of work,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designing to testing to reporting results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engineers are held responsible for their designs, decisions, and their outcomes.</a:t>
            </a:r>
            <a:endParaRPr lang="en-US" sz="40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="" xmlns:p14="http://schemas.microsoft.com/office/powerpoint/2010/main" val="257622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090408-39B2-E60A-CF6C-D2B13D96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F3F50B-29E2-2BCC-DFF0-DF5D1774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4950"/>
            <a:ext cx="6705092" cy="3939540"/>
          </a:xfrm>
        </p:spPr>
        <p:txBody>
          <a:bodyPr/>
          <a:lstStyle/>
          <a:p>
            <a:r>
              <a:rPr lang="en-US" sz="2400" dirty="0"/>
              <a:t>2. Environmental sustainability in engineering projects.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Green engineering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renewable energy sources,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reducing waste,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recycling materials.</a:t>
            </a: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0059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51689F-DE6E-0893-CFF3-DE9AD761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DE4AF58-28F8-5F80-38A7-775770F62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34950"/>
            <a:ext cx="6681806" cy="3237058"/>
          </a:xfrm>
        </p:spPr>
        <p:txBody>
          <a:bodyPr/>
          <a:lstStyle/>
          <a:p>
            <a:r>
              <a:rPr lang="en-US" sz="2400" dirty="0"/>
              <a:t>3</a:t>
            </a:r>
            <a:r>
              <a:rPr lang="en-US" sz="2000" dirty="0"/>
              <a:t>. </a:t>
            </a:r>
            <a:r>
              <a:rPr lang="en-US" sz="2800" dirty="0"/>
              <a:t>Ensuring safety and reliability.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Engineers use quality control, and safety standards </a:t>
            </a:r>
            <a:endParaRPr lang="en-IN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the safety of their designs.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ensuring that a product or system performs consistently over time without failure.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92019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923848-BBDE-E745-82CA-8A1C0C4B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7590A6B-1A65-97D0-90C4-98ED5414B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34950"/>
            <a:ext cx="6857492" cy="2274084"/>
          </a:xfrm>
        </p:spPr>
        <p:txBody>
          <a:bodyPr/>
          <a:lstStyle/>
          <a:p>
            <a:r>
              <a:rPr lang="en-US" sz="2400" dirty="0"/>
              <a:t>4. Recent ethical challenges in AI and automation</a:t>
            </a:r>
          </a:p>
          <a:p>
            <a:endParaRPr lang="en-US" sz="2400" dirty="0"/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Bias and fairness in AI algorithms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 displacement due to automation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Accountability for autonomous systems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323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B57406-6AE0-91AA-EB94-80FF9082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FCD1CC7-4EA2-4AFC-AD18-185CA1265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="" xmlns:a16="http://schemas.microsoft.com/office/drawing/2014/main" id="{0B9E8DBA-BCF5-FF6B-721C-159A6680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98" y="1214421"/>
            <a:ext cx="7048550" cy="528641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7199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D567E6-6EA7-51C7-3A23-39D6488D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73866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Recent Trends in Women Empowerment and Ethics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BCBC4D1-B510-AB7D-20D8-896BC135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34950"/>
            <a:ext cx="8305800" cy="4770537"/>
          </a:xfrm>
        </p:spPr>
        <p:txBody>
          <a:bodyPr/>
          <a:lstStyle/>
          <a:p>
            <a:r>
              <a:rPr lang="en-US" sz="3600" dirty="0"/>
              <a:t>1. Rise of women-led startups in technology.</a:t>
            </a:r>
          </a:p>
          <a:p>
            <a:r>
              <a:rPr lang="en-US" sz="3600" dirty="0"/>
              <a:t>2. Increased focus on diversity in hiring policies.</a:t>
            </a:r>
          </a:p>
          <a:p>
            <a:r>
              <a:rPr lang="en-US" sz="3600" dirty="0"/>
              <a:t>3. Ethical AI design and its societal impact.</a:t>
            </a:r>
          </a:p>
          <a:p>
            <a:r>
              <a:rPr lang="en-US" sz="3600" dirty="0"/>
              <a:t>4. Inclusion of ethics in engineering curriculum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3515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738664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MCQ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596" y="1334950"/>
            <a:ext cx="7715304" cy="4555093"/>
          </a:xfrm>
        </p:spPr>
        <p:txBody>
          <a:bodyPr/>
          <a:lstStyle/>
          <a:p>
            <a:r>
              <a:rPr lang="en-US" sz="1800" b="1" dirty="0" smtClean="0"/>
              <a:t>1. </a:t>
            </a:r>
            <a:r>
              <a:rPr lang="en-US" sz="1800" dirty="0" smtClean="0"/>
              <a:t>An organization enforces strict compliance policies but employees still engage in unethical behavior due to peer pressure. This situation highlights the limitation of:</a:t>
            </a:r>
            <a:br>
              <a:rPr lang="en-US" sz="1800" dirty="0" smtClean="0"/>
            </a:br>
            <a:endParaRPr lang="en-US" sz="1800" dirty="0" smtClean="0"/>
          </a:p>
          <a:p>
            <a:r>
              <a:rPr lang="en-US" sz="1800" dirty="0" smtClean="0"/>
              <a:t>A. Corporate governance</a:t>
            </a:r>
            <a:br>
              <a:rPr lang="en-US" sz="1800" dirty="0" smtClean="0"/>
            </a:br>
            <a:r>
              <a:rPr lang="en-US" sz="1800" dirty="0" smtClean="0"/>
              <a:t>B. Ethical decision-making models</a:t>
            </a:r>
            <a:br>
              <a:rPr lang="en-US" sz="1800" dirty="0" smtClean="0"/>
            </a:br>
            <a:r>
              <a:rPr lang="en-US" sz="1800" dirty="0" smtClean="0"/>
              <a:t>C. Compliance-based ethics programs</a:t>
            </a:r>
            <a:br>
              <a:rPr lang="en-US" sz="1800" dirty="0" smtClean="0"/>
            </a:br>
            <a:r>
              <a:rPr lang="en-US" sz="1800" dirty="0" smtClean="0"/>
              <a:t>D. Integrity-based ethics programs</a:t>
            </a:r>
          </a:p>
          <a:p>
            <a:r>
              <a:rPr lang="en-US" sz="1800" b="1" dirty="0" smtClean="0"/>
              <a:t>2.</a:t>
            </a:r>
          </a:p>
          <a:p>
            <a:r>
              <a:rPr lang="en-US" sz="1800" dirty="0" smtClean="0"/>
              <a:t>Which of the following best distinguishes </a:t>
            </a:r>
            <a:r>
              <a:rPr lang="en-US" sz="1800" b="1" dirty="0" smtClean="0"/>
              <a:t>integrity</a:t>
            </a:r>
            <a:r>
              <a:rPr lang="en-US" sz="1800" dirty="0" smtClean="0"/>
              <a:t> from </a:t>
            </a:r>
            <a:r>
              <a:rPr lang="en-US" sz="1800" b="1" dirty="0" smtClean="0"/>
              <a:t>ethics</a:t>
            </a:r>
            <a:r>
              <a:rPr lang="en-US" sz="1800" dirty="0" smtClean="0"/>
              <a:t> in a professional context?</a:t>
            </a:r>
            <a:br>
              <a:rPr lang="en-US" sz="1800" dirty="0" smtClean="0"/>
            </a:br>
            <a:r>
              <a:rPr lang="en-US" sz="1800" dirty="0" smtClean="0"/>
              <a:t>A. Integrity is externally enforced, while ethics is internal</a:t>
            </a:r>
            <a:br>
              <a:rPr lang="en-US" sz="1800" dirty="0" smtClean="0"/>
            </a:br>
            <a:r>
              <a:rPr lang="en-US" sz="1800" dirty="0" smtClean="0"/>
              <a:t>B. Ethics refers to laws, integrity refers to emotions</a:t>
            </a:r>
            <a:br>
              <a:rPr lang="en-US" sz="1800" dirty="0" smtClean="0"/>
            </a:br>
            <a:r>
              <a:rPr lang="en-US" sz="1800" dirty="0" smtClean="0"/>
              <a:t>C. Integrity is adherence to moral principles even without supervision</a:t>
            </a:r>
            <a:br>
              <a:rPr lang="en-US" sz="1800" dirty="0" smtClean="0"/>
            </a:br>
            <a:r>
              <a:rPr lang="en-US" sz="1800" dirty="0" smtClean="0"/>
              <a:t>D. Ethics applies only to organizations, integrity to individuals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7"/>
            <a:ext cx="7086600" cy="6110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910" y="928670"/>
            <a:ext cx="7000924" cy="4278094"/>
          </a:xfrm>
        </p:spPr>
        <p:txBody>
          <a:bodyPr/>
          <a:lstStyle/>
          <a:p>
            <a:r>
              <a:rPr lang="en-US" sz="1800" b="1" dirty="0" smtClean="0"/>
              <a:t>3.</a:t>
            </a:r>
            <a:r>
              <a:rPr lang="en-US" sz="1800" dirty="0" smtClean="0"/>
              <a:t>A software engineer knowingly ignores a minor security flaw to meet a deadline. Which ethical principle is MOST directly violated?</a:t>
            </a:r>
            <a:br>
              <a:rPr lang="en-US" sz="1800" dirty="0" smtClean="0"/>
            </a:br>
            <a:r>
              <a:rPr lang="en-US" sz="1800" dirty="0" smtClean="0"/>
              <a:t>A. Transparency</a:t>
            </a:r>
            <a:br>
              <a:rPr lang="en-US" sz="1800" dirty="0" smtClean="0"/>
            </a:br>
            <a:r>
              <a:rPr lang="en-US" sz="1800" dirty="0" smtClean="0"/>
              <a:t>B. Non-</a:t>
            </a:r>
            <a:r>
              <a:rPr lang="en-US" sz="1800" dirty="0" err="1" smtClean="0"/>
              <a:t>maleficence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C. Accountability</a:t>
            </a:r>
            <a:br>
              <a:rPr lang="en-US" sz="1800" dirty="0" smtClean="0"/>
            </a:br>
            <a:r>
              <a:rPr lang="en-US" sz="1800" dirty="0" smtClean="0"/>
              <a:t>D. Professional competence</a:t>
            </a:r>
          </a:p>
          <a:p>
            <a:endParaRPr lang="en-US" sz="1800" dirty="0" smtClean="0"/>
          </a:p>
          <a:p>
            <a:r>
              <a:rPr lang="en-US" sz="1800" b="1" dirty="0" smtClean="0"/>
              <a:t>4.</a:t>
            </a:r>
            <a:r>
              <a:rPr lang="en-US" sz="1800" dirty="0" smtClean="0"/>
              <a:t>In ethical decision-making, the “moral intensity” of an issue is LEAST influenced by:</a:t>
            </a:r>
            <a:br>
              <a:rPr lang="en-US" sz="1800" dirty="0" smtClean="0"/>
            </a:br>
            <a:r>
              <a:rPr lang="en-US" sz="1800" dirty="0" smtClean="0"/>
              <a:t>A. Magnitude of consequences</a:t>
            </a:r>
            <a:br>
              <a:rPr lang="en-US" sz="1800" dirty="0" smtClean="0"/>
            </a:br>
            <a:r>
              <a:rPr lang="en-US" sz="1800" dirty="0" smtClean="0"/>
              <a:t>B. Social consensus</a:t>
            </a:r>
            <a:br>
              <a:rPr lang="en-US" sz="1800" dirty="0" smtClean="0"/>
            </a:br>
            <a:r>
              <a:rPr lang="en-US" sz="1800" dirty="0" smtClean="0"/>
              <a:t>C. Probability of effect</a:t>
            </a:r>
            <a:br>
              <a:rPr lang="en-US" sz="1800" dirty="0" smtClean="0"/>
            </a:br>
            <a:r>
              <a:rPr lang="en-US" sz="1800" dirty="0" smtClean="0"/>
              <a:t>D. Organizational hierarchy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72" y="1334950"/>
            <a:ext cx="7358114" cy="3662541"/>
          </a:xfrm>
        </p:spPr>
        <p:txBody>
          <a:bodyPr/>
          <a:lstStyle/>
          <a:p>
            <a:r>
              <a:rPr lang="en-US" sz="1800" b="1" dirty="0" smtClean="0"/>
              <a:t>5.</a:t>
            </a:r>
            <a:r>
              <a:rPr lang="en-US" sz="1800" dirty="0" smtClean="0"/>
              <a:t>Which concept emphasizes creating systems where employees are encouraged to act ethically through shared values rather than strict rules?</a:t>
            </a:r>
            <a:br>
              <a:rPr lang="en-US" sz="1800" dirty="0" smtClean="0"/>
            </a:br>
            <a:r>
              <a:rPr lang="en-US" sz="1800" dirty="0" smtClean="0"/>
              <a:t>A. Regulatory ethics</a:t>
            </a:r>
            <a:br>
              <a:rPr lang="en-US" sz="1800" dirty="0" smtClean="0"/>
            </a:br>
            <a:r>
              <a:rPr lang="en-US" sz="1800" dirty="0" smtClean="0"/>
              <a:t>B. Compliance-based ethics</a:t>
            </a:r>
            <a:br>
              <a:rPr lang="en-US" sz="1800" dirty="0" smtClean="0"/>
            </a:br>
            <a:r>
              <a:rPr lang="en-US" sz="1800" dirty="0" smtClean="0"/>
              <a:t>C. Integrity-based ethics</a:t>
            </a:r>
            <a:br>
              <a:rPr lang="en-US" sz="1800" dirty="0" smtClean="0"/>
            </a:br>
            <a:r>
              <a:rPr lang="en-US" sz="1800" dirty="0" smtClean="0"/>
              <a:t>D. Utilitarian ethics</a:t>
            </a:r>
          </a:p>
          <a:p>
            <a:endParaRPr lang="en-US" sz="1800" dirty="0" smtClean="0"/>
          </a:p>
          <a:p>
            <a:r>
              <a:rPr lang="en-US" sz="1800" b="1" dirty="0" smtClean="0"/>
              <a:t>6.</a:t>
            </a:r>
            <a:r>
              <a:rPr lang="en-US" sz="1800" dirty="0" smtClean="0"/>
              <a:t>In IT professional ethics, “due diligence” primarily refers to:</a:t>
            </a:r>
            <a:br>
              <a:rPr lang="en-US" sz="1800" dirty="0" smtClean="0"/>
            </a:br>
            <a:r>
              <a:rPr lang="en-US" sz="1800" dirty="0" smtClean="0"/>
              <a:t>A. Completing tasks quickly</a:t>
            </a:r>
            <a:br>
              <a:rPr lang="en-US" sz="1800" dirty="0" smtClean="0"/>
            </a:br>
            <a:r>
              <a:rPr lang="en-US" sz="1800" dirty="0" smtClean="0"/>
              <a:t>B. Ensuring thoroughness and responsibility in actions</a:t>
            </a:r>
            <a:br>
              <a:rPr lang="en-US" sz="1800" dirty="0" smtClean="0"/>
            </a:br>
            <a:r>
              <a:rPr lang="en-US" sz="1800" dirty="0" smtClean="0"/>
              <a:t>C. Following only legal requirements</a:t>
            </a:r>
            <a:br>
              <a:rPr lang="en-US" sz="1800" dirty="0" smtClean="0"/>
            </a:br>
            <a:r>
              <a:rPr lang="en-US" sz="1800" dirty="0" smtClean="0"/>
              <a:t>D. Delegating tasks efficiently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348" y="1334950"/>
            <a:ext cx="6447944" cy="4001095"/>
          </a:xfrm>
        </p:spPr>
        <p:txBody>
          <a:bodyPr/>
          <a:lstStyle/>
          <a:p>
            <a:r>
              <a:rPr lang="en-US" sz="1800" b="1" dirty="0" smtClean="0"/>
              <a:t>7.</a:t>
            </a:r>
            <a:r>
              <a:rPr lang="en-US" sz="1800" dirty="0" smtClean="0"/>
              <a:t>Which of the following BEST illustrates ethical behavior in information technology?</a:t>
            </a:r>
            <a:br>
              <a:rPr lang="en-US" sz="1800" dirty="0" smtClean="0"/>
            </a:br>
            <a:r>
              <a:rPr lang="en-US" sz="1800" dirty="0" smtClean="0"/>
              <a:t>A. Using open-source code without attribution</a:t>
            </a:r>
            <a:br>
              <a:rPr lang="en-US" sz="1800" dirty="0" smtClean="0"/>
            </a:br>
            <a:r>
              <a:rPr lang="en-US" sz="1800" dirty="0" smtClean="0"/>
              <a:t>B. Sharing passwords for convenience</a:t>
            </a:r>
            <a:br>
              <a:rPr lang="en-US" sz="1800" dirty="0" smtClean="0"/>
            </a:br>
            <a:r>
              <a:rPr lang="en-US" sz="1800" dirty="0" smtClean="0"/>
              <a:t>C. Reporting system vulnerabilities responsibly</a:t>
            </a:r>
            <a:br>
              <a:rPr lang="en-US" sz="1800" dirty="0" smtClean="0"/>
            </a:br>
            <a:r>
              <a:rPr lang="en-US" sz="1800" dirty="0" smtClean="0"/>
              <a:t>D. Ignoring outdated security protocols</a:t>
            </a:r>
          </a:p>
          <a:p>
            <a:endParaRPr lang="en-US" sz="1800" dirty="0" smtClean="0"/>
          </a:p>
          <a:p>
            <a:r>
              <a:rPr lang="en-US" sz="1800" b="1" dirty="0" smtClean="0"/>
              <a:t>8.</a:t>
            </a:r>
            <a:r>
              <a:rPr lang="en-US" sz="1800" dirty="0" smtClean="0"/>
              <a:t>Women empowerment in ethical IT practices primarily aims to:</a:t>
            </a:r>
            <a:br>
              <a:rPr lang="en-US" sz="1800" dirty="0" smtClean="0"/>
            </a:br>
            <a:r>
              <a:rPr lang="en-US" sz="1800" dirty="0" smtClean="0"/>
              <a:t>A. Increase workforce size</a:t>
            </a:r>
            <a:br>
              <a:rPr lang="en-US" sz="1800" dirty="0" smtClean="0"/>
            </a:br>
            <a:r>
              <a:rPr lang="en-US" sz="1800" dirty="0" smtClean="0"/>
              <a:t>B. Ensure equal opportunities and reduce bias</a:t>
            </a:r>
            <a:br>
              <a:rPr lang="en-US" sz="1800" dirty="0" smtClean="0"/>
            </a:br>
            <a:r>
              <a:rPr lang="en-US" sz="1800" dirty="0" smtClean="0"/>
              <a:t>C. Improve company profits</a:t>
            </a:r>
            <a:br>
              <a:rPr lang="en-US" sz="1800" dirty="0" smtClean="0"/>
            </a:br>
            <a:r>
              <a:rPr lang="en-US" sz="1800" dirty="0" smtClean="0"/>
              <a:t>D. Reduce training costs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7"/>
            <a:ext cx="7086600" cy="8254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786" y="1071546"/>
            <a:ext cx="6376506" cy="3939540"/>
          </a:xfrm>
        </p:spPr>
        <p:txBody>
          <a:bodyPr/>
          <a:lstStyle/>
          <a:p>
            <a:r>
              <a:rPr lang="en-US" sz="1800" b="1" dirty="0" smtClean="0"/>
              <a:t>9.</a:t>
            </a:r>
            <a:r>
              <a:rPr lang="en-US" sz="1800" dirty="0" smtClean="0"/>
              <a:t>A company collects user data without explicit consent but uses it to improve services. This raises concerns primarily related to:</a:t>
            </a:r>
            <a:br>
              <a:rPr lang="en-US" sz="1800" dirty="0" smtClean="0"/>
            </a:br>
            <a:r>
              <a:rPr lang="en-US" sz="1800" dirty="0" smtClean="0"/>
              <a:t>A. Intellectual property</a:t>
            </a:r>
            <a:br>
              <a:rPr lang="en-US" sz="1800" dirty="0" smtClean="0"/>
            </a:br>
            <a:r>
              <a:rPr lang="en-US" sz="1800" dirty="0" smtClean="0"/>
              <a:t>B. Ethical transparency and consent</a:t>
            </a:r>
            <a:br>
              <a:rPr lang="en-US" sz="1800" dirty="0" smtClean="0"/>
            </a:br>
            <a:r>
              <a:rPr lang="en-US" sz="1800" dirty="0" smtClean="0"/>
              <a:t>C. Business profitability</a:t>
            </a:r>
            <a:br>
              <a:rPr lang="en-US" sz="1800" dirty="0" smtClean="0"/>
            </a:br>
            <a:r>
              <a:rPr lang="en-US" sz="1800" dirty="0" smtClean="0"/>
              <a:t>D. </a:t>
            </a:r>
            <a:r>
              <a:rPr lang="en-US" sz="1800" smtClean="0"/>
              <a:t>Technical feasibility</a:t>
            </a:r>
          </a:p>
          <a:p>
            <a:endParaRPr lang="en-US" sz="1800" dirty="0" smtClean="0"/>
          </a:p>
          <a:p>
            <a:r>
              <a:rPr lang="en-US" sz="1800" b="1" dirty="0" smtClean="0"/>
              <a:t>10.</a:t>
            </a:r>
            <a:r>
              <a:rPr lang="en-US" sz="1800" dirty="0" smtClean="0"/>
              <a:t>A developer refuses to implement a feature that invades user privacy, despite management pressure. This action is an example of:</a:t>
            </a:r>
            <a:br>
              <a:rPr lang="en-US" sz="1800" dirty="0" smtClean="0"/>
            </a:br>
            <a:r>
              <a:rPr lang="en-US" sz="1800" dirty="0" smtClean="0"/>
              <a:t>A. Ethical egoism</a:t>
            </a:r>
            <a:br>
              <a:rPr lang="en-US" sz="1800" dirty="0" smtClean="0"/>
            </a:br>
            <a:r>
              <a:rPr lang="en-US" sz="1800" dirty="0" smtClean="0"/>
              <a:t>B. Professional integrity</a:t>
            </a:r>
            <a:br>
              <a:rPr lang="en-US" sz="1800" dirty="0" smtClean="0"/>
            </a:br>
            <a:r>
              <a:rPr lang="en-US" sz="1800" dirty="0" smtClean="0"/>
              <a:t>C. Legal compliance</a:t>
            </a:r>
            <a:br>
              <a:rPr lang="en-US" sz="1800" dirty="0" smtClean="0"/>
            </a:br>
            <a:r>
              <a:rPr lang="en-US" sz="1800" dirty="0" smtClean="0"/>
              <a:t>D. Cultural relativism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</TotalTime>
  <Words>640</Words>
  <Application>Microsoft Office PowerPoint</Application>
  <PresentationFormat>On-screen Show (4:3)</PresentationFormat>
  <Paragraphs>118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CSE332 Industrial Ethics and Legal Issues</vt:lpstr>
      <vt:lpstr>ETH ICS  IN  INFORMATION       TECHNOLOGY</vt:lpstr>
      <vt:lpstr>Profession</vt:lpstr>
      <vt:lpstr>Professional Employee</vt:lpstr>
      <vt:lpstr>Slide 5</vt:lpstr>
      <vt:lpstr>Are IT Workers Professionals?</vt:lpstr>
      <vt:lpstr>Common Ethical Issues For IT Users</vt:lpstr>
      <vt:lpstr>Business Software Alliance (BSA)</vt:lpstr>
      <vt:lpstr>Slide 9</vt:lpstr>
      <vt:lpstr>Slide 10</vt:lpstr>
      <vt:lpstr>Supporting the Ethical Practices</vt:lpstr>
      <vt:lpstr>Women Empowerment</vt:lpstr>
      <vt:lpstr>Slide 13</vt:lpstr>
      <vt:lpstr>Slide 14</vt:lpstr>
      <vt:lpstr>Slide 15</vt:lpstr>
      <vt:lpstr>Ethical Aspects of Engineering Practices</vt:lpstr>
      <vt:lpstr>Slide 17</vt:lpstr>
      <vt:lpstr>Slide 18</vt:lpstr>
      <vt:lpstr>Slide 19</vt:lpstr>
      <vt:lpstr>Slide 20</vt:lpstr>
      <vt:lpstr>Recent Trends in Women Empowerment and Ethics</vt:lpstr>
      <vt:lpstr> MCQ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HP</cp:lastModifiedBy>
  <cp:revision>21</cp:revision>
  <dcterms:created xsi:type="dcterms:W3CDTF">2025-01-19T10:10:46Z</dcterms:created>
  <dcterms:modified xsi:type="dcterms:W3CDTF">2026-03-23T07:26:56Z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