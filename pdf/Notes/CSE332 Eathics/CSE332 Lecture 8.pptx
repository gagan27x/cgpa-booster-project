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316" r:id="rId3"/>
    <p:sldId id="346" r:id="rId4"/>
    <p:sldId id="358" r:id="rId5"/>
    <p:sldId id="347" r:id="rId6"/>
    <p:sldId id="349" r:id="rId7"/>
    <p:sldId id="350" r:id="rId8"/>
    <p:sldId id="351" r:id="rId9"/>
    <p:sldId id="353" r:id="rId10"/>
    <p:sldId id="359" r:id="rId11"/>
    <p:sldId id="360" r:id="rId12"/>
    <p:sldId id="354" r:id="rId13"/>
    <p:sldId id="355" r:id="rId14"/>
    <p:sldId id="356" r:id="rId15"/>
    <p:sldId id="357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58" autoAdjust="0"/>
    <p:restoredTop sz="94660"/>
  </p:normalViewPr>
  <p:slideViewPr>
    <p:cSldViewPr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CSE332</a:t>
            </a:r>
            <a:r>
              <a:rPr/>
              <a:t/>
            </a:r>
            <a:br>
              <a:rPr/>
            </a:br>
            <a:r>
              <a:rPr lang="en-US" dirty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09CB284-352B-4A2C-498D-58633AE6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8715C41-80A8-288F-9834-2E9478508FD3}"/>
              </a:ext>
            </a:extLst>
          </p:cNvPr>
          <p:cNvSpPr txBox="1"/>
          <p:nvPr/>
        </p:nvSpPr>
        <p:spPr>
          <a:xfrm>
            <a:off x="911424" y="836712"/>
            <a:ext cx="609790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Stages from filing to grant of a patent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A2958F3-4C30-539E-0040-BF7CF3109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359932"/>
            <a:ext cx="11233247" cy="51654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662561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11636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>
          <a:xfrm>
            <a:off x="1524000" y="2571745"/>
            <a:ext cx="9144000" cy="2686056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The Intellectual Property Appellate Board was </a:t>
            </a:r>
            <a:r>
              <a:rPr lang="en-US" b="1" dirty="0" smtClean="0">
                <a:solidFill>
                  <a:srgbClr val="FF0000"/>
                </a:solidFill>
              </a:rPr>
              <a:t>abolished in 2021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5A24A42-44B1-7CA8-EEAB-B5602A8D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2B863DB-3867-90F3-B4B6-E1656FEEAE4B}"/>
              </a:ext>
            </a:extLst>
          </p:cNvPr>
          <p:cNvSpPr txBox="1"/>
          <p:nvPr/>
        </p:nvSpPr>
        <p:spPr>
          <a:xfrm>
            <a:off x="695400" y="764704"/>
            <a:ext cx="609790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>
                <a:cs typeface="Arial" charset="0"/>
              </a:rPr>
              <a:t>Publication and Examination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ACAC2C0-7040-A0DB-FBF3-16EC9D891B95}"/>
              </a:ext>
            </a:extLst>
          </p:cNvPr>
          <p:cNvSpPr txBox="1"/>
          <p:nvPr/>
        </p:nvSpPr>
        <p:spPr>
          <a:xfrm>
            <a:off x="839416" y="1484784"/>
            <a:ext cx="60979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i="0" u="none" strike="noStrik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Rule24-B:Examination of application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C440C6E-C1C9-E086-8289-41F47894BD41}"/>
              </a:ext>
            </a:extLst>
          </p:cNvPr>
          <p:cNvSpPr txBox="1"/>
          <p:nvPr/>
        </p:nvSpPr>
        <p:spPr>
          <a:xfrm>
            <a:off x="839416" y="2326228"/>
            <a:ext cx="11017224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Examination request for application: </a:t>
            </a:r>
          </a:p>
          <a:p>
            <a:r>
              <a:rPr lang="en-US" sz="2400" dirty="0"/>
              <a:t>1. </a:t>
            </a:r>
            <a:r>
              <a:rPr lang="en-US" sz="2400" b="1" dirty="0">
                <a:solidFill>
                  <a:srgbClr val="FF0000"/>
                </a:solidFill>
              </a:rPr>
              <a:t>48 months </a:t>
            </a:r>
            <a:r>
              <a:rPr lang="en-US" sz="2400" dirty="0"/>
              <a:t>from filing date or </a:t>
            </a:r>
            <a:r>
              <a:rPr lang="en-US" sz="2400" b="1" dirty="0">
                <a:solidFill>
                  <a:srgbClr val="FF0000"/>
                </a:solidFill>
              </a:rPr>
              <a:t>priority date</a:t>
            </a:r>
            <a:r>
              <a:rPr lang="en-US" sz="2400" dirty="0"/>
              <a:t>, whichever or </a:t>
            </a:r>
            <a:r>
              <a:rPr lang="en-US" sz="2400" b="1" dirty="0">
                <a:solidFill>
                  <a:srgbClr val="FF0000"/>
                </a:solidFill>
              </a:rPr>
              <a:t>6 months </a:t>
            </a:r>
            <a:r>
              <a:rPr lang="en-US" sz="2400" dirty="0"/>
              <a:t>from further application filing. </a:t>
            </a:r>
          </a:p>
          <a:p>
            <a:endParaRPr lang="en-US" sz="2400" dirty="0"/>
          </a:p>
          <a:p>
            <a:r>
              <a:rPr lang="en-US" sz="2400" dirty="0"/>
              <a:t>2. Controller refers to Examiner </a:t>
            </a:r>
            <a:r>
              <a:rPr lang="en-US" sz="2400" b="1" dirty="0">
                <a:solidFill>
                  <a:srgbClr val="FF0000"/>
                </a:solidFill>
              </a:rPr>
              <a:t>within 1 month </a:t>
            </a:r>
            <a:r>
              <a:rPr lang="en-US" sz="2400" dirty="0"/>
              <a:t>from publication or examination request receipt date whichever is </a:t>
            </a:r>
            <a:r>
              <a:rPr lang="en-US" sz="2400" b="1" dirty="0">
                <a:solidFill>
                  <a:srgbClr val="FF0000"/>
                </a:solidFill>
              </a:rPr>
              <a:t>earlier.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3. Examiner prepares report </a:t>
            </a:r>
            <a:r>
              <a:rPr lang="en-US" sz="2400" b="1" dirty="0">
                <a:solidFill>
                  <a:srgbClr val="FF0000"/>
                </a:solidFill>
              </a:rPr>
              <a:t>in 1-3 months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2619728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64C2EC3-3A22-5DA5-C100-CB649DA9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B6363D2-9871-FB5A-32C1-5BB3801A6842}"/>
              </a:ext>
            </a:extLst>
          </p:cNvPr>
          <p:cNvSpPr txBox="1"/>
          <p:nvPr/>
        </p:nvSpPr>
        <p:spPr>
          <a:xfrm>
            <a:off x="1847528" y="476672"/>
            <a:ext cx="7105992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A PROCEDURE FROM FILING TO</a:t>
            </a:r>
          </a:p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GRANT OF PATENT (Cont.)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BF4D42D-EC56-BD15-7504-D1E7DD020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1556792"/>
            <a:ext cx="10402752" cy="482453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825595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DF42261-D6BD-3083-4A65-13A2CB52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813FC95-0AA5-EBD2-C236-4A57C9A68BD6}"/>
              </a:ext>
            </a:extLst>
          </p:cNvPr>
          <p:cNvSpPr txBox="1"/>
          <p:nvPr/>
        </p:nvSpPr>
        <p:spPr>
          <a:xfrm>
            <a:off x="2999656" y="476672"/>
            <a:ext cx="7583552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 dirty="0">
                <a:cs typeface="Arial" charset="0"/>
              </a:rPr>
              <a:t> </a:t>
            </a:r>
            <a:r>
              <a:rPr lang="en-US" sz="2800" b="1" dirty="0">
                <a:cs typeface="Arial" charset="0"/>
              </a:rPr>
              <a:t>IMPORTANT FEES IN DIFFERENT PROCEEDINGS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F54A457-1A17-8BFD-269D-080F955A7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23628"/>
            <a:ext cx="10441160" cy="461074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007421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2CB7ACC-4DDD-C224-21A8-4765464E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2D3A186-EF17-8E0A-8751-D257723F86EE}"/>
              </a:ext>
            </a:extLst>
          </p:cNvPr>
          <p:cNvSpPr txBox="1"/>
          <p:nvPr/>
        </p:nvSpPr>
        <p:spPr>
          <a:xfrm>
            <a:off x="4079776" y="476672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latin typeface="Calibri" panose="020F0502020204030204" pitchFamily="34" charset="0"/>
              </a:rPr>
              <a:t>DUTIES OF PATENTEE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318C8C6-B1CD-3D54-B3A9-78929BC0375D}"/>
              </a:ext>
            </a:extLst>
          </p:cNvPr>
          <p:cNvSpPr txBox="1"/>
          <p:nvPr/>
        </p:nvSpPr>
        <p:spPr>
          <a:xfrm>
            <a:off x="623392" y="1196752"/>
            <a:ext cx="10585176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</a:rPr>
              <a:t>Maintenance of the patent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Pay renewal fees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Every year till the end of the term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Time limit: </a:t>
            </a:r>
          </a:p>
          <a:p>
            <a:pPr algn="l"/>
            <a:r>
              <a:rPr lang="en-US" sz="2400" b="1" dirty="0">
                <a:solidFill>
                  <a:srgbClr val="C61200"/>
                </a:solidFill>
              </a:rPr>
              <a:t>      </a:t>
            </a:r>
            <a:r>
              <a:rPr lang="en-US" sz="2400" b="1" i="0" u="none" strike="noStrike" baseline="0" dirty="0">
                <a:solidFill>
                  <a:srgbClr val="C61200"/>
                </a:solidFill>
              </a:rPr>
              <a:t>before end of the </a:t>
            </a:r>
            <a:r>
              <a:rPr lang="en-US" sz="2400" b="1" i="0" u="none" strike="noStrike" baseline="0" dirty="0" err="1">
                <a:solidFill>
                  <a:srgbClr val="C61200"/>
                </a:solidFill>
              </a:rPr>
              <a:t>preceeding</a:t>
            </a:r>
            <a:r>
              <a:rPr lang="en-US" sz="2400" b="1" i="0" u="none" strike="noStrike" baseline="0" dirty="0">
                <a:solidFill>
                  <a:srgbClr val="C61200"/>
                </a:solidFill>
              </a:rPr>
              <a:t> year ( 6months extn. Available )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DCA1F8D-BF0B-B89C-FB12-C6FABA0A7309}"/>
              </a:ext>
            </a:extLst>
          </p:cNvPr>
          <p:cNvSpPr txBox="1"/>
          <p:nvPr/>
        </p:nvSpPr>
        <p:spPr>
          <a:xfrm>
            <a:off x="623392" y="3722257"/>
            <a:ext cx="799288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</a:rPr>
              <a:t>Working of the patents: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8600"/>
                </a:solidFill>
              </a:rPr>
              <a:t>Inventions are to be worked in India on commercial scale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1295281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8449DA3-64CB-4E41-A9B8-B751E4C1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4765777-EC52-3FD1-0951-F5109B29CED2}"/>
              </a:ext>
            </a:extLst>
          </p:cNvPr>
          <p:cNvSpPr txBox="1"/>
          <p:nvPr/>
        </p:nvSpPr>
        <p:spPr>
          <a:xfrm>
            <a:off x="3719736" y="476672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Litigation </a:t>
            </a:r>
            <a:r>
              <a:rPr lang="en-US" sz="32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vs 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Licensing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D8BBE63-A59D-C20E-DC89-167E9FF80C76}"/>
              </a:ext>
            </a:extLst>
          </p:cNvPr>
          <p:cNvSpPr txBox="1"/>
          <p:nvPr/>
        </p:nvSpPr>
        <p:spPr>
          <a:xfrm>
            <a:off x="1487488" y="1268760"/>
            <a:ext cx="609790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If the objective is to stop a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competitor from offering a </a:t>
            </a:r>
          </a:p>
          <a:p>
            <a:pPr algn="l"/>
            <a:r>
              <a:rPr lang="en-US" sz="2400" dirty="0">
                <a:solidFill>
                  <a:srgbClr val="C00000"/>
                </a:solidFill>
                <a:latin typeface="Microsoft Sans Serif" panose="020B0604020202020204" pitchFamily="34" charset="0"/>
              </a:rPr>
              <a:t>p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roduct</a:t>
            </a:r>
            <a:r>
              <a:rPr lang="en-US" sz="2400" dirty="0">
                <a:solidFill>
                  <a:srgbClr val="C00000"/>
                </a:solidFill>
                <a:latin typeface="Microsoft Sans Serif" panose="020B06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that infringes one’s patent.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888F511-1D0D-B794-45D3-09A65AB67ACA}"/>
              </a:ext>
            </a:extLst>
          </p:cNvPr>
          <p:cNvSpPr txBox="1"/>
          <p:nvPr/>
        </p:nvSpPr>
        <p:spPr>
          <a:xfrm>
            <a:off x="6672064" y="1268760"/>
            <a:ext cx="6097904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If the objective is to obtain royalty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for the use of one’s invention.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A4BF0B61-9485-7CD2-9DFE-B4DF9E3A1A73}"/>
              </a:ext>
            </a:extLst>
          </p:cNvPr>
          <p:cNvSpPr txBox="1"/>
          <p:nvPr/>
        </p:nvSpPr>
        <p:spPr>
          <a:xfrm>
            <a:off x="983432" y="3167390"/>
            <a:ext cx="638365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chemeClr val="tx1"/>
                </a:solidFill>
              </a:rPr>
              <a:t>Alternatives To Litigation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EE8E4F5-B962-9135-C9EB-E0EC5BA47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4077072"/>
            <a:ext cx="2088232" cy="18722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76A76CF-AC8E-B7B2-6503-5F9F4E4E41F6}"/>
              </a:ext>
            </a:extLst>
          </p:cNvPr>
          <p:cNvSpPr txBox="1"/>
          <p:nvPr/>
        </p:nvSpPr>
        <p:spPr>
          <a:xfrm>
            <a:off x="3935762" y="4228346"/>
            <a:ext cx="792087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</a:rPr>
              <a:t>Litigations are costly, timely, &amp; disruptive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</a:rPr>
              <a:t>Alternative dispute resolutions (ADR) include </a:t>
            </a:r>
            <a:r>
              <a:rPr lang="en-US" sz="2400" b="1" i="0" u="none" strike="noStrike" baseline="0" dirty="0">
                <a:solidFill>
                  <a:schemeClr val="tx1"/>
                </a:solidFill>
              </a:rPr>
              <a:t>Mediation </a:t>
            </a:r>
            <a:r>
              <a:rPr lang="en-US" sz="2400" b="0" i="0" u="none" strike="noStrike" baseline="0" dirty="0">
                <a:solidFill>
                  <a:schemeClr val="tx1"/>
                </a:solidFill>
              </a:rPr>
              <a:t>&amp; </a:t>
            </a:r>
            <a:r>
              <a:rPr lang="en-US" sz="2400" b="1" i="0" u="none" strike="noStrike" baseline="0" dirty="0">
                <a:solidFill>
                  <a:schemeClr val="tx1"/>
                </a:solidFill>
              </a:rPr>
              <a:t>Arbitration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077749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23493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>
          <a:xfrm>
            <a:off x="1524000" y="1500174"/>
            <a:ext cx="9144000" cy="4429155"/>
          </a:xfrm>
        </p:spPr>
        <p:txBody>
          <a:bodyPr>
            <a:normAutofit fontScale="92500"/>
          </a:bodyPr>
          <a:lstStyle/>
          <a:p>
            <a:pPr algn="l"/>
            <a:r>
              <a:rPr lang="en-US" dirty="0" smtClean="0"/>
              <a:t>ADR refers to </a:t>
            </a:r>
            <a:r>
              <a:rPr lang="en-US" b="1" dirty="0" smtClean="0"/>
              <a:t>methods of resolving disputes without going to court</a:t>
            </a:r>
            <a:r>
              <a:rPr lang="en-US" dirty="0" smtClean="0"/>
              <a:t>.</a:t>
            </a:r>
          </a:p>
          <a:p>
            <a:pPr algn="l"/>
            <a:r>
              <a:rPr lang="en-US" b="1" dirty="0" smtClean="0"/>
              <a:t>Common types:</a:t>
            </a:r>
          </a:p>
          <a:p>
            <a:pPr algn="l"/>
            <a:r>
              <a:rPr lang="en-US" b="1" dirty="0" smtClean="0"/>
              <a:t>1. 🤝 Mediation</a:t>
            </a:r>
          </a:p>
          <a:p>
            <a:pPr algn="l"/>
            <a:r>
              <a:rPr lang="en-US" dirty="0" smtClean="0"/>
              <a:t>A neutral third party (</a:t>
            </a:r>
            <a:r>
              <a:rPr lang="en-US" b="1" dirty="0" smtClean="0"/>
              <a:t>mediator</a:t>
            </a:r>
            <a:r>
              <a:rPr lang="en-US" dirty="0" smtClean="0"/>
              <a:t>) helps both sides reach a </a:t>
            </a:r>
            <a:r>
              <a:rPr lang="en-US" b="1" dirty="0" smtClean="0"/>
              <a:t>mutual agreement</a:t>
            </a:r>
            <a:r>
              <a:rPr lang="en-US" dirty="0" smtClean="0"/>
              <a:t> </a:t>
            </a:r>
          </a:p>
          <a:p>
            <a:pPr algn="l"/>
            <a:r>
              <a:rPr lang="en-US" b="1" dirty="0" smtClean="0"/>
              <a:t>Non-binding</a:t>
            </a:r>
            <a:r>
              <a:rPr lang="en-US" dirty="0" smtClean="0"/>
              <a:t> (decision is not imposed) </a:t>
            </a:r>
            <a:endParaRPr lang="en-US" dirty="0" smtClean="0"/>
          </a:p>
          <a:p>
            <a:pPr algn="l"/>
            <a:r>
              <a:rPr lang="en-US" b="1" dirty="0" smtClean="0"/>
              <a:t>Features</a:t>
            </a:r>
            <a:r>
              <a:rPr lang="en-US" b="1" dirty="0" smtClean="0"/>
              <a:t>:</a:t>
            </a:r>
          </a:p>
          <a:p>
            <a:pPr algn="l"/>
            <a:r>
              <a:rPr lang="en-US" dirty="0" smtClean="0"/>
              <a:t>Informal </a:t>
            </a:r>
          </a:p>
          <a:p>
            <a:pPr algn="l"/>
            <a:r>
              <a:rPr lang="en-US" dirty="0" smtClean="0"/>
              <a:t>Confidential </a:t>
            </a:r>
          </a:p>
          <a:p>
            <a:pPr algn="l"/>
            <a:r>
              <a:rPr lang="en-US" dirty="0" smtClean="0"/>
              <a:t>Faster and cheaper </a:t>
            </a:r>
          </a:p>
          <a:p>
            <a:pPr algn="l"/>
            <a:r>
              <a:rPr lang="en-US" dirty="0" smtClean="0"/>
              <a:t>Preserves relationships </a:t>
            </a:r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778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>
          <a:xfrm>
            <a:off x="1524000" y="1643050"/>
            <a:ext cx="9144000" cy="3929089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/>
              <a:t>2. ⚖️ Arbitration</a:t>
            </a:r>
          </a:p>
          <a:p>
            <a:pPr algn="l"/>
            <a:r>
              <a:rPr lang="en-US" dirty="0" smtClean="0"/>
              <a:t>Dispute is decided by an </a:t>
            </a:r>
            <a:r>
              <a:rPr lang="en-US" b="1" dirty="0" smtClean="0"/>
              <a:t>arbitrator</a:t>
            </a:r>
            <a:r>
              <a:rPr lang="en-US" dirty="0" smtClean="0"/>
              <a:t> </a:t>
            </a:r>
          </a:p>
          <a:p>
            <a:pPr algn="l"/>
            <a:r>
              <a:rPr lang="en-US" b="1" dirty="0" smtClean="0"/>
              <a:t>Binding decision</a:t>
            </a:r>
            <a:r>
              <a:rPr lang="en-US" dirty="0" smtClean="0"/>
              <a:t> (called an </a:t>
            </a:r>
            <a:r>
              <a:rPr lang="en-US" i="1" dirty="0" smtClean="0"/>
              <a:t>award</a:t>
            </a:r>
            <a:r>
              <a:rPr lang="en-US" dirty="0" smtClean="0"/>
              <a:t>) </a:t>
            </a:r>
          </a:p>
          <a:p>
            <a:pPr algn="l"/>
            <a:r>
              <a:rPr lang="en-US" dirty="0" smtClean="0"/>
              <a:t>👉 Features:</a:t>
            </a:r>
          </a:p>
          <a:p>
            <a:pPr algn="l"/>
            <a:r>
              <a:rPr lang="en-US" dirty="0" smtClean="0"/>
              <a:t>More formal than mediation </a:t>
            </a:r>
          </a:p>
          <a:p>
            <a:pPr algn="l"/>
            <a:r>
              <a:rPr lang="en-US" dirty="0" smtClean="0"/>
              <a:t>Faster than court </a:t>
            </a:r>
          </a:p>
          <a:p>
            <a:pPr algn="l"/>
            <a:r>
              <a:rPr lang="en-US" dirty="0" smtClean="0"/>
              <a:t>Decision is enforceable like a court judgment</a:t>
            </a:r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52068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>
          <a:xfrm>
            <a:off x="1524000" y="2143117"/>
            <a:ext cx="9144000" cy="3114684"/>
          </a:xfrm>
        </p:spPr>
        <p:txBody>
          <a:bodyPr/>
          <a:lstStyle/>
          <a:p>
            <a:pPr algn="l"/>
            <a:r>
              <a:rPr lang="en-US" b="1" dirty="0" err="1" smtClean="0"/>
              <a:t>SciSpace</a:t>
            </a:r>
            <a:endParaRPr lang="en-US" b="1" dirty="0" smtClean="0"/>
          </a:p>
          <a:p>
            <a:pPr algn="l"/>
            <a:r>
              <a:rPr lang="en-US" b="1" dirty="0" smtClean="0"/>
              <a:t>Best for:</a:t>
            </a:r>
            <a:r>
              <a:rPr lang="en-US" dirty="0" smtClean="0"/>
              <a:t> Understanding technical papers</a:t>
            </a:r>
          </a:p>
          <a:p>
            <a:pPr algn="l"/>
            <a:r>
              <a:rPr lang="en-US" dirty="0" smtClean="0"/>
              <a:t>Use it to:</a:t>
            </a:r>
          </a:p>
          <a:p>
            <a:pPr algn="l"/>
            <a:r>
              <a:rPr lang="en-US" dirty="0" smtClean="0"/>
              <a:t>Read research papers quickly </a:t>
            </a:r>
          </a:p>
          <a:p>
            <a:pPr algn="l"/>
            <a:r>
              <a:rPr lang="en-US" dirty="0" smtClean="0"/>
              <a:t>Identify unsolved problems (great for patent ideas)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52068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>
          <a:xfrm>
            <a:off x="1524000" y="2071679"/>
            <a:ext cx="9144000" cy="3186122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/>
              <a:t>Lens.org</a:t>
            </a:r>
          </a:p>
          <a:p>
            <a:pPr algn="l"/>
            <a:r>
              <a:rPr lang="en-US" b="1" dirty="0" smtClean="0"/>
              <a:t>Best for:</a:t>
            </a:r>
            <a:r>
              <a:rPr lang="en-US" dirty="0" smtClean="0"/>
              <a:t> Finding research + patent gaps</a:t>
            </a:r>
          </a:p>
          <a:p>
            <a:pPr algn="l"/>
            <a:r>
              <a:rPr lang="en-US" b="1" dirty="0" smtClean="0"/>
              <a:t>Why it’s powerful:</a:t>
            </a:r>
            <a:endParaRPr lang="en-US" dirty="0" smtClean="0"/>
          </a:p>
          <a:p>
            <a:pPr algn="l"/>
            <a:r>
              <a:rPr lang="en-US" dirty="0" smtClean="0"/>
              <a:t>Combines academic papers + patents </a:t>
            </a:r>
          </a:p>
          <a:p>
            <a:pPr algn="l"/>
            <a:r>
              <a:rPr lang="en-US" dirty="0" smtClean="0"/>
              <a:t>Helps identify areas where innovation is needed </a:t>
            </a:r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333</Words>
  <Application>Microsoft Office PowerPoint</Application>
  <PresentationFormat>Custom</PresentationFormat>
  <Paragraphs>61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34</cp:revision>
  <dcterms:modified xsi:type="dcterms:W3CDTF">2026-04-03T03:46:44Z</dcterms:modified>
</cp:coreProperties>
</file>