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5196" autoAdjust="0"/>
  </p:normalViewPr>
  <p:slideViewPr>
    <p:cSldViewPr snapToGrid="0" snapToObjects="1">
      <p:cViewPr varScale="1">
        <p:scale>
          <a:sx n="98" d="100"/>
          <a:sy n="98" d="100"/>
        </p:scale>
        <p:origin x="-60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985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 Slide
• Welcome to Unit IV — the most practical unit in the entire course.
• This unit teaches students HOW to actually plan and launch a startup in the IT sector.
• The structure follows a real Business Plan document — the same format used by entrepreneurs when pitching to investors and banks.
• Tell students: "By the end of this unit, you will be able to write a basic IT startup business plan."
• CO4: Apply startup planning techniques to develop an IT business plan.
• Connect to Unit III: "We learned WHERE to get funding. Now we learn HOW to plan the business that will receive that funding."
📝 KEY POINTS FOR NOTEBOOKS:
• Unit IV covers: Executive Summary, Company Description, Products &amp; Services, Marketing Plan, Operations, Management, Financials, Examples of Successful Startups.
• CO4 Outcome: Apply startup planning techniques to develop an IT business plan.
• A Business Plan is a written document describing a business's goals and the strategies to achieve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IV Roadmap
• A Business Plan has 10 standard components. Walk students through this roadmap before diving in.
• Analogy: "A business plan is to a startup what a blueprint is to a building. You don't start construction without a blueprint."
• Emphasize: Investors, banks (MUDRA/SIDBI from Unit III), and accelerators (NASSCOM from Unit III) ALL ask for a business plan before giving money.
• The 10 sections we cover follow the standard SBA (Small Business Administration) format — globally accepted.
📝 KEY POINTS FOR NOTEBOOKS:
• 10 Components of an IT Startup Business Plan:
  1. Executive Summary, 2. Company Description, 3. Products &amp; Services, 4. Marketing Plan,
  5. Operational Plan, 6. Management &amp; Organization, 7. Personal Financial Statement,
  8. Startup Expenses &amp; Capitalization, 9. Financial Plan, 10. Appendices
• A business plan serves 3 purposes: (1) Roadmap for founders, (2) Tool to attract investors, (3) Required for bank loans.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What is a Business Plan?
• A Business Plan is NOT just a document for getting loans. It helps the founders themselves think clearly about their business.
• Statistic: Studies show startups WITH a business plan are 2.5x more likely to succeed than those without one.
• Key principle: A business plan forces you to think through your ASSUMPTIONS before spending money.
• Example: Before Flipkart's first line of code, Sachin &amp; Binny Bansal wrote a business plan that convinced investors the Indian e-commerce market was ready.
• Tell students: Even in your final year projects, writing a mini business plan before coding saves massive time. It's the same principle.
• Three types of business plans: (1) Summary plan (~5 pages, for early discussions), (2) Full plan (20-40 pages, for investors/banks), (3) Operational plan (internal document, very detailed).
📝 KEY POINTS FOR NOTEBOOKS:
• Definition: A Business Plan is a written document that describes a business's goals, strategies, market, financial position, and operational plan.
• Why write one? (1) Roadmap for the team, (2) Investor presentation tool, (3) Bank loan requirement, (4) Identifies risks early.
• Types: Summary Plan | Full Business Plan | Operational Plan
• Statistic: Startups with a business plan are 2.5x more likely to get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Executive Summary
• The Executive Summary is WRITTEN LAST but placed FIRST in the business plan. This is a common exam question!
• Why last? Because you can only summarize what you've fully thought through. It's like writing an abstract after writing the research paper.
• The "elevator pitch" analogy: If you had 60 seconds in an elevator with a venture capitalist, what would you say? That's your executive summary.
• Length: 1-2 pages maximum. If an investor reads only ONE section, it should be this.
• Key rule: The executive summary must make the reader want to read MORE. It's a hook, not a complete story.
• Real Example: When Airbnb pitched to investors in 2009, their executive summary was simple: "Book rooms with locals, rather than hotels." That simplicity conveyed the entire value proposition.
📝 KEY POINTS FOR NOTEBOOKS:
• Executive Summary = Overview of the entire business plan (written LAST, placed FIRST)
• Length: 1-2 pages | Must be compelling enough to make investors read further
• Must include: Business concept, Value proposition, Target market, Revenue model, Funding required, Key team members, Financial highlights
• Tip for exam: "Executive Summary is written last but placed first in the business plan."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General Company Description
• This section answers: "Who are you as a company?" — beyond just your product.
• Mission vs Vision distinction is important:
  - Mission: What you DO today (present tense) — "We provide affordable cloud storage for Indian SMEs"
  - Vision: What you want to BECOME (future tense) — "To be India's #1 data infrastructure company by 2030"
• Business type matters for legal and tax reasons (covered in Unit III): Sole Proprietorship, Partnership, LLP, Private Limited Company.
• For tech startups: Pvt Ltd is most common because it allows equity distribution to employees (ESOPs) and investors.
• Core competencies = your "unfair advantages." What can you do better than anyone else?
• Real Example: Zoho's mission — "We are a software company and a process of doing business." — Simple but powerful.
📝 KEY POINTS FOR NOTEBOOKS:
• Company Description includes: Legal name, Business type, Location, Mission, Vision, Business objectives, Core competencies.
• Mission Statement: What the company does TODAY (present-focused)
• Vision Statement: What the company aims to BECOME (future-focused)
• Business Types: Sole Proprietorship | Partnership | LLP | Private Limited Company
• Core Competency = What you do better than competitors (your unfair advantage)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Products &amp; Services
• This section describes WHAT you sell — in detail — and WHY customers should choose it over competitors.
• Value Proposition Canvas: Two key sides — Customer Profile (jobs, pains, gains) and Value Map (products, pain relievers, gain creators). Teach this framework.
• IT Products vs IT Services distinction:
  - Products: SaaS software, mobile apps, hardware devices, AI tools
  - Services: Consulting, development, BPO, tech support, training
• IP is critical here — if you have a patent or proprietary technology, mention it (connects to Unit II of this course).
• Pricing models in IT: SaaS Subscription (monthly/annual), Freemium, Pay-per-use, Enterprise licensing, One-time purchase.
• Real Example: Zoho charges ₹720/user/month for Zoho One (40+ apps). Competitors charge 5x more. That pricing IS their product differentiation.
📝 KEY POINTS FOR NOTEBOOKS:
• Products &amp; Services section must include: Description, USP (Unique Selling Proposition), Value proposition, Competitive advantage, IP/patents, Pricing model, Development stage.
• IT Revenue Models: SaaS Subscription | Freemium | Pay-per-use | Licensing | One-time sale | API fees
• USP = Unique Selling Proposition — the ONE thing that makes your product different
• Value Proposition = How your product creates value for the customer (solves pain or creates gain)
• Development stages: Concept → Prototype → Beta → Launch →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Marketing Plan
• The Marketing Plan is one of the most tested topics in the university exam for this unit.
• 4 Ps Framework: Product, Price, Place, Promotion — students must know all four for IT context.
• Market Segmentation: Geographic, Demographic, Psychographic, Behavioral.
• TAM/SAM/SOM framework is used by VCs to evaluate the market opportunity:
  - TAM = Total Addressable Market (everyone who could ever use your product globally)
  - SAM = Serviceable Addressable Market (realistic segment you can target)
  - SOM = Serviceable Obtainable Market (realistic market share you can WIN in 3 years)
• For IT startups: Digital marketing (SEO, content, social, PPC) is far more cost-effective than traditional advertising.
• Competitive analysis tools: Porter's 5 Forces, SWOT Analysis, Competitor matrix.
• Real Example: Zoho's marketing strategy = ZERO paid advertising. They rely entirely on word-of-mouth, product-led growth, and content marketing. Yet they compete with Salesforce (which spends $3B on marketing).
📝 KEY POINTS FOR NOTEBOOKS:
• Marketing Plan must include: Market analysis, Target market, TAM/SAM/SOM, Competitive analysis, 4Ps strategy, Pricing strategy.
• 4Ps for IT: Product (features/USP) | Price (subscription/freemium) | Place (web/app stores/B2B sales) | Promotion (digital marketing/SEO/demos)
• TAM = Total Addressable Market | SAM = Serviceable Addressable Market | SOM = Serviceable Obtainable Market
• SWOT Analysis: Strengths, Weaknesses, Opportunities, Threats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Operational Plan
• The Operational Plan describes HOW the business will run on a day-to-day basis.
• For an IT startup, operations involve: software development lifecycle, QA, deployment, customer support, data security, and scaling infrastructure.
• SDLC in operational plan: Agile is now the standard for IT startups. Scrum sprints (2-week cycles), daily standups, retrospectives.
• Key infrastructure decisions: Cloud vs On-premise. Most IT startups choose cloud (AWS/Azure/GCP) for scalability and cost efficiency.
• Technology stack decision is part of operations: What programming languages, frameworks, databases, APIs will you use?
• Compliance and data privacy (PDPB — Personal Data Protection Bill, India) is now an OPERATIONAL requirement for IT startups.
• Real Example: Swiggy's operational plan includes not just their app — but delivery partner management, restaurant partner onboarding, cloud kitchen operations, and real-time logistics tracking. Each is a separate operational subsystem.
📝 KEY POINTS FOR NOTEBOOKS:
• Operational Plan answers: HOW will the business run every day?
• Key IT operations: Development process (Agile/Scrum), Infrastructure (Cloud/On-premise), QA &amp; Testing, Customer Support, Data Security.
• Location strategy: Physical office vs Remote-first vs Co-working space
• SDLC Stages: Requirements → Design → Development → Testing → Deployment → Maintenance
• Regulatory compliance: PDPB (Data Privacy), ISO 27001 (Security), GDPR (if serving EU customers)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Management &amp; Organization
• "People invest in people, not just ideas." — This is a VC credo. The management team section is often the MOST SCRUTINIZED by investors.
• Investors back the team because great teams can pivot through problems; weak teams fail even with great ideas.
• For IT startups, the ideal founding team has: Technical co-founder (CTO) + Business co-founder (CEO/CMO) + Domain expert.
• Board of Advisors vs Board of Directors: Advisors give advice and guidance (no legal liability). Directors have fiduciary duties and legal responsibilities.
• Org chart for early-stage IT startup: CEO → CTO → Engineering team / CEO → CMO → Marketing / CEO → CFO → Finance.
• ESOPs (Employee Stock Option Plans): A common way IT startups attract top talent without cash. Give employees equity that vests over 4 years.
• Real Example: Infosys founding team — Narayana Murthy (CEO), Nandan Nilekani (President), Kris Gopalakrishnan, S.D. Shibulal, and others. 7 co-founders, complementary skills. That team balance is what made them a $100B company.
📝 KEY POINTS FOR NOTEBOOKS:
• Management team section: Who runs the company? What are their qualifications? Roles &amp; responsibilities.
• Key roles in IT startup: CEO (vision), CTO (technology), CMO (marketing), CFO (finance), CPO (product).
• Board of Advisors: Industry experts who provide guidance (no equity typically, may get advisory stock).
• ESOP = Employee Stock Option Plan: Right to buy company shares at a fixed price (typically 4-year vesting schedule).
• Organizational chart shows reporting structure and helps investors understand how the company operates.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Personal Financial Statement &amp; Startup Expenses
• These two sections are often tested together in exams.
• Personal Financial Statement: Banks ask founders to provide their PERSONAL financial situation to assess creditworthiness.
• Net Worth = Assets - Liabilities. Banks want to see if you have personal assets to guarantee the loan.
• Startup Expenses (Capitalization Table / Cap Table): Lists ALL the money needed before the first sale.
• Two types of startup costs:
  - One-time costs: Legal fees, office setup, equipment, initial inventory/licenses
  - Recurring costs: Salaries, rent, cloud hosting, marketing, software subscriptions
• Working Capital = Current Assets - Current Liabilities. A startup needs at least 6 months of working capital.
• Burn Rate = How much money the startup spends per month before becoming profitable.
• Real Example: When Uber started in 2009, their startup expenses included: Legal ($50K), Server infrastructure ($200K), Marketing ($500K), Driver acquisition ($2M). Total seed round: $200K. They had to be VERY precise about what to spend first.
📝 KEY POINTS FOR NOTEBOOKS:
• Personal Financial Statement: Shows founder's personal Net Worth (Assets - Liabilities). Required by banks for loans.
• Startup Expenses: ALL costs needed BEFORE revenue begins. Includes: legal, equipment, licenses, initial marketing, salaries.
• One-time vs Recurring costs — must distinguish both in the plan.
• Working Capital = Current Assets - Current Liabilities (minimum 6 months recommended)
• Burn Rate = Monthly cash expenditure before profitability
• Capitalization = How you fund startup: Personal savings + Friends/Family + Angel + VC + Bank Loan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Financial Plan
• The Financial Plan is the MOST IMPORTANT section for investors and banks. Numbers don't lie.
• Three core financial documents that every startup must prepare:
  1. Income Statement (P&amp;L) — Revenue, expenses, profit/loss
  2. Cash Flow Statement — Actual cash in and out (different from profit!)
  3. Balance Sheet — Assets, liabilities, and equity at a point in time
• The difference between profit and cash flow is critical: A business can be PROFITABLE but still go bankrupt if cash runs out. This is called a "cash flow problem."
• Break-Even Analysis: The point where Revenue = Total Costs (Fixed + Variable). Before break-even = loss, after = profit.
• Break-Even Formula: Break-Even Units = Fixed Costs ÷ (Selling Price - Variable Cost per Unit)
• Financial projections for 3-5 years are expected. Year 1 = detailed monthly. Years 2-5 = annual projections.
• Key ratios investors look at: Gross Margin %, CAC (Customer Acquisition Cost), LTV (Lifetime Value), LTV:CAC ratio (should be &gt; 3:1).
📝 KEY POINTS FOR NOTEBOOKS:
• 3 Key Financial Documents: (1) Income Statement / P&amp;L, (2) Cash Flow Statement, (3) Balance Sheet
• Break-Even Point = Fixed Costs ÷ (Price - Variable Cost per unit)
• Profit ≠ Cash Flow. A company can be profitable but cash-insolvent.
• Key Metrics: Gross Margin % | CAC (Customer Acquisition Cost) | LTV (Lifetime Value) | Burn Rate | Runway
• LTV:CAC Ratio &gt; 3:1 is considered healthy for a SaaS business.
• Revenue projection: Year 1 (monthly detail) + Years 2-5 (annual projections)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Appendices &amp; Refining the Plan
• Appendices contain supporting documents that are too detailed for the main business plan but important for due diligence.
• When an investor says "I'd like to see your data room" — they mean the appendices!
• Common appendices for IT startups: Technical architecture diagrams, wireframes/mockups, market research data, founder CVs, legal certificates.
• "Refining the Plan" is an ongoing process — a business plan is a living document, not a one-time exercise. Update it quarterly.
• Lean Startup method (Eric Ries): Build → Measure → Learn cycle. Each iteration refines the plan based on real data.
• Pivot: When market feedback tells you to change your product or target market, you PIVOT and update your business plan.
• Failure to update the plan is a red flag for investors — it signals the founders aren't learning from the market.
📝 KEY POINTS FOR NOTEBOOKS:
• Appendices: Supporting documents attached to the business plan (CVs, legal docs, market research, technical specs, letters of intent).
• Refining the Plan: A business plan is a LIVING document — review and update it every 3-6 months.
• Lean Startup Cycle: Build → Measure → Learn (repeat until product-market fit).
• Pivot = Changing the business model/product direction based on market feedback. Famous pivots: YouTube (dating site), Instagram (check-in app), Slack (gaming company).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Indian IT Startup Success Examples
• These are NOT just inspiration stories — analyze each through the business plan lens: What was their USP? How did they market? How did they fund themselves?
• Zoho: Bootstrapped (zero VC money) — very unusual for a $15B company. Sridhar Vembu's philosophy: "We don't need investors to dictate our direction." Their HQ is now in a Tamil Nadu village!
• Freshworks: Indian product company that listed on NASDAQ. CEO Girish Mathrubootham's journey from Zoho employee → founder. First Indian SaaS to IPO in USA.
• InMobi: India's first unicorn! Mobile advertising platform. Chose NOT to take Google's acquisition offer and remained independent.
• Flipkart: E-commerce. First sale was a book shipped from Sachin's apartment. Now a $37.6B company under Walmart.
• Ask students: "Pick one company. What problem did they solve? Who is their target market? How do they make money?" — This IS a business plan analysis.
📝 KEY POINTS FOR NOTEBOOKS:
• Zoho: Bootstrapped | SaaS | Founded 1996 | HQ: Tamil Nadu | Revenue: $1B+ | No VC funding.
• Freshworks: VC-funded | SaaS CRM | Founded 2010 | IPO on NASDAQ 2021 | India's first SaaS unicorn to IPO in USA.
• InMobi: India's first unicorn | Mobile advertising | Founded 2007 | Valued $10B+.
• Flipkart: E-commerce | Founded 2007 | Acquired by Walmart for $16B | Headquarters: Bengaluru.
• Lesson: Successful IT startups solve a REAL problem, have a CLEAR revenue model, and have a STRONG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Complete Business Plan Template
• This slide serves as a TEMPLATE the students can use in their own projects and exams.
• Practical assignment idea: Divide the class into groups of 3-4. Each group picks an IT startup idea and fills in this template. Present in 10 minutes next week.
• For university exams: 10-mark questions often ask students to "Write a business plan for an IT startup." Use this exact structure.
• Remind students: CO4 specifically says "Apply startup planning techniques to develop an IT business plan." So exam will test actual application.
• Time estimate for a real business plan: Full plan takes 2-4 weeks with proper research. Student projects: 1-2 weeks for a good summary plan.
📝 KEY POINTS FOR NOTEBOOKS:
• Standard 10-Section IT Business Plan Structure:
  1. Executive Summary (1-2 pages)
  2. Company Description (2-3 pages)
  3. Products &amp; Services (3-5 pages)
  4. Marketing Plan (3-5 pages)
  5. Operational Plan (2-4 pages)
  6. Management &amp; Organization (2-3 pages)
  7. Personal Financial Statement (1-2 pages)
  8. Startup Expenses &amp; Capitalization (2-3 pages)
  9. Financial Plan — 3-year projections (3-5 pages)
  10. Appendices (supporting documents)
• Total length: 20-40 pages for a full plan. 5-10 pages for a summary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IV Summary
• Quick recap method: Cover slide title with hand, ask student to guess the topic from the key content. Great memory reinforcement.
• Exam prediction: "Write a business plan for an IT startup focused on [EdTech/FinTech/HealthTech]" — 10 mark question.
• For the financial plan, students must remember: 3 documents (P&amp;L, Cash Flow, Balance Sheet) + Break-Even formula.
• Assignment idea: Ask students to pick a startup from the earlier slide (Zoho, Freshworks, InMobi, Flipkart) and reverse-engineer their business plan from publicly available information.
• Close with motivation: "Bill Gates wrote a business plan for Microsoft as a college student. Sachin Bansal wrote one in an apartment. Your business plan might be the next one that changes India."
📝 KEY POINTS FOR NOTEBOOKS — MASTER LIST FOR UNIT IV:
1. Business Plan = Written roadmap + investor pitch + bank loan requirement (written LAST, Executive Summary placed FIRST)
2. 10 Sections: Executive Summary → Company Desc → Products → Marketing → Operations → Management → Personal Finance → Startup Expenses → Financial Plan → Appendices
3. 4Ps: Product | Price | Place | Promotion
4. TAM &gt; SAM &gt; SOM (nested market sizing)
5. Revenue Models: SaaS | Freemium | Pay-per-use | Enterprise | Marketplace Commission
6. Break-Even = Fixed Cost ÷ (Price - Variable Cost)
7. 3 Financial Docs: P&amp;L | Cash Flow Statement | Balance Sheet
8. Lean Startup: Build → Measure → Learn (pivot when needed)
9. Examples: Zoho (bootstrapped) | Freshworks (NASDAQ IPO) | InMobi (first unicorn) | Flipkart (Walmart acquired)
10. CO4: Apply startup planning techniques to develop an IT business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References
• Primary textbook is by George W Reynolds — available in the LPU library.
• The Lean Startup by Eric Ries is highly recommended for students who want to actually build something.
• Zero to One by Peter Thiel is excellent for understanding startup philosophy.
• Harvard Business Review (hbr.org) has excellent free articles on business plans and startup strategy.
• For practical templates: score.org has free business plan templates used by US small businesses.
📝 KEY POINTS FOR NOTEBOOKS:
• Primary: Ethics in Information Technology — George W Reynolds, Cengage Learning
• Recommended reading: The Lean Startup — Eric Ries | Zero to One — Peter Thiel
• Online resources: hbr.org | score.org/resource/business-plan-template | startupindia.gov.in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188720"/>
            <a:ext cx="9144000" cy="2651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1188720"/>
            <a:ext cx="201168" cy="26517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3749040"/>
            <a:ext cx="9144000" cy="7315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CSE332: Industry Ethics &amp; Legal Issues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365760" y="2212848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 IT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Your IT Business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|  6th Semester CSE  | 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— Topics at a Glance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startup planning techniques to develop an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1051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81051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9808" y="1847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1-page pitch of your entire plan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245059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45059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542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9808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980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company does &amp; its mission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309067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09067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49808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49808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 &amp; your value proposition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73075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73075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2608" y="3822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49808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49808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market, competition, pricing &amp; promotion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74320" y="437083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74320" y="437083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92608" y="4462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49808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49808" y="4645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business operations &amp; workflow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754880" y="181051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181051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230368" y="1847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3036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structure, roles, advisors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754880" y="245059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54880" y="245059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2542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230368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23036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assets, liabilities, net worth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754880" y="309067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54880" y="309067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230368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30368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 requirement &amp; capitalization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754880" y="373075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754880" y="373075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73168" y="3822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5230368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230368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Projections, cash flow, break-even analysis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754880" y="437083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754880" y="437083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773168" y="4462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5230368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Examples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5230368" y="4645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 startups — Flipkart, Zoho, Freshworks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Business Plan?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| Purpose | Types | Why it Matters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859536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213969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Plan is a formal written document that describes a company's goals, the strategies for achieving those goals, its market environment, the organizational structure, and financial forecasts — serving as a roadmap for entrepreneurs and a pitch document for investors and lenders.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6032" y="2971800"/>
            <a:ext cx="2029968" cy="157276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9184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29184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9184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founders a clear direction. Forces thinking about assumptions, risks, and resources before spending money.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414016" y="2971800"/>
            <a:ext cx="2029968" cy="1572768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487168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487168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Tool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487168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VCs, angel investors &amp; accelerators require a business plan before any funding decision. It's your first impression.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0" y="2971800"/>
            <a:ext cx="2029968" cy="157276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45152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645152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Requirement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45152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MUDRA, SIDBI, and all banks require a business plan for startup loans. No plan = No loan.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729984" y="2971800"/>
            <a:ext cx="2029968" cy="1572768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803136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803136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803136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plan reveals gaps, competition threats, and cash flow problems BEFORE they become real crises.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Executive Summary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 — Placed First | The 1-Page Pitch of Your Entire Business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502920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847088"/>
            <a:ext cx="5029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1874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 in the Executive Summary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04288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2249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965960" y="2249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company do? What problem does it solve?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2633472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6596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your solution better than existing alternatives?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9626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96596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your customers? How large is the market?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" y="3291840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965960" y="32369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make money? Subscription? Commission? SaaS?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3621024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Highlights: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96596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founders? Why are they the right people?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65760" y="3950208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Required: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96596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capital do you need? What will you use it for?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65760" y="4279392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96596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in Year 1, 2, 3. Break-even point.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486400" y="1847088"/>
            <a:ext cx="338328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57784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577840" y="21762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Executive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(2009)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577840" y="2596896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"Book rooms with locals, rather than hotels"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$2B hotel industry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10% commission per booking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Brian Chesky (Design), Joe Gebbia (Design), Nathan Blecharczyk (Engineering)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$600K seed round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Now valued at $75 BILLION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General Company Description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| Mission | Vision | Legal Form | Core Strengths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Legal Identity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name, registration date, incorporation type (Pvt Ltd / LLP / Sole Proprietorship), CIN number, registered office address.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73552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Mission Statement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91840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does TODAY. Present-tense, specific, customer-focused. Example: 'We help Indian SMEs manage payroll using AI-powered software.'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44768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Vision Statement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36208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aims to BECOME in 5-10 years. Future-tense, inspiring. Example: 'To automate HR for 1 million Indian businesses by 2030.'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Business Objectives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7472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 goals for Year 1-3. Revenue targets, customer acquisition targets, geographic expansion milestones.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00400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0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73552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Industry Background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291840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the IT industry, current trends (AI, Cloud, SaaS), market size, growth rate, and regulatory environment.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44768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44768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17920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Core Competencies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36208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'unfair advantages.' E.g., proprietary algorithm, domain expertise, exclusive partnerships, cost advantage, or first-mover status.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Products &amp; Services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 | USP | Value Proposition | Revenue Model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4023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Products &amp; Services Categories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226771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2336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02336" y="24688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HRM, Payroll, Accounting software (Zoho, Tally)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697480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697480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" y="2734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02336" y="28986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apps, enterprise mobile solutions (Swiggy, PhonePe)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3127248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127248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" y="3163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Solutions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02336" y="3328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recommendation engines, fraud detection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3557016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3557016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02336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02336" y="3758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development, consulting, BPO, tech support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74320" y="3986784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74320" y="3986784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2336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Platform/Marketplace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02336" y="41879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platforms connecting buyers &amp; sellers (Naukri, 99acres)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4320" y="4416552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74320" y="441655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02336" y="4453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02336" y="4617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devices, embedded systems, smart devices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480560" y="1847088"/>
            <a:ext cx="43891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Revenue / Pricing Models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480560" y="2267712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0560" y="226771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08576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608576" y="246888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Monthly/annual fees per user. Predictable revenue. Example: Zoho ₹720/user/month.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480560" y="2697480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480560" y="2697480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08576" y="27340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608576" y="289864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tier + paid premium features. Example: Slack, Notion, Canva.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480560" y="3127248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480560" y="3127248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08576" y="31638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608576" y="332841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per transaction/API call. Example: AWS, Twilio, Razorpay.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4480560" y="3557016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80560" y="3557016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08576" y="35935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License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4608576" y="375818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flat fee for unlimited use. Example: Oracle, SAP, Microsoft.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480560" y="3986784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480560" y="3986784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08576" y="40233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Purchase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4608576" y="418795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payment. Example: Tally ERP, desktop software.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4480560" y="4416552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480560" y="441655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08576" y="4453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Commission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4608576" y="461772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cut of each transaction. Example: Naukri (10%), Amazon Seller.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Marketing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| 4Ps Strategy | TAM/SAM/SOM | Competitive Analysis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3931920" cy="2670048"/>
          </a:xfrm>
          <a:prstGeom prst="rect">
            <a:avLst/>
          </a:prstGeom>
          <a:solidFill>
            <a:srgbClr val="FDEEE3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29968"/>
            <a:ext cx="3566160" cy="2103120"/>
          </a:xfrm>
          <a:prstGeom prst="rect">
            <a:avLst/>
          </a:prstGeom>
          <a:solidFill>
            <a:srgbClr val="FFD9B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185416"/>
            <a:ext cx="3200400" cy="1572768"/>
          </a:xfrm>
          <a:prstGeom prst="rect">
            <a:avLst/>
          </a:prstGeom>
          <a:solidFill>
            <a:srgbClr val="E8620A"/>
          </a:solidFill>
          <a:ln w="12700">
            <a:solidFill>
              <a:srgbClr val="B84D0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004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global market opportunity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30352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3232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" y="243230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89120" y="187452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89120" y="1874520"/>
            <a:ext cx="22402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62272" y="1911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43984" y="21854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&amp; USP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443984" y="24140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443984" y="26426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/ Patents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443984" y="28712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stage (Concept/Beta/Live)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748272" y="187452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48272" y="1874520"/>
            <a:ext cx="2240280" cy="29260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21424" y="1911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803136" y="21854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(SaaS/Freemium/Enterprise)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803136" y="24140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analysis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803136" y="26426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bundling strategy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803136" y="28712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price calculation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389120" y="3227832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389120" y="3227832"/>
            <a:ext cx="2240280" cy="29260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62272" y="3264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443984" y="35387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 (Web/App/B2B)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443984" y="37673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 indirect sales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443984" y="39959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launch strategy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443984" y="42245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&amp; app stores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748272" y="3227832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748272" y="3227832"/>
            <a:ext cx="2240280" cy="2926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821424" y="3264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6803136" y="35387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(SEO/SEM/Social)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803136" y="37673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&amp; thought leadership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803136" y="39959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demos &amp; free trials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6803136" y="42245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events &amp; partnerships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5: Operational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 | SDLC | Infrastructure | Team Workflow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Development Process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Agile/Scrum methodology. 2-week sprints. Daily standups. Backlog management. Git version control. CI/CD pipeline for continuous deployment.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73552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Infrastructure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91840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strategy (AWS/Azure/GCP). Auto-scaling, load balancing, CDN for global delivery. 99.9% uptime SLA. Disaster recovery &amp; backup plan.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44768" y="1874520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Assurance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36208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testing, integration testing, UAT. Automated test coverage &gt;80%. Security testing (VAPT). Performance &amp; load testing before release.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6032" y="3227832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Customer Support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7472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support: in-app chat, email, phone. SLA: Critical bugs fixed in 4 hours. Helpdesk software (Freshdesk/Zendesk). Escalation matrix.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00400" y="3227832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0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73552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Security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291840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HTTPS, OAuth 2.0. Compliance: ISO 27001, India PDPB, GDPR. Regular security audits. Employee security training.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44768" y="3227832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44768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17920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Compliance &amp; Legal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36208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registration, GST filing, TDS, annual ROC filings. Data privacy compliance. IP protection. Employee contracts &amp; NDAs.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6: Management &amp; Organization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| Key Roles | Advisors | Org Chart | ESOPs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474720" y="1901952"/>
            <a:ext cx="2194560" cy="5029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0" y="1911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Co-Founder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0" y="2157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Strategy, Investor Relations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0" y="2404872"/>
            <a:ext cx="0" cy="256032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80160" y="2660904"/>
            <a:ext cx="6583680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80160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0040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64992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59152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04872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404872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49824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43984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89704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489704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Design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534656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28816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74536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74536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280160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74320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7472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364992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432304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Mktg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449824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443984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17136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534656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528816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601968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Admin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65760" y="43342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ESOP: Employees get stock options vesting over 4 years (1-year cliff). Aligns employee interests with company success.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7 &amp; 8: Financials — Personal Statement &amp; Startup Expenses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| Capitalization | Burn Rate | Working Capital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41148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Statement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2286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487168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25054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Bank Balances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108960" y="25054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4320" y="2706624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2724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(Stocks/MF)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108960" y="2724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2926080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944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/ Real Estate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10896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3145536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31638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Other Assets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108960" y="3163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74320" y="336499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3383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(A)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108960" y="3383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74320" y="3584448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0040" y="3602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74320" y="3803904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0040" y="3822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/ Mortgage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108960" y="3822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74320" y="4023360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0040" y="4041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 / Personal Loan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108960" y="4041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74320" y="4242816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0040" y="4261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Dues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108960" y="42611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74320" y="446227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0040" y="4480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 (B)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10896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4681728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20040" y="47000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= A - B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3108960" y="4700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572000" y="1874520"/>
            <a:ext cx="42976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66344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 &amp; Capitalization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572000" y="2267712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617720" y="2286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EXPENSES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4572000" y="2487168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617720" y="2505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&amp; Legal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315200" y="2505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4572000" y="2706624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617720" y="2724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Setup / Furniture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315200" y="27249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4572000" y="2926080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17720" y="2944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(Laptops, Servers)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315200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572000" y="3145536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17720" y="31638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Licenses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7315200" y="31638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4572000" y="3364992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617720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Marketing &amp; Branding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315200" y="3383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4572000" y="3584448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617720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(per month)</a:t>
            </a:r>
            <a:endParaRPr lang="en-US" sz="950" dirty="0"/>
          </a:p>
        </p:txBody>
      </p:sp>
      <p:sp>
        <p:nvSpPr>
          <p:cNvPr id="65" name="Shape 61"/>
          <p:cNvSpPr/>
          <p:nvPr/>
        </p:nvSpPr>
        <p:spPr>
          <a:xfrm>
            <a:off x="4572000" y="3803904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617720" y="38221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Salaries (5 members)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7315200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4572000" y="4023360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1772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(AWS)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7315200" y="4041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4572000" y="4242816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617720" y="4261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Ads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7315200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4572000" y="4462272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617720" y="4480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Rent &amp; Utilities</a:t>
            </a:r>
            <a:endParaRPr lang="en-US" sz="900" dirty="0"/>
          </a:p>
        </p:txBody>
      </p:sp>
      <p:sp>
        <p:nvSpPr>
          <p:cNvPr id="76" name="Text 72"/>
          <p:cNvSpPr/>
          <p:nvPr/>
        </p:nvSpPr>
        <p:spPr>
          <a:xfrm>
            <a:off x="7315200" y="4480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4572000" y="4681728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617720" y="47000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/ Contingency (10%)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7315200" y="47000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₹46,500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4617720" y="4919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REQUIRED (6 months)</a:t>
            </a:r>
            <a:endParaRPr lang="en-US" sz="950" dirty="0"/>
          </a:p>
        </p:txBody>
      </p:sp>
      <p:sp>
        <p:nvSpPr>
          <p:cNvPr id="82" name="Text 78"/>
          <p:cNvSpPr/>
          <p:nvPr/>
        </p:nvSpPr>
        <p:spPr>
          <a:xfrm>
            <a:off x="7315200" y="49194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₹37,29,000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9: Financial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| Cash Flow | Balance Sheet | Break-Even | Key Metrics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(P&amp;L)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" y="2249424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10896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176272" y="22860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+₹XX,XX,XXX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56032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 (COGS)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176272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56032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0896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176272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=₹XX,XX,XXX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56032" y="3127248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0896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176272" y="31638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6032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0896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EBITDA(</a:t>
            </a:r>
            <a:r>
              <a:rPr lang="en-US" sz="800" b="1" dirty="0" smtClean="0"/>
              <a:t>EBITDA</a:t>
            </a:r>
            <a:r>
              <a:rPr lang="en-US" sz="800" dirty="0" smtClean="0"/>
              <a:t> stands for:</a:t>
            </a:r>
            <a:br>
              <a:rPr lang="en-US" sz="800" dirty="0" smtClean="0"/>
            </a:br>
            <a:r>
              <a:rPr lang="en-US" sz="800" b="1" dirty="0" smtClean="0"/>
              <a:t>Earnings Before Interest, Taxes, Depreciation, and </a:t>
            </a:r>
            <a:r>
              <a:rPr lang="en-US" sz="800" b="1" dirty="0" smtClean="0"/>
              <a:t>Amortization)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176272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56032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10896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Depreciation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176272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56032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10896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 Loss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176272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00400" y="1874520"/>
            <a:ext cx="2788920" cy="3200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73552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00400" y="2249424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55264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120640" y="22860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+₹XX,XX,XXX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200400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55264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20640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+/-₹X,XX,XXX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200400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55264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Investments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120640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3200400" y="3127248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255264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Financing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120640" y="31638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+₹X,XX,XXX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3200400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255264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Change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120640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3200400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255264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Balance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120640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=₹XX,XX,XXX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3200400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255264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/ month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120640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144768" y="1874520"/>
            <a:ext cx="2788920" cy="3200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21792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6144768" y="2249424"/>
            <a:ext cx="2788920" cy="256032"/>
          </a:xfrm>
          <a:prstGeom prst="rect">
            <a:avLst/>
          </a:prstGeom>
          <a:solidFill>
            <a:srgbClr val="E8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199632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6144768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199632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(Cash+AR)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8065008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6144768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199632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 (Equipment)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8065008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144768" y="3127248"/>
            <a:ext cx="2788920" cy="256032"/>
          </a:xfrm>
          <a:prstGeom prst="rect">
            <a:avLst/>
          </a:prstGeom>
          <a:solidFill>
            <a:srgbClr val="E8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199632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6144768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199632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Liabilities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8065008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6144768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199632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8065008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6144768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199632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(Assets-Liabilities)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8065008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274320" y="4389120"/>
            <a:ext cx="8595360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65760" y="44074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Formula:   Fixed Costs ÷ (Selling Price – Variable Cost per Unit)  =  Break-Even Units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74296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10: Appendices &amp; Refining the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Documents | Living Documents | Lean Startup | Pivoting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43891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the Appendix?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23042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" y="2304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Founders' Resumes / CVs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8368" y="24688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professional backgrounds of all co-founders and key team members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706624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7432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8368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Incorporation, MOA, AOA, DPIIT recognition certificate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3145536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18211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8368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Data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" y="33467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data, industry reports, competitor analysis spreadsheets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3584448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36210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8368" y="3621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" y="3785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diagrams, tech stack documentation, database schema, API docs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74320" y="4023360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405993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58368" y="4059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Mockups / Wireframes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8368" y="4224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designs, app screenshots, product demo videos or links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4320" y="4462272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0040" y="449884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58368" y="4498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of Intent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58368" y="46634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 from potential customers, pilot agreements, partnership MoUs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846320" y="1874520"/>
            <a:ext cx="40233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Plan — Lean Startup Cycle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760720" y="2304288"/>
            <a:ext cx="1417320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06440" y="2350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806440" y="25786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MVP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(Minimum Viable Product)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7315200" y="3200400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6092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7360920" y="34747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user metrics,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data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937760" y="3200400"/>
            <a:ext cx="1417320" cy="8046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8348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983480" y="34747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decide: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Persevere or Pivot?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178040" y="2706624"/>
            <a:ext cx="201168" cy="548640"/>
          </a:xfrm>
          <a:prstGeom prst="line">
            <a:avLst/>
          </a:prstGeom>
          <a:noFill/>
          <a:ln w="25400">
            <a:solidFill>
              <a:srgbClr val="E8620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355080" y="4005072"/>
            <a:ext cx="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440680" y="4005072"/>
            <a:ext cx="320040" cy="0"/>
          </a:xfrm>
          <a:prstGeom prst="line">
            <a:avLst/>
          </a:prstGeom>
          <a:noFill/>
          <a:ln w="25400">
            <a:solidFill>
              <a:srgbClr val="2C3E6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846320" y="4206240"/>
            <a:ext cx="4023360" cy="9235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937760" y="4242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Tech Pivots: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937760" y="444398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YouTube started as a dating site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 was originally a location check-in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was a gaming company's internal tool</a:t>
            </a:r>
            <a:endParaRPr lang="en-US" sz="950" dirty="0"/>
          </a:p>
        </p:txBody>
      </p:sp>
      <p:sp>
        <p:nvSpPr>
          <p:cNvPr id="51" name="Shape 41">
            <a:extLst>
              <a:ext uri="{FF2B5EF4-FFF2-40B4-BE49-F238E27FC236}">
                <a16:creationId xmlns:a16="http://schemas.microsoft.com/office/drawing/2014/main" xmlns="" id="{B9022F57-33BE-4BA1-B4BA-85DE15623B98}"/>
              </a:ext>
            </a:extLst>
          </p:cNvPr>
          <p:cNvSpPr/>
          <p:nvPr/>
        </p:nvSpPr>
        <p:spPr>
          <a:xfrm flipH="1">
            <a:off x="5641795" y="2675719"/>
            <a:ext cx="114867" cy="576072"/>
          </a:xfrm>
          <a:prstGeom prst="line">
            <a:avLst/>
          </a:prstGeom>
          <a:noFill/>
          <a:ln w="25400">
            <a:solidFill>
              <a:srgbClr val="E8620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Successful IT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India's Best — Business Plan Analysis Through Real Companies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425196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176272" y="1911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SaaS | 1996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$15B+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VC funding | 40+ business apps | Competes with Salesforce &amp; Microsoft | Rural India HQ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47472" y="2862072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Bootstrapped = Full control. Profitability &gt; Growth at any cost.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00016" y="187452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0016" y="1874520"/>
            <a:ext cx="42519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73168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20256" y="1911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VC-funded SaaS | 2010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73168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91456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SaaS unicorn to IPO on NASDAQ | Customer support &amp; CRM software | 60,000+ customers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4791456" y="2862072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28032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Indian product company can compete globally in enterprise SaaS.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56032" y="3264408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64408"/>
            <a:ext cx="425196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9184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2176272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 Platform | 2007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9184" y="3630168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9184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47472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unicorn | 1.5B+ devices reached | Rejected Google acquisition | AI-powered ad targeting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347472" y="4251960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4048" y="4270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First-mover advantage + persistence beats acquisition temptation.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00016" y="3264408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00016" y="3264408"/>
            <a:ext cx="4251960" cy="329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73168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62025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| 2007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73168" y="3630168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$37.6B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791456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selling books from an apartment | Created Indian e-commerce ecosystem | Cash on Delivery innovation | Walmart acquired for $16B</a:t>
            </a:r>
            <a:endParaRPr lang="en-US" sz="880" dirty="0"/>
          </a:p>
        </p:txBody>
      </p:sp>
      <p:sp>
        <p:nvSpPr>
          <p:cNvPr id="42" name="Shape 38"/>
          <p:cNvSpPr/>
          <p:nvPr/>
        </p:nvSpPr>
        <p:spPr>
          <a:xfrm>
            <a:off x="4791456" y="4251960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28032" y="4270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Solving logistics &amp; trust problems was the real innovation, not just the website.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Startup Business Plan — Complete Structure Template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this template to develop your own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965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3152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LAST, placed FIRST. Your 1-page pitch.</a:t>
            </a:r>
            <a:endParaRPr lang="en-US" sz="880" dirty="0"/>
          </a:p>
        </p:txBody>
      </p:sp>
      <p:sp>
        <p:nvSpPr>
          <p:cNvPr id="13" name="Text 9"/>
          <p:cNvSpPr/>
          <p:nvPr/>
        </p:nvSpPr>
        <p:spPr>
          <a:xfrm>
            <a:off x="3511296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6032" y="251460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" y="251460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31520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1520" y="2788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mission, vision, legal form, location.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3511296" y="25511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6032" y="315468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56032" y="315468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" y="3246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31520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31520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sell, USP, pricing model, IP status.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3511296" y="3191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56032" y="379476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56032" y="379476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3886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31520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31520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TAM/SAM/SOM, 4Ps, competitors, SWOT.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3511296" y="3831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56032" y="443484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43484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4320" y="4526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31520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731520" y="4709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SDLC, infrastructure, team workflow, compliance.</a:t>
            </a:r>
            <a:endParaRPr lang="en-US" sz="880" dirty="0"/>
          </a:p>
        </p:txBody>
      </p:sp>
      <p:sp>
        <p:nvSpPr>
          <p:cNvPr id="37" name="Text 33"/>
          <p:cNvSpPr/>
          <p:nvPr/>
        </p:nvSpPr>
        <p:spPr>
          <a:xfrm>
            <a:off x="3511296" y="4471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pages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18304" y="187452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18304" y="187452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36592" y="1965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193792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193792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team, org chart, advisors, ESOPs.</a:t>
            </a:r>
            <a:endParaRPr lang="en-US" sz="880" dirty="0"/>
          </a:p>
        </p:txBody>
      </p:sp>
      <p:sp>
        <p:nvSpPr>
          <p:cNvPr id="43" name="Text 39"/>
          <p:cNvSpPr/>
          <p:nvPr/>
        </p:nvSpPr>
        <p:spPr>
          <a:xfrm>
            <a:off x="7973568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718304" y="251460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718304" y="251460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36592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5193792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Stmt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193792" y="2788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net worth (Assets - Liabilities).</a:t>
            </a:r>
            <a:endParaRPr lang="en-US" sz="880" dirty="0"/>
          </a:p>
        </p:txBody>
      </p:sp>
      <p:sp>
        <p:nvSpPr>
          <p:cNvPr id="49" name="Text 45"/>
          <p:cNvSpPr/>
          <p:nvPr/>
        </p:nvSpPr>
        <p:spPr>
          <a:xfrm>
            <a:off x="7973568" y="25511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4718304" y="315468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718304" y="315468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736592" y="3246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5193792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5193792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before first sale. One-time + recurring.</a:t>
            </a:r>
            <a:endParaRPr lang="en-US" sz="880" dirty="0"/>
          </a:p>
        </p:txBody>
      </p:sp>
      <p:sp>
        <p:nvSpPr>
          <p:cNvPr id="55" name="Text 51"/>
          <p:cNvSpPr/>
          <p:nvPr/>
        </p:nvSpPr>
        <p:spPr>
          <a:xfrm>
            <a:off x="7973568" y="3191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4718304" y="379476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718304" y="379476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736592" y="3886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5193792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5193792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Cash Flow, Balance Sheet, Break-Even.</a:t>
            </a:r>
            <a:endParaRPr lang="en-US" sz="880" dirty="0"/>
          </a:p>
        </p:txBody>
      </p:sp>
      <p:sp>
        <p:nvSpPr>
          <p:cNvPr id="61" name="Text 57"/>
          <p:cNvSpPr/>
          <p:nvPr/>
        </p:nvSpPr>
        <p:spPr>
          <a:xfrm>
            <a:off x="7973568" y="3831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4718304" y="443484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718304" y="443484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736592" y="4526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5193792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050" dirty="0"/>
          </a:p>
        </p:txBody>
      </p:sp>
      <p:sp>
        <p:nvSpPr>
          <p:cNvPr id="66" name="Text 62"/>
          <p:cNvSpPr/>
          <p:nvPr/>
        </p:nvSpPr>
        <p:spPr>
          <a:xfrm>
            <a:off x="5193792" y="4709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legal docs, research, mockups, LOIs.</a:t>
            </a:r>
            <a:endParaRPr lang="en-US" sz="880" dirty="0"/>
          </a:p>
        </p:txBody>
      </p:sp>
      <p:sp>
        <p:nvSpPr>
          <p:cNvPr id="67" name="Text 63"/>
          <p:cNvSpPr/>
          <p:nvPr/>
        </p:nvSpPr>
        <p:spPr>
          <a:xfrm>
            <a:off x="7973568" y="4471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— Summary &amp; Key Takeaways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startup planning techniques to develop an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Basics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1488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roadmap + investor pitch. Written LAST, Executive Summary placed FIRST. 20-40 pages.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0016" y="187452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0016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64608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64608" y="21488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 overview with: concept, value prop, market, revenue model, team, funding needed.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" y="2587752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0624" y="26243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0624" y="28620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+ Value proposition + Revenue model (SaaS/Freemium/Pay-per-use/Enterprise/Marketplace).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00016" y="258775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00016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64608" y="26243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64608" y="28620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TAM→SAM→SOM sizing | 4Ps (Product, Price, Place, Promotion) | SWOT + Competitor analysis.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300984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33375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20624" y="35753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(Agile/Scrum) | Cloud infrastructure | QA | Customer support | Compliance (PDPB, ISO 27001).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00016" y="330098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0016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64608" y="33375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64608" y="35753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CTO, CMO, CFO, CPO | Org chart | Board of Advisors | ESOPs for employee retention.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6032" y="4014216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40507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20624" y="4288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+ Cash Flow Statement + Balance Sheet | Break-Even = Fixed Cost ÷ (Price - Variable Cost).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700016" y="401421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700016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64608" y="40507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Examples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64608" y="4288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(bootstrapped) | Freshworks (NASDAQ IPO) | InMobi (India's first unicorn) | Flipkart ($37.6B).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Resources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| Online Tools | Templates | Startup Reading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889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Information Technology — George W Reynolds, Cengage Learning (Primary)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7472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101 — John C. Maxwell, Hachette India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0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874520"/>
            <a:ext cx="278892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Lean Startup — Eric Ries (Startup methodology)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91840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One — Peter Thiel (Startup philosophy)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91840" y="32735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Thing About Hard Things — Ben Horowitz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44768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44768" y="1874520"/>
            <a:ext cx="278892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36208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Resources &amp; Tools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36208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hbr.org — Harvard Business Review articles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236208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score.org — Free business plan templates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36208" y="32735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startupindia.gov.in — Official Indian startup resources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36208" y="377647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ycombinator.com/library — Y Combinator startup library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idea without a plan is just a dream. A plan without an idea is just paperwork. You need both." — Unit IV Lesson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88AE11-8BDB-47FD-B00C-95F29AF60DEC}"/>
              </a:ext>
            </a:extLst>
          </p:cNvPr>
          <p:cNvSpPr txBox="1"/>
          <p:nvPr/>
        </p:nvSpPr>
        <p:spPr>
          <a:xfrm>
            <a:off x="581246" y="1141228"/>
            <a:ext cx="73506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UMS Dashboard &gt; Academics &gt; Under Research and Development: IPR Idea Request &gt; Click on Patent</a:t>
            </a:r>
          </a:p>
        </p:txBody>
      </p:sp>
    </p:spTree>
    <p:extLst>
      <p:ext uri="{BB962C8B-B14F-4D97-AF65-F5344CB8AC3E}">
        <p14:creationId xmlns:p14="http://schemas.microsoft.com/office/powerpoint/2010/main" xmlns="" val="433483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Q1.</a:t>
            </a:r>
          </a:p>
          <a:p>
            <a:r>
              <a:rPr lang="en-IN" dirty="0"/>
              <a:t>Which of the following BEST explains why a business plan is written?</a:t>
            </a:r>
          </a:p>
          <a:p>
            <a:r>
              <a:rPr lang="en-IN" dirty="0"/>
              <a:t>A. To provide a roadmap and attract investors</a:t>
            </a:r>
            <a:br>
              <a:rPr lang="en-IN" dirty="0"/>
            </a:br>
            <a:r>
              <a:rPr lang="en-IN" dirty="0"/>
              <a:t>B. To register a company legally</a:t>
            </a:r>
            <a:br>
              <a:rPr lang="en-IN" dirty="0"/>
            </a:br>
            <a:r>
              <a:rPr lang="en-IN" dirty="0"/>
              <a:t>C. To reduce tax liabilities</a:t>
            </a:r>
            <a:br>
              <a:rPr lang="en-IN" dirty="0"/>
            </a:br>
            <a:r>
              <a:rPr lang="en-IN" dirty="0"/>
              <a:t>D. To eliminate competition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58439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Q2.</a:t>
            </a:r>
          </a:p>
          <a:p>
            <a:r>
              <a:rPr lang="en-IN" dirty="0"/>
              <a:t>Which section of a business plan is written last but placed first?</a:t>
            </a:r>
          </a:p>
          <a:p>
            <a:r>
              <a:rPr lang="en-IN" dirty="0"/>
              <a:t>A. Financial Plan</a:t>
            </a:r>
            <a:br>
              <a:rPr lang="en-IN" dirty="0"/>
            </a:br>
            <a:r>
              <a:rPr lang="en-IN" dirty="0"/>
              <a:t>B. Marketing Plan</a:t>
            </a:r>
            <a:br>
              <a:rPr lang="en-IN" dirty="0"/>
            </a:br>
            <a:r>
              <a:rPr lang="en-IN" dirty="0"/>
              <a:t>C. Company Description</a:t>
            </a:r>
            <a:br>
              <a:rPr lang="en-IN" dirty="0"/>
            </a:br>
            <a:r>
              <a:rPr lang="en-IN" dirty="0"/>
              <a:t>D. 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xmlns="" val="359936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Q3.</a:t>
            </a:r>
          </a:p>
          <a:p>
            <a:r>
              <a:rPr lang="en-IN" dirty="0"/>
              <a:t>Which of the following is NOT a purpose of a business plan?</a:t>
            </a:r>
          </a:p>
          <a:p>
            <a:r>
              <a:rPr lang="en-IN" dirty="0"/>
              <a:t>A. Identifying risks</a:t>
            </a:r>
            <a:br>
              <a:rPr lang="en-IN" dirty="0"/>
            </a:br>
            <a:r>
              <a:rPr lang="en-IN" dirty="0"/>
              <a:t>B. Guiding founders</a:t>
            </a:r>
            <a:br>
              <a:rPr lang="en-IN" dirty="0"/>
            </a:br>
            <a:r>
              <a:rPr lang="en-IN" dirty="0"/>
              <a:t>C. Increasing product development speed</a:t>
            </a:r>
            <a:br>
              <a:rPr lang="en-IN" dirty="0"/>
            </a:br>
            <a:r>
              <a:rPr lang="en-IN" dirty="0"/>
              <a:t>D. Attracting investors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xmlns="" val="231050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Q4.</a:t>
            </a:r>
          </a:p>
          <a:p>
            <a:r>
              <a:rPr lang="en-IN" dirty="0"/>
              <a:t>Mission statement primarily describes:</a:t>
            </a:r>
          </a:p>
          <a:p>
            <a:r>
              <a:rPr lang="en-IN" dirty="0"/>
              <a:t>A. Present activities of the company</a:t>
            </a:r>
            <a:br>
              <a:rPr lang="en-IN" dirty="0"/>
            </a:br>
            <a:r>
              <a:rPr lang="en-IN" dirty="0"/>
              <a:t>B. Financial projections</a:t>
            </a:r>
            <a:br>
              <a:rPr lang="en-IN" dirty="0"/>
            </a:br>
            <a:r>
              <a:rPr lang="en-IN" dirty="0"/>
              <a:t>C. Market competition</a:t>
            </a:r>
            <a:br>
              <a:rPr lang="en-IN" dirty="0"/>
            </a:br>
            <a:r>
              <a:rPr lang="en-IN" dirty="0"/>
              <a:t>D. Future aspirations of the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259282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Q5.</a:t>
            </a:r>
          </a:p>
          <a:p>
            <a:r>
              <a:rPr lang="en-IN" dirty="0"/>
              <a:t>Which of the following BEST represents a Vision Statement?</a:t>
            </a:r>
          </a:p>
          <a:p>
            <a:r>
              <a:rPr lang="en-IN" dirty="0"/>
              <a:t>A. What the company does today</a:t>
            </a:r>
            <a:br>
              <a:rPr lang="en-IN" dirty="0"/>
            </a:br>
            <a:r>
              <a:rPr lang="en-IN" dirty="0"/>
              <a:t>B. Pricing strategy of the company</a:t>
            </a:r>
            <a:br>
              <a:rPr lang="en-IN" dirty="0"/>
            </a:br>
            <a:r>
              <a:rPr lang="en-IN" dirty="0"/>
              <a:t>C. Revenue model of the company</a:t>
            </a:r>
            <a:br>
              <a:rPr lang="en-IN" dirty="0"/>
            </a:br>
            <a:r>
              <a:rPr lang="en-IN" dirty="0"/>
              <a:t>D. Long-term future goal of the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xmlns="" val="116791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Q6.</a:t>
            </a:r>
          </a:p>
          <a:p>
            <a:r>
              <a:rPr lang="en-IN" dirty="0"/>
              <a:t>USP (Unique Selling Proposition) refers to:</a:t>
            </a:r>
          </a:p>
          <a:p>
            <a:r>
              <a:rPr lang="en-IN" dirty="0"/>
              <a:t>A. The unique advantage over competitors</a:t>
            </a:r>
            <a:br>
              <a:rPr lang="en-IN" dirty="0"/>
            </a:br>
            <a:r>
              <a:rPr lang="en-IN" dirty="0"/>
              <a:t>B. The pricing strategy</a:t>
            </a:r>
            <a:br>
              <a:rPr lang="en-IN" dirty="0"/>
            </a:br>
            <a:r>
              <a:rPr lang="en-IN" dirty="0"/>
              <a:t>C. Market segmentation</a:t>
            </a:r>
            <a:br>
              <a:rPr lang="en-IN" dirty="0"/>
            </a:br>
            <a:r>
              <a:rPr lang="en-IN" dirty="0"/>
              <a:t>D. Legal structure of the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339566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Q7.</a:t>
            </a:r>
          </a:p>
          <a:p>
            <a:r>
              <a:rPr lang="en-IN" dirty="0"/>
              <a:t>Which pricing model charges users based on actual usage?</a:t>
            </a:r>
          </a:p>
          <a:p>
            <a:r>
              <a:rPr lang="en-IN" dirty="0"/>
              <a:t>A. SaaS Subscription</a:t>
            </a:r>
            <a:br>
              <a:rPr lang="en-IN" dirty="0"/>
            </a:br>
            <a:r>
              <a:rPr lang="en-IN" dirty="0"/>
              <a:t>B. Freemium</a:t>
            </a:r>
            <a:br>
              <a:rPr lang="en-IN" dirty="0"/>
            </a:br>
            <a:r>
              <a:rPr lang="en-IN" dirty="0"/>
              <a:t>C. Enterprise License</a:t>
            </a:r>
            <a:br>
              <a:rPr lang="en-IN" dirty="0"/>
            </a:br>
            <a:r>
              <a:rPr lang="en-IN" dirty="0"/>
              <a:t>D. Pay-per-use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xmlns="" val="368637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Q8.</a:t>
            </a:r>
          </a:p>
          <a:p>
            <a:r>
              <a:rPr lang="en-IN" dirty="0"/>
              <a:t>TAM represents:</a:t>
            </a:r>
          </a:p>
          <a:p>
            <a:r>
              <a:rPr lang="en-IN" dirty="0"/>
              <a:t>A. Total global market opportunity</a:t>
            </a:r>
            <a:br>
              <a:rPr lang="en-IN" dirty="0"/>
            </a:br>
            <a:r>
              <a:rPr lang="en-IN" dirty="0"/>
              <a:t>B. Targeted marketing strategy</a:t>
            </a:r>
            <a:br>
              <a:rPr lang="en-IN" dirty="0"/>
            </a:br>
            <a:r>
              <a:rPr lang="en-IN" dirty="0"/>
              <a:t>C. Technical analysis model</a:t>
            </a:r>
            <a:br>
              <a:rPr lang="en-IN" dirty="0"/>
            </a:br>
            <a:r>
              <a:rPr lang="en-IN" dirty="0"/>
              <a:t>D. Total annual margin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414862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Q9.</a:t>
            </a:r>
          </a:p>
          <a:p>
            <a:r>
              <a:rPr lang="en-IN" dirty="0"/>
              <a:t>Which of the following correctly represents the smallest realistic market share?</a:t>
            </a:r>
          </a:p>
          <a:p>
            <a:r>
              <a:rPr lang="en-IN" dirty="0"/>
              <a:t>A. TAM</a:t>
            </a:r>
            <a:br>
              <a:rPr lang="en-IN" dirty="0"/>
            </a:br>
            <a:r>
              <a:rPr lang="en-IN" dirty="0"/>
              <a:t>B. SAM</a:t>
            </a:r>
            <a:br>
              <a:rPr lang="en-IN" dirty="0"/>
            </a:br>
            <a:r>
              <a:rPr lang="en-IN" dirty="0"/>
              <a:t>C. Market penetration rate</a:t>
            </a:r>
            <a:br>
              <a:rPr lang="en-IN" dirty="0"/>
            </a:br>
            <a:r>
              <a:rPr lang="en-IN" dirty="0"/>
              <a:t>D. SOM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xmlns="" val="46079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Q10.</a:t>
            </a:r>
          </a:p>
          <a:p>
            <a:r>
              <a:rPr lang="en-IN" dirty="0"/>
              <a:t>Which of the following is NOT part of the 4Ps marketing framework?</a:t>
            </a:r>
          </a:p>
          <a:p>
            <a:r>
              <a:rPr lang="en-IN" dirty="0"/>
              <a:t>A. Product</a:t>
            </a:r>
            <a:br>
              <a:rPr lang="en-IN" dirty="0"/>
            </a:br>
            <a:r>
              <a:rPr lang="en-IN" dirty="0"/>
              <a:t>B. Profit</a:t>
            </a:r>
            <a:br>
              <a:rPr lang="en-IN" dirty="0"/>
            </a:br>
            <a:r>
              <a:rPr lang="en-IN" dirty="0"/>
              <a:t>C. Promotion</a:t>
            </a:r>
            <a:br>
              <a:rPr lang="en-IN" dirty="0"/>
            </a:br>
            <a:r>
              <a:rPr lang="en-IN" dirty="0"/>
              <a:t>D.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xmlns="" val="191278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Q11.</a:t>
            </a:r>
          </a:p>
          <a:p>
            <a:r>
              <a:rPr lang="en-IN" dirty="0"/>
              <a:t>Operational Plan mainly answers:</a:t>
            </a:r>
          </a:p>
          <a:p>
            <a:r>
              <a:rPr lang="en-IN" dirty="0"/>
              <a:t>A. HOW the business runs daily</a:t>
            </a:r>
            <a:br>
              <a:rPr lang="en-IN" dirty="0"/>
            </a:br>
            <a:r>
              <a:rPr lang="en-IN" dirty="0"/>
              <a:t>B. WHY the business exists</a:t>
            </a:r>
            <a:br>
              <a:rPr lang="en-IN" dirty="0"/>
            </a:br>
            <a:r>
              <a:rPr lang="en-IN" dirty="0"/>
              <a:t>C. WHO are the customers</a:t>
            </a:r>
            <a:br>
              <a:rPr lang="en-IN" dirty="0"/>
            </a:br>
            <a:r>
              <a:rPr lang="en-IN" dirty="0"/>
              <a:t>D. WHAT is the market 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97308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Q12.</a:t>
            </a:r>
          </a:p>
          <a:p>
            <a:r>
              <a:rPr lang="en-IN" dirty="0"/>
              <a:t>Burn Rate refers to:</a:t>
            </a:r>
          </a:p>
          <a:p>
            <a:r>
              <a:rPr lang="en-IN" dirty="0"/>
              <a:t>A. Monthly cash expenditure before profitability</a:t>
            </a:r>
            <a:br>
              <a:rPr lang="en-IN" dirty="0"/>
            </a:br>
            <a:r>
              <a:rPr lang="en-IN" dirty="0"/>
              <a:t>B. Profit margin of the company</a:t>
            </a:r>
            <a:br>
              <a:rPr lang="en-IN" dirty="0"/>
            </a:br>
            <a:r>
              <a:rPr lang="en-IN" dirty="0"/>
              <a:t>C. Revenue growth rate</a:t>
            </a:r>
            <a:br>
              <a:rPr lang="en-IN" dirty="0"/>
            </a:br>
            <a:r>
              <a:rPr lang="en-IN" dirty="0"/>
              <a:t>D. Market expansion rate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93750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Q13.</a:t>
            </a:r>
          </a:p>
          <a:p>
            <a:r>
              <a:rPr lang="en-IN" dirty="0"/>
              <a:t>Which formula represents Break-even point?</a:t>
            </a:r>
          </a:p>
          <a:p>
            <a:r>
              <a:rPr lang="en-IN" dirty="0"/>
              <a:t>A. Fixed Cost ÷ (Price – Variable Cost per unit)</a:t>
            </a:r>
            <a:br>
              <a:rPr lang="en-IN" dirty="0"/>
            </a:br>
            <a:r>
              <a:rPr lang="en-IN" dirty="0"/>
              <a:t>B. Revenue – Expenses</a:t>
            </a:r>
            <a:br>
              <a:rPr lang="en-IN" dirty="0"/>
            </a:br>
            <a:r>
              <a:rPr lang="en-IN" dirty="0"/>
              <a:t>C. Assets – Liabilities</a:t>
            </a:r>
            <a:br>
              <a:rPr lang="en-IN" dirty="0"/>
            </a:br>
            <a:r>
              <a:rPr lang="en-IN" dirty="0"/>
              <a:t>D. Profit ÷ Total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xmlns="" val="362218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845D5F-361E-4A95-B5FD-BDC0C4D86527}"/>
              </a:ext>
            </a:extLst>
          </p:cNvPr>
          <p:cNvSpPr txBox="1"/>
          <p:nvPr/>
        </p:nvSpPr>
        <p:spPr>
          <a:xfrm>
            <a:off x="1839433" y="742254"/>
            <a:ext cx="5256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Q14.</a:t>
            </a:r>
          </a:p>
          <a:p>
            <a:r>
              <a:rPr lang="en-IN" dirty="0"/>
              <a:t>Which financial statement shows actual cash inflow and outflow?</a:t>
            </a:r>
          </a:p>
          <a:p>
            <a:r>
              <a:rPr lang="en-IN" dirty="0"/>
              <a:t>A. Balance Sheet</a:t>
            </a:r>
            <a:br>
              <a:rPr lang="en-IN" dirty="0"/>
            </a:br>
            <a:r>
              <a:rPr lang="en-IN" dirty="0"/>
              <a:t>B. Income Statement</a:t>
            </a:r>
            <a:br>
              <a:rPr lang="en-IN" dirty="0"/>
            </a:br>
            <a:r>
              <a:rPr lang="en-IN" dirty="0"/>
              <a:t>C. Profit Analysis Report</a:t>
            </a:r>
            <a:br>
              <a:rPr lang="en-IN" dirty="0"/>
            </a:br>
            <a:r>
              <a:rPr lang="en-IN" dirty="0"/>
              <a:t>D. Cash Flow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3F47DE7-1DB0-401F-A86F-1F85DE793217}"/>
              </a:ext>
            </a:extLst>
          </p:cNvPr>
          <p:cNvSpPr txBox="1"/>
          <p:nvPr/>
        </p:nvSpPr>
        <p:spPr>
          <a:xfrm>
            <a:off x="2023730" y="34091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xmlns="" val="93182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2813</Words>
  <Application>Microsoft Office PowerPoint</Application>
  <PresentationFormat>On-screen Show (16:9)</PresentationFormat>
  <Paragraphs>512</Paragraphs>
  <Slides>31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Unit IV - Startup in IT</dc:title>
  <dc:subject>PptxGenJS Presentation</dc:subject>
  <dc:creator>LPU Faculty</dc:creator>
  <cp:lastModifiedBy>HP</cp:lastModifiedBy>
  <cp:revision>17</cp:revision>
  <dcterms:created xsi:type="dcterms:W3CDTF">2026-04-17T03:42:51Z</dcterms:created>
  <dcterms:modified xsi:type="dcterms:W3CDTF">2026-05-06T05:14:41Z</dcterms:modified>
</cp:coreProperties>
</file>