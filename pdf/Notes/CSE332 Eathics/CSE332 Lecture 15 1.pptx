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1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EA58D-AFAB-4BD5-BE64-55C65564DEA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553E8-86CB-47D5-B4A7-356783B8AB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Minimum Viable Product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553E8-86CB-47D5-B4A7-356783B8AB3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56994" y="2149551"/>
            <a:ext cx="5430011" cy="7703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0975" y="3896995"/>
            <a:ext cx="5006340" cy="1000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1449"/>
            <a:ext cx="9144000" cy="9372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42544"/>
            <a:ext cx="6927850" cy="844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133678"/>
            <a:ext cx="7019925" cy="370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7446" rIns="0" bIns="0" rtlCol="0">
            <a:spAutoFit/>
          </a:bodyPr>
          <a:lstStyle/>
          <a:p>
            <a:pPr marL="1753235">
              <a:lnSpc>
                <a:spcPct val="100000"/>
              </a:lnSpc>
              <a:spcBef>
                <a:spcPts val="110"/>
              </a:spcBef>
            </a:pPr>
            <a:r>
              <a:rPr sz="4000" b="0" spc="105" dirty="0">
                <a:latin typeface="Microsoft Sans Serif"/>
                <a:cs typeface="Microsoft Sans Serif"/>
              </a:rPr>
              <a:t>CSE332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2944" y="4039946"/>
            <a:ext cx="420243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solidFill>
                  <a:srgbClr val="888888"/>
                </a:solidFill>
                <a:latin typeface="Calibri"/>
                <a:cs typeface="Calibri"/>
              </a:rPr>
              <a:t>Unit</a:t>
            </a:r>
            <a:r>
              <a:rPr sz="40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888888"/>
                </a:solidFill>
                <a:latin typeface="Calibri"/>
                <a:cs typeface="Calibri"/>
              </a:rPr>
              <a:t>4:-</a:t>
            </a:r>
            <a:r>
              <a:rPr sz="4000" spc="-5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888888"/>
                </a:solidFill>
                <a:latin typeface="Calibri"/>
                <a:cs typeface="Calibri"/>
              </a:rPr>
              <a:t>Startup</a:t>
            </a:r>
            <a:r>
              <a:rPr sz="4000" spc="-5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888888"/>
                </a:solidFill>
                <a:latin typeface="Calibri"/>
                <a:cs typeface="Calibri"/>
              </a:rPr>
              <a:t>In</a:t>
            </a:r>
            <a:r>
              <a:rPr sz="40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888888"/>
                </a:solidFill>
                <a:latin typeface="Calibri"/>
                <a:cs typeface="Calibri"/>
              </a:rPr>
              <a:t>IT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"/>
                <a:cs typeface="Calibri"/>
              </a:rPr>
              <a:t>IT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Startup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Business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Plan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rgbClr val="888888"/>
                </a:solidFill>
              </a:rPr>
              <a:t>Executive</a:t>
            </a:r>
            <a:r>
              <a:rPr spc="-70" dirty="0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Summary</a:t>
            </a:r>
            <a:r>
              <a:rPr spc="-30" dirty="0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&amp;</a:t>
            </a:r>
            <a:r>
              <a:rPr spc="-80" dirty="0">
                <a:solidFill>
                  <a:srgbClr val="888888"/>
                </a:solidFill>
              </a:rPr>
              <a:t> </a:t>
            </a:r>
            <a:r>
              <a:rPr spc="-10" dirty="0">
                <a:solidFill>
                  <a:srgbClr val="888888"/>
                </a:solidFill>
              </a:rPr>
              <a:t>General </a:t>
            </a:r>
            <a:r>
              <a:rPr dirty="0">
                <a:solidFill>
                  <a:srgbClr val="888888"/>
                </a:solidFill>
              </a:rPr>
              <a:t>Company</a:t>
            </a:r>
            <a:r>
              <a:rPr spc="-155" dirty="0">
                <a:solidFill>
                  <a:srgbClr val="888888"/>
                </a:solidFill>
              </a:rPr>
              <a:t> </a:t>
            </a:r>
            <a:r>
              <a:rPr spc="-10" dirty="0">
                <a:solidFill>
                  <a:srgbClr val="888888"/>
                </a:solidFill>
              </a:rPr>
              <a:t>Description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Executive</a:t>
            </a:r>
            <a:r>
              <a:rPr spc="-165" dirty="0"/>
              <a:t> </a:t>
            </a:r>
            <a:r>
              <a:rPr spc="-1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51813"/>
            <a:ext cx="3586595" cy="4284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5488" y="1341119"/>
            <a:ext cx="4401312" cy="4895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Executive</a:t>
            </a:r>
            <a:r>
              <a:rPr spc="-16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8075930" cy="38315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Introduction: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Overview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startup.</a:t>
            </a:r>
            <a:endParaRPr sz="3200">
              <a:latin typeface="Calibri"/>
              <a:cs typeface="Calibri"/>
            </a:endParaRPr>
          </a:p>
          <a:p>
            <a:pPr marL="356870" marR="635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064385" algn="l"/>
                <a:tab pos="2570480" algn="l"/>
                <a:tab pos="3792854" algn="l"/>
                <a:tab pos="4728845" algn="l"/>
                <a:tab pos="5125085" algn="l"/>
                <a:tab pos="6202045" algn="l"/>
                <a:tab pos="6832600" algn="l"/>
              </a:tabLst>
            </a:pPr>
            <a:r>
              <a:rPr sz="3200" b="1" spc="-10" dirty="0">
                <a:latin typeface="Calibri"/>
                <a:cs typeface="Calibri"/>
              </a:rPr>
              <a:t>Industry: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sector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with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focus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specific niche.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2113280" algn="l"/>
                <a:tab pos="3631565" algn="l"/>
                <a:tab pos="7195820" algn="l"/>
              </a:tabLst>
            </a:pPr>
            <a:r>
              <a:rPr sz="3200" b="1" spc="-10" dirty="0">
                <a:latin typeface="Calibri"/>
                <a:cs typeface="Calibri"/>
              </a:rPr>
              <a:t>Business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Model: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Subscription-</a:t>
            </a:r>
            <a:r>
              <a:rPr sz="3200" spc="-10" dirty="0">
                <a:latin typeface="Calibri"/>
                <a:cs typeface="Calibri"/>
              </a:rPr>
              <a:t>based,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SaaS, </a:t>
            </a:r>
            <a:r>
              <a:rPr sz="3200" dirty="0">
                <a:latin typeface="Calibri"/>
                <a:cs typeface="Calibri"/>
              </a:rPr>
              <a:t>consulting,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solutions.</a:t>
            </a:r>
            <a:endParaRPr sz="3200">
              <a:latin typeface="Calibri"/>
              <a:cs typeface="Calibri"/>
            </a:endParaRPr>
          </a:p>
          <a:p>
            <a:pPr marL="356870" marR="762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1545590" algn="l"/>
                <a:tab pos="3034030" algn="l"/>
                <a:tab pos="4076700" algn="l"/>
                <a:tab pos="6101080" algn="l"/>
              </a:tabLst>
            </a:pPr>
            <a:r>
              <a:rPr sz="3200" b="1" spc="-10" dirty="0">
                <a:latin typeface="Calibri"/>
                <a:cs typeface="Calibri"/>
              </a:rPr>
              <a:t>Target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Market: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Small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businesses,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enterprises, healthcare,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fintech,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185" dirty="0"/>
              <a:t> </a:t>
            </a:r>
            <a:r>
              <a:rPr spc="-10" dirty="0"/>
              <a:t>Offerings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870391"/>
            <a:ext cx="5220335" cy="317500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Services/Products:</a:t>
            </a:r>
            <a:endParaRPr sz="3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Custom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AI-</a:t>
            </a:r>
            <a:r>
              <a:rPr sz="2800" dirty="0">
                <a:latin typeface="Calibri"/>
                <a:cs typeface="Calibri"/>
              </a:rPr>
              <a:t>driven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automation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Cloud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consulting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Cybersecurity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Goals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10" dirty="0"/>
              <a:t> 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7767955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Launch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MVP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[timeframe].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Acquire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[X]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clients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first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year.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Expand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team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[timeframe].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Achieve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revenue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growth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[X%]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annually.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Financial</a:t>
            </a:r>
            <a:r>
              <a:rPr spc="-17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b="1" dirty="0">
                <a:latin typeface="Calibri"/>
                <a:cs typeface="Calibri"/>
              </a:rPr>
              <a:t>Initial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Investment: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dirty="0"/>
              <a:t>$X</a:t>
            </a:r>
            <a:r>
              <a:rPr spc="-80" dirty="0"/>
              <a:t> </a:t>
            </a:r>
            <a:r>
              <a:rPr dirty="0"/>
              <a:t>(for</a:t>
            </a:r>
            <a:r>
              <a:rPr spc="-110" dirty="0"/>
              <a:t> </a:t>
            </a:r>
            <a:r>
              <a:rPr spc="-10" dirty="0"/>
              <a:t>development, </a:t>
            </a:r>
            <a:r>
              <a:rPr dirty="0"/>
              <a:t>marketing,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operations).</a:t>
            </a: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b="1" spc="-10" dirty="0">
                <a:latin typeface="Calibri"/>
                <a:cs typeface="Calibri"/>
              </a:rPr>
              <a:t>Revenue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Streams:</a:t>
            </a: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spc="-20" dirty="0">
                <a:latin typeface="Calibri"/>
                <a:cs typeface="Calibri"/>
              </a:rPr>
              <a:t>Subscription-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services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licensing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Consulting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fees</a:t>
            </a:r>
            <a:endParaRPr sz="2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</a:tabLst>
            </a:pPr>
            <a:r>
              <a:rPr b="1" spc="-10" dirty="0">
                <a:latin typeface="Calibri"/>
                <a:cs typeface="Calibri"/>
              </a:rPr>
              <a:t>Projected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ROI: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dirty="0"/>
              <a:t>Within</a:t>
            </a:r>
            <a:r>
              <a:rPr spc="-75" dirty="0"/>
              <a:t> </a:t>
            </a:r>
            <a:r>
              <a:rPr dirty="0"/>
              <a:t>[X]</a:t>
            </a:r>
            <a:r>
              <a:rPr spc="-70" dirty="0"/>
              <a:t> </a:t>
            </a:r>
            <a:r>
              <a:rPr spc="-10" dirty="0"/>
              <a:t>years.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Competitive</a:t>
            </a:r>
            <a:r>
              <a:rPr spc="-175" dirty="0"/>
              <a:t> </a:t>
            </a:r>
            <a:r>
              <a:rPr spc="-10" dirty="0"/>
              <a:t>Advantage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8073390" cy="38315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Innovation: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AI-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automation.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216910" algn="l"/>
                <a:tab pos="5457825" algn="l"/>
                <a:tab pos="7756525" algn="l"/>
              </a:tabLst>
            </a:pPr>
            <a:r>
              <a:rPr sz="3200" b="1" spc="-25" dirty="0">
                <a:latin typeface="Calibri"/>
                <a:cs typeface="Calibri"/>
              </a:rPr>
              <a:t>Cost-</a:t>
            </a:r>
            <a:r>
              <a:rPr sz="3200" b="1" spc="-10" dirty="0">
                <a:latin typeface="Calibri"/>
                <a:cs typeface="Calibri"/>
              </a:rPr>
              <a:t>Effective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Solutions: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Affordable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services.</a:t>
            </a:r>
            <a:endParaRPr sz="3200">
              <a:latin typeface="Calibri"/>
              <a:cs typeface="Calibri"/>
            </a:endParaRPr>
          </a:p>
          <a:p>
            <a:pPr marL="356870" marR="762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1637030" algn="l"/>
                <a:tab pos="2839085" algn="l"/>
                <a:tab pos="4095115" algn="l"/>
                <a:tab pos="6451600" algn="l"/>
                <a:tab pos="6946265" algn="l"/>
                <a:tab pos="7433945" algn="l"/>
              </a:tabLst>
            </a:pPr>
            <a:r>
              <a:rPr sz="3200" b="1" spc="-10" dirty="0">
                <a:latin typeface="Calibri"/>
                <a:cs typeface="Calibri"/>
              </a:rPr>
              <a:t>Expert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0" dirty="0">
                <a:latin typeface="Calibri"/>
                <a:cs typeface="Calibri"/>
              </a:rPr>
              <a:t>Team: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Skilled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professionals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development.</a:t>
            </a:r>
            <a:endParaRPr sz="3200">
              <a:latin typeface="Calibri"/>
              <a:cs typeface="Calibri"/>
            </a:endParaRPr>
          </a:p>
          <a:p>
            <a:pPr marL="356870" marR="571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418080" algn="l"/>
                <a:tab pos="4173854" algn="l"/>
                <a:tab pos="6061710" algn="l"/>
                <a:tab pos="6647180" algn="l"/>
              </a:tabLst>
            </a:pPr>
            <a:r>
              <a:rPr sz="3200" b="1" spc="-10" dirty="0">
                <a:latin typeface="Calibri"/>
                <a:cs typeface="Calibri"/>
              </a:rPr>
              <a:t>Scalability: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Solutions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adaptable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business growth.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General</a:t>
            </a:r>
            <a:r>
              <a:rPr spc="-250" dirty="0"/>
              <a:t> </a:t>
            </a:r>
            <a:r>
              <a:rPr dirty="0"/>
              <a:t>Company</a:t>
            </a:r>
            <a:r>
              <a:rPr spc="-24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7703820" cy="344106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Company</a:t>
            </a:r>
            <a:r>
              <a:rPr sz="3200" b="1" spc="-17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Name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Founded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Location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Business</a:t>
            </a:r>
            <a:r>
              <a:rPr sz="3200" b="1" spc="-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Structure: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Sole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proprietorship,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LLC,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Private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Limited.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Founders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b="1" spc="-45" dirty="0">
                <a:latin typeface="Calibri"/>
                <a:cs typeface="Calibri"/>
              </a:rPr>
              <a:t>Team: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Names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expertise.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Mission</a:t>
            </a:r>
            <a:r>
              <a:rPr spc="-40" dirty="0"/>
              <a:t> </a:t>
            </a:r>
            <a:r>
              <a:rPr spc="-2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133678"/>
            <a:ext cx="545909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1262380" algn="l"/>
                <a:tab pos="2076450" algn="l"/>
                <a:tab pos="2759710" algn="l"/>
                <a:tab pos="3802379" algn="l"/>
                <a:tab pos="4845050" algn="l"/>
              </a:tabLst>
            </a:pPr>
            <a:r>
              <a:rPr sz="3200" spc="-25" dirty="0">
                <a:latin typeface="Calibri"/>
                <a:cs typeface="Calibri"/>
              </a:rPr>
              <a:t>"To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deliver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innovative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enhance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business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40" dirty="0">
                <a:latin typeface="Calibri"/>
                <a:cs typeface="Calibri"/>
              </a:rPr>
              <a:t>efficiency,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9739" y="1133678"/>
            <a:ext cx="25730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95"/>
              </a:spcBef>
              <a:tabLst>
                <a:tab pos="1881505" algn="l"/>
                <a:tab pos="1932939" algn="l"/>
              </a:tabLst>
            </a:pPr>
            <a:r>
              <a:rPr sz="3200" spc="-10" dirty="0">
                <a:latin typeface="Calibri"/>
                <a:cs typeface="Calibri"/>
              </a:rPr>
              <a:t>solutions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that </a:t>
            </a:r>
            <a:r>
              <a:rPr sz="3200" spc="-10" dirty="0">
                <a:latin typeface="Calibri"/>
                <a:cs typeface="Calibri"/>
              </a:rPr>
              <a:t>security,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5" dirty="0">
                <a:latin typeface="Calibri"/>
                <a:cs typeface="Calibri"/>
              </a:rPr>
              <a:t>and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668" y="2109673"/>
            <a:ext cx="772985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863089" algn="l"/>
                <a:tab pos="3439795" algn="l"/>
                <a:tab pos="4606925" algn="l"/>
                <a:tab pos="7241540" algn="l"/>
              </a:tabLst>
            </a:pPr>
            <a:r>
              <a:rPr sz="3200" spc="-10" dirty="0">
                <a:latin typeface="Calibri"/>
                <a:cs typeface="Calibri"/>
              </a:rPr>
              <a:t>scalability,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enabling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digital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transformation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dirty="0">
                <a:latin typeface="Calibri"/>
                <a:cs typeface="Calibri"/>
              </a:rPr>
              <a:t>businesses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sizes."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06603"/>
            <a:ext cx="398589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45" dirty="0"/>
              <a:t> </a:t>
            </a:r>
            <a:r>
              <a:rPr spc="-2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9086"/>
            <a:ext cx="807402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"To</a:t>
            </a:r>
            <a:r>
              <a:rPr sz="3200" spc="7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become</a:t>
            </a:r>
            <a:r>
              <a:rPr sz="3200" spc="7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leading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solutions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provider 	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540" dirty="0">
                <a:latin typeface="Calibri"/>
                <a:cs typeface="Calibri"/>
              </a:rPr>
              <a:t>  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535" dirty="0">
                <a:latin typeface="Calibri"/>
                <a:cs typeface="Calibri"/>
              </a:rPr>
              <a:t>   </a:t>
            </a:r>
            <a:r>
              <a:rPr sz="3200" dirty="0">
                <a:latin typeface="Calibri"/>
                <a:cs typeface="Calibri"/>
              </a:rPr>
              <a:t>innovation,</a:t>
            </a:r>
            <a:r>
              <a:rPr sz="3200" spc="545" dirty="0">
                <a:latin typeface="Calibri"/>
                <a:cs typeface="Calibri"/>
              </a:rPr>
              <a:t>   </a:t>
            </a:r>
            <a:r>
              <a:rPr sz="3200" dirty="0">
                <a:latin typeface="Calibri"/>
                <a:cs typeface="Calibri"/>
              </a:rPr>
              <a:t>reliability,</a:t>
            </a:r>
            <a:r>
              <a:rPr sz="3200" spc="545" dirty="0">
                <a:latin typeface="Calibri"/>
                <a:cs typeface="Calibri"/>
              </a:rPr>
              <a:t>   </a:t>
            </a:r>
            <a:r>
              <a:rPr sz="3200" spc="-25" dirty="0">
                <a:latin typeface="Calibri"/>
                <a:cs typeface="Calibri"/>
              </a:rPr>
              <a:t>and 	</a:t>
            </a:r>
            <a:r>
              <a:rPr sz="3200" spc="-30" dirty="0">
                <a:latin typeface="Calibri"/>
                <a:cs typeface="Calibri"/>
              </a:rPr>
              <a:t>customer-</a:t>
            </a:r>
            <a:r>
              <a:rPr sz="3200" dirty="0">
                <a:latin typeface="Calibri"/>
                <a:cs typeface="Calibri"/>
              </a:rPr>
              <a:t>centric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technology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solutions."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Market</a:t>
            </a:r>
            <a:r>
              <a:rPr spc="-21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6816725" cy="32340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Industry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Growth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50" dirty="0">
                <a:latin typeface="Calibri"/>
                <a:cs typeface="Calibri"/>
              </a:rPr>
              <a:t>Target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Market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Needs:</a:t>
            </a:r>
            <a:endParaRPr sz="3200">
              <a:latin typeface="Calibri"/>
              <a:cs typeface="Calibri"/>
            </a:endParaRPr>
          </a:p>
          <a:p>
            <a:pPr marL="756285" marR="64071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Demand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AI,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cloud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computing,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cybersecurity.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Businesses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seeking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transformation.</a:t>
            </a:r>
            <a:endParaRPr sz="28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Opportunity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600"/>
            <a:ext cx="273240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Core</a:t>
            </a:r>
            <a:r>
              <a:rPr spc="-100" dirty="0"/>
              <a:t> </a:t>
            </a:r>
            <a:r>
              <a:rPr spc="-3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8074659" cy="38315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Innovation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–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Continuous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advancements.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3680460" algn="l"/>
                <a:tab pos="5689600" algn="l"/>
                <a:tab pos="6278245" algn="l"/>
              </a:tabLst>
            </a:pPr>
            <a:r>
              <a:rPr sz="3200" b="1" spc="-30" dirty="0">
                <a:latin typeface="Calibri"/>
                <a:cs typeface="Calibri"/>
              </a:rPr>
              <a:t>Customer-</a:t>
            </a:r>
            <a:r>
              <a:rPr sz="3200" b="1" spc="-10" dirty="0">
                <a:latin typeface="Calibri"/>
                <a:cs typeface="Calibri"/>
              </a:rPr>
              <a:t>Centric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Approach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–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Prioritizing </a:t>
            </a:r>
            <a:r>
              <a:rPr sz="3200" dirty="0">
                <a:latin typeface="Calibri"/>
                <a:cs typeface="Calibri"/>
              </a:rPr>
              <a:t>client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needs.</a:t>
            </a:r>
            <a:endParaRPr sz="3200">
              <a:latin typeface="Calibri"/>
              <a:cs typeface="Calibri"/>
            </a:endParaRPr>
          </a:p>
          <a:p>
            <a:pPr marL="356870" marR="8255" indent="-34480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  <a:tab pos="2237740" algn="l"/>
                <a:tab pos="2976245" algn="l"/>
                <a:tab pos="4792980" algn="l"/>
                <a:tab pos="5445760" algn="l"/>
                <a:tab pos="7327265" algn="l"/>
              </a:tabLst>
            </a:pPr>
            <a:r>
              <a:rPr sz="3200" b="1" spc="-10" dirty="0">
                <a:latin typeface="Calibri"/>
                <a:cs typeface="Calibri"/>
              </a:rPr>
              <a:t>Integrity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&amp;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Security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–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Ensuring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5" dirty="0">
                <a:latin typeface="Calibri"/>
                <a:cs typeface="Calibri"/>
              </a:rPr>
              <a:t>data </a:t>
            </a:r>
            <a:r>
              <a:rPr sz="3200" spc="-10" dirty="0">
                <a:latin typeface="Calibri"/>
                <a:cs typeface="Calibri"/>
              </a:rPr>
              <a:t>protection.</a:t>
            </a:r>
            <a:endParaRPr sz="3200">
              <a:latin typeface="Calibri"/>
              <a:cs typeface="Calibri"/>
            </a:endParaRPr>
          </a:p>
          <a:p>
            <a:pPr marL="356870" marR="825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  <a:tab pos="2210435" algn="l"/>
                <a:tab pos="2637790" algn="l"/>
                <a:tab pos="4372610" algn="l"/>
                <a:tab pos="4713605" algn="l"/>
                <a:tab pos="6405880" algn="l"/>
              </a:tabLst>
            </a:pPr>
            <a:r>
              <a:rPr sz="3200" b="1" spc="-10" dirty="0">
                <a:latin typeface="Calibri"/>
                <a:cs typeface="Calibri"/>
              </a:rPr>
              <a:t>Scalability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50" dirty="0">
                <a:latin typeface="Calibri"/>
                <a:cs typeface="Calibri"/>
              </a:rPr>
              <a:t>&amp;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Efficiency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–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Providing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adaptable </a:t>
            </a:r>
            <a:r>
              <a:rPr sz="3200" spc="-10" dirty="0">
                <a:latin typeface="Calibri"/>
                <a:cs typeface="Calibri"/>
              </a:rPr>
              <a:t>solutions.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Contact</a:t>
            </a:r>
            <a:r>
              <a:rPr spc="-235" dirty="0"/>
              <a:t> </a:t>
            </a:r>
            <a:r>
              <a:rPr spc="-10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962899"/>
            <a:ext cx="3049270" cy="29533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dirty="0">
                <a:latin typeface="Calibri"/>
                <a:cs typeface="Calibri"/>
              </a:rPr>
              <a:t>Company</a:t>
            </a:r>
            <a:r>
              <a:rPr sz="3200" b="1" spc="-17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Name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Website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Email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Phone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b="1" spc="-10" dirty="0">
                <a:latin typeface="Calibri"/>
                <a:cs typeface="Calibri"/>
              </a:rPr>
              <a:t>Address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214</Words>
  <Application>Microsoft Office PowerPoint</Application>
  <PresentationFormat>On-screen Show (4:3)</PresentationFormat>
  <Paragraphs>65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CSE332</vt:lpstr>
      <vt:lpstr>IT Startup Business Plan</vt:lpstr>
      <vt:lpstr>Executive Summary</vt:lpstr>
      <vt:lpstr>Executive Summary</vt:lpstr>
      <vt:lpstr>Key Offerings</vt:lpstr>
      <vt:lpstr>Goals &amp; Objectives</vt:lpstr>
      <vt:lpstr>Financial Overview</vt:lpstr>
      <vt:lpstr>Competitive Advantage</vt:lpstr>
      <vt:lpstr>General Company Description</vt:lpstr>
      <vt:lpstr>Mission Statement</vt:lpstr>
      <vt:lpstr>Vision Statement</vt:lpstr>
      <vt:lpstr>Market Analysis</vt:lpstr>
      <vt:lpstr>Core Values</vt:lpstr>
      <vt:lpstr>Contact Information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</dc:title>
  <cp:lastModifiedBy>HP</cp:lastModifiedBy>
  <cp:revision>1</cp:revision>
  <dcterms:created xsi:type="dcterms:W3CDTF">2025-03-17T04:27:12Z</dcterms:created>
  <dcterms:modified xsi:type="dcterms:W3CDTF">2026-04-22T03:27:50Z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2025-03-17T00:00:00Z</vt:filetime>
  </property>
  <property fmtid="{D5CDD505-2E9C-101B-9397-08002B2CF9AE}" pid="5" name="Producer">
    <vt:lpwstr>www.ilovepdf.com</vt:lpwstr>
  </property>
</Properties>
</file>