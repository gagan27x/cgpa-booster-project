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>
  <p:sldMasterIdLst>
    <p:sldMasterId id="2147483701" r:id="rId1"/>
  </p:sldMasterIdLst>
  <p:notesMasterIdLst>
    <p:notesMasterId r:id="rId18"/>
  </p:notesMasterIdLst>
  <p:handoutMasterIdLst>
    <p:handoutMasterId r:id="rId19"/>
  </p:handoutMasterIdLst>
  <p:sldIdLst>
    <p:sldId id="299" r:id="rId2"/>
    <p:sldId id="318" r:id="rId3"/>
    <p:sldId id="333" r:id="rId4"/>
    <p:sldId id="319" r:id="rId5"/>
    <p:sldId id="320" r:id="rId6"/>
    <p:sldId id="321" r:id="rId7"/>
    <p:sldId id="322" r:id="rId8"/>
    <p:sldId id="323" r:id="rId9"/>
    <p:sldId id="324" r:id="rId10"/>
    <p:sldId id="325" r:id="rId11"/>
    <p:sldId id="326" r:id="rId12"/>
    <p:sldId id="327" r:id="rId13"/>
    <p:sldId id="328" r:id="rId14"/>
    <p:sldId id="329" r:id="rId15"/>
    <p:sldId id="332" r:id="rId16"/>
    <p:sldId id="331" r:id="rId17"/>
  </p:sldIdLst>
  <p:sldSz cx="9144000" cy="6858000" type="screen4x3"/>
  <p:notesSz cx="7315200" cy="96012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FF6600"/>
    <a:srgbClr val="CCFF99"/>
    <a:srgbClr val="FFCC99"/>
    <a:srgbClr val="FF9933"/>
    <a:srgbClr val="FFFF99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0171" autoAdjust="0"/>
  </p:normalViewPr>
  <p:slideViewPr>
    <p:cSldViewPr>
      <p:cViewPr varScale="1">
        <p:scale>
          <a:sx n="65" d="100"/>
          <a:sy n="65" d="100"/>
        </p:scale>
        <p:origin x="-1536" y="-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100" d="100"/>
          <a:sy n="100" d="100"/>
        </p:scale>
        <p:origin x="-636" y="2586"/>
      </p:cViewPr>
      <p:guideLst>
        <p:guide orient="horz" pos="3024"/>
        <p:guide pos="2304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l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7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pPr>
              <a:defRPr/>
            </a:pPr>
            <a:fld id="{EA2130B6-B841-40C5-8C66-8DDA29CCC6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77158" name="Rectangle 6"/>
          <p:cNvSpPr>
            <a:spLocks noChangeArrowheads="1"/>
          </p:cNvSpPr>
          <p:nvPr/>
        </p:nvSpPr>
        <p:spPr bwMode="auto">
          <a:xfrm>
            <a:off x="533400" y="304800"/>
            <a:ext cx="38163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0243" tIns="50122" rIns="100243" bIns="50122"/>
          <a:lstStyle/>
          <a:p>
            <a:pPr algn="l" defTabSz="1003300">
              <a:defRPr/>
            </a:pPr>
            <a:r>
              <a:rPr lang="en-US" sz="1800" b="1" i="1"/>
              <a:t>Design and Analysis of Algorithms</a:t>
            </a:r>
          </a:p>
        </p:txBody>
      </p:sp>
      <p:sp>
        <p:nvSpPr>
          <p:cNvPr id="177159" name="Rectangle 7"/>
          <p:cNvSpPr>
            <a:spLocks noChangeArrowheads="1"/>
          </p:cNvSpPr>
          <p:nvPr/>
        </p:nvSpPr>
        <p:spPr bwMode="auto">
          <a:xfrm>
            <a:off x="4322763" y="304800"/>
            <a:ext cx="238283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0243" tIns="50122" rIns="100243" bIns="50122"/>
          <a:lstStyle/>
          <a:p>
            <a:pPr algn="r" defTabSz="1003300">
              <a:defRPr/>
            </a:pPr>
            <a:r>
              <a:rPr lang="en-US" sz="1800" b="1" i="1"/>
              <a:t>Chapter 3</a:t>
            </a:r>
          </a:p>
        </p:txBody>
      </p:sp>
    </p:spTree>
    <p:extLst>
      <p:ext uri="{BB962C8B-B14F-4D97-AF65-F5344CB8AC3E}">
        <p14:creationId xmlns=""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ctr" anchorCtr="0" compatLnSpc="1">
            <a:prstTxWarp prst="textNoShape">
              <a:avLst/>
            </a:prstTxWarp>
          </a:bodyPr>
          <a:lstStyle>
            <a:lvl1pPr algn="l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810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ctr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6313" y="4560888"/>
            <a:ext cx="5362575" cy="43211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1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810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l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0188"/>
            <a:ext cx="3170237" cy="4810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pPr>
              <a:defRPr/>
            </a:pPr>
            <a:fld id="{4071AC33-5DD2-4A2A-9177-D292C1DD4E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71AC33-5DD2-4A2A-9177-D292C1DD4EC0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449586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Tea</a:t>
            </a:r>
            <a:r>
              <a:rPr lang="en-US" baseline="0" dirty="0" smtClean="0"/>
              <a:t> Board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71AC33-5DD2-4A2A-9177-D292C1DD4EC0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SIDBI-SMALL</a:t>
            </a:r>
            <a:r>
              <a:rPr lang="en-US" baseline="0" dirty="0" smtClean="0"/>
              <a:t>  INDUSTRIES DEVELOPMENT BANK OF INDIA</a:t>
            </a:r>
          </a:p>
          <a:p>
            <a:r>
              <a:rPr lang="en-US" baseline="0" dirty="0" smtClean="0"/>
              <a:t>FFS- FUND OF FUNDS FOR STARTUPS</a:t>
            </a:r>
          </a:p>
          <a:p>
            <a:r>
              <a:rPr lang="en-US" baseline="0" dirty="0" smtClean="0"/>
              <a:t>SME-SMALL AND MEDIUM ENTERPRISES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71AC33-5DD2-4A2A-9177-D292C1DD4EC0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Public</a:t>
            </a:r>
            <a:r>
              <a:rPr lang="en-US" baseline="0" dirty="0" smtClean="0"/>
              <a:t> Procurement: The process by which the govt. buys </a:t>
            </a:r>
            <a:r>
              <a:rPr lang="en-US" baseline="0" dirty="0" err="1" smtClean="0"/>
              <a:t>goods,services</a:t>
            </a:r>
            <a:r>
              <a:rPr lang="en-US" baseline="0" dirty="0" smtClean="0"/>
              <a:t> and works from private companies.</a:t>
            </a:r>
          </a:p>
          <a:p>
            <a:r>
              <a:rPr lang="en-US" baseline="0" dirty="0" smtClean="0"/>
              <a:t>Ex. Govt. need computers.</a:t>
            </a:r>
          </a:p>
          <a:p>
            <a:r>
              <a:rPr lang="en-US" baseline="0" dirty="0" smtClean="0"/>
              <a:t>PSU-public sector undertaking-It is a company owned and controlled by the government.</a:t>
            </a:r>
          </a:p>
          <a:p>
            <a:r>
              <a:rPr lang="en-US" baseline="0" dirty="0" smtClean="0"/>
              <a:t>e.g. BHEL,SBI and NTPC(National Thermal Power </a:t>
            </a:r>
            <a:r>
              <a:rPr lang="en-US" baseline="0" dirty="0" err="1" smtClean="0"/>
              <a:t>Corportion</a:t>
            </a:r>
            <a:r>
              <a:rPr lang="en-US" baseline="0" dirty="0" smtClean="0"/>
              <a:t>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71AC33-5DD2-4A2A-9177-D292C1DD4EC0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NBFC-Non-banking financial company e.g. Bajaj Finance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71AC33-5DD2-4A2A-9177-D292C1DD4EC0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and Analysis of Algorithms - Chapter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94FF60-D5D7-4036-A5D6-4FFB9D619E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B2271B-E278-477B-BFED-E836F15DBE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4D2D0E-C252-40B7-83B9-1ACF012A17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2565D-911C-4D61-9359-E832714B80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F5D234-80C8-4687-AB8B-0AD2214E7D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711FF1-D161-4523-90AF-E2F343F4DF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0D394D-D6E4-420D-8802-7A1031B556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02236D-74A7-478A-BB01-6959791FE7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75121F-84C4-4DC2-9044-BBA470E3F4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688D34-2BCF-41AF-8789-7B60FFCC42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3E6D1F-F8BA-4934-A475-DF8F20FF96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-18288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86E5091-BE1D-47EA-AF37-E0686E3F00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27"/>
          <p:cNvSpPr>
            <a:spLocks noGrp="1" noChangeArrowheads="1"/>
          </p:cNvSpPr>
          <p:nvPr userDrawn="1"/>
        </p:nvSpPr>
        <p:spPr bwMode="auto">
          <a:xfrm>
            <a:off x="6908800" y="6426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latin typeface="Arial Narrow" pitchFamily="34" charset="0"/>
              <a:ea typeface="ヒラギノ角ゴ Pro W3" pitchFamily="84" charset="-128"/>
            </a:endParaRPr>
          </a:p>
        </p:txBody>
      </p:sp>
      <p:sp>
        <p:nvSpPr>
          <p:cNvPr id="8" name="Rectangle 28"/>
          <p:cNvSpPr>
            <a:spLocks noChangeArrowheads="1"/>
          </p:cNvSpPr>
          <p:nvPr userDrawn="1"/>
        </p:nvSpPr>
        <p:spPr bwMode="auto">
          <a:xfrm>
            <a:off x="609600" y="6197600"/>
            <a:ext cx="3886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l">
              <a:defRPr/>
            </a:pPr>
            <a:endParaRPr lang="en-US" sz="900" dirty="0">
              <a:latin typeface="Arial" charset="0"/>
              <a:ea typeface="ヒラギノ角ゴ Pro W3" pitchFamily="84" charset="-128"/>
            </a:endParaRPr>
          </a:p>
        </p:txBody>
      </p:sp>
      <p:sp>
        <p:nvSpPr>
          <p:cNvPr id="9" name="Rectangle 29"/>
          <p:cNvSpPr>
            <a:spLocks noGrp="1" noChangeArrowheads="1"/>
          </p:cNvSpPr>
          <p:nvPr userDrawn="1"/>
        </p:nvSpPr>
        <p:spPr bwMode="auto">
          <a:xfrm>
            <a:off x="2667000" y="6488113"/>
            <a:ext cx="6400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sz="1000" dirty="0">
              <a:latin typeface="Arial Narrow" pitchFamily="34" charset="0"/>
              <a:ea typeface="ヒラギノ角ゴ Pro W3" pitchFamily="84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tandupmitra.in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idbi.in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179388" y="1882775"/>
            <a:ext cx="8856662" cy="1470025"/>
          </a:xfrm>
        </p:spPr>
        <p:txBody>
          <a:bodyPr/>
          <a:lstStyle/>
          <a:p>
            <a:pPr algn="ctr" eaLnBrk="1" hangingPunct="1"/>
            <a:r>
              <a:rPr lang="en-US" sz="4000" dirty="0">
                <a:latin typeface="Broadway" pitchFamily="82" charset="0"/>
              </a:rPr>
              <a:t>CSE332</a:t>
            </a:r>
            <a:endParaRPr lang="en-IN" sz="4000" dirty="0">
              <a:latin typeface="Broadway" pitchFamily="82" charset="0"/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1371600" y="4038600"/>
            <a:ext cx="6400800" cy="16764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IN" dirty="0"/>
              <a:t>Unit3:- Government Funding and startup schemes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E34B31A-62E3-6B6B-846E-15BA3A5DF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2880"/>
            <a:ext cx="8229600" cy="2849880"/>
          </a:xfrm>
        </p:spPr>
        <p:txBody>
          <a:bodyPr/>
          <a:lstStyle/>
          <a:p>
            <a:r>
              <a:rPr lang="en-IN" b="1" dirty="0"/>
              <a:t>What are startups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892A9194-ADBB-824C-054A-C2DF3DE51F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383656"/>
            <a:ext cx="8229600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Startups often operate with limited resources and rely on funding from investors, venture capitalists, or crowdfunding.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They typically focus on rapid growth and scalability to achieve success in a competitive market.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Many startups begin as small teams and evolve into larger companies if they succeed.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While some startups achieve great success, many face challenges and risks that can lead to failure.  </a:t>
            </a:r>
          </a:p>
        </p:txBody>
      </p:sp>
    </p:spTree>
    <p:extLst>
      <p:ext uri="{BB962C8B-B14F-4D97-AF65-F5344CB8AC3E}">
        <p14:creationId xmlns="" xmlns:p14="http://schemas.microsoft.com/office/powerpoint/2010/main" val="3187126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/>
          <a:p>
            <a:pPr>
              <a:buNone/>
            </a:pPr>
            <a:r>
              <a:rPr lang="en-US" b="1" dirty="0" err="1" smtClean="0"/>
              <a:t>Crowdfunding</a:t>
            </a:r>
            <a:r>
              <a:rPr lang="en-US" b="1" dirty="0" smtClean="0"/>
              <a:t> Platforms are:</a:t>
            </a:r>
          </a:p>
          <a:p>
            <a:r>
              <a:rPr lang="en-US" dirty="0" err="1" smtClean="0"/>
              <a:t>Kickstarter</a:t>
            </a:r>
            <a:endParaRPr lang="en-US" dirty="0" smtClean="0"/>
          </a:p>
          <a:p>
            <a:r>
              <a:rPr lang="en-US" dirty="0" err="1" smtClean="0"/>
              <a:t>Indiegogo</a:t>
            </a:r>
            <a:endParaRPr lang="en-US" dirty="0" smtClean="0"/>
          </a:p>
          <a:p>
            <a:r>
              <a:rPr lang="en-US" dirty="0" err="1" smtClean="0"/>
              <a:t>GoFundMe</a:t>
            </a:r>
            <a:endParaRPr lang="en-US" dirty="0" smtClean="0"/>
          </a:p>
          <a:p>
            <a:r>
              <a:rPr lang="en-US" dirty="0" err="1" smtClean="0"/>
              <a:t>Ketto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819E191-213D-FA92-215B-115F2A4CE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72528" cy="928670"/>
          </a:xfrm>
        </p:spPr>
        <p:txBody>
          <a:bodyPr/>
          <a:lstStyle/>
          <a:p>
            <a:r>
              <a:rPr lang="en-US" sz="4000" b="1" dirty="0"/>
              <a:t>India (DPIIT - Startup India)</a:t>
            </a:r>
            <a:br>
              <a:rPr lang="en-US" sz="4000" b="1" dirty="0"/>
            </a:b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3AA3EED-9076-67C6-E405-719DC5DAF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616624"/>
          </a:xfrm>
        </p:spPr>
        <p:txBody>
          <a:bodyPr/>
          <a:lstStyle/>
          <a:p>
            <a:pPr algn="just"/>
            <a:r>
              <a:rPr lang="en-US" sz="2800" dirty="0"/>
              <a:t>The </a:t>
            </a:r>
            <a:r>
              <a:rPr lang="en-US" sz="2800" b="1" dirty="0"/>
              <a:t>Department for Promotion of Industry and Internal Trade (DPIIT)</a:t>
            </a:r>
            <a:r>
              <a:rPr lang="en-US" sz="2800" dirty="0"/>
              <a:t> defines a startup as: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A company that has been in existence for </a:t>
            </a:r>
            <a:r>
              <a:rPr lang="en-US" sz="2800" b="1" dirty="0"/>
              <a:t>less than 10 years</a:t>
            </a:r>
            <a:r>
              <a:rPr lang="en-US" sz="2800" dirty="0"/>
              <a:t> from its date of incorporation.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Its annual turnover does not exceed </a:t>
            </a:r>
            <a:r>
              <a:rPr lang="en-US" sz="2800" b="1" dirty="0"/>
              <a:t>INR 100 crore</a:t>
            </a:r>
            <a:r>
              <a:rPr lang="en-US" sz="2800" dirty="0"/>
              <a:t> in any financial year.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It is working towards </a:t>
            </a:r>
            <a:r>
              <a:rPr lang="en-US" sz="2800" b="1" dirty="0"/>
              <a:t>innovation, development, or improvement of products, processes, or services</a:t>
            </a:r>
            <a:r>
              <a:rPr lang="en-US" sz="2800" dirty="0"/>
              <a:t> or has a </a:t>
            </a:r>
            <a:r>
              <a:rPr lang="en-US" sz="2800" b="1" dirty="0"/>
              <a:t>scalable business model</a:t>
            </a:r>
            <a:r>
              <a:rPr lang="en-US" sz="2800" dirty="0"/>
              <a:t> with high potential for employment and wealth creation.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It should </a:t>
            </a:r>
            <a:r>
              <a:rPr lang="en-US" sz="2800" b="1" dirty="0"/>
              <a:t>not be formed by splitting or reconstructing an existing business</a:t>
            </a:r>
            <a:r>
              <a:rPr lang="en-US" sz="2800" dirty="0"/>
              <a:t>.</a:t>
            </a:r>
          </a:p>
          <a:p>
            <a:endParaRPr lang="en-IN" sz="3000" dirty="0"/>
          </a:p>
        </p:txBody>
      </p:sp>
    </p:spTree>
    <p:extLst>
      <p:ext uri="{BB962C8B-B14F-4D97-AF65-F5344CB8AC3E}">
        <p14:creationId xmlns="" xmlns:p14="http://schemas.microsoft.com/office/powerpoint/2010/main" val="1858311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815DBF4-0532-2292-3B4F-56300837A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0648"/>
            <a:ext cx="8229600" cy="1152128"/>
          </a:xfrm>
        </p:spPr>
        <p:txBody>
          <a:bodyPr/>
          <a:lstStyle/>
          <a:p>
            <a:r>
              <a:rPr lang="en-US" b="1" dirty="0"/>
              <a:t>Government Startup Schemes in India &amp; Worldwide( Resources)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52FCCC9-73EF-0DF0-D014-7D4594232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r>
              <a:rPr lang="en-US" b="1" dirty="0"/>
              <a:t>🇮🇳 India (Startup India &amp; Other Schemes)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Startup India Initiative</a:t>
            </a:r>
            <a:r>
              <a:rPr lang="en-US" dirty="0"/>
              <a:t> – Provides tax exemptions, funding support, and ease of business registration.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MUDRA Loan Scheme</a:t>
            </a:r>
            <a:r>
              <a:rPr lang="en-US" dirty="0"/>
              <a:t> – Offers collateral-free loans up to ₹10 lakh for small startups.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Stand-Up India</a:t>
            </a:r>
            <a:r>
              <a:rPr lang="en-US" dirty="0"/>
              <a:t> – Supports SC/ST and women entrepreneurs with loans between ₹10 lakh – ₹1 crore.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517396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26461D7-D568-1026-E0D6-76D09F5A2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Continue..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1E764A8-A700-D3EC-CE2B-82FE5103D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2800" b="1" dirty="0"/>
              <a:t>4. SIDBI Fund of Funds</a:t>
            </a:r>
            <a:r>
              <a:rPr lang="en-US" sz="2800" dirty="0"/>
              <a:t> – ₹10,000 crore fund to invest in startups through venture capital firms.</a:t>
            </a:r>
          </a:p>
          <a:p>
            <a:pPr marL="0" indent="0" algn="just">
              <a:buNone/>
            </a:pPr>
            <a:r>
              <a:rPr lang="en-US" sz="2800" b="1" dirty="0"/>
              <a:t>5. Atal Innovation Mission (AIM)</a:t>
            </a:r>
            <a:r>
              <a:rPr lang="en-US" sz="2800" dirty="0"/>
              <a:t> – Supports innovation and incubation centers in schools &amp; universities.</a:t>
            </a:r>
          </a:p>
          <a:p>
            <a:pPr marL="0" indent="0" algn="just">
              <a:buNone/>
            </a:pPr>
            <a:r>
              <a:rPr lang="en-US" sz="2800" b="1" dirty="0"/>
              <a:t>6. E-Marketplace</a:t>
            </a:r>
            <a:r>
              <a:rPr lang="en-US" sz="2800" dirty="0"/>
              <a:t> – Allows startups to sell products/services to the government easily.</a:t>
            </a:r>
          </a:p>
          <a:p>
            <a:pPr marL="0" indent="0" algn="just">
              <a:buNone/>
            </a:pPr>
            <a:r>
              <a:rPr lang="en-US" sz="2800" b="1" dirty="0"/>
              <a:t>7. SEED Fund Scheme</a:t>
            </a:r>
            <a:r>
              <a:rPr lang="en-US" sz="2800" dirty="0"/>
              <a:t> – Provides financial assistance of up to ₹50 lakh for early-stage startups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="" xmlns:p14="http://schemas.microsoft.com/office/powerpoint/2010/main" val="1927102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3E75A73-5F40-139E-EE91-84FE5AFC8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Startup India Scheme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77FA01B-9C54-8683-3400-8BBF3CC1D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/>
              <a:t>1. Tax 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Tax Holiday for 3 Years</a:t>
            </a:r>
            <a:r>
              <a:rPr lang="en-US" sz="2800" dirty="0"/>
              <a:t> – Startups registered under </a:t>
            </a:r>
            <a:r>
              <a:rPr lang="en-US" sz="2800" b="1" dirty="0"/>
              <a:t>DPIIT</a:t>
            </a:r>
            <a:r>
              <a:rPr lang="en-US" sz="2800" dirty="0"/>
              <a:t> (Department for Promotion of Industry and Internal Trade) get a </a:t>
            </a:r>
            <a:r>
              <a:rPr lang="en-US" sz="2800" b="1" dirty="0"/>
              <a:t>100% tax exemption</a:t>
            </a:r>
            <a:r>
              <a:rPr lang="en-US" sz="2800" dirty="0"/>
              <a:t> for the first </a:t>
            </a:r>
            <a:r>
              <a:rPr lang="en-US" sz="2800" b="1" dirty="0"/>
              <a:t>3 consecutive years</a:t>
            </a:r>
            <a:r>
              <a:rPr lang="en-US" sz="2800" dirty="0"/>
              <a:t> (under Section 80-IAC of the Income Tax Act).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Exemption from Tax</a:t>
            </a:r>
            <a:r>
              <a:rPr lang="en-US" sz="2800" dirty="0"/>
              <a:t> – Startups are exempt from the </a:t>
            </a:r>
            <a:r>
              <a:rPr lang="en-US" sz="2800" b="1" dirty="0"/>
              <a:t>Tax</a:t>
            </a:r>
            <a:r>
              <a:rPr lang="en-US" sz="2800" dirty="0"/>
              <a:t> (Section 56(2)(</a:t>
            </a:r>
            <a:r>
              <a:rPr lang="en-US" sz="2800" dirty="0" err="1"/>
              <a:t>viib</a:t>
            </a:r>
            <a:r>
              <a:rPr lang="en-US" sz="2800" dirty="0"/>
              <a:t>)) on investments received from investors.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Capital Gains Tax Exemption</a:t>
            </a:r>
            <a:r>
              <a:rPr lang="en-US" sz="2800" dirty="0"/>
              <a:t> – Startups can claim </a:t>
            </a:r>
            <a:r>
              <a:rPr lang="en-US" sz="2800" b="1" dirty="0"/>
              <a:t>exemptions on long-term capital gains</a:t>
            </a:r>
            <a:r>
              <a:rPr lang="en-US" sz="2800" dirty="0"/>
              <a:t> if the amount is reinvested in a fund approved by the government.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="" xmlns:p14="http://schemas.microsoft.com/office/powerpoint/2010/main" val="48392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296C9E-1D9A-B3A8-EE85-41C851FC6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Startup India Scheme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B0C5635-577E-9AD6-F71C-00D4BDD39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92696"/>
            <a:ext cx="8579296" cy="6165304"/>
          </a:xfrm>
        </p:spPr>
        <p:txBody>
          <a:bodyPr/>
          <a:lstStyle/>
          <a:p>
            <a:pPr marL="0" indent="0" algn="just">
              <a:buNone/>
            </a:pPr>
            <a:r>
              <a:rPr lang="en-US" sz="2800" b="1" dirty="0"/>
              <a:t>2. Easy Compliance &amp; Self-Certification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Startups can </a:t>
            </a:r>
            <a:r>
              <a:rPr lang="en-US" sz="2800" b="1" dirty="0"/>
              <a:t>self-certify</a:t>
            </a:r>
            <a:r>
              <a:rPr lang="en-US" sz="2800" dirty="0"/>
              <a:t> compliance for </a:t>
            </a:r>
            <a:r>
              <a:rPr lang="en-US" sz="2800" b="1" dirty="0"/>
              <a:t>9 labor and environmental laws</a:t>
            </a:r>
            <a:r>
              <a:rPr lang="en-US" sz="2800" dirty="0"/>
              <a:t>, reducing the regulatory burden.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Fewer inspections in the initial years.</a:t>
            </a:r>
          </a:p>
          <a:p>
            <a:pPr marL="0" indent="0" algn="just">
              <a:buNone/>
            </a:pPr>
            <a:r>
              <a:rPr lang="en-US" sz="2800" b="1" dirty="0"/>
              <a:t>3. Simplified Company Registration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Startups can </a:t>
            </a:r>
            <a:r>
              <a:rPr lang="en-US" sz="2800" b="1" dirty="0"/>
              <a:t>register online</a:t>
            </a:r>
            <a:r>
              <a:rPr lang="en-US" sz="2800" dirty="0"/>
              <a:t> via the </a:t>
            </a:r>
            <a:r>
              <a:rPr lang="en-US" sz="2800" b="1" dirty="0"/>
              <a:t>Startup India Portal</a:t>
            </a:r>
            <a:r>
              <a:rPr lang="en-US" sz="2800" dirty="0"/>
              <a:t> with minimal documentation.</a:t>
            </a:r>
          </a:p>
          <a:p>
            <a:pPr marL="0" indent="0" algn="just">
              <a:buNone/>
            </a:pPr>
            <a:r>
              <a:rPr lang="en-US" sz="2800" b="1" dirty="0"/>
              <a:t>4. Funding Support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1" dirty="0"/>
              <a:t>Fund of Funds for Startups (FFS)</a:t>
            </a:r>
            <a:r>
              <a:rPr lang="en-US" sz="2800" dirty="0"/>
              <a:t> – ₹10,000 crore fund managed by </a:t>
            </a:r>
            <a:r>
              <a:rPr lang="en-US" sz="2800" b="1" dirty="0"/>
              <a:t>SIDBI</a:t>
            </a:r>
            <a:r>
              <a:rPr lang="en-US" sz="2800" dirty="0"/>
              <a:t> to support venture capital firms investing in startups.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1" dirty="0"/>
              <a:t>Credit Guarantee Scheme</a:t>
            </a:r>
            <a:r>
              <a:rPr lang="en-US" sz="2800" dirty="0"/>
              <a:t> – Provides collateral-free loans to startups.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="" xmlns:p14="http://schemas.microsoft.com/office/powerpoint/2010/main" val="3807186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69702D7-CD50-CCE8-3E47-BA7952327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Startup India Scheme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DCDC873-E4F5-7A62-1B34-A19E4A398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4704"/>
            <a:ext cx="8507288" cy="5904656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/>
              <a:t>5. Fast-Track Patent &amp; IPR Protection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Startups get </a:t>
            </a:r>
            <a:r>
              <a:rPr lang="en-US" b="1" dirty="0"/>
              <a:t>80% rebate</a:t>
            </a:r>
            <a:r>
              <a:rPr lang="en-US" dirty="0"/>
              <a:t> on patent filing fees and </a:t>
            </a:r>
            <a:r>
              <a:rPr lang="en-US" b="1" dirty="0"/>
              <a:t>50% rebate</a:t>
            </a:r>
            <a:r>
              <a:rPr lang="en-US" dirty="0"/>
              <a:t> on trademark fees.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Fast-track patent examination</a:t>
            </a:r>
            <a:r>
              <a:rPr lang="en-US" dirty="0"/>
              <a:t> and </a:t>
            </a:r>
            <a:r>
              <a:rPr lang="en-US" b="1" dirty="0"/>
              <a:t>free legal assistance</a:t>
            </a:r>
            <a:r>
              <a:rPr lang="en-US" dirty="0"/>
              <a:t> for intellectual property rights.</a:t>
            </a:r>
          </a:p>
          <a:p>
            <a:pPr marL="0" indent="0" algn="just">
              <a:buNone/>
            </a:pPr>
            <a:r>
              <a:rPr lang="en-US" b="1" dirty="0"/>
              <a:t>6. Government Tenders &amp; Procurement Benefits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Startups </a:t>
            </a:r>
            <a:r>
              <a:rPr lang="en-US" b="1" dirty="0"/>
              <a:t>do not need prior experience</a:t>
            </a:r>
            <a:r>
              <a:rPr lang="en-US" dirty="0"/>
              <a:t> to apply for </a:t>
            </a:r>
            <a:r>
              <a:rPr lang="en-US" b="1" dirty="0"/>
              <a:t>government tenders</a:t>
            </a:r>
            <a:r>
              <a:rPr lang="en-US" dirty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They get </a:t>
            </a:r>
            <a:r>
              <a:rPr lang="en-US" b="1" dirty="0"/>
              <a:t>priority in public procurement</a:t>
            </a:r>
            <a:r>
              <a:rPr lang="en-US" dirty="0"/>
              <a:t> from PSUs and government departments.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890917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75C5CBB-D346-FB15-C5DB-3BCA4E696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Startup India Scheme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A0115EE-FF92-C1AC-3403-8050261A2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/>
          <a:lstStyle/>
          <a:p>
            <a:pPr marL="0" indent="0" algn="just">
              <a:buNone/>
            </a:pPr>
            <a:r>
              <a:rPr lang="en-US" sz="2800" b="1" dirty="0"/>
              <a:t>7. Incubation &amp; Networking Opportunities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1" dirty="0"/>
              <a:t>Startup India Hub</a:t>
            </a:r>
            <a:r>
              <a:rPr lang="en-US" sz="2800" dirty="0"/>
              <a:t> connects entrepreneurs with mentors, investors, and incubators.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Access to </a:t>
            </a:r>
            <a:r>
              <a:rPr lang="en-US" sz="2800" b="1" dirty="0"/>
              <a:t>Atal Incubation Centers (AICs)</a:t>
            </a:r>
            <a:r>
              <a:rPr lang="en-US" sz="2800" dirty="0"/>
              <a:t> and </a:t>
            </a:r>
            <a:r>
              <a:rPr lang="en-US" sz="2800" b="1" dirty="0"/>
              <a:t>Startup Accelerators</a:t>
            </a:r>
            <a:r>
              <a:rPr lang="en-US" sz="2800" dirty="0"/>
              <a:t>.</a:t>
            </a:r>
          </a:p>
          <a:p>
            <a:pPr marL="0" indent="0" algn="just">
              <a:buNone/>
            </a:pPr>
            <a:r>
              <a:rPr lang="en-US" sz="2800" b="1" dirty="0"/>
              <a:t>8. Easier Exit for Startups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Startups can </a:t>
            </a:r>
            <a:r>
              <a:rPr lang="en-US" sz="2800" b="1" dirty="0"/>
              <a:t>wind up within 90 days</a:t>
            </a:r>
            <a:r>
              <a:rPr lang="en-US" sz="2800" dirty="0"/>
              <a:t> under the </a:t>
            </a:r>
            <a:r>
              <a:rPr lang="en-US" sz="2800" b="1" dirty="0"/>
              <a:t>Insolvency and Bankruptcy Code, 2016</a:t>
            </a:r>
            <a:r>
              <a:rPr lang="en-US" sz="2800" dirty="0"/>
              <a:t> instead of the usual 180 days.</a:t>
            </a:r>
          </a:p>
          <a:p>
            <a:endParaRPr lang="en-IN" sz="3000" dirty="0"/>
          </a:p>
        </p:txBody>
      </p:sp>
    </p:spTree>
    <p:extLst>
      <p:ext uri="{BB962C8B-B14F-4D97-AF65-F5344CB8AC3E}">
        <p14:creationId xmlns="" xmlns:p14="http://schemas.microsoft.com/office/powerpoint/2010/main" val="1879605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76C369-3EA4-F90A-FB11-1C4AFC136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Bank Loan for Startup Business in India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B250EE8-5795-0023-BAED-E2CC2510E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/>
              <a:t>1. MUDRA Loan (Pradhan Mantri MUDRA Yojana - PMMY)</a:t>
            </a:r>
          </a:p>
          <a:p>
            <a:pPr marL="0" indent="0">
              <a:buNone/>
            </a:pPr>
            <a:r>
              <a:rPr lang="en-IN" sz="2400" dirty="0"/>
              <a:t>✅ </a:t>
            </a:r>
            <a:r>
              <a:rPr lang="en-IN" sz="2400" b="1" dirty="0"/>
              <a:t>Loan Amount</a:t>
            </a:r>
            <a:r>
              <a:rPr lang="en-IN" sz="2400" dirty="0"/>
              <a:t>: Up to </a:t>
            </a:r>
            <a:r>
              <a:rPr lang="en-IN" sz="2400" b="1" dirty="0"/>
              <a:t>₹10 lakh</a:t>
            </a:r>
            <a:r>
              <a:rPr lang="en-IN" sz="2400" dirty="0"/>
              <a:t/>
            </a:r>
            <a:br>
              <a:rPr lang="en-IN" sz="2400" dirty="0"/>
            </a:br>
            <a:r>
              <a:rPr lang="en-IN" sz="2400" dirty="0"/>
              <a:t>✅ </a:t>
            </a:r>
            <a:r>
              <a:rPr lang="en-IN" sz="2400" b="1" dirty="0"/>
              <a:t>Eligibility</a:t>
            </a:r>
            <a:r>
              <a:rPr lang="en-IN" sz="2400" dirty="0"/>
              <a:t>: Startups, MSMEs, and small businesses</a:t>
            </a:r>
            <a:br>
              <a:rPr lang="en-IN" sz="2400" dirty="0"/>
            </a:br>
            <a:r>
              <a:rPr lang="en-IN" sz="2400" dirty="0"/>
              <a:t>✅ </a:t>
            </a:r>
            <a:r>
              <a:rPr lang="en-IN" sz="2400" b="1" dirty="0"/>
              <a:t>Types of Loans</a:t>
            </a:r>
            <a:r>
              <a:rPr lang="en-IN" sz="24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 err="1"/>
              <a:t>Shishu</a:t>
            </a:r>
            <a:r>
              <a:rPr lang="en-IN" sz="2400" dirty="0"/>
              <a:t>: Up to ₹50,000 (For new businesses)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Kishor</a:t>
            </a:r>
            <a:r>
              <a:rPr lang="en-IN" sz="2400" dirty="0"/>
              <a:t>: ₹50,000 to ₹5 lakh (For growing businesses)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Tarun</a:t>
            </a:r>
            <a:r>
              <a:rPr lang="en-IN" sz="2400" dirty="0"/>
              <a:t>: ₹5 lakh to ₹10 lakh (For established businesses)</a:t>
            </a:r>
            <a:br>
              <a:rPr lang="en-IN" sz="2400" dirty="0"/>
            </a:br>
            <a:r>
              <a:rPr lang="en-IN" sz="2400" dirty="0"/>
              <a:t>✅ </a:t>
            </a:r>
            <a:r>
              <a:rPr lang="en-IN" sz="2400" b="1" dirty="0"/>
              <a:t>Collateral</a:t>
            </a:r>
            <a:r>
              <a:rPr lang="en-IN" sz="2400" dirty="0"/>
              <a:t>: </a:t>
            </a:r>
            <a:r>
              <a:rPr lang="en-IN" sz="2400" b="1" dirty="0"/>
              <a:t>No collateral required</a:t>
            </a:r>
            <a:r>
              <a:rPr lang="en-IN" sz="2400" dirty="0"/>
              <a:t/>
            </a:r>
            <a:br>
              <a:rPr lang="en-IN" sz="2400" dirty="0"/>
            </a:br>
            <a:r>
              <a:rPr lang="en-IN" sz="2400" dirty="0"/>
              <a:t>✅ </a:t>
            </a:r>
            <a:r>
              <a:rPr lang="en-IN" sz="2400" b="1" dirty="0"/>
              <a:t>Interest Rate</a:t>
            </a:r>
            <a:r>
              <a:rPr lang="en-IN" sz="2400" dirty="0"/>
              <a:t>: 8% to 12% (varies by bank)</a:t>
            </a:r>
            <a:br>
              <a:rPr lang="en-IN" sz="2400" dirty="0"/>
            </a:br>
            <a:r>
              <a:rPr lang="en-IN" sz="2400" dirty="0"/>
              <a:t>✅ </a:t>
            </a:r>
            <a:r>
              <a:rPr lang="en-IN" sz="2400" b="1" dirty="0"/>
              <a:t>Where to Apply</a:t>
            </a:r>
            <a:r>
              <a:rPr lang="en-IN" sz="2400" dirty="0"/>
              <a:t>: Public and private sector banks, NBFCs, microfinance </a:t>
            </a:r>
            <a:r>
              <a:rPr lang="en-IN" sz="2400" dirty="0" smtClean="0"/>
              <a:t>institutions(</a:t>
            </a:r>
            <a:r>
              <a:rPr lang="en-IN" sz="2400" dirty="0" err="1" smtClean="0"/>
              <a:t>Bandhan</a:t>
            </a:r>
            <a:r>
              <a:rPr lang="en-IN" sz="2400" dirty="0" smtClean="0"/>
              <a:t> Bank).</a:t>
            </a:r>
            <a:endParaRPr lang="en-IN" sz="2400" dirty="0"/>
          </a:p>
          <a:p>
            <a:endParaRPr lang="en-IN" sz="2800" dirty="0"/>
          </a:p>
        </p:txBody>
      </p:sp>
    </p:spTree>
    <p:extLst>
      <p:ext uri="{BB962C8B-B14F-4D97-AF65-F5344CB8AC3E}">
        <p14:creationId xmlns="" xmlns:p14="http://schemas.microsoft.com/office/powerpoint/2010/main" val="790107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C7A0C0A-8FC0-E0AC-8CBE-CE97E086E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Continue….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6425816-EDF7-2EF7-FB1E-63EFE8A03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6336704"/>
          </a:xfrm>
        </p:spPr>
        <p:txBody>
          <a:bodyPr/>
          <a:lstStyle/>
          <a:p>
            <a:pPr marL="0" indent="0" algn="just">
              <a:buNone/>
            </a:pPr>
            <a:r>
              <a:rPr lang="en-US" sz="2800" b="1" dirty="0"/>
              <a:t>2. Stand-Up India Scheme </a:t>
            </a:r>
            <a:r>
              <a:rPr lang="en-US" sz="2800" b="1" i="1" dirty="0"/>
              <a:t>(For Women &amp; SC/ST Entrepreneurs)</a:t>
            </a:r>
            <a:endParaRPr lang="en-US" sz="2800" b="1" dirty="0"/>
          </a:p>
          <a:p>
            <a:pPr algn="just"/>
            <a:r>
              <a:rPr lang="en-US" sz="2800" dirty="0"/>
              <a:t>✅ </a:t>
            </a:r>
            <a:r>
              <a:rPr lang="en-US" sz="2800" b="1" dirty="0"/>
              <a:t>Loan Amount</a:t>
            </a:r>
            <a:r>
              <a:rPr lang="en-US" sz="2800" dirty="0"/>
              <a:t>: ₹10 lakh to </a:t>
            </a:r>
            <a:r>
              <a:rPr lang="en-US" sz="2800" b="1" dirty="0"/>
              <a:t>₹1 crore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✅ </a:t>
            </a:r>
            <a:r>
              <a:rPr lang="en-US" sz="2800" b="1" dirty="0"/>
              <a:t>Eligibility</a:t>
            </a:r>
            <a:r>
              <a:rPr lang="en-US" sz="2800" dirty="0"/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At least </a:t>
            </a:r>
            <a:r>
              <a:rPr lang="en-US" sz="2800" b="1" dirty="0"/>
              <a:t>51% ownership</a:t>
            </a:r>
            <a:r>
              <a:rPr lang="en-US" sz="2800" dirty="0"/>
              <a:t> by SC/ST or women entrepreneurs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Business must be in </a:t>
            </a:r>
            <a:r>
              <a:rPr lang="en-US" sz="2800" b="1" dirty="0"/>
              <a:t>manufacturing, services, trading, or agriculture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✅ </a:t>
            </a:r>
            <a:r>
              <a:rPr lang="en-US" sz="2800" b="1" dirty="0"/>
              <a:t>Interest Rate</a:t>
            </a:r>
            <a:r>
              <a:rPr lang="en-US" sz="2800" dirty="0"/>
              <a:t>: Bank-dependent, competitive rates</a:t>
            </a:r>
            <a:br>
              <a:rPr lang="en-US" sz="2800" dirty="0"/>
            </a:br>
            <a:r>
              <a:rPr lang="en-US" sz="2800" dirty="0"/>
              <a:t>✅ </a:t>
            </a:r>
            <a:r>
              <a:rPr lang="en-US" sz="2800" b="1" dirty="0"/>
              <a:t>Where to Apply</a:t>
            </a:r>
            <a:r>
              <a:rPr lang="en-US" sz="2800" dirty="0"/>
              <a:t>: Banks and online via </a:t>
            </a:r>
            <a:r>
              <a:rPr lang="en-US" sz="2800" b="1" dirty="0">
                <a:hlinkClick r:id="rId2"/>
              </a:rPr>
              <a:t>www.standupmitra.in</a:t>
            </a:r>
            <a:endParaRPr lang="en-US" sz="2800" dirty="0"/>
          </a:p>
          <a:p>
            <a:endParaRPr lang="en-IN" sz="3000" dirty="0"/>
          </a:p>
        </p:txBody>
      </p:sp>
    </p:spTree>
    <p:extLst>
      <p:ext uri="{BB962C8B-B14F-4D97-AF65-F5344CB8AC3E}">
        <p14:creationId xmlns="" xmlns:p14="http://schemas.microsoft.com/office/powerpoint/2010/main" val="2114930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A20C129-8F3F-7C8C-1BAF-9E7433B01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Continue….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70124AB-6937-C17A-C9C1-13967EF84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/>
              <a:t>3. Credit Guarantee Fund Trust for Micro and Small Enterprises (CGTMSE)</a:t>
            </a:r>
          </a:p>
          <a:p>
            <a:r>
              <a:rPr lang="en-US" sz="2800" dirty="0"/>
              <a:t>✅ </a:t>
            </a:r>
            <a:r>
              <a:rPr lang="en-US" sz="2800" b="1" dirty="0"/>
              <a:t>Loan Amount</a:t>
            </a:r>
            <a:r>
              <a:rPr lang="en-US" sz="2800" dirty="0"/>
              <a:t>: Up to </a:t>
            </a:r>
            <a:r>
              <a:rPr lang="en-US" sz="2800" b="1" dirty="0"/>
              <a:t>₹2 crore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✅ </a:t>
            </a:r>
            <a:r>
              <a:rPr lang="en-US" sz="2800" b="1" dirty="0"/>
              <a:t>Eligibility</a:t>
            </a:r>
            <a:r>
              <a:rPr lang="en-US" sz="2800" dirty="0"/>
              <a:t>: Startups &amp; MSMEs in </a:t>
            </a:r>
            <a:r>
              <a:rPr lang="en-US" sz="2800" b="1" dirty="0"/>
              <a:t>manufacturing, service, and retail sectors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✅ </a:t>
            </a:r>
            <a:r>
              <a:rPr lang="en-US" sz="2800" b="1" dirty="0"/>
              <a:t>Collateral</a:t>
            </a:r>
            <a:r>
              <a:rPr lang="en-US" sz="2800" dirty="0"/>
              <a:t>: </a:t>
            </a:r>
            <a:r>
              <a:rPr lang="en-US" sz="2800" b="1" dirty="0"/>
              <a:t>Collateral-free</a:t>
            </a:r>
            <a:r>
              <a:rPr lang="en-US" sz="2800" dirty="0"/>
              <a:t> for loans up to ₹2 crore</a:t>
            </a:r>
            <a:br>
              <a:rPr lang="en-US" sz="2800" dirty="0"/>
            </a:br>
            <a:r>
              <a:rPr lang="en-US" sz="2800" dirty="0"/>
              <a:t>✅ </a:t>
            </a:r>
            <a:r>
              <a:rPr lang="en-US" sz="2800" b="1" dirty="0"/>
              <a:t>Interest Rate</a:t>
            </a:r>
            <a:r>
              <a:rPr lang="en-US" sz="2800" dirty="0"/>
              <a:t>: 9% to 14% (bank-dependent)</a:t>
            </a:r>
            <a:br>
              <a:rPr lang="en-US" sz="2800" dirty="0"/>
            </a:br>
            <a:r>
              <a:rPr lang="en-US" sz="2800" dirty="0"/>
              <a:t>✅ </a:t>
            </a:r>
            <a:r>
              <a:rPr lang="en-US" sz="2800" b="1" dirty="0"/>
              <a:t>Where to Apply</a:t>
            </a:r>
            <a:r>
              <a:rPr lang="en-US" sz="2800" dirty="0"/>
              <a:t>: Public/private banks, NBFCs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="" xmlns:p14="http://schemas.microsoft.com/office/powerpoint/2010/main" val="2210036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2E9766F-50C5-A7A2-25C2-792EACFA0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Continue….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1828413-4141-B18F-3177-D535F3959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/>
          <a:lstStyle/>
          <a:p>
            <a:r>
              <a:rPr lang="en-US" b="1" dirty="0"/>
              <a:t>4. SIDBI Startup Loan </a:t>
            </a:r>
            <a:r>
              <a:rPr lang="en-US" b="1" i="1" dirty="0"/>
              <a:t>(Small Industries Development Bank of India)</a:t>
            </a:r>
            <a:endParaRPr lang="en-US" b="1" dirty="0"/>
          </a:p>
          <a:p>
            <a:r>
              <a:rPr lang="en-US" dirty="0"/>
              <a:t>✅ </a:t>
            </a:r>
            <a:r>
              <a:rPr lang="en-US" b="1" dirty="0"/>
              <a:t>Loan Amount</a:t>
            </a:r>
            <a:r>
              <a:rPr lang="en-US" dirty="0"/>
              <a:t>: ₹10 lakh to </a:t>
            </a:r>
            <a:r>
              <a:rPr lang="en-US" b="1" dirty="0"/>
              <a:t>₹10 crore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Eligibility</a:t>
            </a:r>
            <a:r>
              <a:rPr lang="en-US" dirty="0"/>
              <a:t>: Startups in innovation, technology, and MSME sectors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Collateral</a:t>
            </a:r>
            <a:r>
              <a:rPr lang="en-US" dirty="0"/>
              <a:t>: Depends on the loan amount &amp; business plan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Interest Rate</a:t>
            </a:r>
            <a:r>
              <a:rPr lang="en-US" dirty="0"/>
              <a:t>: 9.5% onwards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Where to Apply</a:t>
            </a:r>
            <a:r>
              <a:rPr lang="en-US" dirty="0"/>
              <a:t>: </a:t>
            </a:r>
            <a:r>
              <a:rPr lang="en-US" b="1" dirty="0">
                <a:hlinkClick r:id="rId2"/>
              </a:rPr>
              <a:t>www.sidbi.in</a:t>
            </a:r>
            <a:r>
              <a:rPr lang="en-US" dirty="0"/>
              <a:t> or partner banks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137114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9AF34F1-5C47-E20A-CE73-238683034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Continue….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E012A6F-D27F-B65B-630E-A4BA9DEE1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28945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5. Bank-Specific Startup Loans</a:t>
            </a:r>
          </a:p>
          <a:p>
            <a:r>
              <a:rPr lang="en-US" dirty="0"/>
              <a:t>Many banks offer </a:t>
            </a:r>
            <a:r>
              <a:rPr lang="en-US" b="1" dirty="0"/>
              <a:t>customized startup loans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SBI Startup Loan</a:t>
            </a:r>
            <a:r>
              <a:rPr lang="en-US" dirty="0"/>
              <a:t> – Business loans for MSMEs and startups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HDFC Bank Business Growth Loan</a:t>
            </a:r>
            <a:r>
              <a:rPr lang="en-US" dirty="0"/>
              <a:t> – Unsecured loans for startups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ICICI Bank Business Loan</a:t>
            </a:r>
            <a:r>
              <a:rPr lang="en-US" dirty="0"/>
              <a:t> – Loans for working capital and expansion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Axis Bank Business Loan</a:t>
            </a:r>
            <a:r>
              <a:rPr lang="en-US" dirty="0"/>
              <a:t> – Quick approval loans for small businesses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948291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B408D0-4649-1CBA-C934-B70EFDD1B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2656"/>
            <a:ext cx="8604448" cy="144016"/>
          </a:xfrm>
        </p:spPr>
        <p:txBody>
          <a:bodyPr/>
          <a:lstStyle/>
          <a:p>
            <a:r>
              <a:rPr lang="en-US" b="1" dirty="0"/>
              <a:t>How to Apply for a Startup loan?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3ACD6E1-02EA-F14E-CBA0-E5EB6C4BD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744"/>
            <a:ext cx="8686800" cy="5616624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b="1" dirty="0"/>
              <a:t>Prepare Documents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Business plan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Financial projections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GST registration, PAN, Aadhaar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Bank statements (last 6 months)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Choose a Loan Scheme</a:t>
            </a:r>
            <a:r>
              <a:rPr lang="en-US" dirty="0"/>
              <a:t> (MUDRA, Stand-Up India, CGTMSE, etc.)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Apply Online or Visit a Bank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Submit Documents &amp; Get Approval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543437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2574</TotalTime>
  <Words>948</Words>
  <Application>Microsoft Office PowerPoint</Application>
  <PresentationFormat>On-screen Show (4:3)</PresentationFormat>
  <Paragraphs>106</Paragraphs>
  <Slides>16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CSE332</vt:lpstr>
      <vt:lpstr>What are startups</vt:lpstr>
      <vt:lpstr>Slide 2</vt:lpstr>
      <vt:lpstr>India (DPIIT - Startup India) </vt:lpstr>
      <vt:lpstr>Government Startup Schemes in India &amp; Worldwide( Resources) </vt:lpstr>
      <vt:lpstr>Continue..</vt:lpstr>
      <vt:lpstr>Benefits of Startup India Scheme</vt:lpstr>
      <vt:lpstr>Benefits of Startup India Scheme</vt:lpstr>
      <vt:lpstr>Benefits of Startup India Scheme</vt:lpstr>
      <vt:lpstr>Benefits of Startup India Scheme</vt:lpstr>
      <vt:lpstr>Bank Loan for Startup Business in India</vt:lpstr>
      <vt:lpstr>Continue….</vt:lpstr>
      <vt:lpstr>Continue….</vt:lpstr>
      <vt:lpstr>Continue….</vt:lpstr>
      <vt:lpstr>Continue….</vt:lpstr>
      <vt:lpstr>How to Apply for a Startup loan? </vt:lpstr>
    </vt:vector>
  </TitlesOfParts>
  <Company>Villanova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3: Brute Force</dc:title>
  <dc:creator>Anany Levitin</dc:creator>
  <cp:lastModifiedBy>HP</cp:lastModifiedBy>
  <cp:revision>154</cp:revision>
  <dcterms:created xsi:type="dcterms:W3CDTF">1999-08-23T17:38:43Z</dcterms:created>
  <dcterms:modified xsi:type="dcterms:W3CDTF">2026-04-13T03:32:41Z</dcterms:modified>
</cp:coreProperties>
</file>