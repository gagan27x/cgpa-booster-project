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-57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Title Slide
• Unit V connects WHAT exists in the industry (companies, bodies, trends) to the ethical frameworks of Unit I and IP in Unit II.
• Tell students: "You'll be working in this industry. Knowing it is not optional."
• CO5: Analyze trends, technologies, and diversity in the IT and ITES industry.
📝 KEY POINTS FOR NOTEBOOKS:
• Unit V covers: IT vs ITES industry, NASSCOM, STPI, Global IT projects, Case studies (product &amp; service), Tech advancements, Current affairs, Workforce diversity.
• CO5 outcome: Analyze trends, technologies, and diversity in the IT and ITES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Roadmap
• Walk students through 8 topic areas before diving in.
• Connect: "Unit III gave you funding. Unit IV gave you a plan. Unit V shows you the industry you're entering."
📝 KEY POINTS FOR NOTEBOOKS:
1. IT vs ITES Industry (product vs service based)
2. NASSCOM — India's IT industry body
3. STPI — Software Technology Parks of India
4. Global IT Projects with impact
5. Case Studies — Product &amp; Service companies
6. Recent Technology Advancements
7. Current Affairs in IT Industry
8. Diversity in the Workforce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IT Industry Overview
• India's IT industry = ~10% of GDP. Largest employer of skilled workers.
• Key distinction: IT = making technology. ITES = using technology to deliver services.
• India's IT revenue crossed $245 billion in FY2023. Target $500B by 2030.
• Ask students: "Which category does Infosys fall in?" (Both — product units + service delivery).
• NASSCOM data: India has 5.4 million IT professionals — largest tech talent pool after USA.
📝 KEY POINTS FOR NOTEBOOKS:
• India IT Revenue: $245 Billion (FY2023) | Target: $500B by 2030
• IT Exports: ~$194 Billion (FY2023)
• Employees: 5.4 million direct + 15 million indirect jobs
• India's share in global IT outsourcing: ~55%
• Major IT hubs: Bengaluru, Hyderabad, Pune, Chennai, Noida, Mumbai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IT vs ITES
• This is a commonly confused distinction. Clarify with examples.
• IT companies BUILD technology (products, platforms, software). ITES companies USE technology to DELIVER services.
• Exam tip: "Is Infosys IT or ITES?" — Trick question! Infosys has both: Product division (Finacle banking software = IT) + Services division (consulting, BPO = ITES).
• BPO is the most common ITES — call centers, data entry, HR outsourcing.
• KPO = higher skilled version of BPO — legal, research, financial analysis.
• LPO = Legal Process Outsourcing — Indian lawyers doing legal work for US/UK firms remotely.
📝 KEY POINTS FOR NOTEBOOKS:
• IT = Information Technology — companies that BUILD tech products (hardware/software/platforms)
• ITES = IT Enabled Services — companies that USE technology to deliver services (BPO/KPO/LPO)
• IT Examples: Microsoft, Google, Adobe, Zoho, Freshworks, TCS Products
• ITES Examples: Infosys BPO, Genpact, WNS, EXL Service, Mphasis
• BPO = Business Process Outsourcing | KPO = Knowledge Process Outsourcing | LPO = Legal Process Outsourcing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NASSCOM
• NASSCOM = National Association of Software and Service Companies. Founded 1988.
• Think of NASSCOM as the "voice of Indian IT industry" to the government and world.
• Key roles: Lobbying for policies, publishing data (India IT Report annually), skill development, global promotion.
• NASSCOM's FutureSkills Prime: Government-backed skilling initiative for reskilling IT professionals in AI, cloud, data, etc.
• NASSCOM is headquartered in New Delhi. Regional offices in all major IT cities.
• Ask students: "Which government body does NASSCOM interact with?" — MeitY (Ministry of Electronics &amp; IT).
📝 KEY POINTS FOR NOTEBOOKS:
• NASSCOM Founded: 1988 | HQ: New Delhi
• Members: 3,000+ companies (Indian + multinational)
• Represents: ₹245 Billion IT-BPM industry, 5.4 million employees
• Key programs: 10,000 Startups, FutureSkills Prime, NASSCOM Foundation (CSR)
• Role: Policy advocacy, data publication, talent development, global promotion
• Annual publication: "Technology Sector in India" — key reference for industry stats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STPI
• STPI (Software Technology Parks of India) was established in 1991 under Ministry of Electronics &amp; IT (MeitY).
• It is BOTH a regulatory body AND a service provider — a unique combination.
• Three schemes: (1) STP Scheme, (2) EHTP (Electronic Hardware Technology Park), (3) BTP (Biotechnology Parks).
• Key services STPI provides TO companies: High-speed internet (leased lines), statutory and procedural clearances, incubation centres.
• STPI Incubation: STPI runs incubation centres (iCreate, iStart, Stpi-TIDE) for hardware and software startups.
• Most important exam fact: STPI gives "green channel" customs clearance — fastest possible clearance for imported IT equipment.
📝 KEY POINTS FOR NOTEBOOKS:
• STPI = Software Technology Parks of India | Est. 1991 | Under: MeitY
• Dual role: (1) Statutory body (approvals, compliance) + (2) Service provider (internet, incubation)
• 3 Schemes: STP + EHTP (hardware) + BTP (biotech parks)
• 70+ STPI centres across India
• Key benefits: 10-yr tax holiday, duty-free imports, green channel clearance, 100% FDI
• STPI Incubation: iCreate, iStart, STPI-TIDE centres for hardware/software startups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Global IT Projects
• These are real, running projects that students may JOIN after graduation.
• Aadhaar is the world's largest biometric database — 1.4 billion+ identities. Built by TCS, Infosys, L&amp;T Infotech.
• CoWIN (COVID vaccine management): Built by Indian government + IT partners. Managed 2.2 billion vaccine doses.
• UPI: India's Unified Payment Interface — built on NPCI infrastructure. Processed 10 billion transactions/month in 2024. Being adopted by UAE, Singapore, France, UK.
• SWIFT: Global banking messaging network. All international bank transfers use it. India's banks are connected via TCS BaNCS.
• Discussion: "Which of these projects would you want to work on? Why?" — Gets students thinking about career paths.
📝 KEY POINTS FOR NOTEBOOKS:
• Aadhaar: World's largest biometric ID system — 1.4B+ records | Built by: UIDAI + TCS, Infosys
• UPI: 10 billion transactions/month (2024) | Built by: NPCI | Going global: UAE, Singapore, France
• CoWIN: 2.2 billion COVID vaccine doses managed | India's pandemic tech achievement
• India Stack: Aadhaar + UPI + DigiLocker + e-Sign — India's digital public infrastructure (DPI) model being exported globally
• WHO Digital Health Initiative: WHO adopted India's COWIN model for global vaccine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Case Study: Product-Based Companies
• TCS is BOTH product and services — use TCS BaNCS as the product example. TCS BaNCS is used by 450+ financial institutions globally.
• Zoho: The "Anti-VC" startup. Sridhar Vembu refused VC funding entirely. Moved HQ to a Tamil Nadu village. Yet competes with Salesforce and Microsoft.
• Zoho revenue: $1 billion+ with 80+ million users and 40+ products. Zero debt, zero VC.
• Key lesson: Zoho proves you don't need Silicon Valley money to build a world-class product company.
• Case study analysis framework: Problem → Solution → Technology → Business Model → Revenue → Impact
📝 KEY POINTS FOR NOTEBOOKS:
• TCS BaNCS: Core banking software used by 450+ banks globally | Revenue from product: $500M+/year
• TCS Market Cap: $150B+ (2024) | Largest IT company in India by revenue
• Zoho: Bootstrapped | $1B+ revenue | 40+ products | 80M+ users | Zero VC funding
• Zoho stack: Entirely self-built — own data centres, own OS (Zoho Creator), own mail servers
• Case study approach: Problem → Solution → Tech Stack → Revenue Model → Impact → Lessons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Case Study: Service-Based Companies
• Infosys and Wipro are the two most commonly studied service-based IT companies in Indian universities.
• Infosys: Founded in 1981 by 7 engineers with $250 seed money. Now $93B market cap. Symbol of Indian IT's global rise.
• The "Global Delivery Model" = Infosys's core innovation. Do high-end work at Indian labor costs but international quality standards.
• Wipro pivot: Originally sold vegetable oil and soaps (Western India Products = WIPRO). Pivoted to IT in 1980s under Azim Premji.
• Key financials to remember: Infosys revenue ~$18B | Wipro revenue ~$11B | Both listed on NYSE.
• Ask: "What is the difference between Infosys and Zoho?" — One is service-led, one is product-led. This is the fundamental business model distinction of this unit.
📝 KEY POINTS FOR NOTEBOOKS:
• Infosys: Founded 1981 | 7 co-founders | $250 seed capital | Revenue: $18.5B (FY24) | 315,000+ employees
• Infosys Global Delivery Model (GDM): Offshore development centres + onsite client delivery = cost arbitrage
• Wipro: Founded 1945 (soap/oil) → pivoted to IT in 1980s | Revenue: $11B | 220,000+ employees
• Wipro's AI focus: "AI Everywhere" strategy — embedding AI in all service lines
• Both listed on: NSE, BSE (India) + NYSE (USA) as ADRs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AI &amp; ML Advancements
• This is the most career-relevant slide for CSE students. AI/ML is reshaping EVERY job they will do.
• Generative AI (GenAI) is the biggest technology wave since the internet. GPT-4, Claude, Gemini are GenAI models.
• Key industry impact: Deloitte survey says 40% of working hours in IT will be impacted by AI by 2027.
• Indian IT response: TCS, Infosys, Wipro all have announced AI-led strategies. 100,000+ employees being reskilled.
• Practical demo idea: Show students ChatGPT writing code live in class. Then ask: "Does this threaten your job or enhance it?"
• Answer: AI is a tool, not a replacement — but only for those who learn to use it.
📝 KEY POINTS FOR NOTEBOOKS:
• AI = Artificial Intelligence — machines simulating human intelligence
• ML = Machine Learning — AI systems that learn from data without explicit programming
• Generative AI (GenAI): Creates new content (text, code, images, video). Examples: ChatGPT, Claude, Gemini, DALL-E
• Large Language Models (LLMs): Deep learning models trained on vast text data. GPT-4, Claude 3, Gemini Ultra.
• AI in Indian IT: TCS AI Cloud, Infosys Topaz (AI platform), Wipro Holmes — all major IT cos have AI products
• India's AI target: $1 Trillion AI economy contribution by 2035 (IndiaAI Mission)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Cloud, Blockchain, IoT, Quantum
• Cloud: Almost every IT company you join will use AWS, Azure, or GCP. This is now a baseline skill.
• India's cloud market: ₹1 lakh crore+ by 2026. All 3 hyperscalers (AWS, Azure, GCP) have Indian data centres now.
• Blockchain ≠ Crypto. Blockchain = distributed ledger technology with many non-crypto uses (supply chain, land records, voting).
• IoT in India: BSNL Smart City, Bosch Smart Factory, Tata Smart Grid. 25 billion IoT devices globally by 2030.
• Quantum Computing: India's National Quantum Mission (2023) = ₹6,000 crore investment. TCS and IBM already running quantum research.
• Real exam question: "Explain cloud deployment models." Answer: Public / Private / Hybrid / Multi-cloud.
📝 KEY POINTS FOR NOTEBOOKS:
• Cloud Models: IaaS (EC2/VMs) → PaaS (App Engine) → SaaS (Gmail/Salesforce)
• Cloud Deployment: Public | Private | Hybrid | Multi-cloud
• Blockchain: Distributed, immutable ledger. Consensus mechanism = no central authority needed.
• IoT = Internet of Things: Physical devices connected to internet. 25B+ devices by 2030.
• 5G Impact: Enables IoT at scale — latency &lt; 1ms, 10Gbps speed.
• Quantum Computing: Uses qubits (superposition). India's NQM = ₹6,000 Cr investment. Timeline: practical quantum advantage by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Current Affairs
• Current affairs questions frequently appear in university exams — 2-mark and 5-mark format.
• IndiaAI Mission 2024: ₹10,300 crore investment by Government of India. Compute infrastructure + AI startups + research.
• Layoffs context: 2022-2023 saw massive global tech layoffs (Google 12K, Meta 11K, Microsoft 10K). India's IT sector was relatively protected but saw slow hiring.
• GCC (Global Capability Centres) in India: 1,700+ GCCs of global companies operating in India. Employing 1.9 million people. Fastest growing segment.
• Digital Personal Data Protection Act (DPDPA) 2023: India's equivalent of GDPR. Critical for IT companies handling user data.
• Semiconductor Mission: India is building its first domestic chip fab. ₹76,000 crore incentives. Tata Electronics + Micron + Renesas are setting up fabs.
📝 KEY POINTS FOR NOTEBOOKS:
• IndiaAI Mission (2024): ₹10,300 crore | 10,000 GPUs for AI compute | AI startups + research
• DPDPA 2023: Digital Personal Data Protection Act — India's GDPR equivalent. Penalties up to ₹250 crore.
• India Semiconductor Mission: ₹76,000 crore | Tata+Micron fabs in Gujarat | First Indian chip by 2026
• GCCs in India: 1,700+ global capability centres | 1.9 million employees | $64 billion revenue
• IT Layoffs 2023-24: Global slowdown — India IT hiring cautious but stable. Focus shifting to AI roles.
• 6G Research: India launched 6G mission. Target: be a global 6G standard-setter by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Diversity in the Workforce
• Workforce diversity is NOT just a feel-good topic. Research shows diverse teams produce better software, fewer bugs, and more innovative products.
• McKinsey study: Companies with diverse leadership are 36% more likely to outperform financially.
• Gender diversity in Indian IT: ~30% women in tech workforce overall. But only 12-15% in senior leadership roles. This gap is the problem to solve.
• Diversity types: Gender, Age, Geography (tier 2/3 city talent), Disability, Neurodiversity, Linguistic/Cultural.
• Neurodiversity: Autism, ADHD, dyslexia — many tech companies actively recruiting neurodivergent individuals. SAP Autism at Work, Microsoft Neurodiversity Hiring.
• LPU connection: LPU has one of the most diverse student bodies in India — this IS a competitive advantage.
📝 KEY POINTS FOR NOTEBOOKS:
• Diversity = Variety of people (gender, age, background, ability, culture) in a team/organization
• Inclusion = Creating environment where all people feel valued and can contribute fully
• Women in Indian IT: ~30% of workforce but only 12-15% in senior roles (gap = opportunity)
• Business case: Diverse teams are 35% more innovative (McKinsey) | 36% more profitable
• Types of Diversity: Gender | Age | Geographic | Disability | Neurodiversity | Cultural/Linguistic
• Initiatives: TCS WoW (Women of Worth) | Infosys InStep | Wipro Cares | SAP Autism at Work
• Section 20 of Companies Act: Listed companies MUST have at least one woman director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Practice Problems
• Use this slide for the last 10 minutes of class as a knowledge check.
• Q1 tip: Trick question — Infosys is BOTH. Finacle = product (IT). BPM division = ITES.
• Q2 answer: Aadhaar (UIDAI), UPI (NPCI), CoWIN (NIC/MeitY), India Stack.
• Q3 answer: A) IaaS, B) SaaS, C) PaaS — confirm with students.
• Q4 ask students to list any 3 from their notes: Zoho, Freshworks, InMobi, Flipkart, Nykaa, Razorpay.
• Q5 answer: NASSCOM = policy + data + talent. STPI = regulatory approvals + connectivity services. Different purposes but both support IT industry.
• Q6 answer: McKinsey — 35% more innovative, 36% more profitable. HBR — 87% better decisions.
📝 KEY POINTS FOR NOTEBOOKS:
Practice questions for self-study:
1. Distinguish IT from ITES with 3 examples each.
2. Name 3 Indian-built global IT projects and their impact.
3. Map: EC2/VM → ___; Gmail/Salesforce → ___; Google App Engine → ___ [IaaS/SaaS/PaaS]
4. Name 5 successful Indian IT product startups covered in Units IV &amp; V.
5. Compare NASSCOM and STPI — roles, functions, and differences.
6. State the McKinsey diversity statistics discussed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Summary
• Quick quiz: Cover slide, point to each box, ask student to expand the topic in 30 seconds.
• Exam prediction: "Write a note on NASSCOM" (5 marks), "Differentiate IT and ITES" (5 marks), "Recent tech advancements" (5 marks) — all high-probability questions.
• Close motivation: "You are entering the most exciting phase of the IT industry — AI transformation. The companies we studied today are all hiring. Your job is to be ready."
📝 KEY POINTS FOR NOTEBOOKS — MASTER LIST UNIT V:
1. IT = Build tech (Zoho, TCS BaNCS, Adobe) | ITES = Deliver services via tech (Genpact, Infosys BPM, WNS)
2. India IT: $245B revenue | $194B exports | 5.4M employees | 55% global outsourcing share
3. NASSCOM: 1988 | Policy + Data + Talent + 10K Startups
4. STPI: 1991 | MeitY | 70+ centres | Tax holiday + Duty-free + Green channel
5. Global Projects: Aadhaar (1.4B), UPI (10B txns/month), CoWIN (2.2B doses), India Stack
6. Case Studies: Zoho (bootstrapped/$1B) | TCS BaNCS (450+ banks) | Infosys GDM | Wipro AI pivot
7. Tech: AI/GenAI | Cloud (IaaS/PaaS/SaaS) | Blockchain | IoT (25B devices 2030) | Quantum (NQM ₹6K Cr)
8. Current affairs: IndiaAI ₹10,300Cr | DPDPA 2023 | Semiconductor Mission ₹76,000Cr | GCCs 1700+
9. Diversity: 35% more innovative + 36% more profitable (McKinsey) | 30% women in IT
10. CO5: Analyze trends, technologies, and diversity in the IT and ITES industry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References
• Primary book available in LPU library. NASSCOM annual report is free at nasscom.in.
• Encourage students to read NASSCOM India Technology Report every year — best free resource for IT industry knowledge.
• For current affairs: economictimes.com/tech and YourStory.com are excellent.
📝 KEY POINTS FOR NOTEBOOKS:
• Primary: Ethics in Information Technology — George W Reynolds, Cengage
• nasscom.in/india-itbpm-industry — Annual industry data
• stpi.in — STPI official portal
• meity.gov.in — Ministry of Electronics &amp; IT
• indiaai.gov.in — IndiaAI Mission portal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143000"/>
            <a:ext cx="9144000" cy="2743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143000"/>
            <a:ext cx="201168" cy="27432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3840480"/>
            <a:ext cx="9144000" cy="7315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2618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8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CSE332: Industry Ethics &amp; Legal Issues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600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65760" y="2084832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ITES Industry, NASSCOM, STPI,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Trends &amp; Diversity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39136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2025–26  |  6th Semester CSE  |  Lovely Professional University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— Topics at a Glance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CO5: Analyze trends, technologies, and diversity in the IT and ITES industry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4251960" cy="621792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828800"/>
            <a:ext cx="420624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68096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vs ITES Industry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68096" y="2130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Product-based vs Service-based companies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2542032"/>
            <a:ext cx="4251960" cy="621792"/>
          </a:xfrm>
          <a:prstGeom prst="rect">
            <a:avLst/>
          </a:prstGeom>
          <a:solidFill>
            <a:srgbClr val="F8F9FC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542032"/>
            <a:ext cx="420624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9260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68096" y="2596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68096" y="2843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IT industry association &amp; role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4320" y="3255264"/>
            <a:ext cx="4251960" cy="621792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3255264"/>
            <a:ext cx="420624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2608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68096" y="3310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68096" y="35570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Technology Parks — structure &amp; services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74320" y="3968496"/>
            <a:ext cx="4251960" cy="621792"/>
          </a:xfrm>
          <a:prstGeom prst="rect">
            <a:avLst/>
          </a:prstGeom>
          <a:solidFill>
            <a:srgbClr val="F8F9FC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74320" y="3968496"/>
            <a:ext cx="420624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9260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68096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IT Projects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68096" y="4270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projects with worldwide impact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754880" y="1828800"/>
            <a:ext cx="4251960" cy="621792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54880" y="1828800"/>
            <a:ext cx="420624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7316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5248656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248656" y="2130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Service IT company deep-dives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754880" y="2542032"/>
            <a:ext cx="4251960" cy="621792"/>
          </a:xfrm>
          <a:prstGeom prst="rect">
            <a:avLst/>
          </a:prstGeom>
          <a:solidFill>
            <a:srgbClr val="F8F9FC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54880" y="2542032"/>
            <a:ext cx="420624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7316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5248656" y="2596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Advancements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248656" y="2843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Cloud, Blockchain, IoT, Quantum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754880" y="3255264"/>
            <a:ext cx="4251960" cy="621792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754880" y="3255264"/>
            <a:ext cx="420624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73168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5248656" y="3310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Affairs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248656" y="35570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happenings in India's IT sector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754880" y="3968496"/>
            <a:ext cx="4251960" cy="621792"/>
          </a:xfrm>
          <a:prstGeom prst="rect">
            <a:avLst/>
          </a:prstGeom>
          <a:solidFill>
            <a:srgbClr val="F8F9FC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754880" y="3968496"/>
            <a:ext cx="420624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7316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5248656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Diversity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5248656" y="4270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tech teams &amp; why they matter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IT &amp; ITES Industry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$245 Billion Tech Engine — The World's Largest IT Outsourcing Hub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28800"/>
            <a:ext cx="1920240" cy="64008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56032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$245B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256032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IT Revenue FY23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993392" y="1828800"/>
            <a:ext cx="192024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993392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993392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Outsourcing Share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730752" y="1828800"/>
            <a:ext cx="1920240" cy="64008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30752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5.4M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730752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IT Employees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468112" y="1828800"/>
            <a:ext cx="192024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68112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$194B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68112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Exports FY23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205472" y="1828800"/>
            <a:ext cx="1920240" cy="64008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05472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$500B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7205472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2030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256032" y="26151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IT Revenue Growth ($B)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3561940"/>
            <a:ext cx="502920" cy="60772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" y="33607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57200" y="4187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234440" y="3303094"/>
            <a:ext cx="502920" cy="86657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234440" y="310192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234440" y="4187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2011680" y="3173671"/>
            <a:ext cx="502920" cy="995993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011680" y="2972503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2011680" y="4187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2788920" y="3078011"/>
            <a:ext cx="502920" cy="1091653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788920" y="2876843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2788920" y="4187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3566160" y="2791030"/>
            <a:ext cx="502920" cy="137863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566160" y="258986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3566160" y="4187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411480" y="2633472"/>
            <a:ext cx="0" cy="1572768"/>
          </a:xfrm>
          <a:prstGeom prst="line">
            <a:avLst/>
          </a:prstGeom>
          <a:noFill/>
          <a:ln w="10160">
            <a:solidFill>
              <a:srgbClr val="555566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11480" y="4206240"/>
            <a:ext cx="3749040" cy="0"/>
          </a:xfrm>
          <a:prstGeom prst="line">
            <a:avLst/>
          </a:prstGeom>
          <a:noFill/>
          <a:ln w="10160">
            <a:solidFill>
              <a:srgbClr val="55556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526280" y="2615184"/>
            <a:ext cx="434340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617720" y="263347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IT Hubs in India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4526280" y="2944368"/>
            <a:ext cx="4343400" cy="365760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617720" y="296265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— Silicon Valley of India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4617720" y="314553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Infosys, Wipro, Amazon R&amp;D, Google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4526280" y="3364992"/>
            <a:ext cx="4343400" cy="365760"/>
          </a:xfrm>
          <a:prstGeom prst="rect">
            <a:avLst/>
          </a:prstGeom>
          <a:solidFill>
            <a:srgbClr val="F8F9FC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617720" y="338328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— Cyberabad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4617720" y="3566160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Apple, Facebook, TCS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526280" y="3785616"/>
            <a:ext cx="4343400" cy="365760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617720" y="3803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— Oxford of the East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4617720" y="3986784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Cognizant, Capgemini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526280" y="4206240"/>
            <a:ext cx="4343400" cy="365760"/>
          </a:xfrm>
          <a:prstGeom prst="rect">
            <a:avLst/>
          </a:prstGeom>
          <a:solidFill>
            <a:srgbClr val="F8F9FC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617720" y="422452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— Detroit of Asia (IT)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4617720" y="4407408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Zoho, Freshworks, Larsen &amp; Toubro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4526280" y="4626864"/>
            <a:ext cx="4343400" cy="365760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617720" y="464515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Noida/NCR — IT Capital of North India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4617720" y="4828032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HCL, Sapient, Samsung R&amp;D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vs ITES Industry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Product-Based vs Service-Based — Two Pillars of India's Tech Economy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28800"/>
            <a:ext cx="425196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9184" y="1856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— Information Technology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56032" y="2194560"/>
            <a:ext cx="425196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9184" y="22128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BUILD &amp; sell technology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47472" y="254203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0352" y="25054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software products, platforms, hardware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47472" y="2825496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352" y="27889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IP-intensive: patents, copyrights are core assets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47472" y="3108960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0352" y="30723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product licenses, SaaS subscriptions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47472" y="3392424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0352" y="33558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R&amp;D investment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47472" y="3675888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0352" y="3639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customer base from day 1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47472" y="3959352"/>
            <a:ext cx="128016" cy="1280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0352" y="39227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Microsoft, Google, Zoho, Adobe, Apple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718304" y="1828800"/>
            <a:ext cx="4251960" cy="365760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91456" y="1856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 — IT Enabled Services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718304" y="2194560"/>
            <a:ext cx="4251960" cy="237744"/>
          </a:xfrm>
          <a:prstGeom prst="rect">
            <a:avLst/>
          </a:prstGeom>
          <a:solidFill>
            <a:srgbClr val="E0F4F6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91456" y="22128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USE technology to deliver services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809744" y="2542032"/>
            <a:ext cx="128016" cy="128016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92624" y="25054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business processes via IT infrastructure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809744" y="2825496"/>
            <a:ext cx="128016" cy="128016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92624" y="27889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People-intensive: workforce is core asset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809744" y="3108960"/>
            <a:ext cx="128016" cy="128016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992624" y="30723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per-hour, per-transaction, annual contracts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809744" y="3392424"/>
            <a:ext cx="128016" cy="128016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92624" y="33558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R&amp;D, higher operational excellence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809744" y="3675888"/>
            <a:ext cx="128016" cy="128016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992624" y="3639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Client-dependent (B2B contracts)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809744" y="3959352"/>
            <a:ext cx="128016" cy="128016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992624" y="39227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Infosys, TCS, Genpact, Wipro BPS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NASSCOM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Association of Software &amp; Service Companies | Founded 1988 | India's IT Voice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28800"/>
            <a:ext cx="3474720" cy="2907792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7472" y="19019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347472" y="2304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Association of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Service Companies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47472" y="28163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Founded: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481328" y="28163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1988, New Delhi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47472" y="3090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481328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IT companies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7472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Revenue: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481328" y="3364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$245 Billion (FY23)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47472" y="36393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481328" y="36393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Million direct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7472" y="39136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Startups: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481328" y="39136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Startups Program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7472" y="4187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FutureSkills: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481328" y="41879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4M+ reskilled (target)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7472" y="4462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481328" y="4462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$194B software exports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931920" y="1828800"/>
            <a:ext cx="2468880" cy="859536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005072" y="186537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Policy Advocacy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005072" y="2103120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industry to government (MeitY, Finance Ministry). Lobbies for tax incentives, SEZ policies, startup-friendly regulations.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6510528" y="1828800"/>
            <a:ext cx="2468880" cy="859536"/>
          </a:xfrm>
          <a:prstGeom prst="rect">
            <a:avLst/>
          </a:prstGeom>
          <a:solidFill>
            <a:srgbClr val="F8F9FC"/>
          </a:solidFill>
          <a:ln w="1016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6583680" y="186537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Industry Data &amp; Research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583680" y="2103120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annual 'India IT Report'. Provides authoritative market size, employment, and trend data used globally.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931920" y="2798064"/>
            <a:ext cx="2468880" cy="859536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005072" y="283464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Talent &amp; Skilling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005072" y="3072384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FutureSkills Prime: 4M+ reskilled in AI/ML/Cloud. Nasscom Foundation drives digital literacy and inclusion initiatives.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6510528" y="2798064"/>
            <a:ext cx="2468880" cy="859536"/>
          </a:xfrm>
          <a:prstGeom prst="rect">
            <a:avLst/>
          </a:prstGeom>
          <a:solidFill>
            <a:srgbClr val="F8F9FC"/>
          </a:solidFill>
          <a:ln w="1016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6583680" y="283464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10,000 Startups Program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583680" y="3072384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Incubation, acceleration, mentorship, and investor access. 40+ Warehouse co-working hubs across India (covered in Unit III).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3931920" y="3767328"/>
            <a:ext cx="2468880" cy="859536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4005072" y="380390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Global Promotion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4005072" y="4041648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India as preferred outsourcing destination. Represents Indian IT at Davos, CES, and bilateral trade forums.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510528" y="3767328"/>
            <a:ext cx="2468880" cy="859536"/>
          </a:xfrm>
          <a:prstGeom prst="rect">
            <a:avLst/>
          </a:prstGeom>
          <a:solidFill>
            <a:srgbClr val="F8F9FC"/>
          </a:solidFill>
          <a:ln w="1016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Text 37"/>
          <p:cNvSpPr/>
          <p:nvPr/>
        </p:nvSpPr>
        <p:spPr>
          <a:xfrm>
            <a:off x="6583680" y="380390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Industry Events &amp; Awards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583680" y="4041648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 Technology &amp; Leadership Forum (NTLF) — India's most prestigious IT conference. Attended by global tech CXOs.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 — Software Technology Parks of India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1991 | MeitY | 70+ Centres | Regulatory Body + Service Provider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85800" y="1901952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" y="2002536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74320" y="2304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130552" y="1901952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331720" y="2002536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719072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719072" y="2304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launched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575304" y="1901952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76472" y="2002536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63824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163824" y="2304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0056" y="1901952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21224" y="2002536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608576" y="2304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 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(parallel scheme)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464808" y="1901952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665976" y="2002536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53328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053328" y="2304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Incubation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7909560" y="1901952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98080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498080" y="2304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push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56032" y="2816352"/>
            <a:ext cx="2798064" cy="84124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56032" y="2816352"/>
            <a:ext cx="91440" cy="8412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20624" y="28529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Tax Holiday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20624" y="309067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10A/10B Income Tax. Full exemption on export profits for 10 years. Key driver for choosing STPI over regular office.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3200400" y="2816352"/>
            <a:ext cx="2798064" cy="841248"/>
          </a:xfrm>
          <a:prstGeom prst="rect">
            <a:avLst/>
          </a:prstGeom>
          <a:solidFill>
            <a:srgbClr val="F8F9FC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200400" y="2816352"/>
            <a:ext cx="91440" cy="8412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364992" y="28529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Duty-Free Imports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3364992" y="309067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servers, routers, switches, testing equipment with ZERO customs duty. Huge saving for hardware-dependent IT companies.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6144768" y="2816352"/>
            <a:ext cx="2798064" cy="84124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144768" y="2816352"/>
            <a:ext cx="91440" cy="8412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309360" y="28529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FDI Automatic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309360" y="309067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foreign ownership without RBI/government approval. Repatriation of dividends and capital freely allowed.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256032" y="3767328"/>
            <a:ext cx="2798064" cy="841248"/>
          </a:xfrm>
          <a:prstGeom prst="rect">
            <a:avLst/>
          </a:prstGeom>
          <a:solidFill>
            <a:srgbClr val="F8F9FC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56032" y="3767328"/>
            <a:ext cx="91440" cy="8412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20624" y="38039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Channel Clearance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420624" y="404164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customs clearance for imported goods. Dedicated STPI facilitation desks at major airports and ports.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3200400" y="3767328"/>
            <a:ext cx="2798064" cy="84124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200400" y="3767328"/>
            <a:ext cx="91440" cy="8412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364992" y="38039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Connectivity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3364992" y="404164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 provides dedicated leased lines, VSAT, fibre broadband. Critical infrastructure for software export companies.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6144768" y="3767328"/>
            <a:ext cx="2798064" cy="841248"/>
          </a:xfrm>
          <a:prstGeom prst="rect">
            <a:avLst/>
          </a:prstGeom>
          <a:solidFill>
            <a:srgbClr val="F8F9FC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144768" y="3767328"/>
            <a:ext cx="91440" cy="8412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309360" y="38039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 Incubation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309360" y="404164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iCreate (hardware), iStart (software), STPI-TIDE centres. Seed funding, mentorship, co-working, IP support for startups.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IT Projects with Impact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India — Solutions Solving World-Scale Problems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4251960" cy="969264"/>
          </a:xfrm>
          <a:prstGeom prst="rect">
            <a:avLst/>
          </a:prstGeom>
          <a:solidFill>
            <a:srgbClr val="F8F9FC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47088"/>
            <a:ext cx="91440" cy="96926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624" y="18836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Aadhaar / UIDAI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182112" y="1883664"/>
            <a:ext cx="1234440" cy="23774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82112" y="18836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1.4B+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822192" y="18836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IDs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420624" y="213969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largest biometric identity system. 99% of Indians enrolled. Enables direct benefit transfers (DBT), eliminating ₹1.7 lakh crore in leakage. Used for bank accounts, SIM cards, income tax.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20624" y="2633472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Biometrics, Big Data, PKI Encryption, Cloud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718304" y="1847088"/>
            <a:ext cx="4251960" cy="969264"/>
          </a:xfrm>
          <a:prstGeom prst="rect">
            <a:avLst/>
          </a:prstGeom>
          <a:solidFill>
            <a:srgbClr val="F8F9FC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18304" y="1847088"/>
            <a:ext cx="91440" cy="96926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82896" y="18836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UPI — Unified Payment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644384" y="1883664"/>
            <a:ext cx="1234440" cy="23774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44384" y="18836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284464" y="18836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Txns/month 2024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4882896" y="213969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real-time payment system. Zero MDR. Going global — UAE dirham, Singapore SGD, France, UK. Faster than PayPal. Inspired by India Stack. 400+ banks connected.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882896" y="2633472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REST APIs, NPCI infrastructure, Real-time settlement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256032" y="2926080"/>
            <a:ext cx="4251960" cy="969264"/>
          </a:xfrm>
          <a:prstGeom prst="rect">
            <a:avLst/>
          </a:prstGeom>
          <a:solidFill>
            <a:srgbClr val="F8F9FC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56032" y="2926080"/>
            <a:ext cx="91440" cy="969264"/>
          </a:xfrm>
          <a:prstGeom prst="rect">
            <a:avLst/>
          </a:prstGeom>
          <a:solidFill>
            <a:srgbClr val="0B6E7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624" y="2962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CoWIN Platform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182112" y="2962656"/>
            <a:ext cx="1234440" cy="237744"/>
          </a:xfrm>
          <a:prstGeom prst="rect">
            <a:avLst/>
          </a:prstGeom>
          <a:solidFill>
            <a:srgbClr val="0B6E7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182112" y="29626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2.2B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822192" y="29626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Vaccines managed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420624" y="321868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vaccine management system. Appointments, certificates, cold chain tracking. WHO adopted the model. Built and scaled in 90 days. Exported to 50+ countries.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420624" y="371246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Cloud, microservices, WhatsApp API integration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4718304" y="2926080"/>
            <a:ext cx="4251960" cy="969264"/>
          </a:xfrm>
          <a:prstGeom prst="rect">
            <a:avLst/>
          </a:prstGeom>
          <a:solidFill>
            <a:srgbClr val="F8F9FC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718304" y="2926080"/>
            <a:ext cx="91440" cy="969264"/>
          </a:xfrm>
          <a:prstGeom prst="rect">
            <a:avLst/>
          </a:prstGeom>
          <a:solidFill>
            <a:srgbClr val="0B6E7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82896" y="2962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India Stack / DPI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7644384" y="2962656"/>
            <a:ext cx="1234440" cy="237744"/>
          </a:xfrm>
          <a:prstGeom prst="rect">
            <a:avLst/>
          </a:prstGeom>
          <a:solidFill>
            <a:srgbClr val="0B6E7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644384" y="29626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8284464" y="29626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studying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4882896" y="321868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+ UPI + DigiLocker + e-Sign = India's Digital Public Infrastructure. Being replicated in Africa, Latin America. G20 endorsed as global model for financial inclusion.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4882896" y="371246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Open APIs, Interoperability, PKI, Cloud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256032" y="4005072"/>
            <a:ext cx="4251960" cy="969264"/>
          </a:xfrm>
          <a:prstGeom prst="rect">
            <a:avLst/>
          </a:prstGeom>
          <a:solidFill>
            <a:srgbClr val="F8F9FC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256032" y="4005072"/>
            <a:ext cx="91440" cy="969264"/>
          </a:xfrm>
          <a:prstGeom prst="rect">
            <a:avLst/>
          </a:prstGeom>
          <a:solidFill>
            <a:srgbClr val="1A6B3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20624" y="4041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Smart Cities Mission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3182112" y="4041648"/>
            <a:ext cx="1234440" cy="237744"/>
          </a:xfrm>
          <a:prstGeom prst="rect">
            <a:avLst/>
          </a:prstGeom>
          <a:solidFill>
            <a:srgbClr val="1A6B3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182112" y="40416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3822192" y="40416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transformed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420624" y="42976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 lakh crore investment. IoT sensors, integrated command &amp; control centres (ICCC), traffic management, waste management. IT companies (L&amp;T, IBM, Cisco) building urban tech.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420624" y="4791456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IoT, AI, GIS, 5G, Edge Computing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4718304" y="4005072"/>
            <a:ext cx="4251960" cy="969264"/>
          </a:xfrm>
          <a:prstGeom prst="rect">
            <a:avLst/>
          </a:prstGeom>
          <a:solidFill>
            <a:srgbClr val="F8F9FC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4718304" y="4005072"/>
            <a:ext cx="91440" cy="969264"/>
          </a:xfrm>
          <a:prstGeom prst="rect">
            <a:avLst/>
          </a:prstGeom>
          <a:solidFill>
            <a:srgbClr val="1A6B3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882896" y="4041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DigiYatra / Aviation AI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7644384" y="4041648"/>
            <a:ext cx="1234440" cy="237744"/>
          </a:xfrm>
          <a:prstGeom prst="rect">
            <a:avLst/>
          </a:prstGeom>
          <a:solidFill>
            <a:srgbClr val="1A6B3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644384" y="40416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8284464" y="40416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live</a:t>
            </a:r>
            <a:endParaRPr lang="en-US" sz="750" dirty="0"/>
          </a:p>
        </p:txBody>
      </p:sp>
      <p:sp>
        <p:nvSpPr>
          <p:cNvPr id="54" name="Text 50"/>
          <p:cNvSpPr/>
          <p:nvPr/>
        </p:nvSpPr>
        <p:spPr>
          <a:xfrm>
            <a:off x="4882896" y="42976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recognition-based paperless travel at Indian airports. No boarding pass needed. Based on Aadhaar face auth. 100M+ journeys completed. Privacy-by-design architecture.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4882896" y="4791456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Facial Recognition, AI, Aadhaar Auth API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Product-Based IT Companies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BaNCS &amp; Zoho — India's Software Products on the World Stage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4206240" cy="2907792"/>
          </a:xfrm>
          <a:prstGeom prst="rect">
            <a:avLst/>
          </a:prstGeom>
          <a:solidFill>
            <a:srgbClr val="F8F9FC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47088"/>
            <a:ext cx="42062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874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TCS BaNCS — Core Banking Product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47472" y="23225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371600" y="23225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needed one unified platform for all operations — accounts, loans, trade finance, insurance.</a:t>
            </a:r>
            <a:endParaRPr lang="en-US" sz="880" dirty="0"/>
          </a:p>
        </p:txBody>
      </p:sp>
      <p:sp>
        <p:nvSpPr>
          <p:cNvPr id="13" name="Text 9"/>
          <p:cNvSpPr/>
          <p:nvPr/>
        </p:nvSpPr>
        <p:spPr>
          <a:xfrm>
            <a:off x="347472" y="27249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371600" y="27249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BaNCS: modular, cloud-ready core banking suite. API-first architecture for easy integration.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347472" y="3127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371600" y="31272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 financial institutions in 80+ countries including ABN Amro, Standard Chartered, Westpac.</a:t>
            </a:r>
            <a:endParaRPr lang="en-US" sz="880" dirty="0"/>
          </a:p>
        </p:txBody>
      </p:sp>
      <p:sp>
        <p:nvSpPr>
          <p:cNvPr id="17" name="Text 13"/>
          <p:cNvSpPr/>
          <p:nvPr/>
        </p:nvSpPr>
        <p:spPr>
          <a:xfrm>
            <a:off x="347472" y="35295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371600" y="35295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 fee + implementation fees + maintenance contracts. $500M+/year product revenue.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347472" y="3931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371600" y="39319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Microservices, Cloud (AWS/Azure), AI-driven fraud detection, REST APIs, SOA.</a:t>
            </a:r>
            <a:endParaRPr lang="en-US" sz="880" dirty="0"/>
          </a:p>
        </p:txBody>
      </p:sp>
      <p:sp>
        <p:nvSpPr>
          <p:cNvPr id="21" name="Text 17"/>
          <p:cNvSpPr/>
          <p:nvPr/>
        </p:nvSpPr>
        <p:spPr>
          <a:xfrm>
            <a:off x="347472" y="4334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371600" y="43342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trillions in daily transactions. Powers banking for millions of customers globally.</a:t>
            </a:r>
            <a:endParaRPr lang="en-US" sz="880" dirty="0"/>
          </a:p>
        </p:txBody>
      </p:sp>
      <p:sp>
        <p:nvSpPr>
          <p:cNvPr id="23" name="Shape 19"/>
          <p:cNvSpPr/>
          <p:nvPr/>
        </p:nvSpPr>
        <p:spPr>
          <a:xfrm>
            <a:off x="256032" y="4498848"/>
            <a:ext cx="4206240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7472" y="45079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Even a services giant (TCS) can build world-class products.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663440" y="1847088"/>
            <a:ext cx="4206240" cy="2907792"/>
          </a:xfrm>
          <a:prstGeom prst="rect">
            <a:avLst/>
          </a:prstGeom>
          <a:solidFill>
            <a:srgbClr val="F8F9FC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63440" y="1847088"/>
            <a:ext cx="4206240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0" y="1874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Zoho Corporation — SaaS Empire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754880" y="23225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779008" y="23225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couldn't afford expensive enterprise software (Salesforce, SAP). Needed affordable all-in-one suite.</a:t>
            </a:r>
            <a:endParaRPr lang="en-US" sz="880" dirty="0"/>
          </a:p>
        </p:txBody>
      </p:sp>
      <p:sp>
        <p:nvSpPr>
          <p:cNvPr id="30" name="Text 26"/>
          <p:cNvSpPr/>
          <p:nvPr/>
        </p:nvSpPr>
        <p:spPr>
          <a:xfrm>
            <a:off x="4754880" y="27249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779008" y="27249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integrated SaaS apps: CRM, email, project mgmt, accounting — all under one subscription.</a:t>
            </a:r>
            <a:endParaRPr lang="en-US" sz="880" dirty="0"/>
          </a:p>
        </p:txBody>
      </p:sp>
      <p:sp>
        <p:nvSpPr>
          <p:cNvPr id="32" name="Text 28"/>
          <p:cNvSpPr/>
          <p:nvPr/>
        </p:nvSpPr>
        <p:spPr>
          <a:xfrm>
            <a:off x="4754880" y="3127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779008" y="31272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Bootstrapped. Zero VC funding. Reinvests 100% profits. No debt. Full founder control.</a:t>
            </a:r>
            <a:endParaRPr lang="en-US" sz="880" dirty="0"/>
          </a:p>
        </p:txBody>
      </p:sp>
      <p:sp>
        <p:nvSpPr>
          <p:cNvPr id="34" name="Text 30"/>
          <p:cNvSpPr/>
          <p:nvPr/>
        </p:nvSpPr>
        <p:spPr>
          <a:xfrm>
            <a:off x="4754880" y="35295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779008" y="35295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Billion+ (2023). 80M+ users. 700,000+ businesses. Competes with Salesforce, Microsoft.</a:t>
            </a:r>
            <a:endParaRPr lang="en-US" sz="880" dirty="0"/>
          </a:p>
        </p:txBody>
      </p:sp>
      <p:sp>
        <p:nvSpPr>
          <p:cNvPr id="36" name="Text 32"/>
          <p:cNvSpPr/>
          <p:nvPr/>
        </p:nvSpPr>
        <p:spPr>
          <a:xfrm>
            <a:off x="4754880" y="3931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779008" y="39319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proprietary stack. Own data centres. Own OS. Own mail servers. Own CDN. No AWS.</a:t>
            </a:r>
            <a:endParaRPr lang="en-US" sz="880" dirty="0"/>
          </a:p>
        </p:txBody>
      </p:sp>
      <p:sp>
        <p:nvSpPr>
          <p:cNvPr id="38" name="Text 34"/>
          <p:cNvSpPr/>
          <p:nvPr/>
        </p:nvSpPr>
        <p:spPr>
          <a:xfrm>
            <a:off x="4754880" y="4334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fact: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779008" y="43342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moved to Tenkasi village, Tamil Nadu. Proves tech innovation doesn't require city offices.</a:t>
            </a:r>
            <a:endParaRPr lang="en-US" sz="880" dirty="0"/>
          </a:p>
        </p:txBody>
      </p:sp>
      <p:sp>
        <p:nvSpPr>
          <p:cNvPr id="40" name="Shape 36"/>
          <p:cNvSpPr/>
          <p:nvPr/>
        </p:nvSpPr>
        <p:spPr>
          <a:xfrm>
            <a:off x="4663440" y="4498848"/>
            <a:ext cx="420624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754880" y="45079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Bootstrapping + focus + patience = $1B without VC money.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Service-Based IT Companies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&amp; Wipro — Global Delivery Model &amp; India's IT Services Giants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4251960" cy="2907792"/>
          </a:xfrm>
          <a:prstGeom prst="rect">
            <a:avLst/>
          </a:prstGeom>
          <a:solidFill>
            <a:srgbClr val="F8F9FC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47088"/>
            <a:ext cx="42519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865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Limited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953512" y="18653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$18.5B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3474720" y="18653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315,000+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3995928" y="18653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$75B+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347472" y="2304288"/>
            <a:ext cx="640080" cy="1645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23042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042416" y="230428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1981, Pune. 7 co-founders. ₹10,000 (~$250) seed capital. Narayana Murthy led.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47472" y="2688336"/>
            <a:ext cx="640080" cy="1645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7472" y="2688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042416" y="26883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Delivery Model (GDM): Offshore development + onsite delivery. 40-60% cost savings for clients.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47472" y="3072384"/>
            <a:ext cx="640080" cy="1645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7472" y="30723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042416" y="307238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Consulting, digital transformation, cloud, AI/ML, engineering services, BPO/BPM.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47472" y="3456432"/>
            <a:ext cx="640080" cy="1645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7472" y="34564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1042416" y="34564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1,700+ active clients: Apple, Walmart, Airbus, Goldman Sachs, Daimler.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47472" y="3840480"/>
            <a:ext cx="640080" cy="1645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7472" y="3840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042416" y="384048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BPM, Finacle (banking), IPAS (aerospace), EdgeVerve (AI platform).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47472" y="4224528"/>
            <a:ext cx="640080" cy="1645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47472" y="4224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42416" y="422452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top 500, DJSI leader, ranked #1 IT company in India (2023).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256032" y="4498848"/>
            <a:ext cx="42519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47472" y="45079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From $250 → $75B market cap in 40 years. Proof that quality + scale beats everything.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718304" y="1847088"/>
            <a:ext cx="4251960" cy="2907792"/>
          </a:xfrm>
          <a:prstGeom prst="rect">
            <a:avLst/>
          </a:prstGeom>
          <a:solidFill>
            <a:srgbClr val="F8F9FC"/>
          </a:solidFill>
          <a:ln w="19050">
            <a:solidFill>
              <a:srgbClr val="0B6E7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718304" y="1847088"/>
            <a:ext cx="4251960" cy="384048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09744" y="18653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Limited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7415784" y="18653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$11.3B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7936992" y="18653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220,000+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8458200" y="18653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$28B+</a:t>
            </a:r>
            <a:endParaRPr lang="en-US" sz="700" dirty="0"/>
          </a:p>
        </p:txBody>
      </p:sp>
      <p:sp>
        <p:nvSpPr>
          <p:cNvPr id="40" name="Shape 36"/>
          <p:cNvSpPr/>
          <p:nvPr/>
        </p:nvSpPr>
        <p:spPr>
          <a:xfrm>
            <a:off x="4809744" y="2304288"/>
            <a:ext cx="640080" cy="164592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09744" y="23042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5504688" y="230428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 as 'Western India Products' (soaps/oil). IT pivot in 1981 under Azim Premji.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809744" y="2688336"/>
            <a:ext cx="640080" cy="164592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809744" y="2688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5504688" y="26883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+ BPS + Health. 'AI Everywhere' strategy 2024: AI embedded in every service line.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4809744" y="3072384"/>
            <a:ext cx="640080" cy="164592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809744" y="30723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5504688" y="307238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cybersecurity, data analytics, digital ops, engineering, ERP (SAP/Oracle).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809744" y="3456432"/>
            <a:ext cx="640080" cy="164592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809744" y="34564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750" dirty="0"/>
          </a:p>
        </p:txBody>
      </p:sp>
      <p:sp>
        <p:nvSpPr>
          <p:cNvPr id="51" name="Text 47"/>
          <p:cNvSpPr/>
          <p:nvPr/>
        </p:nvSpPr>
        <p:spPr>
          <a:xfrm>
            <a:off x="5504688" y="34564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900+ clients: Nokia, Aon, Maruti Suzuki, HP, Santander Bank, Philips.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809744" y="3840480"/>
            <a:ext cx="640080" cy="164592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809744" y="3840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750" dirty="0"/>
          </a:p>
        </p:txBody>
      </p:sp>
      <p:sp>
        <p:nvSpPr>
          <p:cNvPr id="54" name="Text 50"/>
          <p:cNvSpPr/>
          <p:nvPr/>
        </p:nvSpPr>
        <p:spPr>
          <a:xfrm>
            <a:off x="5504688" y="384048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HOLMES (AI/automation), FullStride Cloud, Lab45 (AI research lab).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4809744" y="4224528"/>
            <a:ext cx="640080" cy="164592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809744" y="4224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</a:t>
            </a:r>
            <a:endParaRPr lang="en-US" sz="750" dirty="0"/>
          </a:p>
        </p:txBody>
      </p:sp>
      <p:sp>
        <p:nvSpPr>
          <p:cNvPr id="57" name="Text 53"/>
          <p:cNvSpPr/>
          <p:nvPr/>
        </p:nvSpPr>
        <p:spPr>
          <a:xfrm>
            <a:off x="5504688" y="422452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DJSI Sustainability Index. Carbon neutral target 2040. Top employer globally.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4718304" y="4498848"/>
            <a:ext cx="4251960" cy="256032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809744" y="45079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Pivoting from soap to IT shows vision. Now pivoting from IT to AI-led services.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Advancement 1: Artificial Intelligence &amp; Machine Learning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Technology Wave Since the Internet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4114800" cy="2907792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1965960"/>
            <a:ext cx="3657600" cy="2651760"/>
          </a:xfrm>
          <a:prstGeom prst="ellipse">
            <a:avLst/>
          </a:prstGeom>
          <a:solidFill>
            <a:srgbClr val="1E3460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1520" y="2240280"/>
            <a:ext cx="3108960" cy="2103120"/>
          </a:xfrm>
          <a:prstGeom prst="ellipse">
            <a:avLst/>
          </a:prstGeom>
          <a:solidFill>
            <a:srgbClr val="254070"/>
          </a:solidFill>
          <a:ln w="12700">
            <a:solidFill>
              <a:srgbClr val="4A609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05840" y="2514600"/>
            <a:ext cx="2560320" cy="1554480"/>
          </a:xfrm>
          <a:prstGeom prst="ellipse">
            <a:avLst/>
          </a:prstGeom>
          <a:solidFill>
            <a:srgbClr val="2C4E80"/>
          </a:solidFill>
          <a:ln w="12700">
            <a:solidFill>
              <a:srgbClr val="5A709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80160" y="2788920"/>
            <a:ext cx="2011680" cy="1005840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1520" y="22585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05840" y="2542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691640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0040" y="40965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→ Machine Learning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→ Generative AI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526280" y="1847088"/>
            <a:ext cx="2194560" cy="859536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99432" y="18836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Generative AI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99432" y="212140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 create text/code/images. TCS, Infosys, Wipro building GenAI enterprise tools.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830568" y="1847088"/>
            <a:ext cx="2194560" cy="859536"/>
          </a:xfrm>
          <a:prstGeom prst="rect">
            <a:avLst/>
          </a:prstGeom>
          <a:solidFill>
            <a:srgbClr val="F8F9FC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903720" y="18836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Computer Vision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903720" y="212140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DigiYatra (face recognition), autonomous vehicles, medical imaging. Used in 24 Indian airports.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4526280" y="2816352"/>
            <a:ext cx="2194560" cy="859536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99432" y="28529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NLP &amp; Chatbots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99432" y="309067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bots, voice assistants (Alexa, Siri). Indian startups: Haptik, Yellow.ai.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830568" y="2816352"/>
            <a:ext cx="2194560" cy="859536"/>
          </a:xfrm>
          <a:prstGeom prst="rect">
            <a:avLst/>
          </a:prstGeom>
          <a:solidFill>
            <a:srgbClr val="F8F9FC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03720" y="28529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Predictive Analytics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903720" y="309067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(banks), demand forecasting (retail), predictive maintenance (manufacturing).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526280" y="3785616"/>
            <a:ext cx="2194560" cy="859536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99432" y="38221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AI in Healthcare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599432" y="405993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radiology (Qure.ai — Indian startup). Drug discovery. Niramai — breast cancer detection using AI.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830568" y="3785616"/>
            <a:ext cx="2194560" cy="859536"/>
          </a:xfrm>
          <a:prstGeom prst="rect">
            <a:avLst/>
          </a:prstGeom>
          <a:solidFill>
            <a:srgbClr val="F8F9FC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903720" y="38221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Robotic Process Auto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903720" y="405993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bots handle repetitive tasks. UiPath, Automation Anywhere — both have strong India presence.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Advancements: Cloud | Blockchain | IoT | Quantum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Technologies Reshaping the IT Industry — Every CSE Graduate Must Know These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4251960" cy="1463040"/>
          </a:xfrm>
          <a:prstGeom prst="rect">
            <a:avLst/>
          </a:prstGeom>
          <a:solidFill>
            <a:srgbClr val="F8F9FC"/>
          </a:solidFill>
          <a:ln w="15240">
            <a:solidFill>
              <a:srgbClr val="1B2A4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47088"/>
            <a:ext cx="425196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" y="18836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Computing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7472" y="2286000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3776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→ PaaS → SaaS service models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47472" y="2606040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3776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 / Hybrid / Multi-cloud deployments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47472" y="2926080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3776" y="2852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(35%), Azure (24%), GCP (12%) global market share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468880" y="2286000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15184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centres: AWS (Mumbai, Hyderabad), Azure (Pune, Chennai), GCP (Mumbai, Delhi)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468880" y="2606040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615184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cloud market: ₹1 lakh crore+ by 2026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468880" y="2926080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615184" y="2852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skill: AWS/Azure certifications most in-demand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47472" y="3191256"/>
            <a:ext cx="4069080" cy="91440"/>
          </a:xfrm>
          <a:prstGeom prst="rect">
            <a:avLst/>
          </a:prstGeom>
          <a:solidFill>
            <a:srgbClr val="1B2A4A">
              <a:alpha val="30000"/>
            </a:srgb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7472" y="3145536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Indian govt on AWS GovCloud, IRCTC on Azure, Zomato on GCP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4718304" y="1847088"/>
            <a:ext cx="4251960" cy="1463040"/>
          </a:xfrm>
          <a:prstGeom prst="rect">
            <a:avLst/>
          </a:prstGeom>
          <a:solidFill>
            <a:srgbClr val="F8F9FC"/>
          </a:solidFill>
          <a:ln w="15240">
            <a:solidFill>
              <a:srgbClr val="0B6E7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18304" y="1847088"/>
            <a:ext cx="4251960" cy="310896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91456" y="18836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⛓️ Blockchain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809744" y="2286000"/>
            <a:ext cx="109728" cy="10972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56048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immutable ledger — no central authority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809744" y="2606040"/>
            <a:ext cx="109728" cy="10972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56048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mechanisms: PoW, PoS, DPoS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809744" y="2926080"/>
            <a:ext cx="109728" cy="10972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956048" y="2852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contracts: self-executing code on blockchain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6931152" y="2286000"/>
            <a:ext cx="109728" cy="10972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077456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supply chain (Walmart), land records (AP govt), cross-border payments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931152" y="2606040"/>
            <a:ext cx="109728" cy="10972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077456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Ethereum, Hyperledger Fabric, Solana — enterprise platforms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6931152" y="2926080"/>
            <a:ext cx="109728" cy="109728"/>
          </a:xfrm>
          <a:prstGeom prst="ellipse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077456" y="2852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MCA21 3.0 uses blockchain for company filings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4809744" y="3191256"/>
            <a:ext cx="4069080" cy="91440"/>
          </a:xfrm>
          <a:prstGeom prst="rect">
            <a:avLst/>
          </a:prstGeom>
          <a:solidFill>
            <a:srgbClr val="0B6E7A">
              <a:alpha val="30000"/>
            </a:srgbClr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09744" y="3145536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Andhra Pradesh land records on blockchain — eliminates fraud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256032" y="3419856"/>
            <a:ext cx="4251960" cy="1463040"/>
          </a:xfrm>
          <a:prstGeom prst="rect">
            <a:avLst/>
          </a:prstGeom>
          <a:solidFill>
            <a:srgbClr val="F8F9FC"/>
          </a:solidFill>
          <a:ln w="15240">
            <a:solidFill>
              <a:srgbClr val="1A6B3A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256032" y="3419856"/>
            <a:ext cx="4251960" cy="31089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9184" y="34564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Internet of Things (IoT)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347472" y="3858768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93776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billion connected devices by 2030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347472" y="4178808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93776" y="4105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Protocols: MQTT, CoAP, HTTP/REST, Zigbee, Z-Wave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347472" y="4498848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93776" y="4425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computing: processing data near source (not cloud)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2468880" y="3858768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2615184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enables IoT at massive scale — &lt;1ms latency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2468880" y="4178808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2615184" y="4105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Cities, Smart Factories (Industry 4.0), Smart Agriculture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2468880" y="4498848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2615184" y="4425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BSNL Smart Pole, Tata Power Smart Grid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347472" y="4764024"/>
            <a:ext cx="4069080" cy="91440"/>
          </a:xfrm>
          <a:prstGeom prst="rect">
            <a:avLst/>
          </a:prstGeom>
          <a:solidFill>
            <a:srgbClr val="1A6B3A">
              <a:alpha val="30000"/>
            </a:srgbClr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347472" y="4718304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Bosch Smart Factory Nashik — IoT sensors cut defects by 40%</a:t>
            </a:r>
            <a:endParaRPr lang="en-US" sz="750" dirty="0"/>
          </a:p>
        </p:txBody>
      </p:sp>
      <p:sp>
        <p:nvSpPr>
          <p:cNvPr id="59" name="Shape 55"/>
          <p:cNvSpPr/>
          <p:nvPr/>
        </p:nvSpPr>
        <p:spPr>
          <a:xfrm>
            <a:off x="4718304" y="3419856"/>
            <a:ext cx="4251960" cy="1463040"/>
          </a:xfrm>
          <a:prstGeom prst="rect">
            <a:avLst/>
          </a:prstGeom>
          <a:solidFill>
            <a:srgbClr val="F8F9FC"/>
          </a:solidFill>
          <a:ln w="15240">
            <a:solidFill>
              <a:srgbClr val="5B2D8E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4718304" y="3419856"/>
            <a:ext cx="4251960" cy="310896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791456" y="34564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Quantum Computing</a:t>
            </a:r>
            <a:endParaRPr lang="en-US" sz="1100" dirty="0"/>
          </a:p>
        </p:txBody>
      </p:sp>
      <p:sp>
        <p:nvSpPr>
          <p:cNvPr id="62" name="Shape 58"/>
          <p:cNvSpPr/>
          <p:nvPr/>
        </p:nvSpPr>
        <p:spPr>
          <a:xfrm>
            <a:off x="4809744" y="3858768"/>
            <a:ext cx="109728" cy="10972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956048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vs bits: superposition enables parallel computation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4809744" y="4178808"/>
            <a:ext cx="109728" cy="10972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4956048" y="4105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advantage: faster than classical for specific problems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4809744" y="4498848"/>
            <a:ext cx="109728" cy="10972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4956048" y="4425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drug discovery, cryptography, optimization</a:t>
            </a:r>
            <a:endParaRPr lang="en-US" sz="850" dirty="0"/>
          </a:p>
        </p:txBody>
      </p:sp>
      <p:sp>
        <p:nvSpPr>
          <p:cNvPr id="68" name="Shape 64"/>
          <p:cNvSpPr/>
          <p:nvPr/>
        </p:nvSpPr>
        <p:spPr>
          <a:xfrm>
            <a:off x="6931152" y="3858768"/>
            <a:ext cx="109728" cy="10972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7077456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National Quantum Mission (NQM) 2023: ₹6,003 crore</a:t>
            </a:r>
            <a:endParaRPr lang="en-US" sz="850" dirty="0"/>
          </a:p>
        </p:txBody>
      </p:sp>
      <p:sp>
        <p:nvSpPr>
          <p:cNvPr id="70" name="Shape 66"/>
          <p:cNvSpPr/>
          <p:nvPr/>
        </p:nvSpPr>
        <p:spPr>
          <a:xfrm>
            <a:off x="6931152" y="4178808"/>
            <a:ext cx="109728" cy="10972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7077456" y="4105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50-1000 qubit quantum computers by 2031</a:t>
            </a:r>
            <a:endParaRPr lang="en-US" sz="850" dirty="0"/>
          </a:p>
        </p:txBody>
      </p:sp>
      <p:sp>
        <p:nvSpPr>
          <p:cNvPr id="72" name="Shape 68"/>
          <p:cNvSpPr/>
          <p:nvPr/>
        </p:nvSpPr>
        <p:spPr>
          <a:xfrm>
            <a:off x="6931152" y="4498848"/>
            <a:ext cx="109728" cy="109728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7077456" y="4425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Players: IBM Quantum, Google Sycamore, TCS research</a:t>
            </a:r>
            <a:endParaRPr lang="en-US" sz="850" dirty="0"/>
          </a:p>
        </p:txBody>
      </p:sp>
      <p:sp>
        <p:nvSpPr>
          <p:cNvPr id="74" name="Shape 70"/>
          <p:cNvSpPr/>
          <p:nvPr/>
        </p:nvSpPr>
        <p:spPr>
          <a:xfrm>
            <a:off x="4809744" y="4764024"/>
            <a:ext cx="4069080" cy="91440"/>
          </a:xfrm>
          <a:prstGeom prst="rect">
            <a:avLst/>
          </a:prstGeom>
          <a:solidFill>
            <a:srgbClr val="5B2D8E">
              <a:alpha val="30000"/>
            </a:srgbClr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4809744" y="4718304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Google Sycamore: task in 200 sec that classical takes 10,000 years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Affairs — IT Industry 2024-25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IndiaAI | DPDPA | Semiconductors | GCCs | 6G | Global Trends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2798064" cy="1316736"/>
          </a:xfrm>
          <a:prstGeom prst="rect">
            <a:avLst/>
          </a:prstGeom>
          <a:solidFill>
            <a:srgbClr val="F8F9FC"/>
          </a:solidFill>
          <a:ln w="1524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47088"/>
            <a:ext cx="2798064" cy="310896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" y="1883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IndiaAI Mission 2024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542032" y="1883664"/>
            <a:ext cx="438912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542032" y="18836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₹10,300 Cr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542032" y="201168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347472" y="2194560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₹10,300 crore. 10,000 GPU compute cloud for AI researchers. AI startups funding. National AI Research Institute (NAIRI). 'Make AI in India' push.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3200400" y="1847088"/>
            <a:ext cx="2798064" cy="1316736"/>
          </a:xfrm>
          <a:prstGeom prst="rect">
            <a:avLst/>
          </a:prstGeom>
          <a:solidFill>
            <a:srgbClr val="F8F9FC"/>
          </a:solidFill>
          <a:ln w="1524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0" y="1847088"/>
            <a:ext cx="2798064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73552" y="1883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DPDPA 2023 — Data Privacy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0" y="1883664"/>
            <a:ext cx="438912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0" y="18836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 Cr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486400" y="201168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Penalty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3291840" y="2194560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Personal Data Protection Act. India's GDPR equivalent. All companies handling Indian user data must comply. Penalties: up to ₹250 crore per violation. Data Principal rights.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6144768" y="1847088"/>
            <a:ext cx="2798064" cy="1316736"/>
          </a:xfrm>
          <a:prstGeom prst="rect">
            <a:avLst/>
          </a:prstGeom>
          <a:solidFill>
            <a:srgbClr val="F8F9FC"/>
          </a:solidFill>
          <a:ln w="15240">
            <a:solidFill>
              <a:srgbClr val="0B6E7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44768" y="1847088"/>
            <a:ext cx="2798064" cy="310896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17920" y="1883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India Semiconductor Mission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8430768" y="1883664"/>
            <a:ext cx="438912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430768" y="18836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₹76,000 Cr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430768" y="201168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6236208" y="2194560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₹76,000 Cr incentives. Tata Electronics + Micron fab in Gujarat. Renesas + CG Power fab. First 'Made in India' chip targeted by 2026. Reduces import dependency.</a:t>
            </a:r>
            <a:endParaRPr lang="en-US" sz="880" dirty="0"/>
          </a:p>
        </p:txBody>
      </p:sp>
      <p:sp>
        <p:nvSpPr>
          <p:cNvPr id="29" name="Shape 25"/>
          <p:cNvSpPr/>
          <p:nvPr/>
        </p:nvSpPr>
        <p:spPr>
          <a:xfrm>
            <a:off x="256032" y="3273552"/>
            <a:ext cx="2798064" cy="1316736"/>
          </a:xfrm>
          <a:prstGeom prst="rect">
            <a:avLst/>
          </a:prstGeom>
          <a:solidFill>
            <a:srgbClr val="F8F9FC"/>
          </a:solidFill>
          <a:ln w="15240">
            <a:solidFill>
              <a:srgbClr val="1A6B3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56032" y="3273552"/>
            <a:ext cx="2798064" cy="31089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9184" y="3310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GCC Boom in India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2542032" y="3310128"/>
            <a:ext cx="438912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542032" y="331012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1,700+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2542032" y="34381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GCCs in India</a:t>
            </a:r>
            <a:endParaRPr lang="en-US" sz="650" dirty="0"/>
          </a:p>
        </p:txBody>
      </p:sp>
      <p:sp>
        <p:nvSpPr>
          <p:cNvPr id="35" name="Text 31"/>
          <p:cNvSpPr/>
          <p:nvPr/>
        </p:nvSpPr>
        <p:spPr>
          <a:xfrm>
            <a:off x="347472" y="3621024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Capability Centres: 1,700+ GCCs of global companies (Google, JPMorgan, Boeing) operating in India. Employing 1.9M people. $64B revenue. Bengaluru = GCC capital.</a:t>
            </a:r>
            <a:endParaRPr lang="en-US" sz="880" dirty="0"/>
          </a:p>
        </p:txBody>
      </p:sp>
      <p:sp>
        <p:nvSpPr>
          <p:cNvPr id="36" name="Shape 32"/>
          <p:cNvSpPr/>
          <p:nvPr/>
        </p:nvSpPr>
        <p:spPr>
          <a:xfrm>
            <a:off x="3200400" y="3273552"/>
            <a:ext cx="2798064" cy="1316736"/>
          </a:xfrm>
          <a:prstGeom prst="rect">
            <a:avLst/>
          </a:prstGeom>
          <a:solidFill>
            <a:srgbClr val="F8F9FC"/>
          </a:solidFill>
          <a:ln w="15240">
            <a:solidFill>
              <a:srgbClr val="5B2D8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3200400" y="3273552"/>
            <a:ext cx="2798064" cy="310896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73552" y="3310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6G Mission India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486400" y="3310128"/>
            <a:ext cx="438912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486400" y="331012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486400" y="34381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Target Year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3291840" y="3621024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launched 6G Technology Innovation Group. Target: Be a global 6G standard-setter by 2030. Bharat 6G Vision: 100x faster than 5G. TCS, CDOT, IITs leading research.</a:t>
            </a:r>
            <a:endParaRPr lang="en-US" sz="880" dirty="0"/>
          </a:p>
        </p:txBody>
      </p:sp>
      <p:sp>
        <p:nvSpPr>
          <p:cNvPr id="43" name="Shape 39"/>
          <p:cNvSpPr/>
          <p:nvPr/>
        </p:nvSpPr>
        <p:spPr>
          <a:xfrm>
            <a:off x="6144768" y="3273552"/>
            <a:ext cx="2798064" cy="1316736"/>
          </a:xfrm>
          <a:prstGeom prst="rect">
            <a:avLst/>
          </a:prstGeom>
          <a:solidFill>
            <a:srgbClr val="F8F9FC"/>
          </a:solidFill>
          <a:ln w="15240">
            <a:solidFill>
              <a:srgbClr val="C0392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6144768" y="3273552"/>
            <a:ext cx="2798064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217920" y="33101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IT Hiring &amp; AI Shift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8430768" y="3310128"/>
            <a:ext cx="438912" cy="23774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430768" y="331012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8430768" y="34381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Job Growth</a:t>
            </a:r>
            <a:endParaRPr lang="en-US" sz="650" dirty="0"/>
          </a:p>
        </p:txBody>
      </p:sp>
      <p:sp>
        <p:nvSpPr>
          <p:cNvPr id="49" name="Text 45"/>
          <p:cNvSpPr/>
          <p:nvPr/>
        </p:nvSpPr>
        <p:spPr>
          <a:xfrm>
            <a:off x="6236208" y="3621024"/>
            <a:ext cx="26334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IT hiring slowdown 2023-24. AI roles growing 40% YoY. Traditional coding roles under pressure. Companies want: AI/ML, Cloud, Cybersecurity, Data skills above all else.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in the Workforce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Inclusive IT Teams — Why Diversity is a Business Imperative, Not Just Ethics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3840480" cy="2907792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7472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Diversity Business Case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47472" y="2304288"/>
            <a:ext cx="3584448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7472" y="2304288"/>
            <a:ext cx="73152" cy="5029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3591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234440" y="23591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innovative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(McKinsey)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47472" y="2898648"/>
            <a:ext cx="3584448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7472" y="2898648"/>
            <a:ext cx="73152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234440" y="29535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profitable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(diverse leadership)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47472" y="3493008"/>
            <a:ext cx="3584448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47472" y="3493008"/>
            <a:ext cx="73152" cy="502920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35478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234440" y="35478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turnover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(inclusive culture)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47472" y="4087368"/>
            <a:ext cx="3584448" cy="502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47472" y="4087368"/>
            <a:ext cx="73152" cy="5029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" y="41422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1234440" y="414223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(diverse teams, HBR)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47472" y="47183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Indian IT workforce: ~30%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senior leadership: 12-15%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251960" y="1847088"/>
            <a:ext cx="4626864" cy="420624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251960" y="1847088"/>
            <a:ext cx="73152" cy="42062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389120" y="1874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♀️♂️ Gender Diversity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389120" y="20665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women in Indian IT. TCS WoW, Infosys Women's Empowerment program. Mandatory: 1 woman director (Companies Act).</a:t>
            </a:r>
            <a:endParaRPr lang="en-US" sz="820" dirty="0"/>
          </a:p>
        </p:txBody>
      </p:sp>
      <p:sp>
        <p:nvSpPr>
          <p:cNvPr id="31" name="Shape 27"/>
          <p:cNvSpPr/>
          <p:nvPr/>
        </p:nvSpPr>
        <p:spPr>
          <a:xfrm>
            <a:off x="4251960" y="2331720"/>
            <a:ext cx="4626864" cy="420624"/>
          </a:xfrm>
          <a:prstGeom prst="rect">
            <a:avLst/>
          </a:prstGeom>
          <a:solidFill>
            <a:srgbClr val="F8F9FC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251960" y="2331720"/>
            <a:ext cx="73152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389120" y="2359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👶👴 Age / Generational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389120" y="25511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Z, Millennials, Gen X working together. Different work styles. Reverse mentoring: younger employees teaching tech to seniors.</a:t>
            </a:r>
            <a:endParaRPr lang="en-US" sz="820" dirty="0"/>
          </a:p>
        </p:txBody>
      </p:sp>
      <p:sp>
        <p:nvSpPr>
          <p:cNvPr id="35" name="Shape 31"/>
          <p:cNvSpPr/>
          <p:nvPr/>
        </p:nvSpPr>
        <p:spPr>
          <a:xfrm>
            <a:off x="4251960" y="2816352"/>
            <a:ext cx="4626864" cy="420624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251960" y="2816352"/>
            <a:ext cx="73152" cy="42062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389120" y="28437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Geographic Diversity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4389120" y="30358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2/3 city talent (LPU's strength!). Remote work enablement. Companies now hiring from Jalandhar, Jaipur, Coimbatore.</a:t>
            </a:r>
            <a:endParaRPr lang="en-US" sz="820" dirty="0"/>
          </a:p>
        </p:txBody>
      </p:sp>
      <p:sp>
        <p:nvSpPr>
          <p:cNvPr id="39" name="Shape 35"/>
          <p:cNvSpPr/>
          <p:nvPr/>
        </p:nvSpPr>
        <p:spPr>
          <a:xfrm>
            <a:off x="4251960" y="3300984"/>
            <a:ext cx="4626864" cy="420624"/>
          </a:xfrm>
          <a:prstGeom prst="rect">
            <a:avLst/>
          </a:prstGeom>
          <a:solidFill>
            <a:srgbClr val="F8F9FC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251960" y="3300984"/>
            <a:ext cx="73152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389120" y="33284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Disability Inclusion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4389120" y="35204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ABLE program. TCS includes PWDs. India's RPwD Act 2016: 5% reservation in govt IT projects. Accessibility-first design.</a:t>
            </a:r>
            <a:endParaRPr lang="en-US" sz="820" dirty="0"/>
          </a:p>
        </p:txBody>
      </p:sp>
      <p:sp>
        <p:nvSpPr>
          <p:cNvPr id="43" name="Shape 39"/>
          <p:cNvSpPr/>
          <p:nvPr/>
        </p:nvSpPr>
        <p:spPr>
          <a:xfrm>
            <a:off x="4251960" y="3785616"/>
            <a:ext cx="4626864" cy="420624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251960" y="3785616"/>
            <a:ext cx="73152" cy="42062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389120" y="3813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Neurodiversity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4389120" y="40050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Autism at Work program: 100s of autistic employees. Microsoft Neurodiversity Hiring. Pattern recognition &amp; focus are tech superpowers.</a:t>
            </a:r>
            <a:endParaRPr lang="en-US" sz="820" dirty="0"/>
          </a:p>
        </p:txBody>
      </p:sp>
      <p:sp>
        <p:nvSpPr>
          <p:cNvPr id="47" name="Shape 43"/>
          <p:cNvSpPr/>
          <p:nvPr/>
        </p:nvSpPr>
        <p:spPr>
          <a:xfrm>
            <a:off x="4251960" y="4270248"/>
            <a:ext cx="4626864" cy="420624"/>
          </a:xfrm>
          <a:prstGeom prst="rect">
            <a:avLst/>
          </a:prstGeom>
          <a:solidFill>
            <a:srgbClr val="F8F9FC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251960" y="4270248"/>
            <a:ext cx="73152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389120" y="4297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Cultural/Linguistic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4389120" y="44897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multilingual workforce. Localization skills critical for global products. 22 official languages = massive content opportunity.</a:t>
            </a:r>
            <a:endParaRPr lang="en-US" sz="820" dirty="0"/>
          </a:p>
        </p:txBody>
      </p:sp>
      <p:sp>
        <p:nvSpPr>
          <p:cNvPr id="51" name="Shape 47"/>
          <p:cNvSpPr/>
          <p:nvPr/>
        </p:nvSpPr>
        <p:spPr>
          <a:xfrm>
            <a:off x="4251960" y="4736592"/>
            <a:ext cx="4626864" cy="29260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315968" y="475488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"Diversity is being invited to the party. Inclusion is being asked to dance." — Vernā Myers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— Practice Questions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Understanding of Unit V Before the Exam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4251960" cy="896112"/>
          </a:xfrm>
          <a:prstGeom prst="rect">
            <a:avLst/>
          </a:prstGeom>
          <a:solidFill>
            <a:srgbClr val="F8F9FC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47088"/>
            <a:ext cx="438912" cy="8961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" y="2139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931920" y="1883664"/>
            <a:ext cx="502920" cy="20116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31920" y="1901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768096" y="1883664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Infosys an IT company or an ITES company? Justify your answer with specific examples from its portfolio.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68096" y="2286000"/>
            <a:ext cx="3602736" cy="1828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8096" y="2322576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Ans: Both! Finacle (core banking software) = IT Product. Infosys BPM = ITES. This makes it a hybrid — most large Indian IT firms operate both.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718304" y="1847088"/>
            <a:ext cx="4251960" cy="896112"/>
          </a:xfrm>
          <a:prstGeom prst="rect">
            <a:avLst/>
          </a:prstGeom>
          <a:solidFill>
            <a:srgbClr val="F8F9FC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18304" y="1847088"/>
            <a:ext cx="438912" cy="8961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0" y="2139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394192" y="1883664"/>
            <a:ext cx="502920" cy="20116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94192" y="1901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marks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230368" y="1883664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three Indian-built IT projects that have global impact. For each, state: (a) the problem solved, (b) the technology used, (c) global adoption.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230368" y="2286000"/>
            <a:ext cx="3602736" cy="1828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30368" y="2322576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Ans: Aadhaar (biometric identity, PKI+Big Data, replicated in 50+ countries), UPI (payments, NPCI/API, adopted in UAE/Singapore/France), CoWIN (vaccine mgmt, Cloud/Microservices, WHO model).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256032" y="2852928"/>
            <a:ext cx="4251960" cy="896112"/>
          </a:xfrm>
          <a:prstGeom prst="rect">
            <a:avLst/>
          </a:prstGeom>
          <a:solidFill>
            <a:srgbClr val="F8F9FC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56032" y="2852928"/>
            <a:ext cx="438912" cy="8961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92608" y="31455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931920" y="2889504"/>
            <a:ext cx="502920" cy="20116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931920" y="2907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marks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768096" y="2889504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these cloud services: A) Amazon EC2  B) Gmail  C) Google App Engine. Which model is each? Explain.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68096" y="3291840"/>
            <a:ext cx="3602736" cy="1828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8096" y="3328416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Ans: A) EC2 = IaaS (rents virtual machines). B) Gmail = SaaS (complete software over internet). C) App Engine = PaaS (platform for developers to deploy apps without managing servers).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4718304" y="2852928"/>
            <a:ext cx="4251960" cy="896112"/>
          </a:xfrm>
          <a:prstGeom prst="rect">
            <a:avLst/>
          </a:prstGeom>
          <a:solidFill>
            <a:srgbClr val="F8F9FC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718304" y="2852928"/>
            <a:ext cx="438912" cy="8961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754880" y="31455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8394192" y="2889504"/>
            <a:ext cx="502920" cy="20116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394192" y="2907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5230368" y="2889504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role of NASSCOM in India's IT ecosystem? How does it differ from STPI?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5230368" y="3291840"/>
            <a:ext cx="3602736" cy="1828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230368" y="3328416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Ans: NASSCOM = Industry association: policy advocacy, data, talent, global promotion. STPI = Government statutory body: export approvals, compliance, connectivity, incubation. NASSCOM is private-sector led; STPI is government under MeitY.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256032" y="3858768"/>
            <a:ext cx="4251960" cy="896112"/>
          </a:xfrm>
          <a:prstGeom prst="rect">
            <a:avLst/>
          </a:prstGeom>
          <a:solidFill>
            <a:srgbClr val="F8F9FC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56032" y="3858768"/>
            <a:ext cx="438912" cy="8961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92608" y="4151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3931920" y="3895344"/>
            <a:ext cx="502920" cy="20116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931920" y="39136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marks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768096" y="3895344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business case for workforce diversity in IT companies. Support your answer with relevant statistics.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768096" y="4297680"/>
            <a:ext cx="3602736" cy="1828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68096" y="4334256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Ans: McKinsey: 35% more innovative, 36% more profitable. HBR: 87% better decisions. Diverse teams catch more edge cases in software. India-specific: 30% women in IT but only 12-15% in leadership — gap is opportunity.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4718304" y="3858768"/>
            <a:ext cx="4251960" cy="896112"/>
          </a:xfrm>
          <a:prstGeom prst="rect">
            <a:avLst/>
          </a:prstGeom>
          <a:solidFill>
            <a:srgbClr val="F8F9FC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718304" y="3858768"/>
            <a:ext cx="438912" cy="8961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754880" y="4151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8394192" y="3895344"/>
            <a:ext cx="502920" cy="20116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8394192" y="39136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marks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5230368" y="3895344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building a semiconductor manufacturing ecosystem. Name the act/mission, the investment, and TWO companies setting up fabs.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5230368" y="4297680"/>
            <a:ext cx="3602736" cy="1828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5230368" y="4334256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Ans: India Semiconductor Mission (ISM). Investment: ₹76,000 crore incentives. Companies: Tata Electronics (Dholera, Gujarat) + Micron Technology (Sanand, Gujarat) + CG Power + Renesas.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— Summary &amp; Key Takeaways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CO5: Analyze trends, technologies, and diversity in the IT and ITES industry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8631936" cy="310896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47088"/>
            <a:ext cx="73152" cy="310896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84048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vs ITES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920240" y="1901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= Build tech (Zoho, TCS BaNCS) | ITES = Deliver services via tech (Infosys BPM, Genpact, WNS). Both coexist in large firms.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6032" y="2194560"/>
            <a:ext cx="8631936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56032" y="2194560"/>
            <a:ext cx="73152" cy="310896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84048" y="2249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IT Scale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920240" y="22494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$245B revenue | $194B exports | 5.4M employees | 55% global outsourcing share | Target: $500B by 2030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56032" y="2542032"/>
            <a:ext cx="8631936" cy="310896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56032" y="2542032"/>
            <a:ext cx="73152" cy="310896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" y="2596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920240" y="2596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1988 | Policy advocacy + Industry data + Talent skilling + 10K Startups program + Global promotion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56032" y="2889504"/>
            <a:ext cx="8631936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56032" y="2889504"/>
            <a:ext cx="73152" cy="310896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4048" y="2944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920240" y="29443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1991 | MeitY | 70+ centres | 10-yr tax holiday + Duty-free imports + Green channel clearance + Incubation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6032" y="3236976"/>
            <a:ext cx="8631936" cy="310896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56032" y="3236976"/>
            <a:ext cx="73152" cy="310896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4048" y="3291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IT Projects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920240" y="32918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(1.4B IDs) | UPI (10B txns/month) | CoWIN (2.2B doses) | India Stack (50+ countries studying)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56032" y="3584448"/>
            <a:ext cx="8631936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56032" y="3584448"/>
            <a:ext cx="73152" cy="310896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84048" y="3639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920240" y="36393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(bootstrapped $1B) | TCS BaNCS (450+ banks) | Infosys GDM model | Wipro AI transformation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56032" y="3931920"/>
            <a:ext cx="8631936" cy="310896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56032" y="3931920"/>
            <a:ext cx="73152" cy="310896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84048" y="3986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Advancements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1920240" y="39867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AI/GenAI | Cloud IaaS→PaaS→SaaS | Blockchain | IoT (25B devices 2030) | Quantum (India NQM ₹6,003Cr)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56032" y="4279392"/>
            <a:ext cx="8631936" cy="310896"/>
          </a:xfrm>
          <a:prstGeom prst="rect">
            <a:avLst/>
          </a:prstGeom>
          <a:solidFill>
            <a:srgbClr val="F8F9FC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256032" y="4279392"/>
            <a:ext cx="73152" cy="310896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84048" y="4334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Affairs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1920240" y="43342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IndiaAI ₹10,300Cr | DPDPA 2023 penalties ₹250Cr | Semiconductor Mission ₹76,000Cr | 1,700+ GCCs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256032" y="4626864"/>
            <a:ext cx="8631936" cy="310896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56032" y="4626864"/>
            <a:ext cx="73152" cy="310896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84048" y="4681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Diversity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1920240" y="46817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more innovative + 36% more profitable (McKinsey) | 30% women in IT | Types: Gender/Age/Geographic/Neuro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0"/>
            <a:ext cx="9144000" cy="42291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14400"/>
            <a:ext cx="201168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74320" y="932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Resources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| Official Portals | Industry Reports | Recommended Reading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2798064" cy="2907792"/>
          </a:xfrm>
          <a:prstGeom prst="rect">
            <a:avLst/>
          </a:prstGeom>
          <a:solidFill>
            <a:srgbClr val="F8F9FC"/>
          </a:solidFill>
          <a:ln w="1905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47088"/>
            <a:ext cx="2798064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87452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7472" y="2249424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in Information Technology — George W Reynolds, Cengage Learning (PRIMARY)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47472" y="2779776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101 — John C. Maxwell, Hachette India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47472" y="331012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Lean Startup — Eric Ries (Supplementary)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47472" y="384048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One — Peter Thiel (Supplementary reading)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0" y="1847088"/>
            <a:ext cx="2798064" cy="2907792"/>
          </a:xfrm>
          <a:prstGeom prst="rect">
            <a:avLst/>
          </a:prstGeom>
          <a:solidFill>
            <a:srgbClr val="F8F9FC"/>
          </a:solidFill>
          <a:ln w="1905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0" y="1847088"/>
            <a:ext cx="2798064" cy="32918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91840" y="187452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Indian Government Portals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91840" y="2249424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nasscom.in — NASSCOM industry reports &amp; programs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91840" y="2779776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stpi.in — STPI registration &amp; centre information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291840" y="331012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meity.gov.in — Ministry of Electronics &amp; IT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291840" y="384048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indiaai.gov.in — IndiaAI Mission (2024)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291840" y="4370832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semiconductors.india.gov.in — India Semiconductor Mission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144768" y="1847088"/>
            <a:ext cx="2798064" cy="2907792"/>
          </a:xfrm>
          <a:prstGeom prst="rect">
            <a:avLst/>
          </a:prstGeom>
          <a:solidFill>
            <a:srgbClr val="F8F9FC"/>
          </a:solidFill>
          <a:ln w="19050">
            <a:solidFill>
              <a:srgbClr val="0B6E7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44768" y="1847088"/>
            <a:ext cx="2798064" cy="329184"/>
          </a:xfrm>
          <a:prstGeom prst="rect">
            <a:avLst/>
          </a:prstGeom>
          <a:solidFill>
            <a:srgbClr val="0B6E7A"/>
          </a:solidFill>
          <a:ln w="12700">
            <a:solidFill>
              <a:srgbClr val="0B6E7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36208" y="187452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Current Affairs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236208" y="2249424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yourstory.com — Indian startup &amp; tech news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236208" y="2779776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economictimes.com/tech — ET tech for current affairs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236208" y="331012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nasscom.in/insights — Industry data &amp; research reports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236208" y="384048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inc42.com — Indian startup ecosystem coverage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236208" y="4370832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techcrunch.com — Global tech current affairs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56032" y="4828032"/>
            <a:ext cx="8631936" cy="2377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engineers are curious about how industries work, not just how code works." — Unit V Lesson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3608</Words>
  <Application>Microsoft Office PowerPoint</Application>
  <PresentationFormat>On-screen Show (16:9)</PresentationFormat>
  <Paragraphs>460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Unit V – Companies</dc:title>
  <dc:subject>PptxGenJS Presentation</dc:subject>
  <dc:creator>PptxGenJS</dc:creator>
  <cp:lastModifiedBy>HP</cp:lastModifiedBy>
  <cp:revision>2</cp:revision>
  <dcterms:created xsi:type="dcterms:W3CDTF">2026-04-29T04:55:15Z</dcterms:created>
  <dcterms:modified xsi:type="dcterms:W3CDTF">2026-05-07T09:37:05Z</dcterms:modified>
</cp:coreProperties>
</file>