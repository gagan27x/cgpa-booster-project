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16" r:id="rId3"/>
    <p:sldId id="330" r:id="rId4"/>
    <p:sldId id="331" r:id="rId5"/>
    <p:sldId id="332" r:id="rId6"/>
    <p:sldId id="333" r:id="rId7"/>
    <p:sldId id="334" r:id="rId8"/>
    <p:sldId id="335" r:id="rId9"/>
    <p:sldId id="338" r:id="rId10"/>
    <p:sldId id="339" r:id="rId11"/>
    <p:sldId id="340" r:id="rId12"/>
    <p:sldId id="341" r:id="rId13"/>
    <p:sldId id="342" r:id="rId14"/>
    <p:sldId id="34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26" autoAdjust="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Pct: you file one international application, which acts like a placeholder, giving </a:t>
            </a:r>
            <a:r>
              <a:rPr lang="en-US" dirty="0" err="1" smtClean="0"/>
              <a:t>upto</a:t>
            </a:r>
            <a:r>
              <a:rPr lang="en-US" dirty="0" smtClean="0"/>
              <a:t> 30-31 months to decide in which countries you want to pursue your patent.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ipindia.gov.in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orm-1.pdf" TargetMode="External"/><Relationship Id="rId7" Type="http://schemas.openxmlformats.org/officeDocument/2006/relationships/hyperlink" Target="form-5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form-26.pdf" TargetMode="External"/><Relationship Id="rId5" Type="http://schemas.openxmlformats.org/officeDocument/2006/relationships/hyperlink" Target="form-3.pdf" TargetMode="External"/><Relationship Id="rId4" Type="http://schemas.openxmlformats.org/officeDocument/2006/relationships/hyperlink" Target="form-2.pd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r>
              <a:rPr/>
              <a:t/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1571612"/>
            <a:ext cx="99298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A statutory grant by the government for new inventions.</a:t>
            </a:r>
          </a:p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Monopoly Rights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Grants exclusive rights to the inventor for a defined period.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Disclosure Requirement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inventor must fully disclose the invention.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Legal Protection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Prevents others from using, making, or selling the invention without permission.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646" y="1500174"/>
            <a:ext cx="6096000" cy="37471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10" dirty="0"/>
              <a:t>Patent</a:t>
            </a:r>
            <a:r>
              <a:rPr lang="en-US" sz="2000" spc="-100" dirty="0"/>
              <a:t> </a:t>
            </a:r>
            <a:r>
              <a:rPr lang="en-US" sz="2000" spc="-10" dirty="0"/>
              <a:t>rights</a:t>
            </a:r>
            <a:r>
              <a:rPr lang="en-US" sz="2000" spc="-65" dirty="0"/>
              <a:t> </a:t>
            </a:r>
            <a:r>
              <a:rPr lang="en-US" sz="2000" dirty="0"/>
              <a:t>are</a:t>
            </a:r>
            <a:r>
              <a:rPr lang="en-US" sz="2000" spc="-90" dirty="0"/>
              <a:t> </a:t>
            </a:r>
            <a:r>
              <a:rPr lang="en-US" sz="2000" spc="-10" dirty="0"/>
              <a:t>territorial</a:t>
            </a:r>
            <a:endParaRPr lang="en-US" sz="2000" dirty="0"/>
          </a:p>
          <a:p>
            <a:pPr marL="353695" indent="-340995">
              <a:spcBef>
                <a:spcPts val="48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40" dirty="0"/>
              <a:t>Term:</a:t>
            </a:r>
            <a:r>
              <a:rPr lang="en-US" sz="2000" spc="-75" dirty="0"/>
              <a:t> </a:t>
            </a:r>
            <a:r>
              <a:rPr lang="en-US" sz="2000" dirty="0"/>
              <a:t>20</a:t>
            </a:r>
            <a:r>
              <a:rPr lang="en-US" sz="2000" spc="-80" dirty="0"/>
              <a:t> </a:t>
            </a:r>
            <a:r>
              <a:rPr lang="en-US" sz="2000" dirty="0"/>
              <a:t>years</a:t>
            </a:r>
            <a:r>
              <a:rPr lang="en-US" sz="2000" spc="-50" dirty="0"/>
              <a:t> </a:t>
            </a:r>
            <a:r>
              <a:rPr lang="en-US" sz="2000" dirty="0"/>
              <a:t>from</a:t>
            </a:r>
            <a:r>
              <a:rPr lang="en-US" sz="2000" spc="-80" dirty="0"/>
              <a:t> </a:t>
            </a:r>
            <a:r>
              <a:rPr lang="en-US" sz="2000" dirty="0"/>
              <a:t>date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80" dirty="0"/>
              <a:t> </a:t>
            </a:r>
            <a:r>
              <a:rPr lang="en-US" sz="2000" spc="-10" dirty="0"/>
              <a:t>filing</a:t>
            </a:r>
            <a:endParaRPr lang="en-US" sz="2000" dirty="0"/>
          </a:p>
          <a:p>
            <a:pPr marL="353695" indent="-340995">
              <a:spcBef>
                <a:spcPts val="5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b="1" spc="-25" dirty="0"/>
              <a:t>Aim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</a:t>
            </a:r>
            <a:r>
              <a:rPr lang="en-US" sz="2000" spc="-140" dirty="0"/>
              <a:t> </a:t>
            </a:r>
            <a:r>
              <a:rPr lang="en-US" sz="2000" dirty="0"/>
              <a:t>industrial</a:t>
            </a:r>
            <a:r>
              <a:rPr lang="en-US" sz="2000" spc="-20" dirty="0"/>
              <a:t> </a:t>
            </a:r>
            <a:r>
              <a:rPr lang="en-US" sz="2000" spc="-10" dirty="0"/>
              <a:t>development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Encourages</a:t>
            </a:r>
            <a:r>
              <a:rPr lang="en-US" sz="2000" spc="-120" dirty="0"/>
              <a:t> </a:t>
            </a:r>
            <a:r>
              <a:rPr lang="en-US" sz="2000" dirty="0"/>
              <a:t>complete</a:t>
            </a:r>
            <a:r>
              <a:rPr lang="en-US" sz="2000" spc="-20" dirty="0"/>
              <a:t> </a:t>
            </a:r>
            <a:r>
              <a:rPr lang="en-US" sz="2000" spc="-10" dirty="0"/>
              <a:t>disclosure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Prevents</a:t>
            </a:r>
            <a:r>
              <a:rPr lang="en-US" sz="2000" spc="-30" dirty="0"/>
              <a:t> </a:t>
            </a:r>
            <a:r>
              <a:rPr lang="en-US" sz="2000" spc="-10" dirty="0"/>
              <a:t>duplication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Focus</a:t>
            </a:r>
            <a:r>
              <a:rPr lang="en-US" sz="2000" spc="-105" dirty="0"/>
              <a:t> </a:t>
            </a:r>
            <a:r>
              <a:rPr lang="en-US" sz="2000" dirty="0"/>
              <a:t>on</a:t>
            </a:r>
            <a:r>
              <a:rPr lang="en-US" sz="2000" spc="-110" dirty="0"/>
              <a:t> </a:t>
            </a:r>
            <a:r>
              <a:rPr lang="en-US" sz="2000" dirty="0"/>
              <a:t>commercial</a:t>
            </a:r>
            <a:r>
              <a:rPr lang="en-US" sz="2000" spc="-35" dirty="0"/>
              <a:t> </a:t>
            </a:r>
            <a:r>
              <a:rPr lang="en-US" sz="2000" spc="-10" dirty="0"/>
              <a:t>relevance</a:t>
            </a:r>
            <a:endParaRPr lang="en-US" sz="2000" dirty="0"/>
          </a:p>
          <a:p>
            <a:pPr marL="756285" lvl="1" indent="-286385">
              <a:spcBef>
                <a:spcPts val="4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Prevents</a:t>
            </a:r>
            <a:r>
              <a:rPr lang="en-US" sz="2000" spc="-5" dirty="0"/>
              <a:t> </a:t>
            </a:r>
            <a:r>
              <a:rPr lang="en-US" sz="2000" spc="-20" dirty="0"/>
              <a:t>exploitation</a:t>
            </a:r>
            <a:r>
              <a:rPr lang="en-US" sz="2000" spc="-80" dirty="0"/>
              <a:t> </a:t>
            </a:r>
            <a:r>
              <a:rPr lang="en-US" sz="2000" dirty="0"/>
              <a:t>of</a:t>
            </a:r>
            <a:r>
              <a:rPr lang="en-US" sz="2000" spc="-35" dirty="0"/>
              <a:t> </a:t>
            </a:r>
            <a:r>
              <a:rPr lang="en-US" sz="2000" spc="-10" dirty="0"/>
              <a:t>researchers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Revenue</a:t>
            </a:r>
            <a:r>
              <a:rPr lang="en-US" sz="2000" spc="-70" dirty="0"/>
              <a:t> </a:t>
            </a:r>
            <a:r>
              <a:rPr lang="en-US" sz="2000" spc="-10" dirty="0"/>
              <a:t>generation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dirty="0"/>
              <a:t>Source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50" dirty="0"/>
              <a:t> </a:t>
            </a:r>
            <a:r>
              <a:rPr lang="en-US" sz="2000" spc="-10" dirty="0"/>
              <a:t>technical</a:t>
            </a:r>
            <a:r>
              <a:rPr lang="en-US" sz="2000" spc="-105" dirty="0"/>
              <a:t> </a:t>
            </a:r>
            <a:r>
              <a:rPr lang="en-US" sz="2000" spc="-10" dirty="0"/>
              <a:t>information</a:t>
            </a:r>
            <a:endParaRPr lang="en-US" sz="2000" dirty="0"/>
          </a:p>
        </p:txBody>
      </p:sp>
      <p:pic>
        <p:nvPicPr>
          <p:cNvPr id="9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3190" y="2143116"/>
            <a:ext cx="4786346" cy="364333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398" y="1357298"/>
            <a:ext cx="6715172" cy="107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8150" y="2928934"/>
            <a:ext cx="5827395" cy="303352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Process</a:t>
            </a:r>
            <a:r>
              <a:rPr sz="2800" b="1" spc="-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Machine</a:t>
            </a:r>
            <a:r>
              <a:rPr sz="2800" b="1" spc="-1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2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Apparatus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Composition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Matter</a:t>
            </a:r>
            <a:endParaRPr sz="28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31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Chemical</a:t>
            </a:r>
            <a:r>
              <a:rPr sz="2800" b="1" spc="-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Compounds</a:t>
            </a:r>
            <a:endParaRPr sz="28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29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Physical</a:t>
            </a:r>
            <a:r>
              <a:rPr sz="2800" b="1" spc="-1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Mixtures</a:t>
            </a:r>
            <a:endParaRPr sz="2800" dirty="0">
              <a:latin typeface="Times New Roman"/>
              <a:cs typeface="Times New Roman"/>
            </a:endParaRPr>
          </a:p>
          <a:p>
            <a:pPr marL="558165" indent="-5454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558165" algn="l"/>
              </a:tabLst>
            </a:pP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Improvements</a:t>
            </a:r>
            <a:r>
              <a:rPr sz="2800" b="1" spc="-1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Any</a:t>
            </a:r>
            <a:r>
              <a:rPr sz="28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800" b="1" spc="-19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Above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58" y="1928802"/>
            <a:ext cx="8478838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150" y="1000108"/>
            <a:ext cx="5357850" cy="92869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44832" y="1557508"/>
            <a:ext cx="9423199" cy="30598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matter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SHOULD</a:t>
            </a:r>
            <a:r>
              <a:rPr sz="2400" b="1" spc="-9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NOT</a:t>
            </a:r>
            <a:r>
              <a:rPr sz="2400" b="1" spc="-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F81BB"/>
                </a:solidFill>
                <a:latin typeface="Calibri"/>
                <a:cs typeface="Calibri"/>
              </a:rPr>
              <a:t>BE</a:t>
            </a:r>
            <a:endParaRPr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sz="2400" dirty="0">
                <a:latin typeface="Calibri"/>
                <a:cs typeface="Calibri"/>
              </a:rPr>
              <a:t>PUBLISHED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ANYWHERE</a:t>
            </a:r>
            <a:r>
              <a:rPr sz="2400" b="1" spc="1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1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WORLD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PATENT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INVENTING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</a:t>
            </a:r>
            <a:endParaRPr lang="en-US" sz="2400" spc="-25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spc="-25" dirty="0">
              <a:latin typeface="Calibri"/>
              <a:cs typeface="Calibri"/>
            </a:endParaRPr>
          </a:p>
          <a:p>
            <a:pPr marL="469265" marR="10795" lvl="1" indent="0">
              <a:lnSpc>
                <a:spcPct val="100000"/>
              </a:lnSpc>
              <a:spcBef>
                <a:spcPts val="605"/>
              </a:spcBef>
              <a:tabLst>
                <a:tab pos="756285" algn="l"/>
                <a:tab pos="272288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643896"/>
            <a:ext cx="10215634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400" dirty="0"/>
              <a:t>USE,</a:t>
            </a:r>
            <a:r>
              <a:rPr lang="en-US" sz="2400" spc="-65" dirty="0"/>
              <a:t> </a:t>
            </a:r>
            <a:r>
              <a:rPr lang="en-US" sz="2400" dirty="0"/>
              <a:t>SALE,</a:t>
            </a:r>
            <a:r>
              <a:rPr lang="en-US" sz="2400" spc="-60" dirty="0"/>
              <a:t> </a:t>
            </a:r>
            <a:r>
              <a:rPr lang="en-US" sz="2400" dirty="0"/>
              <a:t>MANUFACTURE,</a:t>
            </a:r>
            <a:r>
              <a:rPr lang="en-US" sz="2400" spc="-45" dirty="0"/>
              <a:t> </a:t>
            </a:r>
            <a:r>
              <a:rPr lang="en-US" sz="2400" dirty="0"/>
              <a:t>&amp;</a:t>
            </a:r>
            <a:r>
              <a:rPr lang="en-US" sz="2400" spc="-60" dirty="0"/>
              <a:t> </a:t>
            </a:r>
            <a:r>
              <a:rPr lang="en-US" sz="2400" dirty="0"/>
              <a:t>DEVELOPED</a:t>
            </a:r>
            <a:r>
              <a:rPr lang="en-US" sz="2400" spc="-60" dirty="0"/>
              <a:t> </a:t>
            </a:r>
            <a:r>
              <a:rPr lang="en-US" sz="2400" b="1" spc="-10" dirty="0"/>
              <a:t>ANYWHERE </a:t>
            </a:r>
            <a:r>
              <a:rPr lang="en-US" sz="2400" b="1" dirty="0"/>
              <a:t>IN</a:t>
            </a:r>
            <a:r>
              <a:rPr lang="en-US" sz="2400" b="1" spc="-70" dirty="0"/>
              <a:t> </a:t>
            </a:r>
            <a:r>
              <a:rPr lang="en-US" sz="2400" b="1" dirty="0"/>
              <a:t>THE</a:t>
            </a:r>
            <a:r>
              <a:rPr lang="en-US" sz="2400" b="1" spc="-45" dirty="0"/>
              <a:t> </a:t>
            </a:r>
            <a:r>
              <a:rPr lang="en-US" sz="2400" b="1" spc="-10" dirty="0"/>
              <a:t>WORLD</a:t>
            </a:r>
          </a:p>
          <a:p>
            <a:pPr marL="756285"/>
            <a:endParaRPr lang="en-US" sz="2400" b="1" spc="-10" dirty="0"/>
          </a:p>
          <a:p>
            <a:pPr marL="756285"/>
            <a:endParaRPr lang="en-US" sz="2400" dirty="0"/>
          </a:p>
          <a:p>
            <a:pPr marL="756285" lvl="1" indent="-286385">
              <a:spcBef>
                <a:spcPts val="600"/>
              </a:spcBef>
              <a:buFont typeface="Microsoft Sans Serif"/>
              <a:buChar char="–"/>
              <a:tabLst>
                <a:tab pos="756285" algn="l"/>
                <a:tab pos="2192020" algn="l"/>
                <a:tab pos="3457575" algn="l"/>
                <a:tab pos="4024629" algn="l"/>
                <a:tab pos="4497705" algn="l"/>
                <a:tab pos="5723255" algn="l"/>
              </a:tabLst>
            </a:pPr>
            <a:r>
              <a:rPr lang="en-US" sz="2400" spc="-10" dirty="0"/>
              <a:t>CLAIMED</a:t>
            </a:r>
            <a:r>
              <a:rPr lang="en-US" sz="2400" dirty="0"/>
              <a:t>	</a:t>
            </a:r>
            <a:r>
              <a:rPr lang="en-US" sz="2400" spc="-10" dirty="0"/>
              <a:t>BEFORE</a:t>
            </a:r>
            <a:r>
              <a:rPr lang="en-US" sz="2400" dirty="0"/>
              <a:t>	</a:t>
            </a:r>
            <a:r>
              <a:rPr lang="en-US" sz="2400" spc="-25" dirty="0"/>
              <a:t>IN</a:t>
            </a:r>
            <a:r>
              <a:rPr lang="en-US" sz="2400" dirty="0"/>
              <a:t>	</a:t>
            </a:r>
            <a:r>
              <a:rPr lang="en-US" sz="2400" spc="-50" dirty="0"/>
              <a:t>A</a:t>
            </a:r>
            <a:r>
              <a:rPr lang="en-US" sz="2400" dirty="0"/>
              <a:t>	</a:t>
            </a:r>
            <a:r>
              <a:rPr lang="en-US" sz="2400" spc="-10" dirty="0"/>
              <a:t>PATENT</a:t>
            </a:r>
            <a:r>
              <a:rPr lang="en-US" sz="2400" dirty="0"/>
              <a:t>	</a:t>
            </a:r>
            <a:r>
              <a:rPr lang="en-US" sz="2400" spc="-25" dirty="0"/>
              <a:t>SPECIFICATION </a:t>
            </a:r>
            <a:r>
              <a:rPr lang="en-US" sz="2400" b="1" dirty="0"/>
              <a:t>ANYWHERE</a:t>
            </a:r>
            <a:r>
              <a:rPr lang="en-US" sz="2400" b="1" spc="-80" dirty="0"/>
              <a:t> </a:t>
            </a:r>
            <a:r>
              <a:rPr lang="en-US" sz="2400" b="1" dirty="0"/>
              <a:t>IN</a:t>
            </a:r>
            <a:r>
              <a:rPr lang="en-US" sz="2400" b="1" spc="-60" dirty="0"/>
              <a:t> </a:t>
            </a:r>
            <a:r>
              <a:rPr lang="en-US" sz="2400" b="1" dirty="0"/>
              <a:t>THE</a:t>
            </a:r>
            <a:r>
              <a:rPr lang="en-US" sz="2400" b="1" spc="-55" dirty="0"/>
              <a:t> </a:t>
            </a:r>
            <a:r>
              <a:rPr lang="en-US" sz="2400" b="1" spc="-10" dirty="0"/>
              <a:t>WORLD</a:t>
            </a:r>
            <a:endParaRPr lang="en-US" sz="2400" dirty="0"/>
          </a:p>
        </p:txBody>
      </p:sp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45998" y="1113485"/>
            <a:ext cx="33477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Who</a:t>
            </a:r>
            <a:r>
              <a:rPr kumimoji="0" lang="en-US" sz="2800" b="1" i="0" u="none" strike="noStrike" kern="0" cap="none" spc="-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can</a:t>
            </a:r>
            <a:r>
              <a:rPr kumimoji="0" lang="en-US" sz="2800" b="1" i="0" u="none" strike="noStrike" kern="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file</a:t>
            </a:r>
            <a:r>
              <a:rPr kumimoji="0" lang="en-US" sz="2800" b="1" i="0" u="none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</a:t>
            </a:r>
            <a:r>
              <a:rPr kumimoji="0" lang="en-US" sz="2800" b="1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patent?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998" y="1858721"/>
            <a:ext cx="5329555" cy="414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Section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6:</a:t>
            </a:r>
            <a:r>
              <a:rPr sz="2000" b="1" i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Persons</a:t>
            </a:r>
            <a:r>
              <a:rPr sz="2000" b="1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entitled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i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apply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patents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True</a:t>
            </a:r>
            <a:r>
              <a:rPr sz="2000" i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000" i="1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first</a:t>
            </a:r>
            <a:r>
              <a:rPr sz="2000" i="1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inventor</a:t>
            </a:r>
            <a:r>
              <a:rPr sz="2000" i="1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invention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Assignee</a:t>
            </a:r>
            <a:r>
              <a:rPr sz="2000" i="1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true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first</a:t>
            </a:r>
            <a:r>
              <a:rPr sz="2000" i="1" spc="-10" dirty="0">
                <a:latin typeface="Calibri"/>
                <a:cs typeface="Calibri"/>
              </a:rPr>
              <a:t> inventor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4184" marR="5080" indent="-452120" algn="just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Legal</a:t>
            </a:r>
            <a:r>
              <a:rPr sz="2000" i="1" spc="140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Representative</a:t>
            </a:r>
            <a:r>
              <a:rPr sz="2000" i="1" spc="14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12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14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deceased</a:t>
            </a:r>
            <a:r>
              <a:rPr sz="2000" i="1" spc="135" dirty="0">
                <a:latin typeface="Calibri"/>
                <a:cs typeface="Calibri"/>
              </a:rPr>
              <a:t>  </a:t>
            </a:r>
            <a:r>
              <a:rPr sz="2000" i="1" spc="-10" dirty="0">
                <a:latin typeface="Calibri"/>
                <a:cs typeface="Calibri"/>
              </a:rPr>
              <a:t>person 	</a:t>
            </a:r>
            <a:r>
              <a:rPr sz="2000" i="1" dirty="0">
                <a:latin typeface="Calibri"/>
                <a:cs typeface="Calibri"/>
              </a:rPr>
              <a:t>who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immediately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before</a:t>
            </a:r>
            <a:r>
              <a:rPr sz="2000" i="1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his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death</a:t>
            </a:r>
            <a:r>
              <a:rPr sz="2000" i="1" spc="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10" dirty="0">
                <a:latin typeface="Calibri"/>
                <a:cs typeface="Calibri"/>
              </a:rPr>
              <a:t> entitled 	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make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Application</a:t>
            </a:r>
            <a:r>
              <a:rPr sz="2000" i="1" spc="2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submitted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either</a:t>
            </a:r>
            <a:r>
              <a:rPr sz="2000" i="1" spc="2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alone</a:t>
            </a:r>
            <a:r>
              <a:rPr sz="2000" i="1" spc="2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229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jointly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other</a:t>
            </a:r>
            <a:r>
              <a:rPr sz="2000" i="1" spc="-8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person.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6330" y="1928802"/>
            <a:ext cx="2636520" cy="3364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642918"/>
            <a:ext cx="5151120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024298" y="714356"/>
            <a:ext cx="48158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Types</a:t>
            </a:r>
            <a:r>
              <a:rPr kumimoji="0" lang="en-US" sz="4400" b="0" i="0" u="none" strike="noStrike" kern="0" cap="none" spc="-1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20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Applications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2357430"/>
            <a:ext cx="9787006" cy="337720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8309" indent="-435609">
              <a:lnSpc>
                <a:spcPct val="100000"/>
              </a:lnSpc>
              <a:spcBef>
                <a:spcPts val="894"/>
              </a:spcBef>
              <a:buFont typeface="Microsoft Sans Serif"/>
              <a:buChar char="•"/>
              <a:tabLst>
                <a:tab pos="448309" algn="l"/>
                <a:tab pos="2082164" algn="l"/>
              </a:tabLst>
            </a:pP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Patent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Addition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>
                <a:latin typeface="Calibri"/>
                <a:cs typeface="Calibri"/>
              </a:rPr>
              <a:t>Divisional</a:t>
            </a:r>
            <a:r>
              <a:rPr sz="3200" spc="-120">
                <a:latin typeface="Calibri"/>
                <a:cs typeface="Calibri"/>
              </a:rPr>
              <a:t> </a:t>
            </a:r>
            <a:r>
              <a:rPr sz="3200" spc="-10" smtClean="0">
                <a:latin typeface="Calibri"/>
                <a:cs typeface="Calibri"/>
              </a:rPr>
              <a:t>Applications</a:t>
            </a:r>
            <a:r>
              <a:rPr lang="en-US" sz="3200" spc="-10" dirty="0" smtClean="0">
                <a:latin typeface="Calibri"/>
                <a:cs typeface="Calibri"/>
              </a:rPr>
              <a:t>: single application covers multiple inventions</a:t>
            </a:r>
            <a:endParaRPr sz="3200" dirty="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>
                <a:latin typeface="Calibri"/>
                <a:cs typeface="Calibri"/>
              </a:rPr>
              <a:t>PCT</a:t>
            </a:r>
            <a:r>
              <a:rPr sz="3200" spc="-60">
                <a:latin typeface="Calibri"/>
                <a:cs typeface="Calibri"/>
              </a:rPr>
              <a:t> </a:t>
            </a:r>
            <a:r>
              <a:rPr lang="en-US" sz="3200" spc="-60" dirty="0" smtClean="0">
                <a:latin typeface="Calibri"/>
                <a:cs typeface="Calibri"/>
              </a:rPr>
              <a:t>(patent cooperation Treaty )</a:t>
            </a:r>
            <a:r>
              <a:rPr sz="3200" spc="-10" smtClean="0">
                <a:latin typeface="Calibri"/>
                <a:cs typeface="Calibri"/>
              </a:rPr>
              <a:t>International</a:t>
            </a:r>
            <a:r>
              <a:rPr sz="3200" spc="-125" smtClean="0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Phase</a:t>
            </a:r>
            <a:r>
              <a:rPr sz="3200" spc="-65">
                <a:latin typeface="Calibri"/>
                <a:cs typeface="Calibri"/>
              </a:rPr>
              <a:t> </a:t>
            </a:r>
            <a:r>
              <a:rPr sz="3200" spc="-10" smtClean="0">
                <a:latin typeface="Calibri"/>
                <a:cs typeface="Calibri"/>
              </a:rPr>
              <a:t>Application</a:t>
            </a:r>
            <a:r>
              <a:rPr lang="en-US" sz="3200" spc="-10" dirty="0" smtClean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40" y="928670"/>
            <a:ext cx="1542288" cy="12374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80369" y="7201843"/>
            <a:ext cx="7143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07-10-</a:t>
            </a: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666712" y="915216"/>
            <a:ext cx="104299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05459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Documents</a:t>
            </a:r>
            <a:r>
              <a:rPr kumimoji="0" lang="en-US" sz="36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required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for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filing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of</a:t>
            </a:r>
            <a:r>
              <a:rPr kumimoji="0" lang="en-US" sz="3600" b="0" i="0" u="none" strike="noStrike" kern="0" cap="none" spc="-2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Patent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 Light"/>
              <a:cs typeface="Times New Roman"/>
              <a:sym typeface="Calibri Ligh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166778" y="2071678"/>
            <a:ext cx="9644130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5217160" algn="l"/>
              </a:tabLst>
            </a:pPr>
            <a:r>
              <a:rPr sz="2000" b="1" dirty="0">
                <a:latin typeface="Times New Roman"/>
                <a:cs typeface="Times New Roman"/>
              </a:rPr>
              <a:t>Application for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Grant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Patent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 action="ppaction://hlinkfile"/>
              </a:rPr>
              <a:t>Form 1</a:t>
            </a:r>
            <a:r>
              <a:rPr sz="2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Complete/Provisional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 action="ppaction://hlinkfile"/>
              </a:rPr>
              <a:t>Form</a:t>
            </a:r>
            <a:r>
              <a:rPr sz="200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 action="ppaction://hlinkfile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 action="ppaction://hlinkfile"/>
              </a:rPr>
              <a:t>2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Statement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Undertaking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  <a:hlinkClick r:id="rId5" action="ppaction://hlinkfile"/>
              </a:rPr>
              <a:t>Form</a:t>
            </a:r>
            <a:r>
              <a:rPr sz="2000" b="1" spc="-60" dirty="0">
                <a:latin typeface="Times New Roman"/>
                <a:cs typeface="Times New Roman"/>
                <a:hlinkClick r:id="rId5" action="ppaction://hlinkfile"/>
              </a:rPr>
              <a:t> </a:t>
            </a:r>
            <a:r>
              <a:rPr sz="2000" b="1" spc="-25" dirty="0">
                <a:latin typeface="Times New Roman"/>
                <a:cs typeface="Times New Roman"/>
                <a:hlinkClick r:id="rId5" action="ppaction://hlinkfile"/>
              </a:rPr>
              <a:t>3</a:t>
            </a:r>
            <a:r>
              <a:rPr sz="2000" b="1" spc="-2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ts val="216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Power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of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Attorney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 action="ppaction://hlinkfile"/>
              </a:rPr>
              <a:t>Form 26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 action="ppaction://hlinkfile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(in</a:t>
            </a:r>
            <a:r>
              <a:rPr sz="2000" b="1" spc="-10" dirty="0">
                <a:latin typeface="Times New Roman"/>
                <a:cs typeface="Times New Roman"/>
              </a:rPr>
              <a:t> original)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filed </a:t>
            </a:r>
            <a:r>
              <a:rPr sz="2000" b="1" spc="-10" dirty="0">
                <a:latin typeface="Times New Roman"/>
                <a:cs typeface="Times New Roman"/>
              </a:rPr>
              <a:t>through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attorney)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Declaration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Inventor-ship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 action="ppaction://hlinkfile"/>
              </a:rPr>
              <a:t>Form</a:t>
            </a:r>
            <a:r>
              <a:rPr sz="2000" b="1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 action="ppaction://hlinkfile"/>
              </a:rPr>
              <a:t> 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 action="ppaction://hlinkfile"/>
              </a:rPr>
              <a:t>5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Requisite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Statutory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(copy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Priority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cheque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DD).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Covering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letter-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indicating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documents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738282" y="571480"/>
            <a:ext cx="7572428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Contents</a:t>
            </a:r>
            <a:r>
              <a:rPr kumimoji="0" lang="en-US" sz="4400" b="0" i="0" u="none" strike="noStrike" kern="0" cap="none" spc="-1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Specification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520570"/>
            <a:ext cx="9775207" cy="44469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Title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Background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invention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ART)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mtClean="0">
                <a:latin typeface="Calibri"/>
                <a:cs typeface="Calibri"/>
              </a:rPr>
              <a:t>Object</a:t>
            </a:r>
            <a:r>
              <a:rPr lang="en-US" sz="2400" dirty="0" err="1" smtClean="0">
                <a:latin typeface="Calibri"/>
                <a:cs typeface="Calibri"/>
              </a:rPr>
              <a:t>ive</a:t>
            </a:r>
            <a:r>
              <a:rPr sz="2400" spc="-75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Brief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Detailed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Claims-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Abstract-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738150" y="2000240"/>
            <a:ext cx="5643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Provisional</a:t>
            </a:r>
            <a:r>
              <a:rPr kumimoji="0" lang="en-US" sz="3600" b="1" i="0" u="sng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3600" b="1" i="0" u="sng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026" y="3000372"/>
            <a:ext cx="7223125" cy="18325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priority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expensive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Quick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Title/Description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ts val="2195"/>
              </a:lnSpc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lang="en-US" sz="2000" dirty="0">
                <a:latin typeface="Calibri"/>
                <a:cs typeface="Calibri"/>
              </a:rPr>
              <a:t>Cannot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filed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case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PCT/Divisional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</a:t>
            </a:r>
            <a:endParaRPr lang="en-US"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+mj-lt"/>
              <a:buAutoNum type="arabicPeriod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optional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advisable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1000108"/>
            <a:ext cx="6215106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19823" y="2191623"/>
            <a:ext cx="3021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omplete</a:t>
            </a:r>
            <a:r>
              <a:rPr kumimoji="0" lang="en-US" sz="2400" b="1" i="0" u="sng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specifications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22" y="2873741"/>
            <a:ext cx="10962589" cy="204286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570"/>
              </a:spcBef>
            </a:pPr>
            <a:r>
              <a:rPr lang="en-US" sz="2000" spc="325" dirty="0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spc="325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patent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accompanied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32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specification,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specification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shall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twelve</a:t>
            </a:r>
            <a:r>
              <a:rPr sz="2000" u="sng" spc="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months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application,.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E.g.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2355"/>
              </a:spcBef>
            </a:pP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</a:pPr>
            <a:r>
              <a:rPr sz="2000" i="1" spc="-10" dirty="0">
                <a:latin typeface="Calibri"/>
                <a:cs typeface="Calibri"/>
              </a:rPr>
              <a:t>Provisional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application: </a:t>
            </a:r>
            <a:r>
              <a:rPr sz="2000" i="1" spc="-25" dirty="0">
                <a:latin typeface="Calibri"/>
                <a:cs typeface="Calibri"/>
              </a:rPr>
              <a:t>01-12-</a:t>
            </a:r>
            <a:r>
              <a:rPr sz="2000" i="1" spc="-20" dirty="0">
                <a:latin typeface="Calibri"/>
                <a:cs typeface="Calibri"/>
              </a:rPr>
              <a:t>2008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Calibri"/>
                <a:cs typeface="Calibri"/>
              </a:rPr>
              <a:t>Complete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specification: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01-</a:t>
            </a:r>
            <a:r>
              <a:rPr sz="2000" i="1" spc="-25" dirty="0">
                <a:latin typeface="Calibri"/>
                <a:cs typeface="Calibri"/>
              </a:rPr>
              <a:t>12-</a:t>
            </a:r>
            <a:r>
              <a:rPr sz="2000" i="1" spc="-20" dirty="0">
                <a:latin typeface="Calibri"/>
                <a:cs typeface="Calibri"/>
              </a:rPr>
              <a:t>2009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9786" y="1142984"/>
            <a:ext cx="4529328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334</Words>
  <Application>Microsoft Office PowerPoint</Application>
  <PresentationFormat>Custom</PresentationFormat>
  <Paragraphs>93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22</cp:revision>
  <dcterms:modified xsi:type="dcterms:W3CDTF">2026-03-29T16:16:00Z</dcterms:modified>
</cp:coreProperties>
</file>