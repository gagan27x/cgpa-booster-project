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50987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198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312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863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9759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1069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7044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906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2935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940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272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0FE10-747D-4787-881D-FF250B699861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5E586-D02A-4C49-98DE-31B5D22C06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808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Ethical </a:t>
            </a:r>
            <a:r>
              <a:rPr lang="en-US" dirty="0" err="1" smtClean="0"/>
              <a:t>Delimas</a:t>
            </a:r>
            <a:r>
              <a:rPr lang="en-US" dirty="0" smtClean="0"/>
              <a:t> </a:t>
            </a:r>
            <a:r>
              <a:rPr lang="en-US" dirty="0"/>
              <a:t>in P</a:t>
            </a:r>
            <a:r>
              <a:rPr lang="en-US" dirty="0" smtClean="0"/>
              <a:t>roject </a:t>
            </a:r>
            <a:r>
              <a:rPr lang="en-US" dirty="0"/>
              <a:t>M</a:t>
            </a:r>
            <a:r>
              <a:rPr lang="en-US" dirty="0" smtClean="0"/>
              <a:t>anagement 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630812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Ethical dilemmas in project management often arise when there's a conflict between professional duties, stakeholder interests, and moral principles. Here are some common ethical dilemmas that project </a:t>
            </a:r>
            <a:r>
              <a:rPr lang="en-US" dirty="0" smtClean="0"/>
              <a:t>managers </a:t>
            </a:r>
            <a:r>
              <a:rPr lang="en-US" dirty="0"/>
              <a:t>might face</a:t>
            </a:r>
            <a:r>
              <a:rPr lang="en-US" dirty="0" smtClean="0"/>
              <a:t>:</a:t>
            </a:r>
          </a:p>
          <a:p>
            <a:r>
              <a:rPr lang="en-US" b="1" dirty="0"/>
              <a:t>Truth vs. Loyalty</a:t>
            </a:r>
          </a:p>
          <a:p>
            <a:r>
              <a:rPr lang="en-US" b="1" dirty="0"/>
              <a:t>Individual vs. Community</a:t>
            </a:r>
          </a:p>
          <a:p>
            <a:r>
              <a:rPr lang="en-US" b="1" dirty="0"/>
              <a:t> Short-Term vs. Long-Term Gains</a:t>
            </a:r>
          </a:p>
          <a:p>
            <a:r>
              <a:rPr lang="en-US" b="1" dirty="0"/>
              <a:t> Resource Allocation and Fairness</a:t>
            </a:r>
          </a:p>
          <a:p>
            <a:r>
              <a:rPr lang="en-US" b="1" dirty="0"/>
              <a:t>Intellectual Property and Confidentiality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487687"/>
            <a:ext cx="101189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smtClean="0"/>
              <a:t>Ethical </a:t>
            </a:r>
            <a:r>
              <a:rPr lang="en-US" sz="4800" dirty="0" err="1" smtClean="0"/>
              <a:t>Delimas</a:t>
            </a:r>
            <a:r>
              <a:rPr lang="en-US" sz="4800" dirty="0" smtClean="0"/>
              <a:t> in Project Management </a:t>
            </a:r>
            <a:endParaRPr lang="en-US" sz="4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14189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6992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Truth vs. Loyalty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r>
              <a:rPr lang="en-US" dirty="0"/>
              <a:t>: A project manager discovers that the project is behind schedule or over budget. </a:t>
            </a:r>
            <a:endParaRPr lang="en-US" dirty="0" smtClean="0"/>
          </a:p>
          <a:p>
            <a:r>
              <a:rPr lang="en-US" dirty="0" smtClean="0"/>
              <a:t>Reporting </a:t>
            </a:r>
            <a:r>
              <a:rPr lang="en-US" dirty="0"/>
              <a:t>the truth could lead to stakeholder disappointment, </a:t>
            </a:r>
            <a:endParaRPr lang="en-US" dirty="0" smtClean="0"/>
          </a:p>
          <a:p>
            <a:r>
              <a:rPr lang="en-US" dirty="0"/>
              <a:t>B</a:t>
            </a:r>
            <a:r>
              <a:rPr lang="en-US" dirty="0" smtClean="0"/>
              <a:t>ut </a:t>
            </a:r>
            <a:r>
              <a:rPr lang="en-US" dirty="0"/>
              <a:t>hiding it could be considered unethical.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0" y="-30163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03617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Individual vs. Community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49" y="1155924"/>
            <a:ext cx="10515600" cy="4351338"/>
          </a:xfrm>
        </p:spPr>
        <p:txBody>
          <a:bodyPr/>
          <a:lstStyle/>
          <a:p>
            <a:r>
              <a:rPr lang="en-US" dirty="0"/>
              <a:t>A decision benefits one stakeholder (like a client) </a:t>
            </a:r>
            <a:endParaRPr lang="en-US" dirty="0" smtClean="0"/>
          </a:p>
          <a:p>
            <a:r>
              <a:rPr lang="en-US" dirty="0"/>
              <a:t>H</a:t>
            </a:r>
            <a:r>
              <a:rPr lang="en-US" dirty="0" smtClean="0"/>
              <a:t>arms </a:t>
            </a:r>
            <a:r>
              <a:rPr lang="en-US" dirty="0"/>
              <a:t>the broader team or community 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e.g., by causing burnout or overwork).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75949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71541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Short-Term vs. Long-Term Gains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Rushing to meet a deadline might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atisfy </a:t>
            </a:r>
            <a:r>
              <a:rPr lang="en-US" dirty="0"/>
              <a:t>clients .</a:t>
            </a:r>
            <a:r>
              <a:rPr lang="en-US" dirty="0" smtClean="0"/>
              <a:t> </a:t>
            </a:r>
          </a:p>
          <a:p>
            <a:r>
              <a:rPr lang="en-US" dirty="0" smtClean="0"/>
              <a:t>But </a:t>
            </a:r>
            <a:r>
              <a:rPr lang="en-US" dirty="0"/>
              <a:t>could lead to quality issues and </a:t>
            </a:r>
            <a:endParaRPr lang="en-US" dirty="0" smtClean="0"/>
          </a:p>
          <a:p>
            <a:r>
              <a:rPr lang="en-US" dirty="0"/>
              <a:t>R</a:t>
            </a:r>
            <a:r>
              <a:rPr lang="en-US" dirty="0" smtClean="0"/>
              <a:t>eputational </a:t>
            </a:r>
            <a:r>
              <a:rPr lang="en-US" dirty="0"/>
              <a:t>harm later.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95329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70825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501" y="473343"/>
            <a:ext cx="10515600" cy="4351338"/>
          </a:xfrm>
        </p:spPr>
        <p:txBody>
          <a:bodyPr/>
          <a:lstStyle/>
          <a:p>
            <a:r>
              <a:rPr lang="en-US" b="1" dirty="0"/>
              <a:t>Resource Allocation and Fairness</a:t>
            </a:r>
          </a:p>
          <a:p>
            <a:r>
              <a:rPr lang="en-US" b="1" dirty="0"/>
              <a:t>Example</a:t>
            </a:r>
            <a:r>
              <a:rPr lang="en-US" dirty="0"/>
              <a:t>: Allocating more resources to a high-profile project while neglecting smaller ones, even though both are important</a:t>
            </a:r>
            <a:r>
              <a:rPr lang="en-US" dirty="0" smtClean="0"/>
              <a:t>.</a:t>
            </a:r>
          </a:p>
          <a:p>
            <a:r>
              <a:rPr lang="en-US" b="1" dirty="0"/>
              <a:t>Intellectual Property and Confidentiality</a:t>
            </a:r>
          </a:p>
          <a:p>
            <a:r>
              <a:rPr lang="en-US" b="1" dirty="0"/>
              <a:t>Example</a:t>
            </a:r>
            <a:r>
              <a:rPr lang="en-US" dirty="0"/>
              <a:t>: Using proprietary information from a previous employer or partner.</a:t>
            </a:r>
          </a:p>
          <a:p>
            <a:r>
              <a:rPr lang="en-US" b="1" dirty="0"/>
              <a:t>Conflict of Interest</a:t>
            </a:r>
          </a:p>
          <a:p>
            <a:r>
              <a:rPr lang="en-US" b="1" dirty="0"/>
              <a:t>Example</a:t>
            </a:r>
            <a:r>
              <a:rPr lang="en-US" dirty="0"/>
              <a:t>: Awarding a contract to a friend’s company, even if it may not be the best option.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0" y="43037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60847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Handle Ethical Dilemmas: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Refer to PMI’s Code of Ethics and Professional Conduct</a:t>
            </a:r>
            <a:r>
              <a:rPr lang="en-US" dirty="0"/>
              <a:t> (if PMP certified).</a:t>
            </a:r>
          </a:p>
          <a:p>
            <a:r>
              <a:rPr lang="en-US" b="1" dirty="0"/>
              <a:t>Consult mentors or ethical boards</a:t>
            </a:r>
            <a:r>
              <a:rPr lang="en-US" dirty="0"/>
              <a:t> when in doubt.</a:t>
            </a:r>
          </a:p>
          <a:p>
            <a:r>
              <a:rPr lang="en-US" b="1" dirty="0"/>
              <a:t>Document decisions</a:t>
            </a:r>
            <a:r>
              <a:rPr lang="en-US" dirty="0"/>
              <a:t> to ensure transparency.</a:t>
            </a:r>
          </a:p>
          <a:p>
            <a:r>
              <a:rPr lang="en-US" b="1" dirty="0"/>
              <a:t>Apply ethical decision-making models</a:t>
            </a:r>
            <a:r>
              <a:rPr lang="en-US" dirty="0"/>
              <a:t>, such as:</a:t>
            </a:r>
          </a:p>
          <a:p>
            <a:r>
              <a:rPr lang="en-US" i="1" dirty="0"/>
              <a:t>Recognize the dilemma</a:t>
            </a:r>
            <a:endParaRPr lang="en-US" dirty="0"/>
          </a:p>
          <a:p>
            <a:r>
              <a:rPr lang="en-US" i="1" dirty="0"/>
              <a:t>Evaluate options</a:t>
            </a:r>
            <a:endParaRPr lang="en-US" dirty="0"/>
          </a:p>
          <a:p>
            <a:r>
              <a:rPr lang="en-US" i="1" dirty="0"/>
              <a:t>Consider stakeholders</a:t>
            </a:r>
            <a:endParaRPr lang="en-US" dirty="0"/>
          </a:p>
          <a:p>
            <a:r>
              <a:rPr lang="en-US" i="1" dirty="0"/>
              <a:t>Make a principled choice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02906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982395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Principles of Arbitration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048" y="1027906"/>
            <a:ext cx="10515600" cy="4351338"/>
          </a:xfrm>
        </p:spPr>
        <p:txBody>
          <a:bodyPr/>
          <a:lstStyle/>
          <a:p>
            <a:r>
              <a:rPr lang="en-US" b="1" dirty="0"/>
              <a:t>Arbitration</a:t>
            </a:r>
            <a:r>
              <a:rPr lang="en-US" dirty="0"/>
              <a:t> is a formal ADR method where a neutral third party (the arbitrator) makes a binding decision to resolve a dispute. The key principles include</a:t>
            </a:r>
            <a:r>
              <a:rPr lang="en-US" dirty="0" smtClean="0"/>
              <a:t>:</a:t>
            </a:r>
          </a:p>
          <a:p>
            <a:r>
              <a:rPr lang="en-US" b="1" dirty="0"/>
              <a:t>Consent</a:t>
            </a:r>
          </a:p>
          <a:p>
            <a:r>
              <a:rPr lang="en-US" dirty="0"/>
              <a:t>Arbitration is typically based on an agreement between the parties.</a:t>
            </a:r>
          </a:p>
          <a:p>
            <a:r>
              <a:rPr lang="en-US" dirty="0"/>
              <a:t>Both parties must agree to submit disputes to arbitration rather than litigation.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1676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017" y="215766"/>
            <a:ext cx="10515600" cy="4351338"/>
          </a:xfrm>
        </p:spPr>
        <p:txBody>
          <a:bodyPr/>
          <a:lstStyle/>
          <a:p>
            <a:r>
              <a:rPr lang="en-US" b="1" dirty="0"/>
              <a:t>Neutrality and Impartiality</a:t>
            </a:r>
          </a:p>
          <a:p>
            <a:r>
              <a:rPr lang="en-US" dirty="0"/>
              <a:t>Arbitrators must be impartial and have no personal interest in the outcome.</a:t>
            </a:r>
          </a:p>
          <a:p>
            <a:r>
              <a:rPr lang="en-US" dirty="0"/>
              <a:t>They should treat all parties equally and without bias.</a:t>
            </a:r>
          </a:p>
          <a:p>
            <a:r>
              <a:rPr lang="en-US" b="1" dirty="0"/>
              <a:t>Party Autonomy</a:t>
            </a:r>
          </a:p>
          <a:p>
            <a:r>
              <a:rPr lang="en-US" dirty="0"/>
              <a:t>Parties have the freedom to decide:</a:t>
            </a:r>
          </a:p>
          <a:p>
            <a:pPr lvl="1"/>
            <a:r>
              <a:rPr lang="en-US" dirty="0"/>
              <a:t>Who the arbitrator(s) will be</a:t>
            </a:r>
          </a:p>
          <a:p>
            <a:pPr lvl="1"/>
            <a:r>
              <a:rPr lang="en-US" dirty="0"/>
              <a:t>Which rules/procedures will apply</a:t>
            </a:r>
          </a:p>
          <a:p>
            <a:pPr lvl="1"/>
            <a:r>
              <a:rPr lang="en-US" dirty="0"/>
              <a:t>The location and language of arbitration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842078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169" y="80819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Confidentiality</a:t>
            </a:r>
          </a:p>
          <a:p>
            <a:r>
              <a:rPr lang="en-US" dirty="0"/>
              <a:t>Proceedings are private, and outcomes are not typically public.</a:t>
            </a:r>
          </a:p>
          <a:p>
            <a:r>
              <a:rPr lang="en-US" dirty="0"/>
              <a:t>This protects sensitive business information.</a:t>
            </a:r>
          </a:p>
          <a:p>
            <a:r>
              <a:rPr lang="en-US" b="1" dirty="0"/>
              <a:t>Finality and Binding Nature</a:t>
            </a:r>
          </a:p>
          <a:p>
            <a:r>
              <a:rPr lang="en-US" dirty="0"/>
              <a:t>Arbitration awards are legally binding and enforceable.</a:t>
            </a:r>
          </a:p>
          <a:p>
            <a:r>
              <a:rPr lang="en-US" dirty="0"/>
              <a:t>Limited grounds exist for appealing an arbitration award.</a:t>
            </a:r>
          </a:p>
          <a:p>
            <a:r>
              <a:rPr lang="en-US" b="1" dirty="0"/>
              <a:t> Flexibility</a:t>
            </a:r>
          </a:p>
          <a:p>
            <a:r>
              <a:rPr lang="en-US" dirty="0"/>
              <a:t>Less formal than court proceedings.</a:t>
            </a:r>
          </a:p>
          <a:p>
            <a:r>
              <a:rPr lang="en-US" dirty="0"/>
              <a:t>Procedures can be tailored to suit the nature of the dispute.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0" y="17619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4942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sz="4800" dirty="0" smtClean="0"/>
              <a:t>Thank you</a:t>
            </a:r>
            <a:endParaRPr lang="en-US" sz="4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32124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317</Words>
  <Application>Microsoft Office PowerPoint</Application>
  <PresentationFormat>Custom</PresentationFormat>
  <Paragraphs>62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Ethical Delimas in Project Management </vt:lpstr>
      <vt:lpstr>Slide 2</vt:lpstr>
      <vt:lpstr>Truth vs. Loyalty </vt:lpstr>
      <vt:lpstr>Individual vs. Community </vt:lpstr>
      <vt:lpstr>Short-Term vs. Long-Term Gains </vt:lpstr>
      <vt:lpstr>Slide 6</vt:lpstr>
      <vt:lpstr>How to Handle Ethical Dilemmas: </vt:lpstr>
      <vt:lpstr>Principles of Arbitration 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Delimas in Project Management</dc:title>
  <dc:creator>Hp</dc:creator>
  <cp:lastModifiedBy>Admin</cp:lastModifiedBy>
  <cp:revision>4</cp:revision>
  <dcterms:created xsi:type="dcterms:W3CDTF">2025-04-11T08:26:49Z</dcterms:created>
  <dcterms:modified xsi:type="dcterms:W3CDTF">2025-04-25T05:17:09Z</dcterms:modified>
</cp:coreProperties>
</file>