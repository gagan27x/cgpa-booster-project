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3" r:id="rId18"/>
    <p:sldId id="274" r:id="rId19"/>
    <p:sldId id="272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 marL="0" marR="0" lvl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</a:defRPr>
    </a:defPPr>
    <a:lvl1pPr marL="0" marR="0" lvl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1pPr>
    <a:lvl2pPr marL="0" marR="0" lvl="1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2pPr>
    <a:lvl3pPr marL="0" marR="0" lvl="2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3pPr>
    <a:lvl4pPr marL="0" marR="0" lvl="3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4pPr>
    <a:lvl5pPr marL="0" marR="0" lvl="4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5pPr>
    <a:lvl6pPr marL="0" marR="0" lvl="5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6pPr>
    <a:lvl7pPr marL="0" marR="0" lvl="6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7pPr>
    <a:lvl8pPr marL="0" marR="0" lvl="7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8pPr>
    <a:lvl9pPr marL="0" marR="0" lvl="8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5484" autoAdjust="0"/>
  </p:normalViewPr>
  <p:slideViewPr>
    <p:cSldViewPr snapToGrid="0">
      <p:cViewPr varScale="1">
        <p:scale>
          <a:sx n="62" d="100"/>
          <a:sy n="62" d="100"/>
        </p:scale>
        <p:origin x="-996" y="-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6778625"/>
            <a:ext cx="12192000" cy="79376"/>
          </a:xfrm>
          <a:prstGeom prst="rect">
            <a:avLst/>
          </a:prstGeom>
          <a:solidFill>
            <a:srgbClr val="ED771F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685800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" name="Rectangle 2"/>
          <p:cNvSpPr/>
          <p:nvPr/>
        </p:nvSpPr>
        <p:spPr>
          <a:xfrm>
            <a:off x="2078568" y="431800"/>
            <a:ext cx="8106834" cy="46038"/>
          </a:xfrm>
          <a:prstGeom prst="rect">
            <a:avLst/>
          </a:prstGeom>
          <a:solidFill>
            <a:srgbClr val="F47D3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4" name="Picture 4" descr="Picture 4"/>
          <p:cNvPicPr>
            <a:picLocks noChangeAspect="1"/>
          </p:cNvPicPr>
          <p:nvPr/>
        </p:nvPicPr>
        <p:blipFill>
          <a:blip r:embed="rId2" cstate="print">
            <a:extLst/>
          </a:blip>
          <a:stretch>
            <a:fillRect/>
          </a:stretch>
        </p:blipFill>
        <p:spPr>
          <a:xfrm>
            <a:off x="10354733" y="177800"/>
            <a:ext cx="1547285" cy="419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5" descr="Picture 5"/>
          <p:cNvPicPr>
            <a:picLocks noChangeAspect="1"/>
          </p:cNvPicPr>
          <p:nvPr/>
        </p:nvPicPr>
        <p:blipFill>
          <a:blip r:embed="rId3" cstate="print">
            <a:extLst/>
          </a:blip>
          <a:stretch>
            <a:fillRect/>
          </a:stretch>
        </p:blipFill>
        <p:spPr>
          <a:xfrm>
            <a:off x="328083" y="177801"/>
            <a:ext cx="1581151" cy="506413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6" r:id="rId5"/>
    <p:sldLayoutId id="2147483657" r:id="rId6"/>
    <p:sldLayoutId id="2147483658" r:id="rId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Box 1"/>
          <p:cNvSpPr txBox="1"/>
          <p:nvPr/>
        </p:nvSpPr>
        <p:spPr>
          <a:xfrm>
            <a:off x="1842770" y="770255"/>
            <a:ext cx="7865110" cy="2585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5400" b="1">
                <a:solidFill>
                  <a:srgbClr val="10253F"/>
                </a:solidFill>
                <a:latin typeface="Berlin Sans FB Demi"/>
                <a:ea typeface="Berlin Sans FB Demi"/>
                <a:cs typeface="Berlin Sans FB Demi"/>
                <a:sym typeface="Berlin Sans FB Demi"/>
              </a:defRPr>
            </a:pPr>
            <a:r>
              <a:rPr lang="en-US" dirty="0" smtClean="0"/>
              <a:t>CSE332</a:t>
            </a:r>
            <a:r>
              <a:rPr dirty="0"/>
              <a:t/>
            </a:r>
            <a:br>
              <a:rPr dirty="0"/>
            </a:br>
            <a:r>
              <a:rPr lang="en-US" dirty="0" smtClean="0"/>
              <a:t>INDUSTRY ETHICS AND LEGAL ISSUES</a:t>
            </a:r>
            <a:endParaRPr dirty="0"/>
          </a:p>
        </p:txBody>
      </p:sp>
      <p:sp>
        <p:nvSpPr>
          <p:cNvPr id="106" name="Line 3"/>
          <p:cNvSpPr/>
          <p:nvPr/>
        </p:nvSpPr>
        <p:spPr>
          <a:xfrm>
            <a:off x="2566989" y="3789364"/>
            <a:ext cx="7058025" cy="1587"/>
          </a:xfrm>
          <a:prstGeom prst="line">
            <a:avLst/>
          </a:prstGeom>
          <a:ln w="38160">
            <a:solidFill>
              <a:srgbClr val="F79646"/>
            </a:solidFill>
            <a:miter/>
          </a:ln>
          <a:effectLst>
            <a:outerShdw dist="23040" dir="5400000" rotWithShape="0">
              <a:srgbClr val="000000">
                <a:alpha val="35036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2323609" y="3840307"/>
            <a:ext cx="7544783" cy="1839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>
                <a:solidFill>
                  <a:srgbClr val="FF0000"/>
                </a:solidFill>
                <a:latin typeface="Verdana,Bold"/>
              </a:rPr>
              <a:t>Ethical and Professional issues in Information Security</a:t>
            </a:r>
            <a:endParaRPr lang="en-US" sz="4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74661" y="707611"/>
            <a:ext cx="75376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600" b="1" dirty="0"/>
              <a:t>Law and Ethics in Information Security</a:t>
            </a:r>
            <a:endParaRPr lang="en-US" sz="3600" b="1" dirty="0"/>
          </a:p>
        </p:txBody>
      </p:sp>
      <p:sp>
        <p:nvSpPr>
          <p:cNvPr id="4" name="Rectangle 5"/>
          <p:cNvSpPr txBox="1">
            <a:spLocks noChangeArrowheads="1"/>
          </p:cNvSpPr>
          <p:nvPr/>
        </p:nvSpPr>
        <p:spPr>
          <a:xfrm>
            <a:off x="874171" y="1460090"/>
            <a:ext cx="10338619" cy="5029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just" hangingPunct="1">
              <a:lnSpc>
                <a:spcPct val="150000"/>
              </a:lnSpc>
            </a:pPr>
            <a:r>
              <a:rPr lang="en-US" altLang="en-US" smtClean="0"/>
              <a:t>Laws: </a:t>
            </a:r>
            <a:r>
              <a:rPr lang="en-US" altLang="en-US" smtClean="0">
                <a:solidFill>
                  <a:srgbClr val="006600"/>
                </a:solidFill>
              </a:rPr>
              <a:t>Rules adopted and enforced by governments to codify expected behavior in modern society</a:t>
            </a:r>
          </a:p>
          <a:p>
            <a:pPr algn="just" hangingPunct="1">
              <a:lnSpc>
                <a:spcPct val="150000"/>
              </a:lnSpc>
            </a:pPr>
            <a:r>
              <a:rPr lang="en-US" altLang="en-US" smtClean="0"/>
              <a:t>Ethics:  </a:t>
            </a:r>
            <a:r>
              <a:rPr lang="en-US" altLang="en-US" smtClean="0">
                <a:solidFill>
                  <a:srgbClr val="006600"/>
                </a:solidFill>
              </a:rPr>
              <a:t>Relatively fixed moral attitudes or customs of a societal group</a:t>
            </a:r>
            <a:r>
              <a:rPr lang="en-US" altLang="en-US" smtClean="0"/>
              <a:t> (based on cultural mores) </a:t>
            </a:r>
          </a:p>
          <a:p>
            <a:pPr algn="just" hangingPunct="1">
              <a:lnSpc>
                <a:spcPct val="150000"/>
              </a:lnSpc>
            </a:pPr>
            <a:r>
              <a:rPr lang="en-US" altLang="en-US" smtClean="0">
                <a:solidFill>
                  <a:srgbClr val="993300"/>
                </a:solidFill>
              </a:rPr>
              <a:t>The key difference between law and ethics is that law carries the sanction of a governing authority and ethics do not</a:t>
            </a:r>
            <a:endParaRPr lang="en-US" altLang="en-US" dirty="0" smtClean="0">
              <a:solidFill>
                <a:srgbClr val="9933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1783586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1" y="533400"/>
            <a:ext cx="125066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 smtClean="0"/>
              <a:t>Law and Ethics in Information Security</a:t>
            </a:r>
            <a:endParaRPr lang="en-US" sz="3200" b="1" dirty="0">
              <a:solidFill>
                <a:schemeClr val="accent6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61883" y="1379025"/>
            <a:ext cx="7571303" cy="4409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Law and ethics guide cybersecurity practices.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Laws ensure data protection and privacy.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Ethics focus on responsible security decisions.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 laws prevent hacking and misuse.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Privacy rights balance security and access.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Compliance ensures trust and legal safety.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6243" y="1523348"/>
            <a:ext cx="1021080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/>
              <a:t>Data </a:t>
            </a:r>
            <a:r>
              <a:rPr lang="en-US" sz="2400" b="1" dirty="0"/>
              <a:t>Protection</a:t>
            </a:r>
            <a:r>
              <a:rPr lang="en-US" sz="2400" dirty="0"/>
              <a:t> – Ensures confidentiality and integrity of information.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Privacy Regulations</a:t>
            </a:r>
            <a:r>
              <a:rPr lang="en-US" sz="2400" dirty="0"/>
              <a:t> – Safeguards personal and sensitive user data.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Cybercrime Prevention</a:t>
            </a:r>
            <a:r>
              <a:rPr lang="en-US" sz="2400" dirty="0"/>
              <a:t> – Criminalizes hacking, fraud, and cyber threats.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Compliance Standards</a:t>
            </a:r>
            <a:r>
              <a:rPr lang="en-US" sz="2400" dirty="0"/>
              <a:t> – Organizations must follow legal frameworks.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Intellectual Property Protection</a:t>
            </a:r>
            <a:r>
              <a:rPr lang="en-US" sz="2400" dirty="0"/>
              <a:t> – Secures software, patents, and copyrights.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Accountability</a:t>
            </a:r>
            <a:r>
              <a:rPr lang="en-US" sz="2400" dirty="0"/>
              <a:t> – Holds individuals and organizations responsible.</a:t>
            </a:r>
          </a:p>
        </p:txBody>
      </p:sp>
      <p:sp>
        <p:nvSpPr>
          <p:cNvPr id="3" name="Rectangle 2"/>
          <p:cNvSpPr/>
          <p:nvPr/>
        </p:nvSpPr>
        <p:spPr>
          <a:xfrm>
            <a:off x="2322464" y="781353"/>
            <a:ext cx="76674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Features of Law and Ethics in Information Security</a:t>
            </a:r>
          </a:p>
        </p:txBody>
      </p:sp>
    </p:spTree>
    <p:extLst>
      <p:ext uri="{BB962C8B-B14F-4D97-AF65-F5344CB8AC3E}">
        <p14:creationId xmlns="" xmlns:p14="http://schemas.microsoft.com/office/powerpoint/2010/main" val="253907648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98195" y="737108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Types of Laws in Information Security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11323" y="1321883"/>
            <a:ext cx="1094798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Protection Laws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Regulate data collection, storage, and processing. 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(e.g., GDPR, CCPA, HIPAA)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Cybercrime Laws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Prevent hacking, fraud, and identity theft. 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(e.g., CFAA, UK Computer Misuse Act)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Intellectual Property Laws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Protect software, trademarks, and copyrights. 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(e.g., Copyright Act, Patent Laws)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Compliance and Regulatory Laws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Ensure businesses follow security standards. 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(e.g., ISO 27001, PCI DSS, SOX)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Surveillance and Privacy Laws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Balance national security with individual privacy. 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(e.g., FISA, ECPA, PRISM regulations)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Contract and Liability Laws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Govern security obligations in business agreements. 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(e.g., NDA, SLAs in cybersecurity contracts)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="" xmlns:p14="http://schemas.microsoft.com/office/powerpoint/2010/main" val="271838752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0492" y="690962"/>
            <a:ext cx="8375676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sz="3200" b="1" dirty="0"/>
              <a:t>Types of Ethics in Information </a:t>
            </a:r>
            <a:r>
              <a:rPr lang="en-US" sz="3200" b="1" dirty="0" smtClean="0"/>
              <a:t>Security</a:t>
            </a:r>
            <a:endParaRPr kumimoji="0" lang="en-IN" sz="3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Calibri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16192" y="1275735"/>
            <a:ext cx="11046543" cy="4819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Privacy Ethics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Ensures responsible handling of user data.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Hacking Ethics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Differentiates ethical hacking (white-hat) from malicious hacking (black-hat).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and Security Ethics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Manages bias, transparency, and accountability in security AI.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Corporate Ethics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Defines security responsibilities of organizations.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Whistleblowing Ethics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Protects individuals reporting security violations.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Cybersecurity Professional Ethics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Guides IT professionals on ethical security practices. </a:t>
            </a:r>
            <a:r>
              <a:rPr kumimoji="0" lang="en-US" altLang="en-US" sz="18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(e.g., ISC² Code of Ethics)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="" xmlns:p14="http://schemas.microsoft.com/office/powerpoint/2010/main" val="100661289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71610" y="780597"/>
            <a:ext cx="7911255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sz="2800" b="1" dirty="0"/>
              <a:t>Examples of Law and Ethics in Information Security</a:t>
            </a:r>
            <a:endParaRPr kumimoji="0" lang="en-I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Calibri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545691" y="1682685"/>
            <a:ext cx="10411825" cy="3330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Facebook-Cambridge </a:t>
            </a:r>
            <a:r>
              <a:rPr kumimoji="0" lang="en-US" altLang="en-US" sz="1800" b="1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Analytica</a:t>
            </a:r>
            <a:r>
              <a:rPr kumimoji="0" lang="en-US" altLang="en-US" sz="1800" b="1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Scandal (Privacy Ethics &amp; Data Protection Laws Violation)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WannaCry</a:t>
            </a:r>
            <a:r>
              <a:rPr kumimoji="0" lang="en-US" altLang="en-US" sz="1800" b="1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Ransomware Attack (Cybercrime &amp; Compliance Failure)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Apple vs. FBI Encryption Case (Privacy vs. Surveillance Ethics)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AI Bias in Hiring (AI and Security Ethics Concern)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Edward Snowden NSA Leaks (Whistleblowing &amp; Government Surveillance Ethics)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Sony Pictures Hack (Intellectual Property &amp; Cybercrime Violation) </a:t>
            </a:r>
          </a:p>
        </p:txBody>
      </p:sp>
    </p:spTree>
    <p:extLst>
      <p:ext uri="{BB962C8B-B14F-4D97-AF65-F5344CB8AC3E}">
        <p14:creationId xmlns="" xmlns:p14="http://schemas.microsoft.com/office/powerpoint/2010/main" val="356600861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031" y="884686"/>
            <a:ext cx="11208774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sz="2800" b="1" dirty="0"/>
              <a:t>Advantages and Disadvantages of Law and Ethics in Information Security</a:t>
            </a:r>
            <a:endParaRPr kumimoji="0" lang="en-I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7031" y="1407904"/>
            <a:ext cx="10078065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800" b="1" dirty="0"/>
              <a:t>Advantages: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Data Protection</a:t>
            </a:r>
            <a:r>
              <a:rPr lang="en-US" sz="2000" dirty="0"/>
              <a:t> – Ensures confidentiality and prevents unauthorized access.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Privacy Assurance</a:t>
            </a:r>
            <a:r>
              <a:rPr lang="en-US" sz="2000" dirty="0"/>
              <a:t> – Strengthens user trust in organizations.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Cybercrime Prevention</a:t>
            </a:r>
            <a:r>
              <a:rPr lang="en-US" sz="2000" dirty="0"/>
              <a:t> – Reduces risks of hacking and fraud.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Legal Compliance</a:t>
            </a:r>
            <a:r>
              <a:rPr lang="en-US" sz="2000" dirty="0"/>
              <a:t> – Avoids lawsuits and regulatory penalties.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Corporate Accountability</a:t>
            </a:r>
            <a:r>
              <a:rPr lang="en-US" sz="2000" dirty="0"/>
              <a:t> – Holds businesses responsible for security breaches.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Ethical Decision-Making</a:t>
            </a:r>
            <a:r>
              <a:rPr lang="en-US" sz="2000" dirty="0"/>
              <a:t> – Encourages responsible cybersecurity practices.</a:t>
            </a:r>
          </a:p>
        </p:txBody>
      </p:sp>
    </p:spTree>
    <p:extLst>
      <p:ext uri="{BB962C8B-B14F-4D97-AF65-F5344CB8AC3E}">
        <p14:creationId xmlns="" xmlns:p14="http://schemas.microsoft.com/office/powerpoint/2010/main" val="206220092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14515" y="658957"/>
            <a:ext cx="1085973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dirty="0"/>
              <a:t>Disadvantages: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Compliance Costs</a:t>
            </a:r>
            <a:r>
              <a:rPr lang="en-US" sz="2400" dirty="0"/>
              <a:t> – Implementing security laws can be expensive.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Restrictive Policies</a:t>
            </a:r>
            <a:r>
              <a:rPr lang="en-US" sz="2400" dirty="0"/>
              <a:t> – May limit innovation and data access.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Legal Complexity</a:t>
            </a:r>
            <a:r>
              <a:rPr lang="en-US" sz="2400" dirty="0"/>
              <a:t> – Varying global regulations make compliance challenging.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Privacy vs. Security Conflict</a:t>
            </a:r>
            <a:r>
              <a:rPr lang="en-US" sz="2400" dirty="0"/>
              <a:t> – Government surveillance may compromise individual rights.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Slow Legal Updates</a:t>
            </a:r>
            <a:r>
              <a:rPr lang="en-US" sz="2400" dirty="0"/>
              <a:t> – Laws may not keep pace with new cyber threats.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Enforcement Challenges</a:t>
            </a:r>
            <a:r>
              <a:rPr lang="en-US" sz="2400" dirty="0"/>
              <a:t> – Difficult to track and penalize cybercriminals globally</a:t>
            </a:r>
          </a:p>
        </p:txBody>
      </p:sp>
    </p:spTree>
    <p:extLst>
      <p:ext uri="{BB962C8B-B14F-4D97-AF65-F5344CB8AC3E}">
        <p14:creationId xmlns="" xmlns:p14="http://schemas.microsoft.com/office/powerpoint/2010/main" val="241917933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83432" y="1273105"/>
            <a:ext cx="10081120" cy="1338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Organizations face significant legal and ethical responsibilities regarding information security</a:t>
            </a:r>
            <a:r>
              <a:rPr lang="en-US" dirty="0" smtClean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en-US" dirty="0"/>
              <a:t>Failure to comply with security laws and ethical standards can result in legal penalties, financial losses, and reputational damage</a:t>
            </a:r>
            <a:r>
              <a:rPr lang="en-US" dirty="0" smtClean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2507226" y="688233"/>
            <a:ext cx="66391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Organizational Liability and the Need for Counsel</a:t>
            </a:r>
          </a:p>
        </p:txBody>
      </p:sp>
      <p:pic>
        <p:nvPicPr>
          <p:cNvPr id="6146" name="Picture 2" descr="How to Prevent Personal Liability for In-House Counsel During Financial Distres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3178" y="2611931"/>
            <a:ext cx="4267200" cy="32004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86743861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90249" y="624462"/>
            <a:ext cx="7160228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sz="2400" b="1" dirty="0"/>
              <a:t>Organizational Liability in Information Security</a:t>
            </a:r>
            <a:endParaRPr kumimoji="0" lang="en-IN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03005" y="1086125"/>
            <a:ext cx="10092813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Organizations can be held liable for: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Data Breaches</a:t>
            </a:r>
            <a:r>
              <a:rPr lang="en-US" sz="2000" dirty="0"/>
              <a:t> – If customer or employee data is compromised due to negligence.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Non-Compliance with Regulations</a:t>
            </a:r>
            <a:r>
              <a:rPr lang="en-US" sz="2000" dirty="0"/>
              <a:t> – Violating laws like GDPR, HIPAA, or PCI DSS can result in heavy fines.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Cybersecurity Negligence</a:t>
            </a:r>
            <a:r>
              <a:rPr lang="en-US" sz="2000" dirty="0"/>
              <a:t> – Failure to implement security measures can lead to legal action.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Intellectual Property Violations</a:t>
            </a:r>
            <a:r>
              <a:rPr lang="en-US" sz="2000" dirty="0"/>
              <a:t> – Unauthorized use of copyrighted or patented technology.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Insider Threats and Employee Misconduct</a:t>
            </a:r>
            <a:r>
              <a:rPr lang="en-US" sz="2000" dirty="0"/>
              <a:t> – Misuse of company data by employees leading to legal liability.</a:t>
            </a:r>
          </a:p>
        </p:txBody>
      </p:sp>
    </p:spTree>
    <p:extLst>
      <p:ext uri="{BB962C8B-B14F-4D97-AF65-F5344CB8AC3E}">
        <p14:creationId xmlns="" xmlns:p14="http://schemas.microsoft.com/office/powerpoint/2010/main" val="289786125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65181" y="796103"/>
            <a:ext cx="5240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Need for Legal Counsel in Cybersecurity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55522" y="1257768"/>
            <a:ext cx="10815483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Organizations require legal counsel to: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Ensure Compliance</a:t>
            </a:r>
            <a:r>
              <a:rPr lang="en-US" sz="2000" dirty="0"/>
              <a:t> – Guide businesses on adhering to global cybersecurity regulations.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Manage Data Protection Policies</a:t>
            </a:r>
            <a:r>
              <a:rPr lang="en-US" sz="2000" dirty="0"/>
              <a:t> – Develop legal policies for handling customer and employee data.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Handle Cybersecurity Incidents</a:t>
            </a:r>
            <a:r>
              <a:rPr lang="en-US" sz="2000" dirty="0"/>
              <a:t> – Provide legal defense in case of breaches or cyberattacks.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Draft Contracts and Agreements</a:t>
            </a:r>
            <a:r>
              <a:rPr lang="en-US" sz="2000" dirty="0"/>
              <a:t> – Ensure secure and legally binding terms in business deals.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Risk Assessment and Mitigation</a:t>
            </a:r>
            <a:r>
              <a:rPr lang="en-US" sz="2000" dirty="0"/>
              <a:t> – Identify potential legal risks and prevent liabilities.</a:t>
            </a:r>
          </a:p>
        </p:txBody>
      </p:sp>
    </p:spTree>
    <p:extLst>
      <p:ext uri="{BB962C8B-B14F-4D97-AF65-F5344CB8AC3E}">
        <p14:creationId xmlns="" xmlns:p14="http://schemas.microsoft.com/office/powerpoint/2010/main" val="29027873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27239" y="908325"/>
            <a:ext cx="101075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Examples of Organizational Ethics and Liability in Information Security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40710" y="1759825"/>
            <a:ext cx="10463121" cy="3330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Facebook-Cambridge </a:t>
            </a:r>
            <a:r>
              <a:rPr kumimoji="0" lang="en-US" altLang="en-US" sz="18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Analytica</a:t>
            </a: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Scandal (Ethical and Legal Violations in Data Privacy)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Equifax Data Breach (Failure to Ensure Ethical Cybersecurity Practices)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Uber Data Breach Cover-Up (Lack of Transparency and Ethical Conduct)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Wells Fargo Fake Accounts Scandal (Unethical Employee Behavior and Corporate Accountability)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Yahoo Data Breach (Corporate Negligence in Cybersecurity and Legal Repercussions)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65939609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81162" y="1570726"/>
            <a:ext cx="7922362" cy="334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happens without ethical employee conduct?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does unethical behavior harm organizations?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legal risks arise from misconduct?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is customer trust easily lost?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organizations face penalties for employees?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does non-compliance affect reputation?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7120" y="766606"/>
            <a:ext cx="55964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Answer the following questions</a:t>
            </a: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8017704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0270" y="1203896"/>
            <a:ext cx="901618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 smtClean="0"/>
              <a:t>1</a:t>
            </a:r>
            <a:r>
              <a:rPr lang="en-US" b="1" dirty="0"/>
              <a:t>. Definition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Policy</a:t>
            </a:r>
            <a:r>
              <a:rPr lang="en-US" dirty="0"/>
              <a:t> – Internal guidelines set by organizations to govern behavior.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Law</a:t>
            </a:r>
            <a:r>
              <a:rPr lang="en-US" dirty="0"/>
              <a:t> – Legally enforceable rules established by governments.</a:t>
            </a:r>
          </a:p>
          <a:p>
            <a:pPr>
              <a:lnSpc>
                <a:spcPct val="200000"/>
              </a:lnSpc>
            </a:pPr>
            <a:r>
              <a:rPr lang="en-US" b="1" dirty="0"/>
              <a:t>2. Purpose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Policy</a:t>
            </a:r>
            <a:r>
              <a:rPr lang="en-US" dirty="0"/>
              <a:t> – Ensures consistency, security, and ethical conduct within an organization.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Law</a:t>
            </a:r>
            <a:r>
              <a:rPr lang="en-US" dirty="0"/>
              <a:t> – Maintains order, protects rights, and enforces justice in society.</a:t>
            </a:r>
          </a:p>
          <a:p>
            <a:pPr>
              <a:lnSpc>
                <a:spcPct val="200000"/>
              </a:lnSpc>
            </a:pPr>
            <a:r>
              <a:rPr lang="en-US" b="1" dirty="0"/>
              <a:t>3. Enforcement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Policy</a:t>
            </a:r>
            <a:r>
              <a:rPr lang="en-US" dirty="0"/>
              <a:t> – Enforced internally by management or HR departments.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Law</a:t>
            </a:r>
            <a:r>
              <a:rPr lang="en-US" dirty="0"/>
              <a:t> – Enforced by government authorities and courts.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23101" y="751856"/>
            <a:ext cx="31999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Policy Versus Law</a:t>
            </a:r>
          </a:p>
        </p:txBody>
      </p:sp>
    </p:spTree>
    <p:extLst>
      <p:ext uri="{BB962C8B-B14F-4D97-AF65-F5344CB8AC3E}">
        <p14:creationId xmlns="" xmlns:p14="http://schemas.microsoft.com/office/powerpoint/2010/main" val="2042886694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5018" y="649972"/>
            <a:ext cx="1010756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000" b="1" dirty="0"/>
              <a:t>4. Consequences of Violation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Policy</a:t>
            </a:r>
            <a:r>
              <a:rPr lang="en-US" sz="2000" dirty="0"/>
              <a:t> – Can lead to warnings, termination, or internal penalties.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Law</a:t>
            </a:r>
            <a:r>
              <a:rPr lang="en-US" sz="2000" dirty="0"/>
              <a:t> – Can result in legal action, fines, or imprisonment.</a:t>
            </a:r>
          </a:p>
          <a:p>
            <a:pPr algn="just">
              <a:lnSpc>
                <a:spcPct val="200000"/>
              </a:lnSpc>
            </a:pPr>
            <a:r>
              <a:rPr lang="en-US" sz="2000" b="1" dirty="0"/>
              <a:t>5. Flexibility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Policy</a:t>
            </a:r>
            <a:r>
              <a:rPr lang="en-US" sz="2000" dirty="0"/>
              <a:t> – Can be modified by the organization as needed.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Law</a:t>
            </a:r>
            <a:r>
              <a:rPr lang="en-US" sz="2000" dirty="0"/>
              <a:t> – Requires legal procedures or legislative approval to change.</a:t>
            </a:r>
          </a:p>
          <a:p>
            <a:pPr algn="just">
              <a:lnSpc>
                <a:spcPct val="200000"/>
              </a:lnSpc>
            </a:pPr>
            <a:r>
              <a:rPr lang="en-US" sz="2000" b="1" dirty="0"/>
              <a:t>6. Scope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Policy</a:t>
            </a:r>
            <a:r>
              <a:rPr lang="en-US" sz="2000" dirty="0"/>
              <a:t> – Applies only within an organization or institution.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Law</a:t>
            </a:r>
            <a:r>
              <a:rPr lang="en-US" sz="2000" dirty="0"/>
              <a:t> – Applies to everyone within a jurisdiction.</a:t>
            </a:r>
          </a:p>
        </p:txBody>
      </p:sp>
    </p:spTree>
    <p:extLst>
      <p:ext uri="{BB962C8B-B14F-4D97-AF65-F5344CB8AC3E}">
        <p14:creationId xmlns="" xmlns:p14="http://schemas.microsoft.com/office/powerpoint/2010/main" val="14503885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150727" y="722360"/>
            <a:ext cx="41601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Policies in Information Security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27703" y="1418499"/>
            <a:ext cx="1016816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Acceptable Use Policy (AUP)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Defines proper use of company systems and networks.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Password Management Policy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Sets rules for creating and maintaining secure passwords.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Backup and Recovery Policy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Outlines procedures for data protection and restoration.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Incident Response Policy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Establishes steps to follow during cybersecurity incidents.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Bring Your Own Device (BYOD) Policy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Regulates the use of personal devices for work.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 Control Policy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Determines user roles and permissions for system access. </a:t>
            </a:r>
          </a:p>
        </p:txBody>
      </p:sp>
    </p:spTree>
    <p:extLst>
      <p:ext uri="{BB962C8B-B14F-4D97-AF65-F5344CB8AC3E}">
        <p14:creationId xmlns="" xmlns:p14="http://schemas.microsoft.com/office/powerpoint/2010/main" val="345301693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2284" y="1375863"/>
            <a:ext cx="10594258" cy="43150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/>
              <a:t>General Data Protection Regulation (GDPR)</a:t>
            </a:r>
            <a:r>
              <a:rPr lang="en-US" sz="2000" dirty="0" smtClean="0"/>
              <a:t> – Protects personal data of EU citizens.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/>
              <a:t>Health </a:t>
            </a:r>
            <a:r>
              <a:rPr lang="en-US" sz="2000" b="1" dirty="0"/>
              <a:t>Insurance Portability and Accountability Act (HIPAA</a:t>
            </a:r>
            <a:r>
              <a:rPr lang="en-US" sz="2000" b="1" dirty="0" smtClean="0"/>
              <a:t>)</a:t>
            </a:r>
            <a:r>
              <a:rPr lang="en-US" sz="2000" dirty="0" smtClean="0"/>
              <a:t> – Ensures security of healthcare information.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/>
              <a:t>Computer Fraud and Abuse Act (CFAA)</a:t>
            </a:r>
            <a:r>
              <a:rPr lang="en-US" sz="2000" dirty="0" smtClean="0"/>
              <a:t> – Criminalizes unauthorized computer access.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/>
              <a:t>Cybersecurity Information Sharing Act (CISA)</a:t>
            </a:r>
            <a:r>
              <a:rPr lang="en-US" sz="2000" dirty="0" smtClean="0"/>
              <a:t> – Encourages data sharing for cybersecurity.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/>
              <a:t>Digital Millennium Copyright Act (DMCA)</a:t>
            </a:r>
            <a:r>
              <a:rPr lang="en-US" sz="2000" dirty="0" smtClean="0"/>
              <a:t> – Protects digital content and intellectual property.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/>
              <a:t>California Consumer Privacy Act (CCPA)</a:t>
            </a:r>
            <a:r>
              <a:rPr lang="en-US" sz="2000" dirty="0" smtClean="0"/>
              <a:t> – Regulates data privacy rights for California residents.</a:t>
            </a:r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4257807" y="574876"/>
            <a:ext cx="38331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Laws in Information Security</a:t>
            </a:r>
          </a:p>
        </p:txBody>
      </p:sp>
    </p:spTree>
    <p:extLst>
      <p:ext uri="{BB962C8B-B14F-4D97-AF65-F5344CB8AC3E}">
        <p14:creationId xmlns="" xmlns:p14="http://schemas.microsoft.com/office/powerpoint/2010/main" val="240533419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15477" y="742174"/>
            <a:ext cx="6345007" cy="595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Differences Between Policy and Law</a:t>
            </a:r>
            <a:endParaRPr lang="en-US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913818336"/>
              </p:ext>
            </p:extLst>
          </p:nvPr>
        </p:nvGraphicFramePr>
        <p:xfrm>
          <a:off x="559793" y="1338106"/>
          <a:ext cx="10899705" cy="50634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33235">
                  <a:extLst>
                    <a:ext uri="{9D8B030D-6E8A-4147-A177-3AD203B41FA5}">
                      <a16:colId xmlns="" xmlns:a16="http://schemas.microsoft.com/office/drawing/2014/main" val="1598014569"/>
                    </a:ext>
                  </a:extLst>
                </a:gridCol>
                <a:gridCol w="3633235">
                  <a:extLst>
                    <a:ext uri="{9D8B030D-6E8A-4147-A177-3AD203B41FA5}">
                      <a16:colId xmlns="" xmlns:a16="http://schemas.microsoft.com/office/drawing/2014/main" val="1387864632"/>
                    </a:ext>
                  </a:extLst>
                </a:gridCol>
                <a:gridCol w="3633235">
                  <a:extLst>
                    <a:ext uri="{9D8B030D-6E8A-4147-A177-3AD203B41FA5}">
                      <a16:colId xmlns="" xmlns:a16="http://schemas.microsoft.com/office/drawing/2014/main" val="2772129666"/>
                    </a:ext>
                  </a:extLst>
                </a:gridCol>
              </a:tblGrid>
              <a:tr h="32717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Criteria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Policy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Law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="" xmlns:a16="http://schemas.microsoft.com/office/drawing/2014/main" val="1017355558"/>
                  </a:ext>
                </a:extLst>
              </a:tr>
              <a:tr h="32717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Nature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Internal organizational rule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Government-enforced legal rule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="" xmlns:a16="http://schemas.microsoft.com/office/drawing/2014/main" val="3813712671"/>
                  </a:ext>
                </a:extLst>
              </a:tr>
              <a:tr h="63781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Objective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Guides employees’ actions and decisions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Maintains societal order and justice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="" xmlns:a16="http://schemas.microsoft.com/office/drawing/2014/main" val="868066220"/>
                  </a:ext>
                </a:extLst>
              </a:tr>
              <a:tr h="32717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Authority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Created by an organization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Created by legislative bodies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="" xmlns:a16="http://schemas.microsoft.com/office/drawing/2014/main" val="567980414"/>
                  </a:ext>
                </a:extLst>
              </a:tr>
              <a:tr h="63781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Applicability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Limited to a specific organization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Applies to all individuals and entities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="" xmlns:a16="http://schemas.microsoft.com/office/drawing/2014/main" val="2187683594"/>
                  </a:ext>
                </a:extLst>
              </a:tr>
              <a:tr h="63781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Modification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Can be updated internally as needed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Requires a legal process to change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="" xmlns:a16="http://schemas.microsoft.com/office/drawing/2014/main" val="1110904265"/>
                  </a:ext>
                </a:extLst>
              </a:tr>
              <a:tr h="63781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Enforcement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Managed by HR or internal teams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Enforced by courts and legal agencies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="" xmlns:a16="http://schemas.microsoft.com/office/drawing/2014/main" val="497451804"/>
                  </a:ext>
                </a:extLst>
              </a:tr>
              <a:tr h="63781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Consequences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Can result in warnings or termination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Can lead to fines, penalties, or jail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="" xmlns:a16="http://schemas.microsoft.com/office/drawing/2014/main" val="3557143603"/>
                  </a:ext>
                </a:extLst>
              </a:tr>
              <a:tr h="63781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Example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Company cybersecurity policy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Data privacy law (e.g., GDPR, HIPAA)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="" xmlns:a16="http://schemas.microsoft.com/office/drawing/2014/main" val="1336683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142864814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2284" y="1375863"/>
            <a:ext cx="1059425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1. Information security primarily aims to protect:</a:t>
            </a:r>
          </a:p>
          <a:p>
            <a:pPr marL="514350" indent="-514350">
              <a:buAutoNum type="alphaUcParenR"/>
            </a:pPr>
            <a:r>
              <a:rPr lang="en-US" sz="2800" dirty="0" smtClean="0"/>
              <a:t>Office </a:t>
            </a:r>
            <a:r>
              <a:rPr lang="en-US" sz="2800" dirty="0" smtClean="0"/>
              <a:t>furniture</a:t>
            </a:r>
            <a:br>
              <a:rPr lang="en-US" sz="2800" dirty="0" smtClean="0"/>
            </a:br>
            <a:r>
              <a:rPr lang="en-US" sz="2800" dirty="0" smtClean="0"/>
              <a:t>B) Data and information systems</a:t>
            </a:r>
            <a:br>
              <a:rPr lang="en-US" sz="2800" dirty="0" smtClean="0"/>
            </a:br>
            <a:r>
              <a:rPr lang="en-US" sz="2800" dirty="0" smtClean="0"/>
              <a:t>C) Electricity supply</a:t>
            </a:r>
            <a:br>
              <a:rPr lang="en-US" sz="2800" dirty="0" smtClean="0"/>
            </a:br>
            <a:r>
              <a:rPr lang="en-US" sz="2800" dirty="0" smtClean="0"/>
              <a:t>D) Marketing strategies</a:t>
            </a:r>
          </a:p>
          <a:p>
            <a:pPr marL="514350" indent="-514350"/>
            <a:r>
              <a:rPr lang="en-US" sz="2800" b="1" dirty="0" smtClean="0"/>
              <a:t>2</a:t>
            </a:r>
            <a:r>
              <a:rPr lang="en-US" sz="2800" b="1" dirty="0" smtClean="0"/>
              <a:t>. Which of the following is a core principle of information security?</a:t>
            </a:r>
          </a:p>
          <a:p>
            <a:r>
              <a:rPr lang="en-US" sz="2800" dirty="0" smtClean="0"/>
              <a:t>A) Confidentiality</a:t>
            </a:r>
            <a:br>
              <a:rPr lang="en-US" sz="2800" dirty="0" smtClean="0"/>
            </a:br>
            <a:r>
              <a:rPr lang="en-US" sz="2800" dirty="0" smtClean="0"/>
              <a:t>B) Advertisement</a:t>
            </a:r>
            <a:br>
              <a:rPr lang="en-US" sz="2800" dirty="0" smtClean="0"/>
            </a:br>
            <a:r>
              <a:rPr lang="en-US" sz="2800" dirty="0" smtClean="0"/>
              <a:t>C) Recruitment</a:t>
            </a:r>
            <a:br>
              <a:rPr lang="en-US" sz="2800" dirty="0" smtClean="0"/>
            </a:br>
            <a:r>
              <a:rPr lang="en-US" sz="2800" dirty="0" smtClean="0"/>
              <a:t>D) </a:t>
            </a:r>
            <a:r>
              <a:rPr lang="en-US" sz="2800" dirty="0" smtClean="0"/>
              <a:t>Manufacturing</a:t>
            </a:r>
            <a:endParaRPr lang="en-US" sz="2800" dirty="0" smtClean="0"/>
          </a:p>
        </p:txBody>
      </p:sp>
      <p:sp>
        <p:nvSpPr>
          <p:cNvPr id="3" name="Rectangle 2"/>
          <p:cNvSpPr/>
          <p:nvPr/>
        </p:nvSpPr>
        <p:spPr>
          <a:xfrm>
            <a:off x="4257807" y="574876"/>
            <a:ext cx="38331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Laws in Information Security</a:t>
            </a:r>
          </a:p>
        </p:txBody>
      </p:sp>
    </p:spTree>
    <p:extLst>
      <p:ext uri="{BB962C8B-B14F-4D97-AF65-F5344CB8AC3E}">
        <p14:creationId xmlns="" xmlns:p14="http://schemas.microsoft.com/office/powerpoint/2010/main" val="2405334199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2284" y="1375863"/>
            <a:ext cx="10594258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/>
              <a:t>3</a:t>
            </a:r>
            <a:r>
              <a:rPr lang="en-US" sz="2400" b="1" dirty="0" smtClean="0"/>
              <a:t>. Confidentiality ensures that:</a:t>
            </a:r>
          </a:p>
          <a:p>
            <a:r>
              <a:rPr lang="en-US" sz="2400" dirty="0" smtClean="0"/>
              <a:t>A) Data is always deleted</a:t>
            </a:r>
            <a:br>
              <a:rPr lang="en-US" sz="2400" dirty="0" smtClean="0"/>
            </a:br>
            <a:r>
              <a:rPr lang="en-US" sz="2400" dirty="0" smtClean="0"/>
              <a:t>B) Information is accessible only to authorized users</a:t>
            </a:r>
            <a:br>
              <a:rPr lang="en-US" sz="2400" dirty="0" smtClean="0"/>
            </a:br>
            <a:r>
              <a:rPr lang="en-US" sz="2400" dirty="0" smtClean="0"/>
              <a:t>C) Computers work faster</a:t>
            </a:r>
            <a:br>
              <a:rPr lang="en-US" sz="2400" dirty="0" smtClean="0"/>
            </a:br>
            <a:r>
              <a:rPr lang="en-US" sz="2400" dirty="0" smtClean="0"/>
              <a:t>D) Employees work remotely</a:t>
            </a:r>
          </a:p>
          <a:p>
            <a:endParaRPr lang="en-US" sz="2400" dirty="0" smtClean="0"/>
          </a:p>
          <a:p>
            <a:r>
              <a:rPr lang="en-US" sz="2400" b="1" dirty="0" smtClean="0"/>
              <a:t>4. Integrity in information security means:</a:t>
            </a:r>
          </a:p>
          <a:p>
            <a:r>
              <a:rPr lang="en-US" sz="2400" dirty="0" smtClean="0"/>
              <a:t>A) Data is accurate and unaltered</a:t>
            </a:r>
            <a:br>
              <a:rPr lang="en-US" sz="2400" dirty="0" smtClean="0"/>
            </a:br>
            <a:r>
              <a:rPr lang="en-US" sz="2400" dirty="0" smtClean="0"/>
              <a:t>B) Data is colorful</a:t>
            </a:r>
            <a:br>
              <a:rPr lang="en-US" sz="2400" dirty="0" smtClean="0"/>
            </a:br>
            <a:r>
              <a:rPr lang="en-US" sz="2400" dirty="0" smtClean="0"/>
              <a:t>C) Data is duplicated</a:t>
            </a:r>
            <a:br>
              <a:rPr lang="en-US" sz="2400" dirty="0" smtClean="0"/>
            </a:br>
            <a:r>
              <a:rPr lang="en-US" sz="2400" dirty="0" smtClean="0"/>
              <a:t>D) Data is compressed</a:t>
            </a:r>
          </a:p>
          <a:p>
            <a:endParaRPr lang="en-US" sz="2400" dirty="0" smtClean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.</a:t>
            </a:r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4257807" y="574876"/>
            <a:ext cx="38331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Laws in Information Security</a:t>
            </a:r>
          </a:p>
        </p:txBody>
      </p:sp>
    </p:spTree>
    <p:extLst>
      <p:ext uri="{BB962C8B-B14F-4D97-AF65-F5344CB8AC3E}">
        <p14:creationId xmlns="" xmlns:p14="http://schemas.microsoft.com/office/powerpoint/2010/main" val="2405334199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2284" y="1375863"/>
            <a:ext cx="10594258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5. Availability refers to:</a:t>
            </a:r>
          </a:p>
          <a:p>
            <a:r>
              <a:rPr lang="en-US" sz="2400" dirty="0" smtClean="0"/>
              <a:t>A) Data being available to authorized users when needed</a:t>
            </a:r>
            <a:br>
              <a:rPr lang="en-US" sz="2400" dirty="0" smtClean="0"/>
            </a:br>
            <a:r>
              <a:rPr lang="en-US" sz="2400" dirty="0" smtClean="0"/>
              <a:t>B) Data being hidden permanently</a:t>
            </a:r>
            <a:br>
              <a:rPr lang="en-US" sz="2400" dirty="0" smtClean="0"/>
            </a:br>
            <a:r>
              <a:rPr lang="en-US" sz="2400" dirty="0" smtClean="0"/>
              <a:t>C) Data being printed daily</a:t>
            </a:r>
            <a:br>
              <a:rPr lang="en-US" sz="2400" dirty="0" smtClean="0"/>
            </a:br>
            <a:r>
              <a:rPr lang="en-US" sz="2400" dirty="0" smtClean="0"/>
              <a:t>D) Data being sold online</a:t>
            </a:r>
          </a:p>
          <a:p>
            <a:endParaRPr lang="en-US" sz="2400" dirty="0" smtClean="0"/>
          </a:p>
          <a:p>
            <a:r>
              <a:rPr lang="en-US" sz="2400" b="1" dirty="0" smtClean="0"/>
              <a:t>6. Which of the following is considered unethical in IT?</a:t>
            </a:r>
          </a:p>
          <a:p>
            <a:r>
              <a:rPr lang="en-US" sz="2400" dirty="0" smtClean="0"/>
              <a:t>A) Respecting privacy</a:t>
            </a:r>
            <a:br>
              <a:rPr lang="en-US" sz="2400" dirty="0" smtClean="0"/>
            </a:br>
            <a:r>
              <a:rPr lang="en-US" sz="2400" dirty="0" smtClean="0"/>
              <a:t>B) Software piracy</a:t>
            </a:r>
            <a:br>
              <a:rPr lang="en-US" sz="2400" dirty="0" smtClean="0"/>
            </a:br>
            <a:r>
              <a:rPr lang="en-US" sz="2400" dirty="0" smtClean="0"/>
              <a:t>C) Using strong passwords</a:t>
            </a:r>
            <a:br>
              <a:rPr lang="en-US" sz="2400" dirty="0" smtClean="0"/>
            </a:br>
            <a:r>
              <a:rPr lang="en-US" sz="2400" dirty="0" smtClean="0"/>
              <a:t>D) Encrypting data</a:t>
            </a:r>
          </a:p>
          <a:p>
            <a:endParaRPr lang="en-US" sz="2000" dirty="0" smtClean="0"/>
          </a:p>
          <a:p>
            <a:pPr marL="285750" indent="-285750" algn="just">
              <a:lnSpc>
                <a:spcPct val="200000"/>
              </a:lnSpc>
            </a:pPr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4257807" y="574876"/>
            <a:ext cx="38331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Laws in Information Security</a:t>
            </a:r>
          </a:p>
        </p:txBody>
      </p:sp>
    </p:spTree>
    <p:extLst>
      <p:ext uri="{BB962C8B-B14F-4D97-AF65-F5344CB8AC3E}">
        <p14:creationId xmlns="" xmlns:p14="http://schemas.microsoft.com/office/powerpoint/2010/main" val="2405334199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2284" y="1375863"/>
            <a:ext cx="1059425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7. A cybercrime is:</a:t>
            </a:r>
          </a:p>
          <a:p>
            <a:r>
              <a:rPr lang="en-US" sz="2400" dirty="0" smtClean="0"/>
              <a:t>A) A traditional paper-based crime</a:t>
            </a:r>
            <a:br>
              <a:rPr lang="en-US" sz="2400" dirty="0" smtClean="0"/>
            </a:br>
            <a:r>
              <a:rPr lang="en-US" sz="2400" dirty="0" smtClean="0"/>
              <a:t>B) A crime committed using computers or networks</a:t>
            </a:r>
            <a:br>
              <a:rPr lang="en-US" sz="2400" dirty="0" smtClean="0"/>
            </a:br>
            <a:r>
              <a:rPr lang="en-US" sz="2400" dirty="0" smtClean="0"/>
              <a:t>C) A banking transaction</a:t>
            </a:r>
            <a:br>
              <a:rPr lang="en-US" sz="2400" dirty="0" smtClean="0"/>
            </a:br>
            <a:r>
              <a:rPr lang="en-US" sz="2400" dirty="0" smtClean="0"/>
              <a:t>D) A business meeting</a:t>
            </a:r>
          </a:p>
          <a:p>
            <a:endParaRPr lang="en-US" sz="2400" dirty="0" smtClean="0"/>
          </a:p>
          <a:p>
            <a:r>
              <a:rPr lang="en-US" sz="2400" b="1" dirty="0" smtClean="0"/>
              <a:t>8. Phishing attacks are mainly used to:</a:t>
            </a:r>
          </a:p>
          <a:p>
            <a:r>
              <a:rPr lang="en-US" sz="2400" dirty="0" smtClean="0"/>
              <a:t>A) Improve network speed</a:t>
            </a:r>
            <a:br>
              <a:rPr lang="en-US" sz="2400" dirty="0" smtClean="0"/>
            </a:br>
            <a:r>
              <a:rPr lang="en-US" sz="2400" dirty="0" smtClean="0"/>
              <a:t>B) Steal sensitive information</a:t>
            </a:r>
            <a:br>
              <a:rPr lang="en-US" sz="2400" dirty="0" smtClean="0"/>
            </a:br>
            <a:r>
              <a:rPr lang="en-US" sz="2400" dirty="0" smtClean="0"/>
              <a:t>C) Repair computers</a:t>
            </a:r>
            <a:br>
              <a:rPr lang="en-US" sz="2400" dirty="0" smtClean="0"/>
            </a:br>
            <a:r>
              <a:rPr lang="en-US" sz="2400" dirty="0" smtClean="0"/>
              <a:t>D) Compress files</a:t>
            </a:r>
          </a:p>
          <a:p>
            <a:endParaRPr lang="en-US" sz="2400" dirty="0" smtClean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4257807" y="574876"/>
            <a:ext cx="38331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Laws in Information Security</a:t>
            </a:r>
          </a:p>
        </p:txBody>
      </p:sp>
    </p:spTree>
    <p:extLst>
      <p:ext uri="{BB962C8B-B14F-4D97-AF65-F5344CB8AC3E}">
        <p14:creationId xmlns="" xmlns:p14="http://schemas.microsoft.com/office/powerpoint/2010/main" val="2405334199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2284" y="1375863"/>
            <a:ext cx="10594258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9. Malware refers to:</a:t>
            </a:r>
          </a:p>
          <a:p>
            <a:r>
              <a:rPr lang="en-US" sz="2400" dirty="0" smtClean="0"/>
              <a:t>A) Useful software</a:t>
            </a:r>
            <a:br>
              <a:rPr lang="en-US" sz="2400" dirty="0" smtClean="0"/>
            </a:br>
            <a:r>
              <a:rPr lang="en-US" sz="2400" dirty="0" smtClean="0"/>
              <a:t>B) Harmful software designed to damage systems</a:t>
            </a:r>
            <a:br>
              <a:rPr lang="en-US" sz="2400" dirty="0" smtClean="0"/>
            </a:br>
            <a:r>
              <a:rPr lang="en-US" sz="2400" dirty="0" smtClean="0"/>
              <a:t>C) Educational tools</a:t>
            </a:r>
            <a:br>
              <a:rPr lang="en-US" sz="2400" dirty="0" smtClean="0"/>
            </a:br>
            <a:r>
              <a:rPr lang="en-US" sz="2400" dirty="0" smtClean="0"/>
              <a:t>D) Networking cables</a:t>
            </a:r>
          </a:p>
          <a:p>
            <a:endParaRPr lang="en-US" sz="2400" dirty="0" smtClean="0"/>
          </a:p>
          <a:p>
            <a:r>
              <a:rPr lang="en-US" sz="2400" b="1" dirty="0" smtClean="0"/>
              <a:t>10. Which law deals with cybercrime and electronic commerce in India?</a:t>
            </a:r>
          </a:p>
          <a:p>
            <a:r>
              <a:rPr lang="en-US" sz="2400" dirty="0" smtClean="0"/>
              <a:t>A) Patent Act</a:t>
            </a:r>
            <a:br>
              <a:rPr lang="en-US" sz="2400" dirty="0" smtClean="0"/>
            </a:br>
            <a:r>
              <a:rPr lang="en-US" sz="2400" dirty="0" smtClean="0"/>
              <a:t>B) IT Act 2000</a:t>
            </a:r>
            <a:br>
              <a:rPr lang="en-US" sz="2400" dirty="0" smtClean="0"/>
            </a:br>
            <a:r>
              <a:rPr lang="en-US" sz="2400" dirty="0" smtClean="0"/>
              <a:t>C) Factory Act</a:t>
            </a:r>
            <a:br>
              <a:rPr lang="en-US" sz="2400" dirty="0" smtClean="0"/>
            </a:br>
            <a:r>
              <a:rPr lang="en-US" sz="2400" dirty="0" smtClean="0"/>
              <a:t>D) Banking Act</a:t>
            </a:r>
          </a:p>
          <a:p>
            <a:endParaRPr lang="en-US" sz="2400" dirty="0" smtClean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4257807" y="574876"/>
            <a:ext cx="38331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Laws in Information Security</a:t>
            </a:r>
          </a:p>
        </p:txBody>
      </p:sp>
    </p:spTree>
    <p:extLst>
      <p:ext uri="{BB962C8B-B14F-4D97-AF65-F5344CB8AC3E}">
        <p14:creationId xmlns="" xmlns:p14="http://schemas.microsoft.com/office/powerpoint/2010/main" val="2405334199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4000" cy="455426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"/>
          </p:nvPr>
        </p:nvSpPr>
        <p:spPr>
          <a:xfrm>
            <a:off x="1541929" y="519952"/>
            <a:ext cx="9144000" cy="5629835"/>
          </a:xfrm>
        </p:spPr>
        <p:txBody>
          <a:bodyPr>
            <a:normAutofit/>
          </a:bodyPr>
          <a:lstStyle/>
          <a:p>
            <a:pPr algn="l"/>
            <a:r>
              <a:rPr lang="en-US" b="1" dirty="0" smtClean="0"/>
              <a:t>11. Unauthorized access to computer systems is called:</a:t>
            </a:r>
          </a:p>
          <a:p>
            <a:pPr algn="l"/>
            <a:r>
              <a:rPr lang="en-US" dirty="0" smtClean="0"/>
              <a:t>A) Hacking</a:t>
            </a:r>
            <a:br>
              <a:rPr lang="en-US" dirty="0" smtClean="0"/>
            </a:br>
            <a:r>
              <a:rPr lang="en-US" dirty="0" smtClean="0"/>
              <a:t>B) Browsing</a:t>
            </a:r>
            <a:br>
              <a:rPr lang="en-US" dirty="0" smtClean="0"/>
            </a:br>
            <a:r>
              <a:rPr lang="en-US" dirty="0" smtClean="0"/>
              <a:t>C) Programming</a:t>
            </a:r>
            <a:br>
              <a:rPr lang="en-US" dirty="0" smtClean="0"/>
            </a:br>
            <a:r>
              <a:rPr lang="en-US" dirty="0" smtClean="0"/>
              <a:t>D) </a:t>
            </a:r>
            <a:r>
              <a:rPr lang="en-US" dirty="0" err="1" smtClean="0"/>
              <a:t>Networkin</a:t>
            </a:r>
            <a:endParaRPr lang="en-US" dirty="0" smtClean="0"/>
          </a:p>
          <a:p>
            <a:pPr algn="l"/>
            <a:r>
              <a:rPr lang="en-US" b="1" dirty="0" smtClean="0"/>
              <a:t>12. Which of the following improves password security?</a:t>
            </a:r>
          </a:p>
          <a:p>
            <a:pPr algn="l"/>
            <a:r>
              <a:rPr lang="en-US" dirty="0" smtClean="0"/>
              <a:t>A) Using “12345”</a:t>
            </a:r>
            <a:br>
              <a:rPr lang="en-US" dirty="0" smtClean="0"/>
            </a:br>
            <a:r>
              <a:rPr lang="en-US" dirty="0" smtClean="0"/>
              <a:t>B) Sharing passwords publicly</a:t>
            </a:r>
            <a:br>
              <a:rPr lang="en-US" dirty="0" smtClean="0"/>
            </a:br>
            <a:r>
              <a:rPr lang="en-US" dirty="0" smtClean="0"/>
              <a:t>C) Using strong and unique passwords</a:t>
            </a:r>
            <a:br>
              <a:rPr lang="en-US" dirty="0" smtClean="0"/>
            </a:br>
            <a:r>
              <a:rPr lang="en-US" dirty="0" smtClean="0"/>
              <a:t>D) Writing passwords on walls</a:t>
            </a:r>
          </a:p>
          <a:p>
            <a:pPr algn="l"/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2284" y="1375863"/>
            <a:ext cx="1059425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13. Encryption is used to:</a:t>
            </a:r>
          </a:p>
          <a:p>
            <a:r>
              <a:rPr lang="en-US" sz="2400" dirty="0" smtClean="0"/>
              <a:t>A) Increase monitor brightness</a:t>
            </a:r>
            <a:br>
              <a:rPr lang="en-US" sz="2400" dirty="0" smtClean="0"/>
            </a:br>
            <a:r>
              <a:rPr lang="en-US" sz="2400" dirty="0" smtClean="0"/>
              <a:t>B) Convert data into secure coded form</a:t>
            </a:r>
            <a:br>
              <a:rPr lang="en-US" sz="2400" dirty="0" smtClean="0"/>
            </a:br>
            <a:r>
              <a:rPr lang="en-US" sz="2400" dirty="0" smtClean="0"/>
              <a:t>C) Delete software</a:t>
            </a:r>
            <a:br>
              <a:rPr lang="en-US" sz="2400" dirty="0" smtClean="0"/>
            </a:br>
            <a:r>
              <a:rPr lang="en-US" sz="2400" dirty="0" smtClean="0"/>
              <a:t>D) Print documents faster</a:t>
            </a:r>
          </a:p>
          <a:p>
            <a:endParaRPr lang="en-US" sz="2400" dirty="0" smtClean="0"/>
          </a:p>
          <a:p>
            <a:r>
              <a:rPr lang="en-US" sz="2400" b="1" dirty="0" smtClean="0"/>
              <a:t>14. Which of the following is an example of biometric authentication?</a:t>
            </a:r>
          </a:p>
          <a:p>
            <a:r>
              <a:rPr lang="en-US" sz="2400" dirty="0" smtClean="0"/>
              <a:t>A) PIN number</a:t>
            </a:r>
            <a:br>
              <a:rPr lang="en-US" sz="2400" dirty="0" smtClean="0"/>
            </a:br>
            <a:r>
              <a:rPr lang="en-US" sz="2400" dirty="0" smtClean="0"/>
              <a:t>B) Password</a:t>
            </a:r>
            <a:br>
              <a:rPr lang="en-US" sz="2400" dirty="0" smtClean="0"/>
            </a:br>
            <a:r>
              <a:rPr lang="en-US" sz="2400" dirty="0" smtClean="0"/>
              <a:t>C) Fingerprint scan</a:t>
            </a:r>
            <a:br>
              <a:rPr lang="en-US" sz="2400" dirty="0" smtClean="0"/>
            </a:br>
            <a:r>
              <a:rPr lang="en-US" sz="2400" dirty="0" smtClean="0"/>
              <a:t>D) Username</a:t>
            </a:r>
          </a:p>
          <a:p>
            <a:endParaRPr lang="en-US" sz="2400" dirty="0" smtClean="0"/>
          </a:p>
          <a:p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4257807" y="574876"/>
            <a:ext cx="38331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Laws in Information Security</a:t>
            </a:r>
          </a:p>
        </p:txBody>
      </p:sp>
    </p:spTree>
    <p:extLst>
      <p:ext uri="{BB962C8B-B14F-4D97-AF65-F5344CB8AC3E}">
        <p14:creationId xmlns="" xmlns:p14="http://schemas.microsoft.com/office/powerpoint/2010/main" val="2405334199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2284" y="1375863"/>
            <a:ext cx="1059425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15. Ethical hacking is performed to:</a:t>
            </a:r>
          </a:p>
          <a:p>
            <a:r>
              <a:rPr lang="en-US" sz="2400" dirty="0" smtClean="0"/>
              <a:t>A) Steal information</a:t>
            </a:r>
            <a:br>
              <a:rPr lang="en-US" sz="2400" dirty="0" smtClean="0"/>
            </a:br>
            <a:r>
              <a:rPr lang="en-US" sz="2400" dirty="0" smtClean="0"/>
              <a:t>B) Test and improve system security</a:t>
            </a:r>
            <a:br>
              <a:rPr lang="en-US" sz="2400" dirty="0" smtClean="0"/>
            </a:br>
            <a:r>
              <a:rPr lang="en-US" sz="2400" dirty="0" smtClean="0"/>
              <a:t>C) Damage networks</a:t>
            </a:r>
            <a:br>
              <a:rPr lang="en-US" sz="2400" dirty="0" smtClean="0"/>
            </a:br>
            <a:r>
              <a:rPr lang="en-US" sz="2400" dirty="0" smtClean="0"/>
              <a:t>D) Spread viruses</a:t>
            </a:r>
          </a:p>
          <a:p>
            <a:endParaRPr lang="en-US" sz="2400" dirty="0" smtClean="0"/>
          </a:p>
          <a:p>
            <a:r>
              <a:rPr lang="en-US" sz="2400" b="1" dirty="0" smtClean="0"/>
              <a:t>16. A firewall is used to:</a:t>
            </a:r>
          </a:p>
          <a:p>
            <a:r>
              <a:rPr lang="en-US" sz="2400" dirty="0" smtClean="0"/>
              <a:t>A) Cool the computer</a:t>
            </a:r>
            <a:br>
              <a:rPr lang="en-US" sz="2400" dirty="0" smtClean="0"/>
            </a:br>
            <a:r>
              <a:rPr lang="en-US" sz="2400" dirty="0" smtClean="0"/>
              <a:t>B) Protect networks from unauthorized access</a:t>
            </a:r>
            <a:br>
              <a:rPr lang="en-US" sz="2400" dirty="0" smtClean="0"/>
            </a:br>
            <a:r>
              <a:rPr lang="en-US" sz="2400" dirty="0" smtClean="0"/>
              <a:t>C) Increase storage</a:t>
            </a:r>
            <a:br>
              <a:rPr lang="en-US" sz="2400" dirty="0" smtClean="0"/>
            </a:br>
            <a:r>
              <a:rPr lang="en-US" sz="2400" dirty="0" smtClean="0"/>
              <a:t>D) Create presentations</a:t>
            </a:r>
          </a:p>
          <a:p>
            <a:endParaRPr lang="en-US" sz="2400" dirty="0" smtClean="0"/>
          </a:p>
          <a:p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4257807" y="574876"/>
            <a:ext cx="38331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Laws in Information Security</a:t>
            </a:r>
          </a:p>
        </p:txBody>
      </p:sp>
    </p:spTree>
    <p:extLst>
      <p:ext uri="{BB962C8B-B14F-4D97-AF65-F5344CB8AC3E}">
        <p14:creationId xmlns="" xmlns:p14="http://schemas.microsoft.com/office/powerpoint/2010/main" val="2405334199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2284" y="1375863"/>
            <a:ext cx="1059425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17. Which of the following is a social engineering attack?</a:t>
            </a:r>
          </a:p>
          <a:p>
            <a:pPr marL="457200" indent="-457200">
              <a:buAutoNum type="alphaUcParenR"/>
            </a:pPr>
            <a:r>
              <a:rPr lang="en-US" sz="2400" dirty="0" smtClean="0"/>
              <a:t>Phishing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B) Compiling</a:t>
            </a:r>
            <a:br>
              <a:rPr lang="en-US" sz="2400" dirty="0" smtClean="0"/>
            </a:br>
            <a:r>
              <a:rPr lang="en-US" sz="2400" dirty="0" smtClean="0"/>
              <a:t>C) Debugging</a:t>
            </a:r>
            <a:br>
              <a:rPr lang="en-US" sz="2400" dirty="0" smtClean="0"/>
            </a:br>
            <a:r>
              <a:rPr lang="en-US" sz="2400" dirty="0" smtClean="0"/>
              <a:t>D) </a:t>
            </a:r>
            <a:r>
              <a:rPr lang="en-US" sz="2400" dirty="0" smtClean="0"/>
              <a:t>Formatting</a:t>
            </a:r>
          </a:p>
          <a:p>
            <a:pPr marL="457200" indent="-457200"/>
            <a:endParaRPr lang="en-US" sz="2400" dirty="0" smtClean="0"/>
          </a:p>
          <a:p>
            <a:r>
              <a:rPr lang="en-US" sz="2400" b="1" dirty="0" smtClean="0"/>
              <a:t>18. Data privacy refers to:</a:t>
            </a:r>
          </a:p>
          <a:p>
            <a:r>
              <a:rPr lang="en-US" sz="2400" dirty="0" smtClean="0"/>
              <a:t>A) Public sharing of all information</a:t>
            </a:r>
            <a:br>
              <a:rPr lang="en-US" sz="2400" dirty="0" smtClean="0"/>
            </a:br>
            <a:r>
              <a:rPr lang="en-US" sz="2400" dirty="0" smtClean="0"/>
              <a:t>B) Protection of personal and sensitive data</a:t>
            </a:r>
            <a:br>
              <a:rPr lang="en-US" sz="2400" dirty="0" smtClean="0"/>
            </a:br>
            <a:r>
              <a:rPr lang="en-US" sz="2400" dirty="0" smtClean="0"/>
              <a:t>C) Deleting all files</a:t>
            </a:r>
            <a:br>
              <a:rPr lang="en-US" sz="2400" dirty="0" smtClean="0"/>
            </a:br>
            <a:r>
              <a:rPr lang="en-US" sz="2400" dirty="0" smtClean="0"/>
              <a:t>D) Open internet access</a:t>
            </a:r>
          </a:p>
          <a:p>
            <a:endParaRPr lang="en-US" sz="2400" dirty="0" smtClean="0"/>
          </a:p>
          <a:p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4257807" y="574876"/>
            <a:ext cx="38331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Laws in Information Security</a:t>
            </a:r>
          </a:p>
        </p:txBody>
      </p:sp>
    </p:spTree>
    <p:extLst>
      <p:ext uri="{BB962C8B-B14F-4D97-AF65-F5344CB8AC3E}">
        <p14:creationId xmlns="" xmlns:p14="http://schemas.microsoft.com/office/powerpoint/2010/main" val="2405334199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2284" y="1375863"/>
            <a:ext cx="10594258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19. Digital signatures are mainly used for:</a:t>
            </a:r>
          </a:p>
          <a:p>
            <a:r>
              <a:rPr lang="en-US" sz="2400" dirty="0" smtClean="0"/>
              <a:t>A) Playing games</a:t>
            </a:r>
            <a:br>
              <a:rPr lang="en-US" sz="2400" dirty="0" smtClean="0"/>
            </a:br>
            <a:r>
              <a:rPr lang="en-US" sz="2400" dirty="0" smtClean="0"/>
              <a:t>B) Authenticating electronic documents</a:t>
            </a:r>
            <a:br>
              <a:rPr lang="en-US" sz="2400" dirty="0" smtClean="0"/>
            </a:br>
            <a:r>
              <a:rPr lang="en-US" sz="2400" dirty="0" smtClean="0"/>
              <a:t>C) Increasing internet speed</a:t>
            </a:r>
            <a:br>
              <a:rPr lang="en-US" sz="2400" dirty="0" smtClean="0"/>
            </a:br>
            <a:r>
              <a:rPr lang="en-US" sz="2400" dirty="0" smtClean="0"/>
              <a:t>D) File compression</a:t>
            </a:r>
          </a:p>
          <a:p>
            <a:endParaRPr lang="en-US" sz="2400" dirty="0" smtClean="0"/>
          </a:p>
          <a:p>
            <a:r>
              <a:rPr lang="en-US" sz="2400" b="1" dirty="0" smtClean="0"/>
              <a:t>20. Which of the following is the best practice for </a:t>
            </a:r>
            <a:r>
              <a:rPr lang="en-US" sz="2400" b="1" dirty="0" err="1" smtClean="0"/>
              <a:t>cybersecurity</a:t>
            </a:r>
            <a:r>
              <a:rPr lang="en-US" sz="2400" b="1" dirty="0" smtClean="0"/>
              <a:t>?</a:t>
            </a:r>
          </a:p>
          <a:p>
            <a:r>
              <a:rPr lang="en-US" sz="2400" dirty="0" smtClean="0"/>
              <a:t>A) Ignoring software updates</a:t>
            </a:r>
            <a:br>
              <a:rPr lang="en-US" sz="2400" dirty="0" smtClean="0"/>
            </a:br>
            <a:r>
              <a:rPr lang="en-US" sz="2400" dirty="0" smtClean="0"/>
              <a:t>B) Sharing passwords with friends</a:t>
            </a:r>
            <a:br>
              <a:rPr lang="en-US" sz="2400" dirty="0" smtClean="0"/>
            </a:br>
            <a:r>
              <a:rPr lang="en-US" sz="2400" dirty="0" smtClean="0"/>
              <a:t>C) Regularly updating software and antivirus</a:t>
            </a:r>
            <a:br>
              <a:rPr lang="en-US" sz="2400" dirty="0" smtClean="0"/>
            </a:br>
            <a:r>
              <a:rPr lang="en-US" sz="2400" dirty="0" smtClean="0"/>
              <a:t>D) Clicking unknown email links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4257807" y="574876"/>
            <a:ext cx="38331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Laws in Information Security</a:t>
            </a:r>
          </a:p>
        </p:txBody>
      </p:sp>
    </p:spTree>
    <p:extLst>
      <p:ext uri="{BB962C8B-B14F-4D97-AF65-F5344CB8AC3E}">
        <p14:creationId xmlns="" xmlns:p14="http://schemas.microsoft.com/office/powerpoint/2010/main" val="240533419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1549</Words>
  <Application>Microsoft Office PowerPoint</Application>
  <PresentationFormat>Custom</PresentationFormat>
  <Paragraphs>209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HP</cp:lastModifiedBy>
  <cp:revision>13</cp:revision>
  <dcterms:modified xsi:type="dcterms:W3CDTF">2026-05-20T03:36:11Z</dcterms:modified>
</cp:coreProperties>
</file>