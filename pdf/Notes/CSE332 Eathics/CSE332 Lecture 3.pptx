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316" r:id="rId3"/>
    <p:sldId id="317" r:id="rId4"/>
    <p:sldId id="318" r:id="rId5"/>
    <p:sldId id="319" r:id="rId6"/>
    <p:sldId id="320" r:id="rId7"/>
    <p:sldId id="330" r:id="rId8"/>
    <p:sldId id="321" r:id="rId9"/>
    <p:sldId id="322" r:id="rId10"/>
    <p:sldId id="323" r:id="rId11"/>
    <p:sldId id="325" r:id="rId12"/>
    <p:sldId id="324" r:id="rId13"/>
    <p:sldId id="326" r:id="rId14"/>
    <p:sldId id="327" r:id="rId15"/>
    <p:sldId id="328" r:id="rId16"/>
    <p:sldId id="329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58" autoAdjust="0"/>
    <p:restoredTop sz="94660"/>
  </p:normalViewPr>
  <p:slideViewPr>
    <p:cSldViewPr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>
            <a:extLst/>
          </a:blip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"/>
          <p:cNvSpPr txBox="1"/>
          <p:nvPr/>
        </p:nvSpPr>
        <p:spPr>
          <a:xfrm>
            <a:off x="1842770" y="770255"/>
            <a:ext cx="7865110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5400" b="1">
                <a:solidFill>
                  <a:srgbClr val="10253F"/>
                </a:solidFill>
                <a:latin typeface="Berlin Sans FB Demi"/>
                <a:ea typeface="Berlin Sans FB Demi"/>
                <a:cs typeface="Berlin Sans FB Demi"/>
                <a:sym typeface="Berlin Sans FB Demi"/>
              </a:defRPr>
            </a:pPr>
            <a:r>
              <a:rPr lang="en-US" dirty="0" smtClean="0"/>
              <a:t>CSE332</a:t>
            </a:r>
            <a:r>
              <a:rPr/>
              <a:t/>
            </a:r>
            <a:br>
              <a:rPr/>
            </a:br>
            <a:r>
              <a:rPr lang="en-US" dirty="0" smtClean="0"/>
              <a:t>INDUSTRY ETHICS AND LEGAL ISSUES</a:t>
            </a:r>
            <a:endParaRPr/>
          </a:p>
        </p:txBody>
      </p:sp>
      <p:sp>
        <p:nvSpPr>
          <p:cNvPr id="106" name="Line 3"/>
          <p:cNvSpPr/>
          <p:nvPr/>
        </p:nvSpPr>
        <p:spPr>
          <a:xfrm>
            <a:off x="2566989" y="3789364"/>
            <a:ext cx="7058025" cy="1587"/>
          </a:xfrm>
          <a:prstGeom prst="line">
            <a:avLst/>
          </a:prstGeom>
          <a:ln w="38160">
            <a:solidFill>
              <a:srgbClr val="F79646"/>
            </a:solidFill>
            <a:miter/>
          </a:ln>
          <a:effectLst>
            <a:outerShdw dist="23040" dir="5400000" rotWithShape="0">
              <a:srgbClr val="000000">
                <a:alpha val="3503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09588" y="1571612"/>
            <a:ext cx="10644262" cy="4038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400" b="1" dirty="0" smtClean="0">
              <a:solidFill>
                <a:srgbClr val="FF0000"/>
              </a:solidFill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- Creating an ethical work environment</a:t>
            </a:r>
            <a:b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</a:br>
            <a: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- Ethical decision making</a:t>
            </a:r>
            <a:b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</a:br>
            <a:endParaRPr kumimoji="0" lang="en-GB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8348" y="642918"/>
            <a:ext cx="83582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dirty="0" smtClean="0">
                <a:solidFill>
                  <a:schemeClr val="accent6"/>
                </a:solidFill>
                <a:cs typeface="Arial" charset="0"/>
              </a:rPr>
              <a:t>Creating an Ethical Work Environment </a:t>
            </a:r>
            <a:endParaRPr lang="en-US" sz="3600" dirty="0">
              <a:solidFill>
                <a:schemeClr val="accent6"/>
              </a:solidFill>
              <a:cs typeface="Arial" charset="0"/>
            </a:endParaRPr>
          </a:p>
        </p:txBody>
      </p:sp>
      <p:pic>
        <p:nvPicPr>
          <p:cNvPr id="3" name="Picture 2" descr="C:\Users\pc\Desktop\Lpu CSE332\professional-and-ethical-issues-and-responsibilities-29-63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121920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6712" y="1357298"/>
            <a:ext cx="1078713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4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Employees must have a knowledgeable resource with whom they can discuss perceived unethical practices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3400"/>
            <a:ext cx="10596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 smtClean="0">
                <a:solidFill>
                  <a:schemeClr val="accent6"/>
                </a:solidFill>
              </a:rPr>
              <a:t>                Creating </a:t>
            </a:r>
            <a:r>
              <a:rPr lang="en-US" sz="4000" dirty="0">
                <a:solidFill>
                  <a:schemeClr val="accent6"/>
                </a:solidFill>
              </a:rPr>
              <a:t>an Ethical Work Environment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09800"/>
            <a:ext cx="1219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5"/>
          <p:cNvSpPr txBox="1">
            <a:spLocks noChangeArrowheads="1"/>
          </p:cNvSpPr>
          <p:nvPr/>
        </p:nvSpPr>
        <p:spPr bwMode="auto">
          <a:xfrm>
            <a:off x="0" y="1428736"/>
            <a:ext cx="116919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Manager’s checklist for establishing an ethical work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836" y="533400"/>
            <a:ext cx="10287072" cy="7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>
                <a:solidFill>
                  <a:schemeClr val="accent6"/>
                </a:solidFill>
              </a:rPr>
              <a:t>Creating an Ethical Work Environment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pc\Desktop\Lpu CSE332\imag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500306"/>
            <a:ext cx="11811040" cy="4357694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57200" y="228600"/>
            <a:ext cx="10639460" cy="118903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4400" b="1" i="0" u="none" strike="noStrike" kern="0" cap="none" spc="0" normalizeH="0" baseline="0" noProof="0" dirty="0" smtClean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DECISION</a:t>
            </a: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 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3968" y="1214422"/>
            <a:ext cx="762003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1. Career Choice Scenario</a:t>
            </a:r>
          </a:p>
          <a:p>
            <a:r>
              <a:rPr lang="en-US" dirty="0" smtClean="0"/>
              <a:t>You have two job offers:</a:t>
            </a:r>
          </a:p>
          <a:p>
            <a:r>
              <a:rPr lang="en-US" b="1" dirty="0" smtClean="0"/>
              <a:t>Job A:</a:t>
            </a:r>
            <a:r>
              <a:rPr lang="en-US" dirty="0" smtClean="0"/>
              <a:t> Higher salary but located far from your family.</a:t>
            </a:r>
          </a:p>
          <a:p>
            <a:r>
              <a:rPr lang="en-US" b="1" dirty="0" smtClean="0"/>
              <a:t>Job B:</a:t>
            </a:r>
            <a:r>
              <a:rPr lang="en-US" dirty="0" smtClean="0"/>
              <a:t> Lower salary but close to home with better work-life balance.</a:t>
            </a:r>
          </a:p>
          <a:p>
            <a:r>
              <a:rPr lang="en-US" b="1" dirty="0" smtClean="0"/>
              <a:t>Decision:</a:t>
            </a:r>
            <a:r>
              <a:rPr lang="en-US" dirty="0" smtClean="0"/>
              <a:t> Which job should you choose and why?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523968" y="3429000"/>
            <a:ext cx="64294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2.Business </a:t>
            </a:r>
            <a:r>
              <a:rPr lang="en-US" b="1" dirty="0" smtClean="0"/>
              <a:t>Decision Scenario</a:t>
            </a:r>
          </a:p>
          <a:p>
            <a:r>
              <a:rPr lang="en-US" dirty="0" smtClean="0"/>
              <a:t>You own a small café and notice that sales are decreasing.</a:t>
            </a:r>
          </a:p>
          <a:p>
            <a:r>
              <a:rPr lang="en-US" dirty="0" smtClean="0"/>
              <a:t>Options:</a:t>
            </a:r>
          </a:p>
          <a:p>
            <a:r>
              <a:rPr lang="en-US" dirty="0" smtClean="0"/>
              <a:t>Introduce new menu items.</a:t>
            </a:r>
          </a:p>
          <a:p>
            <a:r>
              <a:rPr lang="en-US" dirty="0" smtClean="0"/>
              <a:t>Reduce prices.</a:t>
            </a:r>
          </a:p>
          <a:p>
            <a:r>
              <a:rPr lang="en-US" dirty="0" smtClean="0"/>
              <a:t>Spend money on advertising.</a:t>
            </a:r>
          </a:p>
          <a:p>
            <a:r>
              <a:rPr lang="en-US" b="1" dirty="0" smtClean="0"/>
              <a:t>Decision:</a:t>
            </a:r>
            <a:r>
              <a:rPr lang="en-US" dirty="0" smtClean="0"/>
              <a:t> Which strategy would you try first?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pc\Desktop\Lpu CSE332\hand-writing-decision-making-process-whiteboard-male-business-ooda-loop-observe-orient-decide-act-black-felt-tip-marker-4015091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11953916" cy="471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57200" y="928670"/>
            <a:ext cx="11068088" cy="7143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DECISION MAKING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9522" y="2071678"/>
            <a:ext cx="11358642" cy="4643470"/>
          </a:xfrm>
          <a:prstGeom prst="rect">
            <a:avLst/>
          </a:prstGeom>
          <a:noFill/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95274" y="642918"/>
            <a:ext cx="11072890" cy="118903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INCLUDING ETHICAL CONSIDERATIONS IN DECISION MAKING</a:t>
            </a:r>
            <a:endParaRPr kumimoji="0" lang="en-I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628650" y="1468438"/>
            <a:ext cx="10968076" cy="5189537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I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A problem statement is a clear, concise description of the issue that needs to be addressed.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charset="0"/>
              <a:buNone/>
              <a:tabLst/>
              <a:defRPr/>
            </a:pPr>
            <a:r>
              <a:rPr kumimoji="0" lang="en-I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It Answers-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What do people observe that causes them to think there is a problem?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Who is directly affected by the problem?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Is anyone else affected?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How often does the problem occur?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What is the impact of the problem?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How serious is the problem?</a:t>
            </a:r>
            <a:endParaRPr kumimoji="0" lang="en-IN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523968" y="785794"/>
            <a:ext cx="9644130" cy="58259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DEVELOP  A  PROBLEM  STATEMENT</a:t>
            </a:r>
            <a:endParaRPr kumimoji="0" lang="en-IN" sz="3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2428868"/>
            <a:ext cx="5167306" cy="4214842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95208" y="1357298"/>
            <a:ext cx="4643470" cy="642942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Calibri Light"/>
                <a:cs typeface="Calibri Light"/>
                <a:sym typeface="Calibri Light"/>
              </a:rPr>
              <a:t>Poor problem statement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381752" y="1357298"/>
            <a:ext cx="5072098" cy="64294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 smtClean="0">
                <a:solidFill>
                  <a:srgbClr val="FF0000"/>
                </a:solidFill>
                <a:latin typeface="Calibri Light"/>
                <a:ea typeface="Calibri Light"/>
                <a:cs typeface="Calibri Light"/>
                <a:sym typeface="Calibri Light"/>
              </a:rPr>
              <a:t>Good</a:t>
            </a:r>
            <a:r>
              <a:rPr kumimoji="0" lang="en-GB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Calibri Light"/>
                <a:cs typeface="Calibri Light"/>
                <a:sym typeface="Calibri Light"/>
              </a:rPr>
              <a:t> problem statement </a:t>
            </a: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53190" y="2500306"/>
            <a:ext cx="5524490" cy="414340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2357430"/>
            <a:ext cx="11210964" cy="4214842"/>
          </a:xfrm>
          <a:prstGeom prst="rect">
            <a:avLst/>
          </a:prstGeom>
        </p:spPr>
        <p:txBody>
          <a:bodyPr>
            <a:normAutofit fontScale="98125"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It is ideal to enlist the help of others, including stakeholders, to identify several alternative solutions to the problem.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Brainstorming with others will increase your chances of identifying a broad range of alternatives and determining the best solution.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Try not to be critical of ideas, as any negative criticism will tend to shut down the discussion, and the flow of ideas will dry up.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Simply write down the ideas as they are suggested.</a:t>
            </a:r>
            <a:endParaRPr kumimoji="0" lang="en-I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881158" y="92867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IDENTIFY ALTERNATIVES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200" y="2143116"/>
            <a:ext cx="11425278" cy="4500594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095340" y="714356"/>
            <a:ext cx="10358510" cy="1143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Calibri Light"/>
                <a:cs typeface="Calibri Light"/>
                <a:sym typeface="Calibri Light"/>
              </a:rPr>
              <a:t>EVALUATE AND CHOOSE AN ALTERNATIVE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 txBox="1">
            <a:spLocks/>
          </p:cNvSpPr>
          <p:nvPr/>
        </p:nvSpPr>
        <p:spPr>
          <a:xfrm>
            <a:off x="952464" y="642918"/>
            <a:ext cx="9929882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IMPLEMENT THE DECISION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  <p:sp>
        <p:nvSpPr>
          <p:cNvPr id="3" name="Content Placeholder 5"/>
          <p:cNvSpPr txBox="1">
            <a:spLocks/>
          </p:cNvSpPr>
          <p:nvPr/>
        </p:nvSpPr>
        <p:spPr>
          <a:xfrm>
            <a:off x="457200" y="1600200"/>
            <a:ext cx="10925212" cy="4525963"/>
          </a:xfrm>
          <a:prstGeom prst="rect">
            <a:avLst/>
          </a:prstGeom>
        </p:spPr>
        <p:txBody>
          <a:bodyPr>
            <a:normAutofit fontScale="96250"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IN" sz="4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Once an alternative is selected, it should be implemented in an </a:t>
            </a:r>
            <a:r>
              <a:rPr kumimoji="0" lang="en-I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efficient, effective, and timely manner.</a:t>
            </a:r>
          </a:p>
          <a:p>
            <a:pPr marL="514350" marR="0" lvl="0" indent="-5143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4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Why are we doing this?</a:t>
            </a:r>
          </a:p>
          <a:p>
            <a:pPr marL="514350" marR="0" lvl="0" indent="-5143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4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What is wrong with the current way we do things?</a:t>
            </a:r>
          </a:p>
          <a:p>
            <a:pPr marL="514350" marR="0" lvl="0" indent="-5143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4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What are the benefits of the new way for you?</a:t>
            </a:r>
            <a:endParaRPr kumimoji="0" lang="en-IN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523968" y="100010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EVALUATE THE RESULTS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8084" y="3105835"/>
            <a:ext cx="1178727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eaLnBrk="1" hangingPunct="1"/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Were the success criteria fully met?</a:t>
            </a:r>
          </a:p>
          <a:p>
            <a:pPr lvl="1" algn="just" eaLnBrk="1" hangingPunct="1"/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 Were there any unintended consequences?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071679"/>
            <a:ext cx="73342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eaLnBrk="1" hangingPunct="1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Next Topics:</a:t>
            </a:r>
          </a:p>
          <a:p>
            <a:pPr lvl="1" algn="just" eaLnBrk="1" hangingPunct="1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Ethics in Information Technology</a:t>
            </a:r>
          </a:p>
          <a:p>
            <a:pPr lvl="1" algn="just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Ethical behavior of IT professional</a:t>
            </a:r>
          </a:p>
          <a:p>
            <a:pPr lvl="1" algn="just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Common ethical issues for IT users</a:t>
            </a:r>
          </a:p>
          <a:p>
            <a:pPr lvl="1" algn="just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Supporting the ethical practices of IT users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 eaLnBrk="1" hangingPunct="1"/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402</Words>
  <PresentationFormat>Custom</PresentationFormat>
  <Paragraphs>56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HP</cp:lastModifiedBy>
  <cp:revision>10</cp:revision>
  <dcterms:modified xsi:type="dcterms:W3CDTF">2026-03-09T09:27:32Z</dcterms:modified>
</cp:coreProperties>
</file>