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Default Extension="xlsx" ContentType="application/vnd.openxmlformats-officedocument.spreadsheetml.sheet"/>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71" r:id="rId5"/>
    <p:sldId id="259" r:id="rId6"/>
    <p:sldId id="268" r:id="rId7"/>
    <p:sldId id="269" r:id="rId8"/>
    <p:sldId id="260" r:id="rId9"/>
    <p:sldId id="270" r:id="rId10"/>
    <p:sldId id="261" r:id="rId11"/>
    <p:sldId id="272" r:id="rId12"/>
    <p:sldId id="273" r:id="rId13"/>
    <p:sldId id="262" r:id="rId14"/>
    <p:sldId id="274" r:id="rId15"/>
    <p:sldId id="275" r:id="rId16"/>
    <p:sldId id="276" r:id="rId17"/>
    <p:sldId id="263" r:id="rId18"/>
    <p:sldId id="277" r:id="rId19"/>
    <p:sldId id="278" r:id="rId20"/>
    <p:sldId id="264" r:id="rId21"/>
    <p:sldId id="265" r:id="rId22"/>
    <p:sldId id="266" r:id="rId23"/>
    <p:sldId id="279" r:id="rId24"/>
    <p:sldId id="267"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1"/>
    <p:restoredTop sz="99642" autoAdjust="0"/>
  </p:normalViewPr>
  <p:slideViewPr>
    <p:cSldViewPr snapToGrid="0" snapToObjects="1">
      <p:cViewPr varScale="1">
        <p:scale>
          <a:sx n="97" d="100"/>
          <a:sy n="97" d="100"/>
        </p:scale>
        <p:origin x="-606" y="-102"/>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1"/>
  <c:chart>
    <c:title>
      <c:tx>
        <c:rich>
          <a:bodyPr/>
          <a:lstStyle/>
          <a:p>
            <a:pPr>
              <a:defRPr sz="1300" b="0" i="0" u="none" strike="noStrike">
                <a:solidFill>
                  <a:srgbClr val="0D1B2A"/>
                </a:solidFill>
                <a:latin typeface="Arial"/>
              </a:defRPr>
            </a:pPr>
            <a:r>
              <a:rPr lang="en-US" sz="1300" b="0" i="0" u="none" strike="noStrike">
                <a:solidFill>
                  <a:srgbClr val="0D1B2A"/>
                </a:solidFill>
                <a:latin typeface="Arial"/>
              </a:rPr>
              <a:t>Cost of Cybercrime ($Trillion)</a:t>
            </a:r>
          </a:p>
        </c:rich>
      </c:tx>
      <c:layout/>
    </c:title>
    <c:plotArea>
      <c:layout/>
      <c:barChart>
        <c:barDir val="col"/>
        <c:grouping val="clustered"/>
        <c:ser>
          <c:idx val="0"/>
          <c:order val="0"/>
          <c:tx>
            <c:strRef>
              <c:f>Sheet1!$B$1</c:f>
              <c:strCache>
                <c:ptCount val="1"/>
                <c:pt idx="0">
                  <c:v>Global Cybercrime Cost ($T)</c:v>
                </c:pt>
              </c:strCache>
            </c:strRef>
          </c:tx>
          <c:spPr>
            <a:solidFill>
              <a:srgbClr val="1B6CA8"/>
            </a:solidFill>
            <a:effectLst/>
          </c:spPr>
          <c:dLbls>
            <c:numFmt formatCode="#,##0" sourceLinked="0"/>
            <c:txPr>
              <a:bodyPr/>
              <a:lstStyle/>
              <a:p>
                <a:pPr>
                  <a:defRPr sz="1200" b="0" i="0" u="none" strike="noStrike">
                    <a:solidFill>
                      <a:srgbClr val="0D1B2A"/>
                    </a:solidFill>
                    <a:latin typeface="Arial"/>
                  </a:defRPr>
                </a:pPr>
                <a:endParaRPr lang="en-US"/>
              </a:p>
            </c:txPr>
            <c:showVal val="1"/>
          </c:dLbls>
          <c:cat>
            <c:strRef>
              <c:f>Sheet1!$A$2:$A$9</c:f>
              <c:strCache>
                <c:ptCount val="8"/>
                <c:pt idx="0">
                  <c:v>2017</c:v>
                </c:pt>
                <c:pt idx="1">
                  <c:v>2018</c:v>
                </c:pt>
                <c:pt idx="2">
                  <c:v>2019</c:v>
                </c:pt>
                <c:pt idx="3">
                  <c:v>2020</c:v>
                </c:pt>
                <c:pt idx="4">
                  <c:v>2021</c:v>
                </c:pt>
                <c:pt idx="5">
                  <c:v>2022</c:v>
                </c:pt>
                <c:pt idx="6">
                  <c:v>2023</c:v>
                </c:pt>
                <c:pt idx="7">
                  <c:v>2025*</c:v>
                </c:pt>
              </c:strCache>
            </c:strRef>
          </c:cat>
          <c:val>
            <c:numRef>
              <c:f>Sheet1!$B$2:$B$9</c:f>
              <c:numCache>
                <c:formatCode>General</c:formatCode>
                <c:ptCount val="8"/>
                <c:pt idx="0">
                  <c:v>3</c:v>
                </c:pt>
                <c:pt idx="1">
                  <c:v>3.5</c:v>
                </c:pt>
                <c:pt idx="2">
                  <c:v>4</c:v>
                </c:pt>
                <c:pt idx="3">
                  <c:v>4.5</c:v>
                </c:pt>
                <c:pt idx="4">
                  <c:v>6</c:v>
                </c:pt>
                <c:pt idx="5">
                  <c:v>8</c:v>
                </c:pt>
                <c:pt idx="6">
                  <c:v>8.5</c:v>
                </c:pt>
                <c:pt idx="7">
                  <c:v>10.5</c:v>
                </c:pt>
              </c:numCache>
            </c:numRef>
          </c:val>
        </c:ser>
        <c:dLbls>
          <c:showVal val="1"/>
        </c:dLbls>
        <c:axId val="157172864"/>
        <c:axId val="157174400"/>
      </c:barChart>
      <c:catAx>
        <c:axId val="157172864"/>
        <c:scaling>
          <c:orientation val="minMax"/>
        </c:scaling>
        <c:axPos val="b"/>
        <c:numFmt formatCode="General" sourceLinked="1"/>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157174400"/>
        <c:crosses val="autoZero"/>
        <c:auto val="1"/>
        <c:lblAlgn val="ctr"/>
        <c:lblOffset val="100"/>
        <c:noMultiLvlLbl val="1"/>
      </c:catAx>
      <c:valAx>
        <c:axId val="157174400"/>
        <c:scaling>
          <c:orientation val="minMax"/>
        </c:scaling>
        <c:axPos val="l"/>
        <c:majorGridlines>
          <c:spPr>
            <a:ln w="6350" cap="flat">
              <a:solidFill>
                <a:srgbClr val="E2E8F0"/>
              </a:solidFill>
              <a:prstDash val="solid"/>
              <a:round/>
            </a:ln>
          </c:spPr>
        </c:majorGridlines>
        <c:numFmt formatCode="General" sourceLinked="0"/>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157172864"/>
        <c:crosses val="autoZero"/>
        <c:crossBetween val="between"/>
      </c:valAx>
      <c:spPr>
        <a:noFill/>
        <a:ln>
          <a:noFill/>
        </a:ln>
        <a:effectLst/>
      </c:spPr>
    </c:plotArea>
    <c:plotVisOnly val="1"/>
    <c:dispBlanksAs val="span"/>
  </c:chart>
  <c:spPr>
    <a:solidFill>
      <a:srgbClr val="F0F4F8"/>
    </a:solidFill>
    <a:ln>
      <a:noFill/>
    </a:ln>
    <a:effectLst/>
  </c:sp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Title Slide
Welcome students to Unit VI. This unit bridges technical knowledge with ethical responsibility.
Key question to pose: "You know HOW to hack — but should you? And what happens if you do?"
Real-world hook: The 2021 Colonial Pipeline ransomware attack shut down fuel supply to the US East Coast. It was not just a technical failure — it was an ethical and legal crisis that cost $4.4 million in ransom.</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Law vs Ethics
Key Distinction: Law = minimum standard society demands. Ethics = the standard you hold yourself to.
Real-Time Example: Facebook's Cambridge Analytica Scandal (2018)
- Facebook did not BREAK any law by sharing data with Cambridge Analytica at the time.
- But it was deeply UNETHICAL — 87 million users' data was used without meaningful consent to influence elections.
- Result: $5 billion FTC fine; Mark Zuckerberg testified before US Congress.
Discussion Prompt: "If something is legal, does that make it ethical? Give examples."
Takeaway: IT professionals must go beyond legal compliance and embrace ethical responsibility.</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Organizational Liability
Why Organizations Need Legal Counsel:
1. To understand their legal exposure BEFORE a breach occurs
2. To respond correctly AFTER a breach (notifications, disclosures)
3. To draft proper privacy policies and user agreements
Real-Time Example: Equifax Data Breach (2017)
- 147 million consumers' SSNs, birth dates, and credit card info stolen
- Equifax KNEW about the Apache Struts vulnerability 2 months before the breach but didn't patch it
- Result: $700 million settlement, executives resigned, share price dropped 35%
- Legal lesson: Organizations can be held liable for INACTION (negligence)
India context: Section 43A of IT Act 2000 — Companies must implement "reasonable security practices." Failure = civil liability.
Key counsel roles: Privacy attorneys, compliance officers, CISOs with legal awareness.</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Policy vs Law
Core Concept:
- Law = mandatory, applies to everyone, enforced by government
- Policy = organizational rules, applies within a company, enforced by management
A Policy can be MORE restrictive than law. Example: GDPR requires breach notification in 72 hours; a company's internal policy might require it in 24 hours.
Real-Time Example: Google's Acceptable Use Policy (AUP)
- Google's internal policy prohibits employees from using company resources for personal crypto mining — this is NOT illegal, but it violates company policy.
- In 2023, a Google employee was terminated for running crypto mining operations using Google servers.
India Policy Example: Many Indian banks have a "BYOD (Bring Your Own Device)" policy that is stricter than what RBI guidelines require, to protect sensitive financial data.
Key policies every IT professional knows:
1. Acceptable Use Policy (AUP)
2. Incident Response Policy
3. Data Retention Policy
4. Password Policy</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Cyber Crime
Opening Stat: India reported 14.02 lakh (1.4 million) cybercrime complaints in 2023 alone (NCRB Report). That's one complaint every 22 seconds.
Real-Time Example 1 – Ransomware (Malware):
WannaCry Ransomware Attack (2017) — Hit 200,000+ computers in 150 countries including India's AIIMS hospital in 2022.
Criminals demanded Bitcoin; NHS UK lost £92 million; surgeries were cancelled.
Real-Time Example 2 – Cyber Fraud (India):
The "Jamtara Scam" — A small town in Jharkhand, India became the phishing capital. Criminals impersonated bank officials and stole crores. Netflix made a show about it.
Real-Time Example 3 – Data Theft:
In 2023, data of 815 million Indians (Aadhaar + biometric info) was allegedly put on sale on the dark web.
Key Sections under IT Act 2000 to remember:
- Sec 43: Unauthorized access → Compensation up to ₹1 crore
- Sec 66: Computer-related offences → 3 years imprisonment
- Sec 66F: Cyber terrorism → Life imprisonment</a:t>
            </a:r>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Cybercrime on the Rise
Why is cybercrime growing?
1. More devices connected to internet (IoT explosion)
2. Remote work expanding attack surfaces
3. Cryptocurrencies enabling anonymous ransom payments
4. Cybercrime-as-a-Service (CaaS) — criminals renting hacking tools on the dark web
5. Lack of cybersecurity awareness among users
Real-Time Example: COVID-19 and Cybercrime Surge
- WHO reported a 500% increase in cyberattacks during early pandemic (2020)
- Zoom went from 10M to 300M users overnight — hackers exploited this ("Zoombombing")
- Indian CERT-In (Computer Emergency Response Team) handled 14 lakh incidents in 2022
India Stat: According to NASSCOM, India needs 1 million cybersecurity professionals by 2025 but currently has a huge shortage.
Career opportunity: Cybersecurity is one of the fastest-growing career fields with salaries ₹8–30 LPA for entry to mid-level professionals in India.</a:t>
            </a:r>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Cyber Law in India
Why India needed cyber law:
1. Traditional IPC (Indian Penal Code) did not cover computer crimes
2. E-commerce needed legal recognition (digital signatures, contracts)
3. Rising cybercrimes with no legal framework to prosecute
Real-Time Example: Section 66A Controversy
- Sec 66A criminalized "offensive" online messages — broadly worded
- In 2012, two girls arrested in Maharashtra for a Facebook post about a bandh
- Supreme Court struck down Sec 66A in SHREYA SINGHAL vs UNION OF INDIA (2015) — landmark judgment for free speech online
Latest Development: Digital Personal Data Protection Act 2023 (DPDP Act)
- India's answer to GDPR
- Gives citizens "right to be forgotten"
- Heavy penalties for companies mishandling data
- Data fiduciaries (companies) must get explicit consent
Key point for exams: IT Act 2000 is based on the UNCITRAL Model Law on Electronic Commerce (1996).</a:t>
            </a:r>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Ethical Dilemmas in Project Management
Framework to use when facing an ethical dilemma (teach students this):
1. Recognize the ethical issue
2. Get the facts
3. Evaluate alternative actions (legal, stakeholders, gut check)
4. Make a decision
5. Monitor the outcome
Real-Time Example – Whistleblowing: Edward Snowden (2013)
- NSA contractor who leaked classified info about mass surveillance programs
- Broke the law (violated Espionage Act) but millions argue he acted ethically
- Debate: Was Snowden a hero or a criminal?
Real-Time Example – IP Theft: Waymo vs. Uber (2018)
- Anthony Levandowski, a Google/Waymo engineer, downloaded 14,000 confidential files before leaving to join Uber
- Uber settled for $245 million in equity
- Criminal charges: Levandowski sentenced to 18 months prison
Indian PM context: Project managers must sign NDAs. Violating them can result in both civil suits and criminal charges under IT Act Section 72.</a:t>
            </a:r>
          </a:p>
        </p:txBody>
      </p:sp>
      <p:sp>
        <p:nvSpPr>
          <p:cNvPr id="4" name="Slide Number Placeholder 3"/>
          <p:cNvSpPr>
            <a:spLocks noGrp="1"/>
          </p:cNvSpPr>
          <p:nvPr>
            <p:ph type="sldNum" sz="quarter" idx="10"/>
          </p:nvPr>
        </p:nvSpPr>
        <p:spPr/>
        <p:txBody>
          <a:bodyPr/>
          <a:lstStyle/>
          <a:p>
            <a:fld id="{F7021451-1387-4CA6-816F-3879F97B5CBC}" type="slidenum">
              <a:rPr lang="en-US"/>
              <a:pPr/>
              <a:t>17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Arbitration &amp; ADR
Why ADR matters in IT/Cybersecurity:
1. Court cases take years; IT disputes need quick resolution
2. Technical complexity — arbitrators with IT expertise are preferred
3. Confidentiality — companies don't want breaches publicized in open court
Real-Time Example 1 – Domain Name Dispute:
Tata Sons vs. Domain squatter over "tata.com"
- Resolved through WIPO (World Intellectual Property Organization) Arbitration
- No need for years-long court battle
- Decision came in weeks
Real-Time Example 2 – Software Contract Dispute (India):
Infosys vs. a US client dispute over SLA violations — resolved through ICC Arbitration in Singapore, as specified in the contract's dispute resolution clause.
Key concept for students: Always look for the "Dispute Resolution" clause in any IT contract before signing. It will specify: which ADR method applies, which country's law governs, and which arbitration body handles it (ICC, WIPO, SIAC, etc.).
Advantages of Arbitration over court: Faster, cheaper, private, technical expertise, international enforceability (New York Convention 1958).</a:t>
            </a:r>
          </a:p>
        </p:txBody>
      </p:sp>
      <p:sp>
        <p:nvSpPr>
          <p:cNvPr id="4" name="Slide Number Placeholder 3"/>
          <p:cNvSpPr>
            <a:spLocks noGrp="1"/>
          </p:cNvSpPr>
          <p:nvPr>
            <p:ph type="sldNum" sz="quarter" idx="10"/>
          </p:nvPr>
        </p:nvSpPr>
        <p:spPr/>
        <p:txBody>
          <a:bodyPr/>
          <a:lstStyle/>
          <a:p>
            <a:fld id="{F7021451-1387-4CA6-816F-3879F97B5CBC}" type="slidenum">
              <a:rPr lang="en-US"/>
              <a:pPr/>
              <a:t>20</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Hands-On Tools
Important ethical note: "With great power comes great responsibility." These tools are for defensive security and authorized testing ONLY. Using them without permission is illegal under IT Act Section 43 &amp; 66.
Real-Time Example – Wireshark in Action:
In 2020, security researchers used Wireshark to analyze network traffic and discovered that a popular VPN app was actually sending unencrypted data — exposing millions of users.
Real-Time Example – Metasploit (Ethical Hacking):
"Bug Bounty Programs" — Companies like Google, Microsoft, and Facebook pay ethical hackers (using tools like Metasploit) to find vulnerabilities. Google paid $10 million+ in bug bounties in 2022 alone.
Career Path: Certifications that use these tools:
- CEH (Certified Ethical Hacker) — uses Metasploit, Nmap
- CompTIA Security+ 
- OSCP (Offensive Security Certified Professional) — most respected
- CISSP — management level
Recommended Lab: Set up Kali Linux as a virtual machine (free) and practice in controlled environments. TryHackMe and HackTheBox are legal online platforms for practice.</a:t>
            </a:r>
          </a:p>
        </p:txBody>
      </p:sp>
      <p:sp>
        <p:nvSpPr>
          <p:cNvPr id="4" name="Slide Number Placeholder 3"/>
          <p:cNvSpPr>
            <a:spLocks noGrp="1"/>
          </p:cNvSpPr>
          <p:nvPr>
            <p:ph type="sldNum" sz="quarter" idx="10"/>
          </p:nvPr>
        </p:nvSpPr>
        <p:spPr/>
        <p:txBody>
          <a:bodyPr/>
          <a:lstStyle/>
          <a:p>
            <a:fld id="{F7021451-1387-4CA6-816F-3879F97B5CBC}" type="slidenum">
              <a:rPr lang="en-US"/>
              <a:pPr/>
              <a:t>21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Case Studies
How to use case studies effectively:
- Ask students: "What went wrong? What should have been done differently? What law was violated?"
Case 01 – WannaCry:
North Korean hackers (Lazarus Group) exploited a Windows vulnerability (EternalBlue, leaked from NSA).
The fix was already available for 2 months but many hospitals hadn't patched.
Lesson: Patch management isn't optional — it's an ethical and legal responsibility.
Case 02 – Equifax:
CTO and two other executives SOLD their stock before publicly announcing the breach.
This led to additional insider trading charges on top of the breach.
Lesson: Transparency and timely disclosure is both a legal and ethical obligation.
Case 03 – AIIMS Delhi (2022):
Patient data including Aadhaar, medical records of 40 million Indians was encrypted.
Criminals demanded ₹200 crore in cryptocurrency.
Lesson: Indian government hospitals now under CERT-In guidelines. All critical infra organizations must report incidents within 6 hours.
Case 04 – Jamtara:
Criminals as young as 18 were earning ₹50,000/day through phone phishing.
They called people pretending to be bank officials to get OTPs.
Lesson: Security awareness training for end users is as important as technical controls.</a:t>
            </a:r>
          </a:p>
        </p:txBody>
      </p:sp>
      <p:sp>
        <p:nvSpPr>
          <p:cNvPr id="4" name="Slide Number Placeholder 3"/>
          <p:cNvSpPr>
            <a:spLocks noGrp="1"/>
          </p:cNvSpPr>
          <p:nvPr>
            <p:ph type="sldNum" sz="quarter" idx="10"/>
          </p:nvPr>
        </p:nvSpPr>
        <p:spPr/>
        <p:txBody>
          <a:bodyPr/>
          <a:lstStyle/>
          <a:p>
            <a:fld id="{F7021451-1387-4CA6-816F-3879F97B5CBC}" type="slidenum">
              <a:rPr lang="en-US"/>
              <a:pPr/>
              <a:t>22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Summary / Conclusion
Closing message to students:
You are the next generation of IT professionals. You will have access to systems, data, and tools that can affect millions of people. The question is never just "Can you do it?" — it's "Should you do it?"
Exam Tips — Likely questions:
1. Differentiate between law and ethics with examples (5 marks)
2. Explain any 3 sections of the IT Act 2000 (5 marks)
3. Describe the need for cyber law in India (7 marks)
4. Write a note on arbitration as ADR (5 marks)
5. Explain any 2 ethical dilemmas in project management with solutions (7 marks)
6. Case study analysis — WannaCry or Equifax (10 marks)
Recommended reading:
- "Ethics in Information Technology" by George W. Reynolds (CENGAGE) — your primary textbook
- "Ethics 101" by John C. Maxwell — for building personal ethical frameworks
- CERT-In website: www.cert-in.org.in for India-specific incidents
- Have students try TryHackMe.com for hands-on (legal) ethical hacking practice</a:t>
            </a:r>
          </a:p>
        </p:txBody>
      </p:sp>
      <p:sp>
        <p:nvSpPr>
          <p:cNvPr id="4" name="Slide Number Placeholder 3"/>
          <p:cNvSpPr>
            <a:spLocks noGrp="1"/>
          </p:cNvSpPr>
          <p:nvPr>
            <p:ph type="sldNum" sz="quarter" idx="10"/>
          </p:nvPr>
        </p:nvSpPr>
        <p:spPr/>
        <p:txBody>
          <a:bodyPr/>
          <a:lstStyle/>
          <a:p>
            <a:fld id="{F7021451-1387-4CA6-816F-3879F97B5CBC}" type="slidenum">
              <a:rPr lang="en-US"/>
              <a:pPr/>
              <a:t>24</a:t>
            </a:fld>
            <a:endParaRPr lang="en-US"/>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7132320" y="-457200"/>
            <a:ext cx="3657600" cy="3657600"/>
          </a:xfrm>
          <a:prstGeom prst="ellipse">
            <a:avLst/>
          </a:prstGeom>
          <a:solidFill>
            <a:srgbClr val="1B6CA8">
              <a:alpha val="30000"/>
            </a:srgbClr>
          </a:solidFill>
          <a:ln/>
        </p:spPr>
      </p:sp>
      <p:sp>
        <p:nvSpPr>
          <p:cNvPr id="3" name="Shape 1"/>
          <p:cNvSpPr/>
          <p:nvPr/>
        </p:nvSpPr>
        <p:spPr>
          <a:xfrm>
            <a:off x="-914400" y="2743200"/>
            <a:ext cx="3200400" cy="3200400"/>
          </a:xfrm>
          <a:prstGeom prst="ellipse">
            <a:avLst/>
          </a:prstGeom>
          <a:solidFill>
            <a:srgbClr val="00B4D8">
              <a:alpha val="25000"/>
            </a:srgbClr>
          </a:solidFill>
          <a:ln/>
        </p:spPr>
      </p:sp>
      <p:sp>
        <p:nvSpPr>
          <p:cNvPr id="4" name="Text 2"/>
          <p:cNvSpPr/>
          <p:nvPr/>
        </p:nvSpPr>
        <p:spPr>
          <a:xfrm>
            <a:off x="914400" y="914400"/>
            <a:ext cx="7315200" cy="548640"/>
          </a:xfrm>
          <a:prstGeom prst="rect">
            <a:avLst/>
          </a:prstGeom>
          <a:noFill/>
          <a:ln/>
        </p:spPr>
        <p:txBody>
          <a:bodyPr wrap="square" lIns="0" tIns="0" rIns="0" bIns="0" rtlCol="0" anchor="ctr"/>
          <a:lstStyle/>
          <a:p>
            <a:pPr marL="0" indent="0">
              <a:buNone/>
            </a:pPr>
            <a:r>
              <a:rPr lang="en-US" sz="1800" b="1" kern="0" spc="600" dirty="0">
                <a:solidFill>
                  <a:srgbClr val="00B4D8"/>
                </a:solidFill>
                <a:latin typeface="Calibri" pitchFamily="34" charset="0"/>
                <a:ea typeface="Calibri" pitchFamily="34" charset="-122"/>
                <a:cs typeface="Calibri" pitchFamily="34" charset="-120"/>
              </a:rPr>
              <a:t>UNIT VI</a:t>
            </a:r>
            <a:endParaRPr lang="en-US" sz="1800" dirty="0"/>
          </a:p>
        </p:txBody>
      </p:sp>
      <p:sp>
        <p:nvSpPr>
          <p:cNvPr id="5" name="Text 3"/>
          <p:cNvSpPr/>
          <p:nvPr/>
        </p:nvSpPr>
        <p:spPr>
          <a:xfrm>
            <a:off x="914400" y="1463040"/>
            <a:ext cx="7315200" cy="16459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Ethical &amp; Professional Issues</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in Information Security</a:t>
            </a:r>
            <a:endParaRPr lang="en-US" sz="3400" dirty="0"/>
          </a:p>
        </p:txBody>
      </p:sp>
      <p:sp>
        <p:nvSpPr>
          <p:cNvPr id="6" name="Shape 4"/>
          <p:cNvSpPr/>
          <p:nvPr/>
        </p:nvSpPr>
        <p:spPr>
          <a:xfrm>
            <a:off x="914400" y="3200400"/>
            <a:ext cx="1371600" cy="54864"/>
          </a:xfrm>
          <a:prstGeom prst="rect">
            <a:avLst/>
          </a:prstGeom>
          <a:solidFill>
            <a:srgbClr val="00B4D8"/>
          </a:solidFill>
          <a:ln/>
        </p:spPr>
      </p:sp>
      <p:sp>
        <p:nvSpPr>
          <p:cNvPr id="7" name="Text 5"/>
          <p:cNvSpPr/>
          <p:nvPr/>
        </p:nvSpPr>
        <p:spPr>
          <a:xfrm>
            <a:off x="914400" y="3337560"/>
            <a:ext cx="7315200" cy="457200"/>
          </a:xfrm>
          <a:prstGeom prst="rect">
            <a:avLst/>
          </a:prstGeom>
          <a:noFill/>
          <a:ln/>
        </p:spPr>
        <p:txBody>
          <a:bodyPr wrap="square" lIns="0" tIns="0" rIns="0" bIns="0" rtlCol="0" anchor="ctr"/>
          <a:lstStyle/>
          <a:p>
            <a:pPr marL="0" indent="0">
              <a:buNone/>
            </a:pPr>
            <a:r>
              <a:rPr lang="en-US" sz="1300" dirty="0">
                <a:solidFill>
                  <a:srgbClr val="CAF0F8"/>
                </a:solidFill>
                <a:latin typeface="Calibri" pitchFamily="34" charset="0"/>
                <a:ea typeface="Calibri" pitchFamily="34" charset="-122"/>
                <a:cs typeface="Calibri" pitchFamily="34" charset="-120"/>
              </a:rPr>
              <a:t>Law  •  Ethics  •  Cyber Crime  •  Policy  •  Arbitration</a:t>
            </a:r>
            <a:endParaRPr lang="en-US" sz="1300" dirty="0"/>
          </a:p>
        </p:txBody>
      </p:sp>
      <p:sp>
        <p:nvSpPr>
          <p:cNvPr id="8" name="Text 6"/>
          <p:cNvSpPr/>
          <p:nvPr/>
        </p:nvSpPr>
        <p:spPr>
          <a:xfrm>
            <a:off x="914400" y="4480560"/>
            <a:ext cx="73152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References: Reynolds (CENGAGE)  |  Maxwell – Ethics 101</a:t>
            </a: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Law and Ethics in Information Security</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Understanding the difference between what is legal and what is ethical</a:t>
            </a:r>
            <a:endParaRPr lang="en-US" sz="1300" dirty="0"/>
          </a:p>
        </p:txBody>
      </p:sp>
      <p:sp>
        <p:nvSpPr>
          <p:cNvPr id="5" name="Shape 3"/>
          <p:cNvSpPr/>
          <p:nvPr/>
        </p:nvSpPr>
        <p:spPr>
          <a:xfrm>
            <a:off x="274320" y="1371600"/>
            <a:ext cx="4023360" cy="3291840"/>
          </a:xfrm>
          <a:prstGeom prst="rect">
            <a:avLst/>
          </a:prstGeom>
          <a:solidFill>
            <a:srgbClr val="F0F4F8"/>
          </a:solidFill>
          <a:ln/>
          <a:effectLst>
            <a:outerShdw blurRad="50800" dist="25400" dir="8100000" algn="bl" rotWithShape="0">
              <a:srgbClr val="000000">
                <a:alpha val="10000"/>
              </a:srgbClr>
            </a:outerShdw>
          </a:effectLst>
        </p:spPr>
      </p:sp>
      <p:sp>
        <p:nvSpPr>
          <p:cNvPr id="6" name="Shape 4"/>
          <p:cNvSpPr/>
          <p:nvPr/>
        </p:nvSpPr>
        <p:spPr>
          <a:xfrm>
            <a:off x="274320" y="1371600"/>
            <a:ext cx="64008" cy="3291840"/>
          </a:xfrm>
          <a:prstGeom prst="rect">
            <a:avLst/>
          </a:prstGeom>
          <a:solidFill>
            <a:srgbClr val="1B6CA8"/>
          </a:solidFill>
          <a:ln/>
        </p:spPr>
      </p:sp>
      <p:sp>
        <p:nvSpPr>
          <p:cNvPr id="7" name="Text 5"/>
          <p:cNvSpPr/>
          <p:nvPr/>
        </p:nvSpPr>
        <p:spPr>
          <a:xfrm>
            <a:off x="457200" y="1463040"/>
            <a:ext cx="3657600" cy="411480"/>
          </a:xfrm>
          <a:prstGeom prst="rect">
            <a:avLst/>
          </a:prstGeom>
          <a:noFill/>
          <a:ln/>
        </p:spPr>
        <p:txBody>
          <a:bodyPr wrap="square" lIns="0" tIns="0" rIns="0" bIns="0" rtlCol="0" anchor="ctr"/>
          <a:lstStyle/>
          <a:p>
            <a:pPr marL="0" indent="0">
              <a:buNone/>
            </a:pPr>
            <a:r>
              <a:rPr lang="en-US" sz="1500" b="1" dirty="0">
                <a:solidFill>
                  <a:srgbClr val="1B6CA8"/>
                </a:solidFill>
                <a:latin typeface="Calibri" pitchFamily="34" charset="0"/>
                <a:ea typeface="Calibri" pitchFamily="34" charset="-122"/>
                <a:cs typeface="Calibri" pitchFamily="34" charset="-120"/>
              </a:rPr>
              <a:t>⚖  LAW</a:t>
            </a:r>
            <a:endParaRPr lang="en-US" sz="1500" dirty="0"/>
          </a:p>
        </p:txBody>
      </p:sp>
      <p:sp>
        <p:nvSpPr>
          <p:cNvPr id="8" name="Text 6"/>
          <p:cNvSpPr/>
          <p:nvPr/>
        </p:nvSpPr>
        <p:spPr>
          <a:xfrm>
            <a:off x="502920" y="1920240"/>
            <a:ext cx="3749040" cy="2560320"/>
          </a:xfrm>
          <a:prstGeom prst="rect">
            <a:avLst/>
          </a:prstGeom>
          <a:noFill/>
          <a:ln/>
        </p:spPr>
        <p:txBody>
          <a:bodyPr wrap="square" rtlCol="0" anchor="ctr"/>
          <a:lstStyle/>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Defined by government</a:t>
            </a:r>
            <a:endParaRPr lang="en-US" sz="1300" dirty="0"/>
          </a:p>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Enforceable by courts</a:t>
            </a:r>
            <a:endParaRPr lang="en-US" sz="1300" dirty="0"/>
          </a:p>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Clear penalties for violation</a:t>
            </a:r>
            <a:endParaRPr lang="en-US" sz="1300" dirty="0"/>
          </a:p>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Examples: IT Act 2000, GDPR</a:t>
            </a:r>
            <a:endParaRPr lang="en-US" sz="1300" dirty="0"/>
          </a:p>
        </p:txBody>
      </p:sp>
      <p:sp>
        <p:nvSpPr>
          <p:cNvPr id="9" name="Shape 7"/>
          <p:cNvSpPr/>
          <p:nvPr/>
        </p:nvSpPr>
        <p:spPr>
          <a:xfrm>
            <a:off x="4663440" y="1371600"/>
            <a:ext cx="4023360" cy="3291840"/>
          </a:xfrm>
          <a:prstGeom prst="rect">
            <a:avLst/>
          </a:prstGeom>
          <a:solidFill>
            <a:srgbClr val="F0F4F8"/>
          </a:solidFill>
          <a:ln/>
          <a:effectLst>
            <a:outerShdw blurRad="50800" dist="25400" dir="8100000" algn="bl" rotWithShape="0">
              <a:srgbClr val="000000">
                <a:alpha val="10000"/>
              </a:srgbClr>
            </a:outerShdw>
          </a:effectLst>
        </p:spPr>
      </p:sp>
      <p:sp>
        <p:nvSpPr>
          <p:cNvPr id="10" name="Shape 8"/>
          <p:cNvSpPr/>
          <p:nvPr/>
        </p:nvSpPr>
        <p:spPr>
          <a:xfrm>
            <a:off x="4663440" y="1371600"/>
            <a:ext cx="64008" cy="3291840"/>
          </a:xfrm>
          <a:prstGeom prst="rect">
            <a:avLst/>
          </a:prstGeom>
          <a:solidFill>
            <a:srgbClr val="FFB703"/>
          </a:solidFill>
          <a:ln/>
        </p:spPr>
      </p:sp>
      <p:sp>
        <p:nvSpPr>
          <p:cNvPr id="11" name="Text 9"/>
          <p:cNvSpPr/>
          <p:nvPr/>
        </p:nvSpPr>
        <p:spPr>
          <a:xfrm>
            <a:off x="4846320" y="1463040"/>
            <a:ext cx="3657600" cy="411480"/>
          </a:xfrm>
          <a:prstGeom prst="rect">
            <a:avLst/>
          </a:prstGeom>
          <a:noFill/>
          <a:ln/>
        </p:spPr>
        <p:txBody>
          <a:bodyPr wrap="square" lIns="0" tIns="0" rIns="0" bIns="0" rtlCol="0" anchor="ctr"/>
          <a:lstStyle/>
          <a:p>
            <a:pPr marL="0" indent="0">
              <a:buNone/>
            </a:pPr>
            <a:r>
              <a:rPr lang="en-US" sz="1500" b="1" dirty="0">
                <a:solidFill>
                  <a:srgbClr val="B45309"/>
                </a:solidFill>
                <a:latin typeface="Calibri" pitchFamily="34" charset="0"/>
                <a:ea typeface="Calibri" pitchFamily="34" charset="-122"/>
                <a:cs typeface="Calibri" pitchFamily="34" charset="-120"/>
              </a:rPr>
              <a:t>🧭  ETHICS</a:t>
            </a:r>
            <a:endParaRPr lang="en-US" sz="1500" dirty="0"/>
          </a:p>
        </p:txBody>
      </p:sp>
      <p:sp>
        <p:nvSpPr>
          <p:cNvPr id="12" name="Text 10"/>
          <p:cNvSpPr/>
          <p:nvPr/>
        </p:nvSpPr>
        <p:spPr>
          <a:xfrm>
            <a:off x="4892040" y="1920240"/>
            <a:ext cx="3749040" cy="2560320"/>
          </a:xfrm>
          <a:prstGeom prst="rect">
            <a:avLst/>
          </a:prstGeom>
          <a:noFill/>
          <a:ln/>
        </p:spPr>
        <p:txBody>
          <a:bodyPr wrap="square" rtlCol="0" anchor="ctr"/>
          <a:lstStyle/>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Defined by society/profession</a:t>
            </a:r>
            <a:endParaRPr lang="en-US" sz="1300" dirty="0"/>
          </a:p>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Moral obligation, not legal</a:t>
            </a:r>
            <a:endParaRPr lang="en-US" sz="1300" dirty="0"/>
          </a:p>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Violations damage reputation/trust</a:t>
            </a:r>
            <a:endParaRPr lang="en-US" sz="1300" dirty="0"/>
          </a:p>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ACM Code of Ethics, IEEE Code</a:t>
            </a:r>
            <a:endParaRPr lang="en-US" sz="13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Organizational Liability &amp; Need for Counsel</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When companies become legally responsible for data breaches and security failures</a:t>
            </a:r>
            <a:endParaRPr lang="en-US" sz="1300" dirty="0"/>
          </a:p>
        </p:txBody>
      </p:sp>
      <p:sp>
        <p:nvSpPr>
          <p:cNvPr id="5" name="Shape 3"/>
          <p:cNvSpPr/>
          <p:nvPr/>
        </p:nvSpPr>
        <p:spPr>
          <a:xfrm>
            <a:off x="274320" y="1371600"/>
            <a:ext cx="2651760" cy="2011680"/>
          </a:xfrm>
          <a:prstGeom prst="rect">
            <a:avLst/>
          </a:prstGeom>
          <a:solidFill>
            <a:srgbClr val="E63946"/>
          </a:solidFill>
          <a:ln/>
          <a:effectLst>
            <a:outerShdw blurRad="76200" dist="25400" dir="8100000" algn="bl" rotWithShape="0">
              <a:srgbClr val="000000">
                <a:alpha val="15000"/>
              </a:srgbClr>
            </a:outerShdw>
          </a:effectLst>
        </p:spPr>
      </p:sp>
      <p:sp>
        <p:nvSpPr>
          <p:cNvPr id="6" name="Text 4"/>
          <p:cNvSpPr/>
          <p:nvPr/>
        </p:nvSpPr>
        <p:spPr>
          <a:xfrm>
            <a:off x="274320" y="1463040"/>
            <a:ext cx="265176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$4.45M</a:t>
            </a:r>
            <a:endParaRPr lang="en-US" sz="3400" dirty="0"/>
          </a:p>
        </p:txBody>
      </p:sp>
      <p:sp>
        <p:nvSpPr>
          <p:cNvPr id="7" name="Text 5"/>
          <p:cNvSpPr/>
          <p:nvPr/>
        </p:nvSpPr>
        <p:spPr>
          <a:xfrm>
            <a:off x="274320" y="2331720"/>
            <a:ext cx="2651760" cy="457200"/>
          </a:xfrm>
          <a:prstGeom prst="rect">
            <a:avLst/>
          </a:prstGeom>
          <a:noFill/>
          <a:ln/>
        </p:spPr>
        <p:txBody>
          <a:bodyPr wrap="square" lIns="0" tIns="0" rIns="0" bIns="0" rtlCol="0" anchor="ctr"/>
          <a:lstStyle/>
          <a:p>
            <a:pPr marL="0" indent="0" algn="ctr">
              <a:buNone/>
            </a:pPr>
            <a:r>
              <a:rPr lang="en-US" sz="1100" dirty="0">
                <a:solidFill>
                  <a:srgbClr val="CAF0F8"/>
                </a:solidFill>
                <a:latin typeface="Calibri" pitchFamily="34" charset="0"/>
                <a:ea typeface="Calibri" pitchFamily="34" charset="-122"/>
                <a:cs typeface="Calibri" pitchFamily="34" charset="-120"/>
              </a:rPr>
              <a:t>Average Cost of</a:t>
            </a:r>
            <a:endParaRPr lang="en-US" sz="1100" dirty="0"/>
          </a:p>
          <a:p>
            <a:pPr marL="0" indent="0" algn="ctr">
              <a:buNone/>
            </a:pPr>
            <a:r>
              <a:rPr lang="en-US" sz="1100" dirty="0">
                <a:solidFill>
                  <a:srgbClr val="CAF0F8"/>
                </a:solidFill>
                <a:latin typeface="Calibri" pitchFamily="34" charset="0"/>
                <a:ea typeface="Calibri" pitchFamily="34" charset="-122"/>
                <a:cs typeface="Calibri" pitchFamily="34" charset="-120"/>
              </a:rPr>
              <a:t>a Data Breach</a:t>
            </a:r>
            <a:endParaRPr lang="en-US" sz="1100" dirty="0"/>
          </a:p>
        </p:txBody>
      </p:sp>
      <p:sp>
        <p:nvSpPr>
          <p:cNvPr id="8" name="Text 6"/>
          <p:cNvSpPr/>
          <p:nvPr/>
        </p:nvSpPr>
        <p:spPr>
          <a:xfrm>
            <a:off x="274320" y="2816352"/>
            <a:ext cx="2651760" cy="457200"/>
          </a:xfrm>
          <a:prstGeom prst="rect">
            <a:avLst/>
          </a:prstGeom>
          <a:noFill/>
          <a:ln/>
        </p:spPr>
        <p:txBody>
          <a:bodyPr wrap="square" lIns="0" tIns="0" rIns="0" bIns="0" rtlCol="0" anchor="ctr"/>
          <a:lstStyle/>
          <a:p>
            <a:pPr marL="0" indent="0" algn="ctr">
              <a:buNone/>
            </a:pPr>
            <a:r>
              <a:rPr lang="en-US" sz="900" i="1" dirty="0">
                <a:solidFill>
                  <a:srgbClr val="CAF0F8"/>
                </a:solidFill>
                <a:latin typeface="Calibri" pitchFamily="34" charset="0"/>
                <a:ea typeface="Calibri" pitchFamily="34" charset="-122"/>
                <a:cs typeface="Calibri" pitchFamily="34" charset="-120"/>
              </a:rPr>
              <a:t>IBM Cost of Data Breach Report 2023</a:t>
            </a:r>
            <a:endParaRPr lang="en-US" sz="900" dirty="0"/>
          </a:p>
        </p:txBody>
      </p:sp>
      <p:sp>
        <p:nvSpPr>
          <p:cNvPr id="9" name="Shape 7"/>
          <p:cNvSpPr/>
          <p:nvPr/>
        </p:nvSpPr>
        <p:spPr>
          <a:xfrm>
            <a:off x="3246120" y="1371600"/>
            <a:ext cx="2651760" cy="2011680"/>
          </a:xfrm>
          <a:prstGeom prst="rect">
            <a:avLst/>
          </a:prstGeom>
          <a:solidFill>
            <a:srgbClr val="1B6CA8"/>
          </a:solidFill>
          <a:ln/>
          <a:effectLst>
            <a:outerShdw blurRad="76200" dist="25400" dir="8100000" algn="bl" rotWithShape="0">
              <a:srgbClr val="000000">
                <a:alpha val="15000"/>
              </a:srgbClr>
            </a:outerShdw>
          </a:effectLst>
        </p:spPr>
      </p:sp>
      <p:sp>
        <p:nvSpPr>
          <p:cNvPr id="10" name="Text 8"/>
          <p:cNvSpPr/>
          <p:nvPr/>
        </p:nvSpPr>
        <p:spPr>
          <a:xfrm>
            <a:off x="3246120" y="1463040"/>
            <a:ext cx="265176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62%</a:t>
            </a:r>
            <a:endParaRPr lang="en-US" sz="3400" dirty="0"/>
          </a:p>
        </p:txBody>
      </p:sp>
      <p:sp>
        <p:nvSpPr>
          <p:cNvPr id="11" name="Text 9"/>
          <p:cNvSpPr/>
          <p:nvPr/>
        </p:nvSpPr>
        <p:spPr>
          <a:xfrm>
            <a:off x="3246120" y="2331720"/>
            <a:ext cx="2651760" cy="457200"/>
          </a:xfrm>
          <a:prstGeom prst="rect">
            <a:avLst/>
          </a:prstGeom>
          <a:noFill/>
          <a:ln/>
        </p:spPr>
        <p:txBody>
          <a:bodyPr wrap="square" lIns="0" tIns="0" rIns="0" bIns="0" rtlCol="0" anchor="ctr"/>
          <a:lstStyle/>
          <a:p>
            <a:pPr marL="0" indent="0" algn="ctr">
              <a:buNone/>
            </a:pPr>
            <a:r>
              <a:rPr lang="en-US" sz="1100" dirty="0">
                <a:solidFill>
                  <a:srgbClr val="CAF0F8"/>
                </a:solidFill>
                <a:latin typeface="Calibri" pitchFamily="34" charset="0"/>
                <a:ea typeface="Calibri" pitchFamily="34" charset="-122"/>
                <a:cs typeface="Calibri" pitchFamily="34" charset="-120"/>
              </a:rPr>
              <a:t>Organizations Lack</a:t>
            </a:r>
            <a:endParaRPr lang="en-US" sz="1100" dirty="0"/>
          </a:p>
          <a:p>
            <a:pPr marL="0" indent="0" algn="ctr">
              <a:buNone/>
            </a:pPr>
            <a:r>
              <a:rPr lang="en-US" sz="1100" dirty="0">
                <a:solidFill>
                  <a:srgbClr val="CAF0F8"/>
                </a:solidFill>
                <a:latin typeface="Calibri" pitchFamily="34" charset="0"/>
                <a:ea typeface="Calibri" pitchFamily="34" charset="-122"/>
                <a:cs typeface="Calibri" pitchFamily="34" charset="-120"/>
              </a:rPr>
              <a:t>Legal Counsel</a:t>
            </a:r>
            <a:endParaRPr lang="en-US" sz="1100" dirty="0"/>
          </a:p>
        </p:txBody>
      </p:sp>
      <p:sp>
        <p:nvSpPr>
          <p:cNvPr id="12" name="Text 10"/>
          <p:cNvSpPr/>
          <p:nvPr/>
        </p:nvSpPr>
        <p:spPr>
          <a:xfrm>
            <a:off x="3246120" y="2816352"/>
            <a:ext cx="2651760" cy="457200"/>
          </a:xfrm>
          <a:prstGeom prst="rect">
            <a:avLst/>
          </a:prstGeom>
          <a:noFill/>
          <a:ln/>
        </p:spPr>
        <p:txBody>
          <a:bodyPr wrap="square" lIns="0" tIns="0" rIns="0" bIns="0" rtlCol="0" anchor="ctr"/>
          <a:lstStyle/>
          <a:p>
            <a:pPr marL="0" indent="0" algn="ctr">
              <a:buNone/>
            </a:pPr>
            <a:r>
              <a:rPr lang="en-US" sz="900" i="1" dirty="0">
                <a:solidFill>
                  <a:srgbClr val="CAF0F8"/>
                </a:solidFill>
                <a:latin typeface="Calibri" pitchFamily="34" charset="0"/>
                <a:ea typeface="Calibri" pitchFamily="34" charset="-122"/>
                <a:cs typeface="Calibri" pitchFamily="34" charset="-120"/>
              </a:rPr>
              <a:t>Lack dedicated cybersecurity legal team</a:t>
            </a:r>
            <a:endParaRPr lang="en-US" sz="900" dirty="0"/>
          </a:p>
        </p:txBody>
      </p:sp>
      <p:sp>
        <p:nvSpPr>
          <p:cNvPr id="13" name="Shape 11"/>
          <p:cNvSpPr/>
          <p:nvPr/>
        </p:nvSpPr>
        <p:spPr>
          <a:xfrm>
            <a:off x="6217920" y="1371600"/>
            <a:ext cx="2651760" cy="2011680"/>
          </a:xfrm>
          <a:prstGeom prst="rect">
            <a:avLst/>
          </a:prstGeom>
          <a:solidFill>
            <a:srgbClr val="7C3AED"/>
          </a:solidFill>
          <a:ln/>
          <a:effectLst>
            <a:outerShdw blurRad="76200" dist="25400" dir="8100000" algn="bl" rotWithShape="0">
              <a:srgbClr val="000000">
                <a:alpha val="15000"/>
              </a:srgbClr>
            </a:outerShdw>
          </a:effectLst>
        </p:spPr>
      </p:sp>
      <p:sp>
        <p:nvSpPr>
          <p:cNvPr id="14" name="Text 12"/>
          <p:cNvSpPr/>
          <p:nvPr/>
        </p:nvSpPr>
        <p:spPr>
          <a:xfrm>
            <a:off x="6217920" y="1463040"/>
            <a:ext cx="265176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72 hrs</a:t>
            </a:r>
            <a:endParaRPr lang="en-US" sz="3400" dirty="0"/>
          </a:p>
        </p:txBody>
      </p:sp>
      <p:sp>
        <p:nvSpPr>
          <p:cNvPr id="15" name="Text 13"/>
          <p:cNvSpPr/>
          <p:nvPr/>
        </p:nvSpPr>
        <p:spPr>
          <a:xfrm>
            <a:off x="6217920" y="2331720"/>
            <a:ext cx="2651760" cy="457200"/>
          </a:xfrm>
          <a:prstGeom prst="rect">
            <a:avLst/>
          </a:prstGeom>
          <a:noFill/>
          <a:ln/>
        </p:spPr>
        <p:txBody>
          <a:bodyPr wrap="square" lIns="0" tIns="0" rIns="0" bIns="0" rtlCol="0" anchor="ctr"/>
          <a:lstStyle/>
          <a:p>
            <a:pPr marL="0" indent="0" algn="ctr">
              <a:buNone/>
            </a:pPr>
            <a:r>
              <a:rPr lang="en-US" sz="1100" dirty="0">
                <a:solidFill>
                  <a:srgbClr val="CAF0F8"/>
                </a:solidFill>
                <a:latin typeface="Calibri" pitchFamily="34" charset="0"/>
                <a:ea typeface="Calibri" pitchFamily="34" charset="-122"/>
                <a:cs typeface="Calibri" pitchFamily="34" charset="-120"/>
              </a:rPr>
              <a:t>Breach Notification</a:t>
            </a:r>
            <a:endParaRPr lang="en-US" sz="1100" dirty="0"/>
          </a:p>
          <a:p>
            <a:pPr marL="0" indent="0" algn="ctr">
              <a:buNone/>
            </a:pPr>
            <a:r>
              <a:rPr lang="en-US" sz="1100" dirty="0">
                <a:solidFill>
                  <a:srgbClr val="CAF0F8"/>
                </a:solidFill>
                <a:latin typeface="Calibri" pitchFamily="34" charset="0"/>
                <a:ea typeface="Calibri" pitchFamily="34" charset="-122"/>
                <a:cs typeface="Calibri" pitchFamily="34" charset="-120"/>
              </a:rPr>
              <a:t>Window (GDPR)</a:t>
            </a:r>
            <a:endParaRPr lang="en-US" sz="1100" dirty="0"/>
          </a:p>
        </p:txBody>
      </p:sp>
      <p:sp>
        <p:nvSpPr>
          <p:cNvPr id="16" name="Text 14"/>
          <p:cNvSpPr/>
          <p:nvPr/>
        </p:nvSpPr>
        <p:spPr>
          <a:xfrm>
            <a:off x="6217920" y="2816352"/>
            <a:ext cx="2651760" cy="457200"/>
          </a:xfrm>
          <a:prstGeom prst="rect">
            <a:avLst/>
          </a:prstGeom>
          <a:noFill/>
          <a:ln/>
        </p:spPr>
        <p:txBody>
          <a:bodyPr wrap="square" lIns="0" tIns="0" rIns="0" bIns="0" rtlCol="0" anchor="ctr"/>
          <a:lstStyle/>
          <a:p>
            <a:pPr marL="0" indent="0" algn="ctr">
              <a:buNone/>
            </a:pPr>
            <a:r>
              <a:rPr lang="en-US" sz="900" i="1" dirty="0">
                <a:solidFill>
                  <a:srgbClr val="CAF0F8"/>
                </a:solidFill>
                <a:latin typeface="Calibri" pitchFamily="34" charset="0"/>
                <a:ea typeface="Calibri" pitchFamily="34" charset="-122"/>
                <a:cs typeface="Calibri" pitchFamily="34" charset="-120"/>
              </a:rPr>
              <a:t>To notify regulators or face fines</a:t>
            </a:r>
            <a:endParaRPr lang="en-US" sz="900" dirty="0"/>
          </a:p>
        </p:txBody>
      </p:sp>
      <p:sp>
        <p:nvSpPr>
          <p:cNvPr id="17" name="Text 15"/>
          <p:cNvSpPr/>
          <p:nvPr/>
        </p:nvSpPr>
        <p:spPr>
          <a:xfrm>
            <a:off x="274320" y="3566160"/>
            <a:ext cx="8595360" cy="457200"/>
          </a:xfrm>
          <a:prstGeom prst="rect">
            <a:avLst/>
          </a:prstGeom>
          <a:noFill/>
          <a:ln/>
        </p:spPr>
        <p:txBody>
          <a:bodyPr wrap="square" lIns="0" tIns="0" rIns="0" bIns="0" rtlCol="0" anchor="ctr"/>
          <a:lstStyle/>
          <a:p>
            <a:pPr marL="0" indent="0" algn="ctr">
              <a:buNone/>
            </a:pPr>
            <a:r>
              <a:rPr lang="en-US" sz="1200" b="1" dirty="0">
                <a:solidFill>
                  <a:srgbClr val="1B6CA8"/>
                </a:solidFill>
                <a:latin typeface="Calibri" pitchFamily="34" charset="0"/>
                <a:ea typeface="Calibri" pitchFamily="34" charset="-122"/>
                <a:cs typeface="Calibri" pitchFamily="34" charset="-120"/>
              </a:rPr>
              <a:t>Key Liabilities: Negligence  •  Vicarious Liability  •  Strict Liability  •  Contractual Breaches</a:t>
            </a:r>
            <a:endParaRPr lang="en-US"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0242" y="393405"/>
            <a:ext cx="8229599" cy="4308872"/>
          </a:xfrm>
          <a:prstGeom prst="rect">
            <a:avLst/>
          </a:prstGeom>
          <a:noFill/>
        </p:spPr>
        <p:txBody>
          <a:bodyPr wrap="square" rtlCol="0">
            <a:spAutoFit/>
          </a:bodyPr>
          <a:lstStyle/>
          <a:p>
            <a:r>
              <a:rPr lang="en-US" sz="1600" dirty="0" smtClean="0">
                <a:solidFill>
                  <a:srgbClr val="FF0000"/>
                </a:solidFill>
              </a:rPr>
              <a:t>Why Organizations Need Legal Counsel:</a:t>
            </a:r>
            <a:r>
              <a:rPr lang="en-US" sz="1600" dirty="0" smtClean="0"/>
              <a:t>
1. To understand their legal exposure BEFORE a breach occurs
2. To respond correctly AFTER a breach (notifications, disclosures)
3. To draft proper privacy policies and user agreements
Real-Time Example: Equifax Data Breach (2017)
- 147 million consumers' SSNs, birth dates, and credit card info stolen
- Equifax KNEW about the Apache Struts vulnerability 2 months before the breach but didn't patch it
- Result: $700 million settlement, executives resigned, share price dropped 35%
- Legal lesson: Organizations can be held liable for INACTION (negligence)
</a:t>
            </a:r>
            <a:r>
              <a:rPr lang="en-US" sz="1600" dirty="0" smtClean="0">
                <a:solidFill>
                  <a:srgbClr val="FF0000"/>
                </a:solidFill>
              </a:rPr>
              <a:t>India context: Section 43A of IT Act 2000 — Companies must implement "reasonable security practices." Failure = civil liability.</a:t>
            </a:r>
            <a:r>
              <a:rPr lang="en-US" sz="1600" dirty="0" smtClean="0"/>
              <a:t>
</a:t>
            </a:r>
          </a:p>
          <a:p>
            <a:endParaRPr lang="en-US" sz="1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Policy Versus Law</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Organizational policies vs. government legislation in information security</a:t>
            </a:r>
            <a:endParaRPr lang="en-US" sz="1300" dirty="0"/>
          </a:p>
        </p:txBody>
      </p:sp>
      <p:sp>
        <p:nvSpPr>
          <p:cNvPr id="5" name="Shape 3"/>
          <p:cNvSpPr/>
          <p:nvPr/>
        </p:nvSpPr>
        <p:spPr>
          <a:xfrm>
            <a:off x="274320" y="1371600"/>
            <a:ext cx="2331720" cy="2560320"/>
          </a:xfrm>
          <a:prstGeom prst="rect">
            <a:avLst/>
          </a:prstGeom>
          <a:solidFill>
            <a:srgbClr val="1B6CA8"/>
          </a:solidFill>
          <a:ln/>
          <a:effectLst>
            <a:outerShdw blurRad="63500" dist="25400" dir="8100000" algn="bl" rotWithShape="0">
              <a:srgbClr val="000000">
                <a:alpha val="12000"/>
              </a:srgbClr>
            </a:outerShdw>
          </a:effectLst>
        </p:spPr>
      </p:sp>
      <p:sp>
        <p:nvSpPr>
          <p:cNvPr id="6" name="Text 4"/>
          <p:cNvSpPr/>
          <p:nvPr/>
        </p:nvSpPr>
        <p:spPr>
          <a:xfrm>
            <a:off x="274320" y="1463040"/>
            <a:ext cx="233172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Government</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Law</a:t>
            </a:r>
            <a:endParaRPr lang="en-US" sz="1600" dirty="0"/>
          </a:p>
        </p:txBody>
      </p:sp>
      <p:sp>
        <p:nvSpPr>
          <p:cNvPr id="7" name="Text 5"/>
          <p:cNvSpPr/>
          <p:nvPr/>
        </p:nvSpPr>
        <p:spPr>
          <a:xfrm>
            <a:off x="274320" y="2240280"/>
            <a:ext cx="2331720" cy="1554480"/>
          </a:xfrm>
          <a:prstGeom prst="rect">
            <a:avLst/>
          </a:prstGeom>
          <a:noFill/>
          <a:ln/>
        </p:spPr>
        <p:txBody>
          <a:bodyPr wrap="square" lIns="0" tIns="0" rIns="0" bIns="0" rtlCol="0" anchor="ctr"/>
          <a:lstStyle/>
          <a:p>
            <a:pPr marL="0" indent="0" algn="ctr">
              <a:buNone/>
            </a:pPr>
            <a:r>
              <a:rPr lang="en-US" sz="1200" dirty="0">
                <a:solidFill>
                  <a:srgbClr val="CAF0F8"/>
                </a:solidFill>
                <a:latin typeface="Calibri" pitchFamily="34" charset="0"/>
                <a:ea typeface="Calibri" pitchFamily="34" charset="-122"/>
                <a:cs typeface="Calibri" pitchFamily="34" charset="-120"/>
              </a:rPr>
              <a:t>IT Act 2000</a:t>
            </a:r>
            <a:endParaRPr lang="en-US" sz="1200" dirty="0"/>
          </a:p>
          <a:p>
            <a:pPr marL="0" indent="0" algn="ctr">
              <a:buNone/>
            </a:pPr>
            <a:r>
              <a:rPr lang="en-US" sz="1200" dirty="0">
                <a:solidFill>
                  <a:srgbClr val="CAF0F8"/>
                </a:solidFill>
                <a:latin typeface="Calibri" pitchFamily="34" charset="0"/>
                <a:ea typeface="Calibri" pitchFamily="34" charset="-122"/>
                <a:cs typeface="Calibri" pitchFamily="34" charset="-120"/>
              </a:rPr>
              <a:t>GDPR</a:t>
            </a:r>
            <a:endParaRPr lang="en-US" sz="1200" dirty="0"/>
          </a:p>
          <a:p>
            <a:pPr algn="ctr"/>
            <a:r>
              <a:rPr lang="en-US" sz="1200" dirty="0" smtClean="0">
                <a:solidFill>
                  <a:schemeClr val="bg1"/>
                </a:solidFill>
                <a:latin typeface="Calibri" pitchFamily="34" charset="0"/>
                <a:ea typeface="Calibri" pitchFamily="34" charset="-122"/>
                <a:cs typeface="Calibri" pitchFamily="34" charset="-120"/>
              </a:rPr>
              <a:t>HIPAA(</a:t>
            </a:r>
            <a:r>
              <a:rPr lang="en-US" sz="1200" dirty="0" smtClean="0">
                <a:solidFill>
                  <a:schemeClr val="bg1"/>
                </a:solidFill>
              </a:rPr>
              <a:t>HIPAA stands for the </a:t>
            </a:r>
            <a:r>
              <a:rPr lang="en-US" sz="1200" b="1" dirty="0" smtClean="0">
                <a:solidFill>
                  <a:schemeClr val="bg1"/>
                </a:solidFill>
              </a:rPr>
              <a:t>Health Insurance Portability and Accountability Act</a:t>
            </a:r>
            <a:r>
              <a:rPr lang="en-US" sz="1200" dirty="0" smtClean="0">
                <a:solidFill>
                  <a:schemeClr val="bg1"/>
                </a:solidFill>
              </a:rPr>
              <a:t>, a U.S. federal law enacted in 1996 to protect sensitive patient health information and improve healthcare system efficiency.)</a:t>
            </a:r>
            <a:endParaRPr lang="en-US" sz="1200" dirty="0">
              <a:solidFill>
                <a:schemeClr val="bg1"/>
              </a:solidFill>
            </a:endParaRPr>
          </a:p>
        </p:txBody>
      </p:sp>
      <p:sp>
        <p:nvSpPr>
          <p:cNvPr id="8" name="Shape 6"/>
          <p:cNvSpPr/>
          <p:nvPr/>
        </p:nvSpPr>
        <p:spPr>
          <a:xfrm>
            <a:off x="2606040" y="2514600"/>
            <a:ext cx="274320" cy="91440"/>
          </a:xfrm>
          <a:prstGeom prst="rect">
            <a:avLst/>
          </a:prstGeom>
          <a:solidFill>
            <a:srgbClr val="64748B"/>
          </a:solidFill>
          <a:ln/>
        </p:spPr>
      </p:sp>
      <p:sp>
        <p:nvSpPr>
          <p:cNvPr id="9" name="Text 7"/>
          <p:cNvSpPr/>
          <p:nvPr/>
        </p:nvSpPr>
        <p:spPr>
          <a:xfrm>
            <a:off x="2606040" y="2377440"/>
            <a:ext cx="274320" cy="365760"/>
          </a:xfrm>
          <a:prstGeom prst="rect">
            <a:avLst/>
          </a:prstGeom>
          <a:noFill/>
          <a:ln/>
        </p:spPr>
        <p:txBody>
          <a:bodyPr wrap="square" lIns="0" tIns="0" rIns="0" bIns="0" rtlCol="0" anchor="ctr"/>
          <a:lstStyle/>
          <a:p>
            <a:pPr marL="0" indent="0" algn="ctr">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880360" y="1371600"/>
            <a:ext cx="2331720" cy="2560320"/>
          </a:xfrm>
          <a:prstGeom prst="rect">
            <a:avLst/>
          </a:prstGeom>
          <a:solidFill>
            <a:srgbClr val="7C3AED"/>
          </a:solidFill>
          <a:ln/>
          <a:effectLst>
            <a:outerShdw blurRad="63500" dist="25400" dir="8100000" algn="bl" rotWithShape="0">
              <a:srgbClr val="000000">
                <a:alpha val="12000"/>
              </a:srgbClr>
            </a:outerShdw>
          </a:effectLst>
        </p:spPr>
      </p:sp>
      <p:sp>
        <p:nvSpPr>
          <p:cNvPr id="11" name="Text 9"/>
          <p:cNvSpPr/>
          <p:nvPr/>
        </p:nvSpPr>
        <p:spPr>
          <a:xfrm>
            <a:off x="2880360" y="1463040"/>
            <a:ext cx="233172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Industry</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Standards</a:t>
            </a:r>
            <a:endParaRPr lang="en-US" sz="1600" dirty="0"/>
          </a:p>
        </p:txBody>
      </p:sp>
      <p:sp>
        <p:nvSpPr>
          <p:cNvPr id="12" name="Text 10"/>
          <p:cNvSpPr/>
          <p:nvPr/>
        </p:nvSpPr>
        <p:spPr>
          <a:xfrm>
            <a:off x="2880360" y="2240280"/>
            <a:ext cx="2331720" cy="1554480"/>
          </a:xfrm>
          <a:prstGeom prst="rect">
            <a:avLst/>
          </a:prstGeom>
          <a:noFill/>
          <a:ln/>
        </p:spPr>
        <p:txBody>
          <a:bodyPr wrap="square" lIns="0" tIns="0" rIns="0" bIns="0" rtlCol="0" anchor="ctr"/>
          <a:lstStyle/>
          <a:p>
            <a:pPr marL="0" indent="0" algn="ctr">
              <a:buNone/>
            </a:pPr>
            <a:r>
              <a:rPr lang="en-US" sz="1200" dirty="0">
                <a:solidFill>
                  <a:srgbClr val="CAF0F8"/>
                </a:solidFill>
                <a:latin typeface="Calibri" pitchFamily="34" charset="0"/>
                <a:ea typeface="Calibri" pitchFamily="34" charset="-122"/>
                <a:cs typeface="Calibri" pitchFamily="34" charset="-120"/>
              </a:rPr>
              <a:t>ISO 27001</a:t>
            </a:r>
            <a:endParaRPr lang="en-US" sz="1200" dirty="0"/>
          </a:p>
          <a:p>
            <a:pPr marL="0" indent="0" algn="ctr">
              <a:buNone/>
            </a:pPr>
            <a:r>
              <a:rPr lang="en-US" sz="1200" dirty="0">
                <a:solidFill>
                  <a:srgbClr val="CAF0F8"/>
                </a:solidFill>
                <a:latin typeface="Calibri" pitchFamily="34" charset="0"/>
                <a:ea typeface="Calibri" pitchFamily="34" charset="-122"/>
                <a:cs typeface="Calibri" pitchFamily="34" charset="-120"/>
              </a:rPr>
              <a:t>PCI-DSS</a:t>
            </a:r>
            <a:endParaRPr lang="en-US" sz="1200" dirty="0"/>
          </a:p>
          <a:p>
            <a:pPr marL="0" indent="0" algn="ctr">
              <a:buNone/>
            </a:pPr>
            <a:r>
              <a:rPr lang="en-US" sz="1200" dirty="0">
                <a:solidFill>
                  <a:srgbClr val="CAF0F8"/>
                </a:solidFill>
                <a:latin typeface="Calibri" pitchFamily="34" charset="0"/>
                <a:ea typeface="Calibri" pitchFamily="34" charset="-122"/>
                <a:cs typeface="Calibri" pitchFamily="34" charset="-120"/>
              </a:rPr>
              <a:t>NIST</a:t>
            </a:r>
            <a:endParaRPr lang="en-US" sz="1200" dirty="0"/>
          </a:p>
        </p:txBody>
      </p:sp>
      <p:sp>
        <p:nvSpPr>
          <p:cNvPr id="13" name="Shape 11"/>
          <p:cNvSpPr/>
          <p:nvPr/>
        </p:nvSpPr>
        <p:spPr>
          <a:xfrm>
            <a:off x="5212080" y="2514600"/>
            <a:ext cx="274320" cy="91440"/>
          </a:xfrm>
          <a:prstGeom prst="rect">
            <a:avLst/>
          </a:prstGeom>
          <a:solidFill>
            <a:srgbClr val="64748B"/>
          </a:solidFill>
          <a:ln/>
        </p:spPr>
      </p:sp>
      <p:sp>
        <p:nvSpPr>
          <p:cNvPr id="14" name="Text 12"/>
          <p:cNvSpPr/>
          <p:nvPr/>
        </p:nvSpPr>
        <p:spPr>
          <a:xfrm>
            <a:off x="5212080" y="2377440"/>
            <a:ext cx="274320" cy="365760"/>
          </a:xfrm>
          <a:prstGeom prst="rect">
            <a:avLst/>
          </a:prstGeom>
          <a:noFill/>
          <a:ln/>
        </p:spPr>
        <p:txBody>
          <a:bodyPr wrap="square" lIns="0" tIns="0" rIns="0" bIns="0" rtlCol="0" anchor="ctr"/>
          <a:lstStyle/>
          <a:p>
            <a:pPr marL="0" indent="0" algn="ctr">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440680" y="1371600"/>
            <a:ext cx="2331720" cy="2560320"/>
          </a:xfrm>
          <a:prstGeom prst="rect">
            <a:avLst/>
          </a:prstGeom>
          <a:solidFill>
            <a:srgbClr val="E63946"/>
          </a:solidFill>
          <a:ln/>
          <a:effectLst>
            <a:outerShdw blurRad="63500" dist="25400" dir="8100000" algn="bl" rotWithShape="0">
              <a:srgbClr val="000000">
                <a:alpha val="12000"/>
              </a:srgbClr>
            </a:outerShdw>
          </a:effectLst>
        </p:spPr>
      </p:sp>
      <p:sp>
        <p:nvSpPr>
          <p:cNvPr id="16" name="Text 14"/>
          <p:cNvSpPr/>
          <p:nvPr/>
        </p:nvSpPr>
        <p:spPr>
          <a:xfrm>
            <a:off x="5440680" y="1463040"/>
            <a:ext cx="233172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Org</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Policy</a:t>
            </a:r>
            <a:endParaRPr lang="en-US" sz="1600" dirty="0"/>
          </a:p>
        </p:txBody>
      </p:sp>
      <p:sp>
        <p:nvSpPr>
          <p:cNvPr id="17" name="Text 15"/>
          <p:cNvSpPr/>
          <p:nvPr/>
        </p:nvSpPr>
        <p:spPr>
          <a:xfrm>
            <a:off x="5440680" y="2240280"/>
            <a:ext cx="2331720" cy="1554480"/>
          </a:xfrm>
          <a:prstGeom prst="rect">
            <a:avLst/>
          </a:prstGeom>
          <a:noFill/>
          <a:ln/>
        </p:spPr>
        <p:txBody>
          <a:bodyPr wrap="square" lIns="0" tIns="0" rIns="0" bIns="0" rtlCol="0" anchor="ctr"/>
          <a:lstStyle/>
          <a:p>
            <a:pPr marL="0" indent="0" algn="ctr">
              <a:buNone/>
            </a:pPr>
            <a:r>
              <a:rPr lang="en-US" sz="1200" dirty="0">
                <a:solidFill>
                  <a:srgbClr val="CAF0F8"/>
                </a:solidFill>
                <a:latin typeface="Calibri" pitchFamily="34" charset="0"/>
                <a:ea typeface="Calibri" pitchFamily="34" charset="-122"/>
                <a:cs typeface="Calibri" pitchFamily="34" charset="-120"/>
              </a:rPr>
              <a:t>AUP, BYOD</a:t>
            </a:r>
            <a:endParaRPr lang="en-US" sz="1200" dirty="0"/>
          </a:p>
          <a:p>
            <a:pPr marL="0" indent="0" algn="ctr">
              <a:buNone/>
            </a:pPr>
            <a:r>
              <a:rPr lang="en-US" sz="1200" dirty="0">
                <a:solidFill>
                  <a:srgbClr val="CAF0F8"/>
                </a:solidFill>
                <a:latin typeface="Calibri" pitchFamily="34" charset="0"/>
                <a:ea typeface="Calibri" pitchFamily="34" charset="-122"/>
                <a:cs typeface="Calibri" pitchFamily="34" charset="-120"/>
              </a:rPr>
              <a:t>Password Policy</a:t>
            </a:r>
            <a:endParaRPr lang="en-US" sz="1200" dirty="0"/>
          </a:p>
          <a:p>
            <a:pPr marL="0" indent="0" algn="ctr">
              <a:buNone/>
            </a:pPr>
            <a:r>
              <a:rPr lang="en-US" sz="1200" dirty="0">
                <a:solidFill>
                  <a:srgbClr val="CAF0F8"/>
                </a:solidFill>
                <a:latin typeface="Calibri" pitchFamily="34" charset="0"/>
                <a:ea typeface="Calibri" pitchFamily="34" charset="-122"/>
                <a:cs typeface="Calibri" pitchFamily="34" charset="-120"/>
              </a:rPr>
              <a:t>Incident Response</a:t>
            </a:r>
            <a:endParaRPr lang="en-US" sz="1200" dirty="0"/>
          </a:p>
        </p:txBody>
      </p:sp>
      <p:sp>
        <p:nvSpPr>
          <p:cNvPr id="18" name="Shape 16"/>
          <p:cNvSpPr/>
          <p:nvPr/>
        </p:nvSpPr>
        <p:spPr>
          <a:xfrm>
            <a:off x="7955280" y="1371600"/>
            <a:ext cx="1005840" cy="2560320"/>
          </a:xfrm>
          <a:prstGeom prst="rect">
            <a:avLst/>
          </a:prstGeom>
          <a:solidFill>
            <a:srgbClr val="FFB703"/>
          </a:solidFill>
          <a:ln/>
        </p:spPr>
      </p:sp>
      <p:sp>
        <p:nvSpPr>
          <p:cNvPr id="19" name="Text 17"/>
          <p:cNvSpPr/>
          <p:nvPr/>
        </p:nvSpPr>
        <p:spPr>
          <a:xfrm>
            <a:off x="7955280" y="1463040"/>
            <a:ext cx="1005840" cy="2377440"/>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Policies</a:t>
            </a:r>
            <a:endParaRPr lang="en-US" sz="1100" dirty="0"/>
          </a:p>
          <a:p>
            <a:pPr marL="0" indent="0" algn="ctr">
              <a:buNone/>
            </a:pPr>
            <a:r>
              <a:rPr lang="en-US" sz="1100" b="1" dirty="0">
                <a:solidFill>
                  <a:srgbClr val="0D1B2A"/>
                </a:solidFill>
                <a:latin typeface="Calibri" pitchFamily="34" charset="0"/>
                <a:ea typeface="Calibri" pitchFamily="34" charset="-122"/>
                <a:cs typeface="Calibri" pitchFamily="34" charset="-120"/>
              </a:rPr>
              <a:t>can be</a:t>
            </a:r>
            <a:endParaRPr lang="en-US" sz="1100" dirty="0"/>
          </a:p>
          <a:p>
            <a:pPr marL="0" indent="0" algn="ctr">
              <a:buNone/>
            </a:pPr>
            <a:r>
              <a:rPr lang="en-US" sz="1100" b="1" dirty="0">
                <a:solidFill>
                  <a:srgbClr val="0D1B2A"/>
                </a:solidFill>
                <a:latin typeface="Calibri" pitchFamily="34" charset="0"/>
                <a:ea typeface="Calibri" pitchFamily="34" charset="-122"/>
                <a:cs typeface="Calibri" pitchFamily="34" charset="-120"/>
              </a:rPr>
              <a:t>Stricter</a:t>
            </a:r>
            <a:endParaRPr lang="en-US" sz="1100" dirty="0"/>
          </a:p>
          <a:p>
            <a:pPr marL="0" indent="0" algn="ctr">
              <a:buNone/>
            </a:pPr>
            <a:r>
              <a:rPr lang="en-US" sz="1100" b="1" dirty="0">
                <a:solidFill>
                  <a:srgbClr val="0D1B2A"/>
                </a:solidFill>
                <a:latin typeface="Calibri" pitchFamily="34" charset="0"/>
                <a:ea typeface="Calibri" pitchFamily="34" charset="-122"/>
                <a:cs typeface="Calibri" pitchFamily="34" charset="-120"/>
              </a:rPr>
              <a:t>than</a:t>
            </a:r>
            <a:endParaRPr lang="en-US" sz="1100" dirty="0"/>
          </a:p>
          <a:p>
            <a:pPr marL="0" indent="0" algn="ctr">
              <a:buNone/>
            </a:pPr>
            <a:r>
              <a:rPr lang="en-US" sz="1100" b="1" dirty="0">
                <a:solidFill>
                  <a:srgbClr val="0D1B2A"/>
                </a:solidFill>
                <a:latin typeface="Calibri" pitchFamily="34" charset="0"/>
                <a:ea typeface="Calibri" pitchFamily="34" charset="-122"/>
                <a:cs typeface="Calibri" pitchFamily="34" charset="-120"/>
              </a:rPr>
              <a:t>Law!</a:t>
            </a:r>
            <a:endParaRPr lang="en-US" sz="1100" dirty="0"/>
          </a:p>
        </p:txBody>
      </p:sp>
      <p:sp>
        <p:nvSpPr>
          <p:cNvPr id="20" name="Text 18"/>
          <p:cNvSpPr/>
          <p:nvPr/>
        </p:nvSpPr>
        <p:spPr>
          <a:xfrm>
            <a:off x="274320" y="4160520"/>
            <a:ext cx="8595360" cy="45720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Law = floor. Policy = ceiling. Organizations must meet legal minimums and go further.</a:t>
            </a:r>
            <a:endParaRPr lang="en-US" sz="1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2366" y="528810"/>
            <a:ext cx="7238082" cy="4247317"/>
          </a:xfrm>
          <a:prstGeom prst="rect">
            <a:avLst/>
          </a:prstGeom>
          <a:noFill/>
        </p:spPr>
        <p:txBody>
          <a:bodyPr wrap="square" rtlCol="0">
            <a:spAutoFit/>
          </a:bodyPr>
          <a:lstStyle/>
          <a:p>
            <a:r>
              <a:rPr lang="en-US" dirty="0" smtClean="0"/>
              <a:t>Key parts of HIPAA include:</a:t>
            </a:r>
          </a:p>
          <a:p>
            <a:r>
              <a:rPr lang="en-US" b="1" dirty="0" smtClean="0"/>
              <a:t>Privacy Rule</a:t>
            </a:r>
            <a:r>
              <a:rPr lang="en-US" dirty="0" smtClean="0"/>
              <a:t> — Controls how protected health information (PHI) can be used and disclosed. </a:t>
            </a:r>
          </a:p>
          <a:p>
            <a:r>
              <a:rPr lang="en-US" b="1" dirty="0" smtClean="0"/>
              <a:t>Security Rule</a:t>
            </a:r>
            <a:r>
              <a:rPr lang="en-US" dirty="0" smtClean="0"/>
              <a:t> — Requires safeguards for electronic PHI (</a:t>
            </a:r>
            <a:r>
              <a:rPr lang="en-US" dirty="0" err="1" smtClean="0"/>
              <a:t>ePHI</a:t>
            </a:r>
            <a:r>
              <a:rPr lang="en-US" dirty="0" smtClean="0"/>
              <a:t>), such as encryption and access controls. </a:t>
            </a:r>
          </a:p>
          <a:p>
            <a:r>
              <a:rPr lang="en-US" b="1" dirty="0" smtClean="0"/>
              <a:t>Breach Notification Rule</a:t>
            </a:r>
            <a:r>
              <a:rPr lang="en-US" dirty="0" smtClean="0"/>
              <a:t> — Requires organizations to notify affected individuals and authorities after certain data breaches. </a:t>
            </a:r>
          </a:p>
          <a:p>
            <a:r>
              <a:rPr lang="en-US" b="1" dirty="0" smtClean="0"/>
              <a:t>Portability provisions</a:t>
            </a:r>
            <a:r>
              <a:rPr lang="en-US" dirty="0" smtClean="0"/>
              <a:t> — Originally designed to help workers maintain health insurance coverage when changing jobs. </a:t>
            </a:r>
          </a:p>
          <a:p>
            <a:r>
              <a:rPr lang="en-US" dirty="0" smtClean="0"/>
              <a:t>HIPAA applies mainly to:</a:t>
            </a:r>
          </a:p>
          <a:p>
            <a:r>
              <a:rPr lang="en-US" dirty="0" smtClean="0"/>
              <a:t>Healthcare providers </a:t>
            </a:r>
          </a:p>
          <a:p>
            <a:r>
              <a:rPr lang="en-US" dirty="0" smtClean="0"/>
              <a:t>Health insurance plans </a:t>
            </a:r>
          </a:p>
          <a:p>
            <a:r>
              <a:rPr lang="en-US" dirty="0" smtClean="0"/>
              <a:t>Healthcare clearinghouses </a:t>
            </a:r>
          </a:p>
          <a:p>
            <a:r>
              <a:rPr lang="en-US" dirty="0" smtClean="0"/>
              <a:t>Business associates handling medical data on behalf of covered entities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77240" y="262890"/>
            <a:ext cx="7520940" cy="4555093"/>
          </a:xfrm>
          <a:prstGeom prst="rect">
            <a:avLst/>
          </a:prstGeom>
          <a:noFill/>
        </p:spPr>
        <p:txBody>
          <a:bodyPr wrap="square" rtlCol="0">
            <a:spAutoFit/>
          </a:bodyPr>
          <a:lstStyle/>
          <a:p>
            <a:r>
              <a:rPr lang="en-US" sz="1600" dirty="0" smtClean="0"/>
              <a:t>A Policy can be MORE restrictive than law. Example: GDPR requires breach notification in 72 hours; a company's internal policy might require it in 24 hours.
</a:t>
            </a:r>
            <a:r>
              <a:rPr lang="en-US" sz="1600" dirty="0" smtClean="0">
                <a:solidFill>
                  <a:srgbClr val="FF0000"/>
                </a:solidFill>
              </a:rPr>
              <a:t>Real-Time Example: Google's Acceptable Use Policy (AUP)</a:t>
            </a:r>
            <a:r>
              <a:rPr lang="en-US" sz="1600" dirty="0" smtClean="0"/>
              <a:t>
- Google's internal policy prohibits employees from using company resources for personal crypto mining — this is NOT illegal, but it violates company policy.
- In 2023, a Google employee was terminated for running crypto mining operations using Google servers.
India Policy Example: Many Indian banks have a "BYOD (Bring Your Own Device)" policy that is stricter than what RBI guidelines require, to protect sensitive financial data.
</a:t>
            </a:r>
            <a:r>
              <a:rPr lang="en-US" sz="1600" dirty="0" smtClean="0">
                <a:solidFill>
                  <a:srgbClr val="FF0000"/>
                </a:solidFill>
              </a:rPr>
              <a:t>Key policies every IT professional knows:</a:t>
            </a:r>
            <a:r>
              <a:rPr lang="en-US" sz="1600" dirty="0" smtClean="0"/>
              <a:t>
1. Acceptable Use Policy (AUP)
2. Incident Response Policy
3. Data Retention Policy
4. Password Policy</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Cyber Crime</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Types, examples, and scale of computer-related crimes</a:t>
            </a:r>
            <a:endParaRPr lang="en-US" sz="1300" dirty="0"/>
          </a:p>
        </p:txBody>
      </p:sp>
      <p:sp>
        <p:nvSpPr>
          <p:cNvPr id="5" name="Shape 3"/>
          <p:cNvSpPr/>
          <p:nvPr/>
        </p:nvSpPr>
        <p:spPr>
          <a:xfrm>
            <a:off x="228600" y="1325880"/>
            <a:ext cx="2834640" cy="1600200"/>
          </a:xfrm>
          <a:prstGeom prst="rect">
            <a:avLst/>
          </a:prstGeom>
          <a:solidFill>
            <a:srgbClr val="F0F4F8"/>
          </a:solidFill>
          <a:ln/>
          <a:effectLst>
            <a:outerShdw blurRad="38100" dist="12700" dir="8100000" algn="bl" rotWithShape="0">
              <a:srgbClr val="000000">
                <a:alpha val="8000"/>
              </a:srgbClr>
            </a:outerShdw>
          </a:effectLst>
        </p:spPr>
      </p:sp>
      <p:sp>
        <p:nvSpPr>
          <p:cNvPr id="6" name="Shape 4"/>
          <p:cNvSpPr/>
          <p:nvPr/>
        </p:nvSpPr>
        <p:spPr>
          <a:xfrm>
            <a:off x="228600" y="1325880"/>
            <a:ext cx="2834640" cy="54864"/>
          </a:xfrm>
          <a:prstGeom prst="rect">
            <a:avLst/>
          </a:prstGeom>
          <a:solidFill>
            <a:srgbClr val="1B6CA8"/>
          </a:solidFill>
          <a:ln/>
        </p:spPr>
      </p:sp>
      <p:sp>
        <p:nvSpPr>
          <p:cNvPr id="7" name="Text 5"/>
          <p:cNvSpPr/>
          <p:nvPr/>
        </p:nvSpPr>
        <p:spPr>
          <a:xfrm>
            <a:off x="320040" y="1417320"/>
            <a:ext cx="265176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Unauthorized Access</a:t>
            </a:r>
            <a:endParaRPr lang="en-US" sz="1200" dirty="0"/>
          </a:p>
        </p:txBody>
      </p:sp>
      <p:sp>
        <p:nvSpPr>
          <p:cNvPr id="8" name="Text 6"/>
          <p:cNvSpPr/>
          <p:nvPr/>
        </p:nvSpPr>
        <p:spPr>
          <a:xfrm>
            <a:off x="320040" y="1874520"/>
            <a:ext cx="265176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Hacking into systems without permission</a:t>
            </a:r>
            <a:endParaRPr lang="en-US" sz="1000" dirty="0"/>
          </a:p>
        </p:txBody>
      </p:sp>
      <p:sp>
        <p:nvSpPr>
          <p:cNvPr id="9" name="Text 7"/>
          <p:cNvSpPr/>
          <p:nvPr/>
        </p:nvSpPr>
        <p:spPr>
          <a:xfrm>
            <a:off x="320040" y="2423160"/>
            <a:ext cx="2651760" cy="365760"/>
          </a:xfrm>
          <a:prstGeom prst="rect">
            <a:avLst/>
          </a:prstGeom>
          <a:noFill/>
          <a:ln/>
        </p:spPr>
        <p:txBody>
          <a:bodyPr wrap="square" lIns="0" tIns="0" rIns="0" bIns="0" rtlCol="0" anchor="ctr"/>
          <a:lstStyle/>
          <a:p>
            <a:pPr marL="0" indent="0">
              <a:buNone/>
            </a:pPr>
            <a:r>
              <a:rPr lang="en-US" sz="900" b="1" i="1" dirty="0">
                <a:solidFill>
                  <a:srgbClr val="1B6CA8"/>
                </a:solidFill>
                <a:latin typeface="Calibri" pitchFamily="34" charset="0"/>
                <a:ea typeface="Calibri" pitchFamily="34" charset="-122"/>
                <a:cs typeface="Calibri" pitchFamily="34" charset="-120"/>
              </a:rPr>
              <a:t>Sec 43 &amp; 66 IT Act</a:t>
            </a:r>
            <a:endParaRPr lang="en-US" sz="900" dirty="0"/>
          </a:p>
        </p:txBody>
      </p:sp>
      <p:sp>
        <p:nvSpPr>
          <p:cNvPr id="10" name="Shape 8"/>
          <p:cNvSpPr/>
          <p:nvPr/>
        </p:nvSpPr>
        <p:spPr>
          <a:xfrm>
            <a:off x="3200400" y="1325880"/>
            <a:ext cx="2834640" cy="1600200"/>
          </a:xfrm>
          <a:prstGeom prst="rect">
            <a:avLst/>
          </a:prstGeom>
          <a:solidFill>
            <a:srgbClr val="F0F4F8"/>
          </a:solidFill>
          <a:ln/>
          <a:effectLst>
            <a:outerShdw blurRad="38100" dist="12700" dir="8100000" algn="bl" rotWithShape="0">
              <a:srgbClr val="000000">
                <a:alpha val="8000"/>
              </a:srgbClr>
            </a:outerShdw>
          </a:effectLst>
        </p:spPr>
      </p:sp>
      <p:sp>
        <p:nvSpPr>
          <p:cNvPr id="11" name="Shape 9"/>
          <p:cNvSpPr/>
          <p:nvPr/>
        </p:nvSpPr>
        <p:spPr>
          <a:xfrm>
            <a:off x="3200400" y="1325880"/>
            <a:ext cx="2834640" cy="54864"/>
          </a:xfrm>
          <a:prstGeom prst="rect">
            <a:avLst/>
          </a:prstGeom>
          <a:solidFill>
            <a:srgbClr val="1B6CA8"/>
          </a:solidFill>
          <a:ln/>
        </p:spPr>
      </p:sp>
      <p:sp>
        <p:nvSpPr>
          <p:cNvPr id="12" name="Text 10"/>
          <p:cNvSpPr/>
          <p:nvPr/>
        </p:nvSpPr>
        <p:spPr>
          <a:xfrm>
            <a:off x="3291840" y="1417320"/>
            <a:ext cx="265176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Cyber Fraud</a:t>
            </a:r>
            <a:endParaRPr lang="en-US" sz="1200" dirty="0"/>
          </a:p>
        </p:txBody>
      </p:sp>
      <p:sp>
        <p:nvSpPr>
          <p:cNvPr id="13" name="Text 11"/>
          <p:cNvSpPr/>
          <p:nvPr/>
        </p:nvSpPr>
        <p:spPr>
          <a:xfrm>
            <a:off x="3291840" y="1874520"/>
            <a:ext cx="265176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Phishing, online scams, identity theft</a:t>
            </a:r>
            <a:endParaRPr lang="en-US" sz="1000" dirty="0"/>
          </a:p>
        </p:txBody>
      </p:sp>
      <p:sp>
        <p:nvSpPr>
          <p:cNvPr id="14" name="Text 12"/>
          <p:cNvSpPr/>
          <p:nvPr/>
        </p:nvSpPr>
        <p:spPr>
          <a:xfrm>
            <a:off x="3291840" y="2423160"/>
            <a:ext cx="2651760" cy="365760"/>
          </a:xfrm>
          <a:prstGeom prst="rect">
            <a:avLst/>
          </a:prstGeom>
          <a:noFill/>
          <a:ln/>
        </p:spPr>
        <p:txBody>
          <a:bodyPr wrap="square" lIns="0" tIns="0" rIns="0" bIns="0" rtlCol="0" anchor="ctr"/>
          <a:lstStyle/>
          <a:p>
            <a:pPr marL="0" indent="0">
              <a:buNone/>
            </a:pPr>
            <a:r>
              <a:rPr lang="en-US" sz="900" b="1" i="1" dirty="0">
                <a:solidFill>
                  <a:srgbClr val="1B6CA8"/>
                </a:solidFill>
                <a:latin typeface="Calibri" pitchFamily="34" charset="0"/>
                <a:ea typeface="Calibri" pitchFamily="34" charset="-122"/>
                <a:cs typeface="Calibri" pitchFamily="34" charset="-120"/>
              </a:rPr>
              <a:t>Sec 66C &amp; 66D IT Act</a:t>
            </a:r>
            <a:endParaRPr lang="en-US" sz="900" dirty="0"/>
          </a:p>
        </p:txBody>
      </p:sp>
      <p:sp>
        <p:nvSpPr>
          <p:cNvPr id="15" name="Shape 13"/>
          <p:cNvSpPr/>
          <p:nvPr/>
        </p:nvSpPr>
        <p:spPr>
          <a:xfrm>
            <a:off x="6172200" y="1325880"/>
            <a:ext cx="2834640" cy="1600200"/>
          </a:xfrm>
          <a:prstGeom prst="rect">
            <a:avLst/>
          </a:prstGeom>
          <a:solidFill>
            <a:srgbClr val="F0F4F8"/>
          </a:solidFill>
          <a:ln/>
          <a:effectLst>
            <a:outerShdw blurRad="38100" dist="12700" dir="8100000" algn="bl" rotWithShape="0">
              <a:srgbClr val="000000">
                <a:alpha val="8000"/>
              </a:srgbClr>
            </a:outerShdw>
          </a:effectLst>
        </p:spPr>
      </p:sp>
      <p:sp>
        <p:nvSpPr>
          <p:cNvPr id="16" name="Shape 14"/>
          <p:cNvSpPr/>
          <p:nvPr/>
        </p:nvSpPr>
        <p:spPr>
          <a:xfrm>
            <a:off x="6172200" y="1325880"/>
            <a:ext cx="2834640" cy="54864"/>
          </a:xfrm>
          <a:prstGeom prst="rect">
            <a:avLst/>
          </a:prstGeom>
          <a:solidFill>
            <a:srgbClr val="1B6CA8"/>
          </a:solidFill>
          <a:ln/>
        </p:spPr>
      </p:sp>
      <p:sp>
        <p:nvSpPr>
          <p:cNvPr id="17" name="Text 15"/>
          <p:cNvSpPr/>
          <p:nvPr/>
        </p:nvSpPr>
        <p:spPr>
          <a:xfrm>
            <a:off x="6263640" y="1417320"/>
            <a:ext cx="265176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Malware Attacks</a:t>
            </a:r>
            <a:endParaRPr lang="en-US" sz="1200" dirty="0"/>
          </a:p>
        </p:txBody>
      </p:sp>
      <p:sp>
        <p:nvSpPr>
          <p:cNvPr id="18" name="Text 16"/>
          <p:cNvSpPr/>
          <p:nvPr/>
        </p:nvSpPr>
        <p:spPr>
          <a:xfrm>
            <a:off x="6263640" y="1874520"/>
            <a:ext cx="265176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Ransomware, viruses, spyware</a:t>
            </a:r>
            <a:endParaRPr lang="en-US" sz="1000" dirty="0"/>
          </a:p>
        </p:txBody>
      </p:sp>
      <p:sp>
        <p:nvSpPr>
          <p:cNvPr id="19" name="Text 17"/>
          <p:cNvSpPr/>
          <p:nvPr/>
        </p:nvSpPr>
        <p:spPr>
          <a:xfrm>
            <a:off x="6263640" y="2423160"/>
            <a:ext cx="2651760" cy="365760"/>
          </a:xfrm>
          <a:prstGeom prst="rect">
            <a:avLst/>
          </a:prstGeom>
          <a:noFill/>
          <a:ln/>
        </p:spPr>
        <p:txBody>
          <a:bodyPr wrap="square" lIns="0" tIns="0" rIns="0" bIns="0" rtlCol="0" anchor="ctr"/>
          <a:lstStyle/>
          <a:p>
            <a:pPr marL="0" indent="0">
              <a:buNone/>
            </a:pPr>
            <a:r>
              <a:rPr lang="en-US" sz="900" b="1" i="1" dirty="0">
                <a:solidFill>
                  <a:srgbClr val="1B6CA8"/>
                </a:solidFill>
                <a:latin typeface="Calibri" pitchFamily="34" charset="0"/>
                <a:ea typeface="Calibri" pitchFamily="34" charset="-122"/>
                <a:cs typeface="Calibri" pitchFamily="34" charset="-120"/>
              </a:rPr>
              <a:t>Sec 43(c) IT Act</a:t>
            </a:r>
            <a:endParaRPr lang="en-US" sz="900" dirty="0"/>
          </a:p>
        </p:txBody>
      </p:sp>
      <p:sp>
        <p:nvSpPr>
          <p:cNvPr id="20" name="Shape 18"/>
          <p:cNvSpPr/>
          <p:nvPr/>
        </p:nvSpPr>
        <p:spPr>
          <a:xfrm>
            <a:off x="228600" y="3108960"/>
            <a:ext cx="2834640" cy="1600200"/>
          </a:xfrm>
          <a:prstGeom prst="rect">
            <a:avLst/>
          </a:prstGeom>
          <a:solidFill>
            <a:srgbClr val="F0F4F8"/>
          </a:solidFill>
          <a:ln/>
          <a:effectLst>
            <a:outerShdw blurRad="38100" dist="12700" dir="8100000" algn="bl" rotWithShape="0">
              <a:srgbClr val="000000">
                <a:alpha val="8000"/>
              </a:srgbClr>
            </a:outerShdw>
          </a:effectLst>
        </p:spPr>
      </p:sp>
      <p:sp>
        <p:nvSpPr>
          <p:cNvPr id="21" name="Shape 19"/>
          <p:cNvSpPr/>
          <p:nvPr/>
        </p:nvSpPr>
        <p:spPr>
          <a:xfrm>
            <a:off x="228600" y="3108960"/>
            <a:ext cx="2834640" cy="54864"/>
          </a:xfrm>
          <a:prstGeom prst="rect">
            <a:avLst/>
          </a:prstGeom>
          <a:solidFill>
            <a:srgbClr val="1B6CA8"/>
          </a:solidFill>
          <a:ln/>
        </p:spPr>
      </p:sp>
      <p:sp>
        <p:nvSpPr>
          <p:cNvPr id="22" name="Text 20"/>
          <p:cNvSpPr/>
          <p:nvPr/>
        </p:nvSpPr>
        <p:spPr>
          <a:xfrm>
            <a:off x="320040" y="3200400"/>
            <a:ext cx="265176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Cyber Stalking</a:t>
            </a:r>
            <a:endParaRPr lang="en-US" sz="1200" dirty="0"/>
          </a:p>
        </p:txBody>
      </p:sp>
      <p:sp>
        <p:nvSpPr>
          <p:cNvPr id="23" name="Text 21"/>
          <p:cNvSpPr/>
          <p:nvPr/>
        </p:nvSpPr>
        <p:spPr>
          <a:xfrm>
            <a:off x="320040" y="3657600"/>
            <a:ext cx="265176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Harassment via social media/email</a:t>
            </a:r>
            <a:endParaRPr lang="en-US" sz="1000" dirty="0"/>
          </a:p>
        </p:txBody>
      </p:sp>
      <p:sp>
        <p:nvSpPr>
          <p:cNvPr id="24" name="Text 22"/>
          <p:cNvSpPr/>
          <p:nvPr/>
        </p:nvSpPr>
        <p:spPr>
          <a:xfrm>
            <a:off x="320040" y="4206240"/>
            <a:ext cx="2651760" cy="365760"/>
          </a:xfrm>
          <a:prstGeom prst="rect">
            <a:avLst/>
          </a:prstGeom>
          <a:noFill/>
          <a:ln/>
        </p:spPr>
        <p:txBody>
          <a:bodyPr wrap="square" lIns="0" tIns="0" rIns="0" bIns="0" rtlCol="0" anchor="ctr"/>
          <a:lstStyle/>
          <a:p>
            <a:pPr marL="0" indent="0">
              <a:buNone/>
            </a:pPr>
            <a:r>
              <a:rPr lang="en-US" sz="900" b="1" i="1" dirty="0">
                <a:solidFill>
                  <a:srgbClr val="1B6CA8"/>
                </a:solidFill>
                <a:latin typeface="Calibri" pitchFamily="34" charset="0"/>
                <a:ea typeface="Calibri" pitchFamily="34" charset="-122"/>
                <a:cs typeface="Calibri" pitchFamily="34" charset="-120"/>
              </a:rPr>
              <a:t>Sec 67 IT Act</a:t>
            </a:r>
            <a:endParaRPr lang="en-US" sz="900" dirty="0"/>
          </a:p>
        </p:txBody>
      </p:sp>
      <p:sp>
        <p:nvSpPr>
          <p:cNvPr id="25" name="Shape 23"/>
          <p:cNvSpPr/>
          <p:nvPr/>
        </p:nvSpPr>
        <p:spPr>
          <a:xfrm>
            <a:off x="3200400" y="3108960"/>
            <a:ext cx="2834640" cy="1600200"/>
          </a:xfrm>
          <a:prstGeom prst="rect">
            <a:avLst/>
          </a:prstGeom>
          <a:solidFill>
            <a:srgbClr val="F0F4F8"/>
          </a:solidFill>
          <a:ln/>
          <a:effectLst>
            <a:outerShdw blurRad="38100" dist="12700" dir="8100000" algn="bl" rotWithShape="0">
              <a:srgbClr val="000000">
                <a:alpha val="8000"/>
              </a:srgbClr>
            </a:outerShdw>
          </a:effectLst>
        </p:spPr>
      </p:sp>
      <p:sp>
        <p:nvSpPr>
          <p:cNvPr id="26" name="Shape 24"/>
          <p:cNvSpPr/>
          <p:nvPr/>
        </p:nvSpPr>
        <p:spPr>
          <a:xfrm>
            <a:off x="3200400" y="3108960"/>
            <a:ext cx="2834640" cy="54864"/>
          </a:xfrm>
          <a:prstGeom prst="rect">
            <a:avLst/>
          </a:prstGeom>
          <a:solidFill>
            <a:srgbClr val="1B6CA8"/>
          </a:solidFill>
          <a:ln/>
        </p:spPr>
      </p:sp>
      <p:sp>
        <p:nvSpPr>
          <p:cNvPr id="27" name="Text 25"/>
          <p:cNvSpPr/>
          <p:nvPr/>
        </p:nvSpPr>
        <p:spPr>
          <a:xfrm>
            <a:off x="3291840" y="3200400"/>
            <a:ext cx="265176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Data Theft</a:t>
            </a:r>
            <a:endParaRPr lang="en-US" sz="1200" dirty="0"/>
          </a:p>
        </p:txBody>
      </p:sp>
      <p:sp>
        <p:nvSpPr>
          <p:cNvPr id="28" name="Text 26"/>
          <p:cNvSpPr/>
          <p:nvPr/>
        </p:nvSpPr>
        <p:spPr>
          <a:xfrm>
            <a:off x="3291840" y="3657600"/>
            <a:ext cx="265176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Stealing confidential corporate data</a:t>
            </a:r>
            <a:endParaRPr lang="en-US" sz="1000" dirty="0"/>
          </a:p>
        </p:txBody>
      </p:sp>
      <p:sp>
        <p:nvSpPr>
          <p:cNvPr id="29" name="Text 27"/>
          <p:cNvSpPr/>
          <p:nvPr/>
        </p:nvSpPr>
        <p:spPr>
          <a:xfrm>
            <a:off x="3291840" y="4206240"/>
            <a:ext cx="2651760" cy="365760"/>
          </a:xfrm>
          <a:prstGeom prst="rect">
            <a:avLst/>
          </a:prstGeom>
          <a:noFill/>
          <a:ln/>
        </p:spPr>
        <p:txBody>
          <a:bodyPr wrap="square" lIns="0" tIns="0" rIns="0" bIns="0" rtlCol="0" anchor="ctr"/>
          <a:lstStyle/>
          <a:p>
            <a:pPr marL="0" indent="0">
              <a:buNone/>
            </a:pPr>
            <a:r>
              <a:rPr lang="en-US" sz="900" b="1" i="1" dirty="0">
                <a:solidFill>
                  <a:srgbClr val="1B6CA8"/>
                </a:solidFill>
                <a:latin typeface="Calibri" pitchFamily="34" charset="0"/>
                <a:ea typeface="Calibri" pitchFamily="34" charset="-122"/>
                <a:cs typeface="Calibri" pitchFamily="34" charset="-120"/>
              </a:rPr>
              <a:t>Sec 43(b) IT Act</a:t>
            </a:r>
            <a:endParaRPr lang="en-US" sz="900" dirty="0"/>
          </a:p>
        </p:txBody>
      </p:sp>
      <p:sp>
        <p:nvSpPr>
          <p:cNvPr id="30" name="Shape 28"/>
          <p:cNvSpPr/>
          <p:nvPr/>
        </p:nvSpPr>
        <p:spPr>
          <a:xfrm>
            <a:off x="6172200" y="3108960"/>
            <a:ext cx="2834640" cy="1600200"/>
          </a:xfrm>
          <a:prstGeom prst="rect">
            <a:avLst/>
          </a:prstGeom>
          <a:solidFill>
            <a:srgbClr val="F0F4F8"/>
          </a:solidFill>
          <a:ln/>
          <a:effectLst>
            <a:outerShdw blurRad="38100" dist="12700" dir="8100000" algn="bl" rotWithShape="0">
              <a:srgbClr val="000000">
                <a:alpha val="8000"/>
              </a:srgbClr>
            </a:outerShdw>
          </a:effectLst>
        </p:spPr>
      </p:sp>
      <p:sp>
        <p:nvSpPr>
          <p:cNvPr id="31" name="Shape 29"/>
          <p:cNvSpPr/>
          <p:nvPr/>
        </p:nvSpPr>
        <p:spPr>
          <a:xfrm>
            <a:off x="6172200" y="3108960"/>
            <a:ext cx="2834640" cy="54864"/>
          </a:xfrm>
          <a:prstGeom prst="rect">
            <a:avLst/>
          </a:prstGeom>
          <a:solidFill>
            <a:srgbClr val="1B6CA8"/>
          </a:solidFill>
          <a:ln/>
        </p:spPr>
      </p:sp>
      <p:sp>
        <p:nvSpPr>
          <p:cNvPr id="32" name="Text 30"/>
          <p:cNvSpPr/>
          <p:nvPr/>
        </p:nvSpPr>
        <p:spPr>
          <a:xfrm>
            <a:off x="6263640" y="3200400"/>
            <a:ext cx="265176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Cyber Terrorism</a:t>
            </a:r>
            <a:endParaRPr lang="en-US" sz="1200" dirty="0"/>
          </a:p>
        </p:txBody>
      </p:sp>
      <p:sp>
        <p:nvSpPr>
          <p:cNvPr id="33" name="Text 31"/>
          <p:cNvSpPr/>
          <p:nvPr/>
        </p:nvSpPr>
        <p:spPr>
          <a:xfrm>
            <a:off x="6263640" y="3657600"/>
            <a:ext cx="265176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Attacking critical infrastructure</a:t>
            </a:r>
            <a:endParaRPr lang="en-US" sz="1000" dirty="0"/>
          </a:p>
        </p:txBody>
      </p:sp>
      <p:sp>
        <p:nvSpPr>
          <p:cNvPr id="34" name="Text 32"/>
          <p:cNvSpPr/>
          <p:nvPr/>
        </p:nvSpPr>
        <p:spPr>
          <a:xfrm>
            <a:off x="6263640" y="4206240"/>
            <a:ext cx="2651760" cy="365760"/>
          </a:xfrm>
          <a:prstGeom prst="rect">
            <a:avLst/>
          </a:prstGeom>
          <a:noFill/>
          <a:ln/>
        </p:spPr>
        <p:txBody>
          <a:bodyPr wrap="square" lIns="0" tIns="0" rIns="0" bIns="0" rtlCol="0" anchor="ctr"/>
          <a:lstStyle/>
          <a:p>
            <a:pPr marL="0" indent="0">
              <a:buNone/>
            </a:pPr>
            <a:r>
              <a:rPr lang="en-US" sz="900" b="1" i="1" dirty="0">
                <a:solidFill>
                  <a:srgbClr val="1B6CA8"/>
                </a:solidFill>
                <a:latin typeface="Calibri" pitchFamily="34" charset="0"/>
                <a:ea typeface="Calibri" pitchFamily="34" charset="-122"/>
                <a:cs typeface="Calibri" pitchFamily="34" charset="-120"/>
              </a:rPr>
              <a:t>Sec 66F IT Act</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3412" y="295835"/>
            <a:ext cx="8969188" cy="4585871"/>
          </a:xfrm>
          <a:prstGeom prst="rect">
            <a:avLst/>
          </a:prstGeom>
          <a:noFill/>
        </p:spPr>
        <p:txBody>
          <a:bodyPr wrap="square" rtlCol="0">
            <a:spAutoFit/>
          </a:bodyPr>
          <a:lstStyle/>
          <a:p>
            <a:r>
              <a:rPr lang="en-US" dirty="0" smtClean="0"/>
              <a:t>
</a:t>
            </a:r>
            <a:r>
              <a:rPr lang="en-US" sz="1600" dirty="0" smtClean="0">
                <a:solidFill>
                  <a:srgbClr val="FF0000"/>
                </a:solidFill>
              </a:rPr>
              <a:t>Real-Time Example 1 – </a:t>
            </a:r>
            <a:r>
              <a:rPr lang="en-US" sz="1600" dirty="0" err="1" smtClean="0">
                <a:solidFill>
                  <a:srgbClr val="FF0000"/>
                </a:solidFill>
              </a:rPr>
              <a:t>Ransomware</a:t>
            </a:r>
            <a:r>
              <a:rPr lang="en-US" sz="1600" dirty="0" smtClean="0">
                <a:solidFill>
                  <a:srgbClr val="FF0000"/>
                </a:solidFill>
              </a:rPr>
              <a:t> (Malware):</a:t>
            </a:r>
            <a:r>
              <a:rPr lang="en-US" sz="1600" dirty="0" smtClean="0"/>
              <a:t>
</a:t>
            </a:r>
            <a:r>
              <a:rPr lang="en-US" sz="1600" dirty="0" err="1" smtClean="0"/>
              <a:t>WannaCry</a:t>
            </a:r>
            <a:r>
              <a:rPr lang="en-US" sz="1600" dirty="0" smtClean="0"/>
              <a:t> </a:t>
            </a:r>
            <a:r>
              <a:rPr lang="en-US" sz="1600" dirty="0" err="1" smtClean="0"/>
              <a:t>Ransomware</a:t>
            </a:r>
            <a:r>
              <a:rPr lang="en-US" sz="1600" dirty="0" smtClean="0"/>
              <a:t> Attack (2017) — Hit 200,000+ computers in 150 countries including India's AIIMS hospital in 2022.
Criminals demanded </a:t>
            </a:r>
            <a:r>
              <a:rPr lang="en-US" sz="1600" dirty="0" err="1" smtClean="0"/>
              <a:t>Bitcoin</a:t>
            </a:r>
            <a:r>
              <a:rPr lang="en-US" sz="1600" dirty="0" smtClean="0"/>
              <a:t>; NHS UK lost £92 million; surgeries were cancelled.
</a:t>
            </a:r>
            <a:r>
              <a:rPr lang="en-US" sz="1600" dirty="0" smtClean="0">
                <a:solidFill>
                  <a:srgbClr val="FF0000"/>
                </a:solidFill>
              </a:rPr>
              <a:t>Real-Time Example 2 – Cyber Fraud (India):</a:t>
            </a:r>
            <a:r>
              <a:rPr lang="en-US" sz="1600" dirty="0" smtClean="0"/>
              <a:t>
The "</a:t>
            </a:r>
            <a:r>
              <a:rPr lang="en-US" sz="1600" dirty="0" err="1" smtClean="0"/>
              <a:t>Jamtara</a:t>
            </a:r>
            <a:r>
              <a:rPr lang="en-US" sz="1600" dirty="0" smtClean="0"/>
              <a:t> Scam" — A small town in Jharkhand, India became the phishing capital. Criminals impersonated bank officials and stole </a:t>
            </a:r>
            <a:r>
              <a:rPr lang="en-US" sz="1600" dirty="0" err="1" smtClean="0"/>
              <a:t>crores</a:t>
            </a:r>
            <a:r>
              <a:rPr lang="en-US" sz="1600" dirty="0" smtClean="0"/>
              <a:t>. Netflix made a show about it.
</a:t>
            </a:r>
            <a:r>
              <a:rPr lang="en-US" sz="1600" dirty="0" smtClean="0">
                <a:solidFill>
                  <a:srgbClr val="FF0000"/>
                </a:solidFill>
              </a:rPr>
              <a:t>Real-Time Example 3 – Data Theft:</a:t>
            </a:r>
            <a:r>
              <a:rPr lang="en-US" sz="1600" dirty="0" smtClean="0"/>
              <a:t>
In 2023, data of 815 million Indians (</a:t>
            </a:r>
            <a:r>
              <a:rPr lang="en-US" sz="1600" dirty="0" err="1" smtClean="0"/>
              <a:t>Aadhaar</a:t>
            </a:r>
            <a:r>
              <a:rPr lang="en-US" sz="1600" dirty="0" smtClean="0"/>
              <a:t> + biometric info) </a:t>
            </a:r>
            <a:r>
              <a:rPr lang="en-US" sz="1600" smtClean="0"/>
              <a:t>was </a:t>
            </a:r>
            <a:r>
              <a:rPr lang="en-US" sz="1600" smtClean="0"/>
              <a:t> </a:t>
            </a:r>
            <a:r>
              <a:rPr lang="en-US" sz="1600" dirty="0" smtClean="0"/>
              <a:t>put on sale on the dark web.
</a:t>
            </a:r>
            <a:r>
              <a:rPr lang="en-US" sz="1600" dirty="0" smtClean="0">
                <a:solidFill>
                  <a:srgbClr val="FF0000"/>
                </a:solidFill>
              </a:rPr>
              <a:t>Key Sections under IT Act 2000 to remember:</a:t>
            </a:r>
            <a:r>
              <a:rPr lang="en-US" sz="1600" dirty="0" smtClean="0"/>
              <a:t>
- Sec 43: Unauthorized access → Compensation up to ₹1 </a:t>
            </a:r>
            <a:r>
              <a:rPr lang="en-US" sz="1600" dirty="0" err="1" smtClean="0"/>
              <a:t>crore</a:t>
            </a:r>
            <a:r>
              <a:rPr lang="en-US" sz="1600" dirty="0" smtClean="0"/>
              <a:t>
- Sec 66: Computer-related offences → 3 years imprisonment
- Sec 66F: Cyber terrorism → Life imprisonment</a:t>
            </a:r>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Cybercrime on the Rise</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Global trends showing exponential growth in cyber threats</a:t>
            </a:r>
            <a:endParaRPr lang="en-US" sz="1300" dirty="0"/>
          </a:p>
        </p:txBody>
      </p:sp>
      <p:graphicFrame>
        <p:nvGraphicFramePr>
          <p:cNvPr id="5" name="Chart 0"/>
          <p:cNvGraphicFramePr/>
          <p:nvPr/>
        </p:nvGraphicFramePr>
        <p:xfrm>
          <a:off x="274320" y="1280160"/>
          <a:ext cx="54864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035040" y="1325880"/>
            <a:ext cx="2834640" cy="731520"/>
          </a:xfrm>
          <a:prstGeom prst="rect">
            <a:avLst/>
          </a:prstGeom>
          <a:solidFill>
            <a:srgbClr val="0D1B2A"/>
          </a:solidFill>
          <a:ln/>
        </p:spPr>
      </p:sp>
      <p:sp>
        <p:nvSpPr>
          <p:cNvPr id="7" name="Text 4"/>
          <p:cNvSpPr/>
          <p:nvPr/>
        </p:nvSpPr>
        <p:spPr>
          <a:xfrm>
            <a:off x="6080760" y="1362456"/>
            <a:ext cx="1371600" cy="658368"/>
          </a:xfrm>
          <a:prstGeom prst="rect">
            <a:avLst/>
          </a:prstGeom>
          <a:noFill/>
          <a:ln/>
        </p:spPr>
        <p:txBody>
          <a:bodyPr wrap="square" lIns="0" tIns="0" rIns="0" bIns="0" rtlCol="0" anchor="ctr"/>
          <a:lstStyle/>
          <a:p>
            <a:pPr marL="0" indent="0">
              <a:buNone/>
            </a:pPr>
            <a:r>
              <a:rPr lang="en-US" sz="1600" b="1" dirty="0">
                <a:solidFill>
                  <a:srgbClr val="FFB703"/>
                </a:solidFill>
                <a:latin typeface="Calibri" pitchFamily="34" charset="0"/>
                <a:ea typeface="Calibri" pitchFamily="34" charset="-122"/>
                <a:cs typeface="Calibri" pitchFamily="34" charset="-120"/>
              </a:rPr>
              <a:t>Every 39 sec</a:t>
            </a:r>
            <a:endParaRPr lang="en-US" sz="1600" dirty="0"/>
          </a:p>
        </p:txBody>
      </p:sp>
      <p:sp>
        <p:nvSpPr>
          <p:cNvPr id="8" name="Text 5"/>
          <p:cNvSpPr/>
          <p:nvPr/>
        </p:nvSpPr>
        <p:spPr>
          <a:xfrm>
            <a:off x="7406640" y="1417320"/>
            <a:ext cx="1417320" cy="5486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 cyberattack happens globally</a:t>
            </a:r>
            <a:endParaRPr lang="en-US" sz="1000" dirty="0"/>
          </a:p>
        </p:txBody>
      </p:sp>
      <p:sp>
        <p:nvSpPr>
          <p:cNvPr id="9" name="Shape 6"/>
          <p:cNvSpPr/>
          <p:nvPr/>
        </p:nvSpPr>
        <p:spPr>
          <a:xfrm>
            <a:off x="6035040" y="2194560"/>
            <a:ext cx="2834640" cy="731520"/>
          </a:xfrm>
          <a:prstGeom prst="rect">
            <a:avLst/>
          </a:prstGeom>
          <a:solidFill>
            <a:srgbClr val="1B6CA8"/>
          </a:solidFill>
          <a:ln/>
        </p:spPr>
      </p:sp>
      <p:sp>
        <p:nvSpPr>
          <p:cNvPr id="10" name="Text 7"/>
          <p:cNvSpPr/>
          <p:nvPr/>
        </p:nvSpPr>
        <p:spPr>
          <a:xfrm>
            <a:off x="6080760" y="2231136"/>
            <a:ext cx="1371600" cy="658368"/>
          </a:xfrm>
          <a:prstGeom prst="rect">
            <a:avLst/>
          </a:prstGeom>
          <a:noFill/>
          <a:ln/>
        </p:spPr>
        <p:txBody>
          <a:bodyPr wrap="square" lIns="0" tIns="0" rIns="0" bIns="0" rtlCol="0" anchor="ctr"/>
          <a:lstStyle/>
          <a:p>
            <a:pPr marL="0" indent="0">
              <a:buNone/>
            </a:pPr>
            <a:r>
              <a:rPr lang="en-US" sz="1600" b="1" dirty="0">
                <a:solidFill>
                  <a:srgbClr val="FFB703"/>
                </a:solidFill>
                <a:latin typeface="Calibri" pitchFamily="34" charset="0"/>
                <a:ea typeface="Calibri" pitchFamily="34" charset="-122"/>
                <a:cs typeface="Calibri" pitchFamily="34" charset="-120"/>
              </a:rPr>
              <a:t>95%</a:t>
            </a:r>
            <a:endParaRPr lang="en-US" sz="1600" dirty="0"/>
          </a:p>
        </p:txBody>
      </p:sp>
      <p:sp>
        <p:nvSpPr>
          <p:cNvPr id="11" name="Text 8"/>
          <p:cNvSpPr/>
          <p:nvPr/>
        </p:nvSpPr>
        <p:spPr>
          <a:xfrm>
            <a:off x="7406640" y="2286000"/>
            <a:ext cx="1417320" cy="5486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Breaches involve human error</a:t>
            </a:r>
            <a:endParaRPr lang="en-US" sz="1000" dirty="0"/>
          </a:p>
        </p:txBody>
      </p:sp>
      <p:sp>
        <p:nvSpPr>
          <p:cNvPr id="12" name="Shape 9"/>
          <p:cNvSpPr/>
          <p:nvPr/>
        </p:nvSpPr>
        <p:spPr>
          <a:xfrm>
            <a:off x="6035040" y="3063240"/>
            <a:ext cx="2834640" cy="731520"/>
          </a:xfrm>
          <a:prstGeom prst="rect">
            <a:avLst/>
          </a:prstGeom>
          <a:solidFill>
            <a:srgbClr val="0D1B2A"/>
          </a:solidFill>
          <a:ln/>
        </p:spPr>
      </p:sp>
      <p:sp>
        <p:nvSpPr>
          <p:cNvPr id="13" name="Text 10"/>
          <p:cNvSpPr/>
          <p:nvPr/>
        </p:nvSpPr>
        <p:spPr>
          <a:xfrm>
            <a:off x="6080760" y="3099816"/>
            <a:ext cx="1371600" cy="658368"/>
          </a:xfrm>
          <a:prstGeom prst="rect">
            <a:avLst/>
          </a:prstGeom>
          <a:noFill/>
          <a:ln/>
        </p:spPr>
        <p:txBody>
          <a:bodyPr wrap="square" lIns="0" tIns="0" rIns="0" bIns="0" rtlCol="0" anchor="ctr"/>
          <a:lstStyle/>
          <a:p>
            <a:pPr marL="0" indent="0">
              <a:buNone/>
            </a:pPr>
            <a:r>
              <a:rPr lang="en-US" sz="1600" b="1" dirty="0">
                <a:solidFill>
                  <a:srgbClr val="FFB703"/>
                </a:solidFill>
                <a:latin typeface="Calibri" pitchFamily="34" charset="0"/>
                <a:ea typeface="Calibri" pitchFamily="34" charset="-122"/>
                <a:cs typeface="Calibri" pitchFamily="34" charset="-120"/>
              </a:rPr>
              <a:t>300%</a:t>
            </a:r>
            <a:endParaRPr lang="en-US" sz="1600" dirty="0"/>
          </a:p>
        </p:txBody>
      </p:sp>
      <p:sp>
        <p:nvSpPr>
          <p:cNvPr id="14" name="Text 11"/>
          <p:cNvSpPr/>
          <p:nvPr/>
        </p:nvSpPr>
        <p:spPr>
          <a:xfrm>
            <a:off x="7406640" y="3154680"/>
            <a:ext cx="1417320" cy="5486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Rise in cybercrime since COVID-19</a:t>
            </a:r>
            <a:endParaRPr lang="en-US" sz="1000" dirty="0"/>
          </a:p>
        </p:txBody>
      </p:sp>
      <p:sp>
        <p:nvSpPr>
          <p:cNvPr id="15" name="Shape 12"/>
          <p:cNvSpPr/>
          <p:nvPr/>
        </p:nvSpPr>
        <p:spPr>
          <a:xfrm>
            <a:off x="6035040" y="3931920"/>
            <a:ext cx="2834640" cy="731520"/>
          </a:xfrm>
          <a:prstGeom prst="rect">
            <a:avLst/>
          </a:prstGeom>
          <a:solidFill>
            <a:srgbClr val="1B6CA8"/>
          </a:solidFill>
          <a:ln/>
        </p:spPr>
      </p:sp>
      <p:sp>
        <p:nvSpPr>
          <p:cNvPr id="16" name="Text 13"/>
          <p:cNvSpPr/>
          <p:nvPr/>
        </p:nvSpPr>
        <p:spPr>
          <a:xfrm>
            <a:off x="6080760" y="3968496"/>
            <a:ext cx="1371600" cy="658368"/>
          </a:xfrm>
          <a:prstGeom prst="rect">
            <a:avLst/>
          </a:prstGeom>
          <a:noFill/>
          <a:ln/>
        </p:spPr>
        <p:txBody>
          <a:bodyPr wrap="square" lIns="0" tIns="0" rIns="0" bIns="0" rtlCol="0" anchor="ctr"/>
          <a:lstStyle/>
          <a:p>
            <a:pPr marL="0" indent="0">
              <a:buNone/>
            </a:pPr>
            <a:r>
              <a:rPr lang="en-US" sz="1600" b="1" dirty="0">
                <a:solidFill>
                  <a:srgbClr val="FFB703"/>
                </a:solidFill>
                <a:latin typeface="Calibri" pitchFamily="34" charset="0"/>
                <a:ea typeface="Calibri" pitchFamily="34" charset="-122"/>
                <a:cs typeface="Calibri" pitchFamily="34" charset="-120"/>
              </a:rPr>
              <a:t>3.5M</a:t>
            </a:r>
            <a:endParaRPr lang="en-US" sz="1600" dirty="0"/>
          </a:p>
        </p:txBody>
      </p:sp>
      <p:sp>
        <p:nvSpPr>
          <p:cNvPr id="17" name="Text 14"/>
          <p:cNvSpPr/>
          <p:nvPr/>
        </p:nvSpPr>
        <p:spPr>
          <a:xfrm>
            <a:off x="7406640" y="4023360"/>
            <a:ext cx="1417320" cy="5486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Unfilled cybersecurity jobs by 2025</a:t>
            </a:r>
            <a:endParaRPr lang="en-US" sz="1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1839" y="508000"/>
            <a:ext cx="7826104" cy="3970318"/>
          </a:xfrm>
          <a:prstGeom prst="rect">
            <a:avLst/>
          </a:prstGeom>
          <a:noFill/>
        </p:spPr>
        <p:txBody>
          <a:bodyPr wrap="square" rtlCol="0">
            <a:spAutoFit/>
          </a:bodyPr>
          <a:lstStyle/>
          <a:p>
            <a:pPr>
              <a:lnSpc>
                <a:spcPct val="150000"/>
              </a:lnSpc>
            </a:pPr>
            <a:r>
              <a:rPr lang="en-US" sz="2400" b="1" dirty="0" smtClean="0"/>
              <a:t>Why is cybercrime growing?</a:t>
            </a:r>
            <a:r>
              <a:rPr lang="en-US" sz="2400" dirty="0" smtClean="0"/>
              <a:t>
1. More devices connected to internet (</a:t>
            </a:r>
            <a:r>
              <a:rPr lang="en-US" sz="2400" dirty="0" err="1" smtClean="0"/>
              <a:t>IoT</a:t>
            </a:r>
            <a:r>
              <a:rPr lang="en-US" sz="2400" dirty="0" smtClean="0"/>
              <a:t> explosion)
2. Remote work expanding attack surfaces
3. </a:t>
            </a:r>
            <a:r>
              <a:rPr lang="en-US" sz="2400" dirty="0" err="1" smtClean="0"/>
              <a:t>Cryptocurrencies</a:t>
            </a:r>
            <a:r>
              <a:rPr lang="en-US" sz="2400" dirty="0" smtClean="0"/>
              <a:t> enabling anonymous ransom payments
4. Cybercrime-as-a-Service (</a:t>
            </a:r>
            <a:r>
              <a:rPr lang="en-US" sz="2400" dirty="0" err="1" smtClean="0"/>
              <a:t>CaaS</a:t>
            </a:r>
            <a:r>
              <a:rPr lang="en-US" sz="2400" dirty="0" smtClean="0"/>
              <a:t>) — criminals renting hacking tools on the dark web
5. Lack of </a:t>
            </a:r>
            <a:r>
              <a:rPr lang="en-US" sz="2400" dirty="0" err="1" smtClean="0"/>
              <a:t>cybersecurity</a:t>
            </a:r>
            <a:r>
              <a:rPr lang="en-US" sz="2400" dirty="0" smtClean="0"/>
              <a:t> awareness among users</a:t>
            </a:r>
            <a:endParaRPr 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7829" y="548640"/>
            <a:ext cx="7743371" cy="3693319"/>
          </a:xfrm>
          <a:prstGeom prst="rect">
            <a:avLst/>
          </a:prstGeom>
          <a:noFill/>
        </p:spPr>
        <p:txBody>
          <a:bodyPr wrap="square" rtlCol="0">
            <a:spAutoFit/>
          </a:bodyPr>
          <a:lstStyle/>
          <a:p>
            <a:r>
              <a:rPr lang="en-US" b="1" dirty="0" smtClean="0"/>
              <a:t>Real-Time Example: COVID-19 and Cybercrime Surge</a:t>
            </a:r>
            <a:r>
              <a:rPr lang="en-US" dirty="0" smtClean="0"/>
              <a:t>
- WHO reported a 500% increase in </a:t>
            </a:r>
            <a:r>
              <a:rPr lang="en-US" dirty="0" err="1" smtClean="0"/>
              <a:t>cyberattacks</a:t>
            </a:r>
            <a:r>
              <a:rPr lang="en-US" dirty="0" smtClean="0"/>
              <a:t> during early pandemic (2020)
- Zoom went from 10M to 300M users overnight — hackers exploited this ("</a:t>
            </a:r>
            <a:r>
              <a:rPr lang="en-US" dirty="0" err="1" smtClean="0"/>
              <a:t>Zoombombing</a:t>
            </a:r>
            <a:r>
              <a:rPr lang="en-US" dirty="0" smtClean="0"/>
              <a:t>")
- Indian CERT-In (Computer Emergency Response Team) handled 14 </a:t>
            </a:r>
            <a:r>
              <a:rPr lang="en-US" dirty="0" err="1" smtClean="0"/>
              <a:t>lakh</a:t>
            </a:r>
            <a:r>
              <a:rPr lang="en-US" dirty="0" smtClean="0"/>
              <a:t> incidents in 2022
India Stat: According to NASSCOM, India needs 1 million </a:t>
            </a:r>
            <a:r>
              <a:rPr lang="en-US" dirty="0" err="1" smtClean="0"/>
              <a:t>cybersecurity</a:t>
            </a:r>
            <a:r>
              <a:rPr lang="en-US" dirty="0" smtClean="0"/>
              <a:t> professionals by 2025 but currently has a huge shortage.
Career opportunity: </a:t>
            </a:r>
            <a:r>
              <a:rPr lang="en-US" dirty="0" err="1" smtClean="0"/>
              <a:t>Cybersecurity</a:t>
            </a:r>
            <a:r>
              <a:rPr lang="en-US" dirty="0" smtClean="0"/>
              <a:t> is one of the fastest-growing career fields with salaries ₹8–30 LPA for entry to mid-level professionals in India.</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Need for Cyber Law in India</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The Information Technology Act 2000 and its amendments</a:t>
            </a:r>
            <a:endParaRPr lang="en-US" sz="1300" dirty="0"/>
          </a:p>
        </p:txBody>
      </p:sp>
      <p:sp>
        <p:nvSpPr>
          <p:cNvPr id="5" name="Shape 3"/>
          <p:cNvSpPr/>
          <p:nvPr/>
        </p:nvSpPr>
        <p:spPr>
          <a:xfrm>
            <a:off x="1965960" y="1325880"/>
            <a:ext cx="54864" cy="3383280"/>
          </a:xfrm>
          <a:prstGeom prst="rect">
            <a:avLst/>
          </a:prstGeom>
          <a:solidFill>
            <a:srgbClr val="00B4D8"/>
          </a:solidFill>
          <a:ln/>
        </p:spPr>
      </p:sp>
      <p:sp>
        <p:nvSpPr>
          <p:cNvPr id="6" name="Shape 4"/>
          <p:cNvSpPr/>
          <p:nvPr/>
        </p:nvSpPr>
        <p:spPr>
          <a:xfrm>
            <a:off x="1783080" y="1399032"/>
            <a:ext cx="411480" cy="411480"/>
          </a:xfrm>
          <a:prstGeom prst="ellipse">
            <a:avLst/>
          </a:prstGeom>
          <a:solidFill>
            <a:srgbClr val="1B6CA8"/>
          </a:solidFill>
          <a:ln/>
        </p:spPr>
      </p:sp>
      <p:sp>
        <p:nvSpPr>
          <p:cNvPr id="7" name="Text 5"/>
          <p:cNvSpPr/>
          <p:nvPr/>
        </p:nvSpPr>
        <p:spPr>
          <a:xfrm>
            <a:off x="1783080" y="1399032"/>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1996</a:t>
            </a:r>
            <a:endParaRPr lang="en-US" sz="900" dirty="0"/>
          </a:p>
        </p:txBody>
      </p:sp>
      <p:sp>
        <p:nvSpPr>
          <p:cNvPr id="8" name="Text 6"/>
          <p:cNvSpPr/>
          <p:nvPr/>
        </p:nvSpPr>
        <p:spPr>
          <a:xfrm>
            <a:off x="2468880" y="1380744"/>
            <a:ext cx="6400800" cy="411480"/>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UN Model Law on e-Commerce adopted</a:t>
            </a:r>
            <a:endParaRPr lang="en-US" sz="1200" dirty="0"/>
          </a:p>
        </p:txBody>
      </p:sp>
      <p:sp>
        <p:nvSpPr>
          <p:cNvPr id="9" name="Shape 7"/>
          <p:cNvSpPr/>
          <p:nvPr/>
        </p:nvSpPr>
        <p:spPr>
          <a:xfrm>
            <a:off x="1783080" y="1965960"/>
            <a:ext cx="411480" cy="411480"/>
          </a:xfrm>
          <a:prstGeom prst="ellipse">
            <a:avLst/>
          </a:prstGeom>
          <a:solidFill>
            <a:srgbClr val="1B6CA8"/>
          </a:solidFill>
          <a:ln/>
        </p:spPr>
      </p:sp>
      <p:sp>
        <p:nvSpPr>
          <p:cNvPr id="10" name="Text 8"/>
          <p:cNvSpPr/>
          <p:nvPr/>
        </p:nvSpPr>
        <p:spPr>
          <a:xfrm>
            <a:off x="1783080" y="196596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2000</a:t>
            </a:r>
            <a:endParaRPr lang="en-US" sz="900" dirty="0"/>
          </a:p>
        </p:txBody>
      </p:sp>
      <p:sp>
        <p:nvSpPr>
          <p:cNvPr id="11" name="Text 9"/>
          <p:cNvSpPr/>
          <p:nvPr/>
        </p:nvSpPr>
        <p:spPr>
          <a:xfrm>
            <a:off x="2468880" y="1947672"/>
            <a:ext cx="6400800" cy="411480"/>
          </a:xfrm>
          <a:prstGeom prst="rect">
            <a:avLst/>
          </a:prstGeom>
          <a:noFill/>
          <a:ln/>
        </p:spPr>
        <p:txBody>
          <a:bodyPr wrap="square" lIns="0" tIns="0" rIns="0" bIns="0" rtlCol="0" anchor="ctr"/>
          <a:lstStyle/>
          <a:p>
            <a:pPr marL="0" indent="0">
              <a:buNone/>
            </a:pPr>
            <a:r>
              <a:rPr lang="en-US" sz="1200" b="1" dirty="0">
                <a:solidFill>
                  <a:srgbClr val="1B6CA8"/>
                </a:solidFill>
                <a:latin typeface="Calibri" pitchFamily="34" charset="0"/>
                <a:ea typeface="Calibri" pitchFamily="34" charset="-122"/>
                <a:cs typeface="Calibri" pitchFamily="34" charset="-120"/>
              </a:rPr>
              <a:t>IT Act 2000 passed — India's first cyber law</a:t>
            </a:r>
            <a:endParaRPr lang="en-US" sz="1200" dirty="0"/>
          </a:p>
        </p:txBody>
      </p:sp>
      <p:sp>
        <p:nvSpPr>
          <p:cNvPr id="12" name="Shape 10"/>
          <p:cNvSpPr/>
          <p:nvPr/>
        </p:nvSpPr>
        <p:spPr>
          <a:xfrm>
            <a:off x="1783080" y="2532888"/>
            <a:ext cx="411480" cy="411480"/>
          </a:xfrm>
          <a:prstGeom prst="ellipse">
            <a:avLst/>
          </a:prstGeom>
          <a:solidFill>
            <a:srgbClr val="1B6CA8"/>
          </a:solidFill>
          <a:ln/>
        </p:spPr>
      </p:sp>
      <p:sp>
        <p:nvSpPr>
          <p:cNvPr id="13" name="Text 11"/>
          <p:cNvSpPr/>
          <p:nvPr/>
        </p:nvSpPr>
        <p:spPr>
          <a:xfrm>
            <a:off x="1783080" y="2532888"/>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2008</a:t>
            </a:r>
            <a:endParaRPr lang="en-US" sz="900" dirty="0"/>
          </a:p>
        </p:txBody>
      </p:sp>
      <p:sp>
        <p:nvSpPr>
          <p:cNvPr id="14" name="Text 12"/>
          <p:cNvSpPr/>
          <p:nvPr/>
        </p:nvSpPr>
        <p:spPr>
          <a:xfrm>
            <a:off x="2468880" y="2514600"/>
            <a:ext cx="6400800" cy="411480"/>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IT (Amendment) Act 2008 — added Sec 66A-F</a:t>
            </a:r>
            <a:endParaRPr lang="en-US" sz="1200" dirty="0"/>
          </a:p>
        </p:txBody>
      </p:sp>
      <p:sp>
        <p:nvSpPr>
          <p:cNvPr id="15" name="Shape 13"/>
          <p:cNvSpPr/>
          <p:nvPr/>
        </p:nvSpPr>
        <p:spPr>
          <a:xfrm>
            <a:off x="1783080" y="3099816"/>
            <a:ext cx="411480" cy="411480"/>
          </a:xfrm>
          <a:prstGeom prst="ellipse">
            <a:avLst/>
          </a:prstGeom>
          <a:solidFill>
            <a:srgbClr val="1B6CA8"/>
          </a:solidFill>
          <a:ln/>
        </p:spPr>
      </p:sp>
      <p:sp>
        <p:nvSpPr>
          <p:cNvPr id="16" name="Text 14"/>
          <p:cNvSpPr/>
          <p:nvPr/>
        </p:nvSpPr>
        <p:spPr>
          <a:xfrm>
            <a:off x="1783080" y="3099816"/>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2013</a:t>
            </a:r>
            <a:endParaRPr lang="en-US" sz="900" dirty="0"/>
          </a:p>
        </p:txBody>
      </p:sp>
      <p:sp>
        <p:nvSpPr>
          <p:cNvPr id="17" name="Text 15"/>
          <p:cNvSpPr/>
          <p:nvPr/>
        </p:nvSpPr>
        <p:spPr>
          <a:xfrm>
            <a:off x="2468880" y="3081528"/>
            <a:ext cx="6400800" cy="411480"/>
          </a:xfrm>
          <a:prstGeom prst="rect">
            <a:avLst/>
          </a:prstGeom>
          <a:noFill/>
          <a:ln/>
        </p:spPr>
        <p:txBody>
          <a:bodyPr wrap="square" lIns="0" tIns="0" rIns="0" bIns="0" rtlCol="0" anchor="ctr"/>
          <a:lstStyle/>
          <a:p>
            <a:pPr marL="0" indent="0">
              <a:buNone/>
            </a:pPr>
            <a:r>
              <a:rPr lang="en-US" sz="1200" b="1" dirty="0">
                <a:solidFill>
                  <a:srgbClr val="1B6CA8"/>
                </a:solidFill>
                <a:latin typeface="Calibri" pitchFamily="34" charset="0"/>
                <a:ea typeface="Calibri" pitchFamily="34" charset="-122"/>
                <a:cs typeface="Calibri" pitchFamily="34" charset="-120"/>
              </a:rPr>
              <a:t>Aadhaar Act — biometric data protection</a:t>
            </a:r>
            <a:endParaRPr lang="en-US" sz="1200" dirty="0"/>
          </a:p>
        </p:txBody>
      </p:sp>
      <p:sp>
        <p:nvSpPr>
          <p:cNvPr id="18" name="Shape 16"/>
          <p:cNvSpPr/>
          <p:nvPr/>
        </p:nvSpPr>
        <p:spPr>
          <a:xfrm>
            <a:off x="1783080" y="3666744"/>
            <a:ext cx="411480" cy="411480"/>
          </a:xfrm>
          <a:prstGeom prst="ellipse">
            <a:avLst/>
          </a:prstGeom>
          <a:solidFill>
            <a:srgbClr val="1B6CA8"/>
          </a:solidFill>
          <a:ln/>
        </p:spPr>
      </p:sp>
      <p:sp>
        <p:nvSpPr>
          <p:cNvPr id="19" name="Text 17"/>
          <p:cNvSpPr/>
          <p:nvPr/>
        </p:nvSpPr>
        <p:spPr>
          <a:xfrm>
            <a:off x="1783080" y="3666744"/>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2021</a:t>
            </a:r>
            <a:endParaRPr lang="en-US" sz="900" dirty="0"/>
          </a:p>
        </p:txBody>
      </p:sp>
      <p:sp>
        <p:nvSpPr>
          <p:cNvPr id="20" name="Text 18"/>
          <p:cNvSpPr/>
          <p:nvPr/>
        </p:nvSpPr>
        <p:spPr>
          <a:xfrm>
            <a:off x="2468880" y="3648456"/>
            <a:ext cx="6400800" cy="411480"/>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IT Rules 2021 — social media accountability</a:t>
            </a:r>
            <a:endParaRPr lang="en-US" sz="1200" dirty="0"/>
          </a:p>
        </p:txBody>
      </p:sp>
      <p:sp>
        <p:nvSpPr>
          <p:cNvPr id="21" name="Shape 19"/>
          <p:cNvSpPr/>
          <p:nvPr/>
        </p:nvSpPr>
        <p:spPr>
          <a:xfrm>
            <a:off x="1783080" y="4233672"/>
            <a:ext cx="411480" cy="411480"/>
          </a:xfrm>
          <a:prstGeom prst="ellipse">
            <a:avLst/>
          </a:prstGeom>
          <a:solidFill>
            <a:srgbClr val="1B6CA8"/>
          </a:solidFill>
          <a:ln/>
        </p:spPr>
      </p:sp>
      <p:sp>
        <p:nvSpPr>
          <p:cNvPr id="22" name="Text 20"/>
          <p:cNvSpPr/>
          <p:nvPr/>
        </p:nvSpPr>
        <p:spPr>
          <a:xfrm>
            <a:off x="1783080" y="4233672"/>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2023</a:t>
            </a:r>
            <a:endParaRPr lang="en-US" sz="900" dirty="0"/>
          </a:p>
        </p:txBody>
      </p:sp>
      <p:sp>
        <p:nvSpPr>
          <p:cNvPr id="23" name="Text 21"/>
          <p:cNvSpPr/>
          <p:nvPr/>
        </p:nvSpPr>
        <p:spPr>
          <a:xfrm>
            <a:off x="2468880" y="4215384"/>
            <a:ext cx="6400800" cy="411480"/>
          </a:xfrm>
          <a:prstGeom prst="rect">
            <a:avLst/>
          </a:prstGeom>
          <a:noFill/>
          <a:ln/>
        </p:spPr>
        <p:txBody>
          <a:bodyPr wrap="square" lIns="0" tIns="0" rIns="0" bIns="0" rtlCol="0" anchor="ctr"/>
          <a:lstStyle/>
          <a:p>
            <a:pPr marL="0" indent="0">
              <a:buNone/>
            </a:pPr>
            <a:r>
              <a:rPr lang="en-US" sz="1200" b="1" dirty="0">
                <a:solidFill>
                  <a:srgbClr val="1B6CA8"/>
                </a:solidFill>
                <a:latin typeface="Calibri" pitchFamily="34" charset="0"/>
                <a:ea typeface="Calibri" pitchFamily="34" charset="-122"/>
                <a:cs typeface="Calibri" pitchFamily="34" charset="-120"/>
              </a:rPr>
              <a:t>Digital Personal Data Protection Act 2023</a:t>
            </a:r>
            <a:endParaRPr lang="en-US" sz="1200" dirty="0"/>
          </a:p>
        </p:txBody>
      </p:sp>
      <p:sp>
        <p:nvSpPr>
          <p:cNvPr id="24" name="Text 22"/>
          <p:cNvSpPr/>
          <p:nvPr/>
        </p:nvSpPr>
        <p:spPr>
          <a:xfrm>
            <a:off x="274320" y="4709160"/>
            <a:ext cx="8595360" cy="32004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Key Sections: 43 (Damage) | 66 (Offences) | 67 (Obscene material) | 72 (Breach of confidentiality) | 66F (Terrorism)</a:t>
            </a:r>
            <a:endParaRPr lang="en-US" sz="1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7787" y="634482"/>
            <a:ext cx="7305869" cy="2677656"/>
          </a:xfrm>
          <a:prstGeom prst="rect">
            <a:avLst/>
          </a:prstGeom>
          <a:noFill/>
        </p:spPr>
        <p:txBody>
          <a:bodyPr wrap="square" rtlCol="0">
            <a:spAutoFit/>
          </a:bodyPr>
          <a:lstStyle/>
          <a:p>
            <a:r>
              <a:rPr lang="en-US" sz="2400" b="1" dirty="0" smtClean="0"/>
              <a:t>Why India needed cyber law:</a:t>
            </a:r>
            <a:r>
              <a:rPr lang="en-US" sz="2400" dirty="0" smtClean="0"/>
              <a:t>
1. Traditional IPC (Indian Penal Code) did not cover computer crimes
2. E-commerce needed legal recognition (digital signatures, contracts)
3. Rising cybercrimes with no legal framework to prosecute</a:t>
            </a:r>
            <a:endParaRPr 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56995" y="541176"/>
            <a:ext cx="6822233" cy="2542363"/>
          </a:xfrm>
          <a:prstGeom prst="rect">
            <a:avLst/>
          </a:prstGeom>
          <a:noFill/>
        </p:spPr>
        <p:txBody>
          <a:bodyPr wrap="square" rtlCol="0">
            <a:spAutoFit/>
          </a:bodyPr>
          <a:lstStyle/>
          <a:p>
            <a:pPr>
              <a:lnSpc>
                <a:spcPct val="150000"/>
              </a:lnSpc>
            </a:pPr>
            <a:r>
              <a:rPr lang="en-US" b="1" dirty="0" smtClean="0"/>
              <a:t>Real-Time Example: Section 66A Controversy</a:t>
            </a:r>
            <a:r>
              <a:rPr lang="en-US" dirty="0" smtClean="0"/>
              <a:t>
- Sec 66A criminalized "offensive" online messages — broadly worded
- In 2012, two girls arrested in Maharashtra for a </a:t>
            </a:r>
            <a:r>
              <a:rPr lang="en-US" dirty="0" err="1" smtClean="0"/>
              <a:t>Facebook</a:t>
            </a:r>
            <a:r>
              <a:rPr lang="en-US" dirty="0" smtClean="0"/>
              <a:t> post about a </a:t>
            </a:r>
            <a:r>
              <a:rPr lang="en-US" dirty="0" err="1" smtClean="0"/>
              <a:t>bandh</a:t>
            </a:r>
            <a:r>
              <a:rPr lang="en-US" dirty="0" smtClean="0"/>
              <a:t>
- Supreme Court struck down Sec 66A in SHREYA SINGHAL </a:t>
            </a:r>
            <a:r>
              <a:rPr lang="en-US" dirty="0" err="1" smtClean="0"/>
              <a:t>vs</a:t>
            </a:r>
            <a:r>
              <a:rPr lang="en-US" dirty="0" smtClean="0"/>
              <a:t> UNION OF INDIA (2015) — landmark judgment for free speech online</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31641" y="541176"/>
            <a:ext cx="7095930" cy="3788858"/>
          </a:xfrm>
          <a:prstGeom prst="rect">
            <a:avLst/>
          </a:prstGeom>
          <a:noFill/>
        </p:spPr>
        <p:txBody>
          <a:bodyPr wrap="square" rtlCol="0">
            <a:spAutoFit/>
          </a:bodyPr>
          <a:lstStyle/>
          <a:p>
            <a:pPr>
              <a:lnSpc>
                <a:spcPct val="150000"/>
              </a:lnSpc>
            </a:pPr>
            <a:r>
              <a:rPr lang="en-US" b="1" dirty="0" smtClean="0"/>
              <a:t>Latest Development: Digital Personal Data Protection Act </a:t>
            </a:r>
            <a:r>
              <a:rPr lang="en-US" dirty="0" smtClean="0"/>
              <a:t>2023 (DPDP Act)
- India's answer to GDPR
- Gives citizens "right to be forgotten"
- Heavy penalties for companies mishandling data
- Data fiduciaries (companies) must get explicit consent
</a:t>
            </a:r>
            <a:r>
              <a:rPr lang="en-US" b="1" dirty="0" smtClean="0"/>
              <a:t>Key point for exams: IT Act 2000 is based on the UNCITRAL Model Law on Electronic Commerce (1996).</a:t>
            </a:r>
            <a:endParaRPr lang="en-US"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Ethical Dilemmas in Project Management</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Real situations IT professionals face that test their ethical judgment</a:t>
            </a:r>
            <a:endParaRPr lang="en-US" sz="1300" dirty="0"/>
          </a:p>
        </p:txBody>
      </p:sp>
      <p:sp>
        <p:nvSpPr>
          <p:cNvPr id="5" name="Shape 3"/>
          <p:cNvSpPr/>
          <p:nvPr/>
        </p:nvSpPr>
        <p:spPr>
          <a:xfrm>
            <a:off x="228600" y="1325880"/>
            <a:ext cx="4206240" cy="1600200"/>
          </a:xfrm>
          <a:prstGeom prst="rect">
            <a:avLst/>
          </a:prstGeom>
          <a:solidFill>
            <a:srgbClr val="F0F4F8"/>
          </a:solidFill>
          <a:ln/>
          <a:effectLst>
            <a:outerShdw blurRad="50800" dist="25400" dir="8100000" algn="bl" rotWithShape="0">
              <a:srgbClr val="000000">
                <a:alpha val="10000"/>
              </a:srgbClr>
            </a:outerShdw>
          </a:effectLst>
        </p:spPr>
      </p:sp>
      <p:sp>
        <p:nvSpPr>
          <p:cNvPr id="6" name="Shape 4"/>
          <p:cNvSpPr/>
          <p:nvPr/>
        </p:nvSpPr>
        <p:spPr>
          <a:xfrm>
            <a:off x="228600" y="1325880"/>
            <a:ext cx="4206240" cy="347472"/>
          </a:xfrm>
          <a:prstGeom prst="rect">
            <a:avLst/>
          </a:prstGeom>
          <a:solidFill>
            <a:srgbClr val="E63946"/>
          </a:solidFill>
          <a:ln/>
        </p:spPr>
      </p:sp>
      <p:sp>
        <p:nvSpPr>
          <p:cNvPr id="7" name="Text 5"/>
          <p:cNvSpPr/>
          <p:nvPr/>
        </p:nvSpPr>
        <p:spPr>
          <a:xfrm>
            <a:off x="320040" y="1371600"/>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Whistleblowing</a:t>
            </a:r>
            <a:endParaRPr lang="en-US" sz="1200" dirty="0"/>
          </a:p>
        </p:txBody>
      </p:sp>
      <p:sp>
        <p:nvSpPr>
          <p:cNvPr id="8" name="Text 6"/>
          <p:cNvSpPr/>
          <p:nvPr/>
        </p:nvSpPr>
        <p:spPr>
          <a:xfrm>
            <a:off x="320040" y="1728216"/>
            <a:ext cx="4023360" cy="7315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You discover your project is being used to build spyware for a government to monitor dissidents.</a:t>
            </a:r>
            <a:endParaRPr lang="en-US" sz="1000" dirty="0"/>
          </a:p>
        </p:txBody>
      </p:sp>
      <p:sp>
        <p:nvSpPr>
          <p:cNvPr id="9" name="Text 7"/>
          <p:cNvSpPr/>
          <p:nvPr/>
        </p:nvSpPr>
        <p:spPr>
          <a:xfrm>
            <a:off x="320040" y="2514600"/>
            <a:ext cx="4023360" cy="329184"/>
          </a:xfrm>
          <a:prstGeom prst="rect">
            <a:avLst/>
          </a:prstGeom>
          <a:noFill/>
          <a:ln/>
        </p:spPr>
        <p:txBody>
          <a:bodyPr wrap="square" lIns="0" tIns="0" rIns="0" bIns="0" rtlCol="0" anchor="ctr"/>
          <a:lstStyle/>
          <a:p>
            <a:pPr marL="0" indent="0">
              <a:buNone/>
            </a:pPr>
            <a:r>
              <a:rPr lang="en-US" sz="1000" b="1" i="1" dirty="0">
                <a:solidFill>
                  <a:srgbClr val="E63946"/>
                </a:solidFill>
                <a:latin typeface="Calibri" pitchFamily="34" charset="0"/>
                <a:ea typeface="Calibri" pitchFamily="34" charset="-122"/>
                <a:cs typeface="Calibri" pitchFamily="34" charset="-120"/>
              </a:rPr>
              <a:t>❓ Report internally? Go public? Stay silent?</a:t>
            </a:r>
            <a:endParaRPr lang="en-US" sz="1000" dirty="0"/>
          </a:p>
        </p:txBody>
      </p:sp>
      <p:sp>
        <p:nvSpPr>
          <p:cNvPr id="10" name="Shape 8"/>
          <p:cNvSpPr/>
          <p:nvPr/>
        </p:nvSpPr>
        <p:spPr>
          <a:xfrm>
            <a:off x="4663440" y="1325880"/>
            <a:ext cx="4206240" cy="1600200"/>
          </a:xfrm>
          <a:prstGeom prst="rect">
            <a:avLst/>
          </a:prstGeom>
          <a:solidFill>
            <a:srgbClr val="F0F4F8"/>
          </a:solidFill>
          <a:ln/>
          <a:effectLst>
            <a:outerShdw blurRad="50800" dist="25400" dir="8100000" algn="bl" rotWithShape="0">
              <a:srgbClr val="000000">
                <a:alpha val="10000"/>
              </a:srgbClr>
            </a:outerShdw>
          </a:effectLst>
        </p:spPr>
      </p:sp>
      <p:sp>
        <p:nvSpPr>
          <p:cNvPr id="11" name="Shape 9"/>
          <p:cNvSpPr/>
          <p:nvPr/>
        </p:nvSpPr>
        <p:spPr>
          <a:xfrm>
            <a:off x="4663440" y="1325880"/>
            <a:ext cx="4206240" cy="347472"/>
          </a:xfrm>
          <a:prstGeom prst="rect">
            <a:avLst/>
          </a:prstGeom>
          <a:solidFill>
            <a:srgbClr val="1B6CA8"/>
          </a:solidFill>
          <a:ln/>
        </p:spPr>
      </p:sp>
      <p:sp>
        <p:nvSpPr>
          <p:cNvPr id="12" name="Text 10"/>
          <p:cNvSpPr/>
          <p:nvPr/>
        </p:nvSpPr>
        <p:spPr>
          <a:xfrm>
            <a:off x="4754880" y="1371600"/>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Scope Creep &amp; False Reporting</a:t>
            </a:r>
            <a:endParaRPr lang="en-US" sz="1200" dirty="0"/>
          </a:p>
        </p:txBody>
      </p:sp>
      <p:sp>
        <p:nvSpPr>
          <p:cNvPr id="13" name="Text 11"/>
          <p:cNvSpPr/>
          <p:nvPr/>
        </p:nvSpPr>
        <p:spPr>
          <a:xfrm>
            <a:off x="4754880" y="1728216"/>
            <a:ext cx="4023360" cy="7315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Manager pressures you to report 80% completion when the project is only 40% done.</a:t>
            </a:r>
            <a:endParaRPr lang="en-US" sz="1000" dirty="0"/>
          </a:p>
        </p:txBody>
      </p:sp>
      <p:sp>
        <p:nvSpPr>
          <p:cNvPr id="14" name="Text 12"/>
          <p:cNvSpPr/>
          <p:nvPr/>
        </p:nvSpPr>
        <p:spPr>
          <a:xfrm>
            <a:off x="4754880" y="2514600"/>
            <a:ext cx="4023360" cy="329184"/>
          </a:xfrm>
          <a:prstGeom prst="rect">
            <a:avLst/>
          </a:prstGeom>
          <a:noFill/>
          <a:ln/>
        </p:spPr>
        <p:txBody>
          <a:bodyPr wrap="square" lIns="0" tIns="0" rIns="0" bIns="0" rtlCol="0" anchor="ctr"/>
          <a:lstStyle/>
          <a:p>
            <a:pPr marL="0" indent="0">
              <a:buNone/>
            </a:pPr>
            <a:r>
              <a:rPr lang="en-US" sz="1000" b="1" i="1" dirty="0">
                <a:solidFill>
                  <a:srgbClr val="1B6CA8"/>
                </a:solidFill>
                <a:latin typeface="Calibri" pitchFamily="34" charset="0"/>
                <a:ea typeface="Calibri" pitchFamily="34" charset="-122"/>
                <a:cs typeface="Calibri" pitchFamily="34" charset="-120"/>
              </a:rPr>
              <a:t>❓ Falsify reports? Push back? Escalate?</a:t>
            </a:r>
            <a:endParaRPr lang="en-US" sz="1000" dirty="0"/>
          </a:p>
        </p:txBody>
      </p:sp>
      <p:sp>
        <p:nvSpPr>
          <p:cNvPr id="15" name="Shape 13"/>
          <p:cNvSpPr/>
          <p:nvPr/>
        </p:nvSpPr>
        <p:spPr>
          <a:xfrm>
            <a:off x="228600" y="3108960"/>
            <a:ext cx="4206240" cy="1600200"/>
          </a:xfrm>
          <a:prstGeom prst="rect">
            <a:avLst/>
          </a:prstGeom>
          <a:solidFill>
            <a:srgbClr val="F0F4F8"/>
          </a:solidFill>
          <a:ln/>
          <a:effectLst>
            <a:outerShdw blurRad="50800" dist="25400" dir="8100000" algn="bl" rotWithShape="0">
              <a:srgbClr val="000000">
                <a:alpha val="10000"/>
              </a:srgbClr>
            </a:outerShdw>
          </a:effectLst>
        </p:spPr>
      </p:sp>
      <p:sp>
        <p:nvSpPr>
          <p:cNvPr id="16" name="Shape 14"/>
          <p:cNvSpPr/>
          <p:nvPr/>
        </p:nvSpPr>
        <p:spPr>
          <a:xfrm>
            <a:off x="228600" y="3108960"/>
            <a:ext cx="4206240" cy="347472"/>
          </a:xfrm>
          <a:prstGeom prst="rect">
            <a:avLst/>
          </a:prstGeom>
          <a:solidFill>
            <a:srgbClr val="7C3AED"/>
          </a:solidFill>
          <a:ln/>
        </p:spPr>
      </p:sp>
      <p:sp>
        <p:nvSpPr>
          <p:cNvPr id="17" name="Text 15"/>
          <p:cNvSpPr/>
          <p:nvPr/>
        </p:nvSpPr>
        <p:spPr>
          <a:xfrm>
            <a:off x="320040" y="3154680"/>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Conflict of Interest</a:t>
            </a:r>
            <a:endParaRPr lang="en-US" sz="1200" dirty="0"/>
          </a:p>
        </p:txBody>
      </p:sp>
      <p:sp>
        <p:nvSpPr>
          <p:cNvPr id="18" name="Text 16"/>
          <p:cNvSpPr/>
          <p:nvPr/>
        </p:nvSpPr>
        <p:spPr>
          <a:xfrm>
            <a:off x="320040" y="3511296"/>
            <a:ext cx="4023360" cy="7315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You are evaluating vendor proposals; one vendor is owned by your relative.</a:t>
            </a:r>
            <a:endParaRPr lang="en-US" sz="1000" dirty="0"/>
          </a:p>
        </p:txBody>
      </p:sp>
      <p:sp>
        <p:nvSpPr>
          <p:cNvPr id="19" name="Text 17"/>
          <p:cNvSpPr/>
          <p:nvPr/>
        </p:nvSpPr>
        <p:spPr>
          <a:xfrm>
            <a:off x="320040" y="4297680"/>
            <a:ext cx="4023360" cy="329184"/>
          </a:xfrm>
          <a:prstGeom prst="rect">
            <a:avLst/>
          </a:prstGeom>
          <a:noFill/>
          <a:ln/>
        </p:spPr>
        <p:txBody>
          <a:bodyPr wrap="square" lIns="0" tIns="0" rIns="0" bIns="0" rtlCol="0" anchor="ctr"/>
          <a:lstStyle/>
          <a:p>
            <a:pPr marL="0" indent="0">
              <a:buNone/>
            </a:pPr>
            <a:r>
              <a:rPr lang="en-US" sz="1000" b="1" i="1" dirty="0">
                <a:solidFill>
                  <a:srgbClr val="7C3AED"/>
                </a:solidFill>
                <a:latin typeface="Calibri" pitchFamily="34" charset="0"/>
                <a:ea typeface="Calibri" pitchFamily="34" charset="-122"/>
                <a:cs typeface="Calibri" pitchFamily="34" charset="-120"/>
              </a:rPr>
              <a:t>❓ Proceed silently? Disclose? Recuse yourself?</a:t>
            </a:r>
            <a:endParaRPr lang="en-US" sz="1000" dirty="0"/>
          </a:p>
        </p:txBody>
      </p:sp>
      <p:sp>
        <p:nvSpPr>
          <p:cNvPr id="20" name="Shape 18"/>
          <p:cNvSpPr/>
          <p:nvPr/>
        </p:nvSpPr>
        <p:spPr>
          <a:xfrm>
            <a:off x="4663440" y="3108960"/>
            <a:ext cx="4206240" cy="1600200"/>
          </a:xfrm>
          <a:prstGeom prst="rect">
            <a:avLst/>
          </a:prstGeom>
          <a:solidFill>
            <a:srgbClr val="F0F4F8"/>
          </a:solidFill>
          <a:ln/>
          <a:effectLst>
            <a:outerShdw blurRad="50800" dist="25400" dir="8100000" algn="bl" rotWithShape="0">
              <a:srgbClr val="000000">
                <a:alpha val="10000"/>
              </a:srgbClr>
            </a:outerShdw>
          </a:effectLst>
        </p:spPr>
      </p:sp>
      <p:sp>
        <p:nvSpPr>
          <p:cNvPr id="21" name="Shape 19"/>
          <p:cNvSpPr/>
          <p:nvPr/>
        </p:nvSpPr>
        <p:spPr>
          <a:xfrm>
            <a:off x="4663440" y="3108960"/>
            <a:ext cx="4206240" cy="347472"/>
          </a:xfrm>
          <a:prstGeom prst="rect">
            <a:avLst/>
          </a:prstGeom>
          <a:solidFill>
            <a:srgbClr val="FFB703"/>
          </a:solidFill>
          <a:ln/>
        </p:spPr>
      </p:sp>
      <p:sp>
        <p:nvSpPr>
          <p:cNvPr id="22" name="Text 20"/>
          <p:cNvSpPr/>
          <p:nvPr/>
        </p:nvSpPr>
        <p:spPr>
          <a:xfrm>
            <a:off x="4754880" y="3154680"/>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Intellectual Property</a:t>
            </a:r>
            <a:endParaRPr lang="en-US" sz="1200" dirty="0"/>
          </a:p>
        </p:txBody>
      </p:sp>
      <p:sp>
        <p:nvSpPr>
          <p:cNvPr id="23" name="Text 21"/>
          <p:cNvSpPr/>
          <p:nvPr/>
        </p:nvSpPr>
        <p:spPr>
          <a:xfrm>
            <a:off x="4754880" y="3511296"/>
            <a:ext cx="4023360" cy="7315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You leave a company and want to use the code you personally wrote for a new employer.</a:t>
            </a:r>
            <a:endParaRPr lang="en-US" sz="1000" dirty="0"/>
          </a:p>
        </p:txBody>
      </p:sp>
      <p:sp>
        <p:nvSpPr>
          <p:cNvPr id="24" name="Text 22"/>
          <p:cNvSpPr/>
          <p:nvPr/>
        </p:nvSpPr>
        <p:spPr>
          <a:xfrm>
            <a:off x="4754880" y="4297680"/>
            <a:ext cx="4023360" cy="329184"/>
          </a:xfrm>
          <a:prstGeom prst="rect">
            <a:avLst/>
          </a:prstGeom>
          <a:noFill/>
          <a:ln/>
        </p:spPr>
        <p:txBody>
          <a:bodyPr wrap="square" lIns="0" tIns="0" rIns="0" bIns="0" rtlCol="0" anchor="ctr"/>
          <a:lstStyle/>
          <a:p>
            <a:pPr marL="0" indent="0">
              <a:buNone/>
            </a:pPr>
            <a:r>
              <a:rPr lang="en-US" sz="1000" b="1" i="1" dirty="0">
                <a:solidFill>
                  <a:srgbClr val="FFB703"/>
                </a:solidFill>
                <a:latin typeface="Calibri" pitchFamily="34" charset="0"/>
                <a:ea typeface="Calibri" pitchFamily="34" charset="-122"/>
                <a:cs typeface="Calibri" pitchFamily="34" charset="-120"/>
              </a:rPr>
              <a:t>❓ Use it? Rewrite from scratch? Seek legal advice?</a:t>
            </a:r>
            <a:endParaRPr lang="en-US" sz="1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946" y="511444"/>
            <a:ext cx="6372940" cy="3046988"/>
          </a:xfrm>
          <a:prstGeom prst="rect">
            <a:avLst/>
          </a:prstGeom>
          <a:noFill/>
        </p:spPr>
        <p:txBody>
          <a:bodyPr wrap="square" rtlCol="0">
            <a:spAutoFit/>
          </a:bodyPr>
          <a:lstStyle/>
          <a:p>
            <a:r>
              <a:rPr lang="en-US" sz="2400" b="1" dirty="0" smtClean="0"/>
              <a:t>Framework to use when facing an ethical dilemma </a:t>
            </a:r>
            <a:r>
              <a:rPr lang="en-US" dirty="0" smtClean="0"/>
              <a:t>
1</a:t>
            </a:r>
            <a:r>
              <a:rPr lang="en-US" sz="2400" dirty="0" smtClean="0"/>
              <a:t>. Recognize the ethical issue
2. Get the facts
3. Evaluate alternative actions (legal, stakeholders, gut check)
4. Make a decision
5. Monitor the outcome</a:t>
            </a:r>
            <a:endParaRPr 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6942" y="495946"/>
            <a:ext cx="8043621" cy="3970318"/>
          </a:xfrm>
          <a:prstGeom prst="rect">
            <a:avLst/>
          </a:prstGeom>
          <a:noFill/>
        </p:spPr>
        <p:txBody>
          <a:bodyPr wrap="square" rtlCol="0">
            <a:spAutoFit/>
          </a:bodyPr>
          <a:lstStyle/>
          <a:p>
            <a:r>
              <a:rPr lang="en-US" dirty="0" smtClean="0"/>
              <a:t>Real-Time Example – </a:t>
            </a:r>
            <a:r>
              <a:rPr lang="en-US" dirty="0" err="1" smtClean="0"/>
              <a:t>Whistleblowing</a:t>
            </a:r>
            <a:r>
              <a:rPr lang="en-US" dirty="0" smtClean="0"/>
              <a:t>: Edward Snowden (2013)
- NSA contractor who leaked classified info about mass surveillance programs
- Broke the law (violated Espionage Act) but millions argue he acted ethically
- Debate: Was Snowden a hero or a criminal?
Real-Time Example – IP Theft: </a:t>
            </a:r>
            <a:r>
              <a:rPr lang="en-US" dirty="0" err="1" smtClean="0"/>
              <a:t>Waymo</a:t>
            </a:r>
            <a:r>
              <a:rPr lang="en-US" dirty="0" smtClean="0"/>
              <a:t> vs. </a:t>
            </a:r>
            <a:r>
              <a:rPr lang="en-US" dirty="0" err="1" smtClean="0"/>
              <a:t>Uber</a:t>
            </a:r>
            <a:r>
              <a:rPr lang="en-US" dirty="0" smtClean="0"/>
              <a:t> (2018)
- Anthony </a:t>
            </a:r>
            <a:r>
              <a:rPr lang="en-US" dirty="0" err="1" smtClean="0"/>
              <a:t>Levandowski</a:t>
            </a:r>
            <a:r>
              <a:rPr lang="en-US" dirty="0" smtClean="0"/>
              <a:t>, a Google/</a:t>
            </a:r>
            <a:r>
              <a:rPr lang="en-US" dirty="0" err="1" smtClean="0"/>
              <a:t>Waymo</a:t>
            </a:r>
            <a:r>
              <a:rPr lang="en-US" dirty="0" smtClean="0"/>
              <a:t> engineer, downloaded 14,000 confidential files before leaving to join </a:t>
            </a:r>
            <a:r>
              <a:rPr lang="en-US" dirty="0" err="1" smtClean="0"/>
              <a:t>Uber</a:t>
            </a:r>
            <a:r>
              <a:rPr lang="en-US" dirty="0" smtClean="0"/>
              <a:t>
- </a:t>
            </a:r>
            <a:r>
              <a:rPr lang="en-US" dirty="0" err="1" smtClean="0"/>
              <a:t>Uber</a:t>
            </a:r>
            <a:r>
              <a:rPr lang="en-US" dirty="0" smtClean="0"/>
              <a:t> settled for $245 million in equity
- Criminal charges: </a:t>
            </a:r>
            <a:r>
              <a:rPr lang="en-US" dirty="0" err="1" smtClean="0"/>
              <a:t>Levandowski</a:t>
            </a:r>
            <a:r>
              <a:rPr lang="en-US" dirty="0" smtClean="0"/>
              <a:t> sentenced to 18 months prison
Indian PM context: Project managers must sign NDAs. Violating them can result in both civil suits and criminal charges under IT Act Section 72.</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Arbitration &amp; Alternative Dispute Resolution (ADR)</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Resolving cybersecurity and IT disputes outside traditional courts</a:t>
            </a:r>
            <a:endParaRPr lang="en-US" sz="1300" dirty="0"/>
          </a:p>
        </p:txBody>
      </p:sp>
      <p:sp>
        <p:nvSpPr>
          <p:cNvPr id="5" name="Shape 3"/>
          <p:cNvSpPr/>
          <p:nvPr/>
        </p:nvSpPr>
        <p:spPr>
          <a:xfrm>
            <a:off x="228600" y="1325880"/>
            <a:ext cx="2011680" cy="2286000"/>
          </a:xfrm>
          <a:prstGeom prst="rect">
            <a:avLst/>
          </a:prstGeom>
          <a:solidFill>
            <a:srgbClr val="1B6CA8"/>
          </a:solidFill>
          <a:ln/>
          <a:effectLst>
            <a:outerShdw blurRad="63500" dist="25400" dir="8100000" algn="bl" rotWithShape="0">
              <a:srgbClr val="000000">
                <a:alpha val="12000"/>
              </a:srgbClr>
            </a:outerShdw>
          </a:effectLst>
        </p:spPr>
      </p:sp>
      <p:sp>
        <p:nvSpPr>
          <p:cNvPr id="6" name="Text 4"/>
          <p:cNvSpPr/>
          <p:nvPr/>
        </p:nvSpPr>
        <p:spPr>
          <a:xfrm>
            <a:off x="228600" y="1417320"/>
            <a:ext cx="201168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228600" y="1920240"/>
            <a:ext cx="20116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Arbitration</a:t>
            </a:r>
            <a:endParaRPr lang="en-US" sz="1400" dirty="0"/>
          </a:p>
        </p:txBody>
      </p:sp>
      <p:sp>
        <p:nvSpPr>
          <p:cNvPr id="8" name="Text 6"/>
          <p:cNvSpPr/>
          <p:nvPr/>
        </p:nvSpPr>
        <p:spPr>
          <a:xfrm>
            <a:off x="320040" y="2359152"/>
            <a:ext cx="1828800" cy="1097280"/>
          </a:xfrm>
          <a:prstGeom prst="rect">
            <a:avLst/>
          </a:prstGeom>
          <a:noFill/>
          <a:ln/>
        </p:spPr>
        <p:txBody>
          <a:bodyPr wrap="square" lIns="0" tIns="0" rIns="0" bIns="0" rtlCol="0" anchor="ctr"/>
          <a:lstStyle/>
          <a:p>
            <a:pPr marL="0" indent="0">
              <a:buNone/>
            </a:pPr>
            <a:r>
              <a:rPr lang="en-US" sz="1000" dirty="0">
                <a:solidFill>
                  <a:srgbClr val="CAF0F8"/>
                </a:solidFill>
                <a:latin typeface="Calibri" pitchFamily="34" charset="0"/>
                <a:ea typeface="Calibri" pitchFamily="34" charset="-122"/>
                <a:cs typeface="Calibri" pitchFamily="34" charset="-120"/>
              </a:rPr>
              <a:t>Neutral third party (arbitrator) makes a binding decision. Faster than court.</a:t>
            </a:r>
            <a:endParaRPr lang="en-US" sz="1000" dirty="0"/>
          </a:p>
        </p:txBody>
      </p:sp>
      <p:sp>
        <p:nvSpPr>
          <p:cNvPr id="9" name="Shape 7"/>
          <p:cNvSpPr/>
          <p:nvPr/>
        </p:nvSpPr>
        <p:spPr>
          <a:xfrm>
            <a:off x="2404872" y="1325880"/>
            <a:ext cx="2011680" cy="2286000"/>
          </a:xfrm>
          <a:prstGeom prst="rect">
            <a:avLst/>
          </a:prstGeom>
          <a:solidFill>
            <a:srgbClr val="7C3AED"/>
          </a:solidFill>
          <a:ln/>
          <a:effectLst>
            <a:outerShdw blurRad="63500" dist="25400" dir="8100000" algn="bl" rotWithShape="0">
              <a:srgbClr val="000000">
                <a:alpha val="12000"/>
              </a:srgbClr>
            </a:outerShdw>
          </a:effectLst>
        </p:spPr>
      </p:sp>
      <p:sp>
        <p:nvSpPr>
          <p:cNvPr id="10" name="Text 8"/>
          <p:cNvSpPr/>
          <p:nvPr/>
        </p:nvSpPr>
        <p:spPr>
          <a:xfrm>
            <a:off x="2404872" y="1417320"/>
            <a:ext cx="201168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1" name="Text 9"/>
          <p:cNvSpPr/>
          <p:nvPr/>
        </p:nvSpPr>
        <p:spPr>
          <a:xfrm>
            <a:off x="2404872" y="1920240"/>
            <a:ext cx="20116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Mediation</a:t>
            </a:r>
            <a:endParaRPr lang="en-US" sz="1400" dirty="0"/>
          </a:p>
        </p:txBody>
      </p:sp>
      <p:sp>
        <p:nvSpPr>
          <p:cNvPr id="12" name="Text 10"/>
          <p:cNvSpPr/>
          <p:nvPr/>
        </p:nvSpPr>
        <p:spPr>
          <a:xfrm>
            <a:off x="2496312" y="2359152"/>
            <a:ext cx="1828800" cy="1097280"/>
          </a:xfrm>
          <a:prstGeom prst="rect">
            <a:avLst/>
          </a:prstGeom>
          <a:noFill/>
          <a:ln/>
        </p:spPr>
        <p:txBody>
          <a:bodyPr wrap="square" lIns="0" tIns="0" rIns="0" bIns="0" rtlCol="0" anchor="ctr"/>
          <a:lstStyle/>
          <a:p>
            <a:pPr marL="0" indent="0">
              <a:buNone/>
            </a:pPr>
            <a:r>
              <a:rPr lang="en-US" sz="1000" dirty="0">
                <a:solidFill>
                  <a:srgbClr val="CAF0F8"/>
                </a:solidFill>
                <a:latin typeface="Calibri" pitchFamily="34" charset="0"/>
                <a:ea typeface="Calibri" pitchFamily="34" charset="-122"/>
                <a:cs typeface="Calibri" pitchFamily="34" charset="-120"/>
              </a:rPr>
              <a:t>Mediator helps parties reach a mutually agreed solution. Non-binding.</a:t>
            </a:r>
            <a:endParaRPr lang="en-US" sz="1000" dirty="0"/>
          </a:p>
        </p:txBody>
      </p:sp>
      <p:sp>
        <p:nvSpPr>
          <p:cNvPr id="13" name="Shape 11"/>
          <p:cNvSpPr/>
          <p:nvPr/>
        </p:nvSpPr>
        <p:spPr>
          <a:xfrm>
            <a:off x="4581144" y="1325880"/>
            <a:ext cx="2011680" cy="2286000"/>
          </a:xfrm>
          <a:prstGeom prst="rect">
            <a:avLst/>
          </a:prstGeom>
          <a:solidFill>
            <a:srgbClr val="E63946"/>
          </a:solidFill>
          <a:ln/>
          <a:effectLst>
            <a:outerShdw blurRad="63500" dist="25400" dir="8100000" algn="bl" rotWithShape="0">
              <a:srgbClr val="000000">
                <a:alpha val="12000"/>
              </a:srgbClr>
            </a:outerShdw>
          </a:effectLst>
        </p:spPr>
      </p:sp>
      <p:sp>
        <p:nvSpPr>
          <p:cNvPr id="14" name="Text 12"/>
          <p:cNvSpPr/>
          <p:nvPr/>
        </p:nvSpPr>
        <p:spPr>
          <a:xfrm>
            <a:off x="4581144" y="1417320"/>
            <a:ext cx="201168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5" name="Text 13"/>
          <p:cNvSpPr/>
          <p:nvPr/>
        </p:nvSpPr>
        <p:spPr>
          <a:xfrm>
            <a:off x="4581144" y="1920240"/>
            <a:ext cx="20116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Conciliation</a:t>
            </a:r>
            <a:endParaRPr lang="en-US" sz="1400" dirty="0"/>
          </a:p>
        </p:txBody>
      </p:sp>
      <p:sp>
        <p:nvSpPr>
          <p:cNvPr id="16" name="Text 14"/>
          <p:cNvSpPr/>
          <p:nvPr/>
        </p:nvSpPr>
        <p:spPr>
          <a:xfrm>
            <a:off x="4672584" y="2359152"/>
            <a:ext cx="1828800" cy="1097280"/>
          </a:xfrm>
          <a:prstGeom prst="rect">
            <a:avLst/>
          </a:prstGeom>
          <a:noFill/>
          <a:ln/>
        </p:spPr>
        <p:txBody>
          <a:bodyPr wrap="square" lIns="0" tIns="0" rIns="0" bIns="0" rtlCol="0" anchor="ctr"/>
          <a:lstStyle/>
          <a:p>
            <a:pPr marL="0" indent="0">
              <a:buNone/>
            </a:pPr>
            <a:r>
              <a:rPr lang="en-US" sz="1000" dirty="0">
                <a:solidFill>
                  <a:srgbClr val="CAF0F8"/>
                </a:solidFill>
                <a:latin typeface="Calibri" pitchFamily="34" charset="0"/>
                <a:ea typeface="Calibri" pitchFamily="34" charset="-122"/>
                <a:cs typeface="Calibri" pitchFamily="34" charset="-120"/>
              </a:rPr>
              <a:t>Conciliator actively suggests solutions. Common in consumer disputes.</a:t>
            </a:r>
            <a:endParaRPr lang="en-US" sz="1000" dirty="0"/>
          </a:p>
        </p:txBody>
      </p:sp>
      <p:sp>
        <p:nvSpPr>
          <p:cNvPr id="17" name="Shape 15"/>
          <p:cNvSpPr/>
          <p:nvPr/>
        </p:nvSpPr>
        <p:spPr>
          <a:xfrm>
            <a:off x="6757416" y="1325880"/>
            <a:ext cx="2011680" cy="2286000"/>
          </a:xfrm>
          <a:prstGeom prst="rect">
            <a:avLst/>
          </a:prstGeom>
          <a:solidFill>
            <a:srgbClr val="FFB703"/>
          </a:solidFill>
          <a:ln/>
          <a:effectLst>
            <a:outerShdw blurRad="63500" dist="25400" dir="8100000" algn="bl" rotWithShape="0">
              <a:srgbClr val="000000">
                <a:alpha val="12000"/>
              </a:srgbClr>
            </a:outerShdw>
          </a:effectLst>
        </p:spPr>
      </p:sp>
      <p:sp>
        <p:nvSpPr>
          <p:cNvPr id="18" name="Text 16"/>
          <p:cNvSpPr/>
          <p:nvPr/>
        </p:nvSpPr>
        <p:spPr>
          <a:xfrm>
            <a:off x="6757416" y="1417320"/>
            <a:ext cx="201168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9" name="Text 17"/>
          <p:cNvSpPr/>
          <p:nvPr/>
        </p:nvSpPr>
        <p:spPr>
          <a:xfrm>
            <a:off x="6757416" y="1920240"/>
            <a:ext cx="20116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Negotiation</a:t>
            </a:r>
            <a:endParaRPr lang="en-US" sz="1400" dirty="0"/>
          </a:p>
        </p:txBody>
      </p:sp>
      <p:sp>
        <p:nvSpPr>
          <p:cNvPr id="20" name="Text 18"/>
          <p:cNvSpPr/>
          <p:nvPr/>
        </p:nvSpPr>
        <p:spPr>
          <a:xfrm>
            <a:off x="6848856" y="2359152"/>
            <a:ext cx="1828800" cy="1097280"/>
          </a:xfrm>
          <a:prstGeom prst="rect">
            <a:avLst/>
          </a:prstGeom>
          <a:noFill/>
          <a:ln/>
        </p:spPr>
        <p:txBody>
          <a:bodyPr wrap="square" lIns="0" tIns="0" rIns="0" bIns="0" rtlCol="0" anchor="ctr"/>
          <a:lstStyle/>
          <a:p>
            <a:pPr marL="0" indent="0">
              <a:buNone/>
            </a:pPr>
            <a:r>
              <a:rPr lang="en-US" sz="1000" dirty="0">
                <a:solidFill>
                  <a:srgbClr val="CAF0F8"/>
                </a:solidFill>
                <a:latin typeface="Calibri" pitchFamily="34" charset="0"/>
                <a:ea typeface="Calibri" pitchFamily="34" charset="-122"/>
                <a:cs typeface="Calibri" pitchFamily="34" charset="-120"/>
              </a:rPr>
              <a:t>Direct discussion between parties, no third party. Quickest method.</a:t>
            </a:r>
            <a:endParaRPr lang="en-US" sz="1000" dirty="0"/>
          </a:p>
        </p:txBody>
      </p:sp>
      <p:sp>
        <p:nvSpPr>
          <p:cNvPr id="21" name="Shape 19"/>
          <p:cNvSpPr/>
          <p:nvPr/>
        </p:nvSpPr>
        <p:spPr>
          <a:xfrm>
            <a:off x="228600" y="3749040"/>
            <a:ext cx="8686800" cy="1005840"/>
          </a:xfrm>
          <a:prstGeom prst="rect">
            <a:avLst/>
          </a:prstGeom>
          <a:solidFill>
            <a:srgbClr val="F0F4F8"/>
          </a:solidFill>
          <a:ln/>
          <a:effectLst>
            <a:outerShdw blurRad="38100" dist="12700" dir="8100000" algn="bl" rotWithShape="0">
              <a:srgbClr val="000000">
                <a:alpha val="8000"/>
              </a:srgbClr>
            </a:outerShdw>
          </a:effectLst>
        </p:spPr>
      </p:sp>
      <p:sp>
        <p:nvSpPr>
          <p:cNvPr id="22" name="Shape 20"/>
          <p:cNvSpPr/>
          <p:nvPr/>
        </p:nvSpPr>
        <p:spPr>
          <a:xfrm>
            <a:off x="228600" y="3749040"/>
            <a:ext cx="64008" cy="1005840"/>
          </a:xfrm>
          <a:prstGeom prst="rect">
            <a:avLst/>
          </a:prstGeom>
          <a:solidFill>
            <a:srgbClr val="00B4D8"/>
          </a:solidFill>
          <a:ln/>
        </p:spPr>
      </p:sp>
      <p:sp>
        <p:nvSpPr>
          <p:cNvPr id="23" name="Text 21"/>
          <p:cNvSpPr/>
          <p:nvPr/>
        </p:nvSpPr>
        <p:spPr>
          <a:xfrm>
            <a:off x="411480" y="3822192"/>
            <a:ext cx="8321040" cy="82296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Legal Framework in India: Arbitration &amp; Conciliation Act 1996 (amended 2019)</a:t>
            </a: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IT disputes involving domain names → WIPO Arbitration Center | Consumer disputes → Consumer Forums / CDRC</a:t>
            </a:r>
            <a:endParaRPr lang="en-US" sz="11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Hands-On Tools for Cyber Security</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Essential tools every information security professional should know</a:t>
            </a:r>
            <a:endParaRPr lang="en-US" sz="1300" dirty="0"/>
          </a:p>
        </p:txBody>
      </p:sp>
      <p:sp>
        <p:nvSpPr>
          <p:cNvPr id="5" name="Shape 3"/>
          <p:cNvSpPr/>
          <p:nvPr/>
        </p:nvSpPr>
        <p:spPr>
          <a:xfrm>
            <a:off x="228600" y="1325880"/>
            <a:ext cx="2834640" cy="1600200"/>
          </a:xfrm>
          <a:prstGeom prst="rect">
            <a:avLst/>
          </a:prstGeom>
          <a:solidFill>
            <a:srgbClr val="FFFFFF"/>
          </a:solidFill>
          <a:ln/>
          <a:effectLst>
            <a:outerShdw blurRad="50800" dist="25400" dir="8100000" algn="bl" rotWithShape="0">
              <a:srgbClr val="000000">
                <a:alpha val="10000"/>
              </a:srgbClr>
            </a:outerShdw>
          </a:effectLst>
        </p:spPr>
      </p:sp>
      <p:sp>
        <p:nvSpPr>
          <p:cNvPr id="6" name="Shape 4"/>
          <p:cNvSpPr/>
          <p:nvPr/>
        </p:nvSpPr>
        <p:spPr>
          <a:xfrm>
            <a:off x="228600" y="1325880"/>
            <a:ext cx="2834640" cy="365760"/>
          </a:xfrm>
          <a:prstGeom prst="rect">
            <a:avLst/>
          </a:prstGeom>
          <a:solidFill>
            <a:srgbClr val="1B6CA8"/>
          </a:solidFill>
          <a:ln/>
        </p:spPr>
      </p:sp>
      <p:sp>
        <p:nvSpPr>
          <p:cNvPr id="7" name="Text 5"/>
          <p:cNvSpPr/>
          <p:nvPr/>
        </p:nvSpPr>
        <p:spPr>
          <a:xfrm>
            <a:off x="320040" y="1380744"/>
            <a:ext cx="26517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Network Scanning</a:t>
            </a:r>
            <a:endParaRPr lang="en-US" sz="1100" dirty="0"/>
          </a:p>
        </p:txBody>
      </p:sp>
      <p:sp>
        <p:nvSpPr>
          <p:cNvPr id="8" name="Text 6"/>
          <p:cNvSpPr/>
          <p:nvPr/>
        </p:nvSpPr>
        <p:spPr>
          <a:xfrm>
            <a:off x="320040" y="1764792"/>
            <a:ext cx="2651760" cy="365760"/>
          </a:xfrm>
          <a:prstGeom prst="rect">
            <a:avLst/>
          </a:prstGeom>
          <a:noFill/>
          <a:ln/>
        </p:spPr>
        <p:txBody>
          <a:bodyPr wrap="square" lIns="0" tIns="0" rIns="0" bIns="0"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 Nmap, Wireshark, Nessus</a:t>
            </a:r>
            <a:endParaRPr lang="en-US" sz="1000" dirty="0"/>
          </a:p>
        </p:txBody>
      </p:sp>
      <p:sp>
        <p:nvSpPr>
          <p:cNvPr id="9" name="Text 7"/>
          <p:cNvSpPr/>
          <p:nvPr/>
        </p:nvSpPr>
        <p:spPr>
          <a:xfrm>
            <a:off x="320040" y="2194560"/>
            <a:ext cx="26517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Discover open ports, analyze traffic, find vulnerabilities</a:t>
            </a:r>
            <a:endParaRPr lang="en-US" sz="950" dirty="0"/>
          </a:p>
        </p:txBody>
      </p:sp>
      <p:sp>
        <p:nvSpPr>
          <p:cNvPr id="10" name="Shape 8"/>
          <p:cNvSpPr/>
          <p:nvPr/>
        </p:nvSpPr>
        <p:spPr>
          <a:xfrm>
            <a:off x="3200400" y="1325880"/>
            <a:ext cx="2834640" cy="1600200"/>
          </a:xfrm>
          <a:prstGeom prst="rect">
            <a:avLst/>
          </a:prstGeom>
          <a:solidFill>
            <a:srgbClr val="FFFFFF"/>
          </a:solidFill>
          <a:ln/>
          <a:effectLst>
            <a:outerShdw blurRad="50800" dist="25400" dir="8100000" algn="bl" rotWithShape="0">
              <a:srgbClr val="000000">
                <a:alpha val="10000"/>
              </a:srgbClr>
            </a:outerShdw>
          </a:effectLst>
        </p:spPr>
      </p:sp>
      <p:sp>
        <p:nvSpPr>
          <p:cNvPr id="11" name="Shape 9"/>
          <p:cNvSpPr/>
          <p:nvPr/>
        </p:nvSpPr>
        <p:spPr>
          <a:xfrm>
            <a:off x="3200400" y="1325880"/>
            <a:ext cx="2834640" cy="365760"/>
          </a:xfrm>
          <a:prstGeom prst="rect">
            <a:avLst/>
          </a:prstGeom>
          <a:solidFill>
            <a:srgbClr val="E63946"/>
          </a:solidFill>
          <a:ln/>
        </p:spPr>
      </p:sp>
      <p:sp>
        <p:nvSpPr>
          <p:cNvPr id="12" name="Text 10"/>
          <p:cNvSpPr/>
          <p:nvPr/>
        </p:nvSpPr>
        <p:spPr>
          <a:xfrm>
            <a:off x="3291840" y="1380744"/>
            <a:ext cx="26517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Penetration Testing</a:t>
            </a:r>
            <a:endParaRPr lang="en-US" sz="1100" dirty="0"/>
          </a:p>
        </p:txBody>
      </p:sp>
      <p:sp>
        <p:nvSpPr>
          <p:cNvPr id="13" name="Text 11"/>
          <p:cNvSpPr/>
          <p:nvPr/>
        </p:nvSpPr>
        <p:spPr>
          <a:xfrm>
            <a:off x="3291840" y="1764792"/>
            <a:ext cx="2651760" cy="365760"/>
          </a:xfrm>
          <a:prstGeom prst="rect">
            <a:avLst/>
          </a:prstGeom>
          <a:noFill/>
          <a:ln/>
        </p:spPr>
        <p:txBody>
          <a:bodyPr wrap="square" lIns="0" tIns="0" rIns="0" bIns="0" rtlCol="0" anchor="ctr"/>
          <a:lstStyle/>
          <a:p>
            <a:pPr marL="0" indent="0">
              <a:buNone/>
            </a:pPr>
            <a:r>
              <a:rPr lang="en-US" sz="1000" b="1" dirty="0">
                <a:solidFill>
                  <a:srgbClr val="E63946"/>
                </a:solidFill>
                <a:latin typeface="Calibri" pitchFamily="34" charset="0"/>
                <a:ea typeface="Calibri" pitchFamily="34" charset="-122"/>
                <a:cs typeface="Calibri" pitchFamily="34" charset="-120"/>
              </a:rPr>
              <a:t>🛠 Metasploit, Kali Linux, Burp Suite</a:t>
            </a:r>
            <a:endParaRPr lang="en-US" sz="1000" dirty="0"/>
          </a:p>
        </p:txBody>
      </p:sp>
      <p:sp>
        <p:nvSpPr>
          <p:cNvPr id="14" name="Text 12"/>
          <p:cNvSpPr/>
          <p:nvPr/>
        </p:nvSpPr>
        <p:spPr>
          <a:xfrm>
            <a:off x="3291840" y="2194560"/>
            <a:ext cx="26517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Simulate attacks to find weaknesses before hackers do</a:t>
            </a:r>
            <a:endParaRPr lang="en-US" sz="950" dirty="0"/>
          </a:p>
        </p:txBody>
      </p:sp>
      <p:sp>
        <p:nvSpPr>
          <p:cNvPr id="15" name="Shape 13"/>
          <p:cNvSpPr/>
          <p:nvPr/>
        </p:nvSpPr>
        <p:spPr>
          <a:xfrm>
            <a:off x="6172200" y="1325880"/>
            <a:ext cx="2834640" cy="1600200"/>
          </a:xfrm>
          <a:prstGeom prst="rect">
            <a:avLst/>
          </a:prstGeom>
          <a:solidFill>
            <a:srgbClr val="FFFFFF"/>
          </a:solidFill>
          <a:ln/>
          <a:effectLst>
            <a:outerShdw blurRad="50800" dist="25400" dir="8100000" algn="bl" rotWithShape="0">
              <a:srgbClr val="000000">
                <a:alpha val="10000"/>
              </a:srgbClr>
            </a:outerShdw>
          </a:effectLst>
        </p:spPr>
      </p:sp>
      <p:sp>
        <p:nvSpPr>
          <p:cNvPr id="16" name="Shape 14"/>
          <p:cNvSpPr/>
          <p:nvPr/>
        </p:nvSpPr>
        <p:spPr>
          <a:xfrm>
            <a:off x="6172200" y="1325880"/>
            <a:ext cx="2834640" cy="365760"/>
          </a:xfrm>
          <a:prstGeom prst="rect">
            <a:avLst/>
          </a:prstGeom>
          <a:solidFill>
            <a:srgbClr val="7C3AED"/>
          </a:solidFill>
          <a:ln/>
        </p:spPr>
      </p:sp>
      <p:sp>
        <p:nvSpPr>
          <p:cNvPr id="17" name="Text 15"/>
          <p:cNvSpPr/>
          <p:nvPr/>
        </p:nvSpPr>
        <p:spPr>
          <a:xfrm>
            <a:off x="6263640" y="1380744"/>
            <a:ext cx="26517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Password Security</a:t>
            </a:r>
            <a:endParaRPr lang="en-US" sz="1100" dirty="0"/>
          </a:p>
        </p:txBody>
      </p:sp>
      <p:sp>
        <p:nvSpPr>
          <p:cNvPr id="18" name="Text 16"/>
          <p:cNvSpPr/>
          <p:nvPr/>
        </p:nvSpPr>
        <p:spPr>
          <a:xfrm>
            <a:off x="6263640" y="1764792"/>
            <a:ext cx="2651760" cy="365760"/>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John the Ripper, Hashcat, KeePass</a:t>
            </a:r>
            <a:endParaRPr lang="en-US" sz="1000" dirty="0"/>
          </a:p>
        </p:txBody>
      </p:sp>
      <p:sp>
        <p:nvSpPr>
          <p:cNvPr id="19" name="Text 17"/>
          <p:cNvSpPr/>
          <p:nvPr/>
        </p:nvSpPr>
        <p:spPr>
          <a:xfrm>
            <a:off x="6263640" y="2194560"/>
            <a:ext cx="26517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Test password strength, crack weak hashes, manage passwords</a:t>
            </a:r>
            <a:endParaRPr lang="en-US" sz="950" dirty="0"/>
          </a:p>
        </p:txBody>
      </p:sp>
      <p:sp>
        <p:nvSpPr>
          <p:cNvPr id="20" name="Shape 18"/>
          <p:cNvSpPr/>
          <p:nvPr/>
        </p:nvSpPr>
        <p:spPr>
          <a:xfrm>
            <a:off x="228600" y="3108960"/>
            <a:ext cx="2834640" cy="1600200"/>
          </a:xfrm>
          <a:prstGeom prst="rect">
            <a:avLst/>
          </a:prstGeom>
          <a:solidFill>
            <a:srgbClr val="FFFFFF"/>
          </a:solidFill>
          <a:ln/>
          <a:effectLst>
            <a:outerShdw blurRad="50800" dist="25400" dir="8100000" algn="bl" rotWithShape="0">
              <a:srgbClr val="000000">
                <a:alpha val="10000"/>
              </a:srgbClr>
            </a:outerShdw>
          </a:effectLst>
        </p:spPr>
      </p:sp>
      <p:sp>
        <p:nvSpPr>
          <p:cNvPr id="21" name="Shape 19"/>
          <p:cNvSpPr/>
          <p:nvPr/>
        </p:nvSpPr>
        <p:spPr>
          <a:xfrm>
            <a:off x="228600" y="3108960"/>
            <a:ext cx="2834640" cy="365760"/>
          </a:xfrm>
          <a:prstGeom prst="rect">
            <a:avLst/>
          </a:prstGeom>
          <a:solidFill>
            <a:srgbClr val="D97706"/>
          </a:solidFill>
          <a:ln/>
        </p:spPr>
      </p:sp>
      <p:sp>
        <p:nvSpPr>
          <p:cNvPr id="22" name="Text 20"/>
          <p:cNvSpPr/>
          <p:nvPr/>
        </p:nvSpPr>
        <p:spPr>
          <a:xfrm>
            <a:off x="320040" y="3163824"/>
            <a:ext cx="26517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Digital Forensics</a:t>
            </a:r>
            <a:endParaRPr lang="en-US" sz="1100" dirty="0"/>
          </a:p>
        </p:txBody>
      </p:sp>
      <p:sp>
        <p:nvSpPr>
          <p:cNvPr id="23" name="Text 21"/>
          <p:cNvSpPr/>
          <p:nvPr/>
        </p:nvSpPr>
        <p:spPr>
          <a:xfrm>
            <a:off x="320040" y="3547872"/>
            <a:ext cx="2651760" cy="365760"/>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 Autopsy, FTK Imager, Volatility</a:t>
            </a:r>
            <a:endParaRPr lang="en-US" sz="1000" dirty="0"/>
          </a:p>
        </p:txBody>
      </p:sp>
      <p:sp>
        <p:nvSpPr>
          <p:cNvPr id="24" name="Text 22"/>
          <p:cNvSpPr/>
          <p:nvPr/>
        </p:nvSpPr>
        <p:spPr>
          <a:xfrm>
            <a:off x="320040" y="3977640"/>
            <a:ext cx="26517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Investigate cybercrime, recover deleted data, analyze memory</a:t>
            </a:r>
            <a:endParaRPr lang="en-US" sz="950" dirty="0"/>
          </a:p>
        </p:txBody>
      </p:sp>
      <p:sp>
        <p:nvSpPr>
          <p:cNvPr id="25" name="Shape 23"/>
          <p:cNvSpPr/>
          <p:nvPr/>
        </p:nvSpPr>
        <p:spPr>
          <a:xfrm>
            <a:off x="3200400" y="3108960"/>
            <a:ext cx="2834640" cy="1600200"/>
          </a:xfrm>
          <a:prstGeom prst="rect">
            <a:avLst/>
          </a:prstGeom>
          <a:solidFill>
            <a:srgbClr val="FFFFFF"/>
          </a:solidFill>
          <a:ln/>
          <a:effectLst>
            <a:outerShdw blurRad="50800" dist="25400" dir="8100000" algn="bl" rotWithShape="0">
              <a:srgbClr val="000000">
                <a:alpha val="10000"/>
              </a:srgbClr>
            </a:outerShdw>
          </a:effectLst>
        </p:spPr>
      </p:sp>
      <p:sp>
        <p:nvSpPr>
          <p:cNvPr id="26" name="Shape 24"/>
          <p:cNvSpPr/>
          <p:nvPr/>
        </p:nvSpPr>
        <p:spPr>
          <a:xfrm>
            <a:off x="3200400" y="3108960"/>
            <a:ext cx="2834640" cy="365760"/>
          </a:xfrm>
          <a:prstGeom prst="rect">
            <a:avLst/>
          </a:prstGeom>
          <a:solidFill>
            <a:srgbClr val="059669"/>
          </a:solidFill>
          <a:ln/>
        </p:spPr>
      </p:sp>
      <p:sp>
        <p:nvSpPr>
          <p:cNvPr id="27" name="Text 25"/>
          <p:cNvSpPr/>
          <p:nvPr/>
        </p:nvSpPr>
        <p:spPr>
          <a:xfrm>
            <a:off x="3291840" y="3163824"/>
            <a:ext cx="26517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Encryption &amp; Privacy</a:t>
            </a:r>
            <a:endParaRPr lang="en-US" sz="1100" dirty="0"/>
          </a:p>
        </p:txBody>
      </p:sp>
      <p:sp>
        <p:nvSpPr>
          <p:cNvPr id="28" name="Text 26"/>
          <p:cNvSpPr/>
          <p:nvPr/>
        </p:nvSpPr>
        <p:spPr>
          <a:xfrm>
            <a:off x="3291840" y="3547872"/>
            <a:ext cx="2651760" cy="365760"/>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VeraCrypt, GnuPG, Tor Browser</a:t>
            </a:r>
            <a:endParaRPr lang="en-US" sz="1000" dirty="0"/>
          </a:p>
        </p:txBody>
      </p:sp>
      <p:sp>
        <p:nvSpPr>
          <p:cNvPr id="29" name="Text 27"/>
          <p:cNvSpPr/>
          <p:nvPr/>
        </p:nvSpPr>
        <p:spPr>
          <a:xfrm>
            <a:off x="3291840" y="3977640"/>
            <a:ext cx="26517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Encrypt data at rest/transit, ensure anonymous communication</a:t>
            </a:r>
            <a:endParaRPr lang="en-US" sz="950" dirty="0"/>
          </a:p>
        </p:txBody>
      </p:sp>
      <p:sp>
        <p:nvSpPr>
          <p:cNvPr id="30" name="Shape 28"/>
          <p:cNvSpPr/>
          <p:nvPr/>
        </p:nvSpPr>
        <p:spPr>
          <a:xfrm>
            <a:off x="6172200" y="3108960"/>
            <a:ext cx="2834640" cy="1600200"/>
          </a:xfrm>
          <a:prstGeom prst="rect">
            <a:avLst/>
          </a:prstGeom>
          <a:solidFill>
            <a:srgbClr val="FFFFFF"/>
          </a:solidFill>
          <a:ln/>
          <a:effectLst>
            <a:outerShdw blurRad="50800" dist="25400" dir="8100000" algn="bl" rotWithShape="0">
              <a:srgbClr val="000000">
                <a:alpha val="10000"/>
              </a:srgbClr>
            </a:outerShdw>
          </a:effectLst>
        </p:spPr>
      </p:sp>
      <p:sp>
        <p:nvSpPr>
          <p:cNvPr id="31" name="Shape 29"/>
          <p:cNvSpPr/>
          <p:nvPr/>
        </p:nvSpPr>
        <p:spPr>
          <a:xfrm>
            <a:off x="6172200" y="3108960"/>
            <a:ext cx="2834640" cy="365760"/>
          </a:xfrm>
          <a:prstGeom prst="rect">
            <a:avLst/>
          </a:prstGeom>
          <a:solidFill>
            <a:srgbClr val="0D1B2A"/>
          </a:solidFill>
          <a:ln/>
        </p:spPr>
      </p:sp>
      <p:sp>
        <p:nvSpPr>
          <p:cNvPr id="32" name="Text 30"/>
          <p:cNvSpPr/>
          <p:nvPr/>
        </p:nvSpPr>
        <p:spPr>
          <a:xfrm>
            <a:off x="6263640" y="3163824"/>
            <a:ext cx="26517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SIEM &amp; Monitoring</a:t>
            </a:r>
            <a:endParaRPr lang="en-US" sz="1100" dirty="0"/>
          </a:p>
        </p:txBody>
      </p:sp>
      <p:sp>
        <p:nvSpPr>
          <p:cNvPr id="33" name="Text 31"/>
          <p:cNvSpPr/>
          <p:nvPr/>
        </p:nvSpPr>
        <p:spPr>
          <a:xfrm>
            <a:off x="6263640" y="3547872"/>
            <a:ext cx="2651760" cy="365760"/>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 Splunk, IBM QRadar, ELK Stack</a:t>
            </a:r>
            <a:endParaRPr lang="en-US" sz="1000" dirty="0"/>
          </a:p>
        </p:txBody>
      </p:sp>
      <p:sp>
        <p:nvSpPr>
          <p:cNvPr id="34" name="Text 32"/>
          <p:cNvSpPr/>
          <p:nvPr/>
        </p:nvSpPr>
        <p:spPr>
          <a:xfrm>
            <a:off x="6263640" y="3977640"/>
            <a:ext cx="26517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Real-time threat detection, log analysis, incident response</a:t>
            </a:r>
            <a:endParaRPr lang="en-US" sz="95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1B2A"/>
          </a:solidFill>
          <a:ln/>
        </p:spPr>
      </p:sp>
      <p:sp>
        <p:nvSpPr>
          <p:cNvPr id="3" name="Text 1"/>
          <p:cNvSpPr/>
          <p:nvPr/>
        </p:nvSpPr>
        <p:spPr>
          <a:xfrm>
            <a:off x="365760" y="91440"/>
            <a:ext cx="841248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Case Studies on Cyber Crimes</a:t>
            </a:r>
            <a:endParaRPr lang="en-US" sz="26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buNone/>
            </a:pPr>
            <a:r>
              <a:rPr lang="en-US" sz="1300" dirty="0">
                <a:solidFill>
                  <a:srgbClr val="00B4D8"/>
                </a:solidFill>
                <a:latin typeface="Calibri" pitchFamily="34" charset="0"/>
                <a:ea typeface="Calibri" pitchFamily="34" charset="-122"/>
                <a:cs typeface="Calibri" pitchFamily="34" charset="-120"/>
              </a:rPr>
              <a:t>Learning from real-world incidents to build better defenses</a:t>
            </a:r>
            <a:endParaRPr lang="en-US" sz="1300" dirty="0"/>
          </a:p>
        </p:txBody>
      </p:sp>
      <p:sp>
        <p:nvSpPr>
          <p:cNvPr id="5" name="Shape 3"/>
          <p:cNvSpPr/>
          <p:nvPr/>
        </p:nvSpPr>
        <p:spPr>
          <a:xfrm>
            <a:off x="228600" y="1325880"/>
            <a:ext cx="4206240" cy="1600200"/>
          </a:xfrm>
          <a:prstGeom prst="rect">
            <a:avLst/>
          </a:prstGeom>
          <a:solidFill>
            <a:srgbClr val="FFFFFF"/>
          </a:solidFill>
          <a:ln/>
          <a:effectLst>
            <a:outerShdw blurRad="50800" dist="25400" dir="8100000" algn="bl" rotWithShape="0">
              <a:srgbClr val="000000">
                <a:alpha val="10000"/>
              </a:srgbClr>
            </a:outerShdw>
          </a:effectLst>
        </p:spPr>
      </p:sp>
      <p:sp>
        <p:nvSpPr>
          <p:cNvPr id="6" name="Shape 4"/>
          <p:cNvSpPr/>
          <p:nvPr/>
        </p:nvSpPr>
        <p:spPr>
          <a:xfrm>
            <a:off x="228600" y="1325880"/>
            <a:ext cx="502920" cy="1600200"/>
          </a:xfrm>
          <a:prstGeom prst="rect">
            <a:avLst/>
          </a:prstGeom>
          <a:solidFill>
            <a:srgbClr val="E63946"/>
          </a:solidFill>
          <a:ln/>
        </p:spPr>
      </p:sp>
      <p:sp>
        <p:nvSpPr>
          <p:cNvPr id="7" name="Text 5"/>
          <p:cNvSpPr/>
          <p:nvPr/>
        </p:nvSpPr>
        <p:spPr>
          <a:xfrm>
            <a:off x="265176" y="1874520"/>
            <a:ext cx="429768"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822960" y="1417320"/>
            <a:ext cx="352044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WannaCry Ransomware (2017)</a:t>
            </a:r>
            <a:endParaRPr lang="en-US" sz="1200" dirty="0"/>
          </a:p>
        </p:txBody>
      </p:sp>
      <p:sp>
        <p:nvSpPr>
          <p:cNvPr id="9" name="Text 7"/>
          <p:cNvSpPr/>
          <p:nvPr/>
        </p:nvSpPr>
        <p:spPr>
          <a:xfrm>
            <a:off x="822960" y="1892808"/>
            <a:ext cx="3520440" cy="4114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200,000+ systems in 150 countries; £92M NHS loss</a:t>
            </a:r>
            <a:endParaRPr lang="en-US" sz="1000" dirty="0"/>
          </a:p>
        </p:txBody>
      </p:sp>
      <p:sp>
        <p:nvSpPr>
          <p:cNvPr id="10" name="Text 8"/>
          <p:cNvSpPr/>
          <p:nvPr/>
        </p:nvSpPr>
        <p:spPr>
          <a:xfrm>
            <a:off x="822960" y="2404872"/>
            <a:ext cx="3520440" cy="411480"/>
          </a:xfrm>
          <a:prstGeom prst="rect">
            <a:avLst/>
          </a:prstGeom>
          <a:noFill/>
          <a:ln/>
        </p:spPr>
        <p:txBody>
          <a:bodyPr wrap="square" lIns="0" tIns="0" rIns="0" bIns="0" rtlCol="0" anchor="ctr"/>
          <a:lstStyle/>
          <a:p>
            <a:pPr marL="0" indent="0">
              <a:buNone/>
            </a:pPr>
            <a:r>
              <a:rPr lang="en-US" sz="1000" b="1" dirty="0">
                <a:solidFill>
                  <a:srgbClr val="E63946"/>
                </a:solidFill>
                <a:latin typeface="Calibri" pitchFamily="34" charset="0"/>
                <a:ea typeface="Calibri" pitchFamily="34" charset="-122"/>
                <a:cs typeface="Calibri" pitchFamily="34" charset="-120"/>
              </a:rPr>
              <a:t>💡 Patch systems regularly; Sec 66 IT Act applies</a:t>
            </a:r>
            <a:endParaRPr lang="en-US" sz="1000" dirty="0"/>
          </a:p>
        </p:txBody>
      </p:sp>
      <p:sp>
        <p:nvSpPr>
          <p:cNvPr id="11" name="Shape 9"/>
          <p:cNvSpPr/>
          <p:nvPr/>
        </p:nvSpPr>
        <p:spPr>
          <a:xfrm>
            <a:off x="4663440" y="1325880"/>
            <a:ext cx="4206240" cy="1600200"/>
          </a:xfrm>
          <a:prstGeom prst="rect">
            <a:avLst/>
          </a:prstGeom>
          <a:solidFill>
            <a:srgbClr val="FFFFFF"/>
          </a:solidFill>
          <a:ln/>
          <a:effectLst>
            <a:outerShdw blurRad="50800" dist="25400" dir="8100000" algn="bl" rotWithShape="0">
              <a:srgbClr val="000000">
                <a:alpha val="10000"/>
              </a:srgbClr>
            </a:outerShdw>
          </a:effectLst>
        </p:spPr>
      </p:sp>
      <p:sp>
        <p:nvSpPr>
          <p:cNvPr id="12" name="Shape 10"/>
          <p:cNvSpPr/>
          <p:nvPr/>
        </p:nvSpPr>
        <p:spPr>
          <a:xfrm>
            <a:off x="4663440" y="1325880"/>
            <a:ext cx="502920" cy="1600200"/>
          </a:xfrm>
          <a:prstGeom prst="rect">
            <a:avLst/>
          </a:prstGeom>
          <a:solidFill>
            <a:srgbClr val="1B6CA8"/>
          </a:solidFill>
          <a:ln/>
        </p:spPr>
      </p:sp>
      <p:sp>
        <p:nvSpPr>
          <p:cNvPr id="13" name="Text 11"/>
          <p:cNvSpPr/>
          <p:nvPr/>
        </p:nvSpPr>
        <p:spPr>
          <a:xfrm>
            <a:off x="4700016" y="1874520"/>
            <a:ext cx="429768"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Text 12"/>
          <p:cNvSpPr/>
          <p:nvPr/>
        </p:nvSpPr>
        <p:spPr>
          <a:xfrm>
            <a:off x="5257800" y="1417320"/>
            <a:ext cx="352044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Equifax Data Breach (2017)</a:t>
            </a:r>
            <a:endParaRPr lang="en-US" sz="1200" dirty="0"/>
          </a:p>
        </p:txBody>
      </p:sp>
      <p:sp>
        <p:nvSpPr>
          <p:cNvPr id="15" name="Text 13"/>
          <p:cNvSpPr/>
          <p:nvPr/>
        </p:nvSpPr>
        <p:spPr>
          <a:xfrm>
            <a:off x="5257800" y="1892808"/>
            <a:ext cx="3520440" cy="4114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147M user records stolen; $700M settlement</a:t>
            </a:r>
            <a:endParaRPr lang="en-US" sz="1000" dirty="0"/>
          </a:p>
        </p:txBody>
      </p:sp>
      <p:sp>
        <p:nvSpPr>
          <p:cNvPr id="16" name="Text 14"/>
          <p:cNvSpPr/>
          <p:nvPr/>
        </p:nvSpPr>
        <p:spPr>
          <a:xfrm>
            <a:off x="5257800" y="2404872"/>
            <a:ext cx="3520440" cy="411480"/>
          </a:xfrm>
          <a:prstGeom prst="rect">
            <a:avLst/>
          </a:prstGeom>
          <a:noFill/>
          <a:ln/>
        </p:spPr>
        <p:txBody>
          <a:bodyPr wrap="square" lIns="0" tIns="0" rIns="0" bIns="0"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 Vulnerability management is legal obligation</a:t>
            </a:r>
            <a:endParaRPr lang="en-US" sz="1000" dirty="0"/>
          </a:p>
        </p:txBody>
      </p:sp>
      <p:sp>
        <p:nvSpPr>
          <p:cNvPr id="17" name="Shape 15"/>
          <p:cNvSpPr/>
          <p:nvPr/>
        </p:nvSpPr>
        <p:spPr>
          <a:xfrm>
            <a:off x="228600" y="3108960"/>
            <a:ext cx="4206240" cy="1600200"/>
          </a:xfrm>
          <a:prstGeom prst="rect">
            <a:avLst/>
          </a:prstGeom>
          <a:solidFill>
            <a:srgbClr val="FFFFFF"/>
          </a:solidFill>
          <a:ln/>
          <a:effectLst>
            <a:outerShdw blurRad="50800" dist="25400" dir="8100000" algn="bl" rotWithShape="0">
              <a:srgbClr val="000000">
                <a:alpha val="10000"/>
              </a:srgbClr>
            </a:outerShdw>
          </a:effectLst>
        </p:spPr>
      </p:sp>
      <p:sp>
        <p:nvSpPr>
          <p:cNvPr id="18" name="Shape 16"/>
          <p:cNvSpPr/>
          <p:nvPr/>
        </p:nvSpPr>
        <p:spPr>
          <a:xfrm>
            <a:off x="228600" y="3108960"/>
            <a:ext cx="502920" cy="1600200"/>
          </a:xfrm>
          <a:prstGeom prst="rect">
            <a:avLst/>
          </a:prstGeom>
          <a:solidFill>
            <a:srgbClr val="7C3AED"/>
          </a:solidFill>
          <a:ln/>
        </p:spPr>
      </p:sp>
      <p:sp>
        <p:nvSpPr>
          <p:cNvPr id="19" name="Text 17"/>
          <p:cNvSpPr/>
          <p:nvPr/>
        </p:nvSpPr>
        <p:spPr>
          <a:xfrm>
            <a:off x="265176" y="3657600"/>
            <a:ext cx="429768"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20" name="Text 18"/>
          <p:cNvSpPr/>
          <p:nvPr/>
        </p:nvSpPr>
        <p:spPr>
          <a:xfrm>
            <a:off x="822960" y="3200400"/>
            <a:ext cx="352044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India AIIMS Ransomware (2022)</a:t>
            </a:r>
            <a:endParaRPr lang="en-US" sz="1200" dirty="0"/>
          </a:p>
        </p:txBody>
      </p:sp>
      <p:sp>
        <p:nvSpPr>
          <p:cNvPr id="21" name="Text 19"/>
          <p:cNvSpPr/>
          <p:nvPr/>
        </p:nvSpPr>
        <p:spPr>
          <a:xfrm>
            <a:off x="822960" y="3675888"/>
            <a:ext cx="3520440" cy="4114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Hospital offline for 15 days; 40M patient records at risk</a:t>
            </a:r>
            <a:endParaRPr lang="en-US" sz="1000" dirty="0"/>
          </a:p>
        </p:txBody>
      </p:sp>
      <p:sp>
        <p:nvSpPr>
          <p:cNvPr id="22" name="Text 20"/>
          <p:cNvSpPr/>
          <p:nvPr/>
        </p:nvSpPr>
        <p:spPr>
          <a:xfrm>
            <a:off x="822960" y="4187952"/>
            <a:ext cx="3520440" cy="411480"/>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Critical infra needs special cyber protection</a:t>
            </a:r>
            <a:endParaRPr lang="en-US" sz="1000" dirty="0"/>
          </a:p>
        </p:txBody>
      </p:sp>
      <p:sp>
        <p:nvSpPr>
          <p:cNvPr id="23" name="Shape 21"/>
          <p:cNvSpPr/>
          <p:nvPr/>
        </p:nvSpPr>
        <p:spPr>
          <a:xfrm>
            <a:off x="4663440" y="3108960"/>
            <a:ext cx="4206240" cy="1600200"/>
          </a:xfrm>
          <a:prstGeom prst="rect">
            <a:avLst/>
          </a:prstGeom>
          <a:solidFill>
            <a:srgbClr val="FFFFFF"/>
          </a:solidFill>
          <a:ln/>
          <a:effectLst>
            <a:outerShdw blurRad="50800" dist="25400" dir="8100000" algn="bl" rotWithShape="0">
              <a:srgbClr val="000000">
                <a:alpha val="10000"/>
              </a:srgbClr>
            </a:outerShdw>
          </a:effectLst>
        </p:spPr>
      </p:sp>
      <p:sp>
        <p:nvSpPr>
          <p:cNvPr id="24" name="Shape 22"/>
          <p:cNvSpPr/>
          <p:nvPr/>
        </p:nvSpPr>
        <p:spPr>
          <a:xfrm>
            <a:off x="4663440" y="3108960"/>
            <a:ext cx="502920" cy="1600200"/>
          </a:xfrm>
          <a:prstGeom prst="rect">
            <a:avLst/>
          </a:prstGeom>
          <a:solidFill>
            <a:srgbClr val="FFB703"/>
          </a:solidFill>
          <a:ln/>
        </p:spPr>
      </p:sp>
      <p:sp>
        <p:nvSpPr>
          <p:cNvPr id="25" name="Text 23"/>
          <p:cNvSpPr/>
          <p:nvPr/>
        </p:nvSpPr>
        <p:spPr>
          <a:xfrm>
            <a:off x="4700016" y="3657600"/>
            <a:ext cx="429768"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6" name="Text 24"/>
          <p:cNvSpPr/>
          <p:nvPr/>
        </p:nvSpPr>
        <p:spPr>
          <a:xfrm>
            <a:off x="5257800" y="3200400"/>
            <a:ext cx="3520440" cy="41148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Jamtara Phishing Gang (India)</a:t>
            </a:r>
            <a:endParaRPr lang="en-US" sz="1200" dirty="0"/>
          </a:p>
        </p:txBody>
      </p:sp>
      <p:sp>
        <p:nvSpPr>
          <p:cNvPr id="27" name="Text 25"/>
          <p:cNvSpPr/>
          <p:nvPr/>
        </p:nvSpPr>
        <p:spPr>
          <a:xfrm>
            <a:off x="5257800" y="3675888"/>
            <a:ext cx="3520440" cy="4114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 Crores stolen; Sec 66C, 66D IT Act invoked</a:t>
            </a:r>
            <a:endParaRPr lang="en-US" sz="1000" dirty="0"/>
          </a:p>
        </p:txBody>
      </p:sp>
      <p:sp>
        <p:nvSpPr>
          <p:cNvPr id="28" name="Text 26"/>
          <p:cNvSpPr/>
          <p:nvPr/>
        </p:nvSpPr>
        <p:spPr>
          <a:xfrm>
            <a:off x="5257800" y="4187952"/>
            <a:ext cx="3520440" cy="411480"/>
          </a:xfrm>
          <a:prstGeom prst="rect">
            <a:avLst/>
          </a:prstGeom>
          <a:noFill/>
          <a:ln/>
        </p:spPr>
        <p:txBody>
          <a:bodyPr wrap="square" lIns="0" tIns="0" rIns="0" bIns="0" rtlCol="0" anchor="ctr"/>
          <a:lstStyle/>
          <a:p>
            <a:pPr marL="0" indent="0">
              <a:buNone/>
            </a:pPr>
            <a:r>
              <a:rPr lang="en-US" sz="1000" b="1" dirty="0">
                <a:solidFill>
                  <a:srgbClr val="FFB703"/>
                </a:solidFill>
                <a:latin typeface="Calibri" pitchFamily="34" charset="0"/>
                <a:ea typeface="Calibri" pitchFamily="34" charset="-122"/>
                <a:cs typeface="Calibri" pitchFamily="34" charset="-120"/>
              </a:rPr>
              <a:t>💡 Social engineering = most common attack vector</a:t>
            </a:r>
            <a:endParaRPr lang="en-US" sz="1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1212" y="737419"/>
            <a:ext cx="7747819" cy="2215991"/>
          </a:xfrm>
          <a:prstGeom prst="rect">
            <a:avLst/>
          </a:prstGeom>
          <a:noFill/>
        </p:spPr>
        <p:txBody>
          <a:bodyPr wrap="square" rtlCol="0">
            <a:spAutoFit/>
          </a:bodyPr>
          <a:lstStyle/>
          <a:p>
            <a:r>
              <a:rPr lang="en-IN" sz="4000" dirty="0" smtClean="0"/>
              <a:t>UMS Dashboard &gt; Academics &gt; Under Research and Development: IPR Idea Request &gt; Click on Patent</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400800" y="-457200"/>
            <a:ext cx="4114800" cy="4114800"/>
          </a:xfrm>
          <a:prstGeom prst="ellipse">
            <a:avLst/>
          </a:prstGeom>
          <a:solidFill>
            <a:srgbClr val="1B6CA8">
              <a:alpha val="25000"/>
            </a:srgbClr>
          </a:solidFill>
          <a:ln/>
        </p:spPr>
      </p:sp>
      <p:sp>
        <p:nvSpPr>
          <p:cNvPr id="3" name="Text 1"/>
          <p:cNvSpPr/>
          <p:nvPr/>
        </p:nvSpPr>
        <p:spPr>
          <a:xfrm>
            <a:off x="457200" y="27432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Unit VI — Key Takeaways</a:t>
            </a:r>
            <a:endParaRPr lang="en-US" sz="2600" dirty="0"/>
          </a:p>
        </p:txBody>
      </p:sp>
      <p:sp>
        <p:nvSpPr>
          <p:cNvPr id="4" name="Shape 2"/>
          <p:cNvSpPr/>
          <p:nvPr/>
        </p:nvSpPr>
        <p:spPr>
          <a:xfrm>
            <a:off x="457200" y="914400"/>
            <a:ext cx="1828800" cy="45720"/>
          </a:xfrm>
          <a:prstGeom prst="rect">
            <a:avLst/>
          </a:prstGeom>
          <a:solidFill>
            <a:srgbClr val="00B4D8"/>
          </a:solidFill>
          <a:ln/>
        </p:spPr>
      </p:sp>
      <p:sp>
        <p:nvSpPr>
          <p:cNvPr id="5" name="Text 3"/>
          <p:cNvSpPr/>
          <p:nvPr/>
        </p:nvSpPr>
        <p:spPr>
          <a:xfrm>
            <a:off x="457200" y="1097280"/>
            <a:ext cx="8229600" cy="457200"/>
          </a:xfrm>
          <a:prstGeom prst="rect">
            <a:avLst/>
          </a:prstGeom>
          <a:noFill/>
          <a:ln/>
        </p:spPr>
        <p:txBody>
          <a:bodyPr wrap="square" lIns="0" tIns="0" rIns="0" bIns="0"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1</a:t>
            </a:r>
            <a:r>
              <a:rPr lang="en-US" sz="1200" dirty="0">
                <a:solidFill>
                  <a:srgbClr val="FFFFFF"/>
                </a:solidFill>
                <a:latin typeface="Calibri" pitchFamily="34" charset="0"/>
                <a:ea typeface="Calibri" pitchFamily="34" charset="-122"/>
                <a:cs typeface="Calibri" pitchFamily="34" charset="-120"/>
              </a:rPr>
              <a:t>  Ethics goes beyond law — IT professionals must hold themselves to a higher standard</a:t>
            </a:r>
            <a:endParaRPr lang="en-US" sz="1300" dirty="0"/>
          </a:p>
        </p:txBody>
      </p:sp>
      <p:sp>
        <p:nvSpPr>
          <p:cNvPr id="6" name="Text 4"/>
          <p:cNvSpPr/>
          <p:nvPr/>
        </p:nvSpPr>
        <p:spPr>
          <a:xfrm>
            <a:off x="457200" y="1609344"/>
            <a:ext cx="8229600" cy="457200"/>
          </a:xfrm>
          <a:prstGeom prst="rect">
            <a:avLst/>
          </a:prstGeom>
          <a:noFill/>
          <a:ln/>
        </p:spPr>
        <p:txBody>
          <a:bodyPr wrap="square" lIns="0" tIns="0" rIns="0" bIns="0"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2</a:t>
            </a:r>
            <a:r>
              <a:rPr lang="en-US" sz="1200" dirty="0">
                <a:solidFill>
                  <a:srgbClr val="FFFFFF"/>
                </a:solidFill>
                <a:latin typeface="Calibri" pitchFamily="34" charset="0"/>
                <a:ea typeface="Calibri" pitchFamily="34" charset="-122"/>
                <a:cs typeface="Calibri" pitchFamily="34" charset="-120"/>
              </a:rPr>
              <a:t>  Organizations are legally liable for security failures — counsel is essential</a:t>
            </a:r>
            <a:endParaRPr lang="en-US" sz="1300" dirty="0"/>
          </a:p>
        </p:txBody>
      </p:sp>
      <p:sp>
        <p:nvSpPr>
          <p:cNvPr id="7" name="Text 5"/>
          <p:cNvSpPr/>
          <p:nvPr/>
        </p:nvSpPr>
        <p:spPr>
          <a:xfrm>
            <a:off x="457200" y="2121408"/>
            <a:ext cx="8229600" cy="457200"/>
          </a:xfrm>
          <a:prstGeom prst="rect">
            <a:avLst/>
          </a:prstGeom>
          <a:noFill/>
          <a:ln/>
        </p:spPr>
        <p:txBody>
          <a:bodyPr wrap="square" lIns="0" tIns="0" rIns="0" bIns="0"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3</a:t>
            </a:r>
            <a:r>
              <a:rPr lang="en-US" sz="1200" dirty="0">
                <a:solidFill>
                  <a:srgbClr val="FFFFFF"/>
                </a:solidFill>
                <a:latin typeface="Calibri" pitchFamily="34" charset="0"/>
                <a:ea typeface="Calibri" pitchFamily="34" charset="-122"/>
                <a:cs typeface="Calibri" pitchFamily="34" charset="-120"/>
              </a:rPr>
              <a:t>  India's IT Act 2000 (+ DPDP Act 2023) forms the legal backbone for cyber law</a:t>
            </a:r>
            <a:endParaRPr lang="en-US" sz="1300" dirty="0"/>
          </a:p>
        </p:txBody>
      </p:sp>
      <p:sp>
        <p:nvSpPr>
          <p:cNvPr id="8" name="Text 6"/>
          <p:cNvSpPr/>
          <p:nvPr/>
        </p:nvSpPr>
        <p:spPr>
          <a:xfrm>
            <a:off x="457200" y="2633472"/>
            <a:ext cx="8229600" cy="457200"/>
          </a:xfrm>
          <a:prstGeom prst="rect">
            <a:avLst/>
          </a:prstGeom>
          <a:noFill/>
          <a:ln/>
        </p:spPr>
        <p:txBody>
          <a:bodyPr wrap="square" lIns="0" tIns="0" rIns="0" bIns="0"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4</a:t>
            </a:r>
            <a:r>
              <a:rPr lang="en-US" sz="1200" dirty="0">
                <a:solidFill>
                  <a:srgbClr val="FFFFFF"/>
                </a:solidFill>
                <a:latin typeface="Calibri" pitchFamily="34" charset="0"/>
                <a:ea typeface="Calibri" pitchFamily="34" charset="-122"/>
                <a:cs typeface="Calibri" pitchFamily="34" charset="-120"/>
              </a:rPr>
              <a:t>  Cybercrime is growing exponentially — from individuals to nation-states</a:t>
            </a:r>
            <a:endParaRPr lang="en-US" sz="1300" dirty="0"/>
          </a:p>
        </p:txBody>
      </p:sp>
      <p:sp>
        <p:nvSpPr>
          <p:cNvPr id="9" name="Text 7"/>
          <p:cNvSpPr/>
          <p:nvPr/>
        </p:nvSpPr>
        <p:spPr>
          <a:xfrm>
            <a:off x="457200" y="3145536"/>
            <a:ext cx="8229600" cy="457200"/>
          </a:xfrm>
          <a:prstGeom prst="rect">
            <a:avLst/>
          </a:prstGeom>
          <a:noFill/>
          <a:ln/>
        </p:spPr>
        <p:txBody>
          <a:bodyPr wrap="square" lIns="0" tIns="0" rIns="0" bIns="0"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5</a:t>
            </a:r>
            <a:r>
              <a:rPr lang="en-US" sz="1200" dirty="0">
                <a:solidFill>
                  <a:srgbClr val="FFFFFF"/>
                </a:solidFill>
                <a:latin typeface="Calibri" pitchFamily="34" charset="0"/>
                <a:ea typeface="Calibri" pitchFamily="34" charset="-122"/>
                <a:cs typeface="Calibri" pitchFamily="34" charset="-120"/>
              </a:rPr>
              <a:t>  Ethical dilemmas are real — learn frameworks to make principled decisions</a:t>
            </a:r>
            <a:endParaRPr lang="en-US" sz="1300" dirty="0"/>
          </a:p>
        </p:txBody>
      </p:sp>
      <p:sp>
        <p:nvSpPr>
          <p:cNvPr id="10" name="Text 8"/>
          <p:cNvSpPr/>
          <p:nvPr/>
        </p:nvSpPr>
        <p:spPr>
          <a:xfrm>
            <a:off x="457200" y="3657600"/>
            <a:ext cx="8229600" cy="457200"/>
          </a:xfrm>
          <a:prstGeom prst="rect">
            <a:avLst/>
          </a:prstGeom>
          <a:noFill/>
          <a:ln/>
        </p:spPr>
        <p:txBody>
          <a:bodyPr wrap="square" lIns="0" tIns="0" rIns="0" bIns="0"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6</a:t>
            </a:r>
            <a:r>
              <a:rPr lang="en-US" sz="1200" dirty="0">
                <a:solidFill>
                  <a:srgbClr val="FFFFFF"/>
                </a:solidFill>
                <a:latin typeface="Calibri" pitchFamily="34" charset="0"/>
                <a:ea typeface="Calibri" pitchFamily="34" charset="-122"/>
                <a:cs typeface="Calibri" pitchFamily="34" charset="-120"/>
              </a:rPr>
              <a:t>  ADR (arbitration, mediation) resolves IT disputes faster than courts</a:t>
            </a:r>
            <a:endParaRPr lang="en-US" sz="1300" dirty="0"/>
          </a:p>
        </p:txBody>
      </p:sp>
      <p:sp>
        <p:nvSpPr>
          <p:cNvPr id="11" name="Text 9"/>
          <p:cNvSpPr/>
          <p:nvPr/>
        </p:nvSpPr>
        <p:spPr>
          <a:xfrm>
            <a:off x="457200" y="4169664"/>
            <a:ext cx="8229600" cy="457200"/>
          </a:xfrm>
          <a:prstGeom prst="rect">
            <a:avLst/>
          </a:prstGeom>
          <a:noFill/>
          <a:ln/>
        </p:spPr>
        <p:txBody>
          <a:bodyPr wrap="square" lIns="0" tIns="0" rIns="0" bIns="0"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7</a:t>
            </a:r>
            <a:r>
              <a:rPr lang="en-US" sz="1200" dirty="0">
                <a:solidFill>
                  <a:srgbClr val="FFFFFF"/>
                </a:solidFill>
                <a:latin typeface="Calibri" pitchFamily="34" charset="0"/>
                <a:ea typeface="Calibri" pitchFamily="34" charset="-122"/>
                <a:cs typeface="Calibri" pitchFamily="34" charset="-120"/>
              </a:rPr>
              <a:t>  Hands-on tools must be used ethically and only with proper authorization</a:t>
            </a:r>
            <a:endParaRPr lang="en-US" sz="1300" dirty="0"/>
          </a:p>
        </p:txBody>
      </p:sp>
      <p:sp>
        <p:nvSpPr>
          <p:cNvPr id="12" name="Text 10"/>
          <p:cNvSpPr/>
          <p:nvPr/>
        </p:nvSpPr>
        <p:spPr>
          <a:xfrm>
            <a:off x="457200" y="4663440"/>
            <a:ext cx="8229600" cy="365760"/>
          </a:xfrm>
          <a:prstGeom prst="rect">
            <a:avLst/>
          </a:prstGeom>
          <a:noFill/>
          <a:ln/>
        </p:spPr>
        <p:txBody>
          <a:bodyPr wrap="square" lIns="0" tIns="0" rIns="0" bIns="0" rtlCol="0" anchor="ctr"/>
          <a:lstStyle/>
          <a:p>
            <a:pPr marL="0" indent="0" algn="ctr">
              <a:buNone/>
            </a:pPr>
            <a:r>
              <a:rPr lang="en-US" sz="1100" i="1" dirty="0">
                <a:solidFill>
                  <a:srgbClr val="00B4D8"/>
                </a:solidFill>
                <a:latin typeface="Calibri" pitchFamily="34" charset="0"/>
                <a:ea typeface="Calibri" pitchFamily="34" charset="-122"/>
                <a:cs typeface="Calibri" pitchFamily="34" charset="-120"/>
              </a:rPr>
              <a:t>"The price of freedom is eternal vigilance." — Apply it to cybersecurity too.</a:t>
            </a:r>
            <a:endParaRPr lang="en-US" sz="11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1344</Words>
  <Application>Microsoft Office PowerPoint</Application>
  <PresentationFormat>On-screen Show (16:9)</PresentationFormat>
  <Paragraphs>225</Paragraphs>
  <Slides>24</Slides>
  <Notes>12</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VI – Ethical and Professional Issues in Information Security</dc:title>
  <dc:subject>PptxGenJS Presentation</dc:subject>
  <dc:creator>PptxGenJS</dc:creator>
  <cp:lastModifiedBy>HP</cp:lastModifiedBy>
  <cp:revision>11</cp:revision>
  <dcterms:created xsi:type="dcterms:W3CDTF">2026-05-14T07:59:37Z</dcterms:created>
  <dcterms:modified xsi:type="dcterms:W3CDTF">2026-05-20T09:19:50Z</dcterms:modified>
</cp:coreProperties>
</file>