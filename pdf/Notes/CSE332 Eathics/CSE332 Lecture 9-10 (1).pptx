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26"/>
  </p:notesMasterIdLst>
  <p:handoutMasterIdLst>
    <p:handoutMasterId r:id="rId27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171" autoAdjust="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=""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 smtClean="0"/>
              <a:t>Lecture 8 and Lecture 9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34B31A-62E3-6B6B-846E-15BA3A5D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2849880"/>
          </a:xfrm>
        </p:spPr>
        <p:txBody>
          <a:bodyPr/>
          <a:lstStyle/>
          <a:p>
            <a:r>
              <a:rPr lang="en-US" dirty="0"/>
              <a:t>Conducting Analysis and Registering Claims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52B267E-D612-91EA-63A0-6DAFCEED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953000"/>
          </a:xfrm>
        </p:spPr>
        <p:txBody>
          <a:bodyPr/>
          <a:lstStyle/>
          <a:p>
            <a:r>
              <a:rPr lang="en-US" sz="3000" dirty="0"/>
              <a:t>Identifying social and engineering issues</a:t>
            </a:r>
          </a:p>
          <a:p>
            <a:r>
              <a:rPr lang="en-US" sz="3000" dirty="0"/>
              <a:t>Conducting thorough analysis for solutions</a:t>
            </a:r>
          </a:p>
          <a:p>
            <a:r>
              <a:rPr lang="en-US" sz="3000" dirty="0"/>
              <a:t>Registering intellectual property protection claims</a:t>
            </a:r>
          </a:p>
          <a:p>
            <a:r>
              <a:rPr lang="en-US" sz="3000" dirty="0"/>
              <a:t>Critical steps for innovative project success</a:t>
            </a:r>
          </a:p>
          <a:p>
            <a:r>
              <a:rPr lang="en-US" sz="3000" dirty="0"/>
              <a:t>Balancing creativity and legal safeguarding rights</a:t>
            </a:r>
          </a:p>
          <a:p>
            <a:r>
              <a:rPr lang="en-US" sz="3000" dirty="0"/>
              <a:t>Promoting sustainable and ethical advancements</a:t>
            </a:r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3AA3EED-9076-67C6-E405-719DC5DAF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000" dirty="0"/>
              <a:t>Social issues impact technology adoption rates</a:t>
            </a:r>
          </a:p>
          <a:p>
            <a:r>
              <a:rPr lang="en-IN" sz="3000" dirty="0"/>
              <a:t>Engineering challenges hinder development progress</a:t>
            </a:r>
          </a:p>
          <a:p>
            <a:r>
              <a:rPr lang="en-IN" sz="3000" dirty="0"/>
              <a:t>Innovative ideas need effective legal safeguards</a:t>
            </a:r>
          </a:p>
          <a:p>
            <a:r>
              <a:rPr lang="en-IN" sz="3000" dirty="0" err="1"/>
              <a:t>Analyzing</a:t>
            </a:r>
            <a:r>
              <a:rPr lang="en-IN" sz="3000" dirty="0"/>
              <a:t> problems ensures impactful solutions</a:t>
            </a:r>
          </a:p>
          <a:p>
            <a:r>
              <a:rPr lang="en-IN" sz="3000" dirty="0"/>
              <a:t>Registering claims protects intellectual property rights</a:t>
            </a:r>
          </a:p>
          <a:p>
            <a:r>
              <a:rPr lang="en-IN" sz="3000" dirty="0"/>
              <a:t>Essential for fostering innovation and growth</a:t>
            </a:r>
          </a:p>
        </p:txBody>
      </p:sp>
    </p:spTree>
    <p:extLst>
      <p:ext uri="{BB962C8B-B14F-4D97-AF65-F5344CB8AC3E}">
        <p14:creationId xmlns="" xmlns:p14="http://schemas.microsoft.com/office/powerpoint/2010/main" val="185831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Social Issues in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Access inequality limits technology benefits</a:t>
            </a:r>
          </a:p>
          <a:p>
            <a:pPr algn="just"/>
            <a:r>
              <a:rPr lang="en-IN" dirty="0"/>
              <a:t>Cultural factors influence adoption practices</a:t>
            </a:r>
          </a:p>
          <a:p>
            <a:pPr algn="just"/>
            <a:r>
              <a:rPr lang="en-IN" dirty="0"/>
              <a:t>Privacy concerns create user trust barriers</a:t>
            </a:r>
          </a:p>
          <a:p>
            <a:pPr algn="just"/>
            <a:r>
              <a:rPr lang="en-IN" dirty="0"/>
              <a:t>Digital literacy varies across demographics</a:t>
            </a:r>
          </a:p>
          <a:p>
            <a:pPr algn="just"/>
            <a:r>
              <a:rPr lang="en-IN" dirty="0"/>
              <a:t>Ethical considerations shape public perceptions</a:t>
            </a:r>
          </a:p>
          <a:p>
            <a:pPr algn="just"/>
            <a:r>
              <a:rPr lang="en-IN" dirty="0"/>
              <a:t>Collaborative efforts address these challenges</a:t>
            </a:r>
          </a:p>
        </p:txBody>
      </p:sp>
    </p:spTree>
    <p:extLst>
      <p:ext uri="{BB962C8B-B14F-4D97-AF65-F5344CB8AC3E}">
        <p14:creationId xmlns="" xmlns:p14="http://schemas.microsoft.com/office/powerpoint/2010/main" val="251739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Engineering Challenges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Resource constraints limit design possibilities</a:t>
            </a:r>
          </a:p>
          <a:p>
            <a:r>
              <a:rPr lang="en-IN" sz="2800" dirty="0"/>
              <a:t>Technological complexity increases implementation risks</a:t>
            </a:r>
          </a:p>
          <a:p>
            <a:r>
              <a:rPr lang="en-IN" sz="2800" dirty="0"/>
              <a:t>Safety standards demand rigorous testing protocols</a:t>
            </a:r>
          </a:p>
          <a:p>
            <a:r>
              <a:rPr lang="en-IN" sz="2800" dirty="0"/>
              <a:t>Scalability concerns affect future adaptability</a:t>
            </a:r>
          </a:p>
          <a:p>
            <a:r>
              <a:rPr lang="en-IN" sz="2800" dirty="0"/>
              <a:t>Environmental impact guides material selection choices</a:t>
            </a:r>
          </a:p>
          <a:p>
            <a:r>
              <a:rPr lang="en-IN" sz="2800" dirty="0"/>
              <a:t>Continuous improvement ensures optimal performance</a:t>
            </a:r>
          </a:p>
        </p:txBody>
      </p:sp>
    </p:spTree>
    <p:extLst>
      <p:ext uri="{BB962C8B-B14F-4D97-AF65-F5344CB8AC3E}">
        <p14:creationId xmlns="" xmlns:p14="http://schemas.microsoft.com/office/powerpoint/2010/main" val="192710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Thorough analysis identifies root problem causes</a:t>
            </a:r>
          </a:p>
          <a:p>
            <a:r>
              <a:rPr lang="en-IN" sz="2800" dirty="0"/>
              <a:t>Stakeholder input ensures inclusive decision-making</a:t>
            </a:r>
          </a:p>
          <a:p>
            <a:r>
              <a:rPr lang="en-IN" sz="2800" dirty="0"/>
              <a:t>Data-driven insights guide effective strategies</a:t>
            </a:r>
          </a:p>
          <a:p>
            <a:r>
              <a:rPr lang="en-IN" sz="2800" dirty="0"/>
              <a:t>Scenario </a:t>
            </a:r>
            <a:r>
              <a:rPr lang="en-IN" sz="2800" dirty="0" err="1"/>
              <a:t>modeling</a:t>
            </a:r>
            <a:r>
              <a:rPr lang="en-IN" sz="2800" dirty="0"/>
              <a:t> anticipates potential outcomes</a:t>
            </a:r>
          </a:p>
          <a:p>
            <a:r>
              <a:rPr lang="en-IN" sz="2800" dirty="0"/>
              <a:t>Structured approaches enhance solution feasibility</a:t>
            </a:r>
          </a:p>
          <a:p>
            <a:r>
              <a:rPr lang="en-IN" sz="2800" dirty="0"/>
              <a:t>Collaboration fosters interdisciplinary innovation</a:t>
            </a:r>
          </a:p>
        </p:txBody>
      </p:sp>
    </p:spTree>
    <p:extLst>
      <p:ext uri="{BB962C8B-B14F-4D97-AF65-F5344CB8AC3E}">
        <p14:creationId xmlns="" xmlns:p14="http://schemas.microsoft.com/office/powerpoint/2010/main" val="4839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Intellectual Property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Protecting ideas safeguards competitive advantages</a:t>
            </a:r>
          </a:p>
          <a:p>
            <a:r>
              <a:rPr lang="en-US" sz="2800" dirty="0"/>
              <a:t>Types include patents, trademarks, copyrights</a:t>
            </a:r>
          </a:p>
          <a:p>
            <a:r>
              <a:rPr lang="en-US" sz="2800" dirty="0"/>
              <a:t>Filing claims requires detailed documentation processes</a:t>
            </a:r>
          </a:p>
          <a:p>
            <a:r>
              <a:rPr lang="en-US" sz="2800" dirty="0"/>
              <a:t>Legal protection prevents unauthorized usage instances</a:t>
            </a:r>
          </a:p>
          <a:p>
            <a:r>
              <a:rPr lang="en-US" sz="2800" dirty="0"/>
              <a:t>Encourages investment in research and development</a:t>
            </a:r>
          </a:p>
          <a:p>
            <a:r>
              <a:rPr lang="en-US" sz="2800" dirty="0"/>
              <a:t>Strengthens economic and creative ecosystems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380718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of Registering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innovative aspects of your invention</a:t>
            </a:r>
          </a:p>
          <a:p>
            <a:r>
              <a:rPr lang="en-US" dirty="0"/>
              <a:t>Prepare detailed descriptions and technical drawings</a:t>
            </a:r>
          </a:p>
          <a:p>
            <a:r>
              <a:rPr lang="en-US" dirty="0"/>
              <a:t>Conduct searches for existing similar patents</a:t>
            </a:r>
          </a:p>
          <a:p>
            <a:r>
              <a:rPr lang="en-US" dirty="0"/>
              <a:t>File applications with relevant legal authorities</a:t>
            </a:r>
          </a:p>
          <a:p>
            <a:r>
              <a:rPr lang="en-US" dirty="0"/>
              <a:t>Respond to examination reports and objections</a:t>
            </a:r>
          </a:p>
          <a:p>
            <a:r>
              <a:rPr lang="en-US" dirty="0"/>
              <a:t>Maintain patents through timely fee payments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9091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IP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Secures exclusive rights for commercial exploitation</a:t>
            </a:r>
          </a:p>
          <a:p>
            <a:r>
              <a:rPr lang="en-US" sz="3000" dirty="0"/>
              <a:t>Increases market value of protected innovations</a:t>
            </a:r>
          </a:p>
          <a:p>
            <a:r>
              <a:rPr lang="en-US" sz="3000" dirty="0"/>
              <a:t>Attracts funding for further developmental efforts</a:t>
            </a:r>
          </a:p>
          <a:p>
            <a:r>
              <a:rPr lang="en-US" sz="3000" dirty="0"/>
              <a:t>Prevents competitors from copying unique ideas</a:t>
            </a:r>
          </a:p>
          <a:p>
            <a:r>
              <a:rPr lang="en-US" sz="3000" dirty="0"/>
              <a:t>Strengthens brand recognition and customer trust</a:t>
            </a:r>
          </a:p>
          <a:p>
            <a:r>
              <a:rPr lang="en-US" sz="3000" dirty="0"/>
              <a:t>Supports long-term business sustainability goals</a:t>
            </a:r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187960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6C369-3EA4-F90A-FB11-1C4AFC1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Successful patent protection in renewable energy</a:t>
            </a:r>
          </a:p>
          <a:p>
            <a:r>
              <a:rPr lang="en-IN" sz="2800" dirty="0"/>
              <a:t>Copyrights promoting creative digital content growth</a:t>
            </a:r>
          </a:p>
          <a:p>
            <a:r>
              <a:rPr lang="en-IN" sz="2800" dirty="0"/>
              <a:t>Trademarks boosting brand identity for startups</a:t>
            </a:r>
          </a:p>
          <a:p>
            <a:r>
              <a:rPr lang="en-IN" sz="2800" dirty="0"/>
              <a:t>IP disputes resolved through effective legal frameworks</a:t>
            </a:r>
          </a:p>
          <a:p>
            <a:r>
              <a:rPr lang="en-IN" sz="2800" dirty="0"/>
              <a:t>Engineering innovations achieving global recognition</a:t>
            </a:r>
          </a:p>
          <a:p>
            <a:r>
              <a:rPr lang="en-IN" sz="2800" dirty="0"/>
              <a:t>Lessons learned from intellectual property cases</a:t>
            </a:r>
          </a:p>
        </p:txBody>
      </p:sp>
    </p:spTree>
    <p:extLst>
      <p:ext uri="{BB962C8B-B14F-4D97-AF65-F5344CB8AC3E}">
        <p14:creationId xmlns="" xmlns:p14="http://schemas.microsoft.com/office/powerpoint/2010/main" val="79010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IP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Costly and time-consuming registration processes</a:t>
            </a:r>
          </a:p>
          <a:p>
            <a:r>
              <a:rPr lang="en-US" sz="3000" dirty="0"/>
              <a:t>Global variations in intellectual property laws</a:t>
            </a:r>
          </a:p>
          <a:p>
            <a:r>
              <a:rPr lang="en-US" sz="3000" dirty="0"/>
              <a:t>Enforcement difficulties across multiple jurisdictions</a:t>
            </a:r>
          </a:p>
          <a:p>
            <a:r>
              <a:rPr lang="en-US" sz="3000" dirty="0"/>
              <a:t>Balancing openness with competitive confidentiality</a:t>
            </a:r>
          </a:p>
          <a:p>
            <a:r>
              <a:rPr lang="en-US" sz="3000" dirty="0"/>
              <a:t>Navigating ethical considerations in patenting life</a:t>
            </a:r>
          </a:p>
          <a:p>
            <a:r>
              <a:rPr lang="en-US" sz="3000" dirty="0"/>
              <a:t>Ensuring accessibility while protecting ownership</a:t>
            </a:r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21149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Addressing social and engineering issues effectively</a:t>
            </a:r>
          </a:p>
          <a:p>
            <a:r>
              <a:rPr lang="en-US" sz="2800" dirty="0"/>
              <a:t>Conducting thorough analysis for innovative solutions</a:t>
            </a:r>
          </a:p>
          <a:p>
            <a:r>
              <a:rPr lang="en-US" sz="2800" dirty="0"/>
              <a:t>Registering claims to protect intellectual property</a:t>
            </a:r>
          </a:p>
          <a:p>
            <a:r>
              <a:rPr lang="en-US" sz="2800" dirty="0"/>
              <a:t>Promoting sustainable and ethical advancements globally</a:t>
            </a:r>
          </a:p>
          <a:p>
            <a:r>
              <a:rPr lang="en-US" sz="2800" dirty="0"/>
              <a:t>Encouraging collaboration for interdisciplinary success</a:t>
            </a:r>
          </a:p>
          <a:p>
            <a:r>
              <a:rPr lang="en-US" sz="2800" dirty="0"/>
              <a:t>Securing a better future through innovation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221003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1. Which IPR protects logos and brand names?</a:t>
            </a:r>
          </a:p>
          <a:p>
            <a:pPr>
              <a:buNone/>
            </a:pPr>
            <a:r>
              <a:rPr lang="en-US" dirty="0" smtClean="0"/>
              <a:t> A. Copyright</a:t>
            </a:r>
            <a:br>
              <a:rPr lang="en-US" dirty="0" smtClean="0"/>
            </a:br>
            <a:r>
              <a:rPr lang="en-US" dirty="0" smtClean="0"/>
              <a:t>B. Patent</a:t>
            </a:r>
            <a:br>
              <a:rPr lang="en-US" dirty="0" smtClean="0"/>
            </a:br>
            <a:r>
              <a:rPr lang="en-US" dirty="0" smtClean="0"/>
              <a:t>C. Trademark</a:t>
            </a:r>
            <a:br>
              <a:rPr lang="en-US" dirty="0" smtClean="0"/>
            </a:br>
            <a:r>
              <a:rPr lang="en-US" dirty="0" smtClean="0"/>
              <a:t>D. Trade secret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2. The duration of a patent is generally:</a:t>
            </a:r>
          </a:p>
          <a:p>
            <a:pPr>
              <a:buNone/>
            </a:pPr>
            <a:r>
              <a:rPr lang="en-US" dirty="0" smtClean="0"/>
              <a:t>    A. 5 years</a:t>
            </a:r>
            <a:br>
              <a:rPr lang="en-US" dirty="0" smtClean="0"/>
            </a:br>
            <a:r>
              <a:rPr lang="en-US" dirty="0" smtClean="0"/>
              <a:t>B. 10 years</a:t>
            </a:r>
            <a:br>
              <a:rPr lang="en-US" dirty="0" smtClean="0"/>
            </a:br>
            <a:r>
              <a:rPr lang="en-US" dirty="0" smtClean="0"/>
              <a:t>C. 20 years</a:t>
            </a:r>
            <a:br>
              <a:rPr lang="en-US" dirty="0" smtClean="0"/>
            </a:br>
            <a:r>
              <a:rPr lang="en-US" dirty="0" smtClean="0"/>
              <a:t>D. Lifetime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3. Which organization deals with global IPR issues?</a:t>
            </a:r>
          </a:p>
          <a:p>
            <a:r>
              <a:rPr lang="en-US" dirty="0" smtClean="0"/>
              <a:t>A. WHO</a:t>
            </a:r>
            <a:br>
              <a:rPr lang="en-US" dirty="0" smtClean="0"/>
            </a:br>
            <a:r>
              <a:rPr lang="en-US" dirty="0" smtClean="0"/>
              <a:t>B. WTO</a:t>
            </a:r>
            <a:br>
              <a:rPr lang="en-US" dirty="0" smtClean="0"/>
            </a:br>
            <a:r>
              <a:rPr lang="en-US" dirty="0" smtClean="0"/>
              <a:t>C. WIPO</a:t>
            </a:r>
            <a:br>
              <a:rPr lang="en-US" dirty="0" smtClean="0"/>
            </a:br>
            <a:r>
              <a:rPr lang="en-US" dirty="0" smtClean="0"/>
              <a:t>D. IMF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4. Which of the following can be patented?</a:t>
            </a:r>
          </a:p>
          <a:p>
            <a:r>
              <a:rPr lang="en-US" dirty="0" smtClean="0"/>
              <a:t>A. A scientific theory</a:t>
            </a:r>
            <a:br>
              <a:rPr lang="en-US" dirty="0" smtClean="0"/>
            </a:br>
            <a:r>
              <a:rPr lang="en-US" dirty="0" smtClean="0"/>
              <a:t>B. A natural discovery</a:t>
            </a:r>
            <a:br>
              <a:rPr lang="en-US" dirty="0" smtClean="0"/>
            </a:br>
            <a:r>
              <a:rPr lang="en-US" dirty="0" smtClean="0"/>
              <a:t>C. A new machine</a:t>
            </a:r>
            <a:br>
              <a:rPr lang="en-US" dirty="0" smtClean="0"/>
            </a:br>
            <a:r>
              <a:rPr lang="en-US" dirty="0" smtClean="0"/>
              <a:t>D. A mathematical formula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5. Industrial designs protect:</a:t>
            </a:r>
          </a:p>
          <a:p>
            <a:r>
              <a:rPr lang="en-US" dirty="0" smtClean="0"/>
              <a:t>A. Function of a product</a:t>
            </a:r>
            <a:br>
              <a:rPr lang="en-US" dirty="0" smtClean="0"/>
            </a:br>
            <a:r>
              <a:rPr lang="en-US" dirty="0" smtClean="0"/>
              <a:t>B. Appearance of a product</a:t>
            </a:r>
            <a:br>
              <a:rPr lang="en-US" dirty="0" smtClean="0"/>
            </a:br>
            <a:r>
              <a:rPr lang="en-US" dirty="0" smtClean="0"/>
              <a:t>C. Business ideas</a:t>
            </a:r>
            <a:br>
              <a:rPr lang="en-US" dirty="0" smtClean="0"/>
            </a:br>
            <a:r>
              <a:rPr lang="en-US" dirty="0" smtClean="0"/>
              <a:t>D. Scientific laws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6. Under patent law, “prior art” refers to:</a:t>
            </a:r>
          </a:p>
          <a:p>
            <a:r>
              <a:rPr lang="en-US" dirty="0" smtClean="0"/>
              <a:t>A. Only patented inventions</a:t>
            </a:r>
            <a:br>
              <a:rPr lang="en-US" dirty="0" smtClean="0"/>
            </a:br>
            <a:r>
              <a:rPr lang="en-US" dirty="0" smtClean="0"/>
              <a:t>B. Publicly available knowledge before filing date</a:t>
            </a:r>
            <a:br>
              <a:rPr lang="en-US" dirty="0" smtClean="0"/>
            </a:br>
            <a:r>
              <a:rPr lang="en-US" dirty="0" smtClean="0"/>
              <a:t>C. Artistic works</a:t>
            </a:r>
            <a:br>
              <a:rPr lang="en-US" dirty="0" smtClean="0"/>
            </a:br>
            <a:r>
              <a:rPr lang="en-US" dirty="0" smtClean="0"/>
              <a:t>D. Trade secrets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7. The term of a patent begins from:</a:t>
            </a:r>
          </a:p>
          <a:p>
            <a:r>
              <a:rPr lang="en-US" dirty="0" smtClean="0"/>
              <a:t>A. Date of grant</a:t>
            </a:r>
            <a:br>
              <a:rPr lang="en-US" dirty="0" smtClean="0"/>
            </a:br>
            <a:r>
              <a:rPr lang="en-US" dirty="0" smtClean="0"/>
              <a:t>B. Date of publication</a:t>
            </a:r>
            <a:br>
              <a:rPr lang="en-US" dirty="0" smtClean="0"/>
            </a:br>
            <a:r>
              <a:rPr lang="en-US" dirty="0" smtClean="0"/>
              <a:t>C. Date of filing</a:t>
            </a:r>
            <a:br>
              <a:rPr lang="en-US" dirty="0" smtClean="0"/>
            </a:br>
            <a:r>
              <a:rPr lang="en-US" dirty="0" smtClean="0"/>
              <a:t>D. Date of commercialization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8. What is a “compulsory license”?</a:t>
            </a:r>
          </a:p>
          <a:p>
            <a:r>
              <a:rPr lang="en-US" dirty="0" smtClean="0"/>
              <a:t>A. A license freely given by the inventor</a:t>
            </a:r>
            <a:br>
              <a:rPr lang="en-US" dirty="0" smtClean="0"/>
            </a:br>
            <a:r>
              <a:rPr lang="en-US" dirty="0" smtClean="0"/>
              <a:t>B. Government allows others to produce without consent under conditions</a:t>
            </a:r>
            <a:br>
              <a:rPr lang="en-US" dirty="0" smtClean="0"/>
            </a:br>
            <a:r>
              <a:rPr lang="en-US" dirty="0" smtClean="0"/>
              <a:t>C. A permanent transfer of patent</a:t>
            </a:r>
            <a:br>
              <a:rPr lang="en-US" dirty="0" smtClean="0"/>
            </a:br>
            <a:r>
              <a:rPr lang="en-US" dirty="0" smtClean="0"/>
              <a:t>D. A license only for foreign companies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9. Which treaty allows filing a single international patent application?</a:t>
            </a:r>
          </a:p>
          <a:p>
            <a:r>
              <a:rPr lang="en-US" dirty="0" smtClean="0"/>
              <a:t>A. Berne Convention</a:t>
            </a:r>
            <a:br>
              <a:rPr lang="en-US" dirty="0" smtClean="0"/>
            </a:br>
            <a:r>
              <a:rPr lang="en-US" dirty="0" smtClean="0"/>
              <a:t>B. Paris Convention</a:t>
            </a:r>
            <a:br>
              <a:rPr lang="en-US" dirty="0" smtClean="0"/>
            </a:br>
            <a:r>
              <a:rPr lang="en-US" dirty="0" smtClean="0"/>
              <a:t>C. Patent Cooperation Treaty (PCT)</a:t>
            </a:r>
            <a:br>
              <a:rPr lang="en-US" dirty="0" smtClean="0"/>
            </a:br>
            <a:r>
              <a:rPr lang="en-US" dirty="0" smtClean="0"/>
              <a:t>D. Madrid Agreement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10.Which authority grants patents in India?</a:t>
            </a:r>
          </a:p>
          <a:p>
            <a:r>
              <a:rPr lang="en-US" dirty="0" smtClean="0"/>
              <a:t>A. Supreme Court</a:t>
            </a:r>
            <a:br>
              <a:rPr lang="en-US" dirty="0" smtClean="0"/>
            </a:br>
            <a:r>
              <a:rPr lang="en-US" dirty="0" smtClean="0"/>
              <a:t>B. Patent Office under Controller General of Patents</a:t>
            </a:r>
            <a:br>
              <a:rPr lang="en-US" dirty="0" smtClean="0"/>
            </a:br>
            <a:r>
              <a:rPr lang="en-US" dirty="0" smtClean="0"/>
              <a:t>C. Ministry of Finance</a:t>
            </a:r>
            <a:br>
              <a:rPr lang="en-US" dirty="0" smtClean="0"/>
            </a:br>
            <a:r>
              <a:rPr lang="en-US" dirty="0" smtClean="0"/>
              <a:t>D. RBI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11. </a:t>
            </a:r>
            <a:r>
              <a:rPr lang="en-US" b="1" dirty="0" err="1" smtClean="0"/>
              <a:t>Evergreening</a:t>
            </a:r>
            <a:r>
              <a:rPr lang="en-US" b="1" dirty="0" smtClean="0"/>
              <a:t>” of patents refers to:</a:t>
            </a:r>
          </a:p>
          <a:p>
            <a:r>
              <a:rPr lang="en-US" dirty="0" smtClean="0"/>
              <a:t>A. Eco-friendly inventions</a:t>
            </a:r>
            <a:br>
              <a:rPr lang="en-US" dirty="0" smtClean="0"/>
            </a:br>
            <a:r>
              <a:rPr lang="en-US" dirty="0" smtClean="0"/>
              <a:t>B. Extending patent life through minor modifications</a:t>
            </a:r>
            <a:br>
              <a:rPr lang="en-US" dirty="0" smtClean="0"/>
            </a:br>
            <a:r>
              <a:rPr lang="en-US" dirty="0" smtClean="0"/>
              <a:t>C. Cancelling patents early</a:t>
            </a:r>
            <a:br>
              <a:rPr lang="en-US" dirty="0" smtClean="0"/>
            </a:br>
            <a:r>
              <a:rPr lang="en-US" dirty="0" smtClean="0"/>
              <a:t>D. Green technology patents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12. Which of the following rights does a patent holder NOT have?</a:t>
            </a:r>
          </a:p>
          <a:p>
            <a:r>
              <a:rPr lang="en-US" dirty="0" smtClean="0"/>
              <a:t>A. Right to exclude others</a:t>
            </a:r>
            <a:br>
              <a:rPr lang="en-US" dirty="0" smtClean="0"/>
            </a:br>
            <a:r>
              <a:rPr lang="en-US" dirty="0" smtClean="0"/>
              <a:t>B. Right to license the invention</a:t>
            </a:r>
            <a:br>
              <a:rPr lang="en-US" dirty="0" smtClean="0"/>
            </a:br>
            <a:r>
              <a:rPr lang="en-US" dirty="0" smtClean="0"/>
              <a:t>C. Right to make and sell the invention</a:t>
            </a:r>
            <a:br>
              <a:rPr lang="en-US" dirty="0" smtClean="0"/>
            </a:br>
            <a:r>
              <a:rPr lang="en-US" dirty="0" smtClean="0"/>
              <a:t>D. Right to violate public safety laws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2039</TotalTime>
  <Words>594</Words>
  <Application>Microsoft Office PowerPoint</Application>
  <PresentationFormat>On-screen Show (4:3)</PresentationFormat>
  <Paragraphs>107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CSE332</vt:lpstr>
      <vt:lpstr>Conducting Analysis and Registering Claims</vt:lpstr>
      <vt:lpstr>Introduction to Issues</vt:lpstr>
      <vt:lpstr>Social Issues in Technology</vt:lpstr>
      <vt:lpstr>Engineering Challenges Overview</vt:lpstr>
      <vt:lpstr>Importance of Analysis</vt:lpstr>
      <vt:lpstr>Intellectual Property Basics</vt:lpstr>
      <vt:lpstr>Process of Registering Claims</vt:lpstr>
      <vt:lpstr>Benefits of IP Protection</vt:lpstr>
      <vt:lpstr>Case Studies</vt:lpstr>
      <vt:lpstr>Challenges in IP Management</vt:lpstr>
      <vt:lpstr>Conclusion</vt:lpstr>
      <vt:lpstr>MCQ</vt:lpstr>
      <vt:lpstr>Slide 13</vt:lpstr>
      <vt:lpstr>Slide 14</vt:lpstr>
      <vt:lpstr>Slide 15</vt:lpstr>
      <vt:lpstr>Slide 16</vt:lpstr>
      <vt:lpstr>Slide 17</vt:lpstr>
      <vt:lpstr>Slide 18</vt:lpstr>
      <vt:lpstr> </vt:lpstr>
      <vt:lpstr>Slide 20</vt:lpstr>
      <vt:lpstr>Slide 21</vt:lpstr>
      <vt:lpstr>Slide 22</vt:lpstr>
      <vt:lpstr>Slide 23</vt:lpstr>
    </vt:vector>
  </TitlesOfParts>
  <Company>Villanova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HP</cp:lastModifiedBy>
  <cp:revision>141</cp:revision>
  <dcterms:created xsi:type="dcterms:W3CDTF">1999-08-23T17:38:43Z</dcterms:created>
  <dcterms:modified xsi:type="dcterms:W3CDTF">2026-04-07T11:33:33Z</dcterms:modified>
</cp:coreProperties>
</file>