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57" r:id="rId4"/>
    <p:sldId id="464" r:id="rId5"/>
    <p:sldId id="260" r:id="rId6"/>
    <p:sldId id="262" r:id="rId7"/>
    <p:sldId id="265" r:id="rId8"/>
    <p:sldId id="266" r:id="rId9"/>
    <p:sldId id="267" r:id="rId10"/>
    <p:sldId id="269" r:id="rId11"/>
    <p:sldId id="270" r:id="rId12"/>
    <p:sldId id="272" r:id="rId13"/>
    <p:sldId id="273" r:id="rId14"/>
    <p:sldId id="278" r:id="rId15"/>
    <p:sldId id="279" r:id="rId16"/>
    <p:sldId id="275" r:id="rId17"/>
    <p:sldId id="276" r:id="rId18"/>
    <p:sldId id="463" r:id="rId19"/>
    <p:sldId id="469" r:id="rId20"/>
    <p:sldId id="467" r:id="rId21"/>
    <p:sldId id="4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-864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7614-9F1A-40EB-BCAB-0ABBB74151AB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EDE45-7A74-4670-AEFC-1B6F9E9820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9963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xmlns="" id="{0C796E4D-D4F0-BEE9-41EA-5C6290D07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80248-065E-42C6-9712-B86D456F6104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xmlns="" id="{848F36B7-3CDF-F13A-A3BF-AC8A457EF5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6013" cy="3486150"/>
          </a:xfrm>
          <a:solidFill>
            <a:srgbClr val="FFFFFF"/>
          </a:solidFill>
          <a:ln/>
        </p:spPr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xmlns="" id="{5C430FC6-D456-163C-F156-8114764B1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3863" cy="41846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xmlns="" id="{0C796E4D-D4F0-BEE9-41EA-5C6290D07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80248-065E-42C6-9712-B86D456F6104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xmlns="" id="{848F36B7-3CDF-F13A-A3BF-AC8A457EF5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6013" cy="3486150"/>
          </a:xfrm>
          <a:solidFill>
            <a:srgbClr val="FFFFFF"/>
          </a:solidFill>
          <a:ln/>
        </p:spPr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xmlns="" id="{5C430FC6-D456-163C-F156-8114764B1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3863" cy="41846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FC2FE0A1-9CC4-96E0-A86B-93EC836E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xmlns="" id="{FD23087B-A450-0617-29B5-F94FF8392A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80248-065E-42C6-9712-B86D456F6104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xmlns="" id="{04F65F4D-9881-8495-5F07-48DBBDDB51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6013" cy="3486150"/>
          </a:xfrm>
          <a:solidFill>
            <a:srgbClr val="FFFFFF"/>
          </a:solidFill>
          <a:ln/>
        </p:spPr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xmlns="" id="{2304DB1B-996D-54A6-65F6-0BC653324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3863" cy="41846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3665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8C9A6BA-40EC-F187-8D70-5A53590D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xmlns="" id="{D1E7F17E-8CD3-7FC9-6378-C97E8C8F1B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9780248-065E-42C6-9712-B86D456F6104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1">
            <a:extLst>
              <a:ext uri="{FF2B5EF4-FFF2-40B4-BE49-F238E27FC236}">
                <a16:creationId xmlns:a16="http://schemas.microsoft.com/office/drawing/2014/main" xmlns="" id="{EF11233E-1B02-B55A-A47A-B3FFC0ED6A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6013" cy="3486150"/>
          </a:xfrm>
          <a:solidFill>
            <a:srgbClr val="FFFFFF"/>
          </a:solidFill>
          <a:ln/>
        </p:spPr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xmlns="" id="{86162944-82DE-189D-6EFC-8FA43CFE5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3863" cy="418465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64148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4523693" y="3999169"/>
            <a:ext cx="6992032" cy="558799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4528457" y="2056374"/>
            <a:ext cx="6992031" cy="1942795"/>
          </a:xfrm>
        </p:spPr>
        <p:txBody>
          <a:bodyPr vert="horz" lIns="91440" tIns="45720" rIns="91440" bIns="4572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algn="r"/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algn="r"/>
              <a:t>‹#›</a:t>
            </a:fld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/21</a:t>
            </a:r>
            <a:endParaRPr lang="zh-CN" altLang="en-US" sz="1000" dirty="0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6" name="AutoShape 6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1100" b="0" i="0" u="none" baseline="0">
                <a:solidFill>
                  <a:srgbClr val="FFFFFF"/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请在插入菜单</a:t>
            </a:r>
            <a:r>
              <a:rPr 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—</a:t>
            </a:r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‹#›</a:t>
            </a:fld>
            <a:r>
              <a:rPr lang="zh-CN" altLang="en-US" sz="1000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 dirty="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674690" y="2484892"/>
            <a:ext cx="6999739" cy="1433966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l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FFFFFF"/>
                </a:solidFill>
                <a:latin typeface="Arial"/>
                <a:ea typeface="Arial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 dirty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  <a:fld id="{FA227CAA-8D2F-4500-AFC5-DEF341FAAC1D}" type="slidenum">
              <a:rPr lang="en-US" sz="1200" b="0" i="0" u="none" baseline="0" smtClean="0">
                <a:solidFill>
                  <a:srgbClr val="000000"/>
                </a:solidFill>
                <a:latin typeface="Arial"/>
                <a:ea typeface="Arial"/>
              </a:rPr>
              <a:pPr marL="2057298" lvl="4" indent="-228589" algn="l">
                <a:lnSpc>
                  <a:spcPct val="90000"/>
                </a:lnSpc>
                <a:spcBef>
                  <a:spcPts val="500"/>
                </a:spcBef>
              </a:pPr>
              <a:t>‹#›</a:t>
            </a:fld>
            <a:endParaRPr lang="en-US" sz="12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请在插入菜单</a:t>
            </a: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—</a:t>
            </a:r>
            <a:r>
              <a:rPr lang="zh-CN" altLang="en-US" sz="18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页眉和页脚中修改此文本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en-IN" altLang="zh-CN" dirty="0">
                <a:solidFill>
                  <a:srgbClr val="000000"/>
                </a:solidFill>
                <a:latin typeface="Arial"/>
                <a:ea typeface="Arial"/>
              </a:rPr>
              <a:t>Slide </a:t>
            </a:r>
            <a:fld id="{3386411A-70EE-422D-B97C-F56BEE3FF077}" type="slidenum">
              <a:rPr lang="zh-CN" altLang="en-US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‹#›</a:t>
            </a:fld>
            <a:r>
              <a:rPr lang="en-IN" altLang="zh-CN" dirty="0">
                <a:solidFill>
                  <a:srgbClr val="000000"/>
                </a:solidFill>
                <a:latin typeface="Arial"/>
                <a:ea typeface="Arial"/>
              </a:rPr>
              <a:t>/21</a:t>
            </a:r>
            <a:endParaRPr lang="zh-CN" altLang="en-US" sz="18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none" lIns="0" tIns="0" rIns="0" bIns="0" anchor="ctr">
            <a:noAutofit/>
          </a:bodyPr>
          <a:lstStyle/>
          <a:p>
            <a:pPr mar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4523693" y="3999169"/>
            <a:ext cx="6992032" cy="558799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  <a:buNone/>
            </a:pPr>
            <a:endParaRPr lang="zh-CN" altLang="en-US" sz="1600" b="0" i="0" u="none" baseline="0" dirty="0">
              <a:latin typeface="微软雅黑"/>
              <a:ea typeface="微软雅黑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4523693" y="1143000"/>
            <a:ext cx="6992031" cy="2354259"/>
          </a:xfrm>
        </p:spPr>
        <p:txBody>
          <a:bodyPr vert="horz" lIns="91440" tIns="45720" rIns="91440" bIns="45720" anchor="b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Chapter 1: Introduction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/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(OS Types, Modes, Structure, and Services)</a:t>
            </a:r>
            <a:endParaRPr lang="en-US" sz="4400" b="1" i="0" u="none" baseline="0" dirty="0">
              <a:latin typeface="+mn-ea"/>
              <a:ea typeface="+mn-ea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648200" y="3570514"/>
            <a:ext cx="6867525" cy="315686"/>
          </a:xfrm>
          <a:prstGeom prst="rect">
            <a:avLst/>
          </a:prstGeom>
          <a:solidFill>
            <a:srgbClr val="FFC000">
              <a:alpha val="80000"/>
            </a:srgbClr>
          </a:solidFill>
          <a:ln cap="flat" cmpd="sng">
            <a:prstDash val="solid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Think</a:t>
            </a:r>
          </a:p>
        </p:txBody>
      </p:sp>
      <p:sp>
        <p:nvSpPr>
          <p:cNvPr id="3" name="AutoShape 3"/>
          <p:cNvSpPr/>
          <p:nvPr/>
        </p:nvSpPr>
        <p:spPr>
          <a:xfrm rot="10800000" flipV="1">
            <a:off x="3237406" y="1363678"/>
            <a:ext cx="5704487" cy="5704488"/>
          </a:xfrm>
          <a:prstGeom prst="blockArc">
            <a:avLst>
              <a:gd name="adj1" fmla="val 10647816"/>
              <a:gd name="adj2" fmla="val 119025"/>
              <a:gd name="adj3" fmla="val 6024"/>
            </a:avLst>
          </a:prstGeom>
          <a:gradFill>
            <a:gsLst>
              <a:gs pos="15000">
                <a:srgbClr val="FFFFFF">
                  <a:alpha val="0"/>
                </a:srgbClr>
              </a:gs>
              <a:gs pos="100000">
                <a:srgbClr val="FFFFFF">
                  <a:alpha val="20000"/>
                  <a:lumMod val="85000"/>
                </a:srgbClr>
              </a:gs>
            </a:gsLst>
            <a:lin ang="16200000"/>
          </a:gra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lnSpc>
                <a:spcPct val="120000"/>
              </a:lnSpc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869034" y="1352169"/>
            <a:ext cx="441232" cy="467268"/>
          </a:xfrm>
          <a:custGeom>
            <a:avLst/>
            <a:gdLst/>
            <a:ahLst/>
            <a:cxnLst/>
            <a:rect l="l" t="t" r="r" b="b"/>
            <a:pathLst>
              <a:path w="572779" h="606580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192257D-C605-A8FD-7444-295177F2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4" y="1585803"/>
            <a:ext cx="4886325" cy="3762375"/>
          </a:xfrm>
          <a:prstGeom prst="rect">
            <a:avLst/>
          </a:prstGeom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xmlns="" id="{C408BEDC-BAB5-C36D-7B9C-27F22609BBC9}"/>
              </a:ext>
            </a:extLst>
          </p:cNvPr>
          <p:cNvGrpSpPr/>
          <p:nvPr/>
        </p:nvGrpSpPr>
        <p:grpSpPr>
          <a:xfrm>
            <a:off x="669925" y="253552"/>
            <a:ext cx="10845800" cy="646331"/>
            <a:chOff x="673100" y="1228912"/>
            <a:chExt cx="10845800" cy="646331"/>
          </a:xfrm>
        </p:grpSpPr>
        <p:cxnSp>
          <p:nvCxnSpPr>
            <p:cNvPr id="15" name="Connector 19">
              <a:extLst>
                <a:ext uri="{FF2B5EF4-FFF2-40B4-BE49-F238E27FC236}">
                  <a16:creationId xmlns:a16="http://schemas.microsoft.com/office/drawing/2014/main" xmlns="" id="{EB5332FA-76AE-E520-A3A1-FDC9CD09A736}"/>
                </a:ext>
              </a:extLst>
            </p:cNvPr>
            <p:cNvCxnSpPr/>
            <p:nvPr/>
          </p:nvCxnSpPr>
          <p:spPr>
            <a:xfrm>
              <a:off x="673100" y="1552077"/>
              <a:ext cx="10845800" cy="0"/>
            </a:xfrm>
            <a:prstGeom prst="line">
              <a:avLst/>
            </a:prstGeom>
            <a:ln w="3175" cap="rnd" cmpd="sng">
              <a:solidFill>
                <a:srgbClr val="FFFFFF">
                  <a:lumMod val="75000"/>
                </a:srgbClr>
              </a:solidFill>
              <a:prstDash val="solid"/>
            </a:ln>
          </p:spPr>
        </p:cxn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xmlns="" id="{86A3CA5D-40B1-6D36-B62C-B753E6EAAB7A}"/>
                </a:ext>
              </a:extLst>
            </p:cNvPr>
            <p:cNvSpPr txBox="1"/>
            <p:nvPr/>
          </p:nvSpPr>
          <p:spPr>
            <a:xfrm>
              <a:off x="4563035" y="1228912"/>
              <a:ext cx="3065930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lIns="91440" tIns="45720" rIns="91440" bIns="45720" rtlCol="0" anchor="ctr">
              <a:normAutofit/>
            </a:bodyPr>
            <a:lstStyle/>
            <a:p>
              <a:pPr marL="0" algn="ctr">
                <a:defRPr/>
              </a:pPr>
              <a:r>
                <a:rPr lang="en-US" sz="3600" b="1" dirty="0">
                  <a:solidFill>
                    <a:srgbClr val="000000"/>
                  </a:solidFill>
                  <a:latin typeface="Arial"/>
                </a:rPr>
                <a:t>Identify!!</a:t>
              </a:r>
              <a:endParaRPr lang="en-US" sz="1100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E88D51D5-4E84-2191-2FF0-EFC08A4C5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69319">
            <a:off x="8469485" y="2505202"/>
            <a:ext cx="3223120" cy="190902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79D4AA-5997-A8FF-1954-055583C9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2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21847" y="1202951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456952" y="1615308"/>
            <a:ext cx="439272" cy="336010"/>
          </a:xfrm>
          <a:custGeom>
            <a:avLst/>
            <a:gdLst/>
            <a:ahLst/>
            <a:cxnLst/>
            <a:rect l="l" t="t" r="r" b="b"/>
            <a:pathLst>
              <a:path w="551492" h="421851">
                <a:moveTo>
                  <a:pt x="361794" y="308363"/>
                </a:moveTo>
                <a:lnTo>
                  <a:pt x="530845" y="308363"/>
                </a:lnTo>
                <a:cubicBezTo>
                  <a:pt x="541168" y="308363"/>
                  <a:pt x="551492" y="317411"/>
                  <a:pt x="551492" y="329044"/>
                </a:cubicBezTo>
                <a:lnTo>
                  <a:pt x="551492" y="362650"/>
                </a:lnTo>
                <a:cubicBezTo>
                  <a:pt x="551492" y="374283"/>
                  <a:pt x="541168" y="383331"/>
                  <a:pt x="530845" y="383331"/>
                </a:cubicBezTo>
                <a:lnTo>
                  <a:pt x="378570" y="383331"/>
                </a:lnTo>
                <a:lnTo>
                  <a:pt x="378570" y="369113"/>
                </a:lnTo>
                <a:cubicBezTo>
                  <a:pt x="378570" y="347140"/>
                  <a:pt x="372118" y="326459"/>
                  <a:pt x="361794" y="308363"/>
                </a:cubicBezTo>
                <a:close/>
                <a:moveTo>
                  <a:pt x="313904" y="172924"/>
                </a:moveTo>
                <a:lnTo>
                  <a:pt x="530832" y="172924"/>
                </a:lnTo>
                <a:cubicBezTo>
                  <a:pt x="541162" y="172924"/>
                  <a:pt x="551492" y="181947"/>
                  <a:pt x="551492" y="193548"/>
                </a:cubicBezTo>
                <a:lnTo>
                  <a:pt x="551492" y="225772"/>
                </a:lnTo>
                <a:cubicBezTo>
                  <a:pt x="551492" y="237373"/>
                  <a:pt x="541162" y="247685"/>
                  <a:pt x="530832" y="247685"/>
                </a:cubicBezTo>
                <a:lnTo>
                  <a:pt x="271293" y="247685"/>
                </a:lnTo>
                <a:lnTo>
                  <a:pt x="271293" y="227061"/>
                </a:lnTo>
                <a:cubicBezTo>
                  <a:pt x="271293" y="225772"/>
                  <a:pt x="272584" y="225772"/>
                  <a:pt x="272584" y="224483"/>
                </a:cubicBezTo>
                <a:cubicBezTo>
                  <a:pt x="293244" y="218038"/>
                  <a:pt x="307448" y="194837"/>
                  <a:pt x="313904" y="172924"/>
                </a:cubicBezTo>
                <a:close/>
                <a:moveTo>
                  <a:pt x="281648" y="36241"/>
                </a:moveTo>
                <a:lnTo>
                  <a:pt x="530834" y="36241"/>
                </a:lnTo>
                <a:cubicBezTo>
                  <a:pt x="541163" y="36241"/>
                  <a:pt x="551492" y="46553"/>
                  <a:pt x="551492" y="58154"/>
                </a:cubicBezTo>
                <a:lnTo>
                  <a:pt x="551492" y="90378"/>
                </a:lnTo>
                <a:cubicBezTo>
                  <a:pt x="551492" y="101979"/>
                  <a:pt x="541163" y="111002"/>
                  <a:pt x="530834" y="111002"/>
                </a:cubicBezTo>
                <a:lnTo>
                  <a:pt x="308761" y="111002"/>
                </a:lnTo>
                <a:cubicBezTo>
                  <a:pt x="304888" y="104557"/>
                  <a:pt x="301015" y="99401"/>
                  <a:pt x="295850" y="96823"/>
                </a:cubicBezTo>
                <a:cubicBezTo>
                  <a:pt x="293268" y="72333"/>
                  <a:pt x="288104" y="52998"/>
                  <a:pt x="281648" y="36241"/>
                </a:cubicBezTo>
                <a:close/>
                <a:moveTo>
                  <a:pt x="176987" y="0"/>
                </a:moveTo>
                <a:cubicBezTo>
                  <a:pt x="257083" y="0"/>
                  <a:pt x="270002" y="64503"/>
                  <a:pt x="271294" y="117396"/>
                </a:cubicBezTo>
                <a:cubicBezTo>
                  <a:pt x="272586" y="117396"/>
                  <a:pt x="273878" y="117396"/>
                  <a:pt x="276461" y="117396"/>
                </a:cubicBezTo>
                <a:cubicBezTo>
                  <a:pt x="289380" y="117396"/>
                  <a:pt x="290672" y="132877"/>
                  <a:pt x="290672" y="152228"/>
                </a:cubicBezTo>
                <a:cubicBezTo>
                  <a:pt x="290672" y="171579"/>
                  <a:pt x="275169" y="199960"/>
                  <a:pt x="262251" y="199960"/>
                </a:cubicBezTo>
                <a:cubicBezTo>
                  <a:pt x="260959" y="199960"/>
                  <a:pt x="258375" y="198670"/>
                  <a:pt x="257083" y="197380"/>
                </a:cubicBezTo>
                <a:cubicBezTo>
                  <a:pt x="249332" y="216731"/>
                  <a:pt x="237705" y="233502"/>
                  <a:pt x="224786" y="247692"/>
                </a:cubicBezTo>
                <a:cubicBezTo>
                  <a:pt x="220911" y="250272"/>
                  <a:pt x="219619" y="254143"/>
                  <a:pt x="219619" y="259303"/>
                </a:cubicBezTo>
                <a:cubicBezTo>
                  <a:pt x="219619" y="270913"/>
                  <a:pt x="228662" y="279944"/>
                  <a:pt x="241581" y="279944"/>
                </a:cubicBezTo>
                <a:lnTo>
                  <a:pt x="263543" y="279944"/>
                </a:lnTo>
                <a:cubicBezTo>
                  <a:pt x="312634" y="279944"/>
                  <a:pt x="352682" y="319936"/>
                  <a:pt x="352682" y="368958"/>
                </a:cubicBezTo>
                <a:lnTo>
                  <a:pt x="352682" y="393470"/>
                </a:lnTo>
                <a:cubicBezTo>
                  <a:pt x="352682" y="408950"/>
                  <a:pt x="341055" y="421851"/>
                  <a:pt x="325553" y="421851"/>
                </a:cubicBezTo>
                <a:lnTo>
                  <a:pt x="28421" y="421851"/>
                </a:lnTo>
                <a:cubicBezTo>
                  <a:pt x="12919" y="421851"/>
                  <a:pt x="0" y="408950"/>
                  <a:pt x="0" y="393470"/>
                </a:cubicBezTo>
                <a:lnTo>
                  <a:pt x="0" y="368958"/>
                </a:lnTo>
                <a:cubicBezTo>
                  <a:pt x="0" y="319936"/>
                  <a:pt x="40048" y="279944"/>
                  <a:pt x="89139" y="279944"/>
                </a:cubicBezTo>
                <a:lnTo>
                  <a:pt x="112393" y="279944"/>
                </a:lnTo>
                <a:cubicBezTo>
                  <a:pt x="124020" y="279944"/>
                  <a:pt x="133063" y="270913"/>
                  <a:pt x="133063" y="259303"/>
                </a:cubicBezTo>
                <a:cubicBezTo>
                  <a:pt x="133063" y="254143"/>
                  <a:pt x="131771" y="250272"/>
                  <a:pt x="127896" y="247692"/>
                </a:cubicBezTo>
                <a:cubicBezTo>
                  <a:pt x="114977" y="234792"/>
                  <a:pt x="104642" y="216731"/>
                  <a:pt x="95599" y="198670"/>
                </a:cubicBezTo>
                <a:cubicBezTo>
                  <a:pt x="94307" y="199960"/>
                  <a:pt x="93015" y="199960"/>
                  <a:pt x="91723" y="199960"/>
                </a:cubicBezTo>
                <a:cubicBezTo>
                  <a:pt x="78804" y="199960"/>
                  <a:pt x="63302" y="171579"/>
                  <a:pt x="63302" y="152228"/>
                </a:cubicBezTo>
                <a:cubicBezTo>
                  <a:pt x="63302" y="132877"/>
                  <a:pt x="65886" y="117396"/>
                  <a:pt x="78804" y="117396"/>
                </a:cubicBezTo>
                <a:cubicBezTo>
                  <a:pt x="80096" y="117396"/>
                  <a:pt x="80096" y="117396"/>
                  <a:pt x="81388" y="117396"/>
                </a:cubicBezTo>
                <a:cubicBezTo>
                  <a:pt x="82680" y="64503"/>
                  <a:pt x="93015" y="0"/>
                  <a:pt x="176987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 fontScale="92500" lnSpcReduction="1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84600" y="2363675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600" y="2806322"/>
            <a:ext cx="1783976" cy="701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Introduction to Operating Systems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497460" y="3521684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3254978" y="3928441"/>
            <a:ext cx="394446" cy="347210"/>
          </a:xfrm>
          <a:custGeom>
            <a:avLst/>
            <a:gdLst/>
            <a:ahLst/>
            <a:cxnLst/>
            <a:rect l="l" t="t" r="r" b="b"/>
            <a:pathLst>
              <a:path w="604256" h="531895">
                <a:moveTo>
                  <a:pt x="18335" y="334272"/>
                </a:moveTo>
                <a:cubicBezTo>
                  <a:pt x="24642" y="332369"/>
                  <a:pt x="31682" y="332881"/>
                  <a:pt x="37988" y="336249"/>
                </a:cubicBezTo>
                <a:lnTo>
                  <a:pt x="302130" y="476833"/>
                </a:lnTo>
                <a:lnTo>
                  <a:pt x="566126" y="336249"/>
                </a:lnTo>
                <a:cubicBezTo>
                  <a:pt x="578739" y="329513"/>
                  <a:pt x="594432" y="334199"/>
                  <a:pt x="601178" y="346793"/>
                </a:cubicBezTo>
                <a:cubicBezTo>
                  <a:pt x="607925" y="359387"/>
                  <a:pt x="603085" y="375056"/>
                  <a:pt x="590619" y="381793"/>
                </a:cubicBezTo>
                <a:lnTo>
                  <a:pt x="314303" y="528820"/>
                </a:lnTo>
                <a:cubicBezTo>
                  <a:pt x="310490" y="530870"/>
                  <a:pt x="306383" y="531895"/>
                  <a:pt x="302130" y="531895"/>
                </a:cubicBezTo>
                <a:cubicBezTo>
                  <a:pt x="297877" y="531895"/>
                  <a:pt x="293770" y="530870"/>
                  <a:pt x="289957" y="528820"/>
                </a:cubicBezTo>
                <a:lnTo>
                  <a:pt x="13641" y="381793"/>
                </a:lnTo>
                <a:cubicBezTo>
                  <a:pt x="1028" y="375056"/>
                  <a:pt x="-3665" y="359387"/>
                  <a:pt x="3082" y="346793"/>
                </a:cubicBezTo>
                <a:cubicBezTo>
                  <a:pt x="6455" y="340496"/>
                  <a:pt x="12028" y="336176"/>
                  <a:pt x="18335" y="334272"/>
                </a:cubicBezTo>
                <a:close/>
                <a:moveTo>
                  <a:pt x="18335" y="233364"/>
                </a:moveTo>
                <a:cubicBezTo>
                  <a:pt x="24642" y="231461"/>
                  <a:pt x="31682" y="231973"/>
                  <a:pt x="37988" y="235341"/>
                </a:cubicBezTo>
                <a:lnTo>
                  <a:pt x="302130" y="375925"/>
                </a:lnTo>
                <a:lnTo>
                  <a:pt x="566126" y="235341"/>
                </a:lnTo>
                <a:cubicBezTo>
                  <a:pt x="578739" y="228605"/>
                  <a:pt x="594432" y="233291"/>
                  <a:pt x="601178" y="245885"/>
                </a:cubicBezTo>
                <a:cubicBezTo>
                  <a:pt x="607925" y="258479"/>
                  <a:pt x="603085" y="274148"/>
                  <a:pt x="590619" y="280885"/>
                </a:cubicBezTo>
                <a:lnTo>
                  <a:pt x="314303" y="428058"/>
                </a:lnTo>
                <a:cubicBezTo>
                  <a:pt x="310490" y="430108"/>
                  <a:pt x="306383" y="430987"/>
                  <a:pt x="302130" y="430987"/>
                </a:cubicBezTo>
                <a:cubicBezTo>
                  <a:pt x="297877" y="430987"/>
                  <a:pt x="293770" y="430108"/>
                  <a:pt x="289957" y="428058"/>
                </a:cubicBezTo>
                <a:lnTo>
                  <a:pt x="13641" y="280885"/>
                </a:lnTo>
                <a:cubicBezTo>
                  <a:pt x="1028" y="274148"/>
                  <a:pt x="-3665" y="258479"/>
                  <a:pt x="3082" y="245885"/>
                </a:cubicBezTo>
                <a:cubicBezTo>
                  <a:pt x="6455" y="239588"/>
                  <a:pt x="12028" y="235268"/>
                  <a:pt x="18335" y="233364"/>
                </a:cubicBezTo>
                <a:close/>
                <a:moveTo>
                  <a:pt x="291571" y="2196"/>
                </a:moveTo>
                <a:cubicBezTo>
                  <a:pt x="298317" y="-733"/>
                  <a:pt x="305943" y="-733"/>
                  <a:pt x="312689" y="2196"/>
                </a:cubicBezTo>
                <a:lnTo>
                  <a:pt x="588846" y="125214"/>
                </a:lnTo>
                <a:cubicBezTo>
                  <a:pt x="597938" y="129315"/>
                  <a:pt x="603805" y="138102"/>
                  <a:pt x="604245" y="147914"/>
                </a:cubicBezTo>
                <a:cubicBezTo>
                  <a:pt x="604538" y="157726"/>
                  <a:pt x="599258" y="166953"/>
                  <a:pt x="590605" y="171639"/>
                </a:cubicBezTo>
                <a:lnTo>
                  <a:pt x="314303" y="318676"/>
                </a:lnTo>
                <a:cubicBezTo>
                  <a:pt x="310489" y="320726"/>
                  <a:pt x="306383" y="321751"/>
                  <a:pt x="302130" y="321751"/>
                </a:cubicBezTo>
                <a:cubicBezTo>
                  <a:pt x="297877" y="321751"/>
                  <a:pt x="293771" y="320726"/>
                  <a:pt x="289957" y="318676"/>
                </a:cubicBezTo>
                <a:lnTo>
                  <a:pt x="13654" y="171639"/>
                </a:lnTo>
                <a:cubicBezTo>
                  <a:pt x="5002" y="166953"/>
                  <a:pt x="-278" y="157726"/>
                  <a:pt x="15" y="147914"/>
                </a:cubicBezTo>
                <a:cubicBezTo>
                  <a:pt x="309" y="138102"/>
                  <a:pt x="6322" y="129315"/>
                  <a:pt x="15414" y="125214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560213" y="4682408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213" y="5125055"/>
            <a:ext cx="1783976" cy="38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Computer System Structure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273073" y="1156985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008178" y="1569342"/>
            <a:ext cx="439272" cy="336010"/>
          </a:xfrm>
          <a:custGeom>
            <a:avLst/>
            <a:gdLst/>
            <a:ahLst/>
            <a:cxnLst/>
            <a:rect l="l" t="t" r="r" b="b"/>
            <a:pathLst>
              <a:path w="551492" h="421851">
                <a:moveTo>
                  <a:pt x="361794" y="308363"/>
                </a:moveTo>
                <a:lnTo>
                  <a:pt x="530845" y="308363"/>
                </a:lnTo>
                <a:cubicBezTo>
                  <a:pt x="541168" y="308363"/>
                  <a:pt x="551492" y="317411"/>
                  <a:pt x="551492" y="329044"/>
                </a:cubicBezTo>
                <a:lnTo>
                  <a:pt x="551492" y="362650"/>
                </a:lnTo>
                <a:cubicBezTo>
                  <a:pt x="551492" y="374283"/>
                  <a:pt x="541168" y="383331"/>
                  <a:pt x="530845" y="383331"/>
                </a:cubicBezTo>
                <a:lnTo>
                  <a:pt x="378570" y="383331"/>
                </a:lnTo>
                <a:lnTo>
                  <a:pt x="378570" y="369113"/>
                </a:lnTo>
                <a:cubicBezTo>
                  <a:pt x="378570" y="347140"/>
                  <a:pt x="372118" y="326459"/>
                  <a:pt x="361794" y="308363"/>
                </a:cubicBezTo>
                <a:close/>
                <a:moveTo>
                  <a:pt x="313904" y="172924"/>
                </a:moveTo>
                <a:lnTo>
                  <a:pt x="530832" y="172924"/>
                </a:lnTo>
                <a:cubicBezTo>
                  <a:pt x="541162" y="172924"/>
                  <a:pt x="551492" y="181947"/>
                  <a:pt x="551492" y="193548"/>
                </a:cubicBezTo>
                <a:lnTo>
                  <a:pt x="551492" y="225772"/>
                </a:lnTo>
                <a:cubicBezTo>
                  <a:pt x="551492" y="237373"/>
                  <a:pt x="541162" y="247685"/>
                  <a:pt x="530832" y="247685"/>
                </a:cubicBezTo>
                <a:lnTo>
                  <a:pt x="271293" y="247685"/>
                </a:lnTo>
                <a:lnTo>
                  <a:pt x="271293" y="227061"/>
                </a:lnTo>
                <a:cubicBezTo>
                  <a:pt x="271293" y="225772"/>
                  <a:pt x="272584" y="225772"/>
                  <a:pt x="272584" y="224483"/>
                </a:cubicBezTo>
                <a:cubicBezTo>
                  <a:pt x="293244" y="218038"/>
                  <a:pt x="307448" y="194837"/>
                  <a:pt x="313904" y="172924"/>
                </a:cubicBezTo>
                <a:close/>
                <a:moveTo>
                  <a:pt x="281648" y="36241"/>
                </a:moveTo>
                <a:lnTo>
                  <a:pt x="530834" y="36241"/>
                </a:lnTo>
                <a:cubicBezTo>
                  <a:pt x="541163" y="36241"/>
                  <a:pt x="551492" y="46553"/>
                  <a:pt x="551492" y="58154"/>
                </a:cubicBezTo>
                <a:lnTo>
                  <a:pt x="551492" y="90378"/>
                </a:lnTo>
                <a:cubicBezTo>
                  <a:pt x="551492" y="101979"/>
                  <a:pt x="541163" y="111002"/>
                  <a:pt x="530834" y="111002"/>
                </a:cubicBezTo>
                <a:lnTo>
                  <a:pt x="308761" y="111002"/>
                </a:lnTo>
                <a:cubicBezTo>
                  <a:pt x="304888" y="104557"/>
                  <a:pt x="301015" y="99401"/>
                  <a:pt x="295850" y="96823"/>
                </a:cubicBezTo>
                <a:cubicBezTo>
                  <a:pt x="293268" y="72333"/>
                  <a:pt x="288104" y="52998"/>
                  <a:pt x="281648" y="36241"/>
                </a:cubicBezTo>
                <a:close/>
                <a:moveTo>
                  <a:pt x="176987" y="0"/>
                </a:moveTo>
                <a:cubicBezTo>
                  <a:pt x="257083" y="0"/>
                  <a:pt x="270002" y="64503"/>
                  <a:pt x="271294" y="117396"/>
                </a:cubicBezTo>
                <a:cubicBezTo>
                  <a:pt x="272586" y="117396"/>
                  <a:pt x="273878" y="117396"/>
                  <a:pt x="276461" y="117396"/>
                </a:cubicBezTo>
                <a:cubicBezTo>
                  <a:pt x="289380" y="117396"/>
                  <a:pt x="290672" y="132877"/>
                  <a:pt x="290672" y="152228"/>
                </a:cubicBezTo>
                <a:cubicBezTo>
                  <a:pt x="290672" y="171579"/>
                  <a:pt x="275169" y="199960"/>
                  <a:pt x="262251" y="199960"/>
                </a:cubicBezTo>
                <a:cubicBezTo>
                  <a:pt x="260959" y="199960"/>
                  <a:pt x="258375" y="198670"/>
                  <a:pt x="257083" y="197380"/>
                </a:cubicBezTo>
                <a:cubicBezTo>
                  <a:pt x="249332" y="216731"/>
                  <a:pt x="237705" y="233502"/>
                  <a:pt x="224786" y="247692"/>
                </a:cubicBezTo>
                <a:cubicBezTo>
                  <a:pt x="220911" y="250272"/>
                  <a:pt x="219619" y="254143"/>
                  <a:pt x="219619" y="259303"/>
                </a:cubicBezTo>
                <a:cubicBezTo>
                  <a:pt x="219619" y="270913"/>
                  <a:pt x="228662" y="279944"/>
                  <a:pt x="241581" y="279944"/>
                </a:cubicBezTo>
                <a:lnTo>
                  <a:pt x="263543" y="279944"/>
                </a:lnTo>
                <a:cubicBezTo>
                  <a:pt x="312634" y="279944"/>
                  <a:pt x="352682" y="319936"/>
                  <a:pt x="352682" y="368958"/>
                </a:cubicBezTo>
                <a:lnTo>
                  <a:pt x="352682" y="393470"/>
                </a:lnTo>
                <a:cubicBezTo>
                  <a:pt x="352682" y="408950"/>
                  <a:pt x="341055" y="421851"/>
                  <a:pt x="325553" y="421851"/>
                </a:cubicBezTo>
                <a:lnTo>
                  <a:pt x="28421" y="421851"/>
                </a:lnTo>
                <a:cubicBezTo>
                  <a:pt x="12919" y="421851"/>
                  <a:pt x="0" y="408950"/>
                  <a:pt x="0" y="393470"/>
                </a:cubicBezTo>
                <a:lnTo>
                  <a:pt x="0" y="368958"/>
                </a:lnTo>
                <a:cubicBezTo>
                  <a:pt x="0" y="319936"/>
                  <a:pt x="40048" y="279944"/>
                  <a:pt x="89139" y="279944"/>
                </a:cubicBezTo>
                <a:lnTo>
                  <a:pt x="112393" y="279944"/>
                </a:lnTo>
                <a:cubicBezTo>
                  <a:pt x="124020" y="279944"/>
                  <a:pt x="133063" y="270913"/>
                  <a:pt x="133063" y="259303"/>
                </a:cubicBezTo>
                <a:cubicBezTo>
                  <a:pt x="133063" y="254143"/>
                  <a:pt x="131771" y="250272"/>
                  <a:pt x="127896" y="247692"/>
                </a:cubicBezTo>
                <a:cubicBezTo>
                  <a:pt x="114977" y="234792"/>
                  <a:pt x="104642" y="216731"/>
                  <a:pt x="95599" y="198670"/>
                </a:cubicBezTo>
                <a:cubicBezTo>
                  <a:pt x="94307" y="199960"/>
                  <a:pt x="93015" y="199960"/>
                  <a:pt x="91723" y="199960"/>
                </a:cubicBezTo>
                <a:cubicBezTo>
                  <a:pt x="78804" y="199960"/>
                  <a:pt x="63302" y="171579"/>
                  <a:pt x="63302" y="152228"/>
                </a:cubicBezTo>
                <a:cubicBezTo>
                  <a:pt x="63302" y="132877"/>
                  <a:pt x="65886" y="117396"/>
                  <a:pt x="78804" y="117396"/>
                </a:cubicBezTo>
                <a:cubicBezTo>
                  <a:pt x="80096" y="117396"/>
                  <a:pt x="80096" y="117396"/>
                  <a:pt x="81388" y="117396"/>
                </a:cubicBezTo>
                <a:cubicBezTo>
                  <a:pt x="82680" y="64503"/>
                  <a:pt x="93015" y="0"/>
                  <a:pt x="176987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35826" y="2317709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35826" y="2760356"/>
            <a:ext cx="1783976" cy="38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Types of Operating Systems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48686" y="3521684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806204" y="3928441"/>
            <a:ext cx="394446" cy="347210"/>
          </a:xfrm>
          <a:custGeom>
            <a:avLst/>
            <a:gdLst/>
            <a:ahLst/>
            <a:cxnLst/>
            <a:rect l="l" t="t" r="r" b="b"/>
            <a:pathLst>
              <a:path w="604256" h="531895">
                <a:moveTo>
                  <a:pt x="18335" y="334272"/>
                </a:moveTo>
                <a:cubicBezTo>
                  <a:pt x="24642" y="332369"/>
                  <a:pt x="31682" y="332881"/>
                  <a:pt x="37988" y="336249"/>
                </a:cubicBezTo>
                <a:lnTo>
                  <a:pt x="302130" y="476833"/>
                </a:lnTo>
                <a:lnTo>
                  <a:pt x="566126" y="336249"/>
                </a:lnTo>
                <a:cubicBezTo>
                  <a:pt x="578739" y="329513"/>
                  <a:pt x="594432" y="334199"/>
                  <a:pt x="601178" y="346793"/>
                </a:cubicBezTo>
                <a:cubicBezTo>
                  <a:pt x="607925" y="359387"/>
                  <a:pt x="603085" y="375056"/>
                  <a:pt x="590619" y="381793"/>
                </a:cubicBezTo>
                <a:lnTo>
                  <a:pt x="314303" y="528820"/>
                </a:lnTo>
                <a:cubicBezTo>
                  <a:pt x="310490" y="530870"/>
                  <a:pt x="306383" y="531895"/>
                  <a:pt x="302130" y="531895"/>
                </a:cubicBezTo>
                <a:cubicBezTo>
                  <a:pt x="297877" y="531895"/>
                  <a:pt x="293770" y="530870"/>
                  <a:pt x="289957" y="528820"/>
                </a:cubicBezTo>
                <a:lnTo>
                  <a:pt x="13641" y="381793"/>
                </a:lnTo>
                <a:cubicBezTo>
                  <a:pt x="1028" y="375056"/>
                  <a:pt x="-3665" y="359387"/>
                  <a:pt x="3082" y="346793"/>
                </a:cubicBezTo>
                <a:cubicBezTo>
                  <a:pt x="6455" y="340496"/>
                  <a:pt x="12028" y="336176"/>
                  <a:pt x="18335" y="334272"/>
                </a:cubicBezTo>
                <a:close/>
                <a:moveTo>
                  <a:pt x="18335" y="233364"/>
                </a:moveTo>
                <a:cubicBezTo>
                  <a:pt x="24642" y="231461"/>
                  <a:pt x="31682" y="231973"/>
                  <a:pt x="37988" y="235341"/>
                </a:cubicBezTo>
                <a:lnTo>
                  <a:pt x="302130" y="375925"/>
                </a:lnTo>
                <a:lnTo>
                  <a:pt x="566126" y="235341"/>
                </a:lnTo>
                <a:cubicBezTo>
                  <a:pt x="578739" y="228605"/>
                  <a:pt x="594432" y="233291"/>
                  <a:pt x="601178" y="245885"/>
                </a:cubicBezTo>
                <a:cubicBezTo>
                  <a:pt x="607925" y="258479"/>
                  <a:pt x="603085" y="274148"/>
                  <a:pt x="590619" y="280885"/>
                </a:cubicBezTo>
                <a:lnTo>
                  <a:pt x="314303" y="428058"/>
                </a:lnTo>
                <a:cubicBezTo>
                  <a:pt x="310490" y="430108"/>
                  <a:pt x="306383" y="430987"/>
                  <a:pt x="302130" y="430987"/>
                </a:cubicBezTo>
                <a:cubicBezTo>
                  <a:pt x="297877" y="430987"/>
                  <a:pt x="293770" y="430108"/>
                  <a:pt x="289957" y="428058"/>
                </a:cubicBezTo>
                <a:lnTo>
                  <a:pt x="13641" y="280885"/>
                </a:lnTo>
                <a:cubicBezTo>
                  <a:pt x="1028" y="274148"/>
                  <a:pt x="-3665" y="258479"/>
                  <a:pt x="3082" y="245885"/>
                </a:cubicBezTo>
                <a:cubicBezTo>
                  <a:pt x="6455" y="239588"/>
                  <a:pt x="12028" y="235268"/>
                  <a:pt x="18335" y="233364"/>
                </a:cubicBezTo>
                <a:close/>
                <a:moveTo>
                  <a:pt x="291571" y="2196"/>
                </a:moveTo>
                <a:cubicBezTo>
                  <a:pt x="298317" y="-733"/>
                  <a:pt x="305943" y="-733"/>
                  <a:pt x="312689" y="2196"/>
                </a:cubicBezTo>
                <a:lnTo>
                  <a:pt x="588846" y="125214"/>
                </a:lnTo>
                <a:cubicBezTo>
                  <a:pt x="597938" y="129315"/>
                  <a:pt x="603805" y="138102"/>
                  <a:pt x="604245" y="147914"/>
                </a:cubicBezTo>
                <a:cubicBezTo>
                  <a:pt x="604538" y="157726"/>
                  <a:pt x="599258" y="166953"/>
                  <a:pt x="590605" y="171639"/>
                </a:cubicBezTo>
                <a:lnTo>
                  <a:pt x="314303" y="318676"/>
                </a:lnTo>
                <a:cubicBezTo>
                  <a:pt x="310489" y="320726"/>
                  <a:pt x="306383" y="321751"/>
                  <a:pt x="302130" y="321751"/>
                </a:cubicBezTo>
                <a:cubicBezTo>
                  <a:pt x="297877" y="321751"/>
                  <a:pt x="293771" y="320726"/>
                  <a:pt x="289957" y="318676"/>
                </a:cubicBezTo>
                <a:lnTo>
                  <a:pt x="13654" y="171639"/>
                </a:lnTo>
                <a:cubicBezTo>
                  <a:pt x="5002" y="166953"/>
                  <a:pt x="-278" y="157726"/>
                  <a:pt x="15" y="147914"/>
                </a:cubicBezTo>
                <a:cubicBezTo>
                  <a:pt x="309" y="138102"/>
                  <a:pt x="6322" y="129315"/>
                  <a:pt x="15414" y="125214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111439" y="4682408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11439" y="5125055"/>
            <a:ext cx="1783976" cy="38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Advanced Operating Systems</a:t>
            </a:r>
            <a:endParaRPr lang="en-US" sz="1100" dirty="0"/>
          </a:p>
        </p:txBody>
      </p:sp>
      <p:grpSp>
        <p:nvGrpSpPr>
          <p:cNvPr id="18" name="Group 18"/>
          <p:cNvGrpSpPr/>
          <p:nvPr/>
        </p:nvGrpSpPr>
        <p:grpSpPr>
          <a:xfrm>
            <a:off x="669925" y="253552"/>
            <a:ext cx="10845800" cy="646331"/>
            <a:chOff x="673100" y="1228912"/>
            <a:chExt cx="10845800" cy="646331"/>
          </a:xfrm>
        </p:grpSpPr>
        <p:cxnSp>
          <p:nvCxnSpPr>
            <p:cNvPr id="19" name="Connector 19"/>
            <p:cNvCxnSpPr/>
            <p:nvPr/>
          </p:nvCxnSpPr>
          <p:spPr>
            <a:xfrm>
              <a:off x="673100" y="1552077"/>
              <a:ext cx="10845800" cy="0"/>
            </a:xfrm>
            <a:prstGeom prst="line">
              <a:avLst/>
            </a:prstGeom>
            <a:ln w="3175" cap="rnd" cmpd="sng">
              <a:solidFill>
                <a:srgbClr val="FFFFFF">
                  <a:lumMod val="75000"/>
                </a:srgbClr>
              </a:solidFill>
              <a:prstDash val="solid"/>
            </a:ln>
          </p:spPr>
        </p:cxnSp>
        <p:sp>
          <p:nvSpPr>
            <p:cNvPr id="20" name="TextBox 20"/>
            <p:cNvSpPr txBox="1"/>
            <p:nvPr/>
          </p:nvSpPr>
          <p:spPr>
            <a:xfrm>
              <a:off x="4563035" y="1228912"/>
              <a:ext cx="3065930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lIns="91440" tIns="45720" rIns="91440" bIns="45720" rtlCol="0" anchor="ctr">
              <a:normAutofit/>
            </a:bodyPr>
            <a:lstStyle/>
            <a:p>
              <a:pPr marL="0" algn="ctr">
                <a:defRPr/>
              </a:pPr>
              <a:r>
                <a:rPr lang="en-US" sz="3600" b="1" dirty="0">
                  <a:solidFill>
                    <a:srgbClr val="000000"/>
                  </a:solidFill>
                  <a:latin typeface="Arial"/>
                </a:rPr>
                <a:t>Contents</a:t>
              </a:r>
              <a:endParaRPr lang="en-US" sz="1100" dirty="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7824299" y="1239974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8559404" y="1652331"/>
            <a:ext cx="439272" cy="336010"/>
          </a:xfrm>
          <a:custGeom>
            <a:avLst/>
            <a:gdLst/>
            <a:ahLst/>
            <a:cxnLst/>
            <a:rect l="l" t="t" r="r" b="b"/>
            <a:pathLst>
              <a:path w="551492" h="421851">
                <a:moveTo>
                  <a:pt x="361794" y="308363"/>
                </a:moveTo>
                <a:lnTo>
                  <a:pt x="530845" y="308363"/>
                </a:lnTo>
                <a:cubicBezTo>
                  <a:pt x="541168" y="308363"/>
                  <a:pt x="551492" y="317411"/>
                  <a:pt x="551492" y="329044"/>
                </a:cubicBezTo>
                <a:lnTo>
                  <a:pt x="551492" y="362650"/>
                </a:lnTo>
                <a:cubicBezTo>
                  <a:pt x="551492" y="374283"/>
                  <a:pt x="541168" y="383331"/>
                  <a:pt x="530845" y="383331"/>
                </a:cubicBezTo>
                <a:lnTo>
                  <a:pt x="378570" y="383331"/>
                </a:lnTo>
                <a:lnTo>
                  <a:pt x="378570" y="369113"/>
                </a:lnTo>
                <a:cubicBezTo>
                  <a:pt x="378570" y="347140"/>
                  <a:pt x="372118" y="326459"/>
                  <a:pt x="361794" y="308363"/>
                </a:cubicBezTo>
                <a:close/>
                <a:moveTo>
                  <a:pt x="313904" y="172924"/>
                </a:moveTo>
                <a:lnTo>
                  <a:pt x="530832" y="172924"/>
                </a:lnTo>
                <a:cubicBezTo>
                  <a:pt x="541162" y="172924"/>
                  <a:pt x="551492" y="181947"/>
                  <a:pt x="551492" y="193548"/>
                </a:cubicBezTo>
                <a:lnTo>
                  <a:pt x="551492" y="225772"/>
                </a:lnTo>
                <a:cubicBezTo>
                  <a:pt x="551492" y="237373"/>
                  <a:pt x="541162" y="247685"/>
                  <a:pt x="530832" y="247685"/>
                </a:cubicBezTo>
                <a:lnTo>
                  <a:pt x="271293" y="247685"/>
                </a:lnTo>
                <a:lnTo>
                  <a:pt x="271293" y="227061"/>
                </a:lnTo>
                <a:cubicBezTo>
                  <a:pt x="271293" y="225772"/>
                  <a:pt x="272584" y="225772"/>
                  <a:pt x="272584" y="224483"/>
                </a:cubicBezTo>
                <a:cubicBezTo>
                  <a:pt x="293244" y="218038"/>
                  <a:pt x="307448" y="194837"/>
                  <a:pt x="313904" y="172924"/>
                </a:cubicBezTo>
                <a:close/>
                <a:moveTo>
                  <a:pt x="281648" y="36241"/>
                </a:moveTo>
                <a:lnTo>
                  <a:pt x="530834" y="36241"/>
                </a:lnTo>
                <a:cubicBezTo>
                  <a:pt x="541163" y="36241"/>
                  <a:pt x="551492" y="46553"/>
                  <a:pt x="551492" y="58154"/>
                </a:cubicBezTo>
                <a:lnTo>
                  <a:pt x="551492" y="90378"/>
                </a:lnTo>
                <a:cubicBezTo>
                  <a:pt x="551492" y="101979"/>
                  <a:pt x="541163" y="111002"/>
                  <a:pt x="530834" y="111002"/>
                </a:cubicBezTo>
                <a:lnTo>
                  <a:pt x="308761" y="111002"/>
                </a:lnTo>
                <a:cubicBezTo>
                  <a:pt x="304888" y="104557"/>
                  <a:pt x="301015" y="99401"/>
                  <a:pt x="295850" y="96823"/>
                </a:cubicBezTo>
                <a:cubicBezTo>
                  <a:pt x="293268" y="72333"/>
                  <a:pt x="288104" y="52998"/>
                  <a:pt x="281648" y="36241"/>
                </a:cubicBezTo>
                <a:close/>
                <a:moveTo>
                  <a:pt x="176987" y="0"/>
                </a:moveTo>
                <a:cubicBezTo>
                  <a:pt x="257083" y="0"/>
                  <a:pt x="270002" y="64503"/>
                  <a:pt x="271294" y="117396"/>
                </a:cubicBezTo>
                <a:cubicBezTo>
                  <a:pt x="272586" y="117396"/>
                  <a:pt x="273878" y="117396"/>
                  <a:pt x="276461" y="117396"/>
                </a:cubicBezTo>
                <a:cubicBezTo>
                  <a:pt x="289380" y="117396"/>
                  <a:pt x="290672" y="132877"/>
                  <a:pt x="290672" y="152228"/>
                </a:cubicBezTo>
                <a:cubicBezTo>
                  <a:pt x="290672" y="171579"/>
                  <a:pt x="275169" y="199960"/>
                  <a:pt x="262251" y="199960"/>
                </a:cubicBezTo>
                <a:cubicBezTo>
                  <a:pt x="260959" y="199960"/>
                  <a:pt x="258375" y="198670"/>
                  <a:pt x="257083" y="197380"/>
                </a:cubicBezTo>
                <a:cubicBezTo>
                  <a:pt x="249332" y="216731"/>
                  <a:pt x="237705" y="233502"/>
                  <a:pt x="224786" y="247692"/>
                </a:cubicBezTo>
                <a:cubicBezTo>
                  <a:pt x="220911" y="250272"/>
                  <a:pt x="219619" y="254143"/>
                  <a:pt x="219619" y="259303"/>
                </a:cubicBezTo>
                <a:cubicBezTo>
                  <a:pt x="219619" y="270913"/>
                  <a:pt x="228662" y="279944"/>
                  <a:pt x="241581" y="279944"/>
                </a:cubicBezTo>
                <a:lnTo>
                  <a:pt x="263543" y="279944"/>
                </a:lnTo>
                <a:cubicBezTo>
                  <a:pt x="312634" y="279944"/>
                  <a:pt x="352682" y="319936"/>
                  <a:pt x="352682" y="368958"/>
                </a:cubicBezTo>
                <a:lnTo>
                  <a:pt x="352682" y="393470"/>
                </a:lnTo>
                <a:cubicBezTo>
                  <a:pt x="352682" y="408950"/>
                  <a:pt x="341055" y="421851"/>
                  <a:pt x="325553" y="421851"/>
                </a:cubicBezTo>
                <a:lnTo>
                  <a:pt x="28421" y="421851"/>
                </a:lnTo>
                <a:cubicBezTo>
                  <a:pt x="12919" y="421851"/>
                  <a:pt x="0" y="408950"/>
                  <a:pt x="0" y="393470"/>
                </a:cubicBezTo>
                <a:lnTo>
                  <a:pt x="0" y="368958"/>
                </a:lnTo>
                <a:cubicBezTo>
                  <a:pt x="0" y="319936"/>
                  <a:pt x="40048" y="279944"/>
                  <a:pt x="89139" y="279944"/>
                </a:cubicBezTo>
                <a:lnTo>
                  <a:pt x="112393" y="279944"/>
                </a:lnTo>
                <a:cubicBezTo>
                  <a:pt x="124020" y="279944"/>
                  <a:pt x="133063" y="270913"/>
                  <a:pt x="133063" y="259303"/>
                </a:cubicBezTo>
                <a:cubicBezTo>
                  <a:pt x="133063" y="254143"/>
                  <a:pt x="131771" y="250272"/>
                  <a:pt x="127896" y="247692"/>
                </a:cubicBezTo>
                <a:cubicBezTo>
                  <a:pt x="114977" y="234792"/>
                  <a:pt x="104642" y="216731"/>
                  <a:pt x="95599" y="198670"/>
                </a:cubicBezTo>
                <a:cubicBezTo>
                  <a:pt x="94307" y="199960"/>
                  <a:pt x="93015" y="199960"/>
                  <a:pt x="91723" y="199960"/>
                </a:cubicBezTo>
                <a:cubicBezTo>
                  <a:pt x="78804" y="199960"/>
                  <a:pt x="63302" y="171579"/>
                  <a:pt x="63302" y="152228"/>
                </a:cubicBezTo>
                <a:cubicBezTo>
                  <a:pt x="63302" y="132877"/>
                  <a:pt x="65886" y="117396"/>
                  <a:pt x="78804" y="117396"/>
                </a:cubicBezTo>
                <a:cubicBezTo>
                  <a:pt x="80096" y="117396"/>
                  <a:pt x="80096" y="117396"/>
                  <a:pt x="81388" y="117396"/>
                </a:cubicBezTo>
                <a:cubicBezTo>
                  <a:pt x="82680" y="64503"/>
                  <a:pt x="93015" y="0"/>
                  <a:pt x="176987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887052" y="2400698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chemeClr val="accent1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87052" y="2843345"/>
            <a:ext cx="1783976" cy="38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Operating System Operations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99914" y="3604673"/>
            <a:ext cx="1909482" cy="2883834"/>
          </a:xfrm>
          <a:prstGeom prst="rect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63500" dist="25400" dir="2700000" algn="tl" rotWithShape="0">
              <a:srgbClr val="000000">
                <a:alpha val="15000"/>
              </a:srgb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357432" y="4011430"/>
            <a:ext cx="394446" cy="347210"/>
          </a:xfrm>
          <a:custGeom>
            <a:avLst/>
            <a:gdLst/>
            <a:ahLst/>
            <a:cxnLst/>
            <a:rect l="l" t="t" r="r" b="b"/>
            <a:pathLst>
              <a:path w="604256" h="531895">
                <a:moveTo>
                  <a:pt x="18335" y="334272"/>
                </a:moveTo>
                <a:cubicBezTo>
                  <a:pt x="24642" y="332369"/>
                  <a:pt x="31682" y="332881"/>
                  <a:pt x="37988" y="336249"/>
                </a:cubicBezTo>
                <a:lnTo>
                  <a:pt x="302130" y="476833"/>
                </a:lnTo>
                <a:lnTo>
                  <a:pt x="566126" y="336249"/>
                </a:lnTo>
                <a:cubicBezTo>
                  <a:pt x="578739" y="329513"/>
                  <a:pt x="594432" y="334199"/>
                  <a:pt x="601178" y="346793"/>
                </a:cubicBezTo>
                <a:cubicBezTo>
                  <a:pt x="607925" y="359387"/>
                  <a:pt x="603085" y="375056"/>
                  <a:pt x="590619" y="381793"/>
                </a:cubicBezTo>
                <a:lnTo>
                  <a:pt x="314303" y="528820"/>
                </a:lnTo>
                <a:cubicBezTo>
                  <a:pt x="310490" y="530870"/>
                  <a:pt x="306383" y="531895"/>
                  <a:pt x="302130" y="531895"/>
                </a:cubicBezTo>
                <a:cubicBezTo>
                  <a:pt x="297877" y="531895"/>
                  <a:pt x="293770" y="530870"/>
                  <a:pt x="289957" y="528820"/>
                </a:cubicBezTo>
                <a:lnTo>
                  <a:pt x="13641" y="381793"/>
                </a:lnTo>
                <a:cubicBezTo>
                  <a:pt x="1028" y="375056"/>
                  <a:pt x="-3665" y="359387"/>
                  <a:pt x="3082" y="346793"/>
                </a:cubicBezTo>
                <a:cubicBezTo>
                  <a:pt x="6455" y="340496"/>
                  <a:pt x="12028" y="336176"/>
                  <a:pt x="18335" y="334272"/>
                </a:cubicBezTo>
                <a:close/>
                <a:moveTo>
                  <a:pt x="18335" y="233364"/>
                </a:moveTo>
                <a:cubicBezTo>
                  <a:pt x="24642" y="231461"/>
                  <a:pt x="31682" y="231973"/>
                  <a:pt x="37988" y="235341"/>
                </a:cubicBezTo>
                <a:lnTo>
                  <a:pt x="302130" y="375925"/>
                </a:lnTo>
                <a:lnTo>
                  <a:pt x="566126" y="235341"/>
                </a:lnTo>
                <a:cubicBezTo>
                  <a:pt x="578739" y="228605"/>
                  <a:pt x="594432" y="233291"/>
                  <a:pt x="601178" y="245885"/>
                </a:cubicBezTo>
                <a:cubicBezTo>
                  <a:pt x="607925" y="258479"/>
                  <a:pt x="603085" y="274148"/>
                  <a:pt x="590619" y="280885"/>
                </a:cubicBezTo>
                <a:lnTo>
                  <a:pt x="314303" y="428058"/>
                </a:lnTo>
                <a:cubicBezTo>
                  <a:pt x="310490" y="430108"/>
                  <a:pt x="306383" y="430987"/>
                  <a:pt x="302130" y="430987"/>
                </a:cubicBezTo>
                <a:cubicBezTo>
                  <a:pt x="297877" y="430987"/>
                  <a:pt x="293770" y="430108"/>
                  <a:pt x="289957" y="428058"/>
                </a:cubicBezTo>
                <a:lnTo>
                  <a:pt x="13641" y="280885"/>
                </a:lnTo>
                <a:cubicBezTo>
                  <a:pt x="1028" y="274148"/>
                  <a:pt x="-3665" y="258479"/>
                  <a:pt x="3082" y="245885"/>
                </a:cubicBezTo>
                <a:cubicBezTo>
                  <a:pt x="6455" y="239588"/>
                  <a:pt x="12028" y="235268"/>
                  <a:pt x="18335" y="233364"/>
                </a:cubicBezTo>
                <a:close/>
                <a:moveTo>
                  <a:pt x="291571" y="2196"/>
                </a:moveTo>
                <a:cubicBezTo>
                  <a:pt x="298317" y="-733"/>
                  <a:pt x="305943" y="-733"/>
                  <a:pt x="312689" y="2196"/>
                </a:cubicBezTo>
                <a:lnTo>
                  <a:pt x="588846" y="125214"/>
                </a:lnTo>
                <a:cubicBezTo>
                  <a:pt x="597938" y="129315"/>
                  <a:pt x="603805" y="138102"/>
                  <a:pt x="604245" y="147914"/>
                </a:cubicBezTo>
                <a:cubicBezTo>
                  <a:pt x="604538" y="157726"/>
                  <a:pt x="599258" y="166953"/>
                  <a:pt x="590605" y="171639"/>
                </a:cubicBezTo>
                <a:lnTo>
                  <a:pt x="314303" y="318676"/>
                </a:lnTo>
                <a:cubicBezTo>
                  <a:pt x="310489" y="320726"/>
                  <a:pt x="306383" y="321751"/>
                  <a:pt x="302130" y="321751"/>
                </a:cubicBezTo>
                <a:cubicBezTo>
                  <a:pt x="297877" y="321751"/>
                  <a:pt x="293771" y="320726"/>
                  <a:pt x="289957" y="318676"/>
                </a:cubicBezTo>
                <a:lnTo>
                  <a:pt x="13654" y="171639"/>
                </a:lnTo>
                <a:cubicBezTo>
                  <a:pt x="5002" y="166953"/>
                  <a:pt x="-278" y="157726"/>
                  <a:pt x="15" y="147914"/>
                </a:cubicBezTo>
                <a:cubicBezTo>
                  <a:pt x="309" y="138102"/>
                  <a:pt x="6322" y="129315"/>
                  <a:pt x="15414" y="125214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662667" y="4765397"/>
            <a:ext cx="1783976" cy="442647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000" b="1" i="1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62667" y="5208044"/>
            <a:ext cx="1783976" cy="38177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Operating System Services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9622A4-978C-C3C2-F76A-BD366451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C7ACD96E-C9E2-AB2B-7E20-D119C402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 System?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xmlns="" id="{838A6BE6-B9DE-CDB7-12A7-A1131EB743D7}"/>
              </a:ext>
            </a:extLst>
          </p:cNvPr>
          <p:cNvSpPr/>
          <p:nvPr/>
        </p:nvSpPr>
        <p:spPr>
          <a:xfrm rot="10800000" flipV="1">
            <a:off x="3237406" y="1363678"/>
            <a:ext cx="5704487" cy="5704488"/>
          </a:xfrm>
          <a:prstGeom prst="blockArc">
            <a:avLst>
              <a:gd name="adj1" fmla="val 10647816"/>
              <a:gd name="adj2" fmla="val 119025"/>
              <a:gd name="adj3" fmla="val 6024"/>
            </a:avLst>
          </a:prstGeom>
          <a:gradFill>
            <a:gsLst>
              <a:gs pos="15000">
                <a:srgbClr val="FFFFFF">
                  <a:alpha val="0"/>
                </a:srgbClr>
              </a:gs>
              <a:gs pos="100000">
                <a:srgbClr val="FFFFFF">
                  <a:alpha val="20000"/>
                  <a:lumMod val="85000"/>
                </a:srgbClr>
              </a:gs>
            </a:gsLst>
            <a:lin ang="16200000"/>
          </a:gra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lnSpc>
                <a:spcPct val="120000"/>
              </a:lnSpc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xmlns="" id="{875F7F03-287C-4B64-A2D7-D33BBF849ECE}"/>
              </a:ext>
            </a:extLst>
          </p:cNvPr>
          <p:cNvSpPr/>
          <p:nvPr/>
        </p:nvSpPr>
        <p:spPr>
          <a:xfrm>
            <a:off x="4309911" y="3693542"/>
            <a:ext cx="3559478" cy="443512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Role as an Interface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xmlns="" id="{A588BF85-655C-BB52-5AAA-605879F588D5}"/>
              </a:ext>
            </a:extLst>
          </p:cNvPr>
          <p:cNvSpPr/>
          <p:nvPr/>
        </p:nvSpPr>
        <p:spPr>
          <a:xfrm>
            <a:off x="660400" y="3693542"/>
            <a:ext cx="3559478" cy="443512"/>
          </a:xfrm>
          <a:prstGeom prst="rect">
            <a:avLst/>
          </a:prstGeom>
          <a:solidFill>
            <a:srgbClr val="000000">
              <a:alpha val="70000"/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Layer of System Software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xmlns="" id="{1DACBC70-C220-9672-DF95-337946355FE2}"/>
              </a:ext>
            </a:extLst>
          </p:cNvPr>
          <p:cNvSpPr/>
          <p:nvPr/>
        </p:nvSpPr>
        <p:spPr>
          <a:xfrm>
            <a:off x="7959422" y="3693542"/>
            <a:ext cx="3559478" cy="443512"/>
          </a:xfrm>
          <a:prstGeom prst="rect">
            <a:avLst/>
          </a:prstGeom>
          <a:solidFill>
            <a:srgbClr val="000000">
              <a:alpha val="70000"/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Resource Management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xmlns="" id="{462A507E-AF43-9D3B-3826-9D72C6C54333}"/>
              </a:ext>
            </a:extLst>
          </p:cNvPr>
          <p:cNvSpPr/>
          <p:nvPr/>
        </p:nvSpPr>
        <p:spPr>
          <a:xfrm>
            <a:off x="5634147" y="1130300"/>
            <a:ext cx="911006" cy="911006"/>
          </a:xfrm>
          <a:prstGeom prst="ellipse">
            <a:avLst/>
          </a:prstGeom>
          <a:solidFill>
            <a:schemeClr val="accent1"/>
          </a:solidFill>
          <a:ln w="57150" cap="rnd" cmpd="sng">
            <a:solidFill>
              <a:srgbClr val="FFFFFF"/>
            </a:solidFill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xmlns="" id="{D60B64B7-CC20-1C5C-1516-AB00CD3A996F}"/>
              </a:ext>
            </a:extLst>
          </p:cNvPr>
          <p:cNvSpPr/>
          <p:nvPr/>
        </p:nvSpPr>
        <p:spPr>
          <a:xfrm>
            <a:off x="5869034" y="1352169"/>
            <a:ext cx="441232" cy="467268"/>
          </a:xfrm>
          <a:custGeom>
            <a:avLst/>
            <a:gdLst/>
            <a:ahLst/>
            <a:cxnLst/>
            <a:rect l="l" t="t" r="r" b="b"/>
            <a:pathLst>
              <a:path w="572779" h="606580">
                <a:moveTo>
                  <a:pt x="435703" y="160183"/>
                </a:moveTo>
                <a:lnTo>
                  <a:pt x="479697" y="160183"/>
                </a:lnTo>
                <a:cubicBezTo>
                  <a:pt x="479639" y="160241"/>
                  <a:pt x="479639" y="160414"/>
                  <a:pt x="479581" y="160472"/>
                </a:cubicBezTo>
                <a:lnTo>
                  <a:pt x="479812" y="160472"/>
                </a:lnTo>
                <a:cubicBezTo>
                  <a:pt x="479407" y="161281"/>
                  <a:pt x="478713" y="162726"/>
                  <a:pt x="478713" y="162726"/>
                </a:cubicBezTo>
                <a:cubicBezTo>
                  <a:pt x="474834" y="170989"/>
                  <a:pt x="471245" y="178848"/>
                  <a:pt x="469682" y="187227"/>
                </a:cubicBezTo>
                <a:lnTo>
                  <a:pt x="474776" y="242470"/>
                </a:lnTo>
                <a:lnTo>
                  <a:pt x="494284" y="242470"/>
                </a:lnTo>
                <a:lnTo>
                  <a:pt x="510840" y="160183"/>
                </a:lnTo>
                <a:lnTo>
                  <a:pt x="527338" y="160183"/>
                </a:lnTo>
                <a:cubicBezTo>
                  <a:pt x="552345" y="160183"/>
                  <a:pt x="572663" y="180466"/>
                  <a:pt x="572779" y="205430"/>
                </a:cubicBezTo>
                <a:lnTo>
                  <a:pt x="572779" y="337413"/>
                </a:lnTo>
                <a:cubicBezTo>
                  <a:pt x="572779" y="362434"/>
                  <a:pt x="552519" y="382717"/>
                  <a:pt x="527396" y="382717"/>
                </a:cubicBezTo>
                <a:lnTo>
                  <a:pt x="521607" y="382717"/>
                </a:lnTo>
                <a:lnTo>
                  <a:pt x="521607" y="574624"/>
                </a:lnTo>
                <a:cubicBezTo>
                  <a:pt x="521607" y="592249"/>
                  <a:pt x="507251" y="606580"/>
                  <a:pt x="489595" y="606580"/>
                </a:cubicBezTo>
                <a:cubicBezTo>
                  <a:pt x="473155" y="606580"/>
                  <a:pt x="459552" y="594098"/>
                  <a:pt x="457815" y="578149"/>
                </a:cubicBezTo>
                <a:cubicBezTo>
                  <a:pt x="456021" y="594214"/>
                  <a:pt x="442417" y="606580"/>
                  <a:pt x="425978" y="606580"/>
                </a:cubicBezTo>
                <a:cubicBezTo>
                  <a:pt x="408322" y="606580"/>
                  <a:pt x="393966" y="592249"/>
                  <a:pt x="393966" y="574624"/>
                </a:cubicBezTo>
                <a:lnTo>
                  <a:pt x="393966" y="392541"/>
                </a:lnTo>
                <a:cubicBezTo>
                  <a:pt x="411506" y="380521"/>
                  <a:pt x="422967" y="360354"/>
                  <a:pt x="422967" y="337528"/>
                </a:cubicBezTo>
                <a:lnTo>
                  <a:pt x="422967" y="242528"/>
                </a:lnTo>
                <a:lnTo>
                  <a:pt x="440739" y="242528"/>
                </a:lnTo>
                <a:lnTo>
                  <a:pt x="445833" y="186996"/>
                </a:lnTo>
                <a:cubicBezTo>
                  <a:pt x="445659" y="186013"/>
                  <a:pt x="445428" y="184973"/>
                  <a:pt x="445196" y="183991"/>
                </a:cubicBezTo>
                <a:cubicBezTo>
                  <a:pt x="443459" y="176768"/>
                  <a:pt x="440276" y="169891"/>
                  <a:pt x="436860" y="162726"/>
                </a:cubicBezTo>
                <a:cubicBezTo>
                  <a:pt x="436860" y="162726"/>
                  <a:pt x="436166" y="161281"/>
                  <a:pt x="435818" y="160472"/>
                </a:cubicBezTo>
                <a:lnTo>
                  <a:pt x="435876" y="160472"/>
                </a:lnTo>
                <a:cubicBezTo>
                  <a:pt x="435818" y="160356"/>
                  <a:pt x="435818" y="160241"/>
                  <a:pt x="435703" y="160183"/>
                </a:cubicBezTo>
                <a:close/>
                <a:moveTo>
                  <a:pt x="264349" y="160183"/>
                </a:moveTo>
                <a:lnTo>
                  <a:pt x="308327" y="160183"/>
                </a:lnTo>
                <a:cubicBezTo>
                  <a:pt x="308269" y="160241"/>
                  <a:pt x="308269" y="160414"/>
                  <a:pt x="308154" y="160472"/>
                </a:cubicBezTo>
                <a:lnTo>
                  <a:pt x="308385" y="160472"/>
                </a:lnTo>
                <a:cubicBezTo>
                  <a:pt x="308038" y="161281"/>
                  <a:pt x="307344" y="162726"/>
                  <a:pt x="307344" y="162726"/>
                </a:cubicBezTo>
                <a:cubicBezTo>
                  <a:pt x="303467" y="170989"/>
                  <a:pt x="299821" y="178848"/>
                  <a:pt x="298316" y="187227"/>
                </a:cubicBezTo>
                <a:lnTo>
                  <a:pt x="303409" y="242470"/>
                </a:lnTo>
                <a:lnTo>
                  <a:pt x="322910" y="242470"/>
                </a:lnTo>
                <a:lnTo>
                  <a:pt x="339401" y="160183"/>
                </a:lnTo>
                <a:lnTo>
                  <a:pt x="355951" y="160183"/>
                </a:lnTo>
                <a:cubicBezTo>
                  <a:pt x="380949" y="160183"/>
                  <a:pt x="401202" y="180466"/>
                  <a:pt x="401376" y="205430"/>
                </a:cubicBezTo>
                <a:lnTo>
                  <a:pt x="401376" y="337413"/>
                </a:lnTo>
                <a:cubicBezTo>
                  <a:pt x="401376" y="362434"/>
                  <a:pt x="381065" y="382717"/>
                  <a:pt x="356009" y="382717"/>
                </a:cubicBezTo>
                <a:lnTo>
                  <a:pt x="350222" y="382717"/>
                </a:lnTo>
                <a:lnTo>
                  <a:pt x="350222" y="574624"/>
                </a:lnTo>
                <a:cubicBezTo>
                  <a:pt x="350222" y="592249"/>
                  <a:pt x="335872" y="606580"/>
                  <a:pt x="318222" y="606580"/>
                </a:cubicBezTo>
                <a:cubicBezTo>
                  <a:pt x="301788" y="606580"/>
                  <a:pt x="288190" y="594098"/>
                  <a:pt x="286396" y="578149"/>
                </a:cubicBezTo>
                <a:cubicBezTo>
                  <a:pt x="284660" y="594214"/>
                  <a:pt x="271062" y="606580"/>
                  <a:pt x="254628" y="606580"/>
                </a:cubicBezTo>
                <a:cubicBezTo>
                  <a:pt x="236978" y="606580"/>
                  <a:pt x="222628" y="592249"/>
                  <a:pt x="222628" y="574624"/>
                </a:cubicBezTo>
                <a:lnTo>
                  <a:pt x="222628" y="382833"/>
                </a:lnTo>
                <a:lnTo>
                  <a:pt x="216841" y="382833"/>
                </a:lnTo>
                <a:cubicBezTo>
                  <a:pt x="191727" y="382833"/>
                  <a:pt x="171474" y="362608"/>
                  <a:pt x="171474" y="337528"/>
                </a:cubicBezTo>
                <a:lnTo>
                  <a:pt x="171474" y="205545"/>
                </a:lnTo>
                <a:cubicBezTo>
                  <a:pt x="171474" y="180524"/>
                  <a:pt x="191727" y="160241"/>
                  <a:pt x="216841" y="160241"/>
                </a:cubicBezTo>
                <a:lnTo>
                  <a:pt x="233333" y="160241"/>
                </a:lnTo>
                <a:lnTo>
                  <a:pt x="249825" y="242528"/>
                </a:lnTo>
                <a:lnTo>
                  <a:pt x="269383" y="242528"/>
                </a:lnTo>
                <a:lnTo>
                  <a:pt x="274476" y="186996"/>
                </a:lnTo>
                <a:cubicBezTo>
                  <a:pt x="274302" y="186013"/>
                  <a:pt x="274071" y="184973"/>
                  <a:pt x="273839" y="183991"/>
                </a:cubicBezTo>
                <a:cubicBezTo>
                  <a:pt x="272045" y="176768"/>
                  <a:pt x="268921" y="169891"/>
                  <a:pt x="265506" y="162726"/>
                </a:cubicBezTo>
                <a:cubicBezTo>
                  <a:pt x="265506" y="162726"/>
                  <a:pt x="264812" y="161281"/>
                  <a:pt x="264407" y="160472"/>
                </a:cubicBezTo>
                <a:lnTo>
                  <a:pt x="264523" y="160472"/>
                </a:lnTo>
                <a:cubicBezTo>
                  <a:pt x="264407" y="160356"/>
                  <a:pt x="264407" y="160241"/>
                  <a:pt x="264349" y="160183"/>
                </a:cubicBezTo>
                <a:close/>
                <a:moveTo>
                  <a:pt x="92987" y="160183"/>
                </a:moveTo>
                <a:lnTo>
                  <a:pt x="136964" y="160183"/>
                </a:lnTo>
                <a:cubicBezTo>
                  <a:pt x="136848" y="160241"/>
                  <a:pt x="136848" y="160414"/>
                  <a:pt x="136791" y="160472"/>
                </a:cubicBezTo>
                <a:lnTo>
                  <a:pt x="137022" y="160472"/>
                </a:lnTo>
                <a:cubicBezTo>
                  <a:pt x="136617" y="161281"/>
                  <a:pt x="135923" y="162726"/>
                  <a:pt x="135923" y="162726"/>
                </a:cubicBezTo>
                <a:cubicBezTo>
                  <a:pt x="132104" y="170989"/>
                  <a:pt x="128458" y="178848"/>
                  <a:pt x="126896" y="187227"/>
                </a:cubicBezTo>
                <a:lnTo>
                  <a:pt x="131988" y="242470"/>
                </a:lnTo>
                <a:lnTo>
                  <a:pt x="149752" y="242470"/>
                </a:lnTo>
                <a:lnTo>
                  <a:pt x="149752" y="337471"/>
                </a:lnTo>
                <a:cubicBezTo>
                  <a:pt x="149752" y="360296"/>
                  <a:pt x="161267" y="380406"/>
                  <a:pt x="178742" y="392483"/>
                </a:cubicBezTo>
                <a:lnTo>
                  <a:pt x="178742" y="574624"/>
                </a:lnTo>
                <a:cubicBezTo>
                  <a:pt x="178742" y="592249"/>
                  <a:pt x="164392" y="606580"/>
                  <a:pt x="146743" y="606580"/>
                </a:cubicBezTo>
                <a:cubicBezTo>
                  <a:pt x="130310" y="606580"/>
                  <a:pt x="116712" y="594098"/>
                  <a:pt x="114976" y="578149"/>
                </a:cubicBezTo>
                <a:cubicBezTo>
                  <a:pt x="113182" y="594214"/>
                  <a:pt x="99584" y="606580"/>
                  <a:pt x="83151" y="606580"/>
                </a:cubicBezTo>
                <a:cubicBezTo>
                  <a:pt x="65502" y="606580"/>
                  <a:pt x="51152" y="592249"/>
                  <a:pt x="51152" y="574624"/>
                </a:cubicBezTo>
                <a:lnTo>
                  <a:pt x="51152" y="382833"/>
                </a:lnTo>
                <a:lnTo>
                  <a:pt x="45365" y="382833"/>
                </a:lnTo>
                <a:cubicBezTo>
                  <a:pt x="20310" y="382833"/>
                  <a:pt x="0" y="362608"/>
                  <a:pt x="0" y="337528"/>
                </a:cubicBezTo>
                <a:lnTo>
                  <a:pt x="0" y="205545"/>
                </a:lnTo>
                <a:cubicBezTo>
                  <a:pt x="0" y="180524"/>
                  <a:pt x="20310" y="160241"/>
                  <a:pt x="45365" y="160241"/>
                </a:cubicBezTo>
                <a:lnTo>
                  <a:pt x="61972" y="160241"/>
                </a:lnTo>
                <a:lnTo>
                  <a:pt x="78464" y="242528"/>
                </a:lnTo>
                <a:lnTo>
                  <a:pt x="97964" y="242528"/>
                </a:lnTo>
                <a:lnTo>
                  <a:pt x="103056" y="186996"/>
                </a:lnTo>
                <a:cubicBezTo>
                  <a:pt x="102940" y="186013"/>
                  <a:pt x="102709" y="184973"/>
                  <a:pt x="102477" y="183991"/>
                </a:cubicBezTo>
                <a:cubicBezTo>
                  <a:pt x="100683" y="176768"/>
                  <a:pt x="97501" y="169891"/>
                  <a:pt x="94145" y="162726"/>
                </a:cubicBezTo>
                <a:cubicBezTo>
                  <a:pt x="94145" y="162726"/>
                  <a:pt x="93450" y="161281"/>
                  <a:pt x="93045" y="160472"/>
                </a:cubicBezTo>
                <a:lnTo>
                  <a:pt x="93103" y="160472"/>
                </a:lnTo>
                <a:cubicBezTo>
                  <a:pt x="93045" y="160356"/>
                  <a:pt x="93045" y="160241"/>
                  <a:pt x="92987" y="160183"/>
                </a:cubicBezTo>
                <a:close/>
                <a:moveTo>
                  <a:pt x="457411" y="751"/>
                </a:moveTo>
                <a:lnTo>
                  <a:pt x="458047" y="751"/>
                </a:lnTo>
                <a:cubicBezTo>
                  <a:pt x="488012" y="751"/>
                  <a:pt x="514158" y="20971"/>
                  <a:pt x="521621" y="49915"/>
                </a:cubicBezTo>
                <a:cubicBezTo>
                  <a:pt x="523009" y="55403"/>
                  <a:pt x="523761" y="61007"/>
                  <a:pt x="523761" y="66553"/>
                </a:cubicBezTo>
                <a:cubicBezTo>
                  <a:pt x="523761" y="102718"/>
                  <a:pt x="494317" y="132124"/>
                  <a:pt x="458105" y="132124"/>
                </a:cubicBezTo>
                <a:lnTo>
                  <a:pt x="457469" y="132124"/>
                </a:lnTo>
                <a:cubicBezTo>
                  <a:pt x="427504" y="132124"/>
                  <a:pt x="401358" y="111904"/>
                  <a:pt x="393895" y="82960"/>
                </a:cubicBezTo>
                <a:cubicBezTo>
                  <a:pt x="392507" y="77472"/>
                  <a:pt x="391755" y="71868"/>
                  <a:pt x="391755" y="66322"/>
                </a:cubicBezTo>
                <a:cubicBezTo>
                  <a:pt x="391755" y="30157"/>
                  <a:pt x="421199" y="751"/>
                  <a:pt x="457411" y="751"/>
                </a:cubicBezTo>
                <a:close/>
                <a:moveTo>
                  <a:pt x="285868" y="751"/>
                </a:moveTo>
                <a:lnTo>
                  <a:pt x="286621" y="751"/>
                </a:lnTo>
                <a:cubicBezTo>
                  <a:pt x="316601" y="751"/>
                  <a:pt x="342761" y="20971"/>
                  <a:pt x="350227" y="49915"/>
                </a:cubicBezTo>
                <a:cubicBezTo>
                  <a:pt x="351674" y="55403"/>
                  <a:pt x="352369" y="61007"/>
                  <a:pt x="352369" y="66553"/>
                </a:cubicBezTo>
                <a:cubicBezTo>
                  <a:pt x="352369" y="102718"/>
                  <a:pt x="322909" y="132124"/>
                  <a:pt x="286736" y="132124"/>
                </a:cubicBezTo>
                <a:lnTo>
                  <a:pt x="286100" y="132124"/>
                </a:lnTo>
                <a:cubicBezTo>
                  <a:pt x="256119" y="132124"/>
                  <a:pt x="229959" y="111846"/>
                  <a:pt x="222493" y="82845"/>
                </a:cubicBezTo>
                <a:cubicBezTo>
                  <a:pt x="221046" y="77414"/>
                  <a:pt x="220351" y="71810"/>
                  <a:pt x="220351" y="66264"/>
                </a:cubicBezTo>
                <a:cubicBezTo>
                  <a:pt x="220351" y="30157"/>
                  <a:pt x="249753" y="751"/>
                  <a:pt x="285868" y="751"/>
                </a:cubicBezTo>
                <a:close/>
                <a:moveTo>
                  <a:pt x="114639" y="751"/>
                </a:moveTo>
                <a:lnTo>
                  <a:pt x="115275" y="751"/>
                </a:lnTo>
                <a:cubicBezTo>
                  <a:pt x="145256" y="751"/>
                  <a:pt x="171416" y="20971"/>
                  <a:pt x="178882" y="49915"/>
                </a:cubicBezTo>
                <a:cubicBezTo>
                  <a:pt x="180329" y="55403"/>
                  <a:pt x="181024" y="61007"/>
                  <a:pt x="181024" y="66553"/>
                </a:cubicBezTo>
                <a:cubicBezTo>
                  <a:pt x="181024" y="102718"/>
                  <a:pt x="151564" y="132124"/>
                  <a:pt x="115333" y="132124"/>
                </a:cubicBezTo>
                <a:lnTo>
                  <a:pt x="114754" y="132124"/>
                </a:lnTo>
                <a:cubicBezTo>
                  <a:pt x="84774" y="132124"/>
                  <a:pt x="58614" y="111904"/>
                  <a:pt x="51148" y="82960"/>
                </a:cubicBezTo>
                <a:cubicBezTo>
                  <a:pt x="49701" y="77472"/>
                  <a:pt x="49006" y="71868"/>
                  <a:pt x="49006" y="66322"/>
                </a:cubicBezTo>
                <a:cubicBezTo>
                  <a:pt x="49006" y="30157"/>
                  <a:pt x="78466" y="751"/>
                  <a:pt x="114639" y="751"/>
                </a:cubicBezTo>
                <a:close/>
                <a:moveTo>
                  <a:pt x="457410" y="423"/>
                </a:moveTo>
                <a:cubicBezTo>
                  <a:pt x="420880" y="423"/>
                  <a:pt x="391355" y="29894"/>
                  <a:pt x="391355" y="66356"/>
                </a:cubicBezTo>
                <a:cubicBezTo>
                  <a:pt x="391355" y="72135"/>
                  <a:pt x="392108" y="77740"/>
                  <a:pt x="393497" y="83056"/>
                </a:cubicBezTo>
                <a:cubicBezTo>
                  <a:pt x="400849" y="111487"/>
                  <a:pt x="426669" y="132521"/>
                  <a:pt x="457468" y="132521"/>
                </a:cubicBezTo>
                <a:lnTo>
                  <a:pt x="457815" y="132521"/>
                </a:lnTo>
                <a:lnTo>
                  <a:pt x="458104" y="132521"/>
                </a:lnTo>
                <a:cubicBezTo>
                  <a:pt x="494634" y="132521"/>
                  <a:pt x="524159" y="103050"/>
                  <a:pt x="524159" y="66587"/>
                </a:cubicBezTo>
                <a:cubicBezTo>
                  <a:pt x="524159" y="60809"/>
                  <a:pt x="523406" y="55204"/>
                  <a:pt x="522017" y="49887"/>
                </a:cubicBezTo>
                <a:cubicBezTo>
                  <a:pt x="514665" y="21457"/>
                  <a:pt x="488845" y="423"/>
                  <a:pt x="458046" y="423"/>
                </a:cubicBezTo>
                <a:lnTo>
                  <a:pt x="457699" y="423"/>
                </a:lnTo>
                <a:close/>
                <a:moveTo>
                  <a:pt x="114646" y="423"/>
                </a:moveTo>
                <a:cubicBezTo>
                  <a:pt x="78190" y="423"/>
                  <a:pt x="48620" y="29894"/>
                  <a:pt x="48620" y="66356"/>
                </a:cubicBezTo>
                <a:cubicBezTo>
                  <a:pt x="48620" y="72135"/>
                  <a:pt x="49372" y="77740"/>
                  <a:pt x="50761" y="83056"/>
                </a:cubicBezTo>
                <a:cubicBezTo>
                  <a:pt x="58110" y="111487"/>
                  <a:pt x="83977" y="132521"/>
                  <a:pt x="114762" y="132521"/>
                </a:cubicBezTo>
                <a:lnTo>
                  <a:pt x="115051" y="132521"/>
                </a:lnTo>
                <a:lnTo>
                  <a:pt x="115340" y="132521"/>
                </a:lnTo>
                <a:cubicBezTo>
                  <a:pt x="151854" y="132521"/>
                  <a:pt x="181424" y="103050"/>
                  <a:pt x="181424" y="66587"/>
                </a:cubicBezTo>
                <a:cubicBezTo>
                  <a:pt x="181424" y="60809"/>
                  <a:pt x="180614" y="55204"/>
                  <a:pt x="179225" y="49887"/>
                </a:cubicBezTo>
                <a:cubicBezTo>
                  <a:pt x="171934" y="21457"/>
                  <a:pt x="146067" y="423"/>
                  <a:pt x="115282" y="423"/>
                </a:cubicBezTo>
                <a:lnTo>
                  <a:pt x="114993" y="423"/>
                </a:lnTo>
                <a:close/>
                <a:moveTo>
                  <a:pt x="286036" y="397"/>
                </a:moveTo>
                <a:cubicBezTo>
                  <a:pt x="249522" y="282"/>
                  <a:pt x="219952" y="29874"/>
                  <a:pt x="219952" y="66286"/>
                </a:cubicBezTo>
                <a:cubicBezTo>
                  <a:pt x="219952" y="72066"/>
                  <a:pt x="220762" y="77672"/>
                  <a:pt x="222151" y="82990"/>
                </a:cubicBezTo>
                <a:cubicBezTo>
                  <a:pt x="229442" y="111484"/>
                  <a:pt x="255309" y="132522"/>
                  <a:pt x="286094" y="132522"/>
                </a:cubicBezTo>
                <a:lnTo>
                  <a:pt x="286383" y="132522"/>
                </a:lnTo>
                <a:lnTo>
                  <a:pt x="286730" y="132522"/>
                </a:lnTo>
                <a:cubicBezTo>
                  <a:pt x="323186" y="132522"/>
                  <a:pt x="352756" y="103045"/>
                  <a:pt x="352756" y="66575"/>
                </a:cubicBezTo>
                <a:cubicBezTo>
                  <a:pt x="352756" y="60796"/>
                  <a:pt x="352004" y="55189"/>
                  <a:pt x="350615" y="49872"/>
                </a:cubicBezTo>
                <a:cubicBezTo>
                  <a:pt x="343266" y="21436"/>
                  <a:pt x="317399" y="397"/>
                  <a:pt x="286614" y="397"/>
                </a:cubicBezTo>
                <a:lnTo>
                  <a:pt x="286325" y="397"/>
                </a:lnTo>
                <a:close/>
                <a:moveTo>
                  <a:pt x="457411" y="0"/>
                </a:moveTo>
                <a:lnTo>
                  <a:pt x="458047" y="0"/>
                </a:lnTo>
                <a:cubicBezTo>
                  <a:pt x="488359" y="0"/>
                  <a:pt x="514795" y="20451"/>
                  <a:pt x="522315" y="49741"/>
                </a:cubicBezTo>
                <a:cubicBezTo>
                  <a:pt x="523761" y="55230"/>
                  <a:pt x="524513" y="60891"/>
                  <a:pt x="524513" y="66553"/>
                </a:cubicBezTo>
                <a:cubicBezTo>
                  <a:pt x="524513" y="103122"/>
                  <a:pt x="494722" y="132875"/>
                  <a:pt x="458105" y="132875"/>
                </a:cubicBezTo>
                <a:lnTo>
                  <a:pt x="457469" y="132875"/>
                </a:lnTo>
                <a:cubicBezTo>
                  <a:pt x="427157" y="132875"/>
                  <a:pt x="400721" y="112424"/>
                  <a:pt x="393201" y="83133"/>
                </a:cubicBezTo>
                <a:cubicBezTo>
                  <a:pt x="391755" y="77645"/>
                  <a:pt x="391003" y="71983"/>
                  <a:pt x="391003" y="66322"/>
                </a:cubicBezTo>
                <a:cubicBezTo>
                  <a:pt x="391003" y="29752"/>
                  <a:pt x="420794" y="0"/>
                  <a:pt x="457411" y="0"/>
                </a:cubicBezTo>
                <a:close/>
                <a:moveTo>
                  <a:pt x="285868" y="0"/>
                </a:moveTo>
                <a:lnTo>
                  <a:pt x="286621" y="0"/>
                </a:lnTo>
                <a:cubicBezTo>
                  <a:pt x="316948" y="0"/>
                  <a:pt x="343456" y="20451"/>
                  <a:pt x="350980" y="49741"/>
                </a:cubicBezTo>
                <a:cubicBezTo>
                  <a:pt x="352427" y="55287"/>
                  <a:pt x="353179" y="60891"/>
                  <a:pt x="353179" y="66553"/>
                </a:cubicBezTo>
                <a:cubicBezTo>
                  <a:pt x="353179" y="103122"/>
                  <a:pt x="323372" y="132875"/>
                  <a:pt x="286736" y="132875"/>
                </a:cubicBezTo>
                <a:lnTo>
                  <a:pt x="286100" y="132875"/>
                </a:lnTo>
                <a:cubicBezTo>
                  <a:pt x="255772" y="132875"/>
                  <a:pt x="229322" y="112366"/>
                  <a:pt x="221740" y="83076"/>
                </a:cubicBezTo>
                <a:cubicBezTo>
                  <a:pt x="220294" y="77530"/>
                  <a:pt x="219599" y="71868"/>
                  <a:pt x="219599" y="66264"/>
                </a:cubicBezTo>
                <a:cubicBezTo>
                  <a:pt x="219599" y="29695"/>
                  <a:pt x="249348" y="0"/>
                  <a:pt x="285868" y="0"/>
                </a:cubicBezTo>
                <a:close/>
                <a:moveTo>
                  <a:pt x="114639" y="0"/>
                </a:moveTo>
                <a:lnTo>
                  <a:pt x="115275" y="0"/>
                </a:lnTo>
                <a:cubicBezTo>
                  <a:pt x="145603" y="0"/>
                  <a:pt x="172053" y="20451"/>
                  <a:pt x="179635" y="49741"/>
                </a:cubicBezTo>
                <a:cubicBezTo>
                  <a:pt x="181081" y="55230"/>
                  <a:pt x="181776" y="60891"/>
                  <a:pt x="181776" y="66553"/>
                </a:cubicBezTo>
                <a:cubicBezTo>
                  <a:pt x="181776" y="103122"/>
                  <a:pt x="151969" y="132875"/>
                  <a:pt x="115333" y="132875"/>
                </a:cubicBezTo>
                <a:lnTo>
                  <a:pt x="114754" y="132875"/>
                </a:lnTo>
                <a:cubicBezTo>
                  <a:pt x="84427" y="132875"/>
                  <a:pt x="57919" y="112424"/>
                  <a:pt x="50395" y="83133"/>
                </a:cubicBezTo>
                <a:cubicBezTo>
                  <a:pt x="48948" y="77645"/>
                  <a:pt x="48196" y="71983"/>
                  <a:pt x="48196" y="66322"/>
                </a:cubicBezTo>
                <a:cubicBezTo>
                  <a:pt x="48196" y="29752"/>
                  <a:pt x="78003" y="0"/>
                  <a:pt x="114639" y="0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xmlns="" id="{AF366CBF-238B-2B4F-A59A-0248AB39291E}"/>
              </a:ext>
            </a:extLst>
          </p:cNvPr>
          <p:cNvSpPr/>
          <p:nvPr/>
        </p:nvSpPr>
        <p:spPr>
          <a:xfrm>
            <a:off x="660399" y="4239799"/>
            <a:ext cx="3559478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bstracts the complexities of the underlying hardware</a:t>
            </a: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xmlns="" id="{EBAF9A2C-87E9-FE19-8D6C-284D7CC5A635}"/>
              </a:ext>
            </a:extLst>
          </p:cNvPr>
          <p:cNvSpPr/>
          <p:nvPr/>
        </p:nvSpPr>
        <p:spPr>
          <a:xfrm>
            <a:off x="4309911" y="4239799"/>
            <a:ext cx="3559478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cts as an intermediary between users and the computer hardware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xmlns="" id="{62F7849E-BB47-BBDB-B6DD-9DC32D9E8CA2}"/>
              </a:ext>
            </a:extLst>
          </p:cNvPr>
          <p:cNvSpPr/>
          <p:nvPr/>
        </p:nvSpPr>
        <p:spPr>
          <a:xfrm>
            <a:off x="7972125" y="4239799"/>
            <a:ext cx="3546774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llocates and de-allocates resources to applications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12597EF-F325-9624-5E7D-EAF6FE7A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39" y="2069302"/>
            <a:ext cx="2722810" cy="16643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0E573079-F56E-B99E-B815-686C66AA9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342" y="2069302"/>
            <a:ext cx="2877045" cy="16242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013DEDC1-182C-D213-D326-EEA6987BF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109" y="1946192"/>
            <a:ext cx="2722811" cy="1747349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="" id="{09A9A358-53BC-3EBE-FEF1-756A2FCC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4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4999062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Goals of Operating Systems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02248" y="1258665"/>
            <a:ext cx="1944688" cy="2663031"/>
            <a:chOff x="2283385" y="1130300"/>
            <a:chExt cx="1944688" cy="2663031"/>
          </a:xfrm>
        </p:grpSpPr>
        <p:sp>
          <p:nvSpPr>
            <p:cNvPr id="4" name="Freeform 4"/>
            <p:cNvSpPr/>
            <p:nvPr/>
          </p:nvSpPr>
          <p:spPr>
            <a:xfrm>
              <a:off x="2832053" y="1130300"/>
              <a:ext cx="847352" cy="847352"/>
            </a:xfrm>
            <a:custGeom>
              <a:avLst/>
              <a:gdLst/>
              <a:ahLst/>
              <a:cxnLst/>
              <a:rect l="l" t="t" r="r" b="b"/>
              <a:pathLst>
                <a:path w="526" h="525">
                  <a:moveTo>
                    <a:pt x="67" y="160"/>
                  </a:moveTo>
                  <a:cubicBezTo>
                    <a:pt x="205" y="22"/>
                    <a:pt x="205" y="22"/>
                    <a:pt x="205" y="22"/>
                  </a:cubicBezTo>
                  <a:cubicBezTo>
                    <a:pt x="227" y="0"/>
                    <a:pt x="263" y="0"/>
                    <a:pt x="285" y="22"/>
                  </a:cubicBezTo>
                  <a:cubicBezTo>
                    <a:pt x="504" y="241"/>
                    <a:pt x="504" y="241"/>
                    <a:pt x="504" y="241"/>
                  </a:cubicBezTo>
                  <a:cubicBezTo>
                    <a:pt x="526" y="263"/>
                    <a:pt x="526" y="299"/>
                    <a:pt x="504" y="321"/>
                  </a:cubicBezTo>
                  <a:cubicBezTo>
                    <a:pt x="366" y="459"/>
                    <a:pt x="366" y="459"/>
                    <a:pt x="366" y="459"/>
                  </a:cubicBezTo>
                  <a:cubicBezTo>
                    <a:pt x="299" y="525"/>
                    <a:pt x="191" y="525"/>
                    <a:pt x="125" y="459"/>
                  </a:cubicBezTo>
                  <a:cubicBezTo>
                    <a:pt x="67" y="401"/>
                    <a:pt x="67" y="401"/>
                    <a:pt x="67" y="401"/>
                  </a:cubicBezTo>
                  <a:cubicBezTo>
                    <a:pt x="0" y="335"/>
                    <a:pt x="0" y="226"/>
                    <a:pt x="67" y="1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r>
                <a:rPr lang="en-US" sz="1200" b="0" i="0" u="none" baseline="0">
                  <a:solidFill>
                    <a:srgbClr val="000000"/>
                  </a:solidFill>
                  <a:latin typeface="Arial"/>
                  <a:ea typeface="Arial"/>
                </a:rPr>
                <a:t>01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2283385" y="1972468"/>
              <a:ext cx="1944688" cy="1820863"/>
            </a:xfrm>
            <a:custGeom>
              <a:avLst/>
              <a:gdLst/>
              <a:ahLst/>
              <a:cxnLst/>
              <a:rect l="l" t="t" r="r" b="b"/>
              <a:pathLst>
                <a:path w="562" h="525">
                  <a:moveTo>
                    <a:pt x="22" y="285"/>
                  </a:moveTo>
                  <a:cubicBezTo>
                    <a:pt x="241" y="503"/>
                    <a:pt x="241" y="503"/>
                    <a:pt x="241" y="503"/>
                  </a:cubicBezTo>
                  <a:cubicBezTo>
                    <a:pt x="263" y="525"/>
                    <a:pt x="299" y="525"/>
                    <a:pt x="321" y="503"/>
                  </a:cubicBezTo>
                  <a:cubicBezTo>
                    <a:pt x="540" y="285"/>
                    <a:pt x="540" y="285"/>
                    <a:pt x="540" y="285"/>
                  </a:cubicBezTo>
                  <a:cubicBezTo>
                    <a:pt x="562" y="263"/>
                    <a:pt x="562" y="227"/>
                    <a:pt x="540" y="204"/>
                  </a:cubicBezTo>
                  <a:cubicBezTo>
                    <a:pt x="401" y="66"/>
                    <a:pt x="401" y="66"/>
                    <a:pt x="401" y="66"/>
                  </a:cubicBezTo>
                  <a:cubicBezTo>
                    <a:pt x="335" y="0"/>
                    <a:pt x="227" y="0"/>
                    <a:pt x="160" y="66"/>
                  </a:cubicBezTo>
                  <a:cubicBezTo>
                    <a:pt x="22" y="204"/>
                    <a:pt x="22" y="204"/>
                    <a:pt x="22" y="204"/>
                  </a:cubicBezTo>
                  <a:cubicBezTo>
                    <a:pt x="0" y="227"/>
                    <a:pt x="0" y="263"/>
                    <a:pt x="22" y="285"/>
                  </a:cubicBezTo>
                  <a:close/>
                </a:path>
              </a:pathLst>
            </a:custGeom>
            <a:blipFill>
              <a:blip r:embed="rId2" cstate="print"/>
              <a:stretch>
                <a:fillRect l="-21762" t="-2187" r="-21491" b="-2187"/>
              </a:stretch>
            </a:blipFill>
            <a:ln cap="flat"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486341" y="4567129"/>
            <a:ext cx="3339101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nsure that user programs run smoothly and efficiently.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342" y="4038237"/>
            <a:ext cx="333910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Execute User Programs</a:t>
            </a:r>
            <a:endParaRPr lang="en-US" sz="1100" dirty="0"/>
          </a:p>
        </p:txBody>
      </p:sp>
      <p:grpSp>
        <p:nvGrpSpPr>
          <p:cNvPr id="8" name="Group 8"/>
          <p:cNvGrpSpPr/>
          <p:nvPr/>
        </p:nvGrpSpPr>
        <p:grpSpPr>
          <a:xfrm>
            <a:off x="5210745" y="1258665"/>
            <a:ext cx="1944688" cy="2663031"/>
            <a:chOff x="4462042" y="1130300"/>
            <a:chExt cx="1944688" cy="2663031"/>
          </a:xfrm>
        </p:grpSpPr>
        <p:sp>
          <p:nvSpPr>
            <p:cNvPr id="9" name="Freeform 9"/>
            <p:cNvSpPr/>
            <p:nvPr/>
          </p:nvSpPr>
          <p:spPr>
            <a:xfrm>
              <a:off x="4462042" y="1972468"/>
              <a:ext cx="1944688" cy="1820863"/>
            </a:xfrm>
            <a:custGeom>
              <a:avLst/>
              <a:gdLst/>
              <a:ahLst/>
              <a:cxnLst/>
              <a:rect l="l" t="t" r="r" b="b"/>
              <a:pathLst>
                <a:path w="562" h="525">
                  <a:moveTo>
                    <a:pt x="23" y="285"/>
                  </a:moveTo>
                  <a:cubicBezTo>
                    <a:pt x="241" y="503"/>
                    <a:pt x="241" y="503"/>
                    <a:pt x="241" y="503"/>
                  </a:cubicBezTo>
                  <a:cubicBezTo>
                    <a:pt x="263" y="525"/>
                    <a:pt x="299" y="525"/>
                    <a:pt x="321" y="503"/>
                  </a:cubicBezTo>
                  <a:cubicBezTo>
                    <a:pt x="540" y="285"/>
                    <a:pt x="540" y="285"/>
                    <a:pt x="540" y="285"/>
                  </a:cubicBezTo>
                  <a:cubicBezTo>
                    <a:pt x="562" y="263"/>
                    <a:pt x="562" y="227"/>
                    <a:pt x="540" y="204"/>
                  </a:cubicBezTo>
                  <a:cubicBezTo>
                    <a:pt x="402" y="66"/>
                    <a:pt x="402" y="66"/>
                    <a:pt x="402" y="66"/>
                  </a:cubicBezTo>
                  <a:cubicBezTo>
                    <a:pt x="335" y="0"/>
                    <a:pt x="227" y="0"/>
                    <a:pt x="161" y="66"/>
                  </a:cubicBezTo>
                  <a:cubicBezTo>
                    <a:pt x="23" y="204"/>
                    <a:pt x="23" y="204"/>
                    <a:pt x="23" y="204"/>
                  </a:cubicBezTo>
                  <a:cubicBezTo>
                    <a:pt x="0" y="227"/>
                    <a:pt x="0" y="263"/>
                    <a:pt x="23" y="285"/>
                  </a:cubicBezTo>
                  <a:close/>
                </a:path>
              </a:pathLst>
            </a:custGeom>
            <a:blipFill>
              <a:blip r:embed="rId3" cstate="print"/>
              <a:stretch>
                <a:fillRect l="-21794" t="-2187" r="-21524" b="-2187"/>
              </a:stretch>
            </a:blipFill>
            <a:ln cap="flat"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010710" y="1130300"/>
              <a:ext cx="847352" cy="847352"/>
            </a:xfrm>
            <a:custGeom>
              <a:avLst/>
              <a:gdLst/>
              <a:ahLst/>
              <a:cxnLst/>
              <a:rect l="l" t="t" r="r" b="b"/>
              <a:pathLst>
                <a:path w="526" h="525">
                  <a:moveTo>
                    <a:pt x="67" y="160"/>
                  </a:moveTo>
                  <a:cubicBezTo>
                    <a:pt x="205" y="22"/>
                    <a:pt x="205" y="22"/>
                    <a:pt x="205" y="22"/>
                  </a:cubicBezTo>
                  <a:cubicBezTo>
                    <a:pt x="227" y="0"/>
                    <a:pt x="263" y="0"/>
                    <a:pt x="285" y="22"/>
                  </a:cubicBezTo>
                  <a:cubicBezTo>
                    <a:pt x="504" y="241"/>
                    <a:pt x="504" y="241"/>
                    <a:pt x="504" y="241"/>
                  </a:cubicBezTo>
                  <a:cubicBezTo>
                    <a:pt x="526" y="263"/>
                    <a:pt x="526" y="299"/>
                    <a:pt x="504" y="321"/>
                  </a:cubicBezTo>
                  <a:cubicBezTo>
                    <a:pt x="366" y="459"/>
                    <a:pt x="366" y="459"/>
                    <a:pt x="366" y="459"/>
                  </a:cubicBezTo>
                  <a:cubicBezTo>
                    <a:pt x="299" y="525"/>
                    <a:pt x="191" y="525"/>
                    <a:pt x="125" y="459"/>
                  </a:cubicBezTo>
                  <a:cubicBezTo>
                    <a:pt x="67" y="401"/>
                    <a:pt x="67" y="401"/>
                    <a:pt x="67" y="401"/>
                  </a:cubicBezTo>
                  <a:cubicBezTo>
                    <a:pt x="0" y="335"/>
                    <a:pt x="0" y="226"/>
                    <a:pt x="67" y="1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2"/>
              </a:solidFill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r>
                <a:rPr lang="en-US" sz="1200" b="0" i="0" u="none" baseline="0">
                  <a:solidFill>
                    <a:srgbClr val="000000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494838" y="4573862"/>
            <a:ext cx="3339101" cy="11568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nhance user convenience by providing a user-friendly environment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endParaRPr lang="zh-CN" altLang="en-US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94839" y="4044970"/>
            <a:ext cx="333910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Convenience and Efficiency</a:t>
            </a:r>
            <a:endParaRPr lang="en-US" sz="11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9159470" y="1244000"/>
            <a:ext cx="1944688" cy="2663031"/>
            <a:chOff x="6631734" y="1130300"/>
            <a:chExt cx="1944688" cy="2663031"/>
          </a:xfrm>
        </p:grpSpPr>
        <p:sp>
          <p:nvSpPr>
            <p:cNvPr id="14" name="Freeform 14"/>
            <p:cNvSpPr/>
            <p:nvPr/>
          </p:nvSpPr>
          <p:spPr>
            <a:xfrm>
              <a:off x="6631734" y="1972468"/>
              <a:ext cx="1944688" cy="1820863"/>
            </a:xfrm>
            <a:custGeom>
              <a:avLst/>
              <a:gdLst/>
              <a:ahLst/>
              <a:cxnLst/>
              <a:rect l="l" t="t" r="r" b="b"/>
              <a:pathLst>
                <a:path w="562" h="525">
                  <a:moveTo>
                    <a:pt x="22" y="285"/>
                  </a:moveTo>
                  <a:cubicBezTo>
                    <a:pt x="241" y="503"/>
                    <a:pt x="241" y="503"/>
                    <a:pt x="241" y="503"/>
                  </a:cubicBezTo>
                  <a:cubicBezTo>
                    <a:pt x="263" y="525"/>
                    <a:pt x="299" y="525"/>
                    <a:pt x="321" y="503"/>
                  </a:cubicBezTo>
                  <a:cubicBezTo>
                    <a:pt x="540" y="285"/>
                    <a:pt x="540" y="285"/>
                    <a:pt x="540" y="285"/>
                  </a:cubicBezTo>
                  <a:cubicBezTo>
                    <a:pt x="562" y="263"/>
                    <a:pt x="562" y="227"/>
                    <a:pt x="540" y="204"/>
                  </a:cubicBezTo>
                  <a:cubicBezTo>
                    <a:pt x="401" y="66"/>
                    <a:pt x="401" y="66"/>
                    <a:pt x="401" y="66"/>
                  </a:cubicBezTo>
                  <a:cubicBezTo>
                    <a:pt x="335" y="0"/>
                    <a:pt x="227" y="0"/>
                    <a:pt x="161" y="66"/>
                  </a:cubicBezTo>
                  <a:cubicBezTo>
                    <a:pt x="22" y="204"/>
                    <a:pt x="22" y="204"/>
                    <a:pt x="22" y="204"/>
                  </a:cubicBezTo>
                  <a:cubicBezTo>
                    <a:pt x="0" y="227"/>
                    <a:pt x="0" y="263"/>
                    <a:pt x="22" y="285"/>
                  </a:cubicBezTo>
                  <a:close/>
                </a:path>
              </a:pathLst>
            </a:custGeom>
            <a:blipFill>
              <a:blip r:embed="rId4" cstate="print"/>
              <a:stretch>
                <a:fillRect l="-21762" t="-2187" r="-21491" b="-2187"/>
              </a:stretch>
            </a:blipFill>
            <a:ln cap="flat"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180402" y="1130300"/>
              <a:ext cx="847352" cy="847352"/>
            </a:xfrm>
            <a:custGeom>
              <a:avLst/>
              <a:gdLst/>
              <a:ahLst/>
              <a:cxnLst/>
              <a:rect l="l" t="t" r="r" b="b"/>
              <a:pathLst>
                <a:path w="526" h="525">
                  <a:moveTo>
                    <a:pt x="67" y="160"/>
                  </a:moveTo>
                  <a:cubicBezTo>
                    <a:pt x="205" y="22"/>
                    <a:pt x="205" y="22"/>
                    <a:pt x="205" y="22"/>
                  </a:cubicBezTo>
                  <a:cubicBezTo>
                    <a:pt x="227" y="0"/>
                    <a:pt x="263" y="0"/>
                    <a:pt x="285" y="22"/>
                  </a:cubicBezTo>
                  <a:cubicBezTo>
                    <a:pt x="504" y="241"/>
                    <a:pt x="504" y="241"/>
                    <a:pt x="504" y="241"/>
                  </a:cubicBezTo>
                  <a:cubicBezTo>
                    <a:pt x="526" y="263"/>
                    <a:pt x="526" y="299"/>
                    <a:pt x="504" y="321"/>
                  </a:cubicBezTo>
                  <a:cubicBezTo>
                    <a:pt x="366" y="459"/>
                    <a:pt x="366" y="459"/>
                    <a:pt x="366" y="459"/>
                  </a:cubicBezTo>
                  <a:cubicBezTo>
                    <a:pt x="299" y="525"/>
                    <a:pt x="191" y="525"/>
                    <a:pt x="125" y="459"/>
                  </a:cubicBezTo>
                  <a:cubicBezTo>
                    <a:pt x="67" y="401"/>
                    <a:pt x="67" y="401"/>
                    <a:pt x="67" y="401"/>
                  </a:cubicBezTo>
                  <a:cubicBezTo>
                    <a:pt x="0" y="335"/>
                    <a:pt x="0" y="226"/>
                    <a:pt x="67" y="16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</a:ln>
          </p:spPr>
          <p:txBody>
            <a:bodyPr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r>
                <a:rPr lang="en-US" sz="1200" b="0" i="0" u="none" baseline="0">
                  <a:solidFill>
                    <a:srgbClr val="000000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458199" y="4567128"/>
            <a:ext cx="3339101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alance requests from various applications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199" y="4038237"/>
            <a:ext cx="333910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Resource Allocation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>
            <a:off x="4169431" y="4243164"/>
            <a:ext cx="0" cy="1721331"/>
          </a:xfrm>
          <a:prstGeom prst="line">
            <a:avLst/>
          </a:prstGeom>
          <a:ln w="3175" cap="rnd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8195750" y="4243164"/>
            <a:ext cx="0" cy="1721331"/>
          </a:xfrm>
          <a:prstGeom prst="line">
            <a:avLst/>
          </a:prstGeom>
          <a:ln w="3175" cap="rnd" cmpd="sng">
            <a:solidFill>
              <a:srgbClr val="FFFFFF">
                <a:lumMod val="85000"/>
              </a:srgbClr>
            </a:solidFill>
            <a:prstDash val="solid"/>
          </a:ln>
        </p:spPr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xmlns="" id="{893906C1-9AC9-AB94-4EE5-1B2C7420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5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decel="500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decel="500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3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3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" accel="1000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4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Components of a Computer System</a:t>
            </a:r>
          </a:p>
        </p:txBody>
      </p:sp>
      <p:sp>
        <p:nvSpPr>
          <p:cNvPr id="9" name="AutoShape 9"/>
          <p:cNvSpPr/>
          <p:nvPr/>
        </p:nvSpPr>
        <p:spPr>
          <a:xfrm>
            <a:off x="8520774" y="2445601"/>
            <a:ext cx="3384756" cy="2634183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anage the hardware and provide a platform for higher-level 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applications.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tilize system resources to perform specific user-directed tasks.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10600" y="1793704"/>
            <a:ext cx="3384755" cy="584775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 dirty="0">
                <a:ln/>
                <a:solidFill>
                  <a:schemeClr val="accent1"/>
                </a:solidFill>
                <a:latin typeface="微软雅黑"/>
                <a:ea typeface="微软雅黑"/>
              </a:rPr>
              <a:t>System and Application Programs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86470" y="2050253"/>
            <a:ext cx="3034636" cy="1156855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onsists of the physical devices such as the CPU, memory, and I/O devices.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469" y="1624427"/>
            <a:ext cx="2304331" cy="338554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Hardware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384921" y="5227910"/>
            <a:ext cx="6473080" cy="787523"/>
          </a:xfrm>
          <a:prstGeom prst="rect">
            <a:avLst/>
          </a:prstGeom>
          <a:noFill/>
        </p:spPr>
        <p:txBody>
          <a:bodyPr vert="horz" wrap="square" lIns="90000" tIns="45720" rIns="9000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It acts as a manager, ensuring that all 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system parts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 operate harmoniously.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045" y="4915893"/>
            <a:ext cx="4099917" cy="338554"/>
          </a:xfrm>
          <a:prstGeom prst="rect">
            <a:avLst/>
          </a:prstGeom>
          <a:noFill/>
        </p:spPr>
        <p:txBody>
          <a:bodyPr vert="horz" wrap="square" lIns="90000" tIns="45720" rIns="90000" bIns="45720" rtlCol="0" anchor="ctr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 dirty="0">
                <a:ln/>
                <a:solidFill>
                  <a:srgbClr val="000000"/>
                </a:solidFill>
                <a:latin typeface="微软雅黑"/>
                <a:ea typeface="微软雅黑"/>
              </a:rPr>
              <a:t>Role of Operating System</a:t>
            </a:r>
            <a:endParaRPr lang="en-US" sz="1100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xmlns="" id="{CB724FF6-78CA-5E67-3609-12DE21C16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133065"/>
            <a:ext cx="4464104" cy="3556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F85C33-7FA7-C7F9-0CAF-4544A3DF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6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3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Batch Operating Systems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1432456" y="1253979"/>
            <a:ext cx="42352" cy="4627526"/>
          </a:xfrm>
          <a:prstGeom prst="line">
            <a:avLst/>
          </a:prstGeom>
          <a:ln w="6350" cap="flat" cmpd="sng">
            <a:solidFill>
              <a:srgbClr val="000000"/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8477421" y="1313034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2" cstate="print"/>
            <a:stretch>
              <a:fillRect t="-27952" b="-27292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43886" y="1318163"/>
            <a:ext cx="376146" cy="3642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8602" y="1313034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Characteristics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808602" y="1682366"/>
            <a:ext cx="5798312" cy="707631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Users submit jobs without interaction, and the system executes them sequentially</a:t>
            </a:r>
            <a:endParaRPr lang="en-US" sz="1200" dirty="0"/>
          </a:p>
        </p:txBody>
      </p:sp>
      <p:sp>
        <p:nvSpPr>
          <p:cNvPr id="8" name="AutoShape 8"/>
          <p:cNvSpPr/>
          <p:nvPr/>
        </p:nvSpPr>
        <p:spPr>
          <a:xfrm>
            <a:off x="8477421" y="3136627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3" cstate="print"/>
            <a:stretch>
              <a:fillRect t="-126003" b="-123026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43886" y="3141756"/>
            <a:ext cx="376146" cy="3642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8602" y="3136627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Advantages and Disadvantages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808602" y="3505959"/>
            <a:ext cx="5798312" cy="387543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H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igher 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esource 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tilization</a:t>
            </a:r>
            <a:endParaRPr lang="en-US" sz="1200" dirty="0"/>
          </a:p>
        </p:txBody>
      </p:sp>
      <p:sp>
        <p:nvSpPr>
          <p:cNvPr id="12" name="AutoShape 12"/>
          <p:cNvSpPr/>
          <p:nvPr/>
        </p:nvSpPr>
        <p:spPr>
          <a:xfrm>
            <a:off x="8477421" y="4960220"/>
            <a:ext cx="2470692" cy="1061814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4" cstate="print"/>
            <a:stretch>
              <a:fillRect t="-126003" b="-123026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43886" y="4969160"/>
            <a:ext cx="376146" cy="3642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sz="1200" b="1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08602" y="4964031"/>
            <a:ext cx="57983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User Interaction Limitations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808602" y="5333363"/>
            <a:ext cx="5798312" cy="707631"/>
          </a:xfrm>
          <a:prstGeom prst="rect">
            <a:avLst/>
          </a:prstGeom>
        </p:spPr>
        <p:txBody>
          <a:bodyPr vert="horz" wrap="square" lIns="90000" tIns="46800" rIns="90000" bIns="4680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Users cannot interact directly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,</a:t>
            </a:r>
            <a:r>
              <a:rPr lang="en-US" altLang="zh-CN" sz="1600" b="0" i="0" u="none" dirty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leading to delays in feedback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endParaRPr lang="en-US" sz="12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xmlns="" id="{75AA3254-FA88-B3D7-E7B4-DE55763C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7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Multiprogramming Operating Systems</a:t>
            </a:r>
          </a:p>
        </p:txBody>
      </p:sp>
      <p:grpSp>
        <p:nvGrpSpPr>
          <p:cNvPr id="3" name="Group 3"/>
          <p:cNvGrpSpPr/>
          <p:nvPr/>
        </p:nvGrpSpPr>
        <p:grpSpPr>
          <a:xfrm rot="697731">
            <a:off x="1511965" y="3152170"/>
            <a:ext cx="8929531" cy="3610665"/>
            <a:chOff x="1785483" y="1336696"/>
            <a:chExt cx="7702756" cy="3929491"/>
          </a:xfrm>
          <a:solidFill>
            <a:srgbClr val="0070C0"/>
          </a:solidFill>
        </p:grpSpPr>
        <p:sp>
          <p:nvSpPr>
            <p:cNvPr id="4" name="Freeform 4"/>
            <p:cNvSpPr/>
            <p:nvPr/>
          </p:nvSpPr>
          <p:spPr>
            <a:xfrm>
              <a:off x="1785483" y="1614094"/>
              <a:ext cx="7550848" cy="3652093"/>
            </a:xfrm>
            <a:custGeom>
              <a:avLst/>
              <a:gdLst/>
              <a:ahLst/>
              <a:cxnLst/>
              <a:rect l="l" t="t" r="r" b="b"/>
              <a:pathLst>
                <a:path w="7550848" h="3652093">
                  <a:moveTo>
                    <a:pt x="1424" y="3618319"/>
                  </a:moveTo>
                  <a:cubicBezTo>
                    <a:pt x="179089" y="3630541"/>
                    <a:pt x="357295" y="3632900"/>
                    <a:pt x="535220" y="3625383"/>
                  </a:cubicBezTo>
                  <a:cubicBezTo>
                    <a:pt x="2850736" y="3533018"/>
                    <a:pt x="5062424" y="2437037"/>
                    <a:pt x="6669143" y="790200"/>
                  </a:cubicBezTo>
                  <a:cubicBezTo>
                    <a:pt x="6917315" y="538296"/>
                    <a:pt x="7153225" y="275103"/>
                    <a:pt x="7376873" y="635"/>
                  </a:cubicBezTo>
                  <a:lnTo>
                    <a:pt x="7550807" y="145912"/>
                  </a:lnTo>
                  <a:cubicBezTo>
                    <a:pt x="7316136" y="419408"/>
                    <a:pt x="7069164" y="681534"/>
                    <a:pt x="6809889" y="932278"/>
                  </a:cubicBezTo>
                  <a:cubicBezTo>
                    <a:pt x="5142394" y="2558191"/>
                    <a:pt x="2879658" y="3616586"/>
                    <a:pt x="535887" y="3652040"/>
                  </a:cubicBezTo>
                  <a:cubicBezTo>
                    <a:pt x="357006" y="3655038"/>
                    <a:pt x="178094" y="3648241"/>
                    <a:pt x="-42" y="3631647"/>
                  </a:cubicBezTo>
                  <a:lnTo>
                    <a:pt x="1424" y="3618319"/>
                  </a:lnTo>
                  <a:close/>
                </a:path>
              </a:pathLst>
            </a:custGeom>
            <a:grpFill/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 rot="698765">
              <a:off x="9002135" y="1336696"/>
              <a:ext cx="486104" cy="570182"/>
            </a:xfrm>
            <a:custGeom>
              <a:avLst/>
              <a:gdLst/>
              <a:ahLst/>
              <a:cxnLst/>
              <a:rect l="l" t="t" r="r" b="b"/>
              <a:pathLst>
                <a:path w="486104" h="570182">
                  <a:moveTo>
                    <a:pt x="0" y="223733"/>
                  </a:moveTo>
                  <a:lnTo>
                    <a:pt x="486104" y="570182"/>
                  </a:lnTo>
                  <a:lnTo>
                    <a:pt x="486104" y="0"/>
                  </a:lnTo>
                  <a:lnTo>
                    <a:pt x="0" y="223733"/>
                  </a:lnTo>
                  <a:close/>
                </a:path>
              </a:pathLst>
            </a:custGeom>
            <a:grpFill/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2221725" y="2573962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90000" rIns="91440" bIns="90000" anchor="ctr">
            <a:noAutofit/>
          </a:bodyPr>
          <a:lstStyle/>
          <a:p>
            <a:pPr marL="0" algn="ctr"/>
            <a:r>
              <a:rPr lang="en-US" sz="1600" b="1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7" name="AutoShape 7"/>
          <p:cNvSpPr/>
          <p:nvPr/>
        </p:nvSpPr>
        <p:spPr>
          <a:xfrm>
            <a:off x="2007316" y="4021771"/>
            <a:ext cx="2571835" cy="16519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llow multiple processes to reside in memory 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but only 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one process remains active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.</a:t>
            </a:r>
            <a:endParaRPr lang="zh-CN" altLang="en-US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779799" y="2939027"/>
            <a:ext cx="139700" cy="139700"/>
            <a:chOff x="1886293" y="4670068"/>
            <a:chExt cx="139700" cy="139700"/>
          </a:xfrm>
        </p:grpSpPr>
        <p:sp>
          <p:nvSpPr>
            <p:cNvPr id="9" name="AutoShape 9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  <a:effectLst>
              <a:outerShdw blurRad="127000" dist="63500" dir="2700000" algn="ctr" rotWithShape="0">
                <a:schemeClr val="accent2">
                  <a:alpha val="40000"/>
                </a:schemeClr>
              </a:outerShdw>
            </a:effectLst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cxnSp>
        <p:nvCxnSpPr>
          <p:cNvPr id="11" name="Connector 11"/>
          <p:cNvCxnSpPr/>
          <p:nvPr/>
        </p:nvCxnSpPr>
        <p:spPr>
          <a:xfrm>
            <a:off x="1852378" y="2974058"/>
            <a:ext cx="1" cy="2952780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cxnSp>
        <p:nvCxnSpPr>
          <p:cNvPr id="12" name="Connector 12"/>
          <p:cNvCxnSpPr/>
          <p:nvPr/>
        </p:nvCxnSpPr>
        <p:spPr>
          <a:xfrm>
            <a:off x="4761866" y="2449014"/>
            <a:ext cx="0" cy="3584540"/>
          </a:xfrm>
          <a:prstGeom prst="line">
            <a:avLst/>
          </a:prstGeom>
          <a:ln w="6350" cap="flat" cmpd="sng">
            <a:solidFill>
              <a:srgbClr val="0070C0">
                <a:alpha val="50000"/>
              </a:srgbClr>
            </a:solidFill>
            <a:prstDash val="sysDash"/>
          </a:ln>
        </p:spPr>
      </p:cxnSp>
      <p:sp>
        <p:nvSpPr>
          <p:cNvPr id="13" name="AutoShape 13"/>
          <p:cNvSpPr/>
          <p:nvPr/>
        </p:nvSpPr>
        <p:spPr>
          <a:xfrm>
            <a:off x="5140356" y="1845568"/>
            <a:ext cx="1854890" cy="438475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flat" cmpd="sng">
            <a:prstDash val="solid"/>
          </a:ln>
        </p:spPr>
        <p:txBody>
          <a:bodyPr vert="horz" wrap="square" lIns="91440" tIns="90000" rIns="91440" bIns="90000" anchor="ctr">
            <a:noAutofit/>
          </a:bodyPr>
          <a:lstStyle/>
          <a:p>
            <a:pPr marL="0" algn="ctr"/>
            <a:r>
              <a:rPr lang="en-US" sz="1600" b="1" i="0" u="none" baseline="0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698430" y="2422721"/>
            <a:ext cx="139700" cy="139700"/>
            <a:chOff x="1886293" y="4670068"/>
            <a:chExt cx="139700" cy="139700"/>
          </a:xfrm>
        </p:grpSpPr>
        <p:sp>
          <p:nvSpPr>
            <p:cNvPr id="15" name="AutoShape 15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rgbClr val="0070C0"/>
            </a:solidFill>
            <a:ln cap="flat" cmpd="sng">
              <a:prstDash val="solid"/>
            </a:ln>
            <a:effectLst>
              <a:outerShdw blurRad="127000" dist="63500" dir="2700000" algn="ctr" rotWithShape="0">
                <a:schemeClr val="accent4">
                  <a:alpha val="40000"/>
                </a:schemeClr>
              </a:outerShdw>
            </a:effectLst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8096224" y="1208347"/>
            <a:ext cx="1854890" cy="4384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90000" rIns="91440" bIns="90000" anchor="ctr">
            <a:noAutofit/>
          </a:bodyPr>
          <a:lstStyle/>
          <a:p>
            <a:pPr marL="0" algn="ctr"/>
            <a:r>
              <a:rPr lang="en-US" sz="1600" b="1" i="0" u="none" baseline="0">
                <a:solidFill>
                  <a:schemeClr val="lt1"/>
                </a:solidFill>
                <a:latin typeface="Arial"/>
                <a:ea typeface="Arial"/>
              </a:rPr>
              <a:t>03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7677360" y="1674836"/>
            <a:ext cx="0" cy="3778487"/>
          </a:xfrm>
          <a:prstGeom prst="line">
            <a:avLst/>
          </a:prstGeom>
          <a:ln w="6350" cap="flat" cmpd="sng">
            <a:solidFill>
              <a:schemeClr val="accent1">
                <a:alpha val="50000"/>
              </a:schemeClr>
            </a:solidFill>
            <a:prstDash val="sysDash"/>
          </a:ln>
        </p:spPr>
      </p:cxnSp>
      <p:sp>
        <p:nvSpPr>
          <p:cNvPr id="19" name="TextBox 19"/>
          <p:cNvSpPr txBox="1"/>
          <p:nvPr/>
        </p:nvSpPr>
        <p:spPr>
          <a:xfrm>
            <a:off x="1988857" y="3245949"/>
            <a:ext cx="257183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Definition and Mechanism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882212" y="3343359"/>
            <a:ext cx="2571835" cy="2390627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The system must decide which process to execute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riority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esource availability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rocess state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71704" y="2535522"/>
            <a:ext cx="257183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Need for CPU Scheduling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900674" y="2562421"/>
            <a:ext cx="2571835" cy="12826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ncreased CPU efficiency by minimizing idle time.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7706" y="1873222"/>
            <a:ext cx="257183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Benefits of Multiprogramming</a:t>
            </a:r>
            <a:endParaRPr lang="en-US" sz="1100"/>
          </a:p>
        </p:txBody>
      </p:sp>
      <p:grpSp>
        <p:nvGrpSpPr>
          <p:cNvPr id="24" name="Group 24"/>
          <p:cNvGrpSpPr/>
          <p:nvPr/>
        </p:nvGrpSpPr>
        <p:grpSpPr>
          <a:xfrm>
            <a:off x="7609687" y="1602578"/>
            <a:ext cx="139700" cy="139700"/>
            <a:chOff x="1886293" y="4670068"/>
            <a:chExt cx="139700" cy="139700"/>
          </a:xfrm>
        </p:grpSpPr>
        <p:sp>
          <p:nvSpPr>
            <p:cNvPr id="25" name="AutoShape 25"/>
            <p:cNvSpPr/>
            <p:nvPr/>
          </p:nvSpPr>
          <p:spPr>
            <a:xfrm>
              <a:off x="1886293" y="4670068"/>
              <a:ext cx="139700" cy="139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913018" y="4696793"/>
              <a:ext cx="86250" cy="86250"/>
            </a:xfrm>
            <a:prstGeom prst="ellipse">
              <a:avLst/>
            </a:prstGeom>
            <a:solidFill>
              <a:schemeClr val="accent3"/>
            </a:solidFill>
            <a:ln cap="flat" cmpd="sng">
              <a:prstDash val="solid"/>
            </a:ln>
            <a:effectLst>
              <a:outerShdw blurRad="127000" dist="63500" dir="2700000" algn="ctr" rotWithShape="0">
                <a:schemeClr val="accent6">
                  <a:alpha val="40000"/>
                </a:schemeClr>
              </a:outerShdw>
            </a:effectLst>
          </p:spPr>
          <p:txBody>
            <a:bodyPr vert="horz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xmlns="" id="{E17829B7-22BC-17C3-6D1F-94137EBB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8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Multitasking/Timesharing OS</a:t>
            </a:r>
          </a:p>
        </p:txBody>
      </p:sp>
      <p:grpSp>
        <p:nvGrpSpPr>
          <p:cNvPr id="3" name="Group 3"/>
          <p:cNvGrpSpPr/>
          <p:nvPr/>
        </p:nvGrpSpPr>
        <p:grpSpPr>
          <a:xfrm rot="21314955">
            <a:off x="571372" y="3263035"/>
            <a:ext cx="11311009" cy="1910651"/>
            <a:chOff x="-1357086" y="2808513"/>
            <a:chExt cx="14644914" cy="2027172"/>
          </a:xfrm>
        </p:grpSpPr>
        <p:sp>
          <p:nvSpPr>
            <p:cNvPr id="4" name="Freeform 4"/>
            <p:cNvSpPr/>
            <p:nvPr/>
          </p:nvSpPr>
          <p:spPr>
            <a:xfrm>
              <a:off x="-1357086" y="2866571"/>
              <a:ext cx="14383657" cy="1771492"/>
            </a:xfrm>
            <a:custGeom>
              <a:avLst/>
              <a:gdLst/>
              <a:ahLst/>
              <a:cxnLst/>
              <a:rect l="l" t="t" r="r" b="b"/>
              <a:pathLst>
                <a:path w="14383657" h="2111829">
                  <a:moveTo>
                    <a:pt x="0" y="2111829"/>
                  </a:moveTo>
                  <a:cubicBezTo>
                    <a:pt x="620485" y="1631648"/>
                    <a:pt x="1240971" y="1151467"/>
                    <a:pt x="1814285" y="1117600"/>
                  </a:cubicBezTo>
                  <a:cubicBezTo>
                    <a:pt x="2387599" y="1083733"/>
                    <a:pt x="2737152" y="1978781"/>
                    <a:pt x="3439885" y="1908629"/>
                  </a:cubicBezTo>
                  <a:cubicBezTo>
                    <a:pt x="4142618" y="1838477"/>
                    <a:pt x="5289247" y="749905"/>
                    <a:pt x="6030685" y="696686"/>
                  </a:cubicBezTo>
                  <a:cubicBezTo>
                    <a:pt x="6772123" y="643467"/>
                    <a:pt x="7218438" y="1611086"/>
                    <a:pt x="7888514" y="1589315"/>
                  </a:cubicBezTo>
                  <a:cubicBezTo>
                    <a:pt x="8558590" y="1567544"/>
                    <a:pt x="9368972" y="625324"/>
                    <a:pt x="10051143" y="566057"/>
                  </a:cubicBezTo>
                  <a:cubicBezTo>
                    <a:pt x="10733314" y="506790"/>
                    <a:pt x="11259457" y="1328058"/>
                    <a:pt x="11981543" y="1233715"/>
                  </a:cubicBezTo>
                  <a:cubicBezTo>
                    <a:pt x="12703629" y="1139372"/>
                    <a:pt x="13543643" y="569686"/>
                    <a:pt x="14383657" y="0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-1349829" y="3018971"/>
              <a:ext cx="14586857" cy="1473200"/>
            </a:xfrm>
            <a:custGeom>
              <a:avLst/>
              <a:gdLst/>
              <a:ahLst/>
              <a:cxnLst/>
              <a:rect l="l" t="t" r="r" b="b"/>
              <a:pathLst>
                <a:path w="14586857" h="1756229">
                  <a:moveTo>
                    <a:pt x="0" y="1756229"/>
                  </a:moveTo>
                  <a:cubicBezTo>
                    <a:pt x="620485" y="1276048"/>
                    <a:pt x="1352247" y="1151467"/>
                    <a:pt x="1959428" y="1117600"/>
                  </a:cubicBezTo>
                  <a:cubicBezTo>
                    <a:pt x="2566609" y="1083733"/>
                    <a:pt x="2940352" y="1623181"/>
                    <a:pt x="3643085" y="1553029"/>
                  </a:cubicBezTo>
                  <a:cubicBezTo>
                    <a:pt x="4345818" y="1482877"/>
                    <a:pt x="5473095" y="737810"/>
                    <a:pt x="6175828" y="696686"/>
                  </a:cubicBezTo>
                  <a:cubicBezTo>
                    <a:pt x="6878561" y="655562"/>
                    <a:pt x="7189409" y="1328057"/>
                    <a:pt x="7859485" y="1306286"/>
                  </a:cubicBezTo>
                  <a:cubicBezTo>
                    <a:pt x="8529561" y="1284515"/>
                    <a:pt x="9493553" y="628952"/>
                    <a:pt x="10196286" y="566057"/>
                  </a:cubicBezTo>
                  <a:cubicBezTo>
                    <a:pt x="10899019" y="503162"/>
                    <a:pt x="11353800" y="1023258"/>
                    <a:pt x="12075886" y="928915"/>
                  </a:cubicBezTo>
                  <a:cubicBezTo>
                    <a:pt x="12797972" y="834572"/>
                    <a:pt x="13746843" y="569686"/>
                    <a:pt x="14586857" y="0"/>
                  </a:cubicBezTo>
                </a:path>
              </a:pathLst>
            </a:custGeom>
            <a:noFill/>
            <a:ln w="12700" cap="flat" cmpd="sng">
              <a:solidFill>
                <a:schemeClr val="accent1"/>
              </a:solidFill>
              <a:prstDash val="sysDot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-1182915" y="2808513"/>
              <a:ext cx="14470743" cy="2027172"/>
            </a:xfrm>
            <a:custGeom>
              <a:avLst/>
              <a:gdLst/>
              <a:ahLst/>
              <a:cxnLst/>
              <a:rect l="l" t="t" r="r" b="b"/>
              <a:pathLst>
                <a:path w="14470743" h="2416629">
                  <a:moveTo>
                    <a:pt x="0" y="2416629"/>
                  </a:moveTo>
                  <a:cubicBezTo>
                    <a:pt x="620485" y="1936448"/>
                    <a:pt x="1342571" y="1152676"/>
                    <a:pt x="1915885" y="1117600"/>
                  </a:cubicBezTo>
                  <a:cubicBezTo>
                    <a:pt x="2489199" y="1082524"/>
                    <a:pt x="2731105" y="2279953"/>
                    <a:pt x="3439886" y="2206172"/>
                  </a:cubicBezTo>
                  <a:cubicBezTo>
                    <a:pt x="4148667" y="2132391"/>
                    <a:pt x="5442857" y="714830"/>
                    <a:pt x="6168571" y="674915"/>
                  </a:cubicBezTo>
                  <a:cubicBezTo>
                    <a:pt x="6894285" y="635001"/>
                    <a:pt x="7116838" y="1984828"/>
                    <a:pt x="7794171" y="1966685"/>
                  </a:cubicBezTo>
                  <a:cubicBezTo>
                    <a:pt x="8471504" y="1948542"/>
                    <a:pt x="9525001" y="641046"/>
                    <a:pt x="10232572" y="566056"/>
                  </a:cubicBezTo>
                  <a:cubicBezTo>
                    <a:pt x="10940144" y="491066"/>
                    <a:pt x="11317514" y="1611086"/>
                    <a:pt x="12039600" y="1516743"/>
                  </a:cubicBezTo>
                  <a:cubicBezTo>
                    <a:pt x="12761686" y="1422400"/>
                    <a:pt x="13630729" y="569686"/>
                    <a:pt x="14470743" y="0"/>
                  </a:cubicBezTo>
                </a:path>
              </a:pathLst>
            </a:custGeom>
            <a:noFill/>
            <a:ln w="6350" cap="flat" cmpd="sng">
              <a:gradFill>
                <a:gsLst>
                  <a:gs pos="0">
                    <a:srgbClr val="00053F">
                      <a:alpha val="5000"/>
                    </a:srgbClr>
                  </a:gs>
                  <a:gs pos="74000">
                    <a:srgbClr val="00053F"/>
                  </a:gs>
                  <a:gs pos="83000">
                    <a:srgbClr val="00053F">
                      <a:lumMod val="45000"/>
                      <a:lumOff val="55000"/>
                    </a:srgbClr>
                  </a:gs>
                  <a:gs pos="100000">
                    <a:srgbClr val="00053F">
                      <a:lumMod val="30000"/>
                      <a:lumOff val="70000"/>
                    </a:srgbClr>
                  </a:gs>
                </a:gsLst>
              </a:gradFill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855760" y="4307997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617474" y="3787995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12498" y="4087724"/>
            <a:ext cx="136671" cy="136671"/>
          </a:xfrm>
          <a:prstGeom prst="ellipse">
            <a:avLst/>
          </a:prstGeom>
          <a:solidFill>
            <a:schemeClr val="accent1"/>
          </a:solidFill>
          <a:ln w="177800" cap="flat" cmpd="sng">
            <a:solidFill>
              <a:schemeClr val="accent1">
                <a:alpha val="40000"/>
              </a:schemeClr>
            </a:soli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18784" y="2206294"/>
            <a:ext cx="4532644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2000" b="1" i="0" u="none" baseline="0" dirty="0">
                <a:solidFill>
                  <a:schemeClr val="accent1"/>
                </a:solidFill>
                <a:latin typeface="思源黑体 CN Bold"/>
                <a:ea typeface="思源黑体 CN Bold"/>
              </a:rPr>
              <a:t>Role of CPU Scheduling</a:t>
            </a:r>
            <a:endParaRPr lang="en-US" sz="1400" b="1" dirty="0"/>
          </a:p>
        </p:txBody>
      </p:sp>
      <p:sp>
        <p:nvSpPr>
          <p:cNvPr id="11" name="TextBox 11"/>
          <p:cNvSpPr txBox="1"/>
          <p:nvPr/>
        </p:nvSpPr>
        <p:spPr>
          <a:xfrm>
            <a:off x="1045054" y="2871274"/>
            <a:ext cx="4532644" cy="78752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600" b="0" i="0" u="none" baseline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Determining which processes gain access to the CPU based on algorithm.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44574" y="2626712"/>
            <a:ext cx="159042" cy="1825042"/>
            <a:chOff x="713942" y="2558079"/>
            <a:chExt cx="159042" cy="1825042"/>
          </a:xfrm>
        </p:grpSpPr>
        <p:cxnSp>
          <p:nvCxnSpPr>
            <p:cNvPr id="13" name="Connector 13"/>
            <p:cNvCxnSpPr/>
            <p:nvPr/>
          </p:nvCxnSpPr>
          <p:spPr>
            <a:xfrm flipV="1">
              <a:off x="793464" y="2620257"/>
              <a:ext cx="0" cy="1762864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713942" y="2558079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823423" y="1516043"/>
            <a:ext cx="4486489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2000" b="1" i="0" u="none" baseline="0" dirty="0">
                <a:solidFill>
                  <a:schemeClr val="accent1"/>
                </a:solidFill>
                <a:latin typeface="思源黑体 CN Bold"/>
                <a:ea typeface="思源黑体 CN Bold"/>
              </a:rPr>
              <a:t>Concept and Execution</a:t>
            </a:r>
            <a:endParaRPr lang="en-US" sz="1400" b="1" dirty="0"/>
          </a:p>
        </p:txBody>
      </p:sp>
      <p:sp>
        <p:nvSpPr>
          <p:cNvPr id="16" name="TextBox 16"/>
          <p:cNvSpPr txBox="1"/>
          <p:nvPr/>
        </p:nvSpPr>
        <p:spPr>
          <a:xfrm>
            <a:off x="5894473" y="2006235"/>
            <a:ext cx="4486489" cy="88036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b="0" i="0" u="none" baseline="0" dirty="0">
                <a:latin typeface="思源黑体 CN Regular"/>
                <a:ea typeface="思源黑体 CN Regular"/>
              </a:rPr>
              <a:t>Allow multiple jobs to share CPU time by rapidly switching processes. </a:t>
            </a:r>
            <a:endParaRPr lang="en-US" sz="1400" dirty="0"/>
          </a:p>
        </p:txBody>
      </p:sp>
      <p:cxnSp>
        <p:nvCxnSpPr>
          <p:cNvPr id="17" name="Connector 17"/>
          <p:cNvCxnSpPr/>
          <p:nvPr/>
        </p:nvCxnSpPr>
        <p:spPr>
          <a:xfrm flipV="1">
            <a:off x="5685810" y="2058328"/>
            <a:ext cx="3230" cy="1729667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</a:ln>
        </p:spPr>
      </p:cxnSp>
      <p:sp>
        <p:nvSpPr>
          <p:cNvPr id="18" name="AutoShape 18"/>
          <p:cNvSpPr/>
          <p:nvPr/>
        </p:nvSpPr>
        <p:spPr>
          <a:xfrm>
            <a:off x="5607743" y="1899635"/>
            <a:ext cx="159042" cy="159042"/>
          </a:xfrm>
          <a:prstGeom prst="ellipse">
            <a:avLst/>
          </a:prstGeom>
          <a:solidFill>
            <a:srgbClr val="FFFFFF"/>
          </a:solidFill>
          <a:ln w="6350" cap="flat" cmpd="sng">
            <a:solidFill>
              <a:schemeClr val="accent1"/>
            </a:solidFill>
            <a:prstDash val="solid"/>
          </a:ln>
        </p:spPr>
        <p:txBody>
          <a:bodyPr vert="horz" lIns="91440" tIns="45720" rIns="91440" bIns="45720" anchor="ctr">
            <a:spAutoFit/>
          </a:bodyPr>
          <a:lstStyle/>
          <a:p>
            <a:pPr marL="0" algn="ctr"/>
            <a:endParaRPr/>
          </a:p>
        </p:txBody>
      </p:sp>
      <p:grpSp>
        <p:nvGrpSpPr>
          <p:cNvPr id="19" name="Group 19"/>
          <p:cNvGrpSpPr/>
          <p:nvPr/>
        </p:nvGrpSpPr>
        <p:grpSpPr>
          <a:xfrm flipV="1">
            <a:off x="6787098" y="4320296"/>
            <a:ext cx="159042" cy="562296"/>
            <a:chOff x="713942" y="1899867"/>
            <a:chExt cx="159042" cy="562296"/>
          </a:xfrm>
        </p:grpSpPr>
        <p:cxnSp>
          <p:nvCxnSpPr>
            <p:cNvPr id="20" name="Connector 20"/>
            <p:cNvCxnSpPr/>
            <p:nvPr/>
          </p:nvCxnSpPr>
          <p:spPr>
            <a:xfrm flipV="1">
              <a:off x="793464" y="1979364"/>
              <a:ext cx="0" cy="482799"/>
            </a:xfrm>
            <a:prstGeom prst="line">
              <a:avLst/>
            </a:prstGeom>
            <a:ln w="6350" cap="flat" cmpd="sng">
              <a:solidFill>
                <a:schemeClr val="accent1"/>
              </a:solidFill>
              <a:prstDash val="solid"/>
            </a:ln>
          </p:spPr>
        </p:cxnSp>
        <p:sp>
          <p:nvSpPr>
            <p:cNvPr id="21" name="AutoShape 21"/>
            <p:cNvSpPr/>
            <p:nvPr/>
          </p:nvSpPr>
          <p:spPr>
            <a:xfrm>
              <a:off x="713942" y="1899867"/>
              <a:ext cx="159042" cy="159042"/>
            </a:xfrm>
            <a:prstGeom prst="ellipse">
              <a:avLst/>
            </a:prstGeom>
            <a:solidFill>
              <a:srgbClr val="FFFFFF"/>
            </a:solidFill>
            <a:ln w="6350" cap="flat" cmpd="sng">
              <a:solidFill>
                <a:schemeClr val="accent1"/>
              </a:solidFill>
              <a:prstDash val="solid"/>
            </a:ln>
          </p:spPr>
          <p:txBody>
            <a:bodyPr vert="horz" lIns="91440" tIns="45720" rIns="91440" bIns="45720" anchor="ctr">
              <a:sp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010553" y="4486312"/>
            <a:ext cx="4787747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2000" b="1" i="0" u="none" baseline="0" dirty="0">
                <a:solidFill>
                  <a:schemeClr val="accent1"/>
                </a:solidFill>
                <a:latin typeface="思源黑体 CN Bold"/>
                <a:ea typeface="思源黑体 CN Bold"/>
              </a:rPr>
              <a:t>Swapping Mechanism</a:t>
            </a:r>
            <a:endParaRPr lang="en-US" sz="1400" b="1" dirty="0"/>
          </a:p>
        </p:txBody>
      </p:sp>
      <p:sp>
        <p:nvSpPr>
          <p:cNvPr id="23" name="TextBox 23"/>
          <p:cNvSpPr txBox="1"/>
          <p:nvPr/>
        </p:nvSpPr>
        <p:spPr>
          <a:xfrm>
            <a:off x="6629400" y="4963640"/>
            <a:ext cx="5168900" cy="15261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sz="1600" b="0" i="0" u="none" baseline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ransfers processes between main memory and disk storage</a:t>
            </a: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0" i="0" u="none" baseline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Ensuring that the CPU always has a process to execute.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xmlns="" id="{D604BEF6-0E16-58E1-A7B0-4707C08D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9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5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Multiprocessing Operating Systems</a:t>
            </a:r>
          </a:p>
        </p:txBody>
      </p:sp>
      <p:sp>
        <p:nvSpPr>
          <p:cNvPr id="3" name="AutoShape 3"/>
          <p:cNvSpPr/>
          <p:nvPr/>
        </p:nvSpPr>
        <p:spPr>
          <a:xfrm>
            <a:off x="152403" y="3878048"/>
            <a:ext cx="3485742" cy="18996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Coordinate tasks across processors in OS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Uses parallelism to enhance power and performance</a:t>
            </a:r>
            <a:endParaRPr lang="zh-CN" altLang="en-US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2400" y="3505060"/>
            <a:ext cx="348574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Definition and Functionality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271763" y="3934007"/>
            <a:ext cx="3485742" cy="1156855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lvl="1" algn="just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Memory sharing enables efficient communication, exchange</a:t>
            </a:r>
            <a:endParaRPr lang="zh-CN" altLang="en-US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87111" y="3530403"/>
            <a:ext cx="348574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Shared Memory Concept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305800" y="4023646"/>
            <a:ext cx="3485742" cy="189551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nhances system performance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nab</a:t>
            </a: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le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 faster processing times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mproved fault tolerance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62500" y="3530403"/>
            <a:ext cx="348574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Advantages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>
            <a:off x="4080942" y="4412769"/>
            <a:ext cx="0" cy="1721331"/>
          </a:xfrm>
          <a:prstGeom prst="line">
            <a:avLst/>
          </a:prstGeom>
          <a:ln w="3175" cap="rnd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10" name="Connector 10"/>
          <p:cNvCxnSpPr/>
          <p:nvPr/>
        </p:nvCxnSpPr>
        <p:spPr>
          <a:xfrm>
            <a:off x="8166256" y="4412769"/>
            <a:ext cx="0" cy="1721331"/>
          </a:xfrm>
          <a:prstGeom prst="line">
            <a:avLst/>
          </a:prstGeom>
          <a:ln w="3175" cap="rnd" cmpd="sng">
            <a:solidFill>
              <a:srgbClr val="FFFFFF">
                <a:lumMod val="85000"/>
              </a:srgbClr>
            </a:soli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799886" y="1293110"/>
            <a:ext cx="1906370" cy="1657385"/>
          </a:xfrm>
          <a:prstGeom prst="rect">
            <a:avLst/>
          </a:prstGeom>
          <a:blipFill>
            <a:blip r:embed="rId2" cstate="print"/>
            <a:srcRect/>
            <a:stretch>
              <a:fillRect l="-23540" r="-23310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4478" y="3092191"/>
            <a:ext cx="1906369" cy="403604"/>
          </a:xfrm>
          <a:prstGeom prst="roundRect">
            <a:avLst>
              <a:gd name="adj" fmla="val 50000"/>
            </a:avLst>
          </a:prstGeom>
          <a:solidFill>
            <a:srgbClr val="FFFFFF">
              <a:lumMod val="65000"/>
            </a:srgbClr>
          </a:solidFill>
          <a:ln w="28575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lnSpc>
                <a:spcPct val="108000"/>
              </a:lnSpc>
            </a:pPr>
            <a:r>
              <a:rPr lang="en-US" sz="12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876800" y="1349958"/>
            <a:ext cx="1781974" cy="1657385"/>
          </a:xfrm>
          <a:prstGeom prst="rect">
            <a:avLst/>
          </a:prstGeom>
          <a:blipFill>
            <a:blip r:embed="rId3" cstate="print"/>
            <a:srcRect/>
            <a:stretch>
              <a:fillRect l="-26480" r="-26221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876800" y="3126799"/>
            <a:ext cx="1906369" cy="4036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8575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lnSpc>
                <a:spcPct val="108000"/>
              </a:lnSpc>
            </a:pPr>
            <a:r>
              <a:rPr lang="en-US" sz="12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883887" y="1293110"/>
            <a:ext cx="1781974" cy="1714233"/>
          </a:xfrm>
          <a:prstGeom prst="rect">
            <a:avLst/>
          </a:prstGeom>
          <a:blipFill>
            <a:blip r:embed="rId4" cstate="print"/>
            <a:srcRect/>
            <a:stretch>
              <a:fillRect l="-26480" r="-26221"/>
            </a:stretch>
          </a:blip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21689" y="3126799"/>
            <a:ext cx="1906369" cy="403604"/>
          </a:xfrm>
          <a:prstGeom prst="roundRect">
            <a:avLst>
              <a:gd name="adj" fmla="val 50000"/>
            </a:avLst>
          </a:prstGeom>
          <a:solidFill>
            <a:srgbClr val="FFFFFF">
              <a:lumMod val="65000"/>
            </a:srgbClr>
          </a:solidFill>
          <a:ln w="28575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lnSpc>
                <a:spcPct val="108000"/>
              </a:lnSpc>
            </a:pPr>
            <a:r>
              <a:rPr lang="en-US" sz="12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xmlns="" id="{207EFDEE-4463-AD18-EEAC-3F2EEF9C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10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 System Views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7596673" y="4060758"/>
            <a:ext cx="3268133" cy="0"/>
          </a:xfrm>
          <a:prstGeom prst="line">
            <a:avLst/>
          </a:prstGeom>
          <a:ln w="101600" cap="flat" cmpd="sng">
            <a:solidFill>
              <a:schemeClr val="accent1"/>
            </a:solidFill>
            <a:prstDash val="solid"/>
          </a:ln>
        </p:spPr>
      </p:cxnSp>
      <p:cxnSp>
        <p:nvCxnSpPr>
          <p:cNvPr id="6" name="Connector 6"/>
          <p:cNvCxnSpPr/>
          <p:nvPr/>
        </p:nvCxnSpPr>
        <p:spPr>
          <a:xfrm>
            <a:off x="1828800" y="4031211"/>
            <a:ext cx="3268133" cy="0"/>
          </a:xfrm>
          <a:prstGeom prst="line">
            <a:avLst/>
          </a:prstGeom>
          <a:ln w="101600" cap="flat" cmpd="sng">
            <a:solidFill>
              <a:schemeClr val="accent1"/>
            </a:solidFill>
            <a:prstDash val="solid"/>
          </a:ln>
        </p:spPr>
      </p:cxnSp>
      <p:sp>
        <p:nvSpPr>
          <p:cNvPr id="7" name="TextBox 7"/>
          <p:cNvSpPr txBox="1"/>
          <p:nvPr/>
        </p:nvSpPr>
        <p:spPr>
          <a:xfrm>
            <a:off x="1072622" y="4239361"/>
            <a:ext cx="4152901" cy="341632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marL="0" algn="r">
              <a:lnSpc>
                <a:spcPct val="90000"/>
              </a:lnSpc>
              <a:defRPr/>
            </a:pPr>
            <a:r>
              <a:rPr lang="zh-CN" altLang="en-US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 Viewpoint</a:t>
            </a:r>
            <a:endParaRPr lang="en-US" sz="1200" dirty="0"/>
          </a:p>
        </p:txBody>
      </p:sp>
      <p:sp>
        <p:nvSpPr>
          <p:cNvPr id="8" name="TextBox 8"/>
          <p:cNvSpPr txBox="1"/>
          <p:nvPr/>
        </p:nvSpPr>
        <p:spPr>
          <a:xfrm>
            <a:off x="1052406" y="4831550"/>
            <a:ext cx="4489978" cy="781624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t">
            <a:spAutoFit/>
          </a:bodyPr>
          <a:lstStyle/>
          <a:p>
            <a:pPr marL="0" algn="just">
              <a:lnSpc>
                <a:spcPct val="130000"/>
              </a:lnSpc>
              <a:defRPr/>
            </a:pPr>
            <a:r>
              <a:rPr lang="en-US" b="0" i="0" u="none" baseline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Aims to maximize productivity by simplifying interactions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53200" y="4239361"/>
            <a:ext cx="4152901" cy="341632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marL="0" algn="r">
              <a:lnSpc>
                <a:spcPct val="90000"/>
              </a:lnSpc>
              <a:defRPr/>
            </a:pPr>
            <a:r>
              <a:rPr lang="zh-CN" altLang="en-US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System Viewpoint</a:t>
            </a:r>
            <a:endParaRPr lang="en-US" sz="1200" dirty="0"/>
          </a:p>
        </p:txBody>
      </p:sp>
      <p:sp>
        <p:nvSpPr>
          <p:cNvPr id="10" name="TextBox 10"/>
          <p:cNvSpPr txBox="1"/>
          <p:nvPr/>
        </p:nvSpPr>
        <p:spPr>
          <a:xfrm>
            <a:off x="6858000" y="4831550"/>
            <a:ext cx="4218248" cy="781624"/>
          </a:xfrm>
          <a:prstGeom prst="rect">
            <a:avLst/>
          </a:prstGeom>
          <a:noFill/>
        </p:spPr>
        <p:txBody>
          <a:bodyPr vert="horz" wrap="square" lIns="90000" tIns="45720" rIns="91440" bIns="45720" rtlCol="0" anchor="t">
            <a:spAutoFit/>
          </a:bodyPr>
          <a:lstStyle/>
          <a:p>
            <a:pPr marL="0" algn="just">
              <a:lnSpc>
                <a:spcPct val="13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+mn-ea"/>
              </a:rPr>
              <a:t>E</a:t>
            </a:r>
            <a:r>
              <a:rPr lang="en-US" b="0" i="0" u="none" baseline="0" dirty="0">
                <a:solidFill>
                  <a:srgbClr val="000000"/>
                </a:solidFill>
                <a:latin typeface="+mn-ea"/>
                <a:ea typeface="+mn-ea"/>
              </a:rPr>
              <a:t>mphasizes the OS's role as a resource manager and control program. </a:t>
            </a:r>
            <a:endParaRPr lang="en-US" sz="1400" dirty="0"/>
          </a:p>
        </p:txBody>
      </p:sp>
      <p:pic>
        <p:nvPicPr>
          <p:cNvPr id="11" name="image6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62" r="2762"/>
          <a:stretch/>
        </p:blipFill>
        <p:spPr>
          <a:xfrm>
            <a:off x="6774922" y="1635638"/>
            <a:ext cx="3061091" cy="2239712"/>
          </a:xfrm>
          <a:prstGeom prst="rect">
            <a:avLst/>
          </a:prstGeom>
        </p:spPr>
      </p:pic>
      <p:pic>
        <p:nvPicPr>
          <p:cNvPr id="12" name="image7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2475" b="12475"/>
          <a:stretch/>
        </p:blipFill>
        <p:spPr>
          <a:xfrm>
            <a:off x="1072623" y="1635638"/>
            <a:ext cx="3042178" cy="222587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xmlns="" id="{842C096B-FFDE-283A-D443-664D3B6F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11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 Systems Operations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9064752" y="1391364"/>
            <a:ext cx="3127248" cy="2530590"/>
          </a:xfrm>
          <a:prstGeom prst="rect">
            <a:avLst/>
          </a:prstGeom>
          <a:solidFill>
            <a:srgbClr val="FFFFFF">
              <a:lumMod val="9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8290" y="1391364"/>
            <a:ext cx="3127248" cy="2530590"/>
          </a:xfrm>
          <a:prstGeom prst="rect">
            <a:avLst/>
          </a:prstGeom>
          <a:solidFill>
            <a:srgbClr val="FFFFFF">
              <a:lumMod val="9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33400" y="4756781"/>
            <a:ext cx="5320368" cy="15261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 protect OS, Dual-mode operations exist: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User mode (1) and kernel mode (0)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Mode bit is added to the hardware.</a:t>
            </a:r>
          </a:p>
        </p:txBody>
      </p:sp>
      <p:grpSp>
        <p:nvGrpSpPr>
          <p:cNvPr id="7" name="Group 7"/>
          <p:cNvGrpSpPr/>
          <p:nvPr/>
        </p:nvGrpSpPr>
        <p:grpSpPr>
          <a:xfrm rot="10800000">
            <a:off x="1321564" y="2291533"/>
            <a:ext cx="520700" cy="520700"/>
            <a:chOff x="3683000" y="444500"/>
            <a:chExt cx="520700" cy="520700"/>
          </a:xfrm>
        </p:grpSpPr>
        <p:sp>
          <p:nvSpPr>
            <p:cNvPr id="8" name="AutoShape 8"/>
            <p:cNvSpPr/>
            <p:nvPr/>
          </p:nvSpPr>
          <p:spPr>
            <a:xfrm>
              <a:off x="3683000" y="444500"/>
              <a:ext cx="520700" cy="520700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 flipH="1">
              <a:off x="3812062" y="590550"/>
              <a:ext cx="262576" cy="228600"/>
            </a:xfrm>
            <a:prstGeom prst="rightArrow">
              <a:avLst/>
            </a:pr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0800000" flipH="1">
            <a:off x="10449132" y="2291533"/>
            <a:ext cx="520700" cy="520700"/>
            <a:chOff x="3683000" y="444500"/>
            <a:chExt cx="520700" cy="520700"/>
          </a:xfrm>
        </p:grpSpPr>
        <p:sp>
          <p:nvSpPr>
            <p:cNvPr id="11" name="AutoShape 11"/>
            <p:cNvSpPr/>
            <p:nvPr/>
          </p:nvSpPr>
          <p:spPr>
            <a:xfrm>
              <a:off x="3683000" y="444500"/>
              <a:ext cx="520700" cy="520700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 flipH="1">
              <a:off x="3812062" y="590550"/>
              <a:ext cx="262576" cy="228600"/>
            </a:xfrm>
            <a:prstGeom prst="rightArrow">
              <a:avLst/>
            </a:pr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2057400" y="4284618"/>
            <a:ext cx="3377396" cy="2857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Operations</a:t>
            </a:r>
            <a:endParaRPr lang="zh-CN" altLang="en-US" sz="16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290268" y="4829621"/>
            <a:ext cx="5548968" cy="42344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Programs use interrupts for services/errors.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553200" y="4284618"/>
            <a:ext cx="3377396" cy="28575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System Calls and Exceptions</a:t>
            </a: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xmlns="" id="{00366BAA-184C-01BA-EFC1-752246726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59675" y="1295401"/>
            <a:ext cx="6027738" cy="2626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xmlns="" id="{20259E9F-7511-37DF-69EE-8DD206A1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12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2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4241" y="-37210"/>
            <a:ext cx="12192003" cy="2769280"/>
          </a:xfrm>
          <a:custGeom>
            <a:avLst/>
            <a:gdLst/>
            <a:ahLst/>
            <a:cxnLst/>
            <a:rect l="l" t="t" r="r" b="b"/>
            <a:pathLst>
              <a:path w="6216319" h="1452543">
                <a:moveTo>
                  <a:pt x="0" y="10"/>
                </a:moveTo>
                <a:cubicBezTo>
                  <a:pt x="229007" y="-1920"/>
                  <a:pt x="473169" y="274373"/>
                  <a:pt x="574189" y="472133"/>
                </a:cubicBezTo>
                <a:cubicBezTo>
                  <a:pt x="784106" y="306783"/>
                  <a:pt x="876671" y="335710"/>
                  <a:pt x="1015951" y="496878"/>
                </a:cubicBezTo>
                <a:cubicBezTo>
                  <a:pt x="1169602" y="156200"/>
                  <a:pt x="1541775" y="268250"/>
                  <a:pt x="1732682" y="518355"/>
                </a:cubicBezTo>
                <a:cubicBezTo>
                  <a:pt x="1951423" y="389059"/>
                  <a:pt x="1995178" y="418617"/>
                  <a:pt x="2147475" y="630232"/>
                </a:cubicBezTo>
                <a:cubicBezTo>
                  <a:pt x="2240004" y="303227"/>
                  <a:pt x="2890265" y="229257"/>
                  <a:pt x="3043108" y="699950"/>
                </a:cubicBezTo>
                <a:cubicBezTo>
                  <a:pt x="3340461" y="644318"/>
                  <a:pt x="3395950" y="702404"/>
                  <a:pt x="3562786" y="940708"/>
                </a:cubicBezTo>
                <a:cubicBezTo>
                  <a:pt x="3973172" y="584855"/>
                  <a:pt x="4634636" y="975363"/>
                  <a:pt x="4684312" y="1306544"/>
                </a:cubicBezTo>
                <a:cubicBezTo>
                  <a:pt x="4775936" y="1140966"/>
                  <a:pt x="4979530" y="1164509"/>
                  <a:pt x="5092502" y="1338597"/>
                </a:cubicBezTo>
                <a:cubicBezTo>
                  <a:pt x="5153770" y="1141613"/>
                  <a:pt x="5525680" y="842973"/>
                  <a:pt x="5810403" y="1334427"/>
                </a:cubicBezTo>
                <a:cubicBezTo>
                  <a:pt x="5955954" y="1267516"/>
                  <a:pt x="6049313" y="1259859"/>
                  <a:pt x="6216319" y="1452543"/>
                </a:cubicBezTo>
                <a:lnTo>
                  <a:pt x="0" y="1452543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23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945256" y="3107"/>
            <a:ext cx="6216321" cy="1449603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4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flipH="1">
            <a:off x="5101781" y="5866985"/>
            <a:ext cx="7102293" cy="1014301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1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607256">
            <a:off x="156135" y="3450362"/>
            <a:ext cx="5587376" cy="3547626"/>
          </a:xfrm>
          <a:custGeom>
            <a:avLst/>
            <a:gdLst/>
            <a:ahLst/>
            <a:cxnLst/>
            <a:rect l="l" t="t" r="r" b="b"/>
            <a:pathLst>
              <a:path w="1296" h="439">
                <a:moveTo>
                  <a:pt x="0" y="421"/>
                </a:moveTo>
                <a:cubicBezTo>
                  <a:pt x="0" y="421"/>
                  <a:pt x="22" y="424"/>
                  <a:pt x="61" y="427"/>
                </a:cubicBezTo>
                <a:cubicBezTo>
                  <a:pt x="99" y="430"/>
                  <a:pt x="154" y="433"/>
                  <a:pt x="221" y="433"/>
                </a:cubicBezTo>
                <a:cubicBezTo>
                  <a:pt x="287" y="433"/>
                  <a:pt x="365" y="430"/>
                  <a:pt x="447" y="422"/>
                </a:cubicBezTo>
                <a:cubicBezTo>
                  <a:pt x="488" y="417"/>
                  <a:pt x="531" y="412"/>
                  <a:pt x="573" y="404"/>
                </a:cubicBezTo>
                <a:cubicBezTo>
                  <a:pt x="616" y="397"/>
                  <a:pt x="660" y="388"/>
                  <a:pt x="702" y="377"/>
                </a:cubicBezTo>
                <a:cubicBezTo>
                  <a:pt x="745" y="366"/>
                  <a:pt x="787" y="353"/>
                  <a:pt x="828" y="338"/>
                </a:cubicBezTo>
                <a:cubicBezTo>
                  <a:pt x="868" y="323"/>
                  <a:pt x="907" y="306"/>
                  <a:pt x="944" y="288"/>
                </a:cubicBezTo>
                <a:cubicBezTo>
                  <a:pt x="981" y="269"/>
                  <a:pt x="1015" y="249"/>
                  <a:pt x="1047" y="229"/>
                </a:cubicBezTo>
                <a:cubicBezTo>
                  <a:pt x="1078" y="208"/>
                  <a:pt x="1106" y="186"/>
                  <a:pt x="1131" y="165"/>
                </a:cubicBezTo>
                <a:cubicBezTo>
                  <a:pt x="1156" y="143"/>
                  <a:pt x="1177" y="122"/>
                  <a:pt x="1195" y="102"/>
                </a:cubicBezTo>
                <a:cubicBezTo>
                  <a:pt x="1204" y="93"/>
                  <a:pt x="1212" y="83"/>
                  <a:pt x="1219" y="74"/>
                </a:cubicBezTo>
                <a:cubicBezTo>
                  <a:pt x="1226" y="65"/>
                  <a:pt x="1233" y="57"/>
                  <a:pt x="1239" y="50"/>
                </a:cubicBezTo>
                <a:cubicBezTo>
                  <a:pt x="1244" y="42"/>
                  <a:pt x="1249" y="35"/>
                  <a:pt x="1253" y="29"/>
                </a:cubicBezTo>
                <a:cubicBezTo>
                  <a:pt x="1258" y="23"/>
                  <a:pt x="1261" y="18"/>
                  <a:pt x="1264" y="13"/>
                </a:cubicBezTo>
                <a:cubicBezTo>
                  <a:pt x="1270" y="5"/>
                  <a:pt x="1272" y="0"/>
                  <a:pt x="1272" y="0"/>
                </a:cubicBezTo>
                <a:cubicBezTo>
                  <a:pt x="1296" y="16"/>
                  <a:pt x="1296" y="16"/>
                  <a:pt x="1296" y="16"/>
                </a:cubicBezTo>
                <a:cubicBezTo>
                  <a:pt x="1296" y="16"/>
                  <a:pt x="1293" y="20"/>
                  <a:pt x="1287" y="29"/>
                </a:cubicBezTo>
                <a:cubicBezTo>
                  <a:pt x="1284" y="33"/>
                  <a:pt x="1280" y="39"/>
                  <a:pt x="1276" y="45"/>
                </a:cubicBezTo>
                <a:cubicBezTo>
                  <a:pt x="1271" y="51"/>
                  <a:pt x="1266" y="58"/>
                  <a:pt x="1260" y="66"/>
                </a:cubicBezTo>
                <a:cubicBezTo>
                  <a:pt x="1254" y="73"/>
                  <a:pt x="1247" y="82"/>
                  <a:pt x="1239" y="91"/>
                </a:cubicBezTo>
                <a:cubicBezTo>
                  <a:pt x="1231" y="100"/>
                  <a:pt x="1223" y="110"/>
                  <a:pt x="1213" y="120"/>
                </a:cubicBezTo>
                <a:cubicBezTo>
                  <a:pt x="1195" y="140"/>
                  <a:pt x="1172" y="161"/>
                  <a:pt x="1146" y="183"/>
                </a:cubicBezTo>
                <a:cubicBezTo>
                  <a:pt x="1120" y="204"/>
                  <a:pt x="1091" y="226"/>
                  <a:pt x="1058" y="247"/>
                </a:cubicBezTo>
                <a:cubicBezTo>
                  <a:pt x="1026" y="267"/>
                  <a:pt x="990" y="287"/>
                  <a:pt x="953" y="305"/>
                </a:cubicBezTo>
                <a:cubicBezTo>
                  <a:pt x="915" y="323"/>
                  <a:pt x="875" y="339"/>
                  <a:pt x="833" y="354"/>
                </a:cubicBezTo>
                <a:cubicBezTo>
                  <a:pt x="792" y="368"/>
                  <a:pt x="749" y="380"/>
                  <a:pt x="706" y="390"/>
                </a:cubicBezTo>
                <a:cubicBezTo>
                  <a:pt x="662" y="401"/>
                  <a:pt x="619" y="409"/>
                  <a:pt x="575" y="415"/>
                </a:cubicBezTo>
                <a:cubicBezTo>
                  <a:pt x="532" y="422"/>
                  <a:pt x="489" y="427"/>
                  <a:pt x="448" y="430"/>
                </a:cubicBezTo>
                <a:cubicBezTo>
                  <a:pt x="365" y="437"/>
                  <a:pt x="287" y="439"/>
                  <a:pt x="221" y="437"/>
                </a:cubicBezTo>
                <a:cubicBezTo>
                  <a:pt x="154" y="436"/>
                  <a:pt x="99" y="432"/>
                  <a:pt x="60" y="428"/>
                </a:cubicBezTo>
                <a:cubicBezTo>
                  <a:pt x="22" y="424"/>
                  <a:pt x="0" y="421"/>
                  <a:pt x="0" y="421"/>
                </a:cubicBezTo>
              </a:path>
            </a:pathLst>
          </a:custGeom>
          <a:solidFill>
            <a:srgbClr val="F0F0F0">
              <a:lumMod val="40000"/>
              <a:lumOff val="6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 rot="607256">
            <a:off x="4547995" y="3064064"/>
            <a:ext cx="1022062" cy="1104193"/>
          </a:xfrm>
          <a:custGeom>
            <a:avLst/>
            <a:gdLst/>
            <a:ahLst/>
            <a:cxnLst/>
            <a:rect l="l" t="t" r="r" b="b"/>
            <a:pathLst>
              <a:path w="95" h="102">
                <a:moveTo>
                  <a:pt x="95" y="26"/>
                </a:moveTo>
                <a:cubicBezTo>
                  <a:pt x="95" y="26"/>
                  <a:pt x="79" y="15"/>
                  <a:pt x="82" y="0"/>
                </a:cubicBezTo>
                <a:cubicBezTo>
                  <a:pt x="82" y="0"/>
                  <a:pt x="16" y="28"/>
                  <a:pt x="0" y="102"/>
                </a:cubicBezTo>
                <a:cubicBezTo>
                  <a:pt x="0" y="102"/>
                  <a:pt x="46" y="60"/>
                  <a:pt x="82" y="67"/>
                </a:cubicBezTo>
                <a:lnTo>
                  <a:pt x="95" y="26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 rot="607256">
            <a:off x="5799013" y="4211916"/>
            <a:ext cx="775673" cy="1231949"/>
          </a:xfrm>
          <a:custGeom>
            <a:avLst/>
            <a:gdLst/>
            <a:ahLst/>
            <a:cxnLst/>
            <a:rect l="l" t="t" r="r" b="b"/>
            <a:pathLst>
              <a:path w="72" h="114">
                <a:moveTo>
                  <a:pt x="44" y="0"/>
                </a:moveTo>
                <a:cubicBezTo>
                  <a:pt x="44" y="0"/>
                  <a:pt x="58" y="12"/>
                  <a:pt x="72" y="4"/>
                </a:cubicBezTo>
                <a:cubicBezTo>
                  <a:pt x="72" y="4"/>
                  <a:pt x="66" y="76"/>
                  <a:pt x="0" y="114"/>
                </a:cubicBezTo>
                <a:cubicBezTo>
                  <a:pt x="0" y="114"/>
                  <a:pt x="26" y="57"/>
                  <a:pt x="8" y="25"/>
                </a:cubicBezTo>
                <a:cubicBezTo>
                  <a:pt x="44" y="0"/>
                  <a:pt x="44" y="0"/>
                  <a:pt x="44" y="0"/>
                </a:cubicBezTo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 rot="607256">
            <a:off x="5433720" y="1958380"/>
            <a:ext cx="2094316" cy="2678352"/>
          </a:xfrm>
          <a:custGeom>
            <a:avLst/>
            <a:gdLst/>
            <a:ahLst/>
            <a:cxnLst/>
            <a:rect l="l" t="t" r="r" b="b"/>
            <a:pathLst>
              <a:path w="194" h="248">
                <a:moveTo>
                  <a:pt x="50" y="248"/>
                </a:moveTo>
                <a:cubicBezTo>
                  <a:pt x="80" y="233"/>
                  <a:pt x="106" y="213"/>
                  <a:pt x="140" y="167"/>
                </a:cubicBezTo>
                <a:cubicBezTo>
                  <a:pt x="194" y="92"/>
                  <a:pt x="193" y="0"/>
                  <a:pt x="193" y="0"/>
                </a:cubicBezTo>
                <a:cubicBezTo>
                  <a:pt x="193" y="0"/>
                  <a:pt x="105" y="27"/>
                  <a:pt x="50" y="101"/>
                </a:cubicBezTo>
                <a:cubicBezTo>
                  <a:pt x="17" y="148"/>
                  <a:pt x="6" y="179"/>
                  <a:pt x="0" y="212"/>
                </a:cubicBezTo>
                <a:cubicBezTo>
                  <a:pt x="50" y="248"/>
                  <a:pt x="50" y="248"/>
                  <a:pt x="50" y="248"/>
                </a:cubicBezTo>
              </a:path>
            </a:pathLst>
          </a:custGeom>
          <a:solidFill>
            <a:srgbClr val="FFFFFF">
              <a:lumMod val="9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 rot="607256">
            <a:off x="5257398" y="3949543"/>
            <a:ext cx="693542" cy="547534"/>
          </a:xfrm>
          <a:custGeom>
            <a:avLst/>
            <a:gdLst/>
            <a:ahLst/>
            <a:cxnLst/>
            <a:rect l="l" t="t" r="r" b="b"/>
            <a:pathLst>
              <a:path w="64" h="51">
                <a:moveTo>
                  <a:pt x="3" y="0"/>
                </a:moveTo>
                <a:cubicBezTo>
                  <a:pt x="2" y="5"/>
                  <a:pt x="1" y="10"/>
                  <a:pt x="0" y="15"/>
                </a:cubicBezTo>
                <a:cubicBezTo>
                  <a:pt x="50" y="51"/>
                  <a:pt x="50" y="51"/>
                  <a:pt x="50" y="51"/>
                </a:cubicBezTo>
                <a:cubicBezTo>
                  <a:pt x="55" y="49"/>
                  <a:pt x="59" y="46"/>
                  <a:pt x="64" y="44"/>
                </a:cubicBezTo>
                <a:cubicBezTo>
                  <a:pt x="3" y="0"/>
                  <a:pt x="3" y="0"/>
                  <a:pt x="3" y="0"/>
                </a:cubicBezTo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 rot="607256">
            <a:off x="6912721" y="2089348"/>
            <a:ext cx="766547" cy="839551"/>
          </a:xfrm>
          <a:custGeom>
            <a:avLst/>
            <a:gdLst/>
            <a:ahLst/>
            <a:cxnLst/>
            <a:rect l="l" t="t" r="r" b="b"/>
            <a:pathLst>
              <a:path w="71" h="78">
                <a:moveTo>
                  <a:pt x="59" y="78"/>
                </a:moveTo>
                <a:cubicBezTo>
                  <a:pt x="71" y="34"/>
                  <a:pt x="70" y="0"/>
                  <a:pt x="70" y="0"/>
                </a:cubicBezTo>
                <a:cubicBezTo>
                  <a:pt x="70" y="0"/>
                  <a:pt x="37" y="10"/>
                  <a:pt x="0" y="34"/>
                </a:cubicBezTo>
                <a:cubicBezTo>
                  <a:pt x="59" y="78"/>
                  <a:pt x="59" y="78"/>
                  <a:pt x="59" y="78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 rot="607256">
            <a:off x="5171507" y="3634782"/>
            <a:ext cx="866927" cy="1168071"/>
          </a:xfrm>
          <a:custGeom>
            <a:avLst/>
            <a:gdLst/>
            <a:ahLst/>
            <a:cxnLst/>
            <a:rect l="l" t="t" r="r" b="b"/>
            <a:pathLst>
              <a:path w="80" h="108">
                <a:moveTo>
                  <a:pt x="33" y="52"/>
                </a:moveTo>
                <a:cubicBezTo>
                  <a:pt x="12" y="81"/>
                  <a:pt x="0" y="108"/>
                  <a:pt x="0" y="108"/>
                </a:cubicBezTo>
                <a:cubicBezTo>
                  <a:pt x="0" y="108"/>
                  <a:pt x="22" y="88"/>
                  <a:pt x="43" y="59"/>
                </a:cubicBezTo>
                <a:cubicBezTo>
                  <a:pt x="65" y="30"/>
                  <a:pt x="80" y="4"/>
                  <a:pt x="77" y="2"/>
                </a:cubicBezTo>
                <a:cubicBezTo>
                  <a:pt x="74" y="0"/>
                  <a:pt x="55" y="22"/>
                  <a:pt x="33" y="52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 rot="607256">
            <a:off x="6435635" y="2779945"/>
            <a:ext cx="647914" cy="638789"/>
          </a:xfrm>
          <a:custGeom>
            <a:avLst/>
            <a:gdLst/>
            <a:ahLst/>
            <a:cxnLst/>
            <a:rect l="l" t="t" r="r" b="b"/>
            <a:pathLst>
              <a:path w="60" h="59">
                <a:moveTo>
                  <a:pt x="51" y="45"/>
                </a:moveTo>
                <a:cubicBezTo>
                  <a:pt x="43" y="57"/>
                  <a:pt x="26" y="59"/>
                  <a:pt x="15" y="51"/>
                </a:cubicBezTo>
                <a:cubicBezTo>
                  <a:pt x="3" y="42"/>
                  <a:pt x="0" y="26"/>
                  <a:pt x="9" y="14"/>
                </a:cubicBezTo>
                <a:cubicBezTo>
                  <a:pt x="17" y="2"/>
                  <a:pt x="34" y="0"/>
                  <a:pt x="45" y="8"/>
                </a:cubicBezTo>
                <a:cubicBezTo>
                  <a:pt x="57" y="17"/>
                  <a:pt x="60" y="33"/>
                  <a:pt x="51" y="45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 rot="607256">
            <a:off x="6522330" y="2866639"/>
            <a:ext cx="474529" cy="465403"/>
          </a:xfrm>
          <a:custGeom>
            <a:avLst/>
            <a:gdLst/>
            <a:ahLst/>
            <a:cxnLst/>
            <a:rect l="l" t="t" r="r" b="b"/>
            <a:pathLst>
              <a:path w="44" h="43">
                <a:moveTo>
                  <a:pt x="38" y="33"/>
                </a:moveTo>
                <a:cubicBezTo>
                  <a:pt x="31" y="41"/>
                  <a:pt x="19" y="43"/>
                  <a:pt x="11" y="37"/>
                </a:cubicBezTo>
                <a:cubicBezTo>
                  <a:pt x="2" y="31"/>
                  <a:pt x="0" y="19"/>
                  <a:pt x="6" y="10"/>
                </a:cubicBezTo>
                <a:cubicBezTo>
                  <a:pt x="13" y="2"/>
                  <a:pt x="25" y="0"/>
                  <a:pt x="33" y="6"/>
                </a:cubicBezTo>
                <a:cubicBezTo>
                  <a:pt x="42" y="12"/>
                  <a:pt x="44" y="24"/>
                  <a:pt x="38" y="33"/>
                </a:cubicBezTo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 rot="607256">
            <a:off x="5447521" y="4349603"/>
            <a:ext cx="301144" cy="282893"/>
          </a:xfrm>
          <a:custGeom>
            <a:avLst/>
            <a:gdLst/>
            <a:ahLst/>
            <a:cxnLst/>
            <a:rect l="l" t="t" r="r" b="b"/>
            <a:pathLst>
              <a:path w="28" h="26">
                <a:moveTo>
                  <a:pt x="8" y="0"/>
                </a:moveTo>
                <a:cubicBezTo>
                  <a:pt x="6" y="2"/>
                  <a:pt x="5" y="5"/>
                  <a:pt x="3" y="7"/>
                </a:cubicBezTo>
                <a:cubicBezTo>
                  <a:pt x="2" y="8"/>
                  <a:pt x="1" y="9"/>
                  <a:pt x="0" y="11"/>
                </a:cubicBezTo>
                <a:cubicBezTo>
                  <a:pt x="20" y="26"/>
                  <a:pt x="20" y="26"/>
                  <a:pt x="20" y="26"/>
                </a:cubicBezTo>
                <a:cubicBezTo>
                  <a:pt x="28" y="14"/>
                  <a:pt x="28" y="14"/>
                  <a:pt x="28" y="14"/>
                </a:cubicBezTo>
                <a:cubicBezTo>
                  <a:pt x="13" y="3"/>
                  <a:pt x="13" y="3"/>
                  <a:pt x="13" y="3"/>
                </a:cubicBezTo>
                <a:cubicBezTo>
                  <a:pt x="8" y="0"/>
                  <a:pt x="8" y="0"/>
                  <a:pt x="8" y="0"/>
                </a:cubicBezTo>
              </a:path>
            </a:pathLst>
          </a:cu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ctr">
            <a:normAutofit fontScale="850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 rot="607256">
            <a:off x="5545234" y="4357447"/>
            <a:ext cx="205324" cy="150572"/>
          </a:xfrm>
          <a:custGeom>
            <a:avLst/>
            <a:gdLst/>
            <a:ahLst/>
            <a:cxnLst/>
            <a:rect l="l" t="t" r="r" b="b"/>
            <a:pathLst>
              <a:path w="19" h="1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 rot="607256">
            <a:off x="5498920" y="4335164"/>
            <a:ext cx="54752" cy="77567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0"/>
                </a:moveTo>
                <a:cubicBezTo>
                  <a:pt x="3" y="2"/>
                  <a:pt x="2" y="5"/>
                  <a:pt x="0" y="7"/>
                </a:cubicBezTo>
                <a:cubicBezTo>
                  <a:pt x="2" y="5"/>
                  <a:pt x="3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AutoShape 21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3" name="AutoShape 23"/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4" name="AutoShape 24"/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/>
          <p:cNvSpPr/>
          <p:nvPr/>
        </p:nvSpPr>
        <p:spPr>
          <a:xfrm rot="607256">
            <a:off x="7736046" y="2170977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 rot="607256">
            <a:off x="7736483" y="21706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7" name="AutoShape 27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AutoShape 29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AutoShape 30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/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3" name="Freeform 33"/>
          <p:cNvSpPr/>
          <p:nvPr/>
        </p:nvSpPr>
        <p:spPr>
          <a:xfrm rot="607256">
            <a:off x="7006202" y="2169822"/>
            <a:ext cx="570347" cy="1742980"/>
          </a:xfrm>
          <a:custGeom>
            <a:avLst/>
            <a:gdLst/>
            <a:ahLst/>
            <a:cxnLst/>
            <a:rect l="l" t="t" r="r" b="b"/>
            <a:pathLst>
              <a:path w="53" h="161">
                <a:moveTo>
                  <a:pt x="0" y="161"/>
                </a:moveTo>
                <a:cubicBezTo>
                  <a:pt x="0" y="161"/>
                  <a:pt x="0" y="161"/>
                  <a:pt x="0" y="161"/>
                </a:cubicBezTo>
                <a:cubicBezTo>
                  <a:pt x="0" y="161"/>
                  <a:pt x="0" y="161"/>
                  <a:pt x="0" y="161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1" y="159"/>
                </a:moveTo>
                <a:cubicBezTo>
                  <a:pt x="1" y="159"/>
                  <a:pt x="1" y="159"/>
                  <a:pt x="1" y="159"/>
                </a:cubicBezTo>
                <a:cubicBezTo>
                  <a:pt x="1" y="159"/>
                  <a:pt x="1" y="159"/>
                  <a:pt x="1" y="159"/>
                </a:cubicBezTo>
                <a:moveTo>
                  <a:pt x="7" y="150"/>
                </a:moveTo>
                <a:cubicBezTo>
                  <a:pt x="7" y="150"/>
                  <a:pt x="7" y="150"/>
                  <a:pt x="7" y="150"/>
                </a:cubicBezTo>
                <a:cubicBezTo>
                  <a:pt x="7" y="150"/>
                  <a:pt x="7" y="150"/>
                  <a:pt x="7" y="150"/>
                </a:cubicBezTo>
                <a:moveTo>
                  <a:pt x="7" y="149"/>
                </a:moveTo>
                <a:cubicBezTo>
                  <a:pt x="7" y="149"/>
                  <a:pt x="7" y="149"/>
                  <a:pt x="7" y="149"/>
                </a:cubicBezTo>
                <a:cubicBezTo>
                  <a:pt x="7" y="149"/>
                  <a:pt x="7" y="149"/>
                  <a:pt x="7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8"/>
                </a:moveTo>
                <a:cubicBezTo>
                  <a:pt x="8" y="148"/>
                  <a:pt x="8" y="148"/>
                  <a:pt x="8" y="148"/>
                </a:cubicBezTo>
                <a:cubicBezTo>
                  <a:pt x="8" y="148"/>
                  <a:pt x="8" y="148"/>
                  <a:pt x="8" y="148"/>
                </a:cubicBezTo>
                <a:moveTo>
                  <a:pt x="53" y="0"/>
                </a:moveTo>
                <a:cubicBezTo>
                  <a:pt x="52" y="21"/>
                  <a:pt x="46" y="89"/>
                  <a:pt x="8" y="148"/>
                </a:cubicBezTo>
                <a:cubicBezTo>
                  <a:pt x="46" y="89"/>
                  <a:pt x="52" y="21"/>
                  <a:pt x="53" y="0"/>
                </a:cubicBezTo>
              </a:path>
            </a:pathLst>
          </a:custGeom>
          <a:solidFill>
            <a:srgbClr val="F1F1F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4" name="Freeform 34"/>
          <p:cNvSpPr/>
          <p:nvPr/>
        </p:nvSpPr>
        <p:spPr>
          <a:xfrm rot="607256">
            <a:off x="5853909" y="2026720"/>
            <a:ext cx="1665414" cy="2573407"/>
          </a:xfrm>
          <a:custGeom>
            <a:avLst/>
            <a:gdLst/>
            <a:ahLst/>
            <a:cxnLst/>
            <a:rect l="l" t="t" r="r" b="b"/>
            <a:pathLst>
              <a:path w="154" h="238">
                <a:moveTo>
                  <a:pt x="154" y="0"/>
                </a:moveTo>
                <a:cubicBezTo>
                  <a:pt x="154" y="2"/>
                  <a:pt x="154" y="5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3" y="14"/>
                  <a:pt x="153" y="20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7"/>
                  <a:pt x="152" y="27"/>
                </a:cubicBezTo>
                <a:cubicBezTo>
                  <a:pt x="152" y="27"/>
                  <a:pt x="152" y="28"/>
                  <a:pt x="152" y="28"/>
                </a:cubicBezTo>
                <a:cubicBezTo>
                  <a:pt x="152" y="28"/>
                  <a:pt x="152" y="28"/>
                  <a:pt x="152" y="28"/>
                </a:cubicBezTo>
                <a:cubicBezTo>
                  <a:pt x="150" y="40"/>
                  <a:pt x="148" y="56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4"/>
                </a:cubicBezTo>
                <a:cubicBezTo>
                  <a:pt x="143" y="74"/>
                  <a:pt x="143" y="74"/>
                  <a:pt x="143" y="75"/>
                </a:cubicBezTo>
                <a:cubicBezTo>
                  <a:pt x="143" y="75"/>
                  <a:pt x="143" y="75"/>
                  <a:pt x="143" y="75"/>
                </a:cubicBezTo>
                <a:cubicBezTo>
                  <a:pt x="113" y="53"/>
                  <a:pt x="113" y="53"/>
                  <a:pt x="113" y="53"/>
                </a:cubicBezTo>
                <a:cubicBezTo>
                  <a:pt x="95" y="77"/>
                  <a:pt x="95" y="77"/>
                  <a:pt x="95" y="77"/>
                </a:cubicBezTo>
                <a:cubicBezTo>
                  <a:pt x="102" y="82"/>
                  <a:pt x="106" y="90"/>
                  <a:pt x="106" y="98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06" y="104"/>
                  <a:pt x="105" y="109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101" y="114"/>
                  <a:pt x="101" y="114"/>
                  <a:pt x="101" y="114"/>
                </a:cubicBezTo>
                <a:cubicBezTo>
                  <a:pt x="96" y="121"/>
                  <a:pt x="88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75" y="125"/>
                  <a:pt x="69" y="123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65" y="120"/>
                  <a:pt x="65" y="120"/>
                  <a:pt x="65" y="120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0" y="167"/>
                  <a:pt x="30" y="167"/>
                  <a:pt x="30" y="167"/>
                </a:cubicBezTo>
                <a:cubicBezTo>
                  <a:pt x="31" y="169"/>
                  <a:pt x="27" y="177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89"/>
                  <a:pt x="20" y="189"/>
                </a:cubicBezTo>
                <a:cubicBezTo>
                  <a:pt x="20" y="189"/>
                  <a:pt x="20" y="190"/>
                  <a:pt x="20" y="190"/>
                </a:cubicBezTo>
                <a:cubicBezTo>
                  <a:pt x="20" y="190"/>
                  <a:pt x="20" y="190"/>
                  <a:pt x="20" y="190"/>
                </a:cubicBezTo>
                <a:cubicBezTo>
                  <a:pt x="17" y="195"/>
                  <a:pt x="13" y="200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9" y="206"/>
                  <a:pt x="9" y="206"/>
                  <a:pt x="9" y="206"/>
                </a:cubicBezTo>
                <a:cubicBezTo>
                  <a:pt x="6" y="210"/>
                  <a:pt x="3" y="215"/>
                  <a:pt x="0" y="219"/>
                </a:cubicBezTo>
                <a:cubicBezTo>
                  <a:pt x="25" y="238"/>
                  <a:pt x="25" y="238"/>
                  <a:pt x="25" y="238"/>
                </a:cubicBezTo>
                <a:cubicBezTo>
                  <a:pt x="26" y="237"/>
                  <a:pt x="28" y="236"/>
                  <a:pt x="29" y="235"/>
                </a:cubicBezTo>
                <a:cubicBezTo>
                  <a:pt x="41" y="228"/>
                  <a:pt x="52" y="219"/>
                  <a:pt x="64" y="208"/>
                </a:cubicBezTo>
                <a:cubicBezTo>
                  <a:pt x="75" y="197"/>
                  <a:pt x="87" y="183"/>
                  <a:pt x="101" y="165"/>
                </a:cubicBezTo>
                <a:cubicBezTo>
                  <a:pt x="101" y="165"/>
                  <a:pt x="101" y="165"/>
                  <a:pt x="101" y="165"/>
                </a:cubicBezTo>
                <a:cubicBezTo>
                  <a:pt x="101" y="165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4"/>
                  <a:pt x="101" y="164"/>
                  <a:pt x="101" y="164"/>
                </a:cubicBezTo>
                <a:cubicBezTo>
                  <a:pt x="101" y="163"/>
                  <a:pt x="101" y="163"/>
                  <a:pt x="102" y="163"/>
                </a:cubicBezTo>
                <a:cubicBezTo>
                  <a:pt x="102" y="163"/>
                  <a:pt x="102" y="163"/>
                  <a:pt x="102" y="163"/>
                </a:cubicBezTo>
                <a:cubicBezTo>
                  <a:pt x="104" y="160"/>
                  <a:pt x="106" y="157"/>
                  <a:pt x="108" y="154"/>
                </a:cubicBezTo>
                <a:cubicBezTo>
                  <a:pt x="108" y="154"/>
                  <a:pt x="108" y="154"/>
                  <a:pt x="108" y="154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8" y="153"/>
                  <a:pt x="108" y="153"/>
                  <a:pt x="108" y="153"/>
                </a:cubicBezTo>
                <a:cubicBezTo>
                  <a:pt x="108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9" y="153"/>
                  <a:pt x="109" y="152"/>
                  <a:pt x="109" y="152"/>
                </a:cubicBezTo>
                <a:cubicBezTo>
                  <a:pt x="109" y="152"/>
                  <a:pt x="109" y="152"/>
                  <a:pt x="109" y="152"/>
                </a:cubicBezTo>
                <a:cubicBezTo>
                  <a:pt x="109" y="152"/>
                  <a:pt x="109" y="152"/>
                  <a:pt x="109" y="152"/>
                </a:cubicBezTo>
                <a:cubicBezTo>
                  <a:pt x="147" y="93"/>
                  <a:pt x="153" y="25"/>
                  <a:pt x="154" y="4"/>
                </a:cubicBezTo>
                <a:cubicBezTo>
                  <a:pt x="154" y="2"/>
                  <a:pt x="154" y="1"/>
                  <a:pt x="154" y="0"/>
                </a:cubicBezTo>
              </a:path>
            </a:pathLst>
          </a:custGeom>
          <a:solidFill>
            <a:srgbClr val="FFFFFF">
              <a:lumMod val="8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5" name="Freeform 35"/>
          <p:cNvSpPr/>
          <p:nvPr/>
        </p:nvSpPr>
        <p:spPr>
          <a:xfrm rot="607256">
            <a:off x="7535385" y="2271437"/>
            <a:ext cx="118633" cy="711794"/>
          </a:xfrm>
          <a:custGeom>
            <a:avLst/>
            <a:gdLst/>
            <a:ahLst/>
            <a:cxnLst/>
            <a:rect l="l" t="t" r="r" b="b"/>
            <a:pathLst>
              <a:path w="11" h="66">
                <a:moveTo>
                  <a:pt x="0" y="65"/>
                </a:move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9" y="19"/>
                </a:move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9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11" y="0"/>
                </a:moveTo>
                <a:cubicBezTo>
                  <a:pt x="10" y="5"/>
                  <a:pt x="10" y="11"/>
                  <a:pt x="9" y="18"/>
                </a:cubicBezTo>
                <a:cubicBezTo>
                  <a:pt x="10" y="11"/>
                  <a:pt x="10" y="5"/>
                  <a:pt x="11" y="0"/>
                </a:cubicBezTo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6" name="Freeform 36"/>
          <p:cNvSpPr/>
          <p:nvPr/>
        </p:nvSpPr>
        <p:spPr>
          <a:xfrm rot="607256">
            <a:off x="5835657" y="3713175"/>
            <a:ext cx="223576" cy="419777"/>
          </a:xfrm>
          <a:custGeom>
            <a:avLst/>
            <a:gdLst/>
            <a:ahLst/>
            <a:cxnLst/>
            <a:rect l="l" t="t" r="r" b="b"/>
            <a:pathLst>
              <a:path w="21" h="39"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11" y="23"/>
                </a:moveTo>
                <a:cubicBezTo>
                  <a:pt x="8" y="28"/>
                  <a:pt x="4" y="33"/>
                  <a:pt x="0" y="39"/>
                </a:cubicBezTo>
                <a:cubicBezTo>
                  <a:pt x="4" y="33"/>
                  <a:pt x="8" y="28"/>
                  <a:pt x="11" y="23"/>
                </a:cubicBezTo>
                <a:moveTo>
                  <a:pt x="11" y="22"/>
                </a:move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</a:path>
            </a:pathLst>
          </a:custGeom>
          <a:solidFill>
            <a:srgbClr val="005F93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/>
          <p:cNvSpPr/>
          <p:nvPr/>
        </p:nvSpPr>
        <p:spPr>
          <a:xfrm rot="607256">
            <a:off x="5744611" y="4527695"/>
            <a:ext cx="13688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 rot="607256">
            <a:off x="5746920" y="4501616"/>
            <a:ext cx="77567" cy="31939"/>
          </a:xfrm>
          <a:custGeom>
            <a:avLst/>
            <a:gdLst/>
            <a:ahLst/>
            <a:cxnLst/>
            <a:rect l="l" t="t" r="r" b="b"/>
            <a:pathLst>
              <a:path w="7" h="3">
                <a:moveTo>
                  <a:pt x="7" y="0"/>
                </a:moveTo>
                <a:cubicBezTo>
                  <a:pt x="5" y="1"/>
                  <a:pt x="2" y="2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3" y="2"/>
                  <a:pt x="5" y="1"/>
                  <a:pt x="7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 rot="607256">
            <a:off x="5895881" y="4480612"/>
            <a:ext cx="13688" cy="9126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 rot="607256">
            <a:off x="5886131" y="4487662"/>
            <a:ext cx="9126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 rot="607256">
            <a:off x="5829070" y="4481801"/>
            <a:ext cx="54752" cy="31939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5" y="0"/>
                </a:moveTo>
                <a:cubicBezTo>
                  <a:pt x="3" y="1"/>
                  <a:pt x="2" y="2"/>
                  <a:pt x="0" y="3"/>
                </a:cubicBezTo>
                <a:cubicBezTo>
                  <a:pt x="2" y="2"/>
                  <a:pt x="3" y="1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A0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3" name="Freeform 43"/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0" y="56"/>
                  <a:pt x="0" y="56"/>
                  <a:pt x="0" y="56"/>
                </a:cubicBezTo>
                <a:moveTo>
                  <a:pt x="39" y="31"/>
                </a:moveTo>
                <a:cubicBezTo>
                  <a:pt x="37" y="43"/>
                  <a:pt x="35" y="59"/>
                  <a:pt x="30" y="77"/>
                </a:cubicBezTo>
                <a:cubicBezTo>
                  <a:pt x="35" y="59"/>
                  <a:pt x="37" y="43"/>
                  <a:pt x="39" y="31"/>
                </a:cubicBezTo>
                <a:moveTo>
                  <a:pt x="39" y="30"/>
                </a:moveTo>
                <a:cubicBezTo>
                  <a:pt x="39" y="30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41" y="12"/>
                </a:move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moveTo>
                  <a:pt x="41" y="2"/>
                </a:moveTo>
                <a:cubicBezTo>
                  <a:pt x="41" y="4"/>
                  <a:pt x="41" y="7"/>
                  <a:pt x="41" y="12"/>
                </a:cubicBezTo>
                <a:cubicBezTo>
                  <a:pt x="41" y="8"/>
                  <a:pt x="41" y="5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2"/>
                  <a:pt x="41" y="2"/>
                </a:cubicBezTo>
                <a:moveTo>
                  <a:pt x="41" y="0"/>
                </a:moveTo>
                <a:cubicBezTo>
                  <a:pt x="41" y="0"/>
                  <a:pt x="41" y="0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4" name="Freeform 44"/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cubicBezTo>
                  <a:pt x="35" y="59"/>
                  <a:pt x="37" y="43"/>
                  <a:pt x="39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cubicBezTo>
                  <a:pt x="40" y="23"/>
                  <a:pt x="40" y="17"/>
                  <a:pt x="4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1" y="7"/>
                  <a:pt x="41" y="4"/>
                  <a:pt x="41" y="2"/>
                </a:cubicBezTo>
                <a:cubicBezTo>
                  <a:pt x="41" y="2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1"/>
                  <a:pt x="41" y="1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5" name="Freeform 45"/>
          <p:cNvSpPr/>
          <p:nvPr/>
        </p:nvSpPr>
        <p:spPr>
          <a:xfrm rot="607256">
            <a:off x="6554746" y="3270225"/>
            <a:ext cx="392398" cy="118633"/>
          </a:xfrm>
          <a:custGeom>
            <a:avLst/>
            <a:gdLst/>
            <a:ahLst/>
            <a:cxnLst/>
            <a:rect l="l" t="t" r="r" b="b"/>
            <a:pathLst>
              <a:path w="36" h="11">
                <a:moveTo>
                  <a:pt x="15" y="11"/>
                </a:move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36" y="0"/>
                </a:moveTo>
                <a:cubicBezTo>
                  <a:pt x="31" y="7"/>
                  <a:pt x="23" y="11"/>
                  <a:pt x="15" y="11"/>
                </a:cubicBezTo>
                <a:cubicBezTo>
                  <a:pt x="23" y="11"/>
                  <a:pt x="31" y="7"/>
                  <a:pt x="36" y="0"/>
                </a:cubicBezTo>
                <a:moveTo>
                  <a:pt x="36" y="0"/>
                </a:move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6" name="Freeform 46"/>
          <p:cNvSpPr/>
          <p:nvPr/>
        </p:nvSpPr>
        <p:spPr>
          <a:xfrm rot="607256">
            <a:off x="6589635" y="2876235"/>
            <a:ext cx="442590" cy="520157"/>
          </a:xfrm>
          <a:custGeom>
            <a:avLst/>
            <a:gdLst/>
            <a:ahLst/>
            <a:cxnLst/>
            <a:rect l="l" t="t" r="r" b="b"/>
            <a:pathLst>
              <a:path w="41" h="48">
                <a:moveTo>
                  <a:pt x="30" y="0"/>
                </a:moveTo>
                <a:cubicBezTo>
                  <a:pt x="26" y="6"/>
                  <a:pt x="26" y="6"/>
                  <a:pt x="26" y="6"/>
                </a:cubicBezTo>
                <a:cubicBezTo>
                  <a:pt x="32" y="10"/>
                  <a:pt x="34" y="16"/>
                  <a:pt x="34" y="21"/>
                </a:cubicBezTo>
                <a:cubicBezTo>
                  <a:pt x="34" y="25"/>
                  <a:pt x="33" y="29"/>
                  <a:pt x="31" y="33"/>
                </a:cubicBezTo>
                <a:cubicBezTo>
                  <a:pt x="27" y="38"/>
                  <a:pt x="21" y="41"/>
                  <a:pt x="15" y="41"/>
                </a:cubicBezTo>
                <a:cubicBezTo>
                  <a:pt x="11" y="41"/>
                  <a:pt x="7" y="40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4" y="46"/>
                  <a:pt x="10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15" y="48"/>
                  <a:pt x="15" y="48"/>
                  <a:pt x="15" y="48"/>
                </a:cubicBezTo>
                <a:cubicBezTo>
                  <a:pt x="23" y="48"/>
                  <a:pt x="31" y="44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40" y="32"/>
                  <a:pt x="41" y="27"/>
                  <a:pt x="41" y="21"/>
                </a:cubicBezTo>
                <a:cubicBezTo>
                  <a:pt x="41" y="13"/>
                  <a:pt x="37" y="5"/>
                  <a:pt x="30" y="0"/>
                </a:cubicBezTo>
                <a:cubicBezTo>
                  <a:pt x="30" y="0"/>
                  <a:pt x="30" y="0"/>
                  <a:pt x="30" y="0"/>
                </a:cubicBezTo>
              </a:path>
            </a:pathLst>
          </a:custGeom>
          <a:solidFill>
            <a:srgbClr val="FFFFFF">
              <a:lumMod val="75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673099" y="3631909"/>
            <a:ext cx="3493961" cy="22689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微软雅黑"/>
                <a:ea typeface="微软雅黑"/>
              </a:rPr>
              <a:t>U</a:t>
            </a: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ser mode</a:t>
            </a: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A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pplications operate with limited privileges</a:t>
            </a:r>
            <a:endParaRPr lang="en-US" altLang="zh-CN" sz="1600" b="0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K</a:t>
            </a: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ernel mode</a:t>
            </a:r>
            <a:r>
              <a:rPr lang="en-US" altLang="zh-CN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O</a:t>
            </a:r>
            <a:r>
              <a:rPr lang="zh-CN" altLang="en-US" sz="1600" b="0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ffers full access to system resources.</a:t>
            </a:r>
            <a:endParaRPr lang="en-US" sz="1200" dirty="0"/>
          </a:p>
        </p:txBody>
      </p:sp>
      <p:sp>
        <p:nvSpPr>
          <p:cNvPr id="48" name="AutoShape 48"/>
          <p:cNvSpPr/>
          <p:nvPr/>
        </p:nvSpPr>
        <p:spPr>
          <a:xfrm>
            <a:off x="673099" y="3008968"/>
            <a:ext cx="3493961" cy="420032"/>
          </a:xfrm>
          <a:prstGeom prst="rect">
            <a:avLst/>
          </a:prstGeom>
          <a:solidFill>
            <a:srgbClr val="FFFFFF">
              <a:lumMod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l">
              <a:spcBef>
                <a:spcPct val="0"/>
              </a:spcBef>
            </a:pPr>
            <a:r>
              <a:rPr lang="zh-CN" altLang="en-US" sz="16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User Mode vs. Kernel Mode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24939" y="2161289"/>
            <a:ext cx="3493961" cy="18955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Switching to kernel mode happens during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System calls or interrupts, enabling tasks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8024939" y="1538348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l">
              <a:spcBef>
                <a:spcPct val="0"/>
              </a:spcBef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Transition Mechanism</a:t>
            </a:r>
          </a:p>
        </p:txBody>
      </p:sp>
      <p:sp>
        <p:nvSpPr>
          <p:cNvPr id="53" name="AutoShape 53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Dual-Mode Operation</a:t>
            </a: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xmlns="" id="{0E21EEFE-028A-6E37-32AC-73281464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13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75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EAED21-7E10-DD61-1F0B-30E56972F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70FCD33E-C758-0642-ECDB-1C710E9D5847}"/>
              </a:ext>
            </a:extLst>
          </p:cNvPr>
          <p:cNvSpPr/>
          <p:nvPr/>
        </p:nvSpPr>
        <p:spPr>
          <a:xfrm flipV="1">
            <a:off x="-34241" y="-37210"/>
            <a:ext cx="12192003" cy="2769280"/>
          </a:xfrm>
          <a:custGeom>
            <a:avLst/>
            <a:gdLst/>
            <a:ahLst/>
            <a:cxnLst/>
            <a:rect l="l" t="t" r="r" b="b"/>
            <a:pathLst>
              <a:path w="6216319" h="1452543">
                <a:moveTo>
                  <a:pt x="0" y="10"/>
                </a:moveTo>
                <a:cubicBezTo>
                  <a:pt x="229007" y="-1920"/>
                  <a:pt x="473169" y="274373"/>
                  <a:pt x="574189" y="472133"/>
                </a:cubicBezTo>
                <a:cubicBezTo>
                  <a:pt x="784106" y="306783"/>
                  <a:pt x="876671" y="335710"/>
                  <a:pt x="1015951" y="496878"/>
                </a:cubicBezTo>
                <a:cubicBezTo>
                  <a:pt x="1169602" y="156200"/>
                  <a:pt x="1541775" y="268250"/>
                  <a:pt x="1732682" y="518355"/>
                </a:cubicBezTo>
                <a:cubicBezTo>
                  <a:pt x="1951423" y="389059"/>
                  <a:pt x="1995178" y="418617"/>
                  <a:pt x="2147475" y="630232"/>
                </a:cubicBezTo>
                <a:cubicBezTo>
                  <a:pt x="2240004" y="303227"/>
                  <a:pt x="2890265" y="229257"/>
                  <a:pt x="3043108" y="699950"/>
                </a:cubicBezTo>
                <a:cubicBezTo>
                  <a:pt x="3340461" y="644318"/>
                  <a:pt x="3395950" y="702404"/>
                  <a:pt x="3562786" y="940708"/>
                </a:cubicBezTo>
                <a:cubicBezTo>
                  <a:pt x="3973172" y="584855"/>
                  <a:pt x="4634636" y="975363"/>
                  <a:pt x="4684312" y="1306544"/>
                </a:cubicBezTo>
                <a:cubicBezTo>
                  <a:pt x="4775936" y="1140966"/>
                  <a:pt x="4979530" y="1164509"/>
                  <a:pt x="5092502" y="1338597"/>
                </a:cubicBezTo>
                <a:cubicBezTo>
                  <a:pt x="5153770" y="1141613"/>
                  <a:pt x="5525680" y="842973"/>
                  <a:pt x="5810403" y="1334427"/>
                </a:cubicBezTo>
                <a:cubicBezTo>
                  <a:pt x="5955954" y="1267516"/>
                  <a:pt x="6049313" y="1259859"/>
                  <a:pt x="6216319" y="1452543"/>
                </a:cubicBezTo>
                <a:lnTo>
                  <a:pt x="0" y="1452543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23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41498F78-0896-9534-3E8A-1350886B83EC}"/>
              </a:ext>
            </a:extLst>
          </p:cNvPr>
          <p:cNvSpPr/>
          <p:nvPr/>
        </p:nvSpPr>
        <p:spPr>
          <a:xfrm flipH="1" flipV="1">
            <a:off x="5945256" y="3107"/>
            <a:ext cx="6216321" cy="1449603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45000"/>
              <a:lumMod val="8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2969A45B-15B3-E95D-CBF4-A6C3261CF946}"/>
              </a:ext>
            </a:extLst>
          </p:cNvPr>
          <p:cNvSpPr/>
          <p:nvPr/>
        </p:nvSpPr>
        <p:spPr>
          <a:xfrm flipH="1">
            <a:off x="5101781" y="5866985"/>
            <a:ext cx="7102293" cy="1014301"/>
          </a:xfrm>
          <a:custGeom>
            <a:avLst/>
            <a:gdLst/>
            <a:ahLst/>
            <a:cxnLst/>
            <a:rect l="l" t="t" r="r" b="b"/>
            <a:pathLst>
              <a:path w="6216319" h="1449603">
                <a:moveTo>
                  <a:pt x="0" y="147399"/>
                </a:moveTo>
                <a:cubicBezTo>
                  <a:pt x="229007" y="145469"/>
                  <a:pt x="222661" y="142579"/>
                  <a:pt x="323681" y="340339"/>
                </a:cubicBezTo>
                <a:cubicBezTo>
                  <a:pt x="1138279" y="-367925"/>
                  <a:pt x="1885444" y="174450"/>
                  <a:pt x="2265770" y="655926"/>
                </a:cubicBezTo>
                <a:cubicBezTo>
                  <a:pt x="2462677" y="479250"/>
                  <a:pt x="2932015" y="355171"/>
                  <a:pt x="3244906" y="639742"/>
                </a:cubicBezTo>
                <a:cubicBezTo>
                  <a:pt x="3517337" y="171753"/>
                  <a:pt x="4733841" y="449580"/>
                  <a:pt x="4628644" y="1181909"/>
                </a:cubicBezTo>
                <a:cubicBezTo>
                  <a:pt x="4984694" y="1080758"/>
                  <a:pt x="5181328" y="1161569"/>
                  <a:pt x="5356927" y="1335657"/>
                </a:cubicBezTo>
                <a:cubicBezTo>
                  <a:pt x="5451606" y="1194156"/>
                  <a:pt x="6105728" y="1026010"/>
                  <a:pt x="6216319" y="1449603"/>
                </a:cubicBezTo>
                <a:lnTo>
                  <a:pt x="0" y="1449603"/>
                </a:lnTo>
                <a:lnTo>
                  <a:pt x="0" y="147399"/>
                </a:lnTo>
                <a:close/>
              </a:path>
            </a:pathLst>
          </a:custGeom>
          <a:solidFill>
            <a:srgbClr val="FFFFFF">
              <a:alpha val="10000"/>
              <a:lumMod val="7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5651BDB1-2C68-7104-E726-4293E67D8249}"/>
              </a:ext>
            </a:extLst>
          </p:cNvPr>
          <p:cNvSpPr/>
          <p:nvPr/>
        </p:nvSpPr>
        <p:spPr>
          <a:xfrm rot="607256">
            <a:off x="156135" y="3450362"/>
            <a:ext cx="5587376" cy="3547626"/>
          </a:xfrm>
          <a:custGeom>
            <a:avLst/>
            <a:gdLst/>
            <a:ahLst/>
            <a:cxnLst/>
            <a:rect l="l" t="t" r="r" b="b"/>
            <a:pathLst>
              <a:path w="1296" h="439">
                <a:moveTo>
                  <a:pt x="0" y="421"/>
                </a:moveTo>
                <a:cubicBezTo>
                  <a:pt x="0" y="421"/>
                  <a:pt x="22" y="424"/>
                  <a:pt x="61" y="427"/>
                </a:cubicBezTo>
                <a:cubicBezTo>
                  <a:pt x="99" y="430"/>
                  <a:pt x="154" y="433"/>
                  <a:pt x="221" y="433"/>
                </a:cubicBezTo>
                <a:cubicBezTo>
                  <a:pt x="287" y="433"/>
                  <a:pt x="365" y="430"/>
                  <a:pt x="447" y="422"/>
                </a:cubicBezTo>
                <a:cubicBezTo>
                  <a:pt x="488" y="417"/>
                  <a:pt x="531" y="412"/>
                  <a:pt x="573" y="404"/>
                </a:cubicBezTo>
                <a:cubicBezTo>
                  <a:pt x="616" y="397"/>
                  <a:pt x="660" y="388"/>
                  <a:pt x="702" y="377"/>
                </a:cubicBezTo>
                <a:cubicBezTo>
                  <a:pt x="745" y="366"/>
                  <a:pt x="787" y="353"/>
                  <a:pt x="828" y="338"/>
                </a:cubicBezTo>
                <a:cubicBezTo>
                  <a:pt x="868" y="323"/>
                  <a:pt x="907" y="306"/>
                  <a:pt x="944" y="288"/>
                </a:cubicBezTo>
                <a:cubicBezTo>
                  <a:pt x="981" y="269"/>
                  <a:pt x="1015" y="249"/>
                  <a:pt x="1047" y="229"/>
                </a:cubicBezTo>
                <a:cubicBezTo>
                  <a:pt x="1078" y="208"/>
                  <a:pt x="1106" y="186"/>
                  <a:pt x="1131" y="165"/>
                </a:cubicBezTo>
                <a:cubicBezTo>
                  <a:pt x="1156" y="143"/>
                  <a:pt x="1177" y="122"/>
                  <a:pt x="1195" y="102"/>
                </a:cubicBezTo>
                <a:cubicBezTo>
                  <a:pt x="1204" y="93"/>
                  <a:pt x="1212" y="83"/>
                  <a:pt x="1219" y="74"/>
                </a:cubicBezTo>
                <a:cubicBezTo>
                  <a:pt x="1226" y="65"/>
                  <a:pt x="1233" y="57"/>
                  <a:pt x="1239" y="50"/>
                </a:cubicBezTo>
                <a:cubicBezTo>
                  <a:pt x="1244" y="42"/>
                  <a:pt x="1249" y="35"/>
                  <a:pt x="1253" y="29"/>
                </a:cubicBezTo>
                <a:cubicBezTo>
                  <a:pt x="1258" y="23"/>
                  <a:pt x="1261" y="18"/>
                  <a:pt x="1264" y="13"/>
                </a:cubicBezTo>
                <a:cubicBezTo>
                  <a:pt x="1270" y="5"/>
                  <a:pt x="1272" y="0"/>
                  <a:pt x="1272" y="0"/>
                </a:cubicBezTo>
                <a:cubicBezTo>
                  <a:pt x="1296" y="16"/>
                  <a:pt x="1296" y="16"/>
                  <a:pt x="1296" y="16"/>
                </a:cubicBezTo>
                <a:cubicBezTo>
                  <a:pt x="1296" y="16"/>
                  <a:pt x="1293" y="20"/>
                  <a:pt x="1287" y="29"/>
                </a:cubicBezTo>
                <a:cubicBezTo>
                  <a:pt x="1284" y="33"/>
                  <a:pt x="1280" y="39"/>
                  <a:pt x="1276" y="45"/>
                </a:cubicBezTo>
                <a:cubicBezTo>
                  <a:pt x="1271" y="51"/>
                  <a:pt x="1266" y="58"/>
                  <a:pt x="1260" y="66"/>
                </a:cubicBezTo>
                <a:cubicBezTo>
                  <a:pt x="1254" y="73"/>
                  <a:pt x="1247" y="82"/>
                  <a:pt x="1239" y="91"/>
                </a:cubicBezTo>
                <a:cubicBezTo>
                  <a:pt x="1231" y="100"/>
                  <a:pt x="1223" y="110"/>
                  <a:pt x="1213" y="120"/>
                </a:cubicBezTo>
                <a:cubicBezTo>
                  <a:pt x="1195" y="140"/>
                  <a:pt x="1172" y="161"/>
                  <a:pt x="1146" y="183"/>
                </a:cubicBezTo>
                <a:cubicBezTo>
                  <a:pt x="1120" y="204"/>
                  <a:pt x="1091" y="226"/>
                  <a:pt x="1058" y="247"/>
                </a:cubicBezTo>
                <a:cubicBezTo>
                  <a:pt x="1026" y="267"/>
                  <a:pt x="990" y="287"/>
                  <a:pt x="953" y="305"/>
                </a:cubicBezTo>
                <a:cubicBezTo>
                  <a:pt x="915" y="323"/>
                  <a:pt x="875" y="339"/>
                  <a:pt x="833" y="354"/>
                </a:cubicBezTo>
                <a:cubicBezTo>
                  <a:pt x="792" y="368"/>
                  <a:pt x="749" y="380"/>
                  <a:pt x="706" y="390"/>
                </a:cubicBezTo>
                <a:cubicBezTo>
                  <a:pt x="662" y="401"/>
                  <a:pt x="619" y="409"/>
                  <a:pt x="575" y="415"/>
                </a:cubicBezTo>
                <a:cubicBezTo>
                  <a:pt x="532" y="422"/>
                  <a:pt x="489" y="427"/>
                  <a:pt x="448" y="430"/>
                </a:cubicBezTo>
                <a:cubicBezTo>
                  <a:pt x="365" y="437"/>
                  <a:pt x="287" y="439"/>
                  <a:pt x="221" y="437"/>
                </a:cubicBezTo>
                <a:cubicBezTo>
                  <a:pt x="154" y="436"/>
                  <a:pt x="99" y="432"/>
                  <a:pt x="60" y="428"/>
                </a:cubicBezTo>
                <a:cubicBezTo>
                  <a:pt x="22" y="424"/>
                  <a:pt x="0" y="421"/>
                  <a:pt x="0" y="421"/>
                </a:cubicBezTo>
              </a:path>
            </a:pathLst>
          </a:custGeom>
          <a:solidFill>
            <a:srgbClr val="F0F0F0">
              <a:lumMod val="40000"/>
              <a:lumOff val="6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82830F05-4CAE-E746-DD98-C9F12855177B}"/>
              </a:ext>
            </a:extLst>
          </p:cNvPr>
          <p:cNvSpPr/>
          <p:nvPr/>
        </p:nvSpPr>
        <p:spPr>
          <a:xfrm rot="607256">
            <a:off x="5146930" y="4085721"/>
            <a:ext cx="625101" cy="520157"/>
          </a:xfrm>
          <a:custGeom>
            <a:avLst/>
            <a:gdLst/>
            <a:ahLst/>
            <a:cxnLst/>
            <a:rect l="l" t="t" r="r" b="b"/>
            <a:pathLst>
              <a:path w="137" h="114">
                <a:moveTo>
                  <a:pt x="119" y="114"/>
                </a:moveTo>
                <a:lnTo>
                  <a:pt x="0" y="26"/>
                </a:lnTo>
                <a:lnTo>
                  <a:pt x="19" y="0"/>
                </a:lnTo>
                <a:lnTo>
                  <a:pt x="137" y="85"/>
                </a:lnTo>
                <a:lnTo>
                  <a:pt x="119" y="114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xmlns="" id="{22E45E1A-0460-B1E4-9430-9B65F51E7A8D}"/>
              </a:ext>
            </a:extLst>
          </p:cNvPr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xmlns="" id="{BE44F3E9-66B3-50AA-5A30-987B3588C9D4}"/>
              </a:ext>
            </a:extLst>
          </p:cNvPr>
          <p:cNvSpPr/>
          <p:nvPr/>
        </p:nvSpPr>
        <p:spPr>
          <a:xfrm rot="607256">
            <a:off x="5596687" y="4394752"/>
            <a:ext cx="159698" cy="118633"/>
          </a:xfrm>
          <a:custGeom>
            <a:avLst/>
            <a:gdLst/>
            <a:ahLst/>
            <a:cxnLst/>
            <a:rect l="l" t="t" r="r" b="b"/>
            <a:pathLst>
              <a:path w="35" h="26">
                <a:moveTo>
                  <a:pt x="0" y="0"/>
                </a:moveTo>
                <a:lnTo>
                  <a:pt x="0" y="0"/>
                </a:lnTo>
                <a:lnTo>
                  <a:pt x="35" y="26"/>
                </a:lnTo>
                <a:lnTo>
                  <a:pt x="33" y="26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xmlns="" id="{8CE5E27A-E08B-702B-4B96-6AA4928DA46D}"/>
              </a:ext>
            </a:extLst>
          </p:cNvPr>
          <p:cNvSpPr/>
          <p:nvPr/>
        </p:nvSpPr>
        <p:spPr>
          <a:xfrm rot="607256">
            <a:off x="5545234" y="4357447"/>
            <a:ext cx="205324" cy="150572"/>
          </a:xfrm>
          <a:custGeom>
            <a:avLst/>
            <a:gdLst/>
            <a:ahLst/>
            <a:cxnLst/>
            <a:rect l="l" t="t" r="r" b="b"/>
            <a:pathLst>
              <a:path w="19" h="14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xmlns="" id="{F49D9602-57CC-B31F-63F9-1EA3E824C9BC}"/>
              </a:ext>
            </a:extLst>
          </p:cNvPr>
          <p:cNvSpPr/>
          <p:nvPr/>
        </p:nvSpPr>
        <p:spPr>
          <a:xfrm rot="607256">
            <a:off x="5498920" y="4335164"/>
            <a:ext cx="54752" cy="77567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5" y="0"/>
                </a:moveTo>
                <a:cubicBezTo>
                  <a:pt x="3" y="2"/>
                  <a:pt x="2" y="5"/>
                  <a:pt x="0" y="7"/>
                </a:cubicBezTo>
                <a:cubicBezTo>
                  <a:pt x="2" y="5"/>
                  <a:pt x="3" y="2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334E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xmlns="" id="{95067A1A-290D-CAA0-D6AB-B5860DA52790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xmlns="" id="{AFB0B11D-B9FD-B296-4767-BA562BEBC1A6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xmlns="" id="{6BFE671A-24CA-2AF7-E4A5-CD420AA2CB53}"/>
              </a:ext>
            </a:extLst>
          </p:cNvPr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xmlns="" id="{A6FD4834-7E39-9DAC-4838-DB4035DA818F}"/>
              </a:ext>
            </a:extLst>
          </p:cNvPr>
          <p:cNvSpPr/>
          <p:nvPr/>
        </p:nvSpPr>
        <p:spPr>
          <a:xfrm rot="607256">
            <a:off x="7737249" y="2161959"/>
            <a:ext cx="4562" cy="9126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xmlns="" id="{8F3CF18E-D2D4-FA82-EA9F-B1485EC688F3}"/>
              </a:ext>
            </a:extLst>
          </p:cNvPr>
          <p:cNvSpPr/>
          <p:nvPr/>
        </p:nvSpPr>
        <p:spPr>
          <a:xfrm rot="607256">
            <a:off x="7736046" y="2170977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xmlns="" id="{7D5AEA5E-7A07-45A4-54DE-FC675356697F}"/>
              </a:ext>
            </a:extLst>
          </p:cNvPr>
          <p:cNvSpPr/>
          <p:nvPr/>
        </p:nvSpPr>
        <p:spPr>
          <a:xfrm rot="607256">
            <a:off x="7736483" y="217061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xmlns="" id="{76A3427E-2D2B-2847-0BA3-C4D3CD01977D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xmlns="" id="{F63B4778-B2DA-567A-F328-906F0A76844C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xmlns="" id="{8EA859A8-253B-89A0-DAFD-4F852D62F0D7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xmlns="" id="{34DE412C-3FBB-05E0-6F6F-BD98EF04AC72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xmlns="" id="{12B8943C-99A1-615D-846D-96C58C83A8FD}"/>
              </a:ext>
            </a:extLst>
          </p:cNvPr>
          <p:cNvSpPr/>
          <p:nvPr/>
        </p:nvSpPr>
        <p:spPr>
          <a:xfrm rot="607256">
            <a:off x="7737651" y="2161994"/>
            <a:ext cx="4562" cy="4562"/>
          </a:xfrm>
          <a:prstGeom prst="rect">
            <a:avLst/>
          </a:prstGeom>
          <a:solidFill>
            <a:srgbClr val="FC9F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6FDE982E-434A-A1B6-8FAF-A594E8551720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xmlns="" id="{B759E431-555F-972E-0335-957FC5E85A0A}"/>
              </a:ext>
            </a:extLst>
          </p:cNvPr>
          <p:cNvSpPr/>
          <p:nvPr/>
        </p:nvSpPr>
        <p:spPr>
          <a:xfrm rot="607256">
            <a:off x="7006202" y="2169822"/>
            <a:ext cx="570347" cy="1742980"/>
          </a:xfrm>
          <a:custGeom>
            <a:avLst/>
            <a:gdLst/>
            <a:ahLst/>
            <a:cxnLst/>
            <a:rect l="l" t="t" r="r" b="b"/>
            <a:pathLst>
              <a:path w="53" h="161">
                <a:moveTo>
                  <a:pt x="0" y="161"/>
                </a:moveTo>
                <a:cubicBezTo>
                  <a:pt x="0" y="161"/>
                  <a:pt x="0" y="161"/>
                  <a:pt x="0" y="161"/>
                </a:cubicBezTo>
                <a:cubicBezTo>
                  <a:pt x="0" y="161"/>
                  <a:pt x="0" y="161"/>
                  <a:pt x="0" y="161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0" y="160"/>
                </a:move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moveTo>
                  <a:pt x="1" y="159"/>
                </a:moveTo>
                <a:cubicBezTo>
                  <a:pt x="1" y="159"/>
                  <a:pt x="1" y="159"/>
                  <a:pt x="1" y="159"/>
                </a:cubicBezTo>
                <a:cubicBezTo>
                  <a:pt x="1" y="159"/>
                  <a:pt x="1" y="159"/>
                  <a:pt x="1" y="159"/>
                </a:cubicBezTo>
                <a:moveTo>
                  <a:pt x="7" y="150"/>
                </a:moveTo>
                <a:cubicBezTo>
                  <a:pt x="7" y="150"/>
                  <a:pt x="7" y="150"/>
                  <a:pt x="7" y="150"/>
                </a:cubicBezTo>
                <a:cubicBezTo>
                  <a:pt x="7" y="150"/>
                  <a:pt x="7" y="150"/>
                  <a:pt x="7" y="150"/>
                </a:cubicBezTo>
                <a:moveTo>
                  <a:pt x="7" y="149"/>
                </a:moveTo>
                <a:cubicBezTo>
                  <a:pt x="7" y="149"/>
                  <a:pt x="7" y="149"/>
                  <a:pt x="7" y="149"/>
                </a:cubicBezTo>
                <a:cubicBezTo>
                  <a:pt x="7" y="149"/>
                  <a:pt x="7" y="149"/>
                  <a:pt x="7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9"/>
                </a:moveTo>
                <a:cubicBezTo>
                  <a:pt x="8" y="149"/>
                  <a:pt x="8" y="149"/>
                  <a:pt x="8" y="149"/>
                </a:cubicBezTo>
                <a:cubicBezTo>
                  <a:pt x="8" y="149"/>
                  <a:pt x="8" y="149"/>
                  <a:pt x="8" y="149"/>
                </a:cubicBezTo>
                <a:moveTo>
                  <a:pt x="8" y="148"/>
                </a:moveTo>
                <a:cubicBezTo>
                  <a:pt x="8" y="148"/>
                  <a:pt x="8" y="148"/>
                  <a:pt x="8" y="148"/>
                </a:cubicBezTo>
                <a:cubicBezTo>
                  <a:pt x="8" y="148"/>
                  <a:pt x="8" y="148"/>
                  <a:pt x="8" y="148"/>
                </a:cubicBezTo>
                <a:moveTo>
                  <a:pt x="53" y="0"/>
                </a:moveTo>
                <a:cubicBezTo>
                  <a:pt x="52" y="21"/>
                  <a:pt x="46" y="89"/>
                  <a:pt x="8" y="148"/>
                </a:cubicBezTo>
                <a:cubicBezTo>
                  <a:pt x="46" y="89"/>
                  <a:pt x="52" y="21"/>
                  <a:pt x="53" y="0"/>
                </a:cubicBezTo>
              </a:path>
            </a:pathLst>
          </a:custGeom>
          <a:solidFill>
            <a:srgbClr val="F1F1F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xmlns="" id="{B8006222-8BC6-B000-B308-18D2C06D9672}"/>
              </a:ext>
            </a:extLst>
          </p:cNvPr>
          <p:cNvSpPr/>
          <p:nvPr/>
        </p:nvSpPr>
        <p:spPr>
          <a:xfrm rot="607256">
            <a:off x="7535385" y="2271437"/>
            <a:ext cx="118633" cy="711794"/>
          </a:xfrm>
          <a:custGeom>
            <a:avLst/>
            <a:gdLst/>
            <a:ahLst/>
            <a:cxnLst/>
            <a:rect l="l" t="t" r="r" b="b"/>
            <a:pathLst>
              <a:path w="11" h="66">
                <a:moveTo>
                  <a:pt x="0" y="65"/>
                </a:move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0" y="65"/>
                </a:moveTo>
                <a:cubicBezTo>
                  <a:pt x="0" y="65"/>
                  <a:pt x="0" y="65"/>
                  <a:pt x="0" y="65"/>
                </a:cubicBezTo>
                <a:cubicBezTo>
                  <a:pt x="0" y="65"/>
                  <a:pt x="0" y="65"/>
                  <a:pt x="0" y="65"/>
                </a:cubicBezTo>
                <a:moveTo>
                  <a:pt x="9" y="19"/>
                </a:move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9"/>
                  <a:pt x="9" y="19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9" y="18"/>
                </a:move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9" y="18"/>
                  <a:pt x="9" y="18"/>
                </a:cubicBezTo>
                <a:moveTo>
                  <a:pt x="11" y="0"/>
                </a:moveTo>
                <a:cubicBezTo>
                  <a:pt x="10" y="5"/>
                  <a:pt x="10" y="11"/>
                  <a:pt x="9" y="18"/>
                </a:cubicBezTo>
                <a:cubicBezTo>
                  <a:pt x="10" y="11"/>
                  <a:pt x="10" y="5"/>
                  <a:pt x="11" y="0"/>
                </a:cubicBezTo>
                <a:moveTo>
                  <a:pt x="11" y="0"/>
                </a:move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xmlns="" id="{DB70BD87-9EC3-DC4B-370F-7D1644B76B51}"/>
              </a:ext>
            </a:extLst>
          </p:cNvPr>
          <p:cNvSpPr/>
          <p:nvPr/>
        </p:nvSpPr>
        <p:spPr>
          <a:xfrm rot="607256">
            <a:off x="5835657" y="3713175"/>
            <a:ext cx="223576" cy="419777"/>
          </a:xfrm>
          <a:custGeom>
            <a:avLst/>
            <a:gdLst/>
            <a:ahLst/>
            <a:cxnLst/>
            <a:rect l="l" t="t" r="r" b="b"/>
            <a:pathLst>
              <a:path w="21" h="39"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0" y="39"/>
                </a:move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39"/>
                  <a:pt x="0" y="39"/>
                </a:cubicBezTo>
                <a:moveTo>
                  <a:pt x="11" y="23"/>
                </a:moveTo>
                <a:cubicBezTo>
                  <a:pt x="8" y="28"/>
                  <a:pt x="4" y="33"/>
                  <a:pt x="0" y="39"/>
                </a:cubicBezTo>
                <a:cubicBezTo>
                  <a:pt x="4" y="33"/>
                  <a:pt x="8" y="28"/>
                  <a:pt x="11" y="23"/>
                </a:cubicBezTo>
                <a:moveTo>
                  <a:pt x="11" y="22"/>
                </a:moveTo>
                <a:cubicBezTo>
                  <a:pt x="11" y="22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11" y="22"/>
                </a:moveTo>
                <a:cubicBezTo>
                  <a:pt x="11" y="22"/>
                  <a:pt x="11" y="22"/>
                  <a:pt x="11" y="22"/>
                </a:cubicBezTo>
                <a:cubicBezTo>
                  <a:pt x="11" y="22"/>
                  <a:pt x="11" y="22"/>
                  <a:pt x="11" y="22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moveTo>
                  <a:pt x="21" y="0"/>
                </a:move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</a:path>
            </a:pathLst>
          </a:custGeom>
          <a:solidFill>
            <a:srgbClr val="005F93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xmlns="" id="{B39BE9B2-8C49-C7C9-8C3B-ABD9750AA89F}"/>
              </a:ext>
            </a:extLst>
          </p:cNvPr>
          <p:cNvSpPr/>
          <p:nvPr/>
        </p:nvSpPr>
        <p:spPr>
          <a:xfrm rot="607256">
            <a:off x="5744611" y="4527695"/>
            <a:ext cx="13688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1" y="0"/>
                  <a:pt x="1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xmlns="" id="{BE1008EB-09B9-1D61-B820-4B6F72E9213A}"/>
              </a:ext>
            </a:extLst>
          </p:cNvPr>
          <p:cNvSpPr/>
          <p:nvPr/>
        </p:nvSpPr>
        <p:spPr>
          <a:xfrm rot="607256">
            <a:off x="5746920" y="4501616"/>
            <a:ext cx="77567" cy="31939"/>
          </a:xfrm>
          <a:custGeom>
            <a:avLst/>
            <a:gdLst/>
            <a:ahLst/>
            <a:cxnLst/>
            <a:rect l="l" t="t" r="r" b="b"/>
            <a:pathLst>
              <a:path w="7" h="3">
                <a:moveTo>
                  <a:pt x="7" y="0"/>
                </a:moveTo>
                <a:cubicBezTo>
                  <a:pt x="5" y="1"/>
                  <a:pt x="2" y="2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3" y="2"/>
                  <a:pt x="5" y="1"/>
                  <a:pt x="7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xmlns="" id="{298DC719-3531-D156-3AA4-91899422A9A5}"/>
              </a:ext>
            </a:extLst>
          </p:cNvPr>
          <p:cNvSpPr/>
          <p:nvPr/>
        </p:nvSpPr>
        <p:spPr>
          <a:xfrm rot="607256">
            <a:off x="5895881" y="4480612"/>
            <a:ext cx="13688" cy="9126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</a:path>
            </a:pathLst>
          </a:custGeom>
          <a:solidFill>
            <a:srgbClr val="FCFDF2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xmlns="" id="{049EA5C7-97DB-D970-1278-045F81EBEA28}"/>
              </a:ext>
            </a:extLst>
          </p:cNvPr>
          <p:cNvSpPr/>
          <p:nvPr/>
        </p:nvSpPr>
        <p:spPr>
          <a:xfrm rot="607256">
            <a:off x="5886131" y="4487662"/>
            <a:ext cx="9126" cy="0"/>
          </a:xfrm>
          <a:custGeom>
            <a:avLst/>
            <a:gdLst/>
            <a:ahLst/>
            <a:cxnLst/>
            <a:rect l="l" t="t" r="r" b="b"/>
            <a:pathLst>
              <a:path w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EEEFE5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xmlns="" id="{9D4AA412-01BD-E7CB-6215-7C34B9A755C9}"/>
              </a:ext>
            </a:extLst>
          </p:cNvPr>
          <p:cNvSpPr/>
          <p:nvPr/>
        </p:nvSpPr>
        <p:spPr>
          <a:xfrm rot="607256">
            <a:off x="5829070" y="4481801"/>
            <a:ext cx="54752" cy="31939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5" y="0"/>
                </a:moveTo>
                <a:cubicBezTo>
                  <a:pt x="3" y="1"/>
                  <a:pt x="2" y="2"/>
                  <a:pt x="0" y="3"/>
                </a:cubicBezTo>
                <a:cubicBezTo>
                  <a:pt x="2" y="2"/>
                  <a:pt x="3" y="1"/>
                  <a:pt x="5" y="0"/>
                </a:cubicBezTo>
                <a:cubicBezTo>
                  <a:pt x="5" y="0"/>
                  <a:pt x="5" y="0"/>
                  <a:pt x="5" y="0"/>
                </a:cubicBezTo>
              </a:path>
            </a:pathLst>
          </a:custGeom>
          <a:solidFill>
            <a:srgbClr val="006494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xmlns="" id="{130C76D6-4F8B-4F3E-4741-71DE27757864}"/>
              </a:ext>
            </a:extLst>
          </p:cNvPr>
          <p:cNvSpPr/>
          <p:nvPr/>
        </p:nvSpPr>
        <p:spPr>
          <a:xfrm rot="607256">
            <a:off x="7738086" y="216162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A0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xmlns="" id="{804787C1-A58E-6122-E9A2-73FE14EA7D09}"/>
              </a:ext>
            </a:extLst>
          </p:cNvPr>
          <p:cNvSpPr/>
          <p:nvPr/>
        </p:nvSpPr>
        <p:spPr>
          <a:xfrm rot="607256">
            <a:off x="7225174" y="2116209"/>
            <a:ext cx="442590" cy="839551"/>
          </a:xfrm>
          <a:custGeom>
            <a:avLst/>
            <a:gdLst/>
            <a:ahLst/>
            <a:cxnLst/>
            <a:rect l="l" t="t" r="r" b="b"/>
            <a:pathLst>
              <a:path w="41" h="78"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30" y="77"/>
                </a:moveTo>
                <a:cubicBezTo>
                  <a:pt x="30" y="77"/>
                  <a:pt x="30" y="77"/>
                  <a:pt x="30" y="77"/>
                </a:cubicBezTo>
                <a:cubicBezTo>
                  <a:pt x="30" y="77"/>
                  <a:pt x="30" y="77"/>
                  <a:pt x="30" y="77"/>
                </a:cubicBezTo>
                <a:moveTo>
                  <a:pt x="0" y="56"/>
                </a:moveTo>
                <a:cubicBezTo>
                  <a:pt x="0" y="56"/>
                  <a:pt x="0" y="56"/>
                  <a:pt x="0" y="56"/>
                </a:cubicBezTo>
                <a:cubicBezTo>
                  <a:pt x="30" y="78"/>
                  <a:pt x="30" y="78"/>
                  <a:pt x="30" y="78"/>
                </a:cubicBezTo>
                <a:cubicBezTo>
                  <a:pt x="0" y="56"/>
                  <a:pt x="0" y="56"/>
                  <a:pt x="0" y="56"/>
                </a:cubicBezTo>
                <a:moveTo>
                  <a:pt x="39" y="31"/>
                </a:moveTo>
                <a:cubicBezTo>
                  <a:pt x="37" y="43"/>
                  <a:pt x="35" y="59"/>
                  <a:pt x="30" y="77"/>
                </a:cubicBezTo>
                <a:cubicBezTo>
                  <a:pt x="35" y="59"/>
                  <a:pt x="37" y="43"/>
                  <a:pt x="39" y="31"/>
                </a:cubicBezTo>
                <a:moveTo>
                  <a:pt x="39" y="30"/>
                </a:moveTo>
                <a:cubicBezTo>
                  <a:pt x="39" y="30"/>
                  <a:pt x="39" y="31"/>
                  <a:pt x="39" y="31"/>
                </a:cubicBezTo>
                <a:cubicBezTo>
                  <a:pt x="39" y="31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39" y="30"/>
                </a:moveTo>
                <a:cubicBezTo>
                  <a:pt x="39" y="30"/>
                  <a:pt x="39" y="30"/>
                  <a:pt x="39" y="30"/>
                </a:cubicBezTo>
                <a:cubicBezTo>
                  <a:pt x="39" y="30"/>
                  <a:pt x="39" y="30"/>
                  <a:pt x="39" y="30"/>
                </a:cubicBezTo>
                <a:moveTo>
                  <a:pt x="41" y="12"/>
                </a:moveTo>
                <a:cubicBezTo>
                  <a:pt x="41" y="12"/>
                  <a:pt x="41" y="12"/>
                  <a:pt x="41" y="12"/>
                </a:cubicBezTo>
                <a:cubicBezTo>
                  <a:pt x="41" y="12"/>
                  <a:pt x="41" y="12"/>
                  <a:pt x="41" y="12"/>
                </a:cubicBezTo>
                <a:moveTo>
                  <a:pt x="41" y="2"/>
                </a:moveTo>
                <a:cubicBezTo>
                  <a:pt x="41" y="4"/>
                  <a:pt x="41" y="7"/>
                  <a:pt x="41" y="12"/>
                </a:cubicBezTo>
                <a:cubicBezTo>
                  <a:pt x="41" y="8"/>
                  <a:pt x="41" y="5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3"/>
                  <a:pt x="41" y="2"/>
                  <a:pt x="41" y="2"/>
                </a:cubicBezTo>
                <a:moveTo>
                  <a:pt x="41" y="0"/>
                </a:moveTo>
                <a:cubicBezTo>
                  <a:pt x="41" y="0"/>
                  <a:pt x="41" y="0"/>
                  <a:pt x="41" y="1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  <a:moveTo>
                  <a:pt x="41" y="0"/>
                </a:move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1" y="0"/>
                  <a:pt x="41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xmlns="" id="{5E7E3429-1482-8673-77A5-B8C6E5A39E45}"/>
              </a:ext>
            </a:extLst>
          </p:cNvPr>
          <p:cNvSpPr/>
          <p:nvPr/>
        </p:nvSpPr>
        <p:spPr>
          <a:xfrm rot="607256">
            <a:off x="6554746" y="3270225"/>
            <a:ext cx="392398" cy="118633"/>
          </a:xfrm>
          <a:custGeom>
            <a:avLst/>
            <a:gdLst/>
            <a:ahLst/>
            <a:cxnLst/>
            <a:rect l="l" t="t" r="r" b="b"/>
            <a:pathLst>
              <a:path w="36" h="11">
                <a:moveTo>
                  <a:pt x="15" y="11"/>
                </a:move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15" y="11"/>
                  <a:pt x="15" y="11"/>
                  <a:pt x="15" y="11"/>
                </a:cubicBezTo>
                <a:moveTo>
                  <a:pt x="0" y="6"/>
                </a:moveTo>
                <a:cubicBezTo>
                  <a:pt x="0" y="6"/>
                  <a:pt x="0" y="6"/>
                  <a:pt x="0" y="6"/>
                </a:cubicBezTo>
                <a:cubicBezTo>
                  <a:pt x="0" y="6"/>
                  <a:pt x="0" y="6"/>
                  <a:pt x="0" y="6"/>
                </a:cubicBezTo>
                <a:moveTo>
                  <a:pt x="36" y="0"/>
                </a:moveTo>
                <a:cubicBezTo>
                  <a:pt x="31" y="7"/>
                  <a:pt x="23" y="11"/>
                  <a:pt x="15" y="11"/>
                </a:cubicBezTo>
                <a:cubicBezTo>
                  <a:pt x="23" y="11"/>
                  <a:pt x="31" y="7"/>
                  <a:pt x="36" y="0"/>
                </a:cubicBezTo>
                <a:moveTo>
                  <a:pt x="36" y="0"/>
                </a:move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</a:path>
            </a:pathLst>
          </a:custGeom>
          <a:solidFill>
            <a:srgbClr val="F19700"/>
          </a:solidFill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xmlns="" id="{758049FC-3408-9331-EB3B-F032CD7B694B}"/>
              </a:ext>
            </a:extLst>
          </p:cNvPr>
          <p:cNvSpPr txBox="1"/>
          <p:nvPr/>
        </p:nvSpPr>
        <p:spPr>
          <a:xfrm>
            <a:off x="312191" y="1887225"/>
            <a:ext cx="4789590" cy="129586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Provide most functionality in least space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Not divided into modules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MS PGothic" panose="020B0600070205080204" pitchFamily="34" charset="-128"/>
              </a:rPr>
              <a:t>Levels of functionality are not separated</a:t>
            </a:r>
          </a:p>
        </p:txBody>
      </p:sp>
      <p:sp>
        <p:nvSpPr>
          <p:cNvPr id="48" name="AutoShape 48">
            <a:extLst>
              <a:ext uri="{FF2B5EF4-FFF2-40B4-BE49-F238E27FC236}">
                <a16:creationId xmlns:a16="http://schemas.microsoft.com/office/drawing/2014/main" xmlns="" id="{C184AD07-C545-43C3-5954-FABA5457B2F5}"/>
              </a:ext>
            </a:extLst>
          </p:cNvPr>
          <p:cNvSpPr/>
          <p:nvPr/>
        </p:nvSpPr>
        <p:spPr>
          <a:xfrm>
            <a:off x="457200" y="1328332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chemeClr val="bg1"/>
                </a:solidFill>
                <a:ea typeface="MS PGothic" panose="020B0600070205080204" pitchFamily="34" charset="-128"/>
              </a:rPr>
              <a:t>Simple Structure  -- MS-DOS</a:t>
            </a:r>
            <a:endParaRPr lang="zh-CN" altLang="en-US" sz="1600" b="1" i="0" u="none" baseline="0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sp>
        <p:nvSpPr>
          <p:cNvPr id="51" name="AutoShape 51">
            <a:extLst>
              <a:ext uri="{FF2B5EF4-FFF2-40B4-BE49-F238E27FC236}">
                <a16:creationId xmlns:a16="http://schemas.microsoft.com/office/drawing/2014/main" xmlns="" id="{C9AA437D-6622-5B45-C904-18B44374095E}"/>
              </a:ext>
            </a:extLst>
          </p:cNvPr>
          <p:cNvSpPr/>
          <p:nvPr/>
        </p:nvSpPr>
        <p:spPr>
          <a:xfrm>
            <a:off x="6094377" y="1343229"/>
            <a:ext cx="3493961" cy="42003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1600" b="1" dirty="0">
                <a:solidFill>
                  <a:schemeClr val="bg1"/>
                </a:solidFill>
                <a:ea typeface="MS PGothic" panose="020B0600070205080204" pitchFamily="34" charset="-128"/>
              </a:rPr>
              <a:t>Traditional UNIX System Structure</a:t>
            </a:r>
            <a:endParaRPr lang="zh-CN" altLang="en-US" sz="1600" b="1" i="0" u="none" baseline="0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xmlns="" id="{3299B63A-3806-AB6D-A7B5-5BE3F30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</a:t>
            </a:r>
            <a:r>
              <a:rPr lang="en-US" sz="2800" b="1" i="0" u="none" dirty="0">
                <a:solidFill>
                  <a:srgbClr val="000000"/>
                </a:solidFill>
                <a:latin typeface="+mn-ea"/>
                <a:ea typeface="+mn-ea"/>
              </a:rPr>
              <a:t> Systems Structure</a:t>
            </a:r>
            <a:endParaRPr lang="en-US" sz="2800" b="1" i="0" u="non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49" name="Picture 6" descr="2">
            <a:extLst>
              <a:ext uri="{FF2B5EF4-FFF2-40B4-BE49-F238E27FC236}">
                <a16:creationId xmlns:a16="http://schemas.microsoft.com/office/drawing/2014/main" xmlns="" id="{6158297D-330F-EEE5-8055-A1AF8F88B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7842" y="3478926"/>
            <a:ext cx="2831201" cy="2722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xmlns="" id="{AED1AFFF-11B9-DE7E-2719-DCFC280F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4359" y="2028351"/>
            <a:ext cx="5308601" cy="3789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7FF5B7D4-2A55-E915-F6E4-C3A2E4E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14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072300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75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3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3F6D7C-DCAD-0492-ABA3-81AA5481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xmlns="" id="{8ADB479D-B7ED-0581-5571-D5EE7D29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Operating Systems Operations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xmlns="" id="{6AB97B98-F9C3-1674-E5BA-DF7C42F593B5}"/>
              </a:ext>
            </a:extLst>
          </p:cNvPr>
          <p:cNvSpPr txBox="1"/>
          <p:nvPr/>
        </p:nvSpPr>
        <p:spPr>
          <a:xfrm>
            <a:off x="230221" y="1447800"/>
            <a:ext cx="3313890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spAutoFit/>
          </a:bodyPr>
          <a:lstStyle/>
          <a:p>
            <a:pPr algn="just"/>
            <a:r>
              <a:rPr lang="en-US" altLang="zh-CN" sz="2000" dirty="0">
                <a:ea typeface="MS PGothic" panose="020B0600070205080204" pitchFamily="34" charset="-128"/>
              </a:rPr>
              <a:t>An</a:t>
            </a:r>
            <a:r>
              <a:rPr lang="zh-CN" altLang="en-US" sz="2000" dirty="0">
                <a:ea typeface="MS PGothic" panose="020B0600070205080204" pitchFamily="34" charset="-128"/>
              </a:rPr>
              <a:t> </a:t>
            </a:r>
            <a:r>
              <a:rPr lang="en-US" altLang="zh-CN" sz="2000" dirty="0">
                <a:ea typeface="MS PGothic" panose="020B0600070205080204" pitchFamily="34" charset="-128"/>
              </a:rPr>
              <a:t>operating system provides an </a:t>
            </a:r>
            <a:r>
              <a:rPr lang="en-US" altLang="zh-CN" sz="2000" b="1" dirty="0">
                <a:ea typeface="MS PGothic" panose="020B0600070205080204" pitchFamily="34" charset="-128"/>
              </a:rPr>
              <a:t>environment for the programs to run.</a:t>
            </a:r>
          </a:p>
          <a:p>
            <a:pPr algn="just"/>
            <a:endParaRPr lang="en-US" altLang="zh-CN" sz="2000" dirty="0">
              <a:ea typeface="MS PGothic" panose="020B0600070205080204" pitchFamily="34" charset="-128"/>
            </a:endParaRPr>
          </a:p>
        </p:txBody>
      </p:sp>
      <p:pic>
        <p:nvPicPr>
          <p:cNvPr id="5" name="Picture 4" descr="2">
            <a:extLst>
              <a:ext uri="{FF2B5EF4-FFF2-40B4-BE49-F238E27FC236}">
                <a16:creationId xmlns:a16="http://schemas.microsoft.com/office/drawing/2014/main" xmlns="" id="{6FFB6066-B6A5-7D67-4E6D-691608F7A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85375" y="1472119"/>
            <a:ext cx="7676403" cy="470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060EBA5-1499-80F5-3745-DE3D371A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15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4811997"/>
      </p:ext>
    </p:extLst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66236" y="4709317"/>
            <a:ext cx="2985670" cy="79162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Coordinates I/O between applications and hardware</a:t>
            </a:r>
            <a:endParaRPr lang="zh-CN" altLang="en-US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666236" y="3820293"/>
            <a:ext cx="263752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I/O Operations and File Management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>
            <a:off x="4241081" y="3662596"/>
            <a:ext cx="0" cy="2089052"/>
          </a:xfrm>
          <a:prstGeom prst="line">
            <a:avLst/>
          </a:prstGeom>
          <a:ln w="6350" cap="rnd" cmpd="sng">
            <a:solidFill>
              <a:srgbClr val="000000">
                <a:lumMod val="40000"/>
                <a:lumOff val="60000"/>
              </a:srgbClr>
            </a:solidFill>
            <a:prstDash val="solid"/>
          </a:ln>
        </p:spPr>
      </p:cxnSp>
      <p:cxnSp>
        <p:nvCxnSpPr>
          <p:cNvPr id="8" name="Connector 8"/>
          <p:cNvCxnSpPr/>
          <p:nvPr/>
        </p:nvCxnSpPr>
        <p:spPr>
          <a:xfrm>
            <a:off x="8028178" y="3662596"/>
            <a:ext cx="0" cy="2089052"/>
          </a:xfrm>
          <a:prstGeom prst="line">
            <a:avLst/>
          </a:prstGeom>
          <a:ln w="6350" cap="rnd" cmpd="sng">
            <a:solidFill>
              <a:srgbClr val="000000">
                <a:lumMod val="40000"/>
                <a:lumOff val="60000"/>
              </a:srgbClr>
            </a:solidFill>
            <a:prstDash val="solid"/>
          </a:ln>
        </p:spPr>
      </p:cxnSp>
      <p:sp>
        <p:nvSpPr>
          <p:cNvPr id="9" name="AutoShape 9"/>
          <p:cNvSpPr/>
          <p:nvPr/>
        </p:nvSpPr>
        <p:spPr>
          <a:xfrm>
            <a:off x="741397" y="4565167"/>
            <a:ext cx="2637524" cy="78752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Offer CLI and GUI interfaces</a:t>
            </a:r>
            <a:endParaRPr lang="zh-CN" altLang="en-US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0058" y="3715975"/>
            <a:ext cx="263752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 Interface Options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730493" y="4576603"/>
            <a:ext cx="2637524" cy="79162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Loads programs and manages their lifecycle</a:t>
            </a:r>
            <a:endParaRPr lang="zh-CN" altLang="en-US" sz="1600" b="0" i="0" u="none" baseline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99928" y="3742520"/>
            <a:ext cx="263752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Program Execution Services</a:t>
            </a:r>
            <a:endParaRPr lang="en-US" sz="1100" dirty="0"/>
          </a:p>
        </p:txBody>
      </p:sp>
      <p:grpSp>
        <p:nvGrpSpPr>
          <p:cNvPr id="15" name="Group 15"/>
          <p:cNvGrpSpPr/>
          <p:nvPr/>
        </p:nvGrpSpPr>
        <p:grpSpPr>
          <a:xfrm>
            <a:off x="4062952" y="4508056"/>
            <a:ext cx="356253" cy="356253"/>
            <a:chOff x="3378940" y="5485094"/>
            <a:chExt cx="356253" cy="356253"/>
          </a:xfrm>
        </p:grpSpPr>
        <p:sp>
          <p:nvSpPr>
            <p:cNvPr id="16" name="AutoShape 16"/>
            <p:cNvSpPr/>
            <p:nvPr/>
          </p:nvSpPr>
          <p:spPr>
            <a:xfrm>
              <a:off x="3378940" y="5485094"/>
              <a:ext cx="356253" cy="356253"/>
            </a:xfrm>
            <a:prstGeom prst="ellipse">
              <a:avLst/>
            </a:prstGeom>
            <a:solidFill>
              <a:schemeClr val="accent2"/>
            </a:solidFill>
            <a:ln w="3810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 fontScale="625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464860" y="5539946"/>
              <a:ext cx="184412" cy="246548"/>
            </a:xfrm>
            <a:prstGeom prst="rightArrow">
              <a:avLst/>
            </a:pr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57429" y="4500682"/>
            <a:ext cx="356253" cy="356253"/>
            <a:chOff x="3378940" y="5485094"/>
            <a:chExt cx="356253" cy="356253"/>
          </a:xfrm>
        </p:grpSpPr>
        <p:sp>
          <p:nvSpPr>
            <p:cNvPr id="19" name="AutoShape 19"/>
            <p:cNvSpPr/>
            <p:nvPr/>
          </p:nvSpPr>
          <p:spPr>
            <a:xfrm>
              <a:off x="3378940" y="5485094"/>
              <a:ext cx="356253" cy="356253"/>
            </a:xfrm>
            <a:prstGeom prst="ellipse">
              <a:avLst/>
            </a:prstGeom>
            <a:solidFill>
              <a:schemeClr val="accent2"/>
            </a:solidFill>
            <a:ln w="38100" cap="flat" cmpd="sng">
              <a:solidFill>
                <a:srgbClr val="FFFFFF"/>
              </a:solidFill>
              <a:prstDash val="solid"/>
            </a:ln>
          </p:spPr>
          <p:txBody>
            <a:bodyPr vert="horz" wrap="square" lIns="91440" tIns="45720" rIns="91440" bIns="45720" anchor="ctr">
              <a:normAutofit fontScale="62500" lnSpcReduction="20000"/>
            </a:bodyPr>
            <a:lstStyle/>
            <a:p>
              <a:pPr marL="0" algn="ctr"/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464860" y="5539946"/>
              <a:ext cx="184412" cy="246548"/>
            </a:xfrm>
            <a:prstGeom prst="rightArrow">
              <a:avLst/>
            </a:pr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21" name="AutoShape 2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 dirty="0">
                <a:solidFill>
                  <a:srgbClr val="000000"/>
                </a:solidFill>
                <a:latin typeface="+mn-ea"/>
                <a:ea typeface="+mn-ea"/>
              </a:rPr>
              <a:t>Types of Services Provided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E1323170-A063-2EAD-253B-6469DBE5E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48" y="1202898"/>
            <a:ext cx="7820025" cy="206692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0A347759-8753-4E27-3E81-1D4707BC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16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Communication and Error Detection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6506" y="4738314"/>
            <a:ext cx="1154167" cy="761054"/>
            <a:chOff x="2906630" y="4322429"/>
            <a:chExt cx="1154167" cy="761054"/>
          </a:xfrm>
        </p:grpSpPr>
        <p:sp>
          <p:nvSpPr>
            <p:cNvPr id="4" name="Freeform 4"/>
            <p:cNvSpPr/>
            <p:nvPr/>
          </p:nvSpPr>
          <p:spPr>
            <a:xfrm>
              <a:off x="2906630" y="4322429"/>
              <a:ext cx="1154167" cy="7610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242" y="21600"/>
                  </a:moveTo>
                  <a:lnTo>
                    <a:pt x="9202" y="12826"/>
                  </a:lnTo>
                  <a:lnTo>
                    <a:pt x="0" y="12826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2826"/>
                  </a:lnTo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/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06630" y="4371975"/>
              <a:ext cx="1112919" cy="310718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none" lIns="90000" tIns="46800" rIns="90000" bIns="46800" rtlCol="0" anchor="ctr">
              <a:normAutofit/>
            </a:bodyPr>
            <a:lstStyle/>
            <a:p>
              <a:pPr marL="0" algn="l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11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24791" y="4738314"/>
            <a:ext cx="4455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Communication Mechanisms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924791" y="5168769"/>
            <a:ext cx="4455000" cy="7927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Enable process communication through synchronized methods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3525896" y="3181569"/>
            <a:ext cx="1154167" cy="761054"/>
            <a:chOff x="2906630" y="4322429"/>
            <a:chExt cx="1154167" cy="761054"/>
          </a:xfrm>
        </p:grpSpPr>
        <p:sp>
          <p:nvSpPr>
            <p:cNvPr id="9" name="Freeform 9"/>
            <p:cNvSpPr/>
            <p:nvPr/>
          </p:nvSpPr>
          <p:spPr>
            <a:xfrm>
              <a:off x="2906630" y="4322429"/>
              <a:ext cx="1154167" cy="7610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242" y="21600"/>
                  </a:moveTo>
                  <a:lnTo>
                    <a:pt x="9202" y="12826"/>
                  </a:lnTo>
                  <a:lnTo>
                    <a:pt x="0" y="12826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2826"/>
                  </a:lnTo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/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06630" y="4371975"/>
              <a:ext cx="1112919" cy="310718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none" lIns="90000" tIns="46800" rIns="90000" bIns="46800" rtlCol="0" anchor="ctr">
              <a:normAutofit/>
            </a:bodyPr>
            <a:lstStyle/>
            <a:p>
              <a:pPr marL="0" algn="l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11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764181" y="3237571"/>
            <a:ext cx="4455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Constant Error Awareness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764181" y="3668026"/>
            <a:ext cx="4455000" cy="78752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Monitors system activities for errors continuously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5987784" y="1695980"/>
            <a:ext cx="1154167" cy="761054"/>
            <a:chOff x="2906630" y="4322429"/>
            <a:chExt cx="1154167" cy="761054"/>
          </a:xfrm>
        </p:grpSpPr>
        <p:sp>
          <p:nvSpPr>
            <p:cNvPr id="14" name="Freeform 14"/>
            <p:cNvSpPr/>
            <p:nvPr/>
          </p:nvSpPr>
          <p:spPr>
            <a:xfrm>
              <a:off x="2906630" y="4322429"/>
              <a:ext cx="1154167" cy="7610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9242" y="21600"/>
                  </a:moveTo>
                  <a:lnTo>
                    <a:pt x="9202" y="12826"/>
                  </a:lnTo>
                  <a:lnTo>
                    <a:pt x="0" y="12826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2826"/>
                  </a:lnTo>
                </a:path>
              </a:pathLst>
            </a:custGeom>
            <a:solidFill>
              <a:schemeClr val="accent1"/>
            </a:solidFill>
            <a:ln cap="flat"/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6630" y="4371975"/>
              <a:ext cx="1112919" cy="310718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none" lIns="90000" tIns="46800" rIns="90000" bIns="46800" rtlCol="0" anchor="ctr">
              <a:normAutofit/>
            </a:bodyPr>
            <a:lstStyle/>
            <a:p>
              <a:pPr marL="0" algn="l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11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66677" y="1747100"/>
            <a:ext cx="445500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Resource Management and Control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266677" y="2177555"/>
            <a:ext cx="4455000" cy="78752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OS manages resources, priorities, and hardware</a:t>
            </a:r>
            <a:endParaRPr 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3597" y="4068839"/>
            <a:ext cx="858736" cy="6942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marR="0" indent="0" algn="l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sz="4000" b="0" i="0" u="none" baseline="0">
                <a:ln/>
                <a:solidFill>
                  <a:srgbClr val="FFFFFF">
                    <a:lumMod val="50000"/>
                  </a:srgbClr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3732843" y="2495811"/>
            <a:ext cx="858736" cy="6942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marR="0" indent="0" algn="l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sz="4000" b="0" i="0" u="none" baseline="0">
                <a:ln/>
                <a:solidFill>
                  <a:srgbClr val="FFFFFF">
                    <a:lumMod val="50000"/>
                  </a:srgbClr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114875" y="1033221"/>
            <a:ext cx="858736" cy="6942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marR="0" indent="0" algn="l" fontAlgn="auto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de-DE" sz="4000" b="0" i="0" u="none" baseline="0">
                <a:ln/>
                <a:solidFill>
                  <a:srgbClr val="FFFFFF">
                    <a:lumMod val="50000"/>
                  </a:srgbClr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9854465" y="4280989"/>
            <a:ext cx="1648290" cy="1959474"/>
          </a:xfrm>
          <a:custGeom>
            <a:avLst/>
            <a:gdLst/>
            <a:ahLst/>
            <a:cxnLst/>
            <a:rect l="l" t="t" r="r" b="b"/>
            <a:pathLst>
              <a:path w="1738" h="2069">
                <a:moveTo>
                  <a:pt x="1363" y="606"/>
                </a:moveTo>
                <a:lnTo>
                  <a:pt x="1738" y="606"/>
                </a:lnTo>
                <a:lnTo>
                  <a:pt x="1133" y="0"/>
                </a:lnTo>
                <a:lnTo>
                  <a:pt x="527" y="606"/>
                </a:lnTo>
                <a:lnTo>
                  <a:pt x="907" y="606"/>
                </a:lnTo>
                <a:cubicBezTo>
                  <a:pt x="854" y="1319"/>
                  <a:pt x="482" y="1896"/>
                  <a:pt x="0" y="2036"/>
                </a:cubicBezTo>
                <a:cubicBezTo>
                  <a:pt x="74" y="2057"/>
                  <a:pt x="150" y="2069"/>
                  <a:pt x="228" y="2069"/>
                </a:cubicBezTo>
                <a:cubicBezTo>
                  <a:pt x="816" y="2069"/>
                  <a:pt x="1301" y="1428"/>
                  <a:pt x="1363" y="606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xmlns="" id="{CF4BFEA6-91F7-2780-3FCA-70AFFD09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pPr marL="0" algn="l"/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                                                         Slide </a:t>
            </a:r>
            <a:fld id="{3386411A-70EE-422D-B97C-F56BEE3FF077}" type="slidenum">
              <a:rPr lang="zh-CN" altLang="en-US" sz="1000" smtClean="0">
                <a:solidFill>
                  <a:srgbClr val="000000"/>
                </a:solidFill>
                <a:latin typeface="Arial"/>
                <a:ea typeface="Arial"/>
              </a:rPr>
              <a:pPr marL="0" algn="l"/>
              <a:t>17</a:t>
            </a:fld>
            <a:r>
              <a:rPr lang="zh-CN" altLang="en-US" sz="10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altLang="zh-CN" sz="1000">
                <a:solidFill>
                  <a:srgbClr val="000000"/>
                </a:solidFill>
                <a:latin typeface="Arial"/>
                <a:ea typeface="Arial"/>
              </a:rPr>
              <a:t>of 21</a:t>
            </a:r>
            <a:endParaRPr lang="zh-CN" altLang="en-US" sz="1000" b="0" i="0" u="none" baseline="0" dirty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75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accel="100000" fill="hold">
                                          <p:stCondLst>
                                            <p:cond delay="6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3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>
            <a:extLst>
              <a:ext uri="{FF2B5EF4-FFF2-40B4-BE49-F238E27FC236}">
                <a16:creationId xmlns:a16="http://schemas.microsoft.com/office/drawing/2014/main" xmlns="" id="{E9531694-9BA8-1A5D-323B-EA3D7EF7C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33489"/>
            <a:ext cx="9340850" cy="505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1400"/>
              </a:spcBef>
              <a:buNone/>
            </a:pPr>
            <a:r>
              <a:rPr kumimoji="0" lang="en-I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Link: </a:t>
            </a:r>
          </a:p>
          <a:p>
            <a:pPr>
              <a:spcBef>
                <a:spcPts val="1400"/>
              </a:spcBef>
              <a:buNone/>
            </a:pPr>
            <a:r>
              <a:rPr kumimoji="0" lang="en-I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https://tinyurl.com/practicemcqunit1</a:t>
            </a:r>
          </a:p>
          <a:p>
            <a:pPr>
              <a:spcBef>
                <a:spcPts val="1400"/>
              </a:spcBef>
              <a:buNone/>
            </a:pPr>
            <a:endParaRPr kumimoji="0" lang="en-I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1400"/>
              </a:spcBef>
              <a:buNone/>
            </a:pPr>
            <a:r>
              <a:rPr kumimoji="0" lang="en-I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QR Code:</a:t>
            </a:r>
          </a:p>
          <a:p>
            <a:pPr>
              <a:spcBef>
                <a:spcPts val="1400"/>
              </a:spcBef>
              <a:buNone/>
            </a:pPr>
            <a:endParaRPr kumimoji="0" lang="en-I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781B5FA-0814-A3AF-B794-2F7C825C07F9}"/>
              </a:ext>
            </a:extLst>
          </p:cNvPr>
          <p:cNvSpPr txBox="1">
            <a:spLocks/>
          </p:cNvSpPr>
          <p:nvPr/>
        </p:nvSpPr>
        <p:spPr>
          <a:xfrm>
            <a:off x="838200" y="512763"/>
            <a:ext cx="8772525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2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altLang="zh-CN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Practice MCQ</a:t>
            </a:r>
            <a:endParaRPr lang="zh-CN" altLang="en-US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  <p:pic>
        <p:nvPicPr>
          <p:cNvPr id="43012" name="Picture 3">
            <a:extLst>
              <a:ext uri="{FF2B5EF4-FFF2-40B4-BE49-F238E27FC236}">
                <a16:creationId xmlns:a16="http://schemas.microsoft.com/office/drawing/2014/main" xmlns="" id="{55487EB9-3056-EEF9-3ED5-086DBA2D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79913" y="2728914"/>
            <a:ext cx="3073400" cy="307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>
            <a:extLst>
              <a:ext uri="{FF2B5EF4-FFF2-40B4-BE49-F238E27FC236}">
                <a16:creationId xmlns:a16="http://schemas.microsoft.com/office/drawing/2014/main" xmlns="" id="{E9531694-9BA8-1A5D-323B-EA3D7EF7C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33489"/>
            <a:ext cx="9340850" cy="505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1313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32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1400"/>
              </a:spcBef>
              <a:buNone/>
            </a:pPr>
            <a:r>
              <a:rPr kumimoji="0" lang="en-IN" altLang="en-US" sz="24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Link FOR INTRODUCTION QUIZ1 : </a:t>
            </a:r>
            <a:endParaRPr kumimoji="0" lang="en-I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1400"/>
              </a:spcBef>
              <a:buNone/>
            </a:pPr>
            <a:endParaRPr kumimoji="0" lang="en-I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1400"/>
              </a:spcBef>
              <a:buNone/>
            </a:pPr>
            <a:r>
              <a:rPr kumimoji="0" lang="en-I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QR Code:</a:t>
            </a:r>
          </a:p>
          <a:p>
            <a:pPr>
              <a:spcBef>
                <a:spcPts val="1400"/>
              </a:spcBef>
              <a:buNone/>
            </a:pPr>
            <a:endParaRPr kumimoji="0" lang="en-IN" alt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781B5FA-0814-A3AF-B794-2F7C825C07F9}"/>
              </a:ext>
            </a:extLst>
          </p:cNvPr>
          <p:cNvSpPr txBox="1">
            <a:spLocks/>
          </p:cNvSpPr>
          <p:nvPr/>
        </p:nvSpPr>
        <p:spPr>
          <a:xfrm>
            <a:off x="838200" y="512763"/>
            <a:ext cx="8772525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2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altLang="zh-CN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Practice MCQ</a:t>
            </a:r>
            <a:endParaRPr lang="zh-CN" altLang="en-US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  <p:pic>
        <p:nvPicPr>
          <p:cNvPr id="1026" name="Picture 2" descr="C:\Users\KHUSHI\Downloads\qrcode FOR QUIZ 1 INTRODUCTIO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2476500"/>
            <a:ext cx="3390900" cy="3390900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A53EF8-59A9-9460-DF0E-EC411DEF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6A01667-A12B-E6A2-D409-F465ECF90C03}"/>
              </a:ext>
            </a:extLst>
          </p:cNvPr>
          <p:cNvSpPr txBox="1">
            <a:spLocks/>
          </p:cNvSpPr>
          <p:nvPr/>
        </p:nvSpPr>
        <p:spPr>
          <a:xfrm>
            <a:off x="838200" y="512763"/>
            <a:ext cx="8772525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2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altLang="zh-CN" kern="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Whats</a:t>
            </a:r>
            <a:r>
              <a:rPr lang="en-US" altLang="zh-CN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 Next!!</a:t>
            </a:r>
            <a:endParaRPr lang="zh-CN" altLang="en-US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447A91E-1711-5353-3459-F60D3026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481137"/>
            <a:ext cx="89725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7540507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5E0784-6CB9-F758-7605-A72352603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1C9B11D-1555-3EC4-FCFC-1A353B9B400E}"/>
              </a:ext>
            </a:extLst>
          </p:cNvPr>
          <p:cNvSpPr txBox="1">
            <a:spLocks/>
          </p:cNvSpPr>
          <p:nvPr/>
        </p:nvSpPr>
        <p:spPr>
          <a:xfrm>
            <a:off x="838200" y="512763"/>
            <a:ext cx="8772525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2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2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altLang="zh-CN" kern="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Whats</a:t>
            </a:r>
            <a:r>
              <a:rPr lang="en-US" altLang="zh-CN" kern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 Next!!: System Calls</a:t>
            </a:r>
            <a:endParaRPr lang="zh-CN" altLang="en-US" kern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98569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711</Words>
  <Application>Microsoft Office PowerPoint</Application>
  <PresentationFormat>Custom</PresentationFormat>
  <Paragraphs>167</Paragraphs>
  <Slides>21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Chapter 1: Introduction  (OS Types, Modes, Structure, and Services)</vt:lpstr>
      <vt:lpstr>Think</vt:lpstr>
      <vt:lpstr>Slide 3</vt:lpstr>
      <vt:lpstr>Operating System?</vt:lpstr>
      <vt:lpstr>Goals of Operating Systems</vt:lpstr>
      <vt:lpstr>Components of a Computer System</vt:lpstr>
      <vt:lpstr>Batch Operating Systems</vt:lpstr>
      <vt:lpstr>Multiprogramming Operating Systems</vt:lpstr>
      <vt:lpstr>Multitasking/Timesharing OS</vt:lpstr>
      <vt:lpstr>Multiprocessing Operating Systems</vt:lpstr>
      <vt:lpstr>Operating System Views</vt:lpstr>
      <vt:lpstr>Operating Systems Operations</vt:lpstr>
      <vt:lpstr>Dual-Mode Operation</vt:lpstr>
      <vt:lpstr>Operating Systems Structure</vt:lpstr>
      <vt:lpstr>Operating Systems Operations</vt:lpstr>
      <vt:lpstr>Types of Services Provided</vt:lpstr>
      <vt:lpstr>Communication and Error Detection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 (OS Types, Modes, Structure, and Services)</dc:title>
  <dc:creator>Dell</dc:creator>
  <cp:lastModifiedBy>KHUSHI</cp:lastModifiedBy>
  <cp:revision>129</cp:revision>
  <dcterms:created xsi:type="dcterms:W3CDTF">2006-08-16T00:00:00Z</dcterms:created>
  <dcterms:modified xsi:type="dcterms:W3CDTF">2025-01-27T04:11:23Z</dcterms:modified>
</cp:coreProperties>
</file>