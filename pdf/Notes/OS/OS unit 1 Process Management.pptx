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Default Extension="bin" ContentType="application/vnd.openxmlformats-officedocument.oleObject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4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9144000" cy="6858000" type="screen4x3"/>
  <p:notesSz cx="9601200" cy="7315200"/>
  <p:embeddedFontLst>
    <p:embeddedFont>
      <p:font typeface="Helvetica Neue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816">
          <p15:clr>
            <a:srgbClr val="000000"/>
          </p15:clr>
        </p15:guide>
        <p15:guide id="2" pos="521">
          <p15:clr>
            <a:srgbClr val="000000"/>
          </p15:clr>
        </p15:guide>
      </p15:sldGuideLst>
    </p:ext>
    <p:ext uri="{2D200454-40CA-4A62-9FC3-DE9A4176ACB9}">
      <p15:notes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304">
          <p15:clr>
            <a:srgbClr val="000000"/>
          </p15:clr>
        </p15:guide>
        <p15:guide id="2" pos="302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6vAOBUxIzMC+FBFuKIVBXbyo6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-1424" y="-52"/>
      </p:cViewPr>
      <p:guideLst>
        <p:guide orient="horz" pos="816"/>
        <p:guide pos="52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304"/>
        <p:guide pos="302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184650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441950" y="0"/>
            <a:ext cx="41862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ctr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967537"/>
            <a:ext cx="418465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441950" y="6967537"/>
            <a:ext cx="4186237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25" tIns="47500" rIns="95025" bIns="47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Helvetica Neue"/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3" y="541338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0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1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2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6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7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8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9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9412" y="541337"/>
            <a:ext cx="368300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1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1120"/>
              </a:spcBef>
              <a:spcAft>
                <a:spcPts val="0"/>
              </a:spcAft>
              <a:buSzPts val="288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6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3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3"/>
          <p:cNvSpPr txBox="1">
            <a:spLocks noGrp="1"/>
          </p:cNvSpPr>
          <p:nvPr>
            <p:ph type="body" idx="1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marL="914400" lvl="1" indent="-32004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marL="1371600" lvl="2" indent="-314325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marL="1828800" lvl="3" indent="-314325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oogle Shape;10;p60"/>
          <p:cNvGraphicFramePr>
            <a:graphicFrameLocks noSelect="1"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p:oleObj spid="_x0000_m1026" r:id="rId5" imgW="0" imgH="0" progId="">
              <p:embed/>
            </p:oleObj>
          </a:graphicData>
        </a:graphic>
      </p:graphicFrame>
      <p:pic>
        <p:nvPicPr>
          <p:cNvPr id="11" name="Google Shape;11;p60" descr="Slide_iconblue_pc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9762" y="4829175"/>
            <a:ext cx="2349500" cy="1419225"/>
          </a:xfrm>
          <a:prstGeom prst="rect">
            <a:avLst/>
          </a:prstGeom>
          <a:noFill/>
          <a:ln w="38100" cap="flat" cmpd="dbl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2" name="Google Shape;12;p60" descr="BD21332_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39875" y="3603625"/>
            <a:ext cx="60356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60"/>
          <p:cNvSpPr txBox="1">
            <a:spLocks noGrp="1"/>
          </p:cNvSpPr>
          <p:nvPr>
            <p:ph type="body" idx="1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1480" algn="l" rtl="0">
              <a:spcBef>
                <a:spcPts val="1120"/>
              </a:spcBef>
              <a:spcAft>
                <a:spcPts val="0"/>
              </a:spcAft>
              <a:buClr>
                <a:srgbClr val="993300"/>
              </a:buClr>
              <a:buSzPts val="2880"/>
              <a:buFont typeface="Arial"/>
              <a:buChar char="●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70840" algn="l" rtl="0"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3850" algn="l" rtl="0"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23850" algn="l" rtl="0">
              <a:spcBef>
                <a:spcPts val="700"/>
              </a:spcBef>
              <a:spcAft>
                <a:spcPts val="0"/>
              </a:spcAft>
              <a:buClr>
                <a:srgbClr val="FF0066"/>
              </a:buClr>
              <a:buSzPts val="15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6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6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6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2"/>
          <p:cNvSpPr txBox="1">
            <a:spLocks noGrp="1"/>
          </p:cNvSpPr>
          <p:nvPr>
            <p:ph type="body" idx="1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1480" algn="l" rtl="0">
              <a:spcBef>
                <a:spcPts val="1120"/>
              </a:spcBef>
              <a:spcAft>
                <a:spcPts val="0"/>
              </a:spcAft>
              <a:buClr>
                <a:srgbClr val="993300"/>
              </a:buClr>
              <a:buSzPts val="2880"/>
              <a:buFont typeface="Arial"/>
              <a:buChar char="●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70840" algn="l" rtl="0"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3850" algn="l" rtl="0"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23850" algn="l" rtl="0">
              <a:spcBef>
                <a:spcPts val="700"/>
              </a:spcBef>
              <a:spcAft>
                <a:spcPts val="0"/>
              </a:spcAft>
              <a:buClr>
                <a:srgbClr val="FF0066"/>
              </a:buClr>
              <a:buSzPts val="15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62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4"/>
          <p:cNvSpPr txBox="1">
            <a:spLocks noGrp="1"/>
          </p:cNvSpPr>
          <p:nvPr>
            <p:ph type="body" idx="1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1480" algn="l" rtl="0">
              <a:spcBef>
                <a:spcPts val="1120"/>
              </a:spcBef>
              <a:spcAft>
                <a:spcPts val="0"/>
              </a:spcAft>
              <a:buClr>
                <a:srgbClr val="993300"/>
              </a:buClr>
              <a:buSzPts val="2880"/>
              <a:buFont typeface="Arial"/>
              <a:buChar char="●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70840" algn="l" rtl="0"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3850" algn="l" rtl="0"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23850" algn="l" rtl="0">
              <a:spcBef>
                <a:spcPts val="700"/>
              </a:spcBef>
              <a:spcAft>
                <a:spcPts val="0"/>
              </a:spcAft>
              <a:buClr>
                <a:srgbClr val="FF0066"/>
              </a:buClr>
              <a:buSzPts val="15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64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6"/>
          <p:cNvSpPr txBox="1">
            <a:spLocks noGrp="1"/>
          </p:cNvSpPr>
          <p:nvPr>
            <p:ph type="body" idx="1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1480" algn="l" rtl="0">
              <a:spcBef>
                <a:spcPts val="1120"/>
              </a:spcBef>
              <a:spcAft>
                <a:spcPts val="0"/>
              </a:spcAft>
              <a:buClr>
                <a:srgbClr val="993300"/>
              </a:buClr>
              <a:buSzPts val="2880"/>
              <a:buFont typeface="Arial"/>
              <a:buChar char="●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70840" algn="l" rtl="0">
              <a:spcBef>
                <a:spcPts val="980"/>
              </a:spcBef>
              <a:spcAft>
                <a:spcPts val="0"/>
              </a:spcAft>
              <a:buClr>
                <a:srgbClr val="CC6600"/>
              </a:buClr>
              <a:buSzPts val="2240"/>
              <a:buFont typeface="Arial"/>
              <a:buChar char="●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3850" algn="l" rtl="0"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23850" algn="l" rtl="0">
              <a:spcBef>
                <a:spcPts val="700"/>
              </a:spcBef>
              <a:spcAft>
                <a:spcPts val="0"/>
              </a:spcAft>
              <a:buClr>
                <a:srgbClr val="FF0066"/>
              </a:buClr>
              <a:buSzPts val="15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66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>
            <a:spLocks noGrp="1"/>
          </p:cNvSpPr>
          <p:nvPr>
            <p:ph type="ctrTitle"/>
          </p:nvPr>
        </p:nvSpPr>
        <p:spPr>
          <a:xfrm>
            <a:off x="1041400" y="3479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Helvetica Neue"/>
              <a:buNone/>
            </a:pPr>
            <a:r>
              <a:rPr lang="en-US" sz="4000" b="1" i="0" u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:  Processes</a:t>
            </a:r>
            <a:br>
              <a:rPr lang="en-US" sz="4000" b="1" i="0" u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000" b="1" i="0" u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4000" b="1" i="0" u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000" b="1" i="0" u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4000" b="1" i="0" u="none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947737" y="414337"/>
            <a:ext cx="718978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:  Processes</a:t>
            </a:r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body" idx="1"/>
          </p:nvPr>
        </p:nvSpPr>
        <p:spPr>
          <a:xfrm>
            <a:off x="827087" y="1790700"/>
            <a:ext cx="7694612" cy="3783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Concept</a:t>
            </a:r>
            <a:endParaRPr/>
          </a:p>
          <a:p>
            <a:pPr marL="342900" lvl="0" indent="-18288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Scheduling</a:t>
            </a:r>
            <a:endParaRPr/>
          </a:p>
          <a:p>
            <a:pPr marL="342900" lvl="0" indent="-18288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993300"/>
              </a:buClr>
              <a:buSzPts val="2520"/>
              <a:buFont typeface="Arial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 on Processes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674687" y="390525"/>
            <a:ext cx="709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body" idx="1"/>
          </p:nvPr>
        </p:nvSpPr>
        <p:spPr>
          <a:xfrm>
            <a:off x="368300" y="1079500"/>
            <a:ext cx="8178800" cy="5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Program: Passive entity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is instance of a program under executing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– a program in execution</a:t>
            </a:r>
            <a:endParaRPr/>
          </a:p>
          <a:p>
            <a:pPr marL="1428750" lvl="3" indent="-2286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Active Entity b/c it has Program Counter associated to it.</a:t>
            </a:r>
            <a:endParaRPr/>
          </a:p>
          <a:p>
            <a:pPr marL="1428750" lvl="3" indent="-1143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execution must progress in sequential manner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includes: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counter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>
            <a:spLocks noGrp="1"/>
          </p:cNvSpPr>
          <p:nvPr>
            <p:ph type="title"/>
          </p:nvPr>
        </p:nvSpPr>
        <p:spPr>
          <a:xfrm>
            <a:off x="674687" y="390525"/>
            <a:ext cx="709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body" idx="1"/>
          </p:nvPr>
        </p:nvSpPr>
        <p:spPr>
          <a:xfrm>
            <a:off x="368300" y="1079500"/>
            <a:ext cx="8178800" cy="5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has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 section/ code section.</a:t>
            </a:r>
            <a:endParaRPr/>
          </a:p>
          <a:p>
            <a:pPr marL="34290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also includes the current activity, as represented by: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of the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counter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contents of the processor’s registers. 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920"/>
              <a:buNone/>
            </a:pPr>
            <a:endParaRPr sz="2400" b="1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may also include a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heap, 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 dynamically allocated during process run time.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674687" y="390525"/>
            <a:ext cx="709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1"/>
          </p:nvPr>
        </p:nvSpPr>
        <p:spPr>
          <a:xfrm>
            <a:off x="368300" y="1079500"/>
            <a:ext cx="8178800" cy="5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also 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includes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stack, which contains: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temporary data:</a:t>
            </a:r>
            <a:endParaRPr/>
          </a:p>
          <a:p>
            <a:pPr marL="1085850" lvl="2" indent="-2286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parameters, </a:t>
            </a:r>
            <a:endParaRPr/>
          </a:p>
          <a:p>
            <a:pPr marL="1085850" lvl="2" indent="-2286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addresses, </a:t>
            </a: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85850" lvl="2" indent="-2286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Arimo"/>
              <a:buChar char="4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variables</a:t>
            </a: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section, 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contains global variables.</a:t>
            </a:r>
            <a:endParaRPr/>
          </a:p>
          <a:p>
            <a:pPr marL="342900" lvl="0" indent="-205740" algn="l" rtl="0"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>
            <a:spLocks noGrp="1"/>
          </p:cNvSpPr>
          <p:nvPr>
            <p:ph type="title"/>
          </p:nvPr>
        </p:nvSpPr>
        <p:spPr>
          <a:xfrm>
            <a:off x="661987" y="414337"/>
            <a:ext cx="7023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1"/>
          </p:nvPr>
        </p:nvSpPr>
        <p:spPr>
          <a:xfrm>
            <a:off x="165100" y="1092200"/>
            <a:ext cx="8788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program is a passive entity, 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such as a file containing a list of instructions stored on disk.</a:t>
            </a:r>
            <a:endParaRPr/>
          </a:p>
          <a:p>
            <a:pPr marL="34290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is an active entity with a program counter specifying the next instruction to execute and a set of associated resources.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661987" y="414337"/>
            <a:ext cx="7023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States</a:t>
            </a:r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827087" y="1295400"/>
            <a:ext cx="7681912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a process executes, it changes </a:t>
            </a:r>
            <a:r>
              <a:rPr lang="en-US" sz="2400" b="0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</a:t>
            </a: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The process is being created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ready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The process is waiting to be assigned to a processor and is ready to get executed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Instructions are being executed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waiting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The process is waiting for some event to occur/ waiting for resources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terminated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The process has finished execution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674687" y="517525"/>
            <a:ext cx="70215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States</a:t>
            </a:r>
            <a:endParaRPr/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l="459" t="24142" r="688" b="24417"/>
          <a:stretch/>
        </p:blipFill>
        <p:spPr>
          <a:xfrm>
            <a:off x="333375" y="1489075"/>
            <a:ext cx="8378825" cy="4784725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title"/>
          </p:nvPr>
        </p:nvSpPr>
        <p:spPr>
          <a:xfrm>
            <a:off x="696912" y="530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Control Block (PCB)</a:t>
            </a:r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947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 structure in the operating system kernel containing the information needed to manage a particular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PCB is "the manifestation of a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an operating system".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title"/>
          </p:nvPr>
        </p:nvSpPr>
        <p:spPr>
          <a:xfrm>
            <a:off x="696912" y="530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Control Block (PCB)</a:t>
            </a:r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3947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Information associated with each process: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Process State-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new, ready….etc.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Pointer- 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the parent process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Program Counter-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next instruction to be executed.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Process Number-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 identification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 in OS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CPU Registers-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Various CPU registers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process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need to be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stored for execution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running state.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 CPU Scheduling Information-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Process Priority and other info. required for scheduling</a:t>
            </a:r>
            <a:endParaRPr/>
          </a:p>
          <a:p>
            <a:pPr marL="342900" lvl="0" indent="-20574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05740" algn="l" rtl="0"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1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>
            <a:spLocks noGrp="1"/>
          </p:cNvSpPr>
          <p:nvPr>
            <p:ph type="body" idx="1"/>
          </p:nvPr>
        </p:nvSpPr>
        <p:spPr>
          <a:xfrm>
            <a:off x="317500" y="1282700"/>
            <a:ext cx="8534400" cy="5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7. Memory-Management Information-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Registers, Page tables (where process is saved)used by OS</a:t>
            </a:r>
            <a:endParaRPr/>
          </a:p>
          <a:p>
            <a:pPr marL="342900" marR="0" lvl="0" indent="-20574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 Accounting Information-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how long CPU and other resources are allocated to process</a:t>
            </a:r>
            <a:endParaRPr/>
          </a:p>
          <a:p>
            <a:pPr marL="342900" marR="0" lvl="0" indent="-20574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 I/O Status Information-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List of devices allocated to the process</a:t>
            </a:r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title"/>
          </p:nvPr>
        </p:nvSpPr>
        <p:spPr>
          <a:xfrm>
            <a:off x="696912" y="530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Control Block (PCB)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661987" y="4603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Control Block (PCB)</a:t>
            </a:r>
            <a:endParaRPr/>
          </a:p>
        </p:txBody>
      </p:sp>
      <p:pic>
        <p:nvPicPr>
          <p:cNvPr id="114" name="Google Shape;114;p13" descr="http://imgs.g4estatic.com/operating-system/OS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2800" y="1350962"/>
            <a:ext cx="4000500" cy="5192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696912" y="482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42900" y="1295400"/>
            <a:ext cx="3632200" cy="4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None/>
            </a:pP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CPU switches to another process, the </a:t>
            </a:r>
            <a:r>
              <a:rPr lang="en-US" sz="2800" b="0" i="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</a:t>
            </a: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</a:t>
            </a:r>
            <a:r>
              <a:rPr lang="en-US" sz="2800" b="0" i="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save</a:t>
            </a: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</a:t>
            </a:r>
            <a:r>
              <a:rPr lang="en-US" sz="2800" b="0" i="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 of the old process in the stack</a:t>
            </a:r>
            <a:r>
              <a:rPr lang="en-US" sz="28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load the saved state for the new process or reload the state of current process from stack.</a:t>
            </a:r>
            <a:endParaRPr/>
          </a:p>
          <a:p>
            <a:pPr marL="342900" lvl="0" indent="-182880" algn="l" rtl="0">
              <a:spcBef>
                <a:spcPts val="980"/>
              </a:spcBef>
              <a:spcAft>
                <a:spcPts val="0"/>
              </a:spcAft>
              <a:buSzPts val="2520"/>
              <a:buNone/>
            </a:pPr>
            <a:endParaRPr sz="28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p20" descr="Process Context Switc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8050" y="1358900"/>
            <a:ext cx="3917950" cy="4967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696912" y="482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</a:t>
            </a: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1"/>
          </p:nvPr>
        </p:nvSpPr>
        <p:spPr>
          <a:xfrm>
            <a:off x="177800" y="1219200"/>
            <a:ext cx="8737600" cy="5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Switching the CPU to another process requires: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saving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state of the old process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loading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saved state for the new process. </a:t>
            </a: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task is known as a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lvl="0" indent="-205740" algn="l" rtl="0"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696912" y="482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</a:t>
            </a:r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1"/>
          </p:nvPr>
        </p:nvSpPr>
        <p:spPr>
          <a:xfrm>
            <a:off x="177800" y="1219200"/>
            <a:ext cx="8737600" cy="5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 process is represented in the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Control Block(PCB)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 process; 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context switch occurs:</a:t>
            </a: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Kernel saves the context of the old process in its PCB and </a:t>
            </a: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Loads the saved context of the new process scheduled to run.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696912" y="482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</a:t>
            </a: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1"/>
          </p:nvPr>
        </p:nvSpPr>
        <p:spPr>
          <a:xfrm>
            <a:off x="177800" y="1447800"/>
            <a:ext cx="8737600" cy="5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 time is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pure overhead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because the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does no useful work while switching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Its speed varies from machine to machine depending on: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speed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registers that must be copied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Existence of special instructions(such as a single instruction to load or store all registers).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 speeds range from 1 to 1000 microseconds.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34925" y="44926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CPU Switch From Process to Process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 rotWithShape="1">
          <a:blip r:embed="rId3">
            <a:alphaModFix/>
          </a:blip>
          <a:srcRect l="4801" t="871" r="4801" b="290"/>
          <a:stretch/>
        </p:blipFill>
        <p:spPr>
          <a:xfrm>
            <a:off x="1565275" y="1463675"/>
            <a:ext cx="6321425" cy="5184775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523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Queues</a:t>
            </a: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266700" y="1581150"/>
            <a:ext cx="84328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OS maintains all PCBs in Process Scheduling Queues. </a:t>
            </a:r>
            <a:endParaRPr/>
          </a:p>
          <a:p>
            <a:pPr marL="34290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OS maintains a separate queue for each of the process states and PCBs of all processes in the same execution state are placed in the same queue. </a:t>
            </a:r>
            <a:endParaRPr/>
          </a:p>
          <a:p>
            <a:pPr marL="34290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the state of a process is changed, its PCB is unlinked from its current queue and moved to its new state queue.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523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Queues</a:t>
            </a: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1"/>
          </p:nvPr>
        </p:nvSpPr>
        <p:spPr>
          <a:xfrm>
            <a:off x="266700" y="1581150"/>
            <a:ext cx="84328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Schedulers fall into one of two general categories: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Non-pre-emptive scheduling: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When the currently executing process gives up the CPU voluntarily. Or releases the CPU when it is completely executed.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Pre-emptive scheduling: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When the operating system decides to favor another process, pre-empting the resource (CPU) from the currently executing process.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523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Scheduling Queues</a:t>
            </a: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266700" y="1581150"/>
            <a:ext cx="8432800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Job queue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− This queue keeps all the processes in the system.</a:t>
            </a:r>
            <a:endParaRPr/>
          </a:p>
          <a:p>
            <a:pPr marL="34290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Ready queue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− This queue keeps a set of all processes residing in main memory, ready and waiting to execute. 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new process is always put in this queue.</a:t>
            </a:r>
            <a:endParaRPr/>
          </a:p>
          <a:p>
            <a:pPr marL="34290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Device queues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− The processes which are blocked due to unavailability of an I/O device constitute this queue.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523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Scheduling Queues</a:t>
            </a:r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1185862"/>
            <a:ext cx="714375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547687" y="177800"/>
            <a:ext cx="6538912" cy="68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lang="en-US" sz="24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Representation of Process Scheduling</a:t>
            </a:r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3">
            <a:alphaModFix/>
          </a:blip>
          <a:srcRect l="665" t="11595" r="888" b="12130"/>
          <a:stretch/>
        </p:blipFill>
        <p:spPr>
          <a:xfrm>
            <a:off x="1100137" y="2259012"/>
            <a:ext cx="7227887" cy="4200525"/>
          </a:xfrm>
          <a:prstGeom prst="rect">
            <a:avLst/>
          </a:prstGeom>
          <a:noFill/>
          <a:ln w="381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76" name="Google Shape;176;p29"/>
          <p:cNvSpPr txBox="1"/>
          <p:nvPr/>
        </p:nvSpPr>
        <p:spPr>
          <a:xfrm>
            <a:off x="2095500" y="1103312"/>
            <a:ext cx="412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Queuing Diagram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>
            <a:spLocks noGrp="1"/>
          </p:cNvSpPr>
          <p:nvPr>
            <p:ph type="title"/>
          </p:nvPr>
        </p:nvSpPr>
        <p:spPr>
          <a:xfrm>
            <a:off x="209550" y="153987"/>
            <a:ext cx="6673850" cy="68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Helvetica Neue"/>
              <a:buNone/>
            </a:pPr>
            <a:r>
              <a:rPr lang="en-US" sz="20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Ready Queue And Various I/O Device Queues</a:t>
            </a:r>
            <a:endParaRPr/>
          </a:p>
        </p:txBody>
      </p:sp>
      <p:pic>
        <p:nvPicPr>
          <p:cNvPr id="182" name="Google Shape;182;p30"/>
          <p:cNvPicPr preferRelativeResize="0"/>
          <p:nvPr/>
        </p:nvPicPr>
        <p:blipFill rotWithShape="1">
          <a:blip r:embed="rId3">
            <a:alphaModFix/>
          </a:blip>
          <a:srcRect l="7363" t="517" r="7362" b="1550"/>
          <a:stretch/>
        </p:blipFill>
        <p:spPr>
          <a:xfrm>
            <a:off x="774700" y="1778000"/>
            <a:ext cx="7696200" cy="450215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83" name="Google Shape;183;p30"/>
          <p:cNvSpPr txBox="1"/>
          <p:nvPr/>
        </p:nvSpPr>
        <p:spPr>
          <a:xfrm>
            <a:off x="133350" y="839787"/>
            <a:ext cx="667385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Helvetica Neue"/>
              <a:buNone/>
            </a:pPr>
            <a:r>
              <a:rPr lang="en-US" sz="2000" b="1" i="0" u="none" strike="noStrike" cap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Ready Queue is implemented using Linked List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241300" y="571500"/>
            <a:ext cx="651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Operations on Process </a:t>
            </a:r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body" idx="1"/>
          </p:nvPr>
        </p:nvSpPr>
        <p:spPr>
          <a:xfrm>
            <a:off x="827087" y="2082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Process Creation</a:t>
            </a:r>
            <a:endParaRPr/>
          </a:p>
          <a:p>
            <a:pPr marL="342900" marR="0" lvl="0" indent="-20574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Process Termination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"/>
          <p:cNvSpPr txBox="1">
            <a:spLocks noGrp="1"/>
          </p:cNvSpPr>
          <p:nvPr>
            <p:ph type="title"/>
          </p:nvPr>
        </p:nvSpPr>
        <p:spPr>
          <a:xfrm>
            <a:off x="685800" y="571500"/>
            <a:ext cx="612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Creation</a:t>
            </a:r>
            <a:endParaRPr/>
          </a:p>
        </p:txBody>
      </p:sp>
      <p:sp>
        <p:nvSpPr>
          <p:cNvPr id="195" name="Google Shape;195;p40"/>
          <p:cNvSpPr txBox="1">
            <a:spLocks noGrp="1"/>
          </p:cNvSpPr>
          <p:nvPr>
            <p:ph type="body" idx="1"/>
          </p:nvPr>
        </p:nvSpPr>
        <p:spPr>
          <a:xfrm>
            <a:off x="381000" y="1282700"/>
            <a:ext cx="83820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process creates children processes, using fork() which in turn create other processes, forming a tree of processes.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 that creates other processes is termed the parent process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Newly created process is termed as child process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>
            <a:spLocks noGrp="1"/>
          </p:cNvSpPr>
          <p:nvPr>
            <p:ph type="title"/>
          </p:nvPr>
        </p:nvSpPr>
        <p:spPr>
          <a:xfrm>
            <a:off x="584200" y="685800"/>
            <a:ext cx="6235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Creation (Cont.)</a:t>
            </a:r>
            <a:endParaRPr/>
          </a:p>
        </p:txBody>
      </p:sp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15900" y="1282700"/>
            <a:ext cx="8775700" cy="5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 sharing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and children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 all resources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Children share subset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parent’s resources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and child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 no resources</a:t>
            </a: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Sequence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and children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concurrently</a:t>
            </a:r>
            <a:endParaRPr/>
          </a:p>
          <a:p>
            <a:pPr marL="742950" lvl="1" indent="-28575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waits until children terminate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>
            <a:spLocks noGrp="1"/>
          </p:cNvSpPr>
          <p:nvPr>
            <p:ph type="title"/>
          </p:nvPr>
        </p:nvSpPr>
        <p:spPr>
          <a:xfrm>
            <a:off x="584200" y="685800"/>
            <a:ext cx="6235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Creation (Cont.)</a:t>
            </a:r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body" idx="1"/>
          </p:nvPr>
        </p:nvSpPr>
        <p:spPr>
          <a:xfrm>
            <a:off x="215900" y="1282700"/>
            <a:ext cx="8775700" cy="5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 Space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 space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refer to a range of either physical or virtual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addresses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accessible to a processor or reserved for a process.</a:t>
            </a:r>
            <a:endParaRPr sz="2400" b="1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 process is duplicate of the parent process (same program and data</a:t>
            </a:r>
            <a:endParaRPr sz="2400" b="1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 process has a new program loaded into it</a:t>
            </a:r>
            <a:endParaRPr sz="2400" b="0" i="0" u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205740" algn="l" rtl="0">
              <a:spcBef>
                <a:spcPts val="840"/>
              </a:spcBef>
              <a:spcAft>
                <a:spcPts val="0"/>
              </a:spcAft>
              <a:buSzPts val="2160"/>
              <a:buNone/>
            </a:pPr>
            <a:endParaRPr sz="2400" b="0" i="0" u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>
            <a:spLocks noGrp="1"/>
          </p:cNvSpPr>
          <p:nvPr>
            <p:ph type="title"/>
          </p:nvPr>
        </p:nvSpPr>
        <p:spPr>
          <a:xfrm>
            <a:off x="584200" y="685800"/>
            <a:ext cx="6235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Creation (Cont.)</a:t>
            </a:r>
            <a:endParaRPr/>
          </a:p>
        </p:txBody>
      </p:sp>
      <p:sp>
        <p:nvSpPr>
          <p:cNvPr id="213" name="Google Shape;213;p43"/>
          <p:cNvSpPr txBox="1">
            <a:spLocks noGrp="1"/>
          </p:cNvSpPr>
          <p:nvPr>
            <p:ph type="body" idx="1"/>
          </p:nvPr>
        </p:nvSpPr>
        <p:spPr>
          <a:xfrm>
            <a:off x="215900" y="1282700"/>
            <a:ext cx="8775700" cy="5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Arial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process is identified by its process identifier</a:t>
            </a:r>
            <a:endParaRPr/>
          </a:p>
          <a:p>
            <a:pPr marL="342900" lvl="0" indent="-21717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Arial"/>
              <a:buNone/>
            </a:pPr>
            <a:endParaRPr sz="22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Arial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UNIX examples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CC6600"/>
              </a:buClr>
              <a:buSzPts val="1760"/>
              <a:buFont typeface="Arial"/>
              <a:buChar char="●"/>
            </a:pPr>
            <a:r>
              <a:rPr lang="en-US" sz="22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 ()</a:t>
            </a: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system call creates new process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CC6600"/>
              </a:buClr>
              <a:buSzPts val="1760"/>
              <a:buFont typeface="Arial"/>
              <a:buChar char="●"/>
            </a:pPr>
            <a:r>
              <a:rPr lang="en-US" sz="22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exec()</a:t>
            </a: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system call used after a </a:t>
            </a:r>
            <a:r>
              <a:rPr lang="en-US" sz="22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</a:t>
            </a: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replace the process’ memory space with a new program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>
            <a:spLocks noGrp="1"/>
          </p:cNvSpPr>
          <p:nvPr>
            <p:ph type="title"/>
          </p:nvPr>
        </p:nvSpPr>
        <p:spPr>
          <a:xfrm>
            <a:off x="685800" y="546100"/>
            <a:ext cx="4152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endParaRPr/>
          </a:p>
        </p:txBody>
      </p:sp>
      <p:sp>
        <p:nvSpPr>
          <p:cNvPr id="219" name="Google Shape;219;p44"/>
          <p:cNvSpPr txBox="1">
            <a:spLocks noGrp="1"/>
          </p:cNvSpPr>
          <p:nvPr>
            <p:ph type="body" idx="1"/>
          </p:nvPr>
        </p:nvSpPr>
        <p:spPr>
          <a:xfrm>
            <a:off x="292100" y="1282700"/>
            <a:ext cx="8661400" cy="5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call 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is used to create processes.</a:t>
            </a:r>
            <a:endParaRPr/>
          </a:p>
          <a:p>
            <a:pPr marL="342900" marR="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takes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arguments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returns a process ID. </a:t>
            </a:r>
            <a:endParaRPr/>
          </a:p>
          <a:p>
            <a:pPr marL="342900" marR="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purpose of 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is to create a </a:t>
            </a:r>
            <a:r>
              <a:rPr lang="en-US" sz="2400" b="1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process, which becomes the </a:t>
            </a:r>
            <a:r>
              <a:rPr lang="en-US" sz="2400" b="0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process of the caller. </a:t>
            </a:r>
            <a:endParaRPr/>
          </a:p>
          <a:p>
            <a:pPr marL="342900" marR="0" lvl="0" indent="-20574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a new child process is created, </a:t>
            </a:r>
            <a:r>
              <a:rPr lang="en-US" sz="2400" b="1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processes will execute the next instruction following the </a:t>
            </a:r>
            <a:r>
              <a:rPr lang="en-US" sz="2400" b="1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system call.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5"/>
          <p:cNvSpPr txBox="1">
            <a:spLocks noGrp="1"/>
          </p:cNvSpPr>
          <p:nvPr>
            <p:ph type="body" idx="1"/>
          </p:nvPr>
        </p:nvSpPr>
        <p:spPr>
          <a:xfrm>
            <a:off x="368300" y="1130300"/>
            <a:ext cx="8255000" cy="5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be done by testing the returned value of 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342900" marR="0" lvl="0" indent="-20574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 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returns a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negative value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 creation of a child process was </a:t>
            </a: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unsuccessful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returns a zero to the newly created child process.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returns a positive value, the </a:t>
            </a:r>
            <a:r>
              <a:rPr lang="en-US" sz="2400" b="1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ID</a:t>
            </a:r>
            <a:r>
              <a:rPr lang="en-US" sz="24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of the child process, to the parent.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6"/>
          <p:cNvPicPr preferRelativeResize="0"/>
          <p:nvPr/>
        </p:nvPicPr>
        <p:blipFill rotWithShape="1">
          <a:blip r:embed="rId3">
            <a:alphaModFix/>
          </a:blip>
          <a:srcRect l="381" t="33247" r="575" b="33248"/>
          <a:stretch/>
        </p:blipFill>
        <p:spPr>
          <a:xfrm>
            <a:off x="901700" y="1104900"/>
            <a:ext cx="7543800" cy="44577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 txBox="1">
            <a:spLocks noGrp="1"/>
          </p:cNvSpPr>
          <p:nvPr>
            <p:ph type="title"/>
          </p:nvPr>
        </p:nvSpPr>
        <p:spPr>
          <a:xfrm>
            <a:off x="628650" y="47148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Creation</a:t>
            </a:r>
            <a:endParaRPr/>
          </a:p>
        </p:txBody>
      </p:sp>
      <p:sp>
        <p:nvSpPr>
          <p:cNvPr id="235" name="Google Shape;235;p47"/>
          <p:cNvSpPr txBox="1">
            <a:spLocks noGrp="1"/>
          </p:cNvSpPr>
          <p:nvPr>
            <p:ph type="body" idx="1"/>
          </p:nvPr>
        </p:nvSpPr>
        <p:spPr>
          <a:xfrm>
            <a:off x="368300" y="1293812"/>
            <a:ext cx="8534400" cy="533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Arial"/>
              <a:buChar char="●"/>
            </a:pP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two options for the parent process after creating the child 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1980"/>
              <a:buNone/>
            </a:pPr>
            <a:endParaRPr sz="22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Arial"/>
              <a:buAutoNum type="arabicPeriod"/>
            </a:pP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 for the child process to terminate before proceeding.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Arial"/>
              <a:buAutoNum type="arabicPeriod"/>
            </a:pPr>
            <a:r>
              <a:rPr lang="en-US" sz="22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concurrently with the child, continuing to process without waiting. 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 txBox="1">
            <a:spLocks noGrp="1"/>
          </p:cNvSpPr>
          <p:nvPr>
            <p:ph type="title"/>
          </p:nvPr>
        </p:nvSpPr>
        <p:spPr>
          <a:xfrm>
            <a:off x="628650" y="47148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Termination</a:t>
            </a:r>
            <a:endParaRPr/>
          </a:p>
        </p:txBody>
      </p:sp>
      <p:sp>
        <p:nvSpPr>
          <p:cNvPr id="241" name="Google Shape;241;p48"/>
          <p:cNvSpPr txBox="1">
            <a:spLocks noGrp="1"/>
          </p:cNvSpPr>
          <p:nvPr>
            <p:ph type="body" idx="1"/>
          </p:nvPr>
        </p:nvSpPr>
        <p:spPr>
          <a:xfrm>
            <a:off x="368300" y="1293812"/>
            <a:ext cx="8534400" cy="533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executes last statement and asks the operating system to terminate it (by using </a:t>
            </a: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exit() system call</a:t>
            </a: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the data from child to parent (via </a:t>
            </a: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</a:t>
            </a: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Process resources are de-allocated by the operating system</a:t>
            </a:r>
            <a:endParaRPr/>
          </a:p>
          <a:p>
            <a:pPr marL="342900" lvl="0" indent="-228600" algn="l" rtl="0">
              <a:spcBef>
                <a:spcPts val="700"/>
              </a:spcBef>
              <a:spcAft>
                <a:spcPts val="0"/>
              </a:spcAft>
              <a:buSzPts val="1800"/>
              <a:buNone/>
            </a:pPr>
            <a:endParaRPr sz="2000" b="0" i="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>
            <a:spLocks noGrp="1"/>
          </p:cNvSpPr>
          <p:nvPr>
            <p:ph type="title"/>
          </p:nvPr>
        </p:nvSpPr>
        <p:spPr>
          <a:xfrm>
            <a:off x="628650" y="47148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lang="en-US" sz="3200" b="1" i="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Termination</a:t>
            </a:r>
            <a:endParaRPr/>
          </a:p>
        </p:txBody>
      </p:sp>
      <p:sp>
        <p:nvSpPr>
          <p:cNvPr id="247" name="Google Shape;247;p49"/>
          <p:cNvSpPr txBox="1">
            <a:spLocks noGrp="1"/>
          </p:cNvSpPr>
          <p:nvPr>
            <p:ph type="body" idx="1"/>
          </p:nvPr>
        </p:nvSpPr>
        <p:spPr>
          <a:xfrm>
            <a:off x="368300" y="1293812"/>
            <a:ext cx="8534400" cy="5335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may terminate execution of children processes</a:t>
            </a: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abort</a:t>
            </a: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 has </a:t>
            </a: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exceeded allocated resources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</a:t>
            </a: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assigned to a child is </a:t>
            </a:r>
            <a:r>
              <a:rPr lang="en-US" sz="2000" b="1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longer required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parent is exiting/Terminated</a:t>
            </a:r>
            <a:endParaRPr/>
          </a:p>
          <a:p>
            <a:pPr marL="108585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mo"/>
              <a:buChar char="4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operating systems do not allow the child to continue if its parent terminates</a:t>
            </a:r>
            <a:endParaRPr/>
          </a:p>
          <a:p>
            <a:pPr marL="142875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Helvetica Neue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children terminated - </a:t>
            </a:r>
            <a:r>
              <a:rPr lang="en-US" sz="2000" b="0" i="1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cascading termination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s-w-java">
  <a:themeElements>
    <a:clrScheme name="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CA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s-w-java">
  <a:themeElements>
    <a:clrScheme name="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CA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os-w-java">
  <a:themeElements>
    <a:clrScheme name="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CA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os-w-java">
  <a:themeElements>
    <a:clrScheme name="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CA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PresentationFormat>On-screen Show (4:3)</PresentationFormat>
  <Paragraphs>170</Paragraphs>
  <Slides>35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Helvetica Neue</vt:lpstr>
      <vt:lpstr>Arimo</vt:lpstr>
      <vt:lpstr>1_os-w-java</vt:lpstr>
      <vt:lpstr>2_os-w-java</vt:lpstr>
      <vt:lpstr>7_os-w-java</vt:lpstr>
      <vt:lpstr>6_os-w-java</vt:lpstr>
      <vt:lpstr>Chapter :  Processes   </vt:lpstr>
      <vt:lpstr>Chapter :  Processes</vt:lpstr>
      <vt:lpstr>Process</vt:lpstr>
      <vt:lpstr>Process</vt:lpstr>
      <vt:lpstr>Process</vt:lpstr>
      <vt:lpstr>Process</vt:lpstr>
      <vt:lpstr>Process States</vt:lpstr>
      <vt:lpstr>Process States</vt:lpstr>
      <vt:lpstr>Slide 9</vt:lpstr>
      <vt:lpstr>Process Control Block (PCB)</vt:lpstr>
      <vt:lpstr>Process Control Block (PCB)</vt:lpstr>
      <vt:lpstr>Process Control Block (PCB)</vt:lpstr>
      <vt:lpstr>Process Control Block (PCB)</vt:lpstr>
      <vt:lpstr>Context Switch</vt:lpstr>
      <vt:lpstr>Context Switch</vt:lpstr>
      <vt:lpstr>Context Switch</vt:lpstr>
      <vt:lpstr>Context Switch</vt:lpstr>
      <vt:lpstr>CPU Switch From Process to Process</vt:lpstr>
      <vt:lpstr>Scheduling Queues</vt:lpstr>
      <vt:lpstr>Scheduling Queues</vt:lpstr>
      <vt:lpstr>Process Scheduling Queues</vt:lpstr>
      <vt:lpstr>Process Scheduling Queues</vt:lpstr>
      <vt:lpstr>Representation of Process Scheduling</vt:lpstr>
      <vt:lpstr>Ready Queue And Various I/O Device Queues</vt:lpstr>
      <vt:lpstr>Operations on Process </vt:lpstr>
      <vt:lpstr>Process Creation</vt:lpstr>
      <vt:lpstr>Process Creation (Cont.)</vt:lpstr>
      <vt:lpstr>Process Creation (Cont.)</vt:lpstr>
      <vt:lpstr>Process Creation (Cont.)</vt:lpstr>
      <vt:lpstr>fork()</vt:lpstr>
      <vt:lpstr>Slide 31</vt:lpstr>
      <vt:lpstr>Slide 32</vt:lpstr>
      <vt:lpstr>Process Creation</vt:lpstr>
      <vt:lpstr>Process Termination</vt:lpstr>
      <vt:lpstr>Process Termination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:  Processes   By: Navjot Kaur</dc:title>
  <dc:creator>Marilyn Turnamian</dc:creator>
  <cp:lastModifiedBy>KHUSHI</cp:lastModifiedBy>
  <cp:revision>2</cp:revision>
  <dcterms:created xsi:type="dcterms:W3CDTF">1999-07-07T12:46:17Z</dcterms:created>
  <dcterms:modified xsi:type="dcterms:W3CDTF">2025-01-24T09:55:57Z</dcterms:modified>
</cp:coreProperties>
</file>