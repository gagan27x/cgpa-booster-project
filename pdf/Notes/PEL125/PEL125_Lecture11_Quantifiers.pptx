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43" r:id="rId3"/>
    <p:sldId id="279" r:id="rId4"/>
    <p:sldId id="280" r:id="rId5"/>
    <p:sldId id="281" r:id="rId6"/>
    <p:sldId id="282" r:id="rId7"/>
    <p:sldId id="283" r:id="rId8"/>
    <p:sldId id="284" r:id="rId9"/>
    <p:sldId id="30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i Bhardwaj" userId="f62c1b4b46ba6917" providerId="LiveId" clId="{D4F81FF4-1FAF-4E5B-A0A0-9112805836E8}"/>
    <pc:docChg chg="modSld">
      <pc:chgData name="Iti Bhardwaj" userId="f62c1b4b46ba6917" providerId="LiveId" clId="{D4F81FF4-1FAF-4E5B-A0A0-9112805836E8}" dt="2024-04-25T03:57:19.692" v="4" actId="1076"/>
      <pc:docMkLst>
        <pc:docMk/>
      </pc:docMkLst>
      <pc:sldChg chg="modSp mod">
        <pc:chgData name="Iti Bhardwaj" userId="f62c1b4b46ba6917" providerId="LiveId" clId="{D4F81FF4-1FAF-4E5B-A0A0-9112805836E8}" dt="2024-04-25T03:16:51.199" v="2" actId="1036"/>
        <pc:sldMkLst>
          <pc:docMk/>
          <pc:sldMk cId="0" sldId="256"/>
        </pc:sldMkLst>
        <pc:picChg chg="mod">
          <ac:chgData name="Iti Bhardwaj" userId="f62c1b4b46ba6917" providerId="LiveId" clId="{D4F81FF4-1FAF-4E5B-A0A0-9112805836E8}" dt="2024-04-25T03:16:51.199" v="2" actId="1036"/>
          <ac:picMkLst>
            <pc:docMk/>
            <pc:sldMk cId="0" sldId="256"/>
            <ac:picMk id="9" creationId="{00000000-0000-0000-0000-000000000000}"/>
          </ac:picMkLst>
        </pc:picChg>
      </pc:sldChg>
      <pc:sldChg chg="modSp mod">
        <pc:chgData name="Iti Bhardwaj" userId="f62c1b4b46ba6917" providerId="LiveId" clId="{D4F81FF4-1FAF-4E5B-A0A0-9112805836E8}" dt="2024-04-25T03:57:19.692" v="4" actId="1076"/>
        <pc:sldMkLst>
          <pc:docMk/>
          <pc:sldMk cId="0" sldId="281"/>
        </pc:sldMkLst>
        <pc:spChg chg="mod">
          <ac:chgData name="Iti Bhardwaj" userId="f62c1b4b46ba6917" providerId="LiveId" clId="{D4F81FF4-1FAF-4E5B-A0A0-9112805836E8}" dt="2024-04-25T03:57:19.692" v="4" actId="1076"/>
          <ac:spMkLst>
            <pc:docMk/>
            <pc:sldMk cId="0" sldId="281"/>
            <ac:spMk id="7" creationId="{00000000-0000-0000-0000-000000000000}"/>
          </ac:spMkLst>
        </pc:spChg>
        <pc:picChg chg="mod">
          <ac:chgData name="Iti Bhardwaj" userId="f62c1b4b46ba6917" providerId="LiveId" clId="{D4F81FF4-1FAF-4E5B-A0A0-9112805836E8}" dt="2024-04-25T03:57:16.240" v="3" actId="14100"/>
          <ac:picMkLst>
            <pc:docMk/>
            <pc:sldMk cId="0" sldId="281"/>
            <ac:picMk id="5" creationId="{0AA16624-380E-B4BF-024F-579EDC7821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190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91540" y="557569"/>
            <a:ext cx="13376910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249246" y="3987938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80000">
            <a:off x="382686" y="524774"/>
            <a:ext cx="1952625" cy="14097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10803E1-AAFF-FDF0-1A3C-20C0B953A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702" y="900111"/>
            <a:ext cx="9144000" cy="505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1247775" y="473392"/>
            <a:ext cx="12477749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892086" y="5304791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80000">
            <a:off x="225162" y="472812"/>
            <a:ext cx="1952625" cy="14097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6E31FF7-78E7-182D-83F5-4AAFEA161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857249"/>
            <a:ext cx="106298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615315" y="473392"/>
            <a:ext cx="13757910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6200000">
            <a:off x="13144500" y="4840603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80000">
            <a:off x="315223" y="371477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1" y="639126"/>
            <a:ext cx="11630024" cy="5579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1221739" y="473392"/>
            <a:ext cx="12497435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833445" y="4935536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80000">
            <a:off x="245427" y="418373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4076" y="1076963"/>
            <a:ext cx="10810874" cy="46586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982057" y="473392"/>
            <a:ext cx="13183816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832716" y="5304371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80000">
            <a:off x="225161" y="417512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/>
          <a:srcRect l="17685" t="129" r="24398" b="84063"/>
          <a:stretch/>
        </p:blipFill>
        <p:spPr>
          <a:xfrm>
            <a:off x="1933575" y="638174"/>
            <a:ext cx="11658599" cy="882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A16624-380E-B4BF-024F-579EDC7821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768" t="15938" r="4398" b="6023"/>
          <a:stretch/>
        </p:blipFill>
        <p:spPr>
          <a:xfrm>
            <a:off x="1933575" y="1520587"/>
            <a:ext cx="10554090" cy="43563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1366519" y="554355"/>
            <a:ext cx="12339955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y)</a:t>
            </a:r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706183" y="5176700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80000">
            <a:off x="207646" y="371476"/>
            <a:ext cx="1952625" cy="1409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5433" y="1377102"/>
            <a:ext cx="9806567" cy="4517653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404347" y="570371"/>
            <a:ext cx="9072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USE OF MUCH(of) AND MANY(of)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1277619" y="554355"/>
            <a:ext cx="12505056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663075" y="4989137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80000">
            <a:off x="225161" y="448309"/>
            <a:ext cx="1952625" cy="14097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000375" y="869950"/>
            <a:ext cx="8810625" cy="944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a lot of, lots of, or plenty of</a:t>
            </a:r>
          </a:p>
          <a:p>
            <a:pPr algn="ctr"/>
            <a:endParaRPr lang="en-US" sz="320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pPr algn="ctr"/>
            <a:endParaRPr lang="en-US" sz="320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pPr algn="ctr"/>
            <a:endParaRPr lang="en-US" sz="320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pPr algn="l"/>
            <a:endParaRPr lang="en-US" sz="240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tx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795780" y="3870325"/>
            <a:ext cx="8860155" cy="1858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GB" altLang="en-US"/>
              <a:t>.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403947" y="1799243"/>
            <a:ext cx="9041765" cy="3785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en-US" sz="2800" dirty="0"/>
              <a:t>a lot of, a lots of, or plenty of are used to talk about large</a:t>
            </a:r>
          </a:p>
          <a:p>
            <a:r>
              <a:rPr lang="en-US" sz="2800" dirty="0"/>
              <a:t>amounts and quantities, particularly in conversation and informal writing.</a:t>
            </a:r>
          </a:p>
          <a:p>
            <a:r>
              <a:rPr lang="en-GB" altLang="en-US" sz="2800" dirty="0"/>
              <a:t>e.g. 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We had plenty of hotels to choose from, ('many hotels' is more formal)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I've given the problem a lot of thought, ('much thought' is very formal)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John offered me a lot of money for the car. {not much money)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190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00100" y="588644"/>
            <a:ext cx="13468350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+mn-ea"/>
              </a:rPr>
              <a:t>plentyVs a lot of</a:t>
            </a:r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670790" y="5085079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80000">
            <a:off x="225162" y="410265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rcRect b="35703"/>
          <a:stretch>
            <a:fillRect/>
          </a:stretch>
        </p:blipFill>
        <p:spPr>
          <a:xfrm>
            <a:off x="2155825" y="1753909"/>
            <a:ext cx="10883900" cy="4131271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3477895" y="3060065"/>
            <a:ext cx="5789930" cy="9683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endParaRPr lang="en-GB" altLang="en-US" sz="7200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647950" y="830579"/>
            <a:ext cx="10172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Plenty of Vs A lot of/lots of</a:t>
            </a:r>
            <a:r>
              <a:rPr lang="en-GB" altLang="en-US" sz="5400" b="1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95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1122734" y="436921"/>
            <a:ext cx="12764716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582622" y="5005842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80000">
            <a:off x="225160" y="417513"/>
            <a:ext cx="1952625" cy="14097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7F01AB3-1BEA-8F11-9DF4-F7560205E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1057275"/>
            <a:ext cx="10715625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5" y="946785"/>
            <a:ext cx="10825480" cy="591121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308209FA-08D0-7B93-15BA-AE1A87FCB972}"/>
              </a:ext>
            </a:extLst>
          </p:cNvPr>
          <p:cNvSpPr/>
          <p:nvPr/>
        </p:nvSpPr>
        <p:spPr>
          <a:xfrm>
            <a:off x="843915" y="249558"/>
            <a:ext cx="13300710" cy="660844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683D95-120B-7CCD-2D6C-6578BDDD5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299" y="1609725"/>
            <a:ext cx="11115676" cy="4513580"/>
          </a:xfrm>
          <a:prstGeom prst="rect">
            <a:avLst/>
          </a:prstGeom>
        </p:spPr>
      </p:pic>
      <p:sp>
        <p:nvSpPr>
          <p:cNvPr id="14" name="Rectangles 4">
            <a:extLst>
              <a:ext uri="{FF2B5EF4-FFF2-40B4-BE49-F238E27FC236}">
                <a16:creationId xmlns:a16="http://schemas.microsoft.com/office/drawing/2014/main" id="{0937A031-DF72-4D4B-7A0C-7439EC514E4E}"/>
              </a:ext>
            </a:extLst>
          </p:cNvPr>
          <p:cNvSpPr/>
          <p:nvPr/>
        </p:nvSpPr>
        <p:spPr>
          <a:xfrm>
            <a:off x="5972492" y="422115"/>
            <a:ext cx="3209290" cy="6756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8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+mn-ea"/>
              </a:rPr>
              <a:t>ACTIVITY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866E71-D8CB-3D98-4545-D3CC10BBE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680000">
            <a:off x="225161" y="423281"/>
            <a:ext cx="1952625" cy="1409700"/>
          </a:xfrm>
          <a:prstGeom prst="rect">
            <a:avLst/>
          </a:prstGeom>
        </p:spPr>
      </p:pic>
      <p:grpSp>
        <p:nvGrpSpPr>
          <p:cNvPr id="19" name="Group 11">
            <a:extLst>
              <a:ext uri="{FF2B5EF4-FFF2-40B4-BE49-F238E27FC236}">
                <a16:creationId xmlns:a16="http://schemas.microsoft.com/office/drawing/2014/main" id="{F1EC2153-5AEE-B6F0-F25B-3644BB29E35E}"/>
              </a:ext>
            </a:extLst>
          </p:cNvPr>
          <p:cNvGrpSpPr/>
          <p:nvPr/>
        </p:nvGrpSpPr>
        <p:grpSpPr>
          <a:xfrm rot="17700000">
            <a:off x="12713239" y="5144909"/>
            <a:ext cx="1819275" cy="1600200"/>
            <a:chOff x="0" y="0"/>
            <a:chExt cx="3373377" cy="2878439"/>
          </a:xfrm>
        </p:grpSpPr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DFE83081-BFB9-8121-1757-4577D00046B5}"/>
                </a:ext>
              </a:extLst>
            </p:cNvPr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9D8C354-6245-C642-11E6-FD4E68764B6C}"/>
                </a:ext>
              </a:extLst>
            </p:cNvPr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190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5" y="428625"/>
            <a:ext cx="13529310" cy="64293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680000">
            <a:off x="225161" y="465084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1" y="1707278"/>
            <a:ext cx="11458574" cy="4312522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083033" y="679034"/>
            <a:ext cx="9528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All (of), the whole (of), both (of )</a:t>
            </a:r>
          </a:p>
        </p:txBody>
      </p:sp>
      <p:grpSp>
        <p:nvGrpSpPr>
          <p:cNvPr id="15" name="Group 11">
            <a:extLst>
              <a:ext uri="{FF2B5EF4-FFF2-40B4-BE49-F238E27FC236}">
                <a16:creationId xmlns:a16="http://schemas.microsoft.com/office/drawing/2014/main" id="{0C1070CB-8347-37D4-28BD-4596267E9786}"/>
              </a:ext>
            </a:extLst>
          </p:cNvPr>
          <p:cNvGrpSpPr/>
          <p:nvPr/>
        </p:nvGrpSpPr>
        <p:grpSpPr>
          <a:xfrm rot="17700000">
            <a:off x="12226386" y="4489667"/>
            <a:ext cx="1819275" cy="1600200"/>
            <a:chOff x="0" y="0"/>
            <a:chExt cx="3373377" cy="2878439"/>
          </a:xfrm>
        </p:grpSpPr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A67A22D5-F6D3-0752-0D0D-B7D9436BD353}"/>
                </a:ext>
              </a:extLst>
            </p:cNvPr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F7761E92-0A96-447C-A1C3-86E5F6311EC6}"/>
                </a:ext>
              </a:extLst>
            </p:cNvPr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4" y="946785"/>
            <a:ext cx="13443585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391929" y="5130937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125730" y="402536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9275" y="2222500"/>
            <a:ext cx="11268075" cy="3595370"/>
          </a:xfrm>
          <a:prstGeom prst="rect">
            <a:avLst/>
          </a:prstGeom>
        </p:spPr>
      </p:pic>
      <p:sp>
        <p:nvSpPr>
          <p:cNvPr id="5" name="Flowchart: Process 4"/>
          <p:cNvSpPr/>
          <p:nvPr/>
        </p:nvSpPr>
        <p:spPr>
          <a:xfrm>
            <a:off x="4422140" y="628650"/>
            <a:ext cx="5883910" cy="967740"/>
          </a:xfrm>
          <a:prstGeom prst="flowChart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>
                <a:solidFill>
                  <a:schemeClr val="tx1"/>
                </a:solidFill>
              </a:rPr>
              <a:t>All (of) the and the whole (of)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95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4" y="946785"/>
            <a:ext cx="13310235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815031" y="5213487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125731" y="417513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8955" y="2126615"/>
            <a:ext cx="11507470" cy="3909695"/>
          </a:xfrm>
          <a:prstGeom prst="rect">
            <a:avLst/>
          </a:prstGeom>
        </p:spPr>
      </p:pic>
      <p:sp>
        <p:nvSpPr>
          <p:cNvPr id="5" name="Flowchart: Process 4"/>
          <p:cNvSpPr/>
          <p:nvPr/>
        </p:nvSpPr>
        <p:spPr>
          <a:xfrm>
            <a:off x="5495606" y="567055"/>
            <a:ext cx="4006850" cy="967740"/>
          </a:xfrm>
          <a:prstGeom prst="flowChart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>
                <a:solidFill>
                  <a:schemeClr val="tx1"/>
                </a:solidFill>
              </a:rPr>
              <a:t>Both (of) and all (of)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5" y="946785"/>
            <a:ext cx="13167360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049904" y="4792368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29499" y="417512"/>
            <a:ext cx="1952625" cy="1409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54752" y="1693267"/>
            <a:ext cx="8721725" cy="437578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altLang="en-US" sz="2000" dirty="0">
                <a:solidFill>
                  <a:schemeClr val="tx1"/>
                </a:solidFill>
              </a:rPr>
              <a:t>1. </a:t>
            </a:r>
            <a:r>
              <a:rPr lang="en-US" sz="2000" dirty="0">
                <a:solidFill>
                  <a:schemeClr val="tx1"/>
                </a:solidFill>
              </a:rPr>
              <a:t> All the children didn't come.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2 Many, if none of the students, could speak English fluently.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3 Almost all his spare time is spent working in the garden.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4 Both of us didn't speak again until we had reached home.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5 Everything depends on the last match of the football season.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6 </a:t>
            </a:r>
            <a:r>
              <a:rPr lang="en-US" sz="2000" dirty="0" err="1">
                <a:solidFill>
                  <a:schemeClr val="tx1"/>
                </a:solidFill>
              </a:rPr>
              <a:t>Mrs</a:t>
            </a:r>
            <a:r>
              <a:rPr lang="en-US" sz="2000" dirty="0">
                <a:solidFill>
                  <a:schemeClr val="tx1"/>
                </a:solidFill>
              </a:rPr>
              <a:t> Lee and </a:t>
            </a:r>
            <a:r>
              <a:rPr lang="en-US" sz="2000" dirty="0" err="1">
                <a:solidFill>
                  <a:schemeClr val="tx1"/>
                </a:solidFill>
              </a:rPr>
              <a:t>Mr</a:t>
            </a:r>
            <a:r>
              <a:rPr lang="en-US" sz="2000" dirty="0">
                <a:solidFill>
                  <a:schemeClr val="tx1"/>
                </a:solidFill>
              </a:rPr>
              <a:t> Pointer, them both teachers, are standing as candidates in the next election.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7 Many people suffer side-effects from taking the drug. However, these not all are bad.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8 I'm afraid neither answer is correct. Try again.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9 All at the meeting voted for Terry.</a:t>
            </a:r>
          </a:p>
        </p:txBody>
      </p:sp>
      <p:sp>
        <p:nvSpPr>
          <p:cNvPr id="5" name="Flowchart: Process 4"/>
          <p:cNvSpPr/>
          <p:nvPr/>
        </p:nvSpPr>
        <p:spPr>
          <a:xfrm>
            <a:off x="4411027" y="267653"/>
            <a:ext cx="6033135" cy="967740"/>
          </a:xfrm>
          <a:prstGeom prst="flowChart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>
                <a:solidFill>
                  <a:schemeClr val="tx1"/>
                </a:solidFill>
              </a:rPr>
              <a:t>Correct the sentences, if necessary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5" y="590551"/>
            <a:ext cx="13300710" cy="62674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125422" y="5133339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86066" y="447412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/>
          <a:srcRect l="12830" t="553" r="12164" b="76596"/>
          <a:stretch/>
        </p:blipFill>
        <p:spPr>
          <a:xfrm>
            <a:off x="2524757" y="1179911"/>
            <a:ext cx="9733918" cy="1258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5150FE-EEF1-5718-2A04-E2F6AEAD17B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4441" r="-237" b="8833"/>
          <a:stretch/>
        </p:blipFill>
        <p:spPr>
          <a:xfrm>
            <a:off x="2524757" y="2438401"/>
            <a:ext cx="9733918" cy="36748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4" y="946785"/>
            <a:ext cx="13367385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872180" y="5336042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60986" y="410264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rcRect t="6161"/>
          <a:stretch>
            <a:fillRect/>
          </a:stretch>
        </p:blipFill>
        <p:spPr>
          <a:xfrm>
            <a:off x="1630680" y="1743076"/>
            <a:ext cx="11780520" cy="4361180"/>
          </a:xfrm>
          <a:prstGeom prst="rect">
            <a:avLst/>
          </a:prstGeom>
        </p:spPr>
      </p:pic>
      <p:sp>
        <p:nvSpPr>
          <p:cNvPr id="5" name="Flowchart: Process 4"/>
          <p:cNvSpPr/>
          <p:nvPr/>
        </p:nvSpPr>
        <p:spPr>
          <a:xfrm>
            <a:off x="5317490" y="334645"/>
            <a:ext cx="4006850" cy="967740"/>
          </a:xfrm>
          <a:prstGeom prst="flowChart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>
                <a:solidFill>
                  <a:schemeClr val="tx1"/>
                </a:solidFill>
              </a:rPr>
              <a:t>USE OF ‘EVERY’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4" y="946785"/>
            <a:ext cx="13424535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altLang="en-US" sz="3200">
                <a:solidFill>
                  <a:schemeClr val="tx1"/>
                </a:solidFill>
              </a:rPr>
              <a:t>We use EACH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</a:rPr>
              <a:t>if we are thinking about the individual members of the group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</a:rPr>
              <a:t>when we are talking about both people or things in a pair:</a:t>
            </a:r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004040" y="5111115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25160" y="417513"/>
            <a:ext cx="1952625" cy="1409700"/>
          </a:xfrm>
          <a:prstGeom prst="rect">
            <a:avLst/>
          </a:prstGeom>
        </p:spPr>
      </p:pic>
      <p:sp>
        <p:nvSpPr>
          <p:cNvPr id="5" name="Flowchart: Process 4"/>
          <p:cNvSpPr/>
          <p:nvPr/>
        </p:nvSpPr>
        <p:spPr>
          <a:xfrm>
            <a:off x="5660390" y="374412"/>
            <a:ext cx="4006850" cy="967740"/>
          </a:xfrm>
          <a:prstGeom prst="flowChart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>
                <a:solidFill>
                  <a:schemeClr val="tx1"/>
                </a:solidFill>
              </a:rPr>
              <a:t>USE OF EACH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5" y="946785"/>
            <a:ext cx="13281660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710891" y="5111113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45427" y="407670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8520" y="1600200"/>
            <a:ext cx="10854055" cy="4419600"/>
          </a:xfrm>
          <a:prstGeom prst="rect">
            <a:avLst/>
          </a:prstGeom>
        </p:spPr>
      </p:pic>
      <p:sp>
        <p:nvSpPr>
          <p:cNvPr id="5" name="Flowchart: Process 4"/>
          <p:cNvSpPr/>
          <p:nvPr/>
        </p:nvSpPr>
        <p:spPr>
          <a:xfrm>
            <a:off x="5137150" y="247333"/>
            <a:ext cx="4006850" cy="967740"/>
          </a:xfrm>
          <a:prstGeom prst="flowChartProcess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dirty="0">
                <a:solidFill>
                  <a:schemeClr val="tx1"/>
                </a:solidFill>
              </a:rPr>
              <a:t>USE OF ‘ALL or EVERY’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5" y="946785"/>
            <a:ext cx="13281660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261215" y="4990465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38071" y="417513"/>
            <a:ext cx="1952625" cy="1409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rcRect r="12334"/>
          <a:stretch>
            <a:fillRect/>
          </a:stretch>
        </p:blipFill>
        <p:spPr>
          <a:xfrm>
            <a:off x="2837815" y="1532890"/>
            <a:ext cx="9251317" cy="47390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1385251" y="684174"/>
            <a:ext cx="12416473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725495" y="5028565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17685" y="452424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4221" y="1346533"/>
            <a:ext cx="10019729" cy="46412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1122733" y="759459"/>
            <a:ext cx="12793291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7700000">
            <a:off x="12710889" y="4895353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25160" y="430585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8069" y="1624965"/>
            <a:ext cx="10549255" cy="41802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4" y="946785"/>
            <a:ext cx="13405485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5836867">
            <a:off x="13024581" y="4953084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25161" y="496199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rcRect t="20133"/>
          <a:stretch>
            <a:fillRect/>
          </a:stretch>
        </p:blipFill>
        <p:spPr>
          <a:xfrm>
            <a:off x="1758950" y="1740530"/>
            <a:ext cx="11537950" cy="464566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4341548" y="355915"/>
            <a:ext cx="6003925" cy="1028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dirty="0">
                <a:solidFill>
                  <a:schemeClr val="tx1"/>
                </a:solidFill>
              </a:rPr>
              <a:t>Uses of </a:t>
            </a:r>
            <a:r>
              <a:rPr lang="en-US" sz="2400" dirty="0">
                <a:solidFill>
                  <a:schemeClr val="tx1"/>
                </a:solidFill>
              </a:rPr>
              <a:t>Few, a few (of), little, a little (of</a:t>
            </a:r>
            <a:r>
              <a:rPr lang="en-GB" altLang="en-US" sz="2400" dirty="0">
                <a:solidFill>
                  <a:schemeClr val="tx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4" y="946785"/>
            <a:ext cx="13386435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6200000">
            <a:off x="12639675" y="4792367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25161" y="417512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4100" y="1868169"/>
            <a:ext cx="10544175" cy="39808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717924" y="148309"/>
            <a:ext cx="8385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Less (than), and fewer(than)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5" y="946785"/>
            <a:ext cx="13300710" cy="59112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5967885">
            <a:off x="12931238" y="4792367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263260" y="433387"/>
            <a:ext cx="1952625" cy="1409700"/>
          </a:xfrm>
          <a:prstGeom prst="rect">
            <a:avLst/>
          </a:prstGeom>
        </p:spPr>
      </p:pic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3453679913"/>
              </p:ext>
            </p:extLst>
          </p:nvPr>
        </p:nvGraphicFramePr>
        <p:xfrm>
          <a:off x="1828800" y="1611630"/>
          <a:ext cx="11363324" cy="4639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6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1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Quantifier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without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with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some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 made some fresh coffee and handed a</a:t>
                      </a:r>
                      <a:r>
                        <a:rPr lang="en-GB" altLang="en-US" sz="2000"/>
                        <a:t> </a:t>
                      </a:r>
                      <a:r>
                        <a:rPr lang="en-US" sz="2000"/>
                        <a:t>cup to 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Some of my jewellery is missing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Don't pay any attention to what she</a:t>
                      </a:r>
                      <a:r>
                        <a:rPr lang="en-GB" altLang="en-US" sz="2000"/>
                        <a:t> </a:t>
                      </a:r>
                      <a:r>
                        <a:rPr lang="en-US" sz="2000"/>
                        <a:t>says.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Have you seen any of these new light</a:t>
                      </a:r>
                    </a:p>
                    <a:p>
                      <a:pPr>
                        <a:buNone/>
                      </a:pPr>
                      <a:r>
                        <a:rPr lang="en-US" sz="2000" dirty="0"/>
                        <a:t>bulbs in the shops yet?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much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She did the job, but without much</a:t>
                      </a:r>
                      <a:r>
                        <a:rPr lang="en-GB" altLang="en-US" sz="2000"/>
                        <a:t> </a:t>
                      </a:r>
                      <a:r>
                        <a:rPr lang="en-US" sz="2000"/>
                        <a:t>enthusiasm.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Snow is now covering much of the</a:t>
                      </a:r>
                    </a:p>
                    <a:p>
                      <a:pPr>
                        <a:buNone/>
                      </a:pPr>
                      <a:r>
                        <a:rPr lang="en-US" sz="2000"/>
                        <a:t>country.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Many talented young scientists are</a:t>
                      </a:r>
                      <a:r>
                        <a:rPr lang="en-GB" altLang="en-US" sz="2000"/>
                        <a:t> </a:t>
                      </a:r>
                      <a:r>
                        <a:rPr lang="en-US" sz="2000"/>
                        <a:t>moving to Australia.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She gave many of her best paintings to</a:t>
                      </a:r>
                      <a:r>
                        <a:rPr lang="en-GB" altLang="en-US" sz="2000"/>
                        <a:t> </a:t>
                      </a:r>
                      <a:r>
                        <a:rPr lang="en-US" sz="2000"/>
                        <a:t>her friends.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Both Alice and Tim enjoy cycling.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Both of my parents are teachers.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lowchart: Process 4"/>
          <p:cNvSpPr/>
          <p:nvPr/>
        </p:nvSpPr>
        <p:spPr>
          <a:xfrm>
            <a:off x="5066665" y="643890"/>
            <a:ext cx="3684905" cy="675640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>
                <a:solidFill>
                  <a:srgbClr val="FF0000"/>
                </a:solidFill>
              </a:rPr>
              <a:t>With or without “of”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5" y="781051"/>
            <a:ext cx="13434060" cy="60769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5557068">
            <a:off x="13368337" y="4672360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179705" y="421006"/>
            <a:ext cx="1952625" cy="1409700"/>
          </a:xfrm>
          <a:prstGeom prst="rect">
            <a:avLst/>
          </a:prstGeom>
        </p:spPr>
      </p:pic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2032557339"/>
              </p:ext>
            </p:extLst>
          </p:nvPr>
        </p:nvGraphicFramePr>
        <p:xfrm>
          <a:off x="1752433" y="1246213"/>
          <a:ext cx="11953239" cy="5017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2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0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Quantifier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 dirty="0"/>
                        <a:t>without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with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all</a:t>
                      </a:r>
                      <a:endParaRPr lang="en-GB" altLang="en-US" sz="2000"/>
                    </a:p>
                    <a:p>
                      <a:pPr>
                        <a:buNone/>
                      </a:pP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All people over 18 are required to vote.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All of Bob's closest friends were women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He wrote down the cost of each item in</a:t>
                      </a:r>
                      <a:r>
                        <a:rPr lang="en-GB" altLang="en-US" sz="2000"/>
                        <a:t> </a:t>
                      </a:r>
                      <a:r>
                        <a:rPr lang="en-US" sz="2000"/>
                        <a:t>his shopping basket.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Each of you should sign the register</a:t>
                      </a:r>
                    </a:p>
                    <a:p>
                      <a:pPr>
                        <a:buNone/>
                      </a:pPr>
                      <a:r>
                        <a:rPr lang="en-US" sz="2000"/>
                        <a:t>before you leave.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She searched the shelves for books on</a:t>
                      </a:r>
                      <a:r>
                        <a:rPr lang="en-GB" altLang="en-US" sz="2000"/>
                        <a:t> </a:t>
                      </a:r>
                      <a:r>
                        <a:rPr lang="en-US" sz="2000"/>
                        <a:t>yoga, but could find none.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 tried on lots of coats but none of them</a:t>
                      </a:r>
                    </a:p>
                    <a:p>
                      <a:pPr>
                        <a:buNone/>
                      </a:pPr>
                      <a:r>
                        <a:rPr lang="en-US" sz="2000" dirty="0"/>
                        <a:t>fitted perfectly.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few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There was silence for a few seconds, and</a:t>
                      </a:r>
                      <a:r>
                        <a:rPr lang="en-GB" altLang="en-US" sz="2000"/>
                        <a:t> </a:t>
                      </a:r>
                      <a:r>
                        <a:rPr lang="en-US" sz="2000"/>
                        <a:t>then she began to speak.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They had a few of their friends round.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2000"/>
                        <a:t>little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It'll take a little time, but I should be</a:t>
                      </a:r>
                    </a:p>
                    <a:p>
                      <a:pPr>
                        <a:buNone/>
                      </a:pPr>
                      <a:r>
                        <a:rPr lang="en-US" sz="2000" dirty="0"/>
                        <a:t>able to mend 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Little of his money came from his</a:t>
                      </a:r>
                    </a:p>
                    <a:p>
                      <a:pPr>
                        <a:buNone/>
                      </a:pPr>
                      <a:r>
                        <a:rPr lang="en-US" sz="2000" dirty="0"/>
                        <a:t>parents.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</a:blipFill>
        </p:spPr>
      </p:sp>
      <p:sp>
        <p:nvSpPr>
          <p:cNvPr id="7" name="Rounded Rectangle 6"/>
          <p:cNvSpPr/>
          <p:nvPr/>
        </p:nvSpPr>
        <p:spPr>
          <a:xfrm>
            <a:off x="843914" y="466725"/>
            <a:ext cx="13843635" cy="63912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15554881">
            <a:off x="12977735" y="4533374"/>
            <a:ext cx="1819275" cy="1600200"/>
            <a:chOff x="0" y="0"/>
            <a:chExt cx="3373377" cy="2878439"/>
          </a:xfrm>
        </p:grpSpPr>
        <p:sp>
          <p:nvSpPr>
            <p:cNvPr id="12" name="Freeform 12"/>
            <p:cNvSpPr/>
            <p:nvPr/>
          </p:nvSpPr>
          <p:spPr>
            <a:xfrm rot="5203350">
              <a:off x="445916" y="-712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203350">
              <a:off x="445916" y="-287129"/>
              <a:ext cx="2481544" cy="3236797"/>
            </a:xfrm>
            <a:custGeom>
              <a:avLst/>
              <a:gdLst/>
              <a:ahLst/>
              <a:cxnLst/>
              <a:rect l="l" t="t" r="r" b="b"/>
              <a:pathLst>
                <a:path w="2481544" h="3236797">
                  <a:moveTo>
                    <a:pt x="0" y="0"/>
                  </a:moveTo>
                  <a:lnTo>
                    <a:pt x="2481545" y="0"/>
                  </a:lnTo>
                  <a:lnTo>
                    <a:pt x="2481545" y="3236797"/>
                  </a:lnTo>
                  <a:lnTo>
                    <a:pt x="0" y="3236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80000">
            <a:off x="374332" y="417512"/>
            <a:ext cx="1952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2040" y="1381125"/>
            <a:ext cx="10982960" cy="45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581</Words>
  <Application>Microsoft Office PowerPoint</Application>
  <PresentationFormat>Widescreen</PresentationFormat>
  <Paragraphs>80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radhasoami</dc:creator>
  <cp:lastModifiedBy>Iti Bhardwaj</cp:lastModifiedBy>
  <cp:revision>39</cp:revision>
  <dcterms:created xsi:type="dcterms:W3CDTF">2024-01-03T09:56:00Z</dcterms:created>
  <dcterms:modified xsi:type="dcterms:W3CDTF">2024-04-25T03:57:23Z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B88DB589A3324AA3B144692D0DDF17CA_11</vt:lpwstr>
  </property>
  <property fmtid="{D5CDD505-2E9C-101B-9397-08002B2CF9AE}" pid="3" name="KSOProductBuildVer">
    <vt:lpwstr>1033-12.2.0.13359</vt:lpwstr>
  </property>
</Properties>
</file>