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ti Bhardwaj" userId="f62c1b4b46ba6917" providerId="LiveId" clId="{606D098B-1F62-4C9E-B58F-38EC1208E2E5}"/>
    <pc:docChg chg="modSld">
      <pc:chgData name="Iti Bhardwaj" userId="f62c1b4b46ba6917" providerId="LiveId" clId="{606D098B-1F62-4C9E-B58F-38EC1208E2E5}" dt="2024-01-29T10:56:37.353" v="22" actId="14100"/>
      <pc:docMkLst>
        <pc:docMk/>
      </pc:docMkLst>
      <pc:sldChg chg="modSp mod">
        <pc:chgData name="Iti Bhardwaj" userId="f62c1b4b46ba6917" providerId="LiveId" clId="{606D098B-1F62-4C9E-B58F-38EC1208E2E5}" dt="2024-01-29T08:41:45.846" v="20" actId="20577"/>
        <pc:sldMkLst>
          <pc:docMk/>
          <pc:sldMk cId="0" sldId="257"/>
        </pc:sldMkLst>
        <pc:spChg chg="mod">
          <ac:chgData name="Iti Bhardwaj" userId="f62c1b4b46ba6917" providerId="LiveId" clId="{606D098B-1F62-4C9E-B58F-38EC1208E2E5}" dt="2024-01-29T08:41:45.846" v="20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Iti Bhardwaj" userId="f62c1b4b46ba6917" providerId="LiveId" clId="{606D098B-1F62-4C9E-B58F-38EC1208E2E5}" dt="2024-01-29T10:56:37.353" v="22" actId="14100"/>
        <pc:sldMkLst>
          <pc:docMk/>
          <pc:sldMk cId="0" sldId="277"/>
        </pc:sldMkLst>
        <pc:picChg chg="mod">
          <ac:chgData name="Iti Bhardwaj" userId="f62c1b4b46ba6917" providerId="LiveId" clId="{606D098B-1F62-4C9E-B58F-38EC1208E2E5}" dt="2024-01-29T10:56:37.353" v="22" actId="14100"/>
          <ac:picMkLst>
            <pc:docMk/>
            <pc:sldMk cId="0" sldId="277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472429" y="1439113"/>
            <a:ext cx="1246504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182626"/>
            <a:ext cx="1001649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5164" y="1194307"/>
            <a:ext cx="10821670" cy="4416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>
                <a:solidFill>
                  <a:srgbClr val="FFFFFF"/>
                </a:solidFill>
              </a:rPr>
              <a:t>Tense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69333" y="2443988"/>
            <a:ext cx="30657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Week</a:t>
            </a:r>
            <a:r>
              <a:rPr sz="32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"/>
                <a:cs typeface="Arial"/>
              </a:rPr>
              <a:t>2_PEL125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Use</a:t>
            </a:r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Will</a:t>
            </a:r>
            <a:r>
              <a:rPr spc="-2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going</a:t>
            </a:r>
            <a:r>
              <a:rPr spc="-35" dirty="0"/>
              <a:t> </a:t>
            </a:r>
            <a:r>
              <a:rPr spc="-25" dirty="0"/>
              <a:t>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194307"/>
            <a:ext cx="10484485" cy="465063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8255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/>
                <a:cs typeface="Times New Roman"/>
              </a:rPr>
              <a:t>Will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lang="en-US" sz="3200" spc="-25" dirty="0">
                <a:latin typeface="Times New Roman"/>
                <a:cs typeface="Times New Roman"/>
              </a:rPr>
              <a:t>/</a:t>
            </a:r>
            <a:r>
              <a:rPr sz="3200" dirty="0">
                <a:latin typeface="Times New Roman"/>
                <a:cs typeface="Times New Roman"/>
              </a:rPr>
              <a:t>going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+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infinitive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commonly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used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talk about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future.</a:t>
            </a:r>
            <a:endParaRPr sz="3200" dirty="0">
              <a:latin typeface="Times New Roman"/>
              <a:cs typeface="Times New Roman"/>
            </a:endParaRPr>
          </a:p>
          <a:p>
            <a:pPr marL="12700" marR="926465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Times New Roman"/>
                <a:cs typeface="Times New Roman"/>
              </a:rPr>
              <a:t>e.g.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•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John'll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/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John's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going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meet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 restaurant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at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8 </a:t>
            </a:r>
            <a:r>
              <a:rPr sz="3200" spc="-10" dirty="0">
                <a:latin typeface="Times New Roman"/>
                <a:cs typeface="Times New Roman"/>
              </a:rPr>
              <a:t>o'clock.</a:t>
            </a:r>
            <a:endParaRPr lang="en-US" sz="3200" spc="-10" dirty="0">
              <a:latin typeface="Times New Roman"/>
              <a:cs typeface="Times New Roman"/>
            </a:endParaRPr>
          </a:p>
          <a:p>
            <a:pPr marL="12700" marR="926465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Times New Roman"/>
                <a:cs typeface="Times New Roman"/>
              </a:rPr>
              <a:t>Will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you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/</a:t>
            </a:r>
            <a:r>
              <a:rPr sz="3200" spc="-2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you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going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back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this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evening? </a:t>
            </a:r>
            <a:r>
              <a:rPr sz="3200" dirty="0">
                <a:latin typeface="Times New Roman"/>
                <a:cs typeface="Times New Roman"/>
              </a:rPr>
              <a:t>However,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going</a:t>
            </a:r>
            <a:r>
              <a:rPr sz="3200" b="1" spc="-5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to</a:t>
            </a:r>
            <a:r>
              <a:rPr sz="3200" b="1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preferred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spoken</a:t>
            </a:r>
            <a:r>
              <a:rPr sz="3200" b="1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English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(where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is </a:t>
            </a:r>
            <a:r>
              <a:rPr sz="3200" dirty="0">
                <a:latin typeface="Times New Roman"/>
                <a:cs typeface="Times New Roman"/>
              </a:rPr>
              <a:t>often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pronounced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/дэпэ/)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will</a:t>
            </a:r>
            <a:r>
              <a:rPr sz="3200" b="1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preferred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formal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written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spc="-10" dirty="0">
                <a:latin typeface="Times New Roman"/>
                <a:cs typeface="Times New Roman"/>
              </a:rPr>
              <a:t>English.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194307"/>
            <a:ext cx="10752455" cy="4318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spc="-95" dirty="0">
                <a:latin typeface="Times New Roman"/>
                <a:cs typeface="Times New Roman"/>
              </a:rPr>
              <a:t>We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Going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to</a:t>
            </a:r>
            <a:r>
              <a:rPr sz="3200" b="1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when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PREDICT</a:t>
            </a:r>
            <a:r>
              <a:rPr sz="3200" b="1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something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will </a:t>
            </a:r>
            <a:r>
              <a:rPr sz="3200" dirty="0">
                <a:latin typeface="Times New Roman"/>
                <a:cs typeface="Times New Roman"/>
              </a:rPr>
              <a:t>happen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future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because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have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some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evidence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now.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Times New Roman"/>
                <a:cs typeface="Times New Roman"/>
              </a:rPr>
              <a:t>e.g.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Did you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know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Bob and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Kath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going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 get </a:t>
            </a:r>
            <a:r>
              <a:rPr sz="3200" spc="-10" dirty="0">
                <a:latin typeface="Times New Roman"/>
                <a:cs typeface="Times New Roman"/>
              </a:rPr>
              <a:t>married?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95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 marR="374015" indent="398780">
              <a:lnSpc>
                <a:spcPct val="100000"/>
              </a:lnSpc>
              <a:tabLst>
                <a:tab pos="5102860" algn="l"/>
              </a:tabLst>
            </a:pPr>
            <a:r>
              <a:rPr sz="3200" spc="-95" dirty="0">
                <a:latin typeface="Times New Roman"/>
                <a:cs typeface="Times New Roman"/>
              </a:rPr>
              <a:t>We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Will</a:t>
            </a:r>
            <a:r>
              <a:rPr sz="3200" b="1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if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prediction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is</a:t>
            </a:r>
            <a:r>
              <a:rPr sz="3200" dirty="0">
                <a:latin typeface="Times New Roman"/>
                <a:cs typeface="Times New Roman"/>
              </a:rPr>
              <a:t>	based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our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opinion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our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past </a:t>
            </a:r>
            <a:r>
              <a:rPr sz="3200" dirty="0">
                <a:latin typeface="Times New Roman"/>
                <a:cs typeface="Times New Roman"/>
              </a:rPr>
              <a:t>experience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will:</a:t>
            </a:r>
            <a:endParaRPr sz="3200">
              <a:latin typeface="Times New Roman"/>
              <a:cs typeface="Times New Roman"/>
            </a:endParaRPr>
          </a:p>
          <a:p>
            <a:pPr marL="12700" marR="21336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Times New Roman"/>
                <a:cs typeface="Times New Roman"/>
              </a:rPr>
              <a:t>e.g.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Why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not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over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at the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weekend?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children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will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enjoy </a:t>
            </a:r>
            <a:r>
              <a:rPr sz="3200" dirty="0">
                <a:latin typeface="Times New Roman"/>
                <a:cs typeface="Times New Roman"/>
              </a:rPr>
              <a:t>seeing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you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again.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194307"/>
            <a:ext cx="10587355" cy="4318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6891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When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talk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about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INTENTIONS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DECISIONS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about</a:t>
            </a:r>
            <a:r>
              <a:rPr sz="3200" spc="-25" dirty="0">
                <a:latin typeface="Times New Roman"/>
                <a:cs typeface="Times New Roman"/>
              </a:rPr>
              <a:t> the </a:t>
            </a:r>
            <a:r>
              <a:rPr sz="3200" dirty="0">
                <a:latin typeface="Times New Roman"/>
                <a:cs typeface="Times New Roman"/>
              </a:rPr>
              <a:t>future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were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made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some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time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before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report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them,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we </a:t>
            </a:r>
            <a:r>
              <a:rPr sz="3200" dirty="0">
                <a:latin typeface="Times New Roman"/>
                <a:cs typeface="Times New Roman"/>
              </a:rPr>
              <a:t>prefer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going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to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present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continuous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803275" algn="l"/>
              </a:tabLst>
            </a:pPr>
            <a:r>
              <a:rPr sz="3200" spc="-20" dirty="0">
                <a:latin typeface="Times New Roman"/>
                <a:cs typeface="Times New Roman"/>
              </a:rPr>
              <a:t>e.g.</a:t>
            </a:r>
            <a:r>
              <a:rPr sz="3200" dirty="0">
                <a:latin typeface="Times New Roman"/>
                <a:cs typeface="Times New Roman"/>
              </a:rPr>
              <a:t>	'Who's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arranging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party?'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'Jo's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going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do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it.'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95"/>
              </a:spcBef>
            </a:pP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When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state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decision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made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at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moment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speaking,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we </a:t>
            </a:r>
            <a:r>
              <a:rPr sz="3200" dirty="0">
                <a:latin typeface="Times New Roman"/>
                <a:cs typeface="Times New Roman"/>
              </a:rPr>
              <a:t>prefer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will: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Times New Roman"/>
                <a:cs typeface="Times New Roman"/>
              </a:rPr>
              <a:t>e.g.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'Is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phone?"Don't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worry.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I'll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get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it.'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792226"/>
            <a:ext cx="10778490" cy="5782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spc="-95" dirty="0">
                <a:latin typeface="Times New Roman"/>
                <a:cs typeface="Times New Roman"/>
              </a:rPr>
              <a:t>We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will</a:t>
            </a:r>
            <a:r>
              <a:rPr sz="3200" b="1" spc="-3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or</a:t>
            </a:r>
            <a:r>
              <a:rPr sz="3200" b="1" spc="-7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going</a:t>
            </a:r>
            <a:r>
              <a:rPr sz="3200" b="1" spc="-5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to</a:t>
            </a:r>
            <a:r>
              <a:rPr sz="3200" b="1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main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clause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if-</a:t>
            </a:r>
            <a:r>
              <a:rPr sz="3200" spc="-10" dirty="0">
                <a:latin typeface="Times New Roman"/>
                <a:cs typeface="Times New Roman"/>
              </a:rPr>
              <a:t>sentence </a:t>
            </a:r>
            <a:r>
              <a:rPr sz="3200" dirty="0">
                <a:latin typeface="Times New Roman"/>
                <a:cs typeface="Times New Roman"/>
              </a:rPr>
              <a:t>when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 say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something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(often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something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negative</a:t>
            </a:r>
            <a:r>
              <a:rPr sz="3200" dirty="0">
                <a:latin typeface="Times New Roman"/>
                <a:cs typeface="Times New Roman"/>
              </a:rPr>
              <a:t>)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is </a:t>
            </a:r>
            <a:r>
              <a:rPr sz="3200" dirty="0">
                <a:latin typeface="Times New Roman"/>
                <a:cs typeface="Times New Roman"/>
              </a:rPr>
              <a:t>conditional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something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else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-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will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happen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if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something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else </a:t>
            </a:r>
            <a:r>
              <a:rPr sz="3200" dirty="0">
                <a:latin typeface="Times New Roman"/>
                <a:cs typeface="Times New Roman"/>
              </a:rPr>
              <a:t>happens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first:</a:t>
            </a:r>
            <a:endParaRPr sz="3200">
              <a:latin typeface="Times New Roman"/>
              <a:cs typeface="Times New Roman"/>
            </a:endParaRPr>
          </a:p>
          <a:p>
            <a:pPr marL="12700" marR="1196340">
              <a:lnSpc>
                <a:spcPct val="100000"/>
              </a:lnSpc>
              <a:spcBef>
                <a:spcPts val="770"/>
              </a:spcBef>
              <a:tabLst>
                <a:tab pos="803275" algn="l"/>
              </a:tabLst>
            </a:pPr>
            <a:r>
              <a:rPr sz="3200" spc="-20" dirty="0">
                <a:latin typeface="Times New Roman"/>
                <a:cs typeface="Times New Roman"/>
              </a:rPr>
              <a:t>e.g.</a:t>
            </a:r>
            <a:r>
              <a:rPr sz="3200" dirty="0">
                <a:latin typeface="Times New Roman"/>
                <a:cs typeface="Times New Roman"/>
              </a:rPr>
              <a:t>	If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 go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like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this,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we'll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/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we're going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lose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all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our </a:t>
            </a:r>
            <a:r>
              <a:rPr sz="3200" spc="-10" dirty="0">
                <a:latin typeface="Times New Roman"/>
                <a:cs typeface="Times New Roman"/>
              </a:rPr>
              <a:t>money.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0"/>
              </a:spcBef>
            </a:pPr>
            <a:endParaRPr sz="3200">
              <a:latin typeface="Times New Roman"/>
              <a:cs typeface="Times New Roman"/>
            </a:endParaRPr>
          </a:p>
          <a:p>
            <a:pPr marL="355600" marR="713105" indent="-342900">
              <a:lnSpc>
                <a:spcPct val="100000"/>
              </a:lnSpc>
              <a:buChar char="•"/>
              <a:tabLst>
                <a:tab pos="355600" algn="l"/>
                <a:tab pos="652780" algn="l"/>
              </a:tabLst>
            </a:pPr>
            <a:r>
              <a:rPr sz="3200" dirty="0">
                <a:latin typeface="Arial"/>
                <a:cs typeface="Arial"/>
              </a:rPr>
              <a:t>	</a:t>
            </a:r>
            <a:r>
              <a:rPr sz="3200" spc="-100" dirty="0">
                <a:latin typeface="Times New Roman"/>
                <a:cs typeface="Times New Roman"/>
              </a:rPr>
              <a:t>We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will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(or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another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auxiliary),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not</a:t>
            </a:r>
            <a:r>
              <a:rPr sz="3200" b="1" spc="-3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going</a:t>
            </a:r>
            <a:r>
              <a:rPr sz="3200" b="1" spc="-4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to</a:t>
            </a:r>
            <a:r>
              <a:rPr sz="3200" dirty="0">
                <a:latin typeface="Times New Roman"/>
                <a:cs typeface="Times New Roman"/>
              </a:rPr>
              <a:t>,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when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we </a:t>
            </a:r>
            <a:r>
              <a:rPr sz="3200" dirty="0">
                <a:latin typeface="Times New Roman"/>
                <a:cs typeface="Times New Roman"/>
              </a:rPr>
              <a:t>describe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future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follows</a:t>
            </a:r>
            <a:r>
              <a:rPr sz="3200" b="1" spc="-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another.</a:t>
            </a:r>
            <a:endParaRPr sz="3200">
              <a:latin typeface="Times New Roman"/>
              <a:cs typeface="Times New Roman"/>
            </a:endParaRPr>
          </a:p>
          <a:p>
            <a:pPr marL="12700" marR="652145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Times New Roman"/>
                <a:cs typeface="Times New Roman"/>
              </a:rPr>
              <a:t>e.g.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If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you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move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 your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left,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you'll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(or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may)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able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the </a:t>
            </a:r>
            <a:r>
              <a:rPr sz="3200" spc="-10" dirty="0">
                <a:latin typeface="Times New Roman"/>
                <a:cs typeface="Times New Roman"/>
              </a:rPr>
              <a:t>church.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2560" y="260604"/>
            <a:ext cx="9453372" cy="63078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352043"/>
            <a:ext cx="10972800" cy="59557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816686"/>
            <a:ext cx="10262235" cy="5294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23825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When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 talk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about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INTENTION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 do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something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future,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where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definite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arrangement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been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made,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we </a:t>
            </a:r>
            <a:r>
              <a:rPr sz="3200" dirty="0">
                <a:latin typeface="Times New Roman"/>
                <a:cs typeface="Times New Roman"/>
              </a:rPr>
              <a:t>prefer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going</a:t>
            </a:r>
            <a:r>
              <a:rPr sz="3200" b="1" spc="-20" dirty="0">
                <a:latin typeface="Times New Roman"/>
                <a:cs typeface="Times New Roman"/>
              </a:rPr>
              <a:t> </a:t>
            </a:r>
            <a:r>
              <a:rPr sz="3200" b="1" spc="-25" dirty="0">
                <a:latin typeface="Times New Roman"/>
                <a:cs typeface="Times New Roman"/>
              </a:rPr>
              <a:t>to</a:t>
            </a:r>
            <a:r>
              <a:rPr sz="3200" spc="-2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12700" marR="308610">
              <a:lnSpc>
                <a:spcPct val="100000"/>
              </a:lnSpc>
              <a:spcBef>
                <a:spcPts val="770"/>
              </a:spcBef>
              <a:tabLst>
                <a:tab pos="803275" algn="l"/>
              </a:tabLst>
            </a:pPr>
            <a:r>
              <a:rPr sz="3200" spc="-25" dirty="0">
                <a:latin typeface="Times New Roman"/>
                <a:cs typeface="Times New Roman"/>
              </a:rPr>
              <a:t>e.g</a:t>
            </a:r>
            <a:r>
              <a:rPr sz="3200" dirty="0">
                <a:latin typeface="Times New Roman"/>
                <a:cs typeface="Times New Roman"/>
              </a:rPr>
              <a:t>	I'm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still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not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feeling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very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well, so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 think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I'm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going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 </a:t>
            </a:r>
            <a:r>
              <a:rPr sz="3200" spc="-25" dirty="0">
                <a:latin typeface="Times New Roman"/>
                <a:cs typeface="Times New Roman"/>
              </a:rPr>
              <a:t>see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doctor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some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time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this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week.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(Indefinite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arrangement)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0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 marR="920750">
              <a:lnSpc>
                <a:spcPct val="100000"/>
              </a:lnSpc>
            </a:pPr>
            <a:r>
              <a:rPr sz="3200" dirty="0">
                <a:latin typeface="Times New Roman"/>
                <a:cs typeface="Times New Roman"/>
              </a:rPr>
              <a:t>When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talk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about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DEFINITE</a:t>
            </a:r>
            <a:r>
              <a:rPr sz="3200" spc="-204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ARRANGEMENT,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we </a:t>
            </a:r>
            <a:r>
              <a:rPr sz="3200" dirty="0">
                <a:latin typeface="Times New Roman"/>
                <a:cs typeface="Times New Roman"/>
              </a:rPr>
              <a:t>prefer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present</a:t>
            </a:r>
            <a:r>
              <a:rPr sz="3200" b="1" spc="-6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continuous</a:t>
            </a:r>
            <a:r>
              <a:rPr sz="3200" spc="-10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12700" marR="5080" indent="10160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Times New Roman"/>
                <a:cs typeface="Times New Roman"/>
              </a:rPr>
              <a:t>e.g.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We're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having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party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Sunday,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12th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November.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you </a:t>
            </a:r>
            <a:r>
              <a:rPr sz="3200" dirty="0">
                <a:latin typeface="Times New Roman"/>
                <a:cs typeface="Times New Roman"/>
              </a:rPr>
              <a:t>come?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(Definite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arrangement)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213106"/>
            <a:ext cx="10749280" cy="5885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Arial"/>
                <a:cs typeface="Arial"/>
              </a:rPr>
              <a:t>We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don't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use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the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present</a:t>
            </a:r>
            <a:r>
              <a:rPr sz="3200" spc="-7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continuous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for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the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future: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3200">
              <a:latin typeface="Arial"/>
              <a:cs typeface="Arial"/>
            </a:endParaRPr>
          </a:p>
          <a:p>
            <a:pPr marL="355600" marR="890905" indent="-342900">
              <a:lnSpc>
                <a:spcPct val="100000"/>
              </a:lnSpc>
              <a:buFont typeface="Times New Roman"/>
              <a:buChar char="•"/>
              <a:tabLst>
                <a:tab pos="355600" algn="l"/>
              </a:tabLst>
            </a:pPr>
            <a:r>
              <a:rPr sz="3200" b="1" dirty="0">
                <a:latin typeface="Times New Roman"/>
                <a:cs typeface="Times New Roman"/>
              </a:rPr>
              <a:t>when</a:t>
            </a:r>
            <a:r>
              <a:rPr sz="3200" b="1" spc="-3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we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make</a:t>
            </a:r>
            <a:r>
              <a:rPr sz="3200" b="1" spc="-2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or</a:t>
            </a:r>
            <a:r>
              <a:rPr sz="3200" b="1" spc="-7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report</a:t>
            </a:r>
            <a:r>
              <a:rPr sz="3200" b="1" spc="-5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predictions</a:t>
            </a:r>
            <a:r>
              <a:rPr sz="3200" b="1" spc="-4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about</a:t>
            </a:r>
            <a:r>
              <a:rPr sz="3200" b="1" spc="-4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activities</a:t>
            </a:r>
            <a:r>
              <a:rPr sz="3200" b="1" spc="-45" dirty="0">
                <a:latin typeface="Times New Roman"/>
                <a:cs typeface="Times New Roman"/>
              </a:rPr>
              <a:t> </a:t>
            </a:r>
            <a:r>
              <a:rPr sz="3200" b="1" spc="-25" dirty="0">
                <a:latin typeface="Times New Roman"/>
                <a:cs typeface="Times New Roman"/>
              </a:rPr>
              <a:t>or </a:t>
            </a:r>
            <a:r>
              <a:rPr sz="3200" b="1" dirty="0">
                <a:latin typeface="Times New Roman"/>
                <a:cs typeface="Times New Roman"/>
              </a:rPr>
              <a:t>events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over</a:t>
            </a:r>
            <a:r>
              <a:rPr sz="3200" b="1" spc="-7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which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we</a:t>
            </a:r>
            <a:r>
              <a:rPr sz="3200" b="1" spc="-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have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no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control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Times New Roman"/>
                <a:cs typeface="Times New Roman"/>
              </a:rPr>
              <a:t>e.g.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think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it's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going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rain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/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'11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rain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soon,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(not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think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it's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raining soon.)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Times New Roman"/>
              <a:buChar char="•"/>
              <a:tabLst>
                <a:tab pos="354965" algn="l"/>
              </a:tabLst>
            </a:pPr>
            <a:r>
              <a:rPr sz="3200" b="1" dirty="0">
                <a:latin typeface="Times New Roman"/>
                <a:cs typeface="Times New Roman"/>
              </a:rPr>
              <a:t>when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we</a:t>
            </a:r>
            <a:r>
              <a:rPr sz="3200" b="1" spc="-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talk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about</a:t>
            </a:r>
            <a:r>
              <a:rPr sz="3200" b="1" spc="-4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permanent</a:t>
            </a:r>
            <a:r>
              <a:rPr sz="3200" b="1" spc="-3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future</a:t>
            </a:r>
            <a:r>
              <a:rPr sz="3200" b="1" spc="-2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situations</a:t>
            </a:r>
            <a:endParaRPr sz="320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Times New Roman"/>
                <a:cs typeface="Times New Roman"/>
              </a:rPr>
              <a:t>e.g.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People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 going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live /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will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live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longer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future,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(not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latin typeface="Times New Roman"/>
                <a:cs typeface="Times New Roman"/>
              </a:rPr>
              <a:t>...are</a:t>
            </a:r>
            <a:r>
              <a:rPr sz="3200" spc="-10" dirty="0">
                <a:latin typeface="Times New Roman"/>
                <a:cs typeface="Times New Roman"/>
              </a:rPr>
              <a:t> living...)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Times New Roman"/>
              <a:buChar char="•"/>
              <a:tabLst>
                <a:tab pos="354965" algn="l"/>
              </a:tabLst>
            </a:pPr>
            <a:r>
              <a:rPr sz="3200" b="1" dirty="0">
                <a:latin typeface="Times New Roman"/>
                <a:cs typeface="Times New Roman"/>
              </a:rPr>
              <a:t>with</a:t>
            </a:r>
            <a:r>
              <a:rPr sz="3200" b="1" spc="-1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the</a:t>
            </a:r>
            <a:r>
              <a:rPr sz="3200" b="1" spc="-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verb</a:t>
            </a:r>
            <a:r>
              <a:rPr sz="3200" b="1" spc="-25" dirty="0">
                <a:latin typeface="Times New Roman"/>
                <a:cs typeface="Times New Roman"/>
              </a:rPr>
              <a:t> be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Times New Roman"/>
                <a:cs typeface="Times New Roman"/>
              </a:rPr>
              <a:t>e.g.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I'm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going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Tokyo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May.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(not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I'm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being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Tokyo...)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182626"/>
            <a:ext cx="5666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Going</a:t>
            </a:r>
            <a:r>
              <a:rPr spc="-25" dirty="0"/>
              <a:t> </a:t>
            </a:r>
            <a:r>
              <a:rPr dirty="0"/>
              <a:t>to+go</a:t>
            </a:r>
            <a:r>
              <a:rPr spc="-25" dirty="0"/>
              <a:t> OR</a:t>
            </a:r>
            <a:r>
              <a:rPr dirty="0"/>
              <a:t>	Be</a:t>
            </a:r>
            <a:r>
              <a:rPr spc="-15" dirty="0"/>
              <a:t> </a:t>
            </a:r>
            <a:r>
              <a:rPr spc="-10" dirty="0"/>
              <a:t>+going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194307"/>
            <a:ext cx="10713085" cy="4318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0066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spc="-95" dirty="0">
                <a:latin typeface="Times New Roman"/>
                <a:cs typeface="Times New Roman"/>
              </a:rPr>
              <a:t>We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tend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avoid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going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+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go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present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continuous </a:t>
            </a:r>
            <a:r>
              <a:rPr sz="3200" dirty="0">
                <a:latin typeface="Times New Roman"/>
                <a:cs typeface="Times New Roman"/>
              </a:rPr>
              <a:t>form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go</a:t>
            </a:r>
            <a:r>
              <a:rPr sz="3200" spc="-10" dirty="0">
                <a:latin typeface="Times New Roman"/>
                <a:cs typeface="Times New Roman"/>
              </a:rPr>
              <a:t> instead: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95"/>
              </a:spcBef>
              <a:buFont typeface="Times New Roman"/>
              <a:buChar char="•"/>
            </a:pP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spc="-20" dirty="0">
                <a:latin typeface="Times New Roman"/>
                <a:cs typeface="Times New Roman"/>
              </a:rPr>
              <a:t>e.g.</a:t>
            </a:r>
            <a:endParaRPr sz="3200">
              <a:latin typeface="Times New Roman"/>
              <a:cs typeface="Times New Roman"/>
            </a:endParaRPr>
          </a:p>
          <a:p>
            <a:pPr marL="355600" marR="18923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  <a:tab pos="457834" algn="l"/>
              </a:tabLst>
            </a:pPr>
            <a:r>
              <a:rPr sz="3200" dirty="0">
                <a:latin typeface="Arial"/>
                <a:cs typeface="Arial"/>
              </a:rPr>
              <a:t>	</a:t>
            </a:r>
            <a:r>
              <a:rPr sz="3200" dirty="0">
                <a:latin typeface="Times New Roman"/>
                <a:cs typeface="Times New Roman"/>
              </a:rPr>
              <a:t>I'</a:t>
            </a:r>
            <a:r>
              <a:rPr sz="3200" b="1" dirty="0">
                <a:latin typeface="Times New Roman"/>
                <a:cs typeface="Times New Roman"/>
              </a:rPr>
              <a:t>m</a:t>
            </a:r>
            <a:r>
              <a:rPr sz="3200" b="1" spc="-2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going</a:t>
            </a:r>
            <a:r>
              <a:rPr sz="3200" b="1" spc="-4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to</a:t>
            </a:r>
            <a:r>
              <a:rPr sz="3200" b="1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town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Saturday,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(rather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than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I'm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going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go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to </a:t>
            </a:r>
            <a:r>
              <a:rPr sz="3200" spc="-10" dirty="0">
                <a:latin typeface="Times New Roman"/>
                <a:cs typeface="Times New Roman"/>
              </a:rPr>
              <a:t>town...)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  <a:tab pos="434975" algn="l"/>
              </a:tabLst>
            </a:pPr>
            <a:r>
              <a:rPr sz="3200" dirty="0">
                <a:latin typeface="Arial"/>
                <a:cs typeface="Arial"/>
              </a:rPr>
              <a:t>	</a:t>
            </a:r>
            <a:r>
              <a:rPr sz="3200" dirty="0">
                <a:latin typeface="Times New Roman"/>
                <a:cs typeface="Times New Roman"/>
              </a:rPr>
              <a:t>Alice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is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going</a:t>
            </a:r>
            <a:r>
              <a:rPr sz="3200" b="1" spc="-4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to</a:t>
            </a:r>
            <a:r>
              <a:rPr sz="3200" b="1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university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next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year,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(rather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...is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going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go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 </a:t>
            </a:r>
            <a:r>
              <a:rPr sz="3200" spc="-10" dirty="0">
                <a:latin typeface="Times New Roman"/>
                <a:cs typeface="Times New Roman"/>
              </a:rPr>
              <a:t>university...)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Uses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Present</a:t>
            </a:r>
            <a:r>
              <a:rPr spc="-5" dirty="0"/>
              <a:t> </a:t>
            </a:r>
            <a:r>
              <a:rPr dirty="0"/>
              <a:t>Simple</a:t>
            </a:r>
            <a:r>
              <a:rPr spc="-10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spc="-10" dirty="0"/>
              <a:t>Future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8775" marR="50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8775" algn="l"/>
              </a:tabLst>
            </a:pPr>
            <a:r>
              <a:rPr spc="-95" dirty="0"/>
              <a:t>We</a:t>
            </a:r>
            <a:r>
              <a:rPr spc="-30" dirty="0"/>
              <a:t> </a:t>
            </a:r>
            <a:r>
              <a:rPr dirty="0"/>
              <a:t>use</a:t>
            </a:r>
            <a:r>
              <a:rPr spc="-1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present</a:t>
            </a:r>
            <a:r>
              <a:rPr spc="-50" dirty="0"/>
              <a:t> </a:t>
            </a:r>
            <a:r>
              <a:rPr dirty="0"/>
              <a:t>simple</a:t>
            </a:r>
            <a:r>
              <a:rPr spc="-35" dirty="0"/>
              <a:t> </a:t>
            </a:r>
            <a:r>
              <a:rPr dirty="0"/>
              <a:t>when</a:t>
            </a:r>
            <a:r>
              <a:rPr spc="-30" dirty="0"/>
              <a:t> </a:t>
            </a:r>
            <a:r>
              <a:rPr dirty="0"/>
              <a:t>we</a:t>
            </a:r>
            <a:r>
              <a:rPr spc="-20" dirty="0"/>
              <a:t> </a:t>
            </a:r>
            <a:r>
              <a:rPr dirty="0"/>
              <a:t>talk</a:t>
            </a:r>
            <a:r>
              <a:rPr spc="-25" dirty="0"/>
              <a:t> </a:t>
            </a:r>
            <a:r>
              <a:rPr dirty="0"/>
              <a:t>about</a:t>
            </a:r>
            <a:r>
              <a:rPr spc="-45" dirty="0"/>
              <a:t> </a:t>
            </a:r>
            <a:r>
              <a:rPr dirty="0"/>
              <a:t>future</a:t>
            </a:r>
            <a:r>
              <a:rPr spc="-50" dirty="0"/>
              <a:t> </a:t>
            </a:r>
            <a:r>
              <a:rPr dirty="0"/>
              <a:t>events</a:t>
            </a:r>
            <a:r>
              <a:rPr spc="-40" dirty="0"/>
              <a:t> </a:t>
            </a:r>
            <a:r>
              <a:rPr spc="-20" dirty="0"/>
              <a:t>that </a:t>
            </a:r>
            <a:r>
              <a:rPr dirty="0"/>
              <a:t>are</a:t>
            </a:r>
            <a:r>
              <a:rPr spc="-10" dirty="0"/>
              <a:t> </a:t>
            </a:r>
            <a:r>
              <a:rPr dirty="0"/>
              <a:t>part</a:t>
            </a:r>
            <a:r>
              <a:rPr spc="-30" dirty="0"/>
              <a:t> </a:t>
            </a:r>
            <a:r>
              <a:rPr dirty="0"/>
              <a:t>of some</a:t>
            </a:r>
            <a:r>
              <a:rPr spc="-40" dirty="0"/>
              <a:t> </a:t>
            </a:r>
            <a:r>
              <a:rPr b="1" dirty="0">
                <a:latin typeface="Times New Roman"/>
                <a:cs typeface="Times New Roman"/>
              </a:rPr>
              <a:t>definite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dirty="0"/>
              <a:t>arrangement</a:t>
            </a:r>
            <a:r>
              <a:rPr spc="-40" dirty="0"/>
              <a:t> </a:t>
            </a:r>
            <a:r>
              <a:rPr dirty="0"/>
              <a:t>such</a:t>
            </a:r>
            <a:r>
              <a:rPr spc="-25" dirty="0"/>
              <a:t> </a:t>
            </a:r>
            <a:r>
              <a:rPr dirty="0"/>
              <a:t>as a</a:t>
            </a:r>
            <a:r>
              <a:rPr spc="-10" dirty="0"/>
              <a:t> </a:t>
            </a:r>
            <a:r>
              <a:rPr dirty="0"/>
              <a:t>timetable</a:t>
            </a:r>
            <a:r>
              <a:rPr spc="-35" dirty="0"/>
              <a:t> </a:t>
            </a:r>
            <a:r>
              <a:rPr spc="-25" dirty="0"/>
              <a:t>or </a:t>
            </a:r>
            <a:r>
              <a:rPr dirty="0"/>
              <a:t>programme</a:t>
            </a:r>
            <a:r>
              <a:rPr spc="-40" dirty="0"/>
              <a:t> </a:t>
            </a:r>
            <a:r>
              <a:rPr dirty="0"/>
              <a:t>or</a:t>
            </a:r>
            <a:r>
              <a:rPr spc="-20" dirty="0"/>
              <a:t> </a:t>
            </a:r>
            <a:r>
              <a:rPr spc="-10" dirty="0"/>
              <a:t>activity.</a:t>
            </a:r>
          </a:p>
          <a:p>
            <a:pPr marL="3175">
              <a:lnSpc>
                <a:spcPct val="100000"/>
              </a:lnSpc>
              <a:spcBef>
                <a:spcPts val="1700"/>
              </a:spcBef>
              <a:buFont typeface="Times New Roman"/>
              <a:buChar char="•"/>
            </a:pPr>
            <a:endParaRPr spc="-10" dirty="0"/>
          </a:p>
          <a:p>
            <a:pPr marL="15875">
              <a:lnSpc>
                <a:spcPct val="100000"/>
              </a:lnSpc>
            </a:pPr>
            <a:r>
              <a:rPr spc="-20" dirty="0"/>
              <a:t>e.g.</a:t>
            </a:r>
          </a:p>
          <a:p>
            <a:pPr marL="358140" indent="-342265">
              <a:lnSpc>
                <a:spcPct val="100000"/>
              </a:lnSpc>
              <a:spcBef>
                <a:spcPts val="765"/>
              </a:spcBef>
              <a:buChar char="•"/>
              <a:tabLst>
                <a:tab pos="358140" algn="l"/>
              </a:tabLst>
            </a:pPr>
            <a:r>
              <a:rPr dirty="0"/>
              <a:t>Their</a:t>
            </a:r>
            <a:r>
              <a:rPr spc="-25" dirty="0"/>
              <a:t> </a:t>
            </a:r>
            <a:r>
              <a:rPr dirty="0"/>
              <a:t>plane</a:t>
            </a:r>
            <a:r>
              <a:rPr spc="-20" dirty="0"/>
              <a:t> </a:t>
            </a:r>
            <a:r>
              <a:rPr dirty="0"/>
              <a:t>arrives</a:t>
            </a:r>
            <a:r>
              <a:rPr spc="-30" dirty="0"/>
              <a:t> </a:t>
            </a:r>
            <a:r>
              <a:rPr dirty="0"/>
              <a:t>at 2</a:t>
            </a:r>
            <a:r>
              <a:rPr spc="-10" dirty="0"/>
              <a:t> </a:t>
            </a:r>
            <a:r>
              <a:rPr dirty="0"/>
              <a:t>o'clock</a:t>
            </a:r>
            <a:r>
              <a:rPr spc="-25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10" dirty="0"/>
              <a:t>morning.</a:t>
            </a:r>
          </a:p>
          <a:p>
            <a:pPr marL="358140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8140" algn="l"/>
              </a:tabLst>
            </a:pPr>
            <a:r>
              <a:rPr dirty="0"/>
              <a:t>I'm</a:t>
            </a:r>
            <a:r>
              <a:rPr spc="-20" dirty="0"/>
              <a:t> </a:t>
            </a:r>
            <a:r>
              <a:rPr dirty="0"/>
              <a:t>away</a:t>
            </a:r>
            <a:r>
              <a:rPr spc="10" dirty="0"/>
              <a:t> </a:t>
            </a:r>
            <a:r>
              <a:rPr dirty="0"/>
              <a:t>on</a:t>
            </a:r>
            <a:r>
              <a:rPr spc="-15" dirty="0"/>
              <a:t> </a:t>
            </a:r>
            <a:r>
              <a:rPr dirty="0"/>
              <a:t>holiday</a:t>
            </a:r>
            <a:r>
              <a:rPr spc="-25" dirty="0"/>
              <a:t> </a:t>
            </a:r>
            <a:r>
              <a:rPr dirty="0"/>
              <a:t>next</a:t>
            </a:r>
            <a:r>
              <a:rPr spc="-15" dirty="0"/>
              <a:t> </a:t>
            </a:r>
            <a:r>
              <a:rPr dirty="0"/>
              <a:t>week.</a:t>
            </a:r>
            <a:r>
              <a:rPr spc="-15" dirty="0"/>
              <a:t> </a:t>
            </a:r>
            <a:r>
              <a:rPr dirty="0"/>
              <a:t>Can</a:t>
            </a:r>
            <a:r>
              <a:rPr spc="-10" dirty="0"/>
              <a:t> </a:t>
            </a:r>
            <a:r>
              <a:rPr dirty="0"/>
              <a:t>we</a:t>
            </a:r>
            <a:r>
              <a:rPr spc="5" dirty="0"/>
              <a:t> </a:t>
            </a:r>
            <a:r>
              <a:rPr dirty="0"/>
              <a:t>meet</a:t>
            </a:r>
            <a:r>
              <a:rPr spc="-2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dirty="0"/>
              <a:t>week</a:t>
            </a:r>
            <a:r>
              <a:rPr spc="-15" dirty="0"/>
              <a:t> </a:t>
            </a:r>
            <a:r>
              <a:rPr spc="-10" dirty="0"/>
              <a:t>after?</a:t>
            </a:r>
          </a:p>
          <a:p>
            <a:pPr marL="358140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8140" algn="l"/>
              </a:tabLst>
            </a:pPr>
            <a:r>
              <a:rPr dirty="0"/>
              <a:t>The</a:t>
            </a:r>
            <a:r>
              <a:rPr spc="-20" dirty="0"/>
              <a:t> </a:t>
            </a:r>
            <a:r>
              <a:rPr dirty="0"/>
              <a:t>sun</a:t>
            </a:r>
            <a:r>
              <a:rPr spc="-10" dirty="0"/>
              <a:t> </a:t>
            </a:r>
            <a:r>
              <a:rPr dirty="0"/>
              <a:t>rises</a:t>
            </a:r>
            <a:r>
              <a:rPr spc="-10" dirty="0"/>
              <a:t> </a:t>
            </a:r>
            <a:r>
              <a:rPr dirty="0"/>
              <a:t>at</a:t>
            </a:r>
            <a:r>
              <a:rPr spc="-10" dirty="0"/>
              <a:t> </a:t>
            </a:r>
            <a:r>
              <a:rPr dirty="0"/>
              <a:t>5.16</a:t>
            </a:r>
            <a:r>
              <a:rPr spc="-15" dirty="0"/>
              <a:t> </a:t>
            </a:r>
            <a:r>
              <a:rPr spc="-10" dirty="0"/>
              <a:t>tomorrow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194307"/>
            <a:ext cx="10715625" cy="5489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606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spc="-95" dirty="0">
                <a:latin typeface="Times New Roman"/>
                <a:cs typeface="Times New Roman"/>
              </a:rPr>
              <a:t>We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 the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present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simple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refer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 future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adverbial </a:t>
            </a:r>
            <a:r>
              <a:rPr sz="3200" dirty="0">
                <a:latin typeface="Times New Roman"/>
                <a:cs typeface="Times New Roman"/>
              </a:rPr>
              <a:t>clauses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introduced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by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time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conjunctions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such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after,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before, </a:t>
            </a:r>
            <a:r>
              <a:rPr sz="3200" dirty="0">
                <a:latin typeface="Times New Roman"/>
                <a:cs typeface="Times New Roman"/>
              </a:rPr>
              <a:t>when,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until</a:t>
            </a:r>
            <a:endParaRPr sz="32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conditional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clauses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with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if,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unless,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case,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provided.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95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spc="-20" dirty="0">
                <a:latin typeface="Times New Roman"/>
                <a:cs typeface="Times New Roman"/>
              </a:rPr>
              <a:t>e.g.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20" dirty="0">
                <a:latin typeface="Times New Roman"/>
                <a:cs typeface="Times New Roman"/>
              </a:rPr>
              <a:t>Wait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here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until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call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you</a:t>
            </a:r>
            <a:endParaRPr sz="3200">
              <a:latin typeface="Times New Roman"/>
              <a:cs typeface="Times New Roman"/>
            </a:endParaRPr>
          </a:p>
          <a:p>
            <a:pPr marL="355600" marR="756285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Provided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 right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software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available,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should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able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solve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 </a:t>
            </a:r>
            <a:r>
              <a:rPr sz="3200" spc="-10" dirty="0">
                <a:latin typeface="Times New Roman"/>
                <a:cs typeface="Times New Roman"/>
              </a:rPr>
              <a:t>problem.</a:t>
            </a:r>
            <a:endParaRPr sz="3200">
              <a:latin typeface="Times New Roman"/>
              <a:cs typeface="Times New Roman"/>
            </a:endParaRPr>
          </a:p>
          <a:p>
            <a:pPr marL="256540" indent="-243840">
              <a:lnSpc>
                <a:spcPct val="100000"/>
              </a:lnSpc>
              <a:spcBef>
                <a:spcPts val="770"/>
              </a:spcBef>
              <a:buChar char="•"/>
              <a:tabLst>
                <a:tab pos="256540" algn="l"/>
              </a:tabLst>
            </a:pPr>
            <a:r>
              <a:rPr sz="3200" dirty="0">
                <a:latin typeface="Times New Roman"/>
                <a:cs typeface="Times New Roman"/>
              </a:rPr>
              <a:t>I'll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bring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compass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case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get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lost.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194307"/>
            <a:ext cx="10394315" cy="3245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spc="-95" dirty="0">
                <a:latin typeface="Times New Roman"/>
                <a:cs typeface="Times New Roman"/>
              </a:rPr>
              <a:t>We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present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simple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that-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wh/-clauses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when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both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main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clause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that-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/wh-clause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refer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future.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95"/>
              </a:spcBef>
              <a:buFont typeface="Times New Roman"/>
              <a:buChar char="•"/>
            </a:pPr>
            <a:endParaRPr sz="32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</a:pPr>
            <a:r>
              <a:rPr sz="3200" spc="-20" dirty="0">
                <a:latin typeface="Times New Roman"/>
                <a:cs typeface="Times New Roman"/>
              </a:rPr>
              <a:t>e.g.</a:t>
            </a:r>
            <a:endParaRPr sz="3200">
              <a:latin typeface="Times New Roman"/>
              <a:cs typeface="Times New Roman"/>
            </a:endParaRPr>
          </a:p>
          <a:p>
            <a:pPr marL="355600" marR="6604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I'll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let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you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know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when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gets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here,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(not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...when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will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get </a:t>
            </a:r>
            <a:r>
              <a:rPr sz="3200" spc="-10" dirty="0">
                <a:latin typeface="Times New Roman"/>
                <a:cs typeface="Times New Roman"/>
              </a:rPr>
              <a:t>here.)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38200" y="259079"/>
            <a:ext cx="10185400" cy="5925820"/>
            <a:chOff x="838200" y="259079"/>
            <a:chExt cx="10185400" cy="59258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200" y="259079"/>
              <a:ext cx="10185273" cy="10713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20284" y="1283207"/>
              <a:ext cx="1210056" cy="4907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45808" y="1330452"/>
              <a:ext cx="4165092" cy="482955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8200" y="1330452"/>
              <a:ext cx="4203192" cy="485394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995418" y="1768855"/>
              <a:ext cx="1869439" cy="3662679"/>
            </a:xfrm>
            <a:custGeom>
              <a:avLst/>
              <a:gdLst/>
              <a:ahLst/>
              <a:cxnLst/>
              <a:rect l="l" t="t" r="r" b="b"/>
              <a:pathLst>
                <a:path w="1869440" h="3662679">
                  <a:moveTo>
                    <a:pt x="707517" y="9906"/>
                  </a:moveTo>
                  <a:lnTo>
                    <a:pt x="699389" y="254"/>
                  </a:lnTo>
                  <a:lnTo>
                    <a:pt x="100571" y="496481"/>
                  </a:lnTo>
                  <a:lnTo>
                    <a:pt x="80391" y="472059"/>
                  </a:lnTo>
                  <a:lnTo>
                    <a:pt x="45974" y="550037"/>
                  </a:lnTo>
                  <a:lnTo>
                    <a:pt x="128905" y="530733"/>
                  </a:lnTo>
                  <a:lnTo>
                    <a:pt x="115354" y="514350"/>
                  </a:lnTo>
                  <a:lnTo>
                    <a:pt x="108673" y="506272"/>
                  </a:lnTo>
                  <a:lnTo>
                    <a:pt x="707517" y="9906"/>
                  </a:lnTo>
                  <a:close/>
                </a:path>
                <a:path w="1869440" h="3662679">
                  <a:moveTo>
                    <a:pt x="746760" y="7239"/>
                  </a:moveTo>
                  <a:lnTo>
                    <a:pt x="734822" y="2921"/>
                  </a:lnTo>
                  <a:lnTo>
                    <a:pt x="29781" y="1915579"/>
                  </a:lnTo>
                  <a:lnTo>
                    <a:pt x="0" y="1904619"/>
                  </a:lnTo>
                  <a:lnTo>
                    <a:pt x="9398" y="1989201"/>
                  </a:lnTo>
                  <a:lnTo>
                    <a:pt x="70408" y="1931924"/>
                  </a:lnTo>
                  <a:lnTo>
                    <a:pt x="71501" y="1930908"/>
                  </a:lnTo>
                  <a:lnTo>
                    <a:pt x="41744" y="1919973"/>
                  </a:lnTo>
                  <a:lnTo>
                    <a:pt x="746760" y="7239"/>
                  </a:lnTo>
                  <a:close/>
                </a:path>
                <a:path w="1869440" h="3662679">
                  <a:moveTo>
                    <a:pt x="1845183" y="1904365"/>
                  </a:moveTo>
                  <a:lnTo>
                    <a:pt x="1815553" y="1915922"/>
                  </a:lnTo>
                  <a:lnTo>
                    <a:pt x="1069975" y="2794"/>
                  </a:lnTo>
                  <a:lnTo>
                    <a:pt x="1058037" y="7366"/>
                  </a:lnTo>
                  <a:lnTo>
                    <a:pt x="1803704" y="1920544"/>
                  </a:lnTo>
                  <a:lnTo>
                    <a:pt x="1774190" y="1932051"/>
                  </a:lnTo>
                  <a:lnTo>
                    <a:pt x="1837309" y="1989201"/>
                  </a:lnTo>
                  <a:lnTo>
                    <a:pt x="1842566" y="1932432"/>
                  </a:lnTo>
                  <a:lnTo>
                    <a:pt x="1845183" y="1904365"/>
                  </a:lnTo>
                  <a:close/>
                </a:path>
                <a:path w="1869440" h="3662679">
                  <a:moveTo>
                    <a:pt x="1850390" y="550037"/>
                  </a:moveTo>
                  <a:lnTo>
                    <a:pt x="1833664" y="517779"/>
                  </a:lnTo>
                  <a:lnTo>
                    <a:pt x="1811147" y="474345"/>
                  </a:lnTo>
                  <a:lnTo>
                    <a:pt x="1792427" y="500113"/>
                  </a:lnTo>
                  <a:lnTo>
                    <a:pt x="1104265" y="0"/>
                  </a:lnTo>
                  <a:lnTo>
                    <a:pt x="1096899" y="10160"/>
                  </a:lnTo>
                  <a:lnTo>
                    <a:pt x="1785010" y="510324"/>
                  </a:lnTo>
                  <a:lnTo>
                    <a:pt x="1766316" y="536067"/>
                  </a:lnTo>
                  <a:lnTo>
                    <a:pt x="1850390" y="550037"/>
                  </a:lnTo>
                  <a:close/>
                </a:path>
                <a:path w="1869440" h="3662679">
                  <a:moveTo>
                    <a:pt x="1868932" y="3579495"/>
                  </a:moveTo>
                  <a:lnTo>
                    <a:pt x="1838134" y="3587229"/>
                  </a:lnTo>
                  <a:lnTo>
                    <a:pt x="935990" y="3556"/>
                  </a:lnTo>
                  <a:lnTo>
                    <a:pt x="929792" y="5105"/>
                  </a:lnTo>
                  <a:lnTo>
                    <a:pt x="923544" y="3556"/>
                  </a:lnTo>
                  <a:lnTo>
                    <a:pt x="57708" y="3587089"/>
                  </a:lnTo>
                  <a:lnTo>
                    <a:pt x="26797" y="3579622"/>
                  </a:lnTo>
                  <a:lnTo>
                    <a:pt x="45974" y="3662680"/>
                  </a:lnTo>
                  <a:lnTo>
                    <a:pt x="96774" y="3602482"/>
                  </a:lnTo>
                  <a:lnTo>
                    <a:pt x="100965" y="3597529"/>
                  </a:lnTo>
                  <a:lnTo>
                    <a:pt x="70053" y="3590074"/>
                  </a:lnTo>
                  <a:lnTo>
                    <a:pt x="929944" y="31064"/>
                  </a:lnTo>
                  <a:lnTo>
                    <a:pt x="1825828" y="3590315"/>
                  </a:lnTo>
                  <a:lnTo>
                    <a:pt x="1795018" y="3598037"/>
                  </a:lnTo>
                  <a:lnTo>
                    <a:pt x="1850644" y="3662680"/>
                  </a:lnTo>
                  <a:lnTo>
                    <a:pt x="1863839" y="3602609"/>
                  </a:lnTo>
                  <a:lnTo>
                    <a:pt x="1868932" y="3579495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Future</a:t>
            </a:r>
            <a:r>
              <a:rPr sz="3200" spc="-60" dirty="0"/>
              <a:t> </a:t>
            </a:r>
            <a:r>
              <a:rPr sz="3200" dirty="0"/>
              <a:t>continuous</a:t>
            </a:r>
            <a:r>
              <a:rPr sz="3200" spc="-55" dirty="0"/>
              <a:t> </a:t>
            </a:r>
            <a:r>
              <a:rPr sz="3200" dirty="0"/>
              <a:t>and</a:t>
            </a:r>
            <a:r>
              <a:rPr sz="3200" spc="-30" dirty="0"/>
              <a:t> </a:t>
            </a:r>
            <a:r>
              <a:rPr sz="3200" dirty="0"/>
              <a:t>present</a:t>
            </a:r>
            <a:r>
              <a:rPr sz="3200" spc="-75" dirty="0"/>
              <a:t> </a:t>
            </a:r>
            <a:r>
              <a:rPr sz="3200" dirty="0"/>
              <a:t>continuous</a:t>
            </a:r>
            <a:r>
              <a:rPr sz="3200" spc="-30" dirty="0"/>
              <a:t> </a:t>
            </a:r>
            <a:r>
              <a:rPr sz="3200" dirty="0"/>
              <a:t>for</a:t>
            </a:r>
            <a:r>
              <a:rPr sz="3200" spc="-55" dirty="0"/>
              <a:t> </a:t>
            </a:r>
            <a:r>
              <a:rPr sz="3200" dirty="0"/>
              <a:t>the</a:t>
            </a:r>
            <a:r>
              <a:rPr sz="3200" spc="-45" dirty="0"/>
              <a:t> </a:t>
            </a:r>
            <a:r>
              <a:rPr sz="3200" spc="-10" dirty="0"/>
              <a:t>future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88340" y="1194307"/>
            <a:ext cx="10688955" cy="4888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709295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2900" spc="-55" dirty="0">
                <a:latin typeface="Times New Roman"/>
                <a:cs typeface="Times New Roman"/>
              </a:rPr>
              <a:t>We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can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often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use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either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future</a:t>
            </a:r>
            <a:r>
              <a:rPr sz="2900" spc="-3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continuous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or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-10" dirty="0">
                <a:latin typeface="Times New Roman"/>
                <a:cs typeface="Times New Roman"/>
              </a:rPr>
              <a:t> present </a:t>
            </a:r>
            <a:r>
              <a:rPr sz="2900" dirty="0">
                <a:latin typeface="Times New Roman"/>
                <a:cs typeface="Times New Roman"/>
              </a:rPr>
              <a:t>continuous</a:t>
            </a:r>
            <a:r>
              <a:rPr sz="2900" spc="-3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when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we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talk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about</a:t>
            </a:r>
            <a:r>
              <a:rPr sz="2900" spc="-8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planned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activities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or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events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in </a:t>
            </a:r>
            <a:r>
              <a:rPr sz="2900" spc="-25" dirty="0">
                <a:latin typeface="Times New Roman"/>
                <a:cs typeface="Times New Roman"/>
              </a:rPr>
              <a:t>the </a:t>
            </a:r>
            <a:r>
              <a:rPr sz="2900" spc="-10" dirty="0">
                <a:latin typeface="Times New Roman"/>
                <a:cs typeface="Times New Roman"/>
              </a:rPr>
              <a:t>future</a:t>
            </a: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900" spc="-20" dirty="0">
                <a:latin typeface="Times New Roman"/>
                <a:cs typeface="Times New Roman"/>
              </a:rPr>
              <a:t>e.g.</a:t>
            </a:r>
            <a:endParaRPr sz="29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354965" algn="l"/>
              </a:tabLst>
            </a:pPr>
            <a:r>
              <a:rPr sz="2900" spc="-55" dirty="0">
                <a:latin typeface="Times New Roman"/>
                <a:cs typeface="Times New Roman"/>
              </a:rPr>
              <a:t>We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will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be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leaving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/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are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leaving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for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Istanbul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at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7.00</a:t>
            </a:r>
            <a:r>
              <a:rPr sz="2900" spc="-3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in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spc="-10" dirty="0">
                <a:latin typeface="Times New Roman"/>
                <a:cs typeface="Times New Roman"/>
              </a:rPr>
              <a:t>evening.</a:t>
            </a: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endParaRPr sz="2900">
              <a:latin typeface="Times New Roman"/>
              <a:cs typeface="Times New Roman"/>
            </a:endParaRPr>
          </a:p>
          <a:p>
            <a:pPr marL="12700" marR="1148715">
              <a:lnSpc>
                <a:spcPct val="100000"/>
              </a:lnSpc>
            </a:pPr>
            <a:r>
              <a:rPr sz="2900" dirty="0">
                <a:latin typeface="Times New Roman"/>
                <a:cs typeface="Times New Roman"/>
              </a:rPr>
              <a:t>But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we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prefer</a:t>
            </a:r>
            <a:r>
              <a:rPr sz="2900" spc="-3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present</a:t>
            </a:r>
            <a:r>
              <a:rPr sz="2900" b="1" spc="-3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continuous</a:t>
            </a:r>
            <a:r>
              <a:rPr sz="2900" b="1" spc="-8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to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talk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about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surprising</a:t>
            </a:r>
            <a:r>
              <a:rPr sz="2900" spc="-40" dirty="0">
                <a:latin typeface="Times New Roman"/>
                <a:cs typeface="Times New Roman"/>
              </a:rPr>
              <a:t> </a:t>
            </a:r>
            <a:r>
              <a:rPr sz="2900" spc="-25" dirty="0">
                <a:latin typeface="Times New Roman"/>
                <a:cs typeface="Times New Roman"/>
              </a:rPr>
              <a:t>or </a:t>
            </a:r>
            <a:r>
              <a:rPr sz="2900" dirty="0">
                <a:latin typeface="Times New Roman"/>
                <a:cs typeface="Times New Roman"/>
              </a:rPr>
              <a:t>unexpected</a:t>
            </a:r>
            <a:r>
              <a:rPr sz="2900" spc="-5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activities</a:t>
            </a:r>
            <a:r>
              <a:rPr sz="2900" spc="-3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or</a:t>
            </a:r>
            <a:r>
              <a:rPr sz="2900" spc="-45" dirty="0">
                <a:latin typeface="Times New Roman"/>
                <a:cs typeface="Times New Roman"/>
              </a:rPr>
              <a:t> </a:t>
            </a:r>
            <a:r>
              <a:rPr sz="2900" spc="-10" dirty="0">
                <a:latin typeface="Times New Roman"/>
                <a:cs typeface="Times New Roman"/>
              </a:rPr>
              <a:t>events:</a:t>
            </a:r>
            <a:endParaRPr sz="29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  <a:tabLst>
                <a:tab pos="637540" algn="l"/>
              </a:tabLst>
            </a:pPr>
            <a:r>
              <a:rPr sz="2900" spc="-25" dirty="0">
                <a:latin typeface="Times New Roman"/>
                <a:cs typeface="Times New Roman"/>
              </a:rPr>
              <a:t>e.g</a:t>
            </a:r>
            <a:r>
              <a:rPr sz="2900" dirty="0">
                <a:latin typeface="Times New Roman"/>
                <a:cs typeface="Times New Roman"/>
              </a:rPr>
              <a:t>	Have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you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heard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news?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Dr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Radford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is</a:t>
            </a:r>
            <a:r>
              <a:rPr sz="2900" spc="-3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leaving!</a:t>
            </a:r>
            <a:r>
              <a:rPr sz="2900" spc="-3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(rather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than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spc="-10" dirty="0">
                <a:latin typeface="Times New Roman"/>
                <a:cs typeface="Times New Roman"/>
              </a:rPr>
              <a:t>...will </a:t>
            </a:r>
            <a:r>
              <a:rPr sz="2900" dirty="0">
                <a:latin typeface="Times New Roman"/>
                <a:cs typeface="Times New Roman"/>
              </a:rPr>
              <a:t>be </a:t>
            </a:r>
            <a:r>
              <a:rPr sz="2900" spc="-10" dirty="0">
                <a:latin typeface="Times New Roman"/>
                <a:cs typeface="Times New Roman"/>
              </a:rPr>
              <a:t>leaving.)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Be</a:t>
            </a:r>
            <a:r>
              <a:rPr spc="-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spc="-10" dirty="0"/>
              <a:t>+infinitive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194307"/>
            <a:ext cx="10817860" cy="4318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Be</a:t>
            </a:r>
            <a:r>
              <a:rPr sz="3200" spc="9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9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+</a:t>
            </a:r>
            <a:r>
              <a:rPr sz="3200" spc="9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infinitive</a:t>
            </a:r>
            <a:r>
              <a:rPr sz="3200" spc="9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9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used</a:t>
            </a:r>
            <a:r>
              <a:rPr sz="3200" spc="10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9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talk</a:t>
            </a:r>
            <a:r>
              <a:rPr sz="3200" spc="10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about</a:t>
            </a:r>
            <a:r>
              <a:rPr sz="3200" spc="8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formal</a:t>
            </a:r>
            <a:r>
              <a:rPr sz="3200" spc="9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90" dirty="0">
                <a:latin typeface="Times New Roman"/>
                <a:cs typeface="Times New Roman"/>
              </a:rPr>
              <a:t>  </a:t>
            </a:r>
            <a:r>
              <a:rPr sz="3200" spc="-10" dirty="0">
                <a:latin typeface="Times New Roman"/>
                <a:cs typeface="Times New Roman"/>
              </a:rPr>
              <a:t>official </a:t>
            </a:r>
            <a:r>
              <a:rPr sz="3200" dirty="0">
                <a:latin typeface="Times New Roman"/>
                <a:cs typeface="Times New Roman"/>
              </a:rPr>
              <a:t>arrangements,</a:t>
            </a:r>
            <a:r>
              <a:rPr sz="3200" spc="9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formal</a:t>
            </a:r>
            <a:r>
              <a:rPr sz="3200" spc="9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instructions,</a:t>
            </a:r>
            <a:r>
              <a:rPr sz="3200" spc="10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10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10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give</a:t>
            </a:r>
            <a:r>
              <a:rPr sz="3200" spc="9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orders.</a:t>
            </a:r>
            <a:r>
              <a:rPr sz="3200" spc="10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90" dirty="0">
                <a:latin typeface="Times New Roman"/>
                <a:cs typeface="Times New Roman"/>
              </a:rPr>
              <a:t>  </a:t>
            </a:r>
            <a:r>
              <a:rPr sz="3200" spc="-25" dirty="0">
                <a:latin typeface="Times New Roman"/>
                <a:cs typeface="Times New Roman"/>
              </a:rPr>
              <a:t>is </a:t>
            </a:r>
            <a:r>
              <a:rPr sz="3200" dirty="0">
                <a:latin typeface="Times New Roman"/>
                <a:cs typeface="Times New Roman"/>
              </a:rPr>
              <a:t>particularly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common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news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reports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talk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about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future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events.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0"/>
              </a:spcBef>
              <a:buFont typeface="Times New Roman"/>
              <a:buChar char="•"/>
            </a:pP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spc="-20" dirty="0">
                <a:latin typeface="Times New Roman"/>
                <a:cs typeface="Times New Roman"/>
              </a:rPr>
              <a:t>e.g.</a:t>
            </a:r>
            <a:endParaRPr sz="3200">
              <a:latin typeface="Times New Roman"/>
              <a:cs typeface="Times New Roman"/>
            </a:endParaRPr>
          </a:p>
          <a:p>
            <a:pPr marL="355600" marR="295910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5600" algn="l"/>
              </a:tabLst>
            </a:pPr>
            <a:r>
              <a:rPr sz="3200" spc="-95" dirty="0">
                <a:latin typeface="Times New Roman"/>
                <a:cs typeface="Times New Roman"/>
              </a:rPr>
              <a:t>We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don't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know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where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 meteorite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going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land,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(not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...the </a:t>
            </a:r>
            <a:r>
              <a:rPr sz="3200" dirty="0">
                <a:latin typeface="Times New Roman"/>
                <a:cs typeface="Times New Roman"/>
              </a:rPr>
              <a:t>meteorite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land.)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imes New Roman"/>
                <a:cs typeface="Times New Roman"/>
              </a:rPr>
              <a:t>I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suppose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will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all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die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eventually,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(not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...we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all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10" dirty="0">
                <a:latin typeface="Times New Roman"/>
                <a:cs typeface="Times New Roman"/>
              </a:rPr>
              <a:t> die...)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791" y="365759"/>
            <a:ext cx="10870692" cy="56311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Future</a:t>
            </a:r>
            <a:r>
              <a:rPr spc="-25" dirty="0"/>
              <a:t> </a:t>
            </a:r>
            <a:r>
              <a:rPr spc="-10" dirty="0"/>
              <a:t>perfect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148588"/>
            <a:ext cx="10758170" cy="464439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 marR="1321435">
              <a:lnSpc>
                <a:spcPts val="3240"/>
              </a:lnSpc>
              <a:spcBef>
                <a:spcPts val="505"/>
              </a:spcBef>
            </a:pPr>
            <a:r>
              <a:rPr sz="3000" spc="-95" dirty="0">
                <a:latin typeface="Times New Roman"/>
                <a:cs typeface="Times New Roman"/>
              </a:rPr>
              <a:t>We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future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perfect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say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something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will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ended, </a:t>
            </a:r>
            <a:r>
              <a:rPr sz="3000" dirty="0">
                <a:latin typeface="Times New Roman"/>
                <a:cs typeface="Times New Roman"/>
              </a:rPr>
              <a:t>completed,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achieved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by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particular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point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future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000" spc="-20" dirty="0">
                <a:latin typeface="Times New Roman"/>
                <a:cs typeface="Times New Roman"/>
              </a:rPr>
              <a:t>e.g.</a:t>
            </a:r>
            <a:endParaRPr sz="3000">
              <a:latin typeface="Times New Roman"/>
              <a:cs typeface="Times New Roman"/>
            </a:endParaRPr>
          </a:p>
          <a:p>
            <a:pPr marL="355600" marR="78105" indent="-342900">
              <a:lnSpc>
                <a:spcPts val="324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sz="3000" dirty="0">
                <a:latin typeface="Times New Roman"/>
                <a:cs typeface="Times New Roman"/>
              </a:rPr>
              <a:t>Let's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hope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volcanic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eruption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will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have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finished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before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arrive </a:t>
            </a:r>
            <a:r>
              <a:rPr sz="3000" dirty="0">
                <a:latin typeface="Times New Roman"/>
                <a:cs typeface="Times New Roman"/>
              </a:rPr>
              <a:t>on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 </a:t>
            </a:r>
            <a:r>
              <a:rPr sz="3000" spc="-10" dirty="0">
                <a:latin typeface="Times New Roman"/>
                <a:cs typeface="Times New Roman"/>
              </a:rPr>
              <a:t>island.</a:t>
            </a:r>
            <a:endParaRPr sz="3000">
              <a:latin typeface="Times New Roman"/>
              <a:cs typeface="Times New Roman"/>
            </a:endParaRPr>
          </a:p>
          <a:p>
            <a:pPr marL="355600" marR="54610" indent="-342900">
              <a:lnSpc>
                <a:spcPts val="3240"/>
              </a:lnSpc>
              <a:spcBef>
                <a:spcPts val="720"/>
              </a:spcBef>
              <a:buChar char="•"/>
              <a:tabLst>
                <a:tab pos="355600" algn="l"/>
                <a:tab pos="429895" algn="l"/>
              </a:tabLst>
            </a:pPr>
            <a:r>
              <a:rPr sz="3000" dirty="0">
                <a:latin typeface="Arial"/>
                <a:cs typeface="Arial"/>
              </a:rPr>
              <a:t>	</a:t>
            </a:r>
            <a:r>
              <a:rPr sz="3000" dirty="0">
                <a:latin typeface="Times New Roman"/>
                <a:cs typeface="Times New Roman"/>
              </a:rPr>
              <a:t>Although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people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now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angry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about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what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did,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I'm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sure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his </a:t>
            </a:r>
            <a:r>
              <a:rPr sz="3000" dirty="0">
                <a:latin typeface="Times New Roman"/>
                <a:cs typeface="Times New Roman"/>
              </a:rPr>
              <a:t>behaviour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will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soon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have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been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forgotten.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(=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passive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form)</a:t>
            </a:r>
            <a:endParaRPr sz="30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3240"/>
              </a:lnSpc>
              <a:spcBef>
                <a:spcPts val="725"/>
              </a:spcBef>
              <a:buChar char="•"/>
              <a:tabLst>
                <a:tab pos="355600" algn="l"/>
                <a:tab pos="450215" algn="l"/>
              </a:tabLst>
            </a:pPr>
            <a:r>
              <a:rPr sz="3000" dirty="0">
                <a:latin typeface="Arial"/>
                <a:cs typeface="Arial"/>
              </a:rPr>
              <a:t>	</a:t>
            </a:r>
            <a:r>
              <a:rPr sz="3000" dirty="0">
                <a:latin typeface="Times New Roman"/>
                <a:cs typeface="Times New Roman"/>
              </a:rPr>
              <a:t>By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time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you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get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home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will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have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cleaned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house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from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top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to </a:t>
            </a:r>
            <a:r>
              <a:rPr sz="3000" spc="-10" dirty="0">
                <a:latin typeface="Times New Roman"/>
                <a:cs typeface="Times New Roman"/>
              </a:rPr>
              <a:t>bottom.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424" y="365759"/>
            <a:ext cx="9872472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365759"/>
            <a:ext cx="10661904" cy="61112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364236"/>
            <a:ext cx="10515854" cy="578967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0372" y="685800"/>
            <a:ext cx="10663428" cy="5562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9711" y="1623060"/>
            <a:ext cx="6240780" cy="28270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</TotalTime>
  <Words>1061</Words>
  <Application>Microsoft Office PowerPoint</Application>
  <PresentationFormat>Widescreen</PresentationFormat>
  <Paragraphs>80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Times New Roman</vt:lpstr>
      <vt:lpstr>Office Theme</vt:lpstr>
      <vt:lpstr>Tense</vt:lpstr>
      <vt:lpstr>Use of Will and going 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Going to+go OR Be +going</vt:lpstr>
      <vt:lpstr>Uses of Present Simple for Future</vt:lpstr>
      <vt:lpstr>PowerPoint Presentation</vt:lpstr>
      <vt:lpstr>PowerPoint Presentation</vt:lpstr>
      <vt:lpstr>PowerPoint Presentation</vt:lpstr>
      <vt:lpstr>Future continuous and present continuous for the future</vt:lpstr>
      <vt:lpstr>Be to +infinitive</vt:lpstr>
      <vt:lpstr>PowerPoint Presentation</vt:lpstr>
      <vt:lpstr>Future perfect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Tense</dc:title>
  <cp:lastModifiedBy>Iti Bhardwaj</cp:lastModifiedBy>
  <cp:revision>1</cp:revision>
  <dcterms:created xsi:type="dcterms:W3CDTF">2023-12-18T11:01:30Z</dcterms:created>
  <dcterms:modified xsi:type="dcterms:W3CDTF">2024-01-29T10:56:39Z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2023-12-18T00:00:00Z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2023-12-18T00:00:00Z</vt:filetime>
  </property>
  <property fmtid="{D5CDD505-2E9C-101B-9397-08002B2CF9AE}" pid="5" name="Producer">
    <vt:lpwstr>3-Heights™ PDF Optimization Shell 6.3.1.5 (http://www.pdf-tools.com)</vt:lpwstr>
  </property>
</Properties>
</file>