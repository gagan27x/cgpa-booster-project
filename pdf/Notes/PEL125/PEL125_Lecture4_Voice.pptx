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5"/>
  </p:notesMasterIdLst>
  <p:sldIdLst>
    <p:sldId id="264" r:id="rId3"/>
    <p:sldId id="256" r:id="rId4"/>
    <p:sldId id="288" r:id="rId5"/>
    <p:sldId id="263" r:id="rId6"/>
    <p:sldId id="257" r:id="rId7"/>
    <p:sldId id="289" r:id="rId8"/>
    <p:sldId id="265" r:id="rId9"/>
    <p:sldId id="266" r:id="rId10"/>
    <p:sldId id="267" r:id="rId11"/>
    <p:sldId id="268" r:id="rId12"/>
    <p:sldId id="269" r:id="rId13"/>
    <p:sldId id="281" r:id="rId14"/>
    <p:sldId id="282" r:id="rId15"/>
    <p:sldId id="283" r:id="rId16"/>
    <p:sldId id="284" r:id="rId17"/>
    <p:sldId id="270" r:id="rId18"/>
    <p:sldId id="271" r:id="rId19"/>
    <p:sldId id="272" r:id="rId20"/>
    <p:sldId id="285" r:id="rId21"/>
    <p:sldId id="274" r:id="rId22"/>
    <p:sldId id="275" r:id="rId23"/>
    <p:sldId id="286" r:id="rId24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Arial" panose="020B0604020202020204" pitchFamily="34" charset="0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Arial" panose="020B0604020202020204" pitchFamily="34" charset="0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Arial" panose="020B0604020202020204" pitchFamily="34" charset="0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Arial" panose="020B0604020202020204" pitchFamily="34" charset="0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Arial" panose="020B0604020202020204" pitchFamily="34" charset="0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Arial" panose="020B0604020202020204" pitchFamily="34" charset="0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Arial" panose="020B0604020202020204" pitchFamily="34" charset="0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Arial" panose="020B0604020202020204" pitchFamily="34" charset="0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Arial" panose="020B0604020202020204" pitchFamily="34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8"/>
  </p:normalViewPr>
  <p:slideViewPr>
    <p:cSldViewPr showGuides="1">
      <p:cViewPr varScale="1">
        <p:scale>
          <a:sx n="63" d="100"/>
          <a:sy n="63" d="100"/>
        </p:scale>
        <p:origin x="720" y="52"/>
      </p:cViewPr>
      <p:guideLst>
        <p:guide orient="horz" pos="2160"/>
        <p:guide pos="28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09C480-18AD-4212-AFC2-042FD179AA18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12/19/2023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  <a:t>‹#›</a:t>
            </a:fld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  <p:sp>
        <p:nvSpPr>
          <p:cNvPr id="2970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  <a:t>1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  <p:sp>
        <p:nvSpPr>
          <p:cNvPr id="30724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  <a:t>2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  <p:sp>
        <p:nvSpPr>
          <p:cNvPr id="31748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  <a:t>4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  <p:sp>
        <p:nvSpPr>
          <p:cNvPr id="3277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  <a:t>5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  <p:sp>
        <p:nvSpPr>
          <p:cNvPr id="337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  <a:t>7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  <p:sp>
        <p:nvSpPr>
          <p:cNvPr id="3482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  <a:t>8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  <p:sp>
        <p:nvSpPr>
          <p:cNvPr id="35844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  <a:t>9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  <p:sp>
        <p:nvSpPr>
          <p:cNvPr id="36868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  <a:t>10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  <p:sp>
        <p:nvSpPr>
          <p:cNvPr id="3789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  <a:t>11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  <p:sp>
        <p:nvSpPr>
          <p:cNvPr id="40964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  <a:t>16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  <p:sp>
        <p:nvSpPr>
          <p:cNvPr id="41988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  <a:t>17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  <p:sp>
        <p:nvSpPr>
          <p:cNvPr id="4301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  <a:t>18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  <p:sp>
        <p:nvSpPr>
          <p:cNvPr id="4506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  <a:t>20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dirty="0"/>
          </a:p>
        </p:txBody>
      </p:sp>
      <p:sp>
        <p:nvSpPr>
          <p:cNvPr id="46084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buNone/>
            </a:pPr>
            <a:fld id="{9A0DB2DC-4C9A-4742-B13C-FB6460FD3503}" type="slidenum">
              <a:rPr lang="en-US" sz="1200" dirty="0"/>
              <a:t>21</a:t>
            </a:fld>
            <a:endParaRPr 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79525" y="1600200"/>
            <a:ext cx="7085013" cy="1066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79525" y="2819400"/>
            <a:ext cx="5256213" cy="1143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29375"/>
            <a:ext cx="2133600" cy="3238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29375"/>
            <a:ext cx="2895600" cy="3238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29375"/>
            <a:ext cx="2133600" cy="3238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en-US" dirty="0">
                <a:latin typeface="Century Gothic" panose="020B0502020202020204" pitchFamily="34" charset="0"/>
              </a:rPr>
              <a:t>‹#›</a:t>
            </a:fld>
            <a:endParaRPr lang="en-US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ea typeface="Arial" panose="020B0604020202020204" pitchFamily="34" charset="0"/>
              </a:rPr>
              <a:t>‹#›</a:t>
            </a:fld>
            <a:endParaRPr lang="en-U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ea typeface="Arial" panose="020B0604020202020204" pitchFamily="34" charset="0"/>
              </a:rPr>
              <a:t>‹#›</a:t>
            </a:fld>
            <a:endParaRPr lang="en-U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9525" y="1600200"/>
            <a:ext cx="25527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84625" y="1600200"/>
            <a:ext cx="25527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ea typeface="Arial" panose="020B0604020202020204" pitchFamily="34" charset="0"/>
              </a:rPr>
              <a:t>‹#›</a:t>
            </a:fld>
            <a:endParaRPr lang="en-U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ea typeface="Arial" panose="020B0604020202020204" pitchFamily="34" charset="0"/>
              </a:rPr>
              <a:t>‹#›</a:t>
            </a:fld>
            <a:endParaRPr lang="en-U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ea typeface="Arial" panose="020B0604020202020204" pitchFamily="34" charset="0"/>
              </a:rPr>
              <a:t>‹#›</a:t>
            </a:fld>
            <a:endParaRPr lang="en-U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ea typeface="Arial" panose="020B0604020202020204" pitchFamily="34" charset="0"/>
              </a:rPr>
              <a:t>‹#›</a:t>
            </a:fld>
            <a:endParaRPr lang="en-U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ea typeface="Arial" panose="020B0604020202020204" pitchFamily="34" charset="0"/>
              </a:rPr>
              <a:t>‹#›</a:t>
            </a:fld>
            <a:endParaRPr lang="en-U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ea typeface="Arial" panose="020B0604020202020204" pitchFamily="34" charset="0"/>
              </a:rPr>
              <a:t>‹#›</a:t>
            </a:fld>
            <a:endParaRPr lang="en-U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ea typeface="Arial" panose="020B0604020202020204" pitchFamily="34" charset="0"/>
              </a:rPr>
              <a:t>‹#›</a:t>
            </a:fld>
            <a:endParaRPr lang="en-U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4475" y="685800"/>
            <a:ext cx="1771650" cy="54403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9525" y="685800"/>
            <a:ext cx="5162550" cy="54403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ea typeface="Arial" panose="020B0604020202020204" pitchFamily="34" charset="0"/>
              </a:rPr>
              <a:t>‹#›</a:t>
            </a:fld>
            <a:endParaRPr lang="en-U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en-US" dirty="0">
                <a:latin typeface="Century Gothic" panose="020B0502020202020204" pitchFamily="34" charset="0"/>
              </a:rPr>
              <a:t>‹#›</a:t>
            </a:fld>
            <a:endParaRPr lang="en-US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3175"/>
            <a:ext cx="9153525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125538"/>
            <a:ext cx="6908800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351088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>
              <a:buNone/>
            </a:pPr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imes New Roman" panose="02020603050405020304" pitchFamily="18" charset="0"/>
                <a:ea typeface="Arial" panose="020B0604020202020204" pitchFamily="34" charset="0"/>
              </a:rPr>
              <a:t>‹#›</a:t>
            </a:fld>
            <a:endParaRPr lang="en-U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imes New Roman" panose="02020603050405020304" pitchFamily="18" charset="0"/>
                <a:ea typeface="Arial" panose="020B0604020202020204" pitchFamily="34" charset="0"/>
              </a:rPr>
              <a:t>‹#›</a:t>
            </a:fld>
            <a:endParaRPr lang="en-U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imes New Roman" panose="02020603050405020304" pitchFamily="18" charset="0"/>
                <a:ea typeface="Arial" panose="020B0604020202020204" pitchFamily="34" charset="0"/>
              </a:rPr>
              <a:t>‹#›</a:t>
            </a:fld>
            <a:endParaRPr lang="en-U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imes New Roman" panose="02020603050405020304" pitchFamily="18" charset="0"/>
                <a:ea typeface="Arial" panose="020B0604020202020204" pitchFamily="34" charset="0"/>
              </a:rPr>
              <a:t>‹#›</a:t>
            </a:fld>
            <a:endParaRPr lang="en-U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imes New Roman" panose="02020603050405020304" pitchFamily="18" charset="0"/>
                <a:ea typeface="Arial" panose="020B0604020202020204" pitchFamily="34" charset="0"/>
              </a:rPr>
              <a:t>‹#›</a:t>
            </a:fld>
            <a:endParaRPr lang="en-U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279525" y="685800"/>
            <a:ext cx="7086600" cy="7318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dirty="0"/>
              <a:t>Click to edit Master title style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1279525" y="1600200"/>
            <a:ext cx="5257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29375"/>
            <a:ext cx="2133600" cy="323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29375"/>
            <a:ext cx="2895600" cy="323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29375"/>
            <a:ext cx="2133600" cy="323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Century Gothic" panose="020B05020202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dirty="0">
                <a:ea typeface="Arial" panose="020B0604020202020204" pitchFamily="34" charset="0"/>
              </a:rPr>
              <a:t>‹#›</a:t>
            </a:fld>
            <a:endParaRPr lang="en-U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 panose="020B0502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 panose="020B0502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 panose="020B0502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 panose="020B0502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 panose="020B0502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 panose="020B0502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 panose="020B0502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entury Gothic" panose="020B0502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8763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imes New Roman" panose="02020603050405020304" pitchFamily="18" charset="0"/>
                <a:ea typeface="Arial" panose="020B0604020202020204" pitchFamily="34" charset="0"/>
              </a:rPr>
              <a:t>‹#›</a:t>
            </a:fld>
            <a:endParaRPr lang="en-US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noFill/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anchor="t">
            <a:normAutofit fontScale="90000"/>
          </a:bodyPr>
          <a:lstStyle/>
          <a:p>
            <a:pPr marL="0" marR="889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en-US" sz="3600" b="1" i="0" u="none" strike="noStrike" kern="1200" cap="all" spc="0" normalizeH="0" baseline="0" noProof="0" dirty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>
                  <a:reflection blurRad="12700" stA="34000" endA="740" endPos="530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Forming Passive sentences</a:t>
            </a:r>
            <a:r>
              <a:rPr kumimoji="0" lang="en-US" sz="3600" b="1" i="0" u="none" strike="noStrike" kern="1200" cap="all" spc="0" normalizeH="0" baseline="0" noProof="0" dirty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>
                  <a:reflection blurRad="12700" stA="34000" endA="740" endPos="530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70220" y="2351405"/>
            <a:ext cx="2891155" cy="1752600"/>
          </a:xfrm>
        </p:spPr>
        <p:txBody>
          <a:bodyPr/>
          <a:lstStyle/>
          <a:p>
            <a:r>
              <a:rPr lang="en-GB" altLang="en-US"/>
              <a:t>Week 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1" i="0" u="none" strike="noStrike" kern="1200" cap="none" spc="-100" normalizeH="0" baseline="0" noProof="0" dirty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Verbs and Voice</a:t>
            </a:r>
          </a:p>
        </p:txBody>
      </p:sp>
      <p:sp>
        <p:nvSpPr>
          <p:cNvPr id="2051" name="Rectangle 3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577080" cy="4953000"/>
          </a:xfrm>
          <a:ln/>
        </p:spPr>
        <p:txBody>
          <a:bodyPr vert="horz" wrap="square" anchor="t" anchorCtr="0"/>
          <a:lstStyle/>
          <a:p>
            <a:pPr algn="just"/>
            <a:r>
              <a:rPr sz="2800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</a:t>
            </a:r>
            <a:r>
              <a:rPr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form a verb takes to indicate whether the subject of the verb performs or receives the action.</a:t>
            </a:r>
          </a:p>
          <a:p>
            <a:pPr algn="just"/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voice:  </a:t>
            </a:r>
            <a:r>
              <a:rPr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voice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passive voice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715000" y="1571625"/>
            <a:ext cx="3209290" cy="4187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  <p:bldP spid="205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85265" y="1511935"/>
            <a:ext cx="6263005" cy="4491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-100" normalizeH="0" baseline="0" noProof="0" dirty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Active 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anchor="t" anchorCtr="0"/>
          <a:lstStyle/>
          <a:p>
            <a:r>
              <a:rPr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Voice</a:t>
            </a:r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indicates that the subject of the verb is acting</a:t>
            </a:r>
          </a:p>
          <a:p>
            <a:pPr>
              <a:buNone/>
            </a:pP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 subject does or "acts upon" the verb in such sentences, the sentences are said to be in the </a:t>
            </a:r>
            <a:r>
              <a:rPr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voice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-100" normalizeH="0" baseline="0" noProof="0" dirty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Active Voice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>
            <a:normAutofit/>
          </a:bodyPr>
          <a:lstStyle/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These examples show that the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subject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is  </a:t>
            </a:r>
            <a:r>
              <a:rPr kumimoji="0" lang="en-US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doing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the verb's action.</a:t>
            </a:r>
          </a:p>
          <a:p>
            <a:pPr marL="74041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anose="05000000000000000000"/>
              <a:buChar char=""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</a:t>
            </a:r>
            <a:r>
              <a:rPr kumimoji="0" lang="en-GB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leopard is chasing the antelope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99695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 2" panose="05020102010507070707"/>
              <a:buChar char=""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</a:t>
            </a:r>
            <a:r>
              <a:rPr kumimoji="0" lang="en-GB" alt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leopard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subject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is doing the </a:t>
            </a:r>
            <a:r>
              <a:rPr kumimoji="0" lang="en-GB" alt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chasing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verb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).</a:t>
            </a:r>
          </a:p>
          <a:p>
            <a:pPr marL="99695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 2" panose="05020102010507070707"/>
              <a:buNone/>
              <a:defRPr/>
            </a:pP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041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anose="05000000000000000000"/>
              <a:buChar char=""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Kristy will give a book report to the class.</a:t>
            </a:r>
          </a:p>
          <a:p>
            <a:pPr marL="99695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 2" panose="05020102010507070707"/>
              <a:buChar char=""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Kristy (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subject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is doing the giving (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verb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).</a:t>
            </a:r>
          </a:p>
          <a:p>
            <a:pPr marL="99695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 2" panose="05020102010507070707"/>
              <a:buNone/>
              <a:defRPr/>
            </a:pP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041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anose="05000000000000000000"/>
              <a:buChar char=""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computer ate my paper.</a:t>
            </a:r>
          </a:p>
          <a:p>
            <a:pPr marL="99695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 2" panose="05020102010507070707"/>
              <a:buChar char=""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computer (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subject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is doing the eating (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verb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).</a:t>
            </a:r>
          </a:p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  <p:bldP spid="307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6800" y="1600200"/>
            <a:ext cx="7176135" cy="4016375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457200" y="5523865"/>
            <a:ext cx="4038600" cy="603885"/>
          </a:xfrm>
        </p:spPr>
        <p:txBody>
          <a:bodyPr/>
          <a:lstStyle/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975995" y="5744210"/>
            <a:ext cx="71291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en-US" sz="3200">
                <a:sym typeface="+mn-ea"/>
              </a:rPr>
              <a:t>The leopard is chasing antelope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-100" normalizeH="0" baseline="0" noProof="0" dirty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Passive 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anchor="t" anchorCtr="0"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passive voice sentence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subject and object flip-flop. The subject becomes the passive recipient of the action.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 subject is being "acted upon" (or is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such sentences are said to be in the </a:t>
            </a:r>
            <a:r>
              <a:rPr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passive voice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dirty="0"/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-100" normalizeH="0" baseline="0" noProof="0" dirty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Passive 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anchor="t" anchorCtr="0"/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examples show the </a:t>
            </a:r>
            <a:r>
              <a:rPr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being acted upon by the verb.  </a:t>
            </a:r>
          </a:p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boy was jumped on by the dog. </a:t>
            </a:r>
          </a:p>
          <a:p>
            <a:pPr lvl="1"/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Boy (</a:t>
            </a:r>
            <a:r>
              <a:rPr sz="32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was being jumped on (</a:t>
            </a:r>
            <a:r>
              <a:rPr sz="32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</a:t>
            </a: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book report will be given by Kristy to the class.</a:t>
            </a:r>
          </a:p>
          <a:p>
            <a:pPr lvl="1"/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(</a:t>
            </a:r>
            <a:r>
              <a:rPr sz="32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will be given (</a:t>
            </a:r>
            <a:r>
              <a:rPr sz="32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</a:t>
            </a: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paper was eaten by the computer.	</a:t>
            </a:r>
          </a:p>
          <a:p>
            <a:pPr lvl="1"/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(</a:t>
            </a:r>
            <a:r>
              <a:rPr sz="32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was being eaten (</a:t>
            </a:r>
            <a:r>
              <a:rPr sz="32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</a:t>
            </a:r>
            <a:r>
              <a:rPr sz="3200" i="1" dirty="0"/>
              <a:t>).</a:t>
            </a:r>
            <a:endParaRPr b="1" i="1" dirty="0"/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anchor="t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-100" normalizeH="0" baseline="0" noProof="0" dirty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Reasons to Use the Active 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anchor="t" anchorCtr="0"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prefer to use active voice because it is more direct. </a:t>
            </a:r>
          </a:p>
          <a:p>
            <a:r>
              <a:rPr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32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waiter dropped the tray of food.</a:t>
            </a:r>
          </a:p>
          <a:p>
            <a:pPr lvl="1"/>
            <a:r>
              <a:rPr sz="32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Passive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tray of food was dropped by the waiter.</a:t>
            </a:r>
          </a:p>
          <a:p>
            <a:pPr lvl="1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anchor="t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-100" normalizeH="0" baseline="0" noProof="0" dirty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Reasons to Use the Active 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>
            <a:normAutofit/>
          </a:bodyPr>
          <a:lstStyle/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r>
              <a:rPr kumimoji="0" lang="en-US" sz="3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active voice is less awkward and clearly states relationship between subject and action.</a:t>
            </a:r>
          </a:p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r>
              <a:rPr kumimoji="0" lang="en-US" sz="30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Compare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041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anose="05000000000000000000"/>
              <a:buChar char=""/>
              <a:defRPr/>
            </a:pPr>
            <a:r>
              <a:rPr kumimoji="0" lang="en-US" sz="26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Passive</a:t>
            </a:r>
            <a:r>
              <a:rPr kumimoji="0" lang="en-US" sz="2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Your request for funding has been denied by the review committee.</a:t>
            </a:r>
          </a:p>
          <a:p>
            <a:pPr marL="74041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anose="05000000000000000000"/>
              <a:buChar char=""/>
              <a:defRPr/>
            </a:pPr>
            <a:r>
              <a:rPr kumimoji="0" lang="en-US" sz="26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Active</a:t>
            </a:r>
            <a:r>
              <a:rPr kumimoji="0" lang="en-US" sz="2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The review committee denied your request for funding.</a:t>
            </a: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r>
              <a:rPr kumimoji="0" lang="en-US" sz="3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active voice sentence pattern propels the reader forward through your writing thus avoiding weak prose. </a:t>
            </a:r>
          </a:p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endParaRPr kumimoji="0" lang="en-US" sz="3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-100" normalizeH="0" baseline="0" noProof="0" dirty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When to Use Passive 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/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Emphasizing the action or receiver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When the doer is unknown or less important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Example: "The experiment was conducted by scientists."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3352800"/>
            <a:ext cx="5774690" cy="26854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896870" y="5458460"/>
            <a:ext cx="4723130" cy="1052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283210" y="1143000"/>
            <a:ext cx="8155305" cy="2041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altLang="en-US" sz="2800"/>
              <a:t>Transitive verbs </a:t>
            </a:r>
            <a:r>
              <a:rPr lang="en-US" sz="2800"/>
              <a:t>can have a passive form</a:t>
            </a:r>
            <a:endParaRPr lang="en-GB" altLang="en-US" sz="2800"/>
          </a:p>
          <a:p>
            <a:endParaRPr lang="en-GB" altLang="en-US" sz="2800"/>
          </a:p>
          <a:p>
            <a:r>
              <a:rPr lang="en-US" sz="2800"/>
              <a:t>• They destroyed the building. «—• The building was destroyed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8405495" cy="2494915"/>
          </a:xfrm>
        </p:spPr>
        <p:txBody>
          <a:bodyPr/>
          <a:lstStyle/>
          <a:p>
            <a:pPr marL="0" indent="0">
              <a:buNone/>
            </a:pPr>
            <a:r>
              <a:rPr lang="en-GB" altLang="en-US">
                <a:sym typeface="+mn-ea"/>
              </a:rPr>
              <a:t>Intransitive verb can’t have passive forms.</a:t>
            </a:r>
          </a:p>
          <a:p>
            <a:pPr marL="0" indent="0">
              <a:buNone/>
            </a:pPr>
            <a:r>
              <a:rPr lang="en-GB" altLang="en-US"/>
              <a:t>For e.g. </a:t>
            </a:r>
          </a:p>
          <a:p>
            <a:pPr marL="0" indent="0">
              <a:buNone/>
            </a:pPr>
            <a:r>
              <a:rPr lang="en-US"/>
              <a:t>I slept for nearly ten hours last night.</a:t>
            </a:r>
            <a:endParaRPr lang="en-GB" alt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57910" y="3907155"/>
            <a:ext cx="7204710" cy="2609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Double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8142605" cy="4953000"/>
          </a:xfrm>
        </p:spPr>
        <p:txBody>
          <a:bodyPr/>
          <a:lstStyle/>
          <a:p>
            <a:endParaRPr lang="en-US" sz="2400"/>
          </a:p>
          <a:p>
            <a:endParaRPr lang="en-US" sz="2400"/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Verbs that can be followed by either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object + object or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object + prepositional object in active</a:t>
            </a: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clauses 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can have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corresponding passive forms. 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7A1ECB-EEEE-30C3-0C98-4EAD07FDD2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90500"/>
            <a:ext cx="8305800" cy="621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-100" normalizeH="0" baseline="0" noProof="0" dirty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Form of Passive Voice Verbs</a:t>
            </a:r>
            <a:endParaRPr kumimoji="0" lang="en-US" sz="4000" b="0" i="0" u="none" strike="noStrike" kern="1200" cap="none" spc="-100" normalizeH="0" baseline="0" noProof="0" dirty="0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>
            <a:normAutofit/>
          </a:bodyPr>
          <a:lstStyle/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Writers should be familiar with the forms of "to be" , often called linking verbs, so that they can easily identify the passive voice in their work.</a:t>
            </a:r>
          </a:p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endParaRPr kumimoji="0" lang="en-US" sz="3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the forms of "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be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": </a:t>
            </a:r>
          </a:p>
          <a:p>
            <a:pPr marL="74041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Wingdings" panose="05000000000000000000"/>
              <a:buChar char=""/>
              <a:defRPr/>
            </a:pPr>
            <a:r>
              <a:rPr kumimoji="0" lang="en-US" sz="320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am, is, are, was, were, be, being, been</a:t>
            </a:r>
          </a:p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None/>
              <a:defRPr/>
            </a:pPr>
            <a:endParaRPr kumimoji="0" lang="en-US" sz="320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-100" normalizeH="0" baseline="0" noProof="0" dirty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Form of Passive Voice Verbs</a:t>
            </a:r>
            <a:endParaRPr kumimoji="0" lang="en-US" sz="4000" b="0" i="0" u="none" strike="noStrike" kern="1200" cap="none" spc="-100" normalizeH="0" baseline="0" noProof="0" dirty="0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anchor="t" anchorCtr="0"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the forms of "to be" in the examples of the verb "to kick" in various forms of the passive voice:</a:t>
            </a:r>
          </a:p>
          <a:p>
            <a:pPr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kicked----------------had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kicked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kicked-------------is going to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kicked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being kicked---------will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kicked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kicked-------can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kicked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kicked------should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kicked</a:t>
            </a:r>
            <a:endParaRPr dirty="0"/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-100" normalizeH="0" baseline="0" noProof="0" dirty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Form of Passive Voice Verbs</a:t>
            </a:r>
            <a:endParaRPr kumimoji="0" lang="en-US" sz="4000" b="0" i="0" u="none" strike="noStrike" kern="1200" cap="none" spc="-100" normalizeH="0" baseline="0" noProof="0" dirty="0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>
            <a:normAutofit/>
          </a:bodyPr>
          <a:lstStyle/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Often passive voice sentences will contain a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by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 phrase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indicting who or what performed the action.</a:t>
            </a:r>
          </a:p>
          <a:p>
            <a:pPr marL="6858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None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Passive sentences can be easily transformed into active sentences when the object of the preposition "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by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" is moved to the subject position in the sentence.</a:t>
            </a:r>
          </a:p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490" y="128905"/>
            <a:ext cx="8676640" cy="6534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-100" normalizeH="0" baseline="0" noProof="0" dirty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Let’s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>
            <a:normAutofit lnSpcReduction="10000"/>
          </a:bodyPr>
          <a:lstStyle/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Directions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 Change the sentences below to the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active voice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969010" marR="0" lvl="1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+mj-lt"/>
              <a:buAutoNum type="arabicPeriod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statue is being visited by hundreds of tourists every year. </a:t>
            </a:r>
          </a:p>
          <a:p>
            <a:pPr marL="969010" marR="0" lvl="1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+mj-lt"/>
              <a:buAutoNum type="arabicPeriod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My books were stolen by someone yesterday. </a:t>
            </a:r>
          </a:p>
          <a:p>
            <a:pPr marL="969010" marR="0" lvl="1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+mj-lt"/>
              <a:buAutoNum type="arabicPeriod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These books had been left in the classroom by a careless student. </a:t>
            </a:r>
          </a:p>
          <a:p>
            <a:pPr marL="969010" marR="0" lvl="1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+mj-lt"/>
              <a:buAutoNum type="arabicPeriod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Coffee is raised in many parts of Hawaii by plantation workers. </a:t>
            </a:r>
          </a:p>
          <a:p>
            <a:pPr marL="969010" marR="0" lvl="1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+mj-lt"/>
              <a:buAutoNum type="arabicPeriod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house had been broken into by someone while the owners were on vacation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-100" normalizeH="0" baseline="0" noProof="0" dirty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Let’s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>
            <a:normAutofit/>
          </a:bodyPr>
          <a:lstStyle/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Directions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Change the sentences below to the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passive voice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911860" marR="0" lvl="1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+mj-lt"/>
              <a:buAutoNum type="arabicPeriod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Children cannot open these bottles easily. </a:t>
            </a:r>
          </a:p>
          <a:p>
            <a:pPr marL="911860" marR="0" lvl="1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+mj-lt"/>
              <a:buAutoNum type="arabicPeriod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government built a road right outside her front door. </a:t>
            </a:r>
          </a:p>
          <a:p>
            <a:pPr marL="911860" marR="0" lvl="1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+mj-lt"/>
              <a:buAutoNum type="arabicPeriod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 Ross broke the antique vase as he walked through the store. </a:t>
            </a:r>
          </a:p>
          <a:p>
            <a:pPr marL="911860" marR="0" lvl="1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+mj-lt"/>
              <a:buAutoNum type="arabicPeriod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When she arrived, the changes amazed her. </a:t>
            </a:r>
          </a:p>
          <a:p>
            <a:pPr marL="911860" marR="0" lvl="1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90000"/>
              <a:buFont typeface="+mj-lt"/>
              <a:buAutoNum type="arabicPeriod"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construction workers are making street repairs all month long.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Char char=""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828800"/>
            <a:ext cx="4866005" cy="2712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tack of books design templat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ta Pie Charts">
  <a:themeElements>
    <a:clrScheme name="Data Pie Chart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Data Pie Chart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Data Pie Char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Stack of books design template</Template>
  <TotalTime>4</TotalTime>
  <Words>817</Words>
  <Application>Microsoft Office PowerPoint</Application>
  <PresentationFormat>On-screen Show (4:3)</PresentationFormat>
  <Paragraphs>110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Century Gothic</vt:lpstr>
      <vt:lpstr>Times New Roman</vt:lpstr>
      <vt:lpstr>Wingdings</vt:lpstr>
      <vt:lpstr>Wingdings 2</vt:lpstr>
      <vt:lpstr>Stack of books design template</vt:lpstr>
      <vt:lpstr>Data Pie Charts</vt:lpstr>
      <vt:lpstr>Forming Passive sentences </vt:lpstr>
      <vt:lpstr>Verbs and Voice</vt:lpstr>
      <vt:lpstr>PowerPoint Presentation</vt:lpstr>
      <vt:lpstr>Active Voice</vt:lpstr>
      <vt:lpstr>Active Voice</vt:lpstr>
      <vt:lpstr>PowerPoint Presentation</vt:lpstr>
      <vt:lpstr>Passive Voice</vt:lpstr>
      <vt:lpstr>Passive Voice</vt:lpstr>
      <vt:lpstr>Reasons to Use the Active Voice</vt:lpstr>
      <vt:lpstr>Reasons to Use the Active Voice</vt:lpstr>
      <vt:lpstr>When to Use Passive Voice</vt:lpstr>
      <vt:lpstr>PowerPoint Presentation</vt:lpstr>
      <vt:lpstr>PowerPoint Presentation</vt:lpstr>
      <vt:lpstr>Double object</vt:lpstr>
      <vt:lpstr>PowerPoint Presentation</vt:lpstr>
      <vt:lpstr>Form of Passive Voice Verbs</vt:lpstr>
      <vt:lpstr>Form of Passive Voice Verbs</vt:lpstr>
      <vt:lpstr>Form of Passive Voice Verbs</vt:lpstr>
      <vt:lpstr>PowerPoint Presentation</vt:lpstr>
      <vt:lpstr>Let’s Practice</vt:lpstr>
      <vt:lpstr>Let’s Practice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Active and Passive Voice</dc:title>
  <dc:creator>Dawn Marie Coleman</dc:creator>
  <cp:lastModifiedBy>Macro Office</cp:lastModifiedBy>
  <cp:revision>29</cp:revision>
  <dcterms:created xsi:type="dcterms:W3CDTF">2001-09-07T04:38:58Z</dcterms:created>
  <dcterms:modified xsi:type="dcterms:W3CDTF">2023-12-19T06:12:23Z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FAB47FDBE85144EE95E046F239F6FA48_12</vt:lpwstr>
  </property>
  <property fmtid="{D5CDD505-2E9C-101B-9397-08002B2CF9AE}" pid="3" name="KSOProductBuildVer">
    <vt:lpwstr>1033-12.2.0.13359</vt:lpwstr>
  </property>
</Properties>
</file>