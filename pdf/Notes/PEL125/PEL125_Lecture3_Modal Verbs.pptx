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83" r:id="rId21"/>
    <p:sldId id="276" r:id="rId22"/>
    <p:sldId id="277" r:id="rId23"/>
    <p:sldId id="278" r:id="rId24"/>
    <p:sldId id="279" r:id="rId25"/>
    <p:sldId id="284" r:id="rId26"/>
    <p:sldId id="285" r:id="rId27"/>
    <p:sldId id="286" r:id="rId28"/>
    <p:sldId id="287" r:id="rId29"/>
    <p:sldId id="28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8B6053-5A59-42EF-BF02-596209584687}" v="4" dt="2024-02-19T08:09:15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i Bhardwaj" userId="f62c1b4b46ba6917" providerId="LiveId" clId="{CB8B6053-5A59-42EF-BF02-596209584687}"/>
    <pc:docChg chg="custSel addSld delSld modSld">
      <pc:chgData name="Iti Bhardwaj" userId="f62c1b4b46ba6917" providerId="LiveId" clId="{CB8B6053-5A59-42EF-BF02-596209584687}" dt="2024-02-19T08:09:43.199" v="20" actId="47"/>
      <pc:docMkLst>
        <pc:docMk/>
      </pc:docMkLst>
      <pc:sldChg chg="addSp modSp new mod">
        <pc:chgData name="Iti Bhardwaj" userId="f62c1b4b46ba6917" providerId="LiveId" clId="{CB8B6053-5A59-42EF-BF02-596209584687}" dt="2024-02-19T08:07:55.314" v="3" actId="14100"/>
        <pc:sldMkLst>
          <pc:docMk/>
          <pc:sldMk cId="3343210185" sldId="285"/>
        </pc:sldMkLst>
        <pc:picChg chg="add mod">
          <ac:chgData name="Iti Bhardwaj" userId="f62c1b4b46ba6917" providerId="LiveId" clId="{CB8B6053-5A59-42EF-BF02-596209584687}" dt="2024-02-19T08:07:55.314" v="3" actId="14100"/>
          <ac:picMkLst>
            <pc:docMk/>
            <pc:sldMk cId="3343210185" sldId="285"/>
            <ac:picMk id="3" creationId="{ADCBFDE5-61DA-9ECD-3DB9-D98AAB0BE7E6}"/>
          </ac:picMkLst>
        </pc:picChg>
      </pc:sldChg>
      <pc:sldChg chg="addSp modSp new mod">
        <pc:chgData name="Iti Bhardwaj" userId="f62c1b4b46ba6917" providerId="LiveId" clId="{CB8B6053-5A59-42EF-BF02-596209584687}" dt="2024-02-19T08:08:28.087" v="8" actId="14100"/>
        <pc:sldMkLst>
          <pc:docMk/>
          <pc:sldMk cId="3265287240" sldId="286"/>
        </pc:sldMkLst>
        <pc:picChg chg="add mod">
          <ac:chgData name="Iti Bhardwaj" userId="f62c1b4b46ba6917" providerId="LiveId" clId="{CB8B6053-5A59-42EF-BF02-596209584687}" dt="2024-02-19T08:08:28.087" v="8" actId="14100"/>
          <ac:picMkLst>
            <pc:docMk/>
            <pc:sldMk cId="3265287240" sldId="286"/>
            <ac:picMk id="3" creationId="{2CB386B0-33D0-4931-E79B-F02328F0AB32}"/>
          </ac:picMkLst>
        </pc:picChg>
      </pc:sldChg>
      <pc:sldChg chg="addSp modSp new mod">
        <pc:chgData name="Iti Bhardwaj" userId="f62c1b4b46ba6917" providerId="LiveId" clId="{CB8B6053-5A59-42EF-BF02-596209584687}" dt="2024-02-19T08:08:58.037" v="13" actId="14100"/>
        <pc:sldMkLst>
          <pc:docMk/>
          <pc:sldMk cId="2358064423" sldId="287"/>
        </pc:sldMkLst>
        <pc:picChg chg="add mod">
          <ac:chgData name="Iti Bhardwaj" userId="f62c1b4b46ba6917" providerId="LiveId" clId="{CB8B6053-5A59-42EF-BF02-596209584687}" dt="2024-02-19T08:08:58.037" v="13" actId="14100"/>
          <ac:picMkLst>
            <pc:docMk/>
            <pc:sldMk cId="2358064423" sldId="287"/>
            <ac:picMk id="3" creationId="{85FDAE2B-F0A3-86E6-2C82-70004F40DB42}"/>
          </ac:picMkLst>
        </pc:picChg>
      </pc:sldChg>
      <pc:sldChg chg="addSp delSp modSp new del mod">
        <pc:chgData name="Iti Bhardwaj" userId="f62c1b4b46ba6917" providerId="LiveId" clId="{CB8B6053-5A59-42EF-BF02-596209584687}" dt="2024-02-19T08:09:43.199" v="20" actId="47"/>
        <pc:sldMkLst>
          <pc:docMk/>
          <pc:sldMk cId="1958723916" sldId="288"/>
        </pc:sldMkLst>
        <pc:picChg chg="add del mod modCrop">
          <ac:chgData name="Iti Bhardwaj" userId="f62c1b4b46ba6917" providerId="LiveId" clId="{CB8B6053-5A59-42EF-BF02-596209584687}" dt="2024-02-19T08:09:40.931" v="19" actId="478"/>
          <ac:picMkLst>
            <pc:docMk/>
            <pc:sldMk cId="1958723916" sldId="288"/>
            <ac:picMk id="3" creationId="{F7D59DA4-1404-C921-A0B9-4DA4CBDA6C4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1314-1891-FCF5-7DF6-D626728AF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AAD0A-5055-7B0C-915A-DE89123F3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2732A-6A6B-9D87-E89E-59E4ECAC0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0447C-8EAC-8EEB-1380-939CDFB31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2DD95-8646-AE1A-BEF5-50CBF68B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522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40BEA-A162-6DC9-2439-6E5C30DB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F7286-46D8-83D5-219A-DC2BADB4A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816E5-1670-9B31-D6DA-047FC7A6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4F017-A809-A476-9616-C83AB90C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E4A5C-79A8-1F38-6AF5-21C3F078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59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420DE-30F2-3CF6-CF3A-8A057956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54B30-7B97-0858-0295-309038822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DC239-0D54-C6DD-7AF5-7F8C41D6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8E3B4-3D5A-04D5-307D-72B243203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80A2A-3029-0CC4-9A98-F80AD85F3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42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C0AD-9D87-B0D6-8A65-72F8EB6B6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B6495-4250-D109-B577-019A772FC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251DA-CF0B-C5AD-93B1-35E0A1336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8CCE1-F04E-7AC3-ED6C-A1FCEC33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89ECC-846C-7E6F-0AE5-B4F59E96C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BE040-331E-F5E0-3672-032191FB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97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0376-7E55-5672-2F7B-C045E6290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13404-7CE6-0E6D-56ED-54D98A0EA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6D2E4-A1B1-3400-9D77-CFFA67211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C6C47-84C2-B36D-A57E-BBF60383D5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4BE381-14DB-B7E5-240A-EF5BC91852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8EB18B-BB6B-D608-A1F3-8338AE34B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4D389B-1AE8-8003-574E-C27F8C252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30B67B-CA67-AA4A-C77B-11A41D450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344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6256-D2F6-ACAF-39A9-B9053DD13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6A43F1-5F03-2F3D-8819-F4EA5876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E75088-7199-D944-9D24-B6E0BD70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FD2D7-1745-DF4C-D2FD-774C81F7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470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7D28F-5764-A891-0FDF-C6D2A44C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5AEA6C-5EB4-D2E1-F0EE-78BD22683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A7030-B198-2513-06DA-E3A98077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74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203C6-9D0B-B780-86D2-4C3D4BDBE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F5345-45E7-7227-8A4B-D42E08215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2E869-EFF7-EDCF-ABB0-122E59B2A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4E4D8-F449-42CC-F2AF-78288A7B9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3DC58-39E6-B280-0D10-4DAB18508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C7ADC-7C4F-630F-DC5A-B009272B7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11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0A56-9B9E-B787-201E-59D4E0BB2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3F41FE-05ED-A156-6453-BB3C59132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BB88F-50CB-5EE2-BCBC-046992988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1F338-8285-D5DF-CBB9-A5486FA63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1C1DD-4CCD-0F37-1730-CD2DDFC24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BF1AA-6218-62FF-CEE0-B2F6B6B1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436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6728D-69DC-F9A0-410D-7511A91C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EBCEF-19A4-CE1B-BD43-F067C4AD4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1DBC8-164C-BA85-869D-44FDCC11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738FA-FC5E-6ACE-7EE0-159FFD5C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54614-73F1-809D-3488-8A16FEC2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02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30B61C-377A-1F84-544A-8416B9561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25095-8E69-AF8B-F4D5-EEB5D5D96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B2B4D-B989-7AF4-E9A4-0C0CD32B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628CE-7B36-288E-2BAA-E03A60965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52653-D5F7-F643-3469-2EE5DBBB4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643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B838D-B4AF-00CC-627F-C4C2C2351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5097B-D5BE-3766-1392-FF2B54950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7E00B-5B0F-DF8E-A48F-0B3C0411A8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A2503-3B74-4156-8E1F-6506D62B37FA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71B04-F133-57F4-1B7A-4AD864D44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274F0-D504-ADDA-2DFD-D53B280CF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214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26477" y="1297176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150936" y="1986510"/>
            <a:ext cx="9890129" cy="3227557"/>
            <a:chOff x="0" y="0"/>
            <a:chExt cx="2658299" cy="8675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58299" cy="867513"/>
            </a:xfrm>
            <a:custGeom>
              <a:avLst/>
              <a:gdLst/>
              <a:ahLst/>
              <a:cxnLst/>
              <a:rect l="l" t="t" r="r" b="b"/>
              <a:pathLst>
                <a:path w="2658299" h="867513">
                  <a:moveTo>
                    <a:pt x="10437" y="0"/>
                  </a:moveTo>
                  <a:lnTo>
                    <a:pt x="2647862" y="0"/>
                  </a:lnTo>
                  <a:cubicBezTo>
                    <a:pt x="2650630" y="0"/>
                    <a:pt x="2653285" y="1100"/>
                    <a:pt x="2655242" y="3057"/>
                  </a:cubicBezTo>
                  <a:cubicBezTo>
                    <a:pt x="2657200" y="5014"/>
                    <a:pt x="2658299" y="7669"/>
                    <a:pt x="2658299" y="10437"/>
                  </a:cubicBezTo>
                  <a:lnTo>
                    <a:pt x="2658299" y="857075"/>
                  </a:lnTo>
                  <a:cubicBezTo>
                    <a:pt x="2658299" y="862840"/>
                    <a:pt x="2653626" y="867513"/>
                    <a:pt x="2647862" y="867513"/>
                  </a:cubicBezTo>
                  <a:lnTo>
                    <a:pt x="10437" y="867513"/>
                  </a:lnTo>
                  <a:cubicBezTo>
                    <a:pt x="7669" y="867513"/>
                    <a:pt x="5014" y="866413"/>
                    <a:pt x="3057" y="864456"/>
                  </a:cubicBezTo>
                  <a:cubicBezTo>
                    <a:pt x="1100" y="862498"/>
                    <a:pt x="0" y="859844"/>
                    <a:pt x="0" y="857075"/>
                  </a:cubicBezTo>
                  <a:lnTo>
                    <a:pt x="0" y="10437"/>
                  </a:lnTo>
                  <a:cubicBezTo>
                    <a:pt x="0" y="7669"/>
                    <a:pt x="1100" y="5014"/>
                    <a:pt x="3057" y="3057"/>
                  </a:cubicBezTo>
                  <a:cubicBezTo>
                    <a:pt x="5014" y="1100"/>
                    <a:pt x="7669" y="0"/>
                    <a:pt x="1043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238125"/>
              <a:ext cx="2658299" cy="62938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7787"/>
                </a:lnSpc>
              </a:pPr>
              <a:r>
                <a:rPr lang="en-US" sz="7867">
                  <a:solidFill>
                    <a:srgbClr val="000000"/>
                  </a:solidFill>
                  <a:latin typeface="Garet Bold"/>
                </a:rPr>
                <a:t>Modal Verbs</a:t>
              </a:r>
            </a:p>
          </p:txBody>
        </p:sp>
      </p:grpSp>
      <p:sp>
        <p:nvSpPr>
          <p:cNvPr id="14" name="Freeform 14"/>
          <p:cNvSpPr/>
          <p:nvPr/>
        </p:nvSpPr>
        <p:spPr>
          <a:xfrm rot="-438185">
            <a:off x="9997622" y="-395801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373948" y="364077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856826">
            <a:off x="5350660" y="5658941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53545" y="-591643"/>
            <a:ext cx="4141916" cy="8271132"/>
            <a:chOff x="0" y="0"/>
            <a:chExt cx="8283832" cy="16542264"/>
          </a:xfrm>
        </p:grpSpPr>
        <p:sp>
          <p:nvSpPr>
            <p:cNvPr id="3" name="Freeform 3"/>
            <p:cNvSpPr/>
            <p:nvPr/>
          </p:nvSpPr>
          <p:spPr>
            <a:xfrm>
              <a:off x="0" y="82584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1095511" y="-406035"/>
            <a:ext cx="9652609" cy="7483641"/>
            <a:chOff x="0" y="0"/>
            <a:chExt cx="2594458" cy="20114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594458" cy="201147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8557098" y="4718037"/>
            <a:ext cx="3049171" cy="2139963"/>
          </a:xfrm>
          <a:custGeom>
            <a:avLst/>
            <a:gdLst/>
            <a:ahLst/>
            <a:cxnLst/>
            <a:rect l="l" t="t" r="r" b="b"/>
            <a:pathLst>
              <a:path w="4573756" h="3209945">
                <a:moveTo>
                  <a:pt x="0" y="0"/>
                </a:moveTo>
                <a:lnTo>
                  <a:pt x="4573757" y="0"/>
                </a:lnTo>
                <a:lnTo>
                  <a:pt x="4573757" y="3209945"/>
                </a:lnTo>
                <a:lnTo>
                  <a:pt x="0" y="3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0"/>
            <a:ext cx="8557098" cy="6858000"/>
          </a:xfrm>
          <a:custGeom>
            <a:avLst/>
            <a:gdLst/>
            <a:ahLst/>
            <a:cxnLst/>
            <a:rect l="l" t="t" r="r" b="b"/>
            <a:pathLst>
              <a:path w="12835647" h="10287000">
                <a:moveTo>
                  <a:pt x="0" y="0"/>
                </a:moveTo>
                <a:lnTo>
                  <a:pt x="12835647" y="0"/>
                </a:lnTo>
                <a:lnTo>
                  <a:pt x="1283564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2" t="-2802" b="-5027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1095511" y="-406035"/>
            <a:ext cx="9652609" cy="7483641"/>
            <a:chOff x="0" y="0"/>
            <a:chExt cx="2594458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744708" y="1350469"/>
            <a:ext cx="3071377" cy="5165923"/>
          </a:xfrm>
          <a:custGeom>
            <a:avLst/>
            <a:gdLst/>
            <a:ahLst/>
            <a:cxnLst/>
            <a:rect l="l" t="t" r="r" b="b"/>
            <a:pathLst>
              <a:path w="4607065" h="7748885">
                <a:moveTo>
                  <a:pt x="0" y="0"/>
                </a:moveTo>
                <a:lnTo>
                  <a:pt x="4607065" y="0"/>
                </a:lnTo>
                <a:lnTo>
                  <a:pt x="4607065" y="7748886"/>
                </a:lnTo>
                <a:lnTo>
                  <a:pt x="0" y="774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303823" y="491408"/>
            <a:ext cx="7950531" cy="2844377"/>
            <a:chOff x="0" y="0"/>
            <a:chExt cx="2054489" cy="73501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54489" cy="735013"/>
            </a:xfrm>
            <a:custGeom>
              <a:avLst/>
              <a:gdLst/>
              <a:ahLst/>
              <a:cxnLst/>
              <a:rect l="l" t="t" r="r" b="b"/>
              <a:pathLst>
                <a:path w="2054489" h="735013">
                  <a:moveTo>
                    <a:pt x="12983" y="0"/>
                  </a:moveTo>
                  <a:lnTo>
                    <a:pt x="2041505" y="0"/>
                  </a:lnTo>
                  <a:cubicBezTo>
                    <a:pt x="2048676" y="0"/>
                    <a:pt x="2054489" y="5813"/>
                    <a:pt x="2054489" y="12983"/>
                  </a:cubicBezTo>
                  <a:lnTo>
                    <a:pt x="2054489" y="722029"/>
                  </a:lnTo>
                  <a:cubicBezTo>
                    <a:pt x="2054489" y="725473"/>
                    <a:pt x="2053121" y="728775"/>
                    <a:pt x="2050686" y="731210"/>
                  </a:cubicBezTo>
                  <a:cubicBezTo>
                    <a:pt x="2048251" y="733645"/>
                    <a:pt x="2044948" y="735013"/>
                    <a:pt x="2041505" y="735013"/>
                  </a:cubicBezTo>
                  <a:lnTo>
                    <a:pt x="12983" y="735013"/>
                  </a:lnTo>
                  <a:cubicBezTo>
                    <a:pt x="9540" y="735013"/>
                    <a:pt x="6238" y="733645"/>
                    <a:pt x="3803" y="731210"/>
                  </a:cubicBezTo>
                  <a:cubicBezTo>
                    <a:pt x="1368" y="728775"/>
                    <a:pt x="0" y="725473"/>
                    <a:pt x="0" y="722029"/>
                  </a:cubicBezTo>
                  <a:lnTo>
                    <a:pt x="0" y="12983"/>
                  </a:lnTo>
                  <a:cubicBezTo>
                    <a:pt x="0" y="9540"/>
                    <a:pt x="1368" y="6238"/>
                    <a:pt x="3803" y="3803"/>
                  </a:cubicBezTo>
                  <a:cubicBezTo>
                    <a:pt x="6238" y="1368"/>
                    <a:pt x="9540" y="0"/>
                    <a:pt x="12983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23825"/>
              <a:ext cx="2054489" cy="858838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3554"/>
                </a:lnSpc>
              </a:pPr>
              <a:r>
                <a:rPr lang="en-US" sz="2733">
                  <a:solidFill>
                    <a:srgbClr val="000000"/>
                  </a:solidFill>
                  <a:latin typeface="Times New Roman Ultra-Bold" panose="02030902070405020303"/>
                </a:rPr>
                <a:t>We also use should / ought to + have + past participle to talk about an expectation that something  happened, has happened, or will happen: </a:t>
              </a:r>
            </a:p>
            <a:p>
              <a:pPr>
                <a:lnSpc>
                  <a:spcPts val="3554"/>
                </a:lnSpc>
              </a:pPr>
              <a:endParaRPr lang="en-US" sz="2733">
                <a:solidFill>
                  <a:srgbClr val="000000"/>
                </a:solidFill>
                <a:latin typeface="Times New Roman Ultra-Bold" panose="02030902070405020303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03823" y="4139606"/>
            <a:ext cx="7950531" cy="2032594"/>
            <a:chOff x="0" y="0"/>
            <a:chExt cx="2054489" cy="52524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54489" cy="525241"/>
            </a:xfrm>
            <a:custGeom>
              <a:avLst/>
              <a:gdLst/>
              <a:ahLst/>
              <a:cxnLst/>
              <a:rect l="l" t="t" r="r" b="b"/>
              <a:pathLst>
                <a:path w="2054489" h="525241">
                  <a:moveTo>
                    <a:pt x="12983" y="0"/>
                  </a:moveTo>
                  <a:lnTo>
                    <a:pt x="2041505" y="0"/>
                  </a:lnTo>
                  <a:cubicBezTo>
                    <a:pt x="2048676" y="0"/>
                    <a:pt x="2054489" y="5813"/>
                    <a:pt x="2054489" y="12983"/>
                  </a:cubicBezTo>
                  <a:lnTo>
                    <a:pt x="2054489" y="512257"/>
                  </a:lnTo>
                  <a:cubicBezTo>
                    <a:pt x="2054489" y="515701"/>
                    <a:pt x="2053121" y="519003"/>
                    <a:pt x="2050686" y="521438"/>
                  </a:cubicBezTo>
                  <a:cubicBezTo>
                    <a:pt x="2048251" y="523873"/>
                    <a:pt x="2044948" y="525241"/>
                    <a:pt x="2041505" y="525241"/>
                  </a:cubicBezTo>
                  <a:lnTo>
                    <a:pt x="12983" y="525241"/>
                  </a:lnTo>
                  <a:cubicBezTo>
                    <a:pt x="9540" y="525241"/>
                    <a:pt x="6238" y="523873"/>
                    <a:pt x="3803" y="521438"/>
                  </a:cubicBezTo>
                  <a:cubicBezTo>
                    <a:pt x="1368" y="519003"/>
                    <a:pt x="0" y="515701"/>
                    <a:pt x="0" y="512257"/>
                  </a:cubicBezTo>
                  <a:lnTo>
                    <a:pt x="0" y="12983"/>
                  </a:lnTo>
                  <a:cubicBezTo>
                    <a:pt x="0" y="9540"/>
                    <a:pt x="1368" y="6238"/>
                    <a:pt x="3803" y="3803"/>
                  </a:cubicBezTo>
                  <a:cubicBezTo>
                    <a:pt x="6238" y="1368"/>
                    <a:pt x="9540" y="0"/>
                    <a:pt x="12983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114300"/>
              <a:ext cx="2054489" cy="639541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3293"/>
                </a:lnSpc>
              </a:pPr>
              <a:r>
                <a:rPr lang="en-US" sz="2533">
                  <a:solidFill>
                    <a:srgbClr val="000000"/>
                  </a:solidFill>
                  <a:latin typeface="Times New Roman Ultra-Bold" panose="02030902070405020303"/>
                </a:rPr>
                <a:t>For e.g. </a:t>
              </a:r>
            </a:p>
            <a:p>
              <a:pPr>
                <a:lnSpc>
                  <a:spcPts val="3293"/>
                </a:lnSpc>
              </a:pPr>
              <a:r>
                <a:rPr lang="en-US" sz="2533">
                  <a:solidFill>
                    <a:srgbClr val="000000"/>
                  </a:solidFill>
                  <a:latin typeface="Times New Roman Ultra-Bold" panose="02030902070405020303"/>
                </a:rPr>
                <a:t>The builders should / ought to have finished by the end of the week. </a:t>
              </a:r>
            </a:p>
            <a:p>
              <a:pPr>
                <a:lnSpc>
                  <a:spcPts val="2773"/>
                </a:lnSpc>
              </a:pPr>
              <a:endParaRPr lang="en-US" sz="2533">
                <a:solidFill>
                  <a:srgbClr val="000000"/>
                </a:solidFill>
                <a:latin typeface="Times New Roman Ultra-Bold" panose="02030902070405020303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1095511" y="-406035"/>
            <a:ext cx="9652609" cy="7483641"/>
            <a:chOff x="0" y="0"/>
            <a:chExt cx="2594458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7609" y="640727"/>
            <a:ext cx="8129280" cy="1872575"/>
            <a:chOff x="0" y="0"/>
            <a:chExt cx="2100679" cy="4838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00679" cy="483890"/>
            </a:xfrm>
            <a:custGeom>
              <a:avLst/>
              <a:gdLst/>
              <a:ahLst/>
              <a:cxnLst/>
              <a:rect l="l" t="t" r="r" b="b"/>
              <a:pathLst>
                <a:path w="2100679" h="483890">
                  <a:moveTo>
                    <a:pt x="12698" y="0"/>
                  </a:moveTo>
                  <a:lnTo>
                    <a:pt x="2087981" y="0"/>
                  </a:lnTo>
                  <a:cubicBezTo>
                    <a:pt x="2091349" y="0"/>
                    <a:pt x="2094579" y="1338"/>
                    <a:pt x="2096960" y="3719"/>
                  </a:cubicBezTo>
                  <a:cubicBezTo>
                    <a:pt x="2099341" y="6100"/>
                    <a:pt x="2100679" y="9330"/>
                    <a:pt x="2100679" y="12698"/>
                  </a:cubicBezTo>
                  <a:lnTo>
                    <a:pt x="2100679" y="471192"/>
                  </a:lnTo>
                  <a:cubicBezTo>
                    <a:pt x="2100679" y="474560"/>
                    <a:pt x="2099341" y="477790"/>
                    <a:pt x="2096960" y="480171"/>
                  </a:cubicBezTo>
                  <a:cubicBezTo>
                    <a:pt x="2094579" y="482552"/>
                    <a:pt x="2091349" y="483890"/>
                    <a:pt x="2087981" y="483890"/>
                  </a:cubicBezTo>
                  <a:lnTo>
                    <a:pt x="12698" y="483890"/>
                  </a:lnTo>
                  <a:cubicBezTo>
                    <a:pt x="9330" y="483890"/>
                    <a:pt x="6100" y="482552"/>
                    <a:pt x="3719" y="480171"/>
                  </a:cubicBezTo>
                  <a:cubicBezTo>
                    <a:pt x="1338" y="477790"/>
                    <a:pt x="0" y="474560"/>
                    <a:pt x="0" y="471192"/>
                  </a:cubicBezTo>
                  <a:lnTo>
                    <a:pt x="0" y="12698"/>
                  </a:lnTo>
                  <a:cubicBezTo>
                    <a:pt x="0" y="9330"/>
                    <a:pt x="1338" y="6100"/>
                    <a:pt x="3719" y="3719"/>
                  </a:cubicBezTo>
                  <a:cubicBezTo>
                    <a:pt x="6100" y="1338"/>
                    <a:pt x="9330" y="0"/>
                    <a:pt x="12698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23825"/>
              <a:ext cx="2100679" cy="60771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3640"/>
                </a:lnSpc>
              </a:pPr>
              <a:r>
                <a:rPr lang="en-US" sz="2800">
                  <a:solidFill>
                    <a:srgbClr val="000000"/>
                  </a:solidFill>
                  <a:latin typeface="Times New Roman Ultra-Bold" panose="02030902070405020303"/>
                </a:rPr>
                <a:t>We use</a:t>
              </a:r>
              <a:r>
                <a:rPr lang="en-US" sz="2800">
                  <a:solidFill>
                    <a:srgbClr val="000000"/>
                  </a:solidFill>
                  <a:latin typeface="Times New Roman Bold" panose="02030802070405020303"/>
                </a:rPr>
                <a:t> had better</a:t>
              </a:r>
              <a:r>
                <a:rPr lang="en-US" sz="2800">
                  <a:solidFill>
                    <a:srgbClr val="000000"/>
                  </a:solidFill>
                  <a:latin typeface="Times New Roman Ultra-Bold" panose="02030902070405020303"/>
                </a:rPr>
                <a:t> instead of should / ought to, to say that we think it would be sensible or advisable to do something.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08253" y="3053305"/>
            <a:ext cx="8008637" cy="3792729"/>
            <a:chOff x="0" y="0"/>
            <a:chExt cx="2069504" cy="9800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69504" cy="980075"/>
            </a:xfrm>
            <a:custGeom>
              <a:avLst/>
              <a:gdLst/>
              <a:ahLst/>
              <a:cxnLst/>
              <a:rect l="l" t="t" r="r" b="b"/>
              <a:pathLst>
                <a:path w="2069504" h="980075">
                  <a:moveTo>
                    <a:pt x="12889" y="0"/>
                  </a:moveTo>
                  <a:lnTo>
                    <a:pt x="2056615" y="0"/>
                  </a:lnTo>
                  <a:cubicBezTo>
                    <a:pt x="2063733" y="0"/>
                    <a:pt x="2069504" y="5771"/>
                    <a:pt x="2069504" y="12889"/>
                  </a:cubicBezTo>
                  <a:lnTo>
                    <a:pt x="2069504" y="967186"/>
                  </a:lnTo>
                  <a:cubicBezTo>
                    <a:pt x="2069504" y="970604"/>
                    <a:pt x="2068146" y="973883"/>
                    <a:pt x="2065729" y="976300"/>
                  </a:cubicBezTo>
                  <a:cubicBezTo>
                    <a:pt x="2063311" y="978717"/>
                    <a:pt x="2060033" y="980075"/>
                    <a:pt x="2056615" y="980075"/>
                  </a:cubicBezTo>
                  <a:lnTo>
                    <a:pt x="12889" y="980075"/>
                  </a:lnTo>
                  <a:cubicBezTo>
                    <a:pt x="5771" y="980075"/>
                    <a:pt x="0" y="974304"/>
                    <a:pt x="0" y="967186"/>
                  </a:cubicBezTo>
                  <a:lnTo>
                    <a:pt x="0" y="12889"/>
                  </a:lnTo>
                  <a:cubicBezTo>
                    <a:pt x="0" y="9471"/>
                    <a:pt x="1358" y="6192"/>
                    <a:pt x="3775" y="3775"/>
                  </a:cubicBezTo>
                  <a:cubicBezTo>
                    <a:pt x="6192" y="1358"/>
                    <a:pt x="9471" y="0"/>
                    <a:pt x="12889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123825"/>
              <a:ext cx="2069504" cy="1103900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3467"/>
                </a:lnSpc>
              </a:pPr>
              <a:r>
                <a:rPr lang="en-US" sz="2667">
                  <a:solidFill>
                    <a:srgbClr val="000000"/>
                  </a:solidFill>
                  <a:latin typeface="Times New Roman Ultra-Bold" panose="02030902070405020303"/>
                </a:rPr>
                <a:t>We don't use HAD BETTER  to talk about </a:t>
              </a:r>
            </a:p>
            <a:p>
              <a:pPr>
                <a:lnSpc>
                  <a:spcPts val="3467"/>
                </a:lnSpc>
              </a:pPr>
              <a:r>
                <a:rPr lang="en-US" sz="2667">
                  <a:solidFill>
                    <a:srgbClr val="000000"/>
                  </a:solidFill>
                  <a:latin typeface="Times New Roman Ultra-Bold" panose="02030902070405020303"/>
                </a:rPr>
                <a:t>the past or to make general comments. </a:t>
              </a:r>
            </a:p>
            <a:p>
              <a:pPr>
                <a:lnSpc>
                  <a:spcPts val="3467"/>
                </a:lnSpc>
              </a:pPr>
              <a:endParaRPr lang="en-US" sz="2667">
                <a:solidFill>
                  <a:srgbClr val="000000"/>
                </a:solidFill>
                <a:latin typeface="Times New Roman Ultra-Bold" panose="02030902070405020303"/>
              </a:endParaRPr>
            </a:p>
            <a:p>
              <a:pPr>
                <a:lnSpc>
                  <a:spcPts val="3467"/>
                </a:lnSpc>
              </a:pPr>
              <a:r>
                <a:rPr lang="en-US" sz="2667">
                  <a:solidFill>
                    <a:srgbClr val="000000"/>
                  </a:solidFill>
                  <a:latin typeface="Times New Roman Ultra-Bold" panose="02030902070405020303"/>
                </a:rPr>
                <a:t>For e.g. </a:t>
              </a:r>
            </a:p>
            <a:p>
              <a:pPr>
                <a:lnSpc>
                  <a:spcPts val="3467"/>
                </a:lnSpc>
              </a:pPr>
              <a:endParaRPr lang="en-US" sz="2667">
                <a:solidFill>
                  <a:srgbClr val="000000"/>
                </a:solidFill>
                <a:latin typeface="Times New Roman Ultra-Bold" panose="02030902070405020303"/>
              </a:endParaRPr>
            </a:p>
            <a:p>
              <a:pPr>
                <a:lnSpc>
                  <a:spcPts val="3467"/>
                </a:lnSpc>
              </a:pPr>
              <a:r>
                <a:rPr lang="en-US" sz="2667">
                  <a:solidFill>
                    <a:srgbClr val="000000"/>
                  </a:solidFill>
                  <a:latin typeface="Times New Roman Ultra-Bold" panose="02030902070405020303"/>
                </a:rPr>
                <a:t>You should / ought to have caught a later train.</a:t>
              </a:r>
            </a:p>
            <a:p>
              <a:pPr>
                <a:lnSpc>
                  <a:spcPts val="3467"/>
                </a:lnSpc>
              </a:pPr>
              <a:r>
                <a:rPr lang="en-US" sz="2667">
                  <a:solidFill>
                    <a:srgbClr val="000000"/>
                  </a:solidFill>
                  <a:latin typeface="Times New Roman Ultra-Bold" panose="02030902070405020303"/>
                </a:rPr>
                <a:t>(not You had better have...)</a:t>
              </a:r>
            </a:p>
            <a:p>
              <a:pPr>
                <a:lnSpc>
                  <a:spcPts val="2773"/>
                </a:lnSpc>
              </a:pPr>
              <a:endParaRPr lang="en-US" sz="2667">
                <a:solidFill>
                  <a:srgbClr val="000000"/>
                </a:solidFill>
                <a:latin typeface="Times New Roman Ultra-Bold" panose="02030902070405020303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8316889" y="1832559"/>
            <a:ext cx="3793928" cy="4788241"/>
          </a:xfrm>
          <a:custGeom>
            <a:avLst/>
            <a:gdLst/>
            <a:ahLst/>
            <a:cxnLst/>
            <a:rect l="l" t="t" r="r" b="b"/>
            <a:pathLst>
              <a:path w="5690892" h="7182361">
                <a:moveTo>
                  <a:pt x="0" y="0"/>
                </a:moveTo>
                <a:lnTo>
                  <a:pt x="5690892" y="0"/>
                </a:lnTo>
                <a:lnTo>
                  <a:pt x="5690892" y="7182360"/>
                </a:lnTo>
                <a:lnTo>
                  <a:pt x="0" y="71823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878" r="-44697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1095511" y="-406035"/>
            <a:ext cx="9652609" cy="7483641"/>
            <a:chOff x="0" y="0"/>
            <a:chExt cx="2594458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3691" y="1209675"/>
            <a:ext cx="6824875" cy="4783007"/>
            <a:chOff x="0" y="0"/>
            <a:chExt cx="1763609" cy="12359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63609" cy="1235972"/>
            </a:xfrm>
            <a:custGeom>
              <a:avLst/>
              <a:gdLst/>
              <a:ahLst/>
              <a:cxnLst/>
              <a:rect l="l" t="t" r="r" b="b"/>
              <a:pathLst>
                <a:path w="1763609" h="1235972">
                  <a:moveTo>
                    <a:pt x="15125" y="0"/>
                  </a:moveTo>
                  <a:lnTo>
                    <a:pt x="1748484" y="0"/>
                  </a:lnTo>
                  <a:cubicBezTo>
                    <a:pt x="1752496" y="0"/>
                    <a:pt x="1756343" y="1594"/>
                    <a:pt x="1759179" y="4430"/>
                  </a:cubicBezTo>
                  <a:cubicBezTo>
                    <a:pt x="1762016" y="7266"/>
                    <a:pt x="1763609" y="11114"/>
                    <a:pt x="1763609" y="15125"/>
                  </a:cubicBezTo>
                  <a:lnTo>
                    <a:pt x="1763609" y="1220847"/>
                  </a:lnTo>
                  <a:cubicBezTo>
                    <a:pt x="1763609" y="1224858"/>
                    <a:pt x="1762016" y="1228706"/>
                    <a:pt x="1759179" y="1231542"/>
                  </a:cubicBezTo>
                  <a:cubicBezTo>
                    <a:pt x="1756343" y="1234379"/>
                    <a:pt x="1752496" y="1235972"/>
                    <a:pt x="1748484" y="1235972"/>
                  </a:cubicBezTo>
                  <a:lnTo>
                    <a:pt x="15125" y="1235972"/>
                  </a:lnTo>
                  <a:cubicBezTo>
                    <a:pt x="11114" y="1235972"/>
                    <a:pt x="7266" y="1234379"/>
                    <a:pt x="4430" y="1231542"/>
                  </a:cubicBezTo>
                  <a:cubicBezTo>
                    <a:pt x="1594" y="1228706"/>
                    <a:pt x="0" y="1224858"/>
                    <a:pt x="0" y="1220847"/>
                  </a:cubicBezTo>
                  <a:lnTo>
                    <a:pt x="0" y="15125"/>
                  </a:lnTo>
                  <a:cubicBezTo>
                    <a:pt x="0" y="11114"/>
                    <a:pt x="1594" y="7266"/>
                    <a:pt x="4430" y="4430"/>
                  </a:cubicBezTo>
                  <a:cubicBezTo>
                    <a:pt x="7266" y="1594"/>
                    <a:pt x="11114" y="0"/>
                    <a:pt x="15125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23825"/>
              <a:ext cx="1763609" cy="1359797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3640"/>
                </a:lnSpc>
              </a:pPr>
              <a:r>
                <a:rPr lang="en-US" sz="2800">
                  <a:solidFill>
                    <a:srgbClr val="000000"/>
                  </a:solidFill>
                  <a:latin typeface="Times New Roman Ultra-Bold" panose="02030902070405020303"/>
                </a:rPr>
                <a:t>When we make a logical conclusion from some situation or activity, we use</a:t>
              </a:r>
              <a:r>
                <a:rPr lang="en-US" sz="2800" u="sng">
                  <a:solidFill>
                    <a:srgbClr val="000000"/>
                  </a:solidFill>
                  <a:latin typeface="Times New Roman Ultra-Bold" panose="02030902070405020303"/>
                </a:rPr>
                <a:t> must</a:t>
              </a:r>
              <a:r>
                <a:rPr lang="en-US" sz="2800">
                  <a:solidFill>
                    <a:srgbClr val="000000"/>
                  </a:solidFill>
                  <a:latin typeface="Times New Roman Ultra-Bold" panose="02030902070405020303"/>
                </a:rPr>
                <a:t> not </a:t>
              </a:r>
              <a:r>
                <a:rPr lang="en-US" sz="2800" u="sng">
                  <a:solidFill>
                    <a:srgbClr val="000000"/>
                  </a:solidFill>
                  <a:latin typeface="Times New Roman Ultra-Bold" panose="02030902070405020303"/>
                </a:rPr>
                <a:t>should or  ought to</a:t>
              </a:r>
              <a:r>
                <a:rPr lang="en-US" sz="2800">
                  <a:solidFill>
                    <a:srgbClr val="000000"/>
                  </a:solidFill>
                  <a:latin typeface="Times New Roman Ultra-Bold" panose="02030902070405020303"/>
                </a:rPr>
                <a:t> </a:t>
              </a:r>
            </a:p>
            <a:p>
              <a:pPr>
                <a:lnSpc>
                  <a:spcPts val="3640"/>
                </a:lnSpc>
              </a:pPr>
              <a:endParaRPr lang="en-US" sz="2800">
                <a:solidFill>
                  <a:srgbClr val="000000"/>
                </a:solidFill>
                <a:latin typeface="Times New Roman Ultra-Bold" panose="02030902070405020303"/>
              </a:endParaRPr>
            </a:p>
            <a:p>
              <a:pPr>
                <a:lnSpc>
                  <a:spcPts val="3640"/>
                </a:lnSpc>
              </a:pPr>
              <a:r>
                <a:rPr lang="en-US" sz="2800">
                  <a:solidFill>
                    <a:srgbClr val="000000"/>
                  </a:solidFill>
                  <a:latin typeface="Times New Roman" panose="02020603050405020304"/>
                </a:rPr>
                <a:t>E.g. </a:t>
              </a:r>
              <a:r>
                <a:rPr lang="en-US" sz="2800">
                  <a:solidFill>
                    <a:srgbClr val="000000"/>
                  </a:solidFill>
                  <a:latin typeface="Times New Roman Ultra-Bold" panose="02030902070405020303"/>
                </a:rPr>
                <a:t>You must be mad if you think I'm going to lend you any more money.</a:t>
              </a:r>
            </a:p>
            <a:p>
              <a:pPr>
                <a:lnSpc>
                  <a:spcPts val="2773"/>
                </a:lnSpc>
              </a:pPr>
              <a:endParaRPr lang="en-US" sz="2800">
                <a:solidFill>
                  <a:srgbClr val="000000"/>
                </a:solidFill>
                <a:latin typeface="Times New Roman Ultra-Bold" panose="02030902070405020303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7429172" y="2799799"/>
            <a:ext cx="4762828" cy="4058201"/>
          </a:xfrm>
          <a:custGeom>
            <a:avLst/>
            <a:gdLst/>
            <a:ahLst/>
            <a:cxnLst/>
            <a:rect l="l" t="t" r="r" b="b"/>
            <a:pathLst>
              <a:path w="7144242" h="6087302">
                <a:moveTo>
                  <a:pt x="0" y="0"/>
                </a:moveTo>
                <a:lnTo>
                  <a:pt x="7144242" y="0"/>
                </a:lnTo>
                <a:lnTo>
                  <a:pt x="7144242" y="6087302"/>
                </a:lnTo>
                <a:lnTo>
                  <a:pt x="0" y="6087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459" r="-4410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3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1095511" y="-406035"/>
            <a:ext cx="9652609" cy="7483641"/>
            <a:chOff x="0" y="0"/>
            <a:chExt cx="2594458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698452" y="1286820"/>
            <a:ext cx="3236801" cy="5444161"/>
          </a:xfrm>
          <a:custGeom>
            <a:avLst/>
            <a:gdLst/>
            <a:ahLst/>
            <a:cxnLst/>
            <a:rect l="l" t="t" r="r" b="b"/>
            <a:pathLst>
              <a:path w="4855201" h="8166241">
                <a:moveTo>
                  <a:pt x="0" y="0"/>
                </a:moveTo>
                <a:lnTo>
                  <a:pt x="4855201" y="0"/>
                </a:lnTo>
                <a:lnTo>
                  <a:pt x="4855201" y="8166241"/>
                </a:lnTo>
                <a:lnTo>
                  <a:pt x="0" y="81662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345514" y="1874344"/>
            <a:ext cx="6922082" cy="4241377"/>
            <a:chOff x="0" y="0"/>
            <a:chExt cx="1788728" cy="10960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88728" cy="1096010"/>
            </a:xfrm>
            <a:custGeom>
              <a:avLst/>
              <a:gdLst/>
              <a:ahLst/>
              <a:cxnLst/>
              <a:rect l="l" t="t" r="r" b="b"/>
              <a:pathLst>
                <a:path w="1788728" h="1096010">
                  <a:moveTo>
                    <a:pt x="14913" y="0"/>
                  </a:moveTo>
                  <a:lnTo>
                    <a:pt x="1773816" y="0"/>
                  </a:lnTo>
                  <a:cubicBezTo>
                    <a:pt x="1782052" y="0"/>
                    <a:pt x="1788728" y="6677"/>
                    <a:pt x="1788728" y="14913"/>
                  </a:cubicBezTo>
                  <a:lnTo>
                    <a:pt x="1788728" y="1081098"/>
                  </a:lnTo>
                  <a:cubicBezTo>
                    <a:pt x="1788728" y="1089334"/>
                    <a:pt x="1782052" y="1096010"/>
                    <a:pt x="1773816" y="1096010"/>
                  </a:cubicBezTo>
                  <a:lnTo>
                    <a:pt x="14913" y="1096010"/>
                  </a:lnTo>
                  <a:cubicBezTo>
                    <a:pt x="6677" y="1096010"/>
                    <a:pt x="0" y="1089334"/>
                    <a:pt x="0" y="1081098"/>
                  </a:cubicBezTo>
                  <a:lnTo>
                    <a:pt x="0" y="14913"/>
                  </a:lnTo>
                  <a:cubicBezTo>
                    <a:pt x="0" y="6677"/>
                    <a:pt x="6677" y="0"/>
                    <a:pt x="14913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788728" cy="1115060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We can use (be) supposed to to talk about an obligation to do  something. </a:t>
              </a:r>
            </a:p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 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We use (be) supposed to when we report what many people think is true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e.g.  I'm supposed to be there at 10.00. • The work was supposed to start last week. 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50325" y="685412"/>
            <a:ext cx="5817271" cy="659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74"/>
              </a:lnSpc>
            </a:pPr>
            <a:r>
              <a:rPr lang="en-US" sz="4134">
                <a:solidFill>
                  <a:srgbClr val="000000"/>
                </a:solidFill>
                <a:latin typeface="Garet Bold"/>
              </a:rPr>
              <a:t>Use of Supposed to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869186" y="-625641"/>
            <a:ext cx="9652609" cy="7483641"/>
            <a:chOff x="0" y="0"/>
            <a:chExt cx="2594458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783424" y="1288816"/>
            <a:ext cx="3234427" cy="5440169"/>
          </a:xfrm>
          <a:custGeom>
            <a:avLst/>
            <a:gdLst/>
            <a:ahLst/>
            <a:cxnLst/>
            <a:rect l="l" t="t" r="r" b="b"/>
            <a:pathLst>
              <a:path w="4851641" h="8160253">
                <a:moveTo>
                  <a:pt x="0" y="0"/>
                </a:moveTo>
                <a:lnTo>
                  <a:pt x="4851641" y="0"/>
                </a:lnTo>
                <a:lnTo>
                  <a:pt x="4851641" y="8160253"/>
                </a:lnTo>
                <a:lnTo>
                  <a:pt x="0" y="816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84113" y="1301256"/>
            <a:ext cx="7346011" cy="2145877"/>
            <a:chOff x="0" y="0"/>
            <a:chExt cx="1898275" cy="55451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98275" cy="554514"/>
            </a:xfrm>
            <a:custGeom>
              <a:avLst/>
              <a:gdLst/>
              <a:ahLst/>
              <a:cxnLst/>
              <a:rect l="l" t="t" r="r" b="b"/>
              <a:pathLst>
                <a:path w="1898275" h="554514">
                  <a:moveTo>
                    <a:pt x="14052" y="0"/>
                  </a:moveTo>
                  <a:lnTo>
                    <a:pt x="1884224" y="0"/>
                  </a:lnTo>
                  <a:cubicBezTo>
                    <a:pt x="1887950" y="0"/>
                    <a:pt x="1891524" y="1480"/>
                    <a:pt x="1894160" y="4116"/>
                  </a:cubicBezTo>
                  <a:cubicBezTo>
                    <a:pt x="1896795" y="6751"/>
                    <a:pt x="1898275" y="10325"/>
                    <a:pt x="1898275" y="14052"/>
                  </a:cubicBezTo>
                  <a:lnTo>
                    <a:pt x="1898275" y="540462"/>
                  </a:lnTo>
                  <a:cubicBezTo>
                    <a:pt x="1898275" y="544189"/>
                    <a:pt x="1896795" y="547763"/>
                    <a:pt x="1894160" y="550398"/>
                  </a:cubicBezTo>
                  <a:cubicBezTo>
                    <a:pt x="1891524" y="553034"/>
                    <a:pt x="1887950" y="554514"/>
                    <a:pt x="1884224" y="554514"/>
                  </a:cubicBezTo>
                  <a:lnTo>
                    <a:pt x="14052" y="554514"/>
                  </a:lnTo>
                  <a:cubicBezTo>
                    <a:pt x="6291" y="554514"/>
                    <a:pt x="0" y="548223"/>
                    <a:pt x="0" y="540462"/>
                  </a:cubicBezTo>
                  <a:lnTo>
                    <a:pt x="0" y="14052"/>
                  </a:lnTo>
                  <a:cubicBezTo>
                    <a:pt x="0" y="10325"/>
                    <a:pt x="1480" y="6751"/>
                    <a:pt x="4116" y="4116"/>
                  </a:cubicBezTo>
                  <a:cubicBezTo>
                    <a:pt x="6751" y="1480"/>
                    <a:pt x="10325" y="0"/>
                    <a:pt x="14052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898275" cy="573564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"Will" is commonly used to express willingness or a voluntary action in the future.</a:t>
              </a:r>
            </a:p>
            <a:p>
              <a:pPr marL="1381829" lvl="3" indent="-345457">
                <a:lnSpc>
                  <a:spcPts val="2773"/>
                </a:lnSpc>
                <a:buFont typeface="Arial" panose="020B0604020202020204"/>
                <a:buChar char="￭"/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Example: I will help you with your homework.</a:t>
              </a:r>
            </a:p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er all items.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70587" y="380453"/>
            <a:ext cx="8015338" cy="659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74"/>
              </a:lnSpc>
            </a:pPr>
            <a:r>
              <a:rPr lang="en-US" sz="4134">
                <a:solidFill>
                  <a:srgbClr val="000000"/>
                </a:solidFill>
                <a:latin typeface="Garet Bold"/>
              </a:rPr>
              <a:t>Will and Willing :  willingness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84113" y="4008900"/>
            <a:ext cx="7346011" cy="2145877"/>
            <a:chOff x="0" y="0"/>
            <a:chExt cx="1898275" cy="5545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98275" cy="554514"/>
            </a:xfrm>
            <a:custGeom>
              <a:avLst/>
              <a:gdLst/>
              <a:ahLst/>
              <a:cxnLst/>
              <a:rect l="l" t="t" r="r" b="b"/>
              <a:pathLst>
                <a:path w="1898275" h="554514">
                  <a:moveTo>
                    <a:pt x="14052" y="0"/>
                  </a:moveTo>
                  <a:lnTo>
                    <a:pt x="1884224" y="0"/>
                  </a:lnTo>
                  <a:cubicBezTo>
                    <a:pt x="1887950" y="0"/>
                    <a:pt x="1891524" y="1480"/>
                    <a:pt x="1894160" y="4116"/>
                  </a:cubicBezTo>
                  <a:cubicBezTo>
                    <a:pt x="1896795" y="6751"/>
                    <a:pt x="1898275" y="10325"/>
                    <a:pt x="1898275" y="14052"/>
                  </a:cubicBezTo>
                  <a:lnTo>
                    <a:pt x="1898275" y="540462"/>
                  </a:lnTo>
                  <a:cubicBezTo>
                    <a:pt x="1898275" y="544189"/>
                    <a:pt x="1896795" y="547763"/>
                    <a:pt x="1894160" y="550398"/>
                  </a:cubicBezTo>
                  <a:cubicBezTo>
                    <a:pt x="1891524" y="553034"/>
                    <a:pt x="1887950" y="554514"/>
                    <a:pt x="1884224" y="554514"/>
                  </a:cubicBezTo>
                  <a:lnTo>
                    <a:pt x="14052" y="554514"/>
                  </a:lnTo>
                  <a:cubicBezTo>
                    <a:pt x="6291" y="554514"/>
                    <a:pt x="0" y="548223"/>
                    <a:pt x="0" y="540462"/>
                  </a:cubicBezTo>
                  <a:lnTo>
                    <a:pt x="0" y="14052"/>
                  </a:lnTo>
                  <a:cubicBezTo>
                    <a:pt x="0" y="10325"/>
                    <a:pt x="1480" y="6751"/>
                    <a:pt x="4116" y="4116"/>
                  </a:cubicBezTo>
                  <a:cubicBezTo>
                    <a:pt x="6751" y="1480"/>
                    <a:pt x="10325" y="0"/>
                    <a:pt x="14052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898275" cy="573564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"Would" is often used to express a polite or conditional willingness.</a:t>
              </a:r>
            </a:p>
            <a:p>
              <a:pPr marL="460610" lvl="1" indent="-230305">
                <a:lnSpc>
                  <a:spcPts val="2773"/>
                </a:lnSpc>
                <a:buFont typeface="Arial" panose="020B0604020202020204"/>
                <a:buChar char="•"/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Example: I would be happy to assist you if you need help.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78425" y="-120317"/>
            <a:ext cx="8735409" cy="7483641"/>
            <a:chOff x="0" y="0"/>
            <a:chExt cx="2347930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47930" cy="2011476"/>
            </a:xfrm>
            <a:custGeom>
              <a:avLst/>
              <a:gdLst/>
              <a:ahLst/>
              <a:cxnLst/>
              <a:rect l="l" t="t" r="r" b="b"/>
              <a:pathLst>
                <a:path w="2347930" h="2011476">
                  <a:moveTo>
                    <a:pt x="11817" y="0"/>
                  </a:moveTo>
                  <a:lnTo>
                    <a:pt x="2336113" y="0"/>
                  </a:lnTo>
                  <a:cubicBezTo>
                    <a:pt x="2339247" y="0"/>
                    <a:pt x="2342253" y="1245"/>
                    <a:pt x="2344469" y="3461"/>
                  </a:cubicBezTo>
                  <a:cubicBezTo>
                    <a:pt x="2346685" y="5677"/>
                    <a:pt x="2347930" y="8683"/>
                    <a:pt x="2347930" y="11817"/>
                  </a:cubicBezTo>
                  <a:lnTo>
                    <a:pt x="2347930" y="1999659"/>
                  </a:lnTo>
                  <a:cubicBezTo>
                    <a:pt x="2347930" y="2002793"/>
                    <a:pt x="2346685" y="2005799"/>
                    <a:pt x="2344469" y="2008015"/>
                  </a:cubicBezTo>
                  <a:cubicBezTo>
                    <a:pt x="2342253" y="2010231"/>
                    <a:pt x="2339247" y="2011476"/>
                    <a:pt x="2336113" y="2011476"/>
                  </a:cubicBezTo>
                  <a:lnTo>
                    <a:pt x="11817" y="2011476"/>
                  </a:lnTo>
                  <a:cubicBezTo>
                    <a:pt x="8683" y="2011476"/>
                    <a:pt x="5677" y="2010231"/>
                    <a:pt x="3461" y="2008015"/>
                  </a:cubicBezTo>
                  <a:cubicBezTo>
                    <a:pt x="1245" y="2005799"/>
                    <a:pt x="0" y="2002793"/>
                    <a:pt x="0" y="1999659"/>
                  </a:cubicBezTo>
                  <a:lnTo>
                    <a:pt x="0" y="11817"/>
                  </a:lnTo>
                  <a:cubicBezTo>
                    <a:pt x="0" y="8683"/>
                    <a:pt x="1245" y="5677"/>
                    <a:pt x="3461" y="3461"/>
                  </a:cubicBezTo>
                  <a:cubicBezTo>
                    <a:pt x="5677" y="1245"/>
                    <a:pt x="8683" y="0"/>
                    <a:pt x="11817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347930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9044252" y="1408757"/>
            <a:ext cx="3239823" cy="5449243"/>
          </a:xfrm>
          <a:custGeom>
            <a:avLst/>
            <a:gdLst/>
            <a:ahLst/>
            <a:cxnLst/>
            <a:rect l="l" t="t" r="r" b="b"/>
            <a:pathLst>
              <a:path w="4859734" h="8173865">
                <a:moveTo>
                  <a:pt x="0" y="0"/>
                </a:moveTo>
                <a:lnTo>
                  <a:pt x="4859734" y="0"/>
                </a:lnTo>
                <a:lnTo>
                  <a:pt x="4859734" y="8173865"/>
                </a:lnTo>
                <a:lnTo>
                  <a:pt x="0" y="8173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518750" y="1126632"/>
            <a:ext cx="8054758" cy="3193627"/>
            <a:chOff x="0" y="0"/>
            <a:chExt cx="2081422" cy="8252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81422" cy="825262"/>
            </a:xfrm>
            <a:custGeom>
              <a:avLst/>
              <a:gdLst/>
              <a:ahLst/>
              <a:cxnLst/>
              <a:rect l="l" t="t" r="r" b="b"/>
              <a:pathLst>
                <a:path w="2081422" h="825262">
                  <a:moveTo>
                    <a:pt x="12815" y="0"/>
                  </a:moveTo>
                  <a:lnTo>
                    <a:pt x="2068606" y="0"/>
                  </a:lnTo>
                  <a:cubicBezTo>
                    <a:pt x="2075684" y="0"/>
                    <a:pt x="2081422" y="5738"/>
                    <a:pt x="2081422" y="12815"/>
                  </a:cubicBezTo>
                  <a:lnTo>
                    <a:pt x="2081422" y="812447"/>
                  </a:lnTo>
                  <a:cubicBezTo>
                    <a:pt x="2081422" y="819524"/>
                    <a:pt x="2075684" y="825262"/>
                    <a:pt x="2068606" y="825262"/>
                  </a:cubicBezTo>
                  <a:lnTo>
                    <a:pt x="12815" y="825262"/>
                  </a:lnTo>
                  <a:cubicBezTo>
                    <a:pt x="5738" y="825262"/>
                    <a:pt x="0" y="819524"/>
                    <a:pt x="0" y="812447"/>
                  </a:cubicBezTo>
                  <a:lnTo>
                    <a:pt x="0" y="12815"/>
                  </a:lnTo>
                  <a:cubicBezTo>
                    <a:pt x="0" y="5738"/>
                    <a:pt x="5738" y="0"/>
                    <a:pt x="12815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081422" cy="844312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endParaRPr sz="1200"/>
            </a:p>
            <a:p>
              <a:pPr marL="460610" lvl="1" indent="-230305">
                <a:lnSpc>
                  <a:spcPts val="2773"/>
                </a:lnSpc>
                <a:buFont typeface="Arial" panose="020B0604020202020204"/>
                <a:buChar char="•"/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When used to talk about the future, "will" can indicate a high degree of likelihood or a strong prediction.</a:t>
              </a:r>
            </a:p>
            <a:p>
              <a:pPr marL="921219" lvl="2" indent="-306932">
                <a:lnSpc>
                  <a:spcPts val="2773"/>
                </a:lnSpc>
                <a:buFont typeface="Arial" panose="020B0604020202020204"/>
                <a:buChar char="⚬"/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Example: The sun will rise in the east tomorrow.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800" y="4669509"/>
            <a:ext cx="7744894" cy="1796627"/>
            <a:chOff x="0" y="0"/>
            <a:chExt cx="2001350" cy="46426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01350" cy="464265"/>
            </a:xfrm>
            <a:custGeom>
              <a:avLst/>
              <a:gdLst/>
              <a:ahLst/>
              <a:cxnLst/>
              <a:rect l="l" t="t" r="r" b="b"/>
              <a:pathLst>
                <a:path w="2001350" h="464265">
                  <a:moveTo>
                    <a:pt x="13328" y="0"/>
                  </a:moveTo>
                  <a:lnTo>
                    <a:pt x="1988022" y="0"/>
                  </a:lnTo>
                  <a:cubicBezTo>
                    <a:pt x="1991557" y="0"/>
                    <a:pt x="1994947" y="1404"/>
                    <a:pt x="1997446" y="3904"/>
                  </a:cubicBezTo>
                  <a:cubicBezTo>
                    <a:pt x="1999946" y="6403"/>
                    <a:pt x="2001350" y="9793"/>
                    <a:pt x="2001350" y="13328"/>
                  </a:cubicBezTo>
                  <a:lnTo>
                    <a:pt x="2001350" y="450937"/>
                  </a:lnTo>
                  <a:cubicBezTo>
                    <a:pt x="2001350" y="458298"/>
                    <a:pt x="1995383" y="464265"/>
                    <a:pt x="1988022" y="464265"/>
                  </a:cubicBezTo>
                  <a:lnTo>
                    <a:pt x="13328" y="464265"/>
                  </a:lnTo>
                  <a:cubicBezTo>
                    <a:pt x="5967" y="464265"/>
                    <a:pt x="0" y="458298"/>
                    <a:pt x="0" y="450937"/>
                  </a:cubicBezTo>
                  <a:lnTo>
                    <a:pt x="0" y="13328"/>
                  </a:lnTo>
                  <a:cubicBezTo>
                    <a:pt x="0" y="5967"/>
                    <a:pt x="5967" y="0"/>
                    <a:pt x="13328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2001350" cy="48331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Would" can express a conditional likelihood or a hypothetical situation.</a:t>
              </a:r>
            </a:p>
            <a:p>
              <a:pPr marL="460610" lvl="1" indent="-230305">
                <a:lnSpc>
                  <a:spcPts val="2773"/>
                </a:lnSpc>
                <a:buFont typeface="Arial" panose="020B0604020202020204"/>
                <a:buChar char="•"/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Example: If it rains, she would stay at home.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33706" y="334222"/>
            <a:ext cx="3554405" cy="659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74"/>
              </a:lnSpc>
            </a:pPr>
            <a:r>
              <a:rPr lang="en-US" sz="4134">
                <a:solidFill>
                  <a:srgbClr val="000000"/>
                </a:solidFill>
                <a:latin typeface="Garet Bold"/>
              </a:rPr>
              <a:t>Likelihood: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78425" y="-120317"/>
            <a:ext cx="8735409" cy="7483641"/>
            <a:chOff x="0" y="0"/>
            <a:chExt cx="2347930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47930" cy="2011476"/>
            </a:xfrm>
            <a:custGeom>
              <a:avLst/>
              <a:gdLst/>
              <a:ahLst/>
              <a:cxnLst/>
              <a:rect l="l" t="t" r="r" b="b"/>
              <a:pathLst>
                <a:path w="2347930" h="2011476">
                  <a:moveTo>
                    <a:pt x="11817" y="0"/>
                  </a:moveTo>
                  <a:lnTo>
                    <a:pt x="2336113" y="0"/>
                  </a:lnTo>
                  <a:cubicBezTo>
                    <a:pt x="2339247" y="0"/>
                    <a:pt x="2342253" y="1245"/>
                    <a:pt x="2344469" y="3461"/>
                  </a:cubicBezTo>
                  <a:cubicBezTo>
                    <a:pt x="2346685" y="5677"/>
                    <a:pt x="2347930" y="8683"/>
                    <a:pt x="2347930" y="11817"/>
                  </a:cubicBezTo>
                  <a:lnTo>
                    <a:pt x="2347930" y="1999659"/>
                  </a:lnTo>
                  <a:cubicBezTo>
                    <a:pt x="2347930" y="2002793"/>
                    <a:pt x="2346685" y="2005799"/>
                    <a:pt x="2344469" y="2008015"/>
                  </a:cubicBezTo>
                  <a:cubicBezTo>
                    <a:pt x="2342253" y="2010231"/>
                    <a:pt x="2339247" y="2011476"/>
                    <a:pt x="2336113" y="2011476"/>
                  </a:cubicBezTo>
                  <a:lnTo>
                    <a:pt x="11817" y="2011476"/>
                  </a:lnTo>
                  <a:cubicBezTo>
                    <a:pt x="8683" y="2011476"/>
                    <a:pt x="5677" y="2010231"/>
                    <a:pt x="3461" y="2008015"/>
                  </a:cubicBezTo>
                  <a:cubicBezTo>
                    <a:pt x="1245" y="2005799"/>
                    <a:pt x="0" y="2002793"/>
                    <a:pt x="0" y="1999659"/>
                  </a:cubicBezTo>
                  <a:lnTo>
                    <a:pt x="0" y="11817"/>
                  </a:lnTo>
                  <a:cubicBezTo>
                    <a:pt x="0" y="8683"/>
                    <a:pt x="1245" y="5677"/>
                    <a:pt x="3461" y="3461"/>
                  </a:cubicBezTo>
                  <a:cubicBezTo>
                    <a:pt x="5677" y="1245"/>
                    <a:pt x="8683" y="0"/>
                    <a:pt x="11817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347930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9044252" y="1408757"/>
            <a:ext cx="3239823" cy="5449243"/>
          </a:xfrm>
          <a:custGeom>
            <a:avLst/>
            <a:gdLst/>
            <a:ahLst/>
            <a:cxnLst/>
            <a:rect l="l" t="t" r="r" b="b"/>
            <a:pathLst>
              <a:path w="4859734" h="8173865">
                <a:moveTo>
                  <a:pt x="0" y="0"/>
                </a:moveTo>
                <a:lnTo>
                  <a:pt x="4859734" y="0"/>
                </a:lnTo>
                <a:lnTo>
                  <a:pt x="4859734" y="8173865"/>
                </a:lnTo>
                <a:lnTo>
                  <a:pt x="0" y="8173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518750" y="999279"/>
            <a:ext cx="8054758" cy="2776718"/>
            <a:chOff x="0" y="0"/>
            <a:chExt cx="2081422" cy="71752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81422" cy="717529"/>
            </a:xfrm>
            <a:custGeom>
              <a:avLst/>
              <a:gdLst/>
              <a:ahLst/>
              <a:cxnLst/>
              <a:rect l="l" t="t" r="r" b="b"/>
              <a:pathLst>
                <a:path w="2081422" h="717529">
                  <a:moveTo>
                    <a:pt x="12815" y="0"/>
                  </a:moveTo>
                  <a:lnTo>
                    <a:pt x="2068606" y="0"/>
                  </a:lnTo>
                  <a:cubicBezTo>
                    <a:pt x="2075684" y="0"/>
                    <a:pt x="2081422" y="5738"/>
                    <a:pt x="2081422" y="12815"/>
                  </a:cubicBezTo>
                  <a:lnTo>
                    <a:pt x="2081422" y="704713"/>
                  </a:lnTo>
                  <a:cubicBezTo>
                    <a:pt x="2081422" y="711791"/>
                    <a:pt x="2075684" y="717529"/>
                    <a:pt x="2068606" y="717529"/>
                  </a:cubicBezTo>
                  <a:lnTo>
                    <a:pt x="12815" y="717529"/>
                  </a:lnTo>
                  <a:cubicBezTo>
                    <a:pt x="5738" y="717529"/>
                    <a:pt x="0" y="711791"/>
                    <a:pt x="0" y="704713"/>
                  </a:cubicBezTo>
                  <a:lnTo>
                    <a:pt x="0" y="12815"/>
                  </a:lnTo>
                  <a:cubicBezTo>
                    <a:pt x="0" y="5738"/>
                    <a:pt x="5738" y="0"/>
                    <a:pt x="12815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081422" cy="736579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 marL="460610" lvl="1" indent="-230305">
                <a:lnSpc>
                  <a:spcPts val="2773"/>
                </a:lnSpc>
                <a:buFont typeface="Arial" panose="020B0604020202020204"/>
                <a:buChar char="•"/>
              </a:pPr>
              <a:r>
                <a:rPr lang="en-US" sz="2133">
                  <a:solidFill>
                    <a:srgbClr val="000000"/>
                  </a:solidFill>
                  <a:latin typeface="Garet Bold"/>
                </a:rPr>
                <a:t>"Will" can express a strong level of certainty when used in predictions or statements about the future.</a:t>
              </a:r>
            </a:p>
            <a:p>
              <a:pPr marL="460610" lvl="1" indent="-230305">
                <a:lnSpc>
                  <a:spcPts val="2773"/>
                </a:lnSpc>
                <a:buFont typeface="Arial" panose="020B0604020202020204"/>
                <a:buChar char="•"/>
              </a:pPr>
              <a:r>
                <a:rPr lang="en-US" sz="2133">
                  <a:solidFill>
                    <a:srgbClr val="000000"/>
                  </a:solidFill>
                  <a:latin typeface="Garet Bold"/>
                </a:rPr>
                <a:t>Example: She will definitely be at the meeting on time.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Bold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8750" y="4008900"/>
            <a:ext cx="8054758" cy="2495127"/>
            <a:chOff x="0" y="0"/>
            <a:chExt cx="2081422" cy="6447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81422" cy="644763"/>
            </a:xfrm>
            <a:custGeom>
              <a:avLst/>
              <a:gdLst/>
              <a:ahLst/>
              <a:cxnLst/>
              <a:rect l="l" t="t" r="r" b="b"/>
              <a:pathLst>
                <a:path w="2081422" h="644763">
                  <a:moveTo>
                    <a:pt x="12815" y="0"/>
                  </a:moveTo>
                  <a:lnTo>
                    <a:pt x="2068606" y="0"/>
                  </a:lnTo>
                  <a:cubicBezTo>
                    <a:pt x="2075684" y="0"/>
                    <a:pt x="2081422" y="5738"/>
                    <a:pt x="2081422" y="12815"/>
                  </a:cubicBezTo>
                  <a:lnTo>
                    <a:pt x="2081422" y="631948"/>
                  </a:lnTo>
                  <a:cubicBezTo>
                    <a:pt x="2081422" y="639026"/>
                    <a:pt x="2075684" y="644763"/>
                    <a:pt x="2068606" y="644763"/>
                  </a:cubicBezTo>
                  <a:lnTo>
                    <a:pt x="12815" y="644763"/>
                  </a:lnTo>
                  <a:cubicBezTo>
                    <a:pt x="5738" y="644763"/>
                    <a:pt x="0" y="639026"/>
                    <a:pt x="0" y="631948"/>
                  </a:cubicBezTo>
                  <a:lnTo>
                    <a:pt x="0" y="12815"/>
                  </a:lnTo>
                  <a:cubicBezTo>
                    <a:pt x="0" y="5738"/>
                    <a:pt x="5738" y="0"/>
                    <a:pt x="12815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2081422" cy="663813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"Would" is generally used in situations that are more hypothetical or less certain than those where "will" is used.</a:t>
              </a:r>
            </a:p>
            <a:p>
              <a:pPr marL="460610" lvl="1" indent="-230305">
                <a:lnSpc>
                  <a:spcPts val="2773"/>
                </a:lnSpc>
                <a:buFont typeface="Arial" panose="020B0604020202020204"/>
                <a:buChar char="•"/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Example: If I won the lottery, I would travel the world.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825543" y="334222"/>
            <a:ext cx="3554405" cy="659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74"/>
              </a:lnSpc>
            </a:pPr>
            <a:r>
              <a:rPr lang="en-US" sz="4134">
                <a:solidFill>
                  <a:srgbClr val="000000"/>
                </a:solidFill>
                <a:latin typeface="Garet Bold"/>
              </a:rPr>
              <a:t>Certainty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89859" y="1550046"/>
            <a:ext cx="6812283" cy="2403909"/>
            <a:chOff x="0" y="0"/>
            <a:chExt cx="1831026" cy="6461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31026" cy="646130"/>
            </a:xfrm>
            <a:custGeom>
              <a:avLst/>
              <a:gdLst/>
              <a:ahLst/>
              <a:cxnLst/>
              <a:rect l="l" t="t" r="r" b="b"/>
              <a:pathLst>
                <a:path w="1831026" h="646130">
                  <a:moveTo>
                    <a:pt x="15153" y="0"/>
                  </a:moveTo>
                  <a:lnTo>
                    <a:pt x="1815873" y="0"/>
                  </a:lnTo>
                  <a:cubicBezTo>
                    <a:pt x="1819892" y="0"/>
                    <a:pt x="1823747" y="1596"/>
                    <a:pt x="1826588" y="4438"/>
                  </a:cubicBezTo>
                  <a:cubicBezTo>
                    <a:pt x="1829430" y="7280"/>
                    <a:pt x="1831026" y="11134"/>
                    <a:pt x="1831026" y="15153"/>
                  </a:cubicBezTo>
                  <a:lnTo>
                    <a:pt x="1831026" y="630977"/>
                  </a:lnTo>
                  <a:cubicBezTo>
                    <a:pt x="1831026" y="634996"/>
                    <a:pt x="1829430" y="638850"/>
                    <a:pt x="1826588" y="641692"/>
                  </a:cubicBezTo>
                  <a:cubicBezTo>
                    <a:pt x="1823747" y="644534"/>
                    <a:pt x="1819892" y="646130"/>
                    <a:pt x="1815873" y="646130"/>
                  </a:cubicBezTo>
                  <a:lnTo>
                    <a:pt x="15153" y="646130"/>
                  </a:lnTo>
                  <a:cubicBezTo>
                    <a:pt x="11134" y="646130"/>
                    <a:pt x="7280" y="644534"/>
                    <a:pt x="4438" y="641692"/>
                  </a:cubicBezTo>
                  <a:cubicBezTo>
                    <a:pt x="1596" y="638850"/>
                    <a:pt x="0" y="634996"/>
                    <a:pt x="0" y="630977"/>
                  </a:cubicBezTo>
                  <a:lnTo>
                    <a:pt x="0" y="15153"/>
                  </a:lnTo>
                  <a:cubicBezTo>
                    <a:pt x="0" y="11134"/>
                    <a:pt x="1596" y="7280"/>
                    <a:pt x="4438" y="4438"/>
                  </a:cubicBezTo>
                  <a:cubicBezTo>
                    <a:pt x="7280" y="1596"/>
                    <a:pt x="11134" y="0"/>
                    <a:pt x="15153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61925"/>
              <a:ext cx="1831026" cy="4842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5544"/>
                </a:lnSpc>
              </a:pPr>
              <a:r>
                <a:rPr lang="en-US" sz="5600">
                  <a:solidFill>
                    <a:srgbClr val="000000"/>
                  </a:solidFill>
                  <a:latin typeface="Garet Ultra-Bold"/>
                </a:rPr>
                <a:t>Identify the</a:t>
              </a:r>
            </a:p>
            <a:p>
              <a:pPr algn="ctr">
                <a:lnSpc>
                  <a:spcPts val="5544"/>
                </a:lnSpc>
              </a:pPr>
              <a:r>
                <a:rPr lang="en-US" sz="5600">
                  <a:solidFill>
                    <a:srgbClr val="000000"/>
                  </a:solidFill>
                  <a:latin typeface="Garet Ultra-Bold"/>
                </a:rPr>
                <a:t>Process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89859" y="4113128"/>
            <a:ext cx="6812283" cy="1411909"/>
            <a:chOff x="0" y="0"/>
            <a:chExt cx="1831026" cy="3794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31026" cy="379497"/>
            </a:xfrm>
            <a:custGeom>
              <a:avLst/>
              <a:gdLst/>
              <a:ahLst/>
              <a:cxnLst/>
              <a:rect l="l" t="t" r="r" b="b"/>
              <a:pathLst>
                <a:path w="1831026" h="379497">
                  <a:moveTo>
                    <a:pt x="15153" y="0"/>
                  </a:moveTo>
                  <a:lnTo>
                    <a:pt x="1815873" y="0"/>
                  </a:lnTo>
                  <a:cubicBezTo>
                    <a:pt x="1819892" y="0"/>
                    <a:pt x="1823747" y="1596"/>
                    <a:pt x="1826588" y="4438"/>
                  </a:cubicBezTo>
                  <a:cubicBezTo>
                    <a:pt x="1829430" y="7280"/>
                    <a:pt x="1831026" y="11134"/>
                    <a:pt x="1831026" y="15153"/>
                  </a:cubicBezTo>
                  <a:lnTo>
                    <a:pt x="1831026" y="364345"/>
                  </a:lnTo>
                  <a:cubicBezTo>
                    <a:pt x="1831026" y="368363"/>
                    <a:pt x="1829430" y="372217"/>
                    <a:pt x="1826588" y="375059"/>
                  </a:cubicBezTo>
                  <a:cubicBezTo>
                    <a:pt x="1823747" y="377901"/>
                    <a:pt x="1819892" y="379497"/>
                    <a:pt x="1815873" y="379497"/>
                  </a:cubicBezTo>
                  <a:lnTo>
                    <a:pt x="15153" y="379497"/>
                  </a:lnTo>
                  <a:cubicBezTo>
                    <a:pt x="11134" y="379497"/>
                    <a:pt x="7280" y="377901"/>
                    <a:pt x="4438" y="375059"/>
                  </a:cubicBezTo>
                  <a:cubicBezTo>
                    <a:pt x="1596" y="372217"/>
                    <a:pt x="0" y="368363"/>
                    <a:pt x="0" y="364345"/>
                  </a:cubicBezTo>
                  <a:lnTo>
                    <a:pt x="0" y="15153"/>
                  </a:lnTo>
                  <a:cubicBezTo>
                    <a:pt x="0" y="11134"/>
                    <a:pt x="1596" y="7280"/>
                    <a:pt x="4438" y="4438"/>
                  </a:cubicBezTo>
                  <a:cubicBezTo>
                    <a:pt x="7280" y="1596"/>
                    <a:pt x="11134" y="0"/>
                    <a:pt x="15153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831026" cy="39854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"/>
                </a:rPr>
                <a:t>Identify the process that changes</a:t>
              </a:r>
            </a:p>
            <a:p>
              <a:pPr marL="0" lvl="1" algn="ctr">
                <a:lnSpc>
                  <a:spcPts val="2773"/>
                </a:lnSpc>
                <a:spcBef>
                  <a:spcPct val="0"/>
                </a:spcBef>
              </a:pPr>
              <a:r>
                <a:rPr lang="en-US" sz="2133">
                  <a:solidFill>
                    <a:srgbClr val="000000"/>
                  </a:solidFill>
                  <a:latin typeface="Garet"/>
                </a:rPr>
                <a:t>the state of matter.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1667257">
            <a:off x="1058508" y="-1758557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3102063">
            <a:off x="7399216" y="6164345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3219191">
            <a:off x="794006" y="58480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951032">
            <a:off x="7759626" y="-2315125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0" y="342900"/>
            <a:ext cx="12192000" cy="6172200"/>
          </a:xfrm>
          <a:custGeom>
            <a:avLst/>
            <a:gdLst/>
            <a:ahLst/>
            <a:cxnLst/>
            <a:rect l="l" t="t" r="r" b="b"/>
            <a:pathLst>
              <a:path w="18288000" h="9258300">
                <a:moveTo>
                  <a:pt x="0" y="0"/>
                </a:moveTo>
                <a:lnTo>
                  <a:pt x="18288000" y="0"/>
                </a:lnTo>
                <a:lnTo>
                  <a:pt x="1828800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37" r="-4214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259420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651933">
            <a:off x="-1348005" y="3363335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954584">
            <a:off x="4181822" y="6258073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428354">
            <a:off x="-1274965" y="8590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525113" y="1368904"/>
            <a:ext cx="10820400" cy="2403909"/>
            <a:chOff x="0" y="0"/>
            <a:chExt cx="2908340" cy="6461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08340" cy="646130"/>
            </a:xfrm>
            <a:custGeom>
              <a:avLst/>
              <a:gdLst/>
              <a:ahLst/>
              <a:cxnLst/>
              <a:rect l="l" t="t" r="r" b="b"/>
              <a:pathLst>
                <a:path w="2908340" h="646130">
                  <a:moveTo>
                    <a:pt x="9540" y="0"/>
                  </a:moveTo>
                  <a:lnTo>
                    <a:pt x="2898800" y="0"/>
                  </a:lnTo>
                  <a:cubicBezTo>
                    <a:pt x="2901330" y="0"/>
                    <a:pt x="2903757" y="1005"/>
                    <a:pt x="2905546" y="2794"/>
                  </a:cubicBezTo>
                  <a:cubicBezTo>
                    <a:pt x="2907335" y="4583"/>
                    <a:pt x="2908340" y="7010"/>
                    <a:pt x="2908340" y="9540"/>
                  </a:cubicBezTo>
                  <a:lnTo>
                    <a:pt x="2908340" y="636590"/>
                  </a:lnTo>
                  <a:cubicBezTo>
                    <a:pt x="2908340" y="641859"/>
                    <a:pt x="2904069" y="646130"/>
                    <a:pt x="2898800" y="646130"/>
                  </a:cubicBezTo>
                  <a:lnTo>
                    <a:pt x="9540" y="646130"/>
                  </a:lnTo>
                  <a:cubicBezTo>
                    <a:pt x="4271" y="646130"/>
                    <a:pt x="0" y="641859"/>
                    <a:pt x="0" y="636590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908340" cy="6461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just">
                <a:lnSpc>
                  <a:spcPts val="3430"/>
                </a:lnSpc>
              </a:pPr>
              <a:r>
                <a:rPr lang="en-US" sz="3467">
                  <a:solidFill>
                    <a:srgbClr val="000000"/>
                  </a:solidFill>
                  <a:latin typeface="Times New Roman Ultra-Bold" panose="02030902070405020303"/>
                </a:rPr>
                <a:t>We can stress will or would to criticise people's characteristic behaviour or habits: </a:t>
              </a:r>
            </a:p>
            <a:p>
              <a:pPr algn="just">
                <a:lnSpc>
                  <a:spcPts val="3430"/>
                </a:lnSpc>
              </a:pPr>
              <a:endParaRPr lang="en-US" sz="3467">
                <a:solidFill>
                  <a:srgbClr val="000000"/>
                </a:solidFill>
                <a:latin typeface="Times New Roman Ultra-Bold" panose="02030902070405020303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4020464"/>
            <a:ext cx="10499026" cy="1756199"/>
            <a:chOff x="0" y="0"/>
            <a:chExt cx="2821960" cy="4720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821961" cy="472037"/>
            </a:xfrm>
            <a:custGeom>
              <a:avLst/>
              <a:gdLst/>
              <a:ahLst/>
              <a:cxnLst/>
              <a:rect l="l" t="t" r="r" b="b"/>
              <a:pathLst>
                <a:path w="2821961" h="472037">
                  <a:moveTo>
                    <a:pt x="9832" y="0"/>
                  </a:moveTo>
                  <a:lnTo>
                    <a:pt x="2812129" y="0"/>
                  </a:lnTo>
                  <a:cubicBezTo>
                    <a:pt x="2814736" y="0"/>
                    <a:pt x="2817237" y="1036"/>
                    <a:pt x="2819081" y="2880"/>
                  </a:cubicBezTo>
                  <a:cubicBezTo>
                    <a:pt x="2820925" y="4724"/>
                    <a:pt x="2821961" y="7224"/>
                    <a:pt x="2821961" y="9832"/>
                  </a:cubicBezTo>
                  <a:lnTo>
                    <a:pt x="2821961" y="462205"/>
                  </a:lnTo>
                  <a:cubicBezTo>
                    <a:pt x="2821961" y="467635"/>
                    <a:pt x="2817559" y="472037"/>
                    <a:pt x="2812129" y="472037"/>
                  </a:cubicBezTo>
                  <a:lnTo>
                    <a:pt x="9832" y="472037"/>
                  </a:lnTo>
                  <a:cubicBezTo>
                    <a:pt x="7224" y="472037"/>
                    <a:pt x="4724" y="471001"/>
                    <a:pt x="2880" y="469157"/>
                  </a:cubicBezTo>
                  <a:cubicBezTo>
                    <a:pt x="1036" y="467313"/>
                    <a:pt x="0" y="464812"/>
                    <a:pt x="0" y="462205"/>
                  </a:cubicBezTo>
                  <a:lnTo>
                    <a:pt x="0" y="9832"/>
                  </a:lnTo>
                  <a:cubicBezTo>
                    <a:pt x="0" y="7224"/>
                    <a:pt x="1036" y="4724"/>
                    <a:pt x="2880" y="2880"/>
                  </a:cubicBezTo>
                  <a:cubicBezTo>
                    <a:pt x="4724" y="1036"/>
                    <a:pt x="7224" y="0"/>
                    <a:pt x="9832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821960" cy="51013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3380"/>
                </a:lnSpc>
              </a:pPr>
              <a:r>
                <a:rPr lang="en-US" sz="2600">
                  <a:solidFill>
                    <a:srgbClr val="000000"/>
                  </a:solidFill>
                  <a:latin typeface="Garet"/>
                </a:rPr>
                <a:t>She will leave all the lights on in the house when she goes out.</a:t>
              </a:r>
            </a:p>
            <a:p>
              <a:pPr algn="ctr">
                <a:lnSpc>
                  <a:spcPts val="2773"/>
                </a:lnSpc>
              </a:pPr>
              <a:endParaRPr lang="en-US" sz="2600">
                <a:solidFill>
                  <a:srgbClr val="000000"/>
                </a:solidFill>
                <a:latin typeface="Garet"/>
              </a:endParaRPr>
            </a:p>
            <a:p>
              <a:pPr marL="0" lvl="1" algn="ctr">
                <a:lnSpc>
                  <a:spcPts val="2773"/>
                </a:lnSpc>
                <a:spcBef>
                  <a:spcPct val="0"/>
                </a:spcBef>
              </a:pPr>
              <a:endParaRPr lang="en-US" sz="2600">
                <a:solidFill>
                  <a:srgbClr val="000000"/>
                </a:solidFill>
                <a:latin typeface="Garet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 rot="-1856826">
            <a:off x="9211498" y="563697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663569">
            <a:off x="10437139" y="-70485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5402871"/>
            <a:ext cx="12376149" cy="4141916"/>
            <a:chOff x="0" y="0"/>
            <a:chExt cx="24752298" cy="82838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02844" y="1066886"/>
            <a:ext cx="9986312" cy="1916869"/>
            <a:chOff x="0" y="0"/>
            <a:chExt cx="2684152" cy="5152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84152" cy="515222"/>
            </a:xfrm>
            <a:custGeom>
              <a:avLst/>
              <a:gdLst/>
              <a:ahLst/>
              <a:cxnLst/>
              <a:rect l="l" t="t" r="r" b="b"/>
              <a:pathLst>
                <a:path w="2684152" h="515222">
                  <a:moveTo>
                    <a:pt x="10337" y="0"/>
                  </a:moveTo>
                  <a:lnTo>
                    <a:pt x="2673815" y="0"/>
                  </a:lnTo>
                  <a:cubicBezTo>
                    <a:pt x="2679524" y="0"/>
                    <a:pt x="2684152" y="4628"/>
                    <a:pt x="2684152" y="10337"/>
                  </a:cubicBezTo>
                  <a:lnTo>
                    <a:pt x="2684152" y="504885"/>
                  </a:lnTo>
                  <a:cubicBezTo>
                    <a:pt x="2684152" y="507627"/>
                    <a:pt x="2683063" y="510256"/>
                    <a:pt x="2681124" y="512194"/>
                  </a:cubicBezTo>
                  <a:cubicBezTo>
                    <a:pt x="2679186" y="514133"/>
                    <a:pt x="2676556" y="515222"/>
                    <a:pt x="2673815" y="515222"/>
                  </a:cubicBezTo>
                  <a:lnTo>
                    <a:pt x="10337" y="515222"/>
                  </a:lnTo>
                  <a:cubicBezTo>
                    <a:pt x="7595" y="515222"/>
                    <a:pt x="4966" y="514133"/>
                    <a:pt x="3028" y="512194"/>
                  </a:cubicBezTo>
                  <a:cubicBezTo>
                    <a:pt x="1089" y="510256"/>
                    <a:pt x="0" y="507627"/>
                    <a:pt x="0" y="504885"/>
                  </a:cubicBezTo>
                  <a:lnTo>
                    <a:pt x="0" y="10337"/>
                  </a:lnTo>
                  <a:cubicBezTo>
                    <a:pt x="0" y="7595"/>
                    <a:pt x="1089" y="4966"/>
                    <a:pt x="3028" y="3028"/>
                  </a:cubicBezTo>
                  <a:cubicBezTo>
                    <a:pt x="4966" y="1089"/>
                    <a:pt x="7595" y="0"/>
                    <a:pt x="1033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684152" cy="56284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800">
                  <a:solidFill>
                    <a:srgbClr val="000000"/>
                  </a:solidFill>
                  <a:latin typeface="Garet Bold"/>
                </a:rPr>
                <a:t>We don't use would in this way to talk about a particular occasion in the past. </a:t>
              </a:r>
            </a:p>
            <a:p>
              <a:pPr marL="0" lvl="1"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Garet Bold"/>
                </a:rPr>
                <a:t> .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223889">
            <a:off x="-1384073" y="4160287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223889">
            <a:off x="10804898" y="5093185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204444" y="3317484"/>
            <a:ext cx="9986312" cy="1677035"/>
            <a:chOff x="0" y="0"/>
            <a:chExt cx="2684152" cy="4507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84152" cy="450759"/>
            </a:xfrm>
            <a:custGeom>
              <a:avLst/>
              <a:gdLst/>
              <a:ahLst/>
              <a:cxnLst/>
              <a:rect l="l" t="t" r="r" b="b"/>
              <a:pathLst>
                <a:path w="2684152" h="450759">
                  <a:moveTo>
                    <a:pt x="10337" y="0"/>
                  </a:moveTo>
                  <a:lnTo>
                    <a:pt x="2673815" y="0"/>
                  </a:lnTo>
                  <a:cubicBezTo>
                    <a:pt x="2679524" y="0"/>
                    <a:pt x="2684152" y="4628"/>
                    <a:pt x="2684152" y="10337"/>
                  </a:cubicBezTo>
                  <a:lnTo>
                    <a:pt x="2684152" y="440422"/>
                  </a:lnTo>
                  <a:cubicBezTo>
                    <a:pt x="2684152" y="443163"/>
                    <a:pt x="2683063" y="445793"/>
                    <a:pt x="2681124" y="447731"/>
                  </a:cubicBezTo>
                  <a:cubicBezTo>
                    <a:pt x="2679186" y="449670"/>
                    <a:pt x="2676556" y="450759"/>
                    <a:pt x="2673815" y="450759"/>
                  </a:cubicBezTo>
                  <a:lnTo>
                    <a:pt x="10337" y="450759"/>
                  </a:lnTo>
                  <a:cubicBezTo>
                    <a:pt x="7595" y="450759"/>
                    <a:pt x="4966" y="449670"/>
                    <a:pt x="3028" y="447731"/>
                  </a:cubicBezTo>
                  <a:cubicBezTo>
                    <a:pt x="1089" y="445793"/>
                    <a:pt x="0" y="443163"/>
                    <a:pt x="0" y="440422"/>
                  </a:cubicBezTo>
                  <a:lnTo>
                    <a:pt x="0" y="10337"/>
                  </a:lnTo>
                  <a:cubicBezTo>
                    <a:pt x="0" y="7595"/>
                    <a:pt x="1089" y="4966"/>
                    <a:pt x="3028" y="3028"/>
                  </a:cubicBezTo>
                  <a:cubicBezTo>
                    <a:pt x="4966" y="1089"/>
                    <a:pt x="7595" y="0"/>
                    <a:pt x="10337" y="0"/>
                  </a:cubicBezTo>
                  <a:close/>
                </a:path>
              </a:pathLst>
            </a:custGeom>
            <a:solidFill>
              <a:srgbClr val="A7DDD5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2684152" cy="58410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39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 panose="02020603050405020304"/>
                </a:rPr>
                <a:t>Last night I gave him a problem and he</a:t>
              </a:r>
              <a:r>
                <a:rPr lang="en-US" sz="3000">
                  <a:solidFill>
                    <a:srgbClr val="000000"/>
                  </a:solidFill>
                  <a:latin typeface="Times New Roman Bold" panose="02030802070405020303"/>
                </a:rPr>
                <a:t> solved</a:t>
              </a:r>
              <a:r>
                <a:rPr lang="en-US" sz="3000">
                  <a:solidFill>
                    <a:srgbClr val="000000"/>
                  </a:solidFill>
                  <a:latin typeface="Times New Roman" panose="02020603050405020304"/>
                </a:rPr>
                <a:t> it for me.</a:t>
              </a:r>
              <a:r>
                <a:rPr lang="en-US" sz="3000">
                  <a:solidFill>
                    <a:srgbClr val="000000"/>
                  </a:solidFill>
                  <a:latin typeface="Times New Roman Italics" panose="02030502070405090303"/>
                </a:rPr>
                <a:t> {not</a:t>
              </a:r>
              <a:r>
                <a:rPr lang="en-US" sz="3000">
                  <a:solidFill>
                    <a:srgbClr val="000000"/>
                  </a:solidFill>
                  <a:latin typeface="Times New Roman" panose="02020603050405020304"/>
                </a:rPr>
                <a:t> ...he would solve it...)</a:t>
              </a:r>
            </a:p>
            <a:p>
              <a:pPr marL="0" lvl="1">
                <a:lnSpc>
                  <a:spcPts val="3900"/>
                </a:lnSpc>
                <a:spcBef>
                  <a:spcPct val="0"/>
                </a:spcBef>
              </a:pPr>
              <a:endParaRPr lang="en-US" sz="3000">
                <a:solidFill>
                  <a:srgbClr val="000000"/>
                </a:solidFill>
                <a:latin typeface="Times New Roman" panose="02020603050405020304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 rot="223889">
            <a:off x="10552125" y="-79122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259420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651933">
            <a:off x="-1348005" y="3363335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954584">
            <a:off x="4181822" y="6258073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428354">
            <a:off x="-1274965" y="8590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544228" y="705184"/>
            <a:ext cx="11103545" cy="2403909"/>
            <a:chOff x="0" y="0"/>
            <a:chExt cx="2984445" cy="6461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84445" cy="646130"/>
            </a:xfrm>
            <a:custGeom>
              <a:avLst/>
              <a:gdLst/>
              <a:ahLst/>
              <a:cxnLst/>
              <a:rect l="l" t="t" r="r" b="b"/>
              <a:pathLst>
                <a:path w="2984445" h="646130">
                  <a:moveTo>
                    <a:pt x="9297" y="0"/>
                  </a:moveTo>
                  <a:lnTo>
                    <a:pt x="2975148" y="0"/>
                  </a:lnTo>
                  <a:cubicBezTo>
                    <a:pt x="2980283" y="0"/>
                    <a:pt x="2984445" y="4162"/>
                    <a:pt x="2984445" y="9297"/>
                  </a:cubicBezTo>
                  <a:lnTo>
                    <a:pt x="2984445" y="636834"/>
                  </a:lnTo>
                  <a:cubicBezTo>
                    <a:pt x="2984445" y="641968"/>
                    <a:pt x="2980283" y="646130"/>
                    <a:pt x="2975148" y="646130"/>
                  </a:cubicBezTo>
                  <a:lnTo>
                    <a:pt x="9297" y="646130"/>
                  </a:lnTo>
                  <a:cubicBezTo>
                    <a:pt x="4162" y="646130"/>
                    <a:pt x="0" y="641968"/>
                    <a:pt x="0" y="636834"/>
                  </a:cubicBezTo>
                  <a:lnTo>
                    <a:pt x="0" y="9297"/>
                  </a:lnTo>
                  <a:cubicBezTo>
                    <a:pt x="0" y="4162"/>
                    <a:pt x="4162" y="0"/>
                    <a:pt x="929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95250"/>
              <a:ext cx="2984445" cy="5508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just">
                <a:lnSpc>
                  <a:spcPts val="3103"/>
                </a:lnSpc>
              </a:pPr>
              <a:r>
                <a:rPr lang="en-US" sz="3133">
                  <a:solidFill>
                    <a:srgbClr val="000000"/>
                  </a:solidFill>
                  <a:latin typeface="Garet Ultra-Bold"/>
                </a:rPr>
                <a:t>I</a:t>
              </a:r>
              <a:r>
                <a:rPr lang="en-US" sz="3133">
                  <a:solidFill>
                    <a:srgbClr val="000000"/>
                  </a:solidFill>
                  <a:latin typeface="Garet Bold"/>
                </a:rPr>
                <a:t>f we want to talk about things that happened repeatedly in the past, but don't happen now, we </a:t>
              </a:r>
            </a:p>
            <a:p>
              <a:pPr algn="just">
                <a:lnSpc>
                  <a:spcPts val="3103"/>
                </a:lnSpc>
              </a:pPr>
              <a:r>
                <a:rPr lang="en-US" sz="3133">
                  <a:solidFill>
                    <a:srgbClr val="000000"/>
                  </a:solidFill>
                  <a:latin typeface="Garet Bold"/>
                </a:rPr>
                <a:t>can use would or used to + infinitive. </a:t>
              </a:r>
            </a:p>
            <a:p>
              <a:pPr algn="ctr">
                <a:lnSpc>
                  <a:spcPts val="3300"/>
                </a:lnSpc>
              </a:pPr>
              <a:endParaRPr lang="en-US" sz="3133">
                <a:solidFill>
                  <a:srgbClr val="000000"/>
                </a:solidFill>
                <a:latin typeface="Garet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28603" y="4113127"/>
            <a:ext cx="8134795" cy="1534584"/>
            <a:chOff x="0" y="0"/>
            <a:chExt cx="2186495" cy="4124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86495" cy="412470"/>
            </a:xfrm>
            <a:custGeom>
              <a:avLst/>
              <a:gdLst/>
              <a:ahLst/>
              <a:cxnLst/>
              <a:rect l="l" t="t" r="r" b="b"/>
              <a:pathLst>
                <a:path w="2186495" h="412470">
                  <a:moveTo>
                    <a:pt x="12689" y="0"/>
                  </a:moveTo>
                  <a:lnTo>
                    <a:pt x="2173806" y="0"/>
                  </a:lnTo>
                  <a:cubicBezTo>
                    <a:pt x="2177171" y="0"/>
                    <a:pt x="2180399" y="1337"/>
                    <a:pt x="2182779" y="3717"/>
                  </a:cubicBezTo>
                  <a:cubicBezTo>
                    <a:pt x="2185158" y="6096"/>
                    <a:pt x="2186495" y="9324"/>
                    <a:pt x="2186495" y="12689"/>
                  </a:cubicBezTo>
                  <a:lnTo>
                    <a:pt x="2186495" y="399781"/>
                  </a:lnTo>
                  <a:cubicBezTo>
                    <a:pt x="2186495" y="406789"/>
                    <a:pt x="2180814" y="412470"/>
                    <a:pt x="2173806" y="412470"/>
                  </a:cubicBezTo>
                  <a:lnTo>
                    <a:pt x="12689" y="412470"/>
                  </a:lnTo>
                  <a:cubicBezTo>
                    <a:pt x="9324" y="412470"/>
                    <a:pt x="6096" y="411133"/>
                    <a:pt x="3717" y="408753"/>
                  </a:cubicBezTo>
                  <a:cubicBezTo>
                    <a:pt x="1337" y="406374"/>
                    <a:pt x="0" y="403146"/>
                    <a:pt x="0" y="399781"/>
                  </a:cubicBezTo>
                  <a:lnTo>
                    <a:pt x="0" y="12689"/>
                  </a:lnTo>
                  <a:cubicBezTo>
                    <a:pt x="0" y="9324"/>
                    <a:pt x="1337" y="6096"/>
                    <a:pt x="3717" y="3717"/>
                  </a:cubicBezTo>
                  <a:cubicBezTo>
                    <a:pt x="6096" y="1337"/>
                    <a:pt x="9324" y="0"/>
                    <a:pt x="12689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86495" cy="4505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3467"/>
                </a:lnSpc>
              </a:pPr>
              <a:r>
                <a:rPr lang="en-US" sz="2667">
                  <a:solidFill>
                    <a:srgbClr val="000000"/>
                  </a:solidFill>
                  <a:latin typeface="Garet"/>
                </a:rPr>
                <a:t>Tim</a:t>
              </a:r>
              <a:r>
                <a:rPr lang="en-US" sz="2667">
                  <a:solidFill>
                    <a:srgbClr val="000000"/>
                  </a:solidFill>
                  <a:latin typeface="Garet Bold"/>
                </a:rPr>
                <a:t> would / used to</a:t>
              </a:r>
              <a:r>
                <a:rPr lang="en-US" sz="2667">
                  <a:solidFill>
                    <a:srgbClr val="000000"/>
                  </a:solidFill>
                  <a:latin typeface="Garet"/>
                </a:rPr>
                <a:t> visit his parents every other weekend</a:t>
              </a:r>
            </a:p>
            <a:p>
              <a:pPr marL="0" lvl="1" algn="ctr">
                <a:lnSpc>
                  <a:spcPts val="3467"/>
                </a:lnSpc>
                <a:spcBef>
                  <a:spcPct val="0"/>
                </a:spcBef>
              </a:pPr>
              <a:endParaRPr lang="en-US" sz="2667">
                <a:solidFill>
                  <a:srgbClr val="000000"/>
                </a:solidFill>
                <a:latin typeface="Garet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 rot="-1856826">
            <a:off x="9211498" y="563697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663569">
            <a:off x="10437139" y="-70485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648"/>
            <a:ext cx="12376149" cy="4141916"/>
            <a:chOff x="0" y="0"/>
            <a:chExt cx="24752298" cy="82838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4592897" y="3354092"/>
            <a:ext cx="7444819" cy="6292393"/>
            <a:chOff x="0" y="0"/>
            <a:chExt cx="14889637" cy="12584786"/>
          </a:xfrm>
        </p:grpSpPr>
        <p:sp>
          <p:nvSpPr>
            <p:cNvPr id="6" name="Freeform 6"/>
            <p:cNvSpPr/>
            <p:nvPr/>
          </p:nvSpPr>
          <p:spPr>
            <a:xfrm rot="-1856826">
              <a:off x="4553760" y="5967579"/>
              <a:ext cx="5916706" cy="5486400"/>
            </a:xfrm>
            <a:custGeom>
              <a:avLst/>
              <a:gdLst/>
              <a:ahLst/>
              <a:cxnLst/>
              <a:rect l="l" t="t" r="r" b="b"/>
              <a:pathLst>
                <a:path w="5916706" h="5486400">
                  <a:moveTo>
                    <a:pt x="0" y="0"/>
                  </a:moveTo>
                  <a:lnTo>
                    <a:pt x="5916706" y="0"/>
                  </a:lnTo>
                  <a:lnTo>
                    <a:pt x="591670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1856826">
              <a:off x="989537" y="3515752"/>
              <a:ext cx="5916706" cy="5486400"/>
            </a:xfrm>
            <a:custGeom>
              <a:avLst/>
              <a:gdLst/>
              <a:ahLst/>
              <a:cxnLst/>
              <a:rect l="l" t="t" r="r" b="b"/>
              <a:pathLst>
                <a:path w="5916706" h="5486400">
                  <a:moveTo>
                    <a:pt x="0" y="0"/>
                  </a:moveTo>
                  <a:lnTo>
                    <a:pt x="5916706" y="0"/>
                  </a:lnTo>
                  <a:lnTo>
                    <a:pt x="591670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663569">
              <a:off x="8501650" y="516550"/>
              <a:ext cx="5916706" cy="5486400"/>
            </a:xfrm>
            <a:custGeom>
              <a:avLst/>
              <a:gdLst/>
              <a:ahLst/>
              <a:cxnLst/>
              <a:rect l="l" t="t" r="r" b="b"/>
              <a:pathLst>
                <a:path w="5916706" h="5486400">
                  <a:moveTo>
                    <a:pt x="0" y="0"/>
                  </a:moveTo>
                  <a:lnTo>
                    <a:pt x="5916706" y="0"/>
                  </a:lnTo>
                  <a:lnTo>
                    <a:pt x="591670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68063" y="3137713"/>
            <a:ext cx="2458923" cy="942763"/>
            <a:chOff x="0" y="0"/>
            <a:chExt cx="586394" cy="2248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6394" cy="224826"/>
            </a:xfrm>
            <a:custGeom>
              <a:avLst/>
              <a:gdLst/>
              <a:ahLst/>
              <a:cxnLst/>
              <a:rect l="l" t="t" r="r" b="b"/>
              <a:pathLst>
                <a:path w="586394" h="224826">
                  <a:moveTo>
                    <a:pt x="41980" y="0"/>
                  </a:moveTo>
                  <a:lnTo>
                    <a:pt x="544414" y="0"/>
                  </a:lnTo>
                  <a:cubicBezTo>
                    <a:pt x="567599" y="0"/>
                    <a:pt x="586394" y="18795"/>
                    <a:pt x="586394" y="41980"/>
                  </a:cubicBezTo>
                  <a:lnTo>
                    <a:pt x="586394" y="182846"/>
                  </a:lnTo>
                  <a:cubicBezTo>
                    <a:pt x="586394" y="206031"/>
                    <a:pt x="567599" y="224826"/>
                    <a:pt x="544414" y="224826"/>
                  </a:cubicBezTo>
                  <a:lnTo>
                    <a:pt x="41980" y="224826"/>
                  </a:lnTo>
                  <a:cubicBezTo>
                    <a:pt x="18795" y="224826"/>
                    <a:pt x="0" y="206031"/>
                    <a:pt x="0" y="182846"/>
                  </a:cubicBezTo>
                  <a:lnTo>
                    <a:pt x="0" y="41980"/>
                  </a:lnTo>
                  <a:cubicBezTo>
                    <a:pt x="0" y="18795"/>
                    <a:pt x="18795" y="0"/>
                    <a:pt x="41980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86394" cy="262926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3987"/>
                </a:lnSpc>
              </a:pPr>
              <a:r>
                <a:rPr lang="en-US" sz="3067">
                  <a:solidFill>
                    <a:srgbClr val="000000"/>
                  </a:solidFill>
                  <a:latin typeface="Garet Bold"/>
                </a:rPr>
                <a:t>Used to  </a:t>
              </a:r>
              <a:r>
                <a:rPr lang="en-US" sz="3067">
                  <a:solidFill>
                    <a:srgbClr val="000000"/>
                  </a:solidFill>
                  <a:latin typeface="Garet"/>
                </a:rPr>
                <a:t>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526985" y="1558391"/>
            <a:ext cx="7979215" cy="1389965"/>
            <a:chOff x="0" y="0"/>
            <a:chExt cx="1902851" cy="3314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02851" cy="331473"/>
            </a:xfrm>
            <a:custGeom>
              <a:avLst/>
              <a:gdLst/>
              <a:ahLst/>
              <a:cxnLst/>
              <a:rect l="l" t="t" r="r" b="b"/>
              <a:pathLst>
                <a:path w="1902851" h="331473">
                  <a:moveTo>
                    <a:pt x="12937" y="0"/>
                  </a:moveTo>
                  <a:lnTo>
                    <a:pt x="1889914" y="0"/>
                  </a:lnTo>
                  <a:cubicBezTo>
                    <a:pt x="1893345" y="0"/>
                    <a:pt x="1896636" y="1363"/>
                    <a:pt x="1899062" y="3789"/>
                  </a:cubicBezTo>
                  <a:cubicBezTo>
                    <a:pt x="1901488" y="6215"/>
                    <a:pt x="1902851" y="9506"/>
                    <a:pt x="1902851" y="12937"/>
                  </a:cubicBezTo>
                  <a:lnTo>
                    <a:pt x="1902851" y="318536"/>
                  </a:lnTo>
                  <a:cubicBezTo>
                    <a:pt x="1902851" y="325681"/>
                    <a:pt x="1897059" y="331473"/>
                    <a:pt x="1889914" y="331473"/>
                  </a:cubicBezTo>
                  <a:lnTo>
                    <a:pt x="12937" y="331473"/>
                  </a:lnTo>
                  <a:cubicBezTo>
                    <a:pt x="9506" y="331473"/>
                    <a:pt x="6215" y="330110"/>
                    <a:pt x="3789" y="327684"/>
                  </a:cubicBezTo>
                  <a:cubicBezTo>
                    <a:pt x="1363" y="325258"/>
                    <a:pt x="0" y="321967"/>
                    <a:pt x="0" y="318536"/>
                  </a:cubicBezTo>
                  <a:lnTo>
                    <a:pt x="0" y="12937"/>
                  </a:lnTo>
                  <a:cubicBezTo>
                    <a:pt x="0" y="9506"/>
                    <a:pt x="1363" y="6215"/>
                    <a:pt x="3789" y="3789"/>
                  </a:cubicBezTo>
                  <a:cubicBezTo>
                    <a:pt x="6215" y="1363"/>
                    <a:pt x="9506" y="0"/>
                    <a:pt x="1293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902851" cy="350523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"/>
                </a:rPr>
                <a:t>when we talk about past</a:t>
              </a:r>
              <a:r>
                <a:rPr lang="en-US" sz="2133">
                  <a:solidFill>
                    <a:srgbClr val="000000"/>
                  </a:solidFill>
                  <a:latin typeface="Garet Italics"/>
                </a:rPr>
                <a:t> states</a:t>
              </a:r>
              <a:r>
                <a:rPr lang="en-US" sz="2133">
                  <a:solidFill>
                    <a:srgbClr val="000000"/>
                  </a:solidFill>
                  <a:latin typeface="Garet"/>
                </a:rPr>
                <a:t> that have changed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26985" y="4292564"/>
            <a:ext cx="7979215" cy="1447377"/>
            <a:chOff x="0" y="0"/>
            <a:chExt cx="1902851" cy="3451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02851" cy="345165"/>
            </a:xfrm>
            <a:custGeom>
              <a:avLst/>
              <a:gdLst/>
              <a:ahLst/>
              <a:cxnLst/>
              <a:rect l="l" t="t" r="r" b="b"/>
              <a:pathLst>
                <a:path w="1902851" h="345165">
                  <a:moveTo>
                    <a:pt x="12937" y="0"/>
                  </a:moveTo>
                  <a:lnTo>
                    <a:pt x="1889914" y="0"/>
                  </a:lnTo>
                  <a:cubicBezTo>
                    <a:pt x="1893345" y="0"/>
                    <a:pt x="1896636" y="1363"/>
                    <a:pt x="1899062" y="3789"/>
                  </a:cubicBezTo>
                  <a:cubicBezTo>
                    <a:pt x="1901488" y="6215"/>
                    <a:pt x="1902851" y="9506"/>
                    <a:pt x="1902851" y="12937"/>
                  </a:cubicBezTo>
                  <a:lnTo>
                    <a:pt x="1902851" y="332228"/>
                  </a:lnTo>
                  <a:cubicBezTo>
                    <a:pt x="1902851" y="339373"/>
                    <a:pt x="1897059" y="345165"/>
                    <a:pt x="1889914" y="345165"/>
                  </a:cubicBezTo>
                  <a:lnTo>
                    <a:pt x="12937" y="345165"/>
                  </a:lnTo>
                  <a:cubicBezTo>
                    <a:pt x="9506" y="345165"/>
                    <a:pt x="6215" y="343802"/>
                    <a:pt x="3789" y="341376"/>
                  </a:cubicBezTo>
                  <a:cubicBezTo>
                    <a:pt x="1363" y="338950"/>
                    <a:pt x="0" y="335659"/>
                    <a:pt x="0" y="332228"/>
                  </a:cubicBezTo>
                  <a:lnTo>
                    <a:pt x="0" y="12937"/>
                  </a:lnTo>
                  <a:cubicBezTo>
                    <a:pt x="0" y="9506"/>
                    <a:pt x="1363" y="6215"/>
                    <a:pt x="3789" y="3789"/>
                  </a:cubicBezTo>
                  <a:cubicBezTo>
                    <a:pt x="6215" y="1363"/>
                    <a:pt x="9506" y="0"/>
                    <a:pt x="1293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902851" cy="36421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"/>
                </a:rPr>
                <a:t>In  more formal   negative and question forms </a:t>
              </a:r>
            </a:p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"/>
                </a:rPr>
                <a:t>,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8847" y="3119426"/>
            <a:ext cx="8006856" cy="1896323"/>
            <a:chOff x="0" y="0"/>
            <a:chExt cx="1620629" cy="3838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0629" cy="383825"/>
            </a:xfrm>
            <a:custGeom>
              <a:avLst/>
              <a:gdLst/>
              <a:ahLst/>
              <a:cxnLst/>
              <a:rect l="l" t="t" r="r" b="b"/>
              <a:pathLst>
                <a:path w="1620629" h="383825">
                  <a:moveTo>
                    <a:pt x="12892" y="0"/>
                  </a:moveTo>
                  <a:lnTo>
                    <a:pt x="1607737" y="0"/>
                  </a:lnTo>
                  <a:cubicBezTo>
                    <a:pt x="1614857" y="0"/>
                    <a:pt x="1620629" y="5772"/>
                    <a:pt x="1620629" y="12892"/>
                  </a:cubicBezTo>
                  <a:lnTo>
                    <a:pt x="1620629" y="370933"/>
                  </a:lnTo>
                  <a:cubicBezTo>
                    <a:pt x="1620629" y="374352"/>
                    <a:pt x="1619271" y="377632"/>
                    <a:pt x="1616853" y="380049"/>
                  </a:cubicBezTo>
                  <a:cubicBezTo>
                    <a:pt x="1614435" y="382467"/>
                    <a:pt x="1611156" y="383825"/>
                    <a:pt x="1607737" y="383825"/>
                  </a:cubicBezTo>
                  <a:lnTo>
                    <a:pt x="12892" y="383825"/>
                  </a:lnTo>
                  <a:cubicBezTo>
                    <a:pt x="9473" y="383825"/>
                    <a:pt x="6194" y="382467"/>
                    <a:pt x="3776" y="380049"/>
                  </a:cubicBezTo>
                  <a:cubicBezTo>
                    <a:pt x="1358" y="377632"/>
                    <a:pt x="0" y="374352"/>
                    <a:pt x="0" y="370933"/>
                  </a:cubicBezTo>
                  <a:lnTo>
                    <a:pt x="0" y="12892"/>
                  </a:lnTo>
                  <a:cubicBezTo>
                    <a:pt x="0" y="9473"/>
                    <a:pt x="1358" y="6194"/>
                    <a:pt x="3776" y="3776"/>
                  </a:cubicBezTo>
                  <a:cubicBezTo>
                    <a:pt x="6194" y="1358"/>
                    <a:pt x="9473" y="0"/>
                    <a:pt x="12892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20629" cy="412400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 algn="ctr">
                <a:lnSpc>
                  <a:spcPts val="3033"/>
                </a:lnSpc>
              </a:pPr>
              <a:r>
                <a:rPr lang="en-US" sz="2333">
                  <a:solidFill>
                    <a:srgbClr val="000000"/>
                  </a:solidFill>
                  <a:latin typeface="Garet Bold"/>
                </a:rPr>
                <a:t>In affirmative sentences  we use may or </a:t>
              </a:r>
            </a:p>
            <a:p>
              <a:pPr algn="ctr">
                <a:lnSpc>
                  <a:spcPts val="3033"/>
                </a:lnSpc>
              </a:pPr>
              <a:r>
                <a:rPr lang="en-US" sz="2333">
                  <a:solidFill>
                    <a:srgbClr val="000000"/>
                  </a:solidFill>
                  <a:latin typeface="Garet Bold"/>
                </a:rPr>
                <a:t>might  or could to say there is a possibility of something happening or being true</a:t>
              </a:r>
            </a:p>
            <a:p>
              <a:pPr algn="ctr">
                <a:lnSpc>
                  <a:spcPts val="2773"/>
                </a:lnSpc>
              </a:pPr>
              <a:endParaRPr lang="en-US" sz="2333">
                <a:solidFill>
                  <a:srgbClr val="000000"/>
                </a:solidFill>
                <a:latin typeface="Garet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5217" y="5199898"/>
            <a:ext cx="9817203" cy="1447377"/>
            <a:chOff x="0" y="0"/>
            <a:chExt cx="1987052" cy="2929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87052" cy="292957"/>
            </a:xfrm>
            <a:custGeom>
              <a:avLst/>
              <a:gdLst/>
              <a:ahLst/>
              <a:cxnLst/>
              <a:rect l="l" t="t" r="r" b="b"/>
              <a:pathLst>
                <a:path w="1987052" h="292957">
                  <a:moveTo>
                    <a:pt x="10515" y="0"/>
                  </a:moveTo>
                  <a:lnTo>
                    <a:pt x="1976538" y="0"/>
                  </a:lnTo>
                  <a:cubicBezTo>
                    <a:pt x="1982345" y="0"/>
                    <a:pt x="1987052" y="4708"/>
                    <a:pt x="1987052" y="10515"/>
                  </a:cubicBezTo>
                  <a:lnTo>
                    <a:pt x="1987052" y="282442"/>
                  </a:lnTo>
                  <a:cubicBezTo>
                    <a:pt x="1987052" y="288249"/>
                    <a:pt x="1982345" y="292957"/>
                    <a:pt x="1976538" y="292957"/>
                  </a:cubicBezTo>
                  <a:lnTo>
                    <a:pt x="10515" y="292957"/>
                  </a:lnTo>
                  <a:cubicBezTo>
                    <a:pt x="4708" y="292957"/>
                    <a:pt x="0" y="288249"/>
                    <a:pt x="0" y="282442"/>
                  </a:cubicBezTo>
                  <a:lnTo>
                    <a:pt x="0" y="10515"/>
                  </a:lnTo>
                  <a:cubicBezTo>
                    <a:pt x="0" y="4708"/>
                    <a:pt x="4708" y="0"/>
                    <a:pt x="10515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987052" cy="312007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 algn="ctr">
                <a:lnSpc>
                  <a:spcPts val="2773"/>
                </a:lnSpc>
              </a:pPr>
              <a:endParaRPr sz="1200"/>
            </a:p>
            <a:p>
              <a:pPr algn="ctr"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Bold"/>
                </a:rPr>
                <a:t>There may/might/could be some cake left. I'll go and look</a:t>
              </a:r>
            </a:p>
            <a:p>
              <a:pPr algn="ctr"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68847" y="384179"/>
            <a:ext cx="9054307" cy="1055369"/>
            <a:chOff x="0" y="0"/>
            <a:chExt cx="1832638" cy="2136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32638" cy="213612"/>
            </a:xfrm>
            <a:custGeom>
              <a:avLst/>
              <a:gdLst/>
              <a:ahLst/>
              <a:cxnLst/>
              <a:rect l="l" t="t" r="r" b="b"/>
              <a:pathLst>
                <a:path w="1832638" h="213612">
                  <a:moveTo>
                    <a:pt x="11401" y="0"/>
                  </a:moveTo>
                  <a:lnTo>
                    <a:pt x="1821238" y="0"/>
                  </a:lnTo>
                  <a:cubicBezTo>
                    <a:pt x="1827534" y="0"/>
                    <a:pt x="1832638" y="5104"/>
                    <a:pt x="1832638" y="11401"/>
                  </a:cubicBezTo>
                  <a:lnTo>
                    <a:pt x="1832638" y="202211"/>
                  </a:lnTo>
                  <a:cubicBezTo>
                    <a:pt x="1832638" y="208508"/>
                    <a:pt x="1827534" y="213612"/>
                    <a:pt x="1821238" y="213612"/>
                  </a:cubicBezTo>
                  <a:lnTo>
                    <a:pt x="11401" y="213612"/>
                  </a:lnTo>
                  <a:cubicBezTo>
                    <a:pt x="5104" y="213612"/>
                    <a:pt x="0" y="208508"/>
                    <a:pt x="0" y="202211"/>
                  </a:cubicBezTo>
                  <a:lnTo>
                    <a:pt x="0" y="11401"/>
                  </a:lnTo>
                  <a:cubicBezTo>
                    <a:pt x="0" y="5104"/>
                    <a:pt x="5104" y="0"/>
                    <a:pt x="11401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832638" cy="270762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600">
                  <a:solidFill>
                    <a:srgbClr val="000000"/>
                  </a:solidFill>
                  <a:latin typeface="Garet Heavy"/>
                </a:rPr>
                <a:t>USE OF MAY /MIGHT/CAN/COULD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3166700" y="-591643"/>
            <a:ext cx="4141916" cy="8271132"/>
            <a:chOff x="0" y="0"/>
            <a:chExt cx="8283832" cy="16542264"/>
          </a:xfrm>
        </p:grpSpPr>
        <p:sp>
          <p:nvSpPr>
            <p:cNvPr id="12" name="Freeform 12"/>
            <p:cNvSpPr/>
            <p:nvPr/>
          </p:nvSpPr>
          <p:spPr>
            <a:xfrm>
              <a:off x="0" y="82584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1216784" y="-591643"/>
            <a:ext cx="4141916" cy="8271132"/>
            <a:chOff x="0" y="0"/>
            <a:chExt cx="8283832" cy="16542264"/>
          </a:xfrm>
        </p:grpSpPr>
        <p:sp>
          <p:nvSpPr>
            <p:cNvPr id="15" name="Freeform 15"/>
            <p:cNvSpPr/>
            <p:nvPr/>
          </p:nvSpPr>
          <p:spPr>
            <a:xfrm>
              <a:off x="0" y="82584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 rot="-1145479">
            <a:off x="10990413" y="591070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4319150">
            <a:off x="-1868983" y="54864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4319150">
            <a:off x="-1479177" y="-13716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4319150">
            <a:off x="11075046" y="226563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2855573" y="1624491"/>
            <a:ext cx="5166967" cy="998103"/>
            <a:chOff x="0" y="0"/>
            <a:chExt cx="1045821" cy="20202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5821" cy="202021"/>
            </a:xfrm>
            <a:custGeom>
              <a:avLst/>
              <a:gdLst/>
              <a:ahLst/>
              <a:cxnLst/>
              <a:rect l="l" t="t" r="r" b="b"/>
              <a:pathLst>
                <a:path w="1045821" h="202021">
                  <a:moveTo>
                    <a:pt x="19978" y="0"/>
                  </a:moveTo>
                  <a:lnTo>
                    <a:pt x="1025843" y="0"/>
                  </a:lnTo>
                  <a:cubicBezTo>
                    <a:pt x="1031141" y="0"/>
                    <a:pt x="1036223" y="2105"/>
                    <a:pt x="1039969" y="5851"/>
                  </a:cubicBezTo>
                  <a:cubicBezTo>
                    <a:pt x="1043716" y="9598"/>
                    <a:pt x="1045821" y="14679"/>
                    <a:pt x="1045821" y="19978"/>
                  </a:cubicBezTo>
                  <a:lnTo>
                    <a:pt x="1045821" y="182043"/>
                  </a:lnTo>
                  <a:cubicBezTo>
                    <a:pt x="1045821" y="193077"/>
                    <a:pt x="1036876" y="202021"/>
                    <a:pt x="1025843" y="202021"/>
                  </a:cubicBezTo>
                  <a:lnTo>
                    <a:pt x="19978" y="202021"/>
                  </a:lnTo>
                  <a:cubicBezTo>
                    <a:pt x="14679" y="202021"/>
                    <a:pt x="9598" y="199916"/>
                    <a:pt x="5851" y="196170"/>
                  </a:cubicBezTo>
                  <a:cubicBezTo>
                    <a:pt x="2105" y="192423"/>
                    <a:pt x="0" y="187342"/>
                    <a:pt x="0" y="182043"/>
                  </a:cubicBezTo>
                  <a:lnTo>
                    <a:pt x="0" y="19978"/>
                  </a:lnTo>
                  <a:cubicBezTo>
                    <a:pt x="0" y="14679"/>
                    <a:pt x="2105" y="9598"/>
                    <a:pt x="5851" y="5851"/>
                  </a:cubicBezTo>
                  <a:cubicBezTo>
                    <a:pt x="9598" y="2105"/>
                    <a:pt x="14679" y="0"/>
                    <a:pt x="19978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045821" cy="240121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 algn="ctr">
                <a:lnSpc>
                  <a:spcPts val="3293"/>
                </a:lnSpc>
              </a:pPr>
              <a:r>
                <a:rPr lang="en-US" sz="2533">
                  <a:solidFill>
                    <a:srgbClr val="000000"/>
                  </a:solidFill>
                  <a:latin typeface="Garet Bold"/>
                </a:rPr>
                <a:t>Possibility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53545" y="-591643"/>
            <a:ext cx="4141916" cy="8271132"/>
            <a:chOff x="0" y="0"/>
            <a:chExt cx="8283832" cy="16542264"/>
          </a:xfrm>
        </p:grpSpPr>
        <p:sp>
          <p:nvSpPr>
            <p:cNvPr id="3" name="Freeform 3"/>
            <p:cNvSpPr/>
            <p:nvPr/>
          </p:nvSpPr>
          <p:spPr>
            <a:xfrm>
              <a:off x="0" y="82584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1095511" y="-406035"/>
            <a:ext cx="9965292" cy="7483641"/>
            <a:chOff x="0" y="0"/>
            <a:chExt cx="2678502" cy="20114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78502" cy="2011476"/>
            </a:xfrm>
            <a:custGeom>
              <a:avLst/>
              <a:gdLst/>
              <a:ahLst/>
              <a:cxnLst/>
              <a:rect l="l" t="t" r="r" b="b"/>
              <a:pathLst>
                <a:path w="2678502" h="2011476">
                  <a:moveTo>
                    <a:pt x="10359" y="0"/>
                  </a:moveTo>
                  <a:lnTo>
                    <a:pt x="2668143" y="0"/>
                  </a:lnTo>
                  <a:cubicBezTo>
                    <a:pt x="2673864" y="0"/>
                    <a:pt x="2678502" y="4638"/>
                    <a:pt x="2678502" y="10359"/>
                  </a:cubicBezTo>
                  <a:lnTo>
                    <a:pt x="2678502" y="2001117"/>
                  </a:lnTo>
                  <a:cubicBezTo>
                    <a:pt x="2678502" y="2006838"/>
                    <a:pt x="2673864" y="2011476"/>
                    <a:pt x="2668143" y="2011476"/>
                  </a:cubicBezTo>
                  <a:lnTo>
                    <a:pt x="10359" y="2011476"/>
                  </a:lnTo>
                  <a:cubicBezTo>
                    <a:pt x="4638" y="2011476"/>
                    <a:pt x="0" y="2006838"/>
                    <a:pt x="0" y="2001117"/>
                  </a:cubicBezTo>
                  <a:lnTo>
                    <a:pt x="0" y="10359"/>
                  </a:lnTo>
                  <a:cubicBezTo>
                    <a:pt x="0" y="4638"/>
                    <a:pt x="4638" y="0"/>
                    <a:pt x="10359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678502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559147"/>
            <a:ext cx="8557098" cy="4399628"/>
            <a:chOff x="0" y="0"/>
            <a:chExt cx="2211231" cy="11369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1231" cy="1136903"/>
            </a:xfrm>
            <a:custGeom>
              <a:avLst/>
              <a:gdLst/>
              <a:ahLst/>
              <a:cxnLst/>
              <a:rect l="l" t="t" r="r" b="b"/>
              <a:pathLst>
                <a:path w="2211231" h="1136903">
                  <a:moveTo>
                    <a:pt x="12063" y="0"/>
                  </a:moveTo>
                  <a:lnTo>
                    <a:pt x="2199168" y="0"/>
                  </a:lnTo>
                  <a:cubicBezTo>
                    <a:pt x="2205830" y="0"/>
                    <a:pt x="2211231" y="5401"/>
                    <a:pt x="2211231" y="12063"/>
                  </a:cubicBezTo>
                  <a:lnTo>
                    <a:pt x="2211231" y="1124840"/>
                  </a:lnTo>
                  <a:cubicBezTo>
                    <a:pt x="2211231" y="1131503"/>
                    <a:pt x="2205830" y="1136903"/>
                    <a:pt x="2199168" y="1136903"/>
                  </a:cubicBezTo>
                  <a:lnTo>
                    <a:pt x="12063" y="1136903"/>
                  </a:lnTo>
                  <a:cubicBezTo>
                    <a:pt x="5401" y="1136903"/>
                    <a:pt x="0" y="1131503"/>
                    <a:pt x="0" y="1124840"/>
                  </a:cubicBezTo>
                  <a:lnTo>
                    <a:pt x="0" y="12063"/>
                  </a:lnTo>
                  <a:cubicBezTo>
                    <a:pt x="0" y="5401"/>
                    <a:pt x="5401" y="0"/>
                    <a:pt x="12063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211231" cy="1165478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 algn="just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Garet"/>
                </a:rPr>
                <a:t>We don't use</a:t>
              </a:r>
              <a:r>
                <a:rPr lang="en-US" sz="2400">
                  <a:solidFill>
                    <a:srgbClr val="000000"/>
                  </a:solidFill>
                  <a:latin typeface="Garet Bold"/>
                </a:rPr>
                <a:t> may</a:t>
              </a:r>
              <a:r>
                <a:rPr lang="en-US" sz="2400">
                  <a:solidFill>
                    <a:srgbClr val="000000"/>
                  </a:solidFill>
                  <a:latin typeface="Garet"/>
                </a:rPr>
                <a:t> to </a:t>
              </a:r>
              <a:r>
                <a:rPr lang="en-US" sz="2400" u="sng">
                  <a:solidFill>
                    <a:srgbClr val="000000"/>
                  </a:solidFill>
                  <a:latin typeface="Garet"/>
                </a:rPr>
                <a:t>ask questions</a:t>
              </a:r>
              <a:r>
                <a:rPr lang="en-US" sz="2400">
                  <a:solidFill>
                    <a:srgbClr val="000000"/>
                  </a:solidFill>
                  <a:latin typeface="Garet"/>
                </a:rPr>
                <a:t> about the possibility of something happening.</a:t>
              </a:r>
            </a:p>
            <a:p>
              <a:pPr algn="just">
                <a:lnSpc>
                  <a:spcPts val="3120"/>
                </a:lnSpc>
              </a:pPr>
              <a:endParaRPr lang="en-US" sz="2400">
                <a:solidFill>
                  <a:srgbClr val="000000"/>
                </a:solidFill>
                <a:latin typeface="Garet"/>
              </a:endParaRPr>
            </a:p>
            <a:p>
              <a:pPr algn="just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Garet"/>
                </a:rPr>
                <a:t>Instead, we  use</a:t>
              </a:r>
              <a:r>
                <a:rPr lang="en-US" sz="2400">
                  <a:solidFill>
                    <a:srgbClr val="000000"/>
                  </a:solidFill>
                  <a:latin typeface="Garet Bold"/>
                </a:rPr>
                <a:t> could(n't)</a:t>
              </a:r>
              <a:r>
                <a:rPr lang="en-US" sz="2400">
                  <a:solidFill>
                    <a:srgbClr val="000000"/>
                  </a:solidFill>
                  <a:latin typeface="Garet"/>
                </a:rPr>
                <a:t> </a:t>
              </a:r>
            </a:p>
            <a:p>
              <a:pPr algn="ctr">
                <a:lnSpc>
                  <a:spcPts val="3120"/>
                </a:lnSpc>
              </a:pPr>
              <a:endParaRPr lang="en-US" sz="2400">
                <a:solidFill>
                  <a:srgbClr val="000000"/>
                </a:solidFill>
                <a:latin typeface="Garet"/>
              </a:endParaRPr>
            </a:p>
            <a:p>
              <a:pPr algn="ctr">
                <a:lnSpc>
                  <a:spcPts val="3120"/>
                </a:lnSpc>
              </a:pPr>
              <a:endParaRPr lang="en-US" sz="2400">
                <a:solidFill>
                  <a:srgbClr val="000000"/>
                </a:solidFill>
                <a:latin typeface="Garet"/>
              </a:endParaRPr>
            </a:p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Garet"/>
                </a:rPr>
                <a:t>e.g. </a:t>
              </a:r>
              <a:r>
                <a:rPr lang="en-US" sz="2400">
                  <a:solidFill>
                    <a:srgbClr val="000000"/>
                  </a:solidFill>
                  <a:latin typeface="Garet Bold"/>
                </a:rPr>
                <a:t> Could</a:t>
              </a:r>
              <a:r>
                <a:rPr lang="en-US" sz="2400">
                  <a:solidFill>
                    <a:srgbClr val="000000"/>
                  </a:solidFill>
                  <a:latin typeface="Garet"/>
                </a:rPr>
                <a:t> it be that you don't want to leave? </a:t>
              </a:r>
            </a:p>
            <a:p>
              <a:pPr algn="ctr">
                <a:lnSpc>
                  <a:spcPts val="3120"/>
                </a:lnSpc>
              </a:pPr>
              <a:endParaRPr lang="en-US" sz="2400">
                <a:solidFill>
                  <a:srgbClr val="000000"/>
                </a:solidFill>
                <a:latin typeface="Garet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557098" y="4122758"/>
            <a:ext cx="3343656" cy="2346639"/>
          </a:xfrm>
          <a:custGeom>
            <a:avLst/>
            <a:gdLst/>
            <a:ahLst/>
            <a:cxnLst/>
            <a:rect l="l" t="t" r="r" b="b"/>
            <a:pathLst>
              <a:path w="5015484" h="3519958">
                <a:moveTo>
                  <a:pt x="0" y="0"/>
                </a:moveTo>
                <a:lnTo>
                  <a:pt x="5015485" y="0"/>
                </a:lnTo>
                <a:lnTo>
                  <a:pt x="5015485" y="3519959"/>
                </a:lnTo>
                <a:lnTo>
                  <a:pt x="0" y="3519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53545" y="-591643"/>
            <a:ext cx="4141916" cy="8271132"/>
            <a:chOff x="0" y="0"/>
            <a:chExt cx="8283832" cy="16542264"/>
          </a:xfrm>
        </p:grpSpPr>
        <p:sp>
          <p:nvSpPr>
            <p:cNvPr id="3" name="Freeform 3"/>
            <p:cNvSpPr/>
            <p:nvPr/>
          </p:nvSpPr>
          <p:spPr>
            <a:xfrm>
              <a:off x="0" y="82584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1095511" y="-406035"/>
            <a:ext cx="9652609" cy="7483641"/>
            <a:chOff x="0" y="0"/>
            <a:chExt cx="2594458" cy="20114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1870" y="567512"/>
            <a:ext cx="5457597" cy="1447377"/>
            <a:chOff x="0" y="0"/>
            <a:chExt cx="1410292" cy="3740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10292" cy="374015"/>
            </a:xfrm>
            <a:custGeom>
              <a:avLst/>
              <a:gdLst/>
              <a:ahLst/>
              <a:cxnLst/>
              <a:rect l="l" t="t" r="r" b="b"/>
              <a:pathLst>
                <a:path w="1410292" h="374015">
                  <a:moveTo>
                    <a:pt x="18914" y="0"/>
                  </a:moveTo>
                  <a:lnTo>
                    <a:pt x="1391378" y="0"/>
                  </a:lnTo>
                  <a:cubicBezTo>
                    <a:pt x="1396394" y="0"/>
                    <a:pt x="1401205" y="1993"/>
                    <a:pt x="1404752" y="5540"/>
                  </a:cubicBezTo>
                  <a:cubicBezTo>
                    <a:pt x="1408299" y="9087"/>
                    <a:pt x="1410292" y="13898"/>
                    <a:pt x="1410292" y="18914"/>
                  </a:cubicBezTo>
                  <a:lnTo>
                    <a:pt x="1410292" y="355101"/>
                  </a:lnTo>
                  <a:cubicBezTo>
                    <a:pt x="1410292" y="360118"/>
                    <a:pt x="1408299" y="364929"/>
                    <a:pt x="1404752" y="368476"/>
                  </a:cubicBezTo>
                  <a:cubicBezTo>
                    <a:pt x="1401205" y="372023"/>
                    <a:pt x="1396394" y="374015"/>
                    <a:pt x="1391378" y="374015"/>
                  </a:cubicBezTo>
                  <a:lnTo>
                    <a:pt x="18914" y="374015"/>
                  </a:lnTo>
                  <a:cubicBezTo>
                    <a:pt x="13898" y="374015"/>
                    <a:pt x="9087" y="372023"/>
                    <a:pt x="5540" y="368476"/>
                  </a:cubicBezTo>
                  <a:cubicBezTo>
                    <a:pt x="1993" y="364929"/>
                    <a:pt x="0" y="360118"/>
                    <a:pt x="0" y="355101"/>
                  </a:cubicBezTo>
                  <a:lnTo>
                    <a:pt x="0" y="18914"/>
                  </a:lnTo>
                  <a:cubicBezTo>
                    <a:pt x="0" y="13898"/>
                    <a:pt x="1993" y="9087"/>
                    <a:pt x="5540" y="5540"/>
                  </a:cubicBezTo>
                  <a:cubicBezTo>
                    <a:pt x="9087" y="1993"/>
                    <a:pt x="13898" y="0"/>
                    <a:pt x="18914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410292" cy="39306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endParaRPr sz="12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9103" y="2569156"/>
            <a:ext cx="7921826" cy="2844377"/>
            <a:chOff x="0" y="0"/>
            <a:chExt cx="2047071" cy="7350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7071" cy="735013"/>
            </a:xfrm>
            <a:custGeom>
              <a:avLst/>
              <a:gdLst/>
              <a:ahLst/>
              <a:cxnLst/>
              <a:rect l="l" t="t" r="r" b="b"/>
              <a:pathLst>
                <a:path w="2047071" h="735013">
                  <a:moveTo>
                    <a:pt x="13031" y="0"/>
                  </a:moveTo>
                  <a:lnTo>
                    <a:pt x="2034040" y="0"/>
                  </a:lnTo>
                  <a:cubicBezTo>
                    <a:pt x="2041237" y="0"/>
                    <a:pt x="2047071" y="5834"/>
                    <a:pt x="2047071" y="13031"/>
                  </a:cubicBezTo>
                  <a:lnTo>
                    <a:pt x="2047071" y="721982"/>
                  </a:lnTo>
                  <a:cubicBezTo>
                    <a:pt x="2047071" y="729179"/>
                    <a:pt x="2041237" y="735013"/>
                    <a:pt x="2034040" y="735013"/>
                  </a:cubicBezTo>
                  <a:lnTo>
                    <a:pt x="13031" y="735013"/>
                  </a:lnTo>
                  <a:cubicBezTo>
                    <a:pt x="5834" y="735013"/>
                    <a:pt x="0" y="729179"/>
                    <a:pt x="0" y="721982"/>
                  </a:cubicBezTo>
                  <a:lnTo>
                    <a:pt x="0" y="13031"/>
                  </a:lnTo>
                  <a:cubicBezTo>
                    <a:pt x="0" y="5834"/>
                    <a:pt x="5834" y="0"/>
                    <a:pt x="13031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047071" cy="754063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we use may not or might not to say that </a:t>
              </a:r>
              <a:r>
                <a:rPr lang="en-US" sz="2133" u="sng">
                  <a:solidFill>
                    <a:srgbClr val="000000"/>
                  </a:solidFill>
                  <a:latin typeface="Garet Ultra-Bold"/>
                </a:rPr>
                <a:t>it is possible</a:t>
              </a: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 that something is not  true, 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and can't or couldn't to say that it is </a:t>
              </a:r>
              <a:r>
                <a:rPr lang="en-US" sz="2133" u="sng">
                  <a:solidFill>
                    <a:srgbClr val="000000"/>
                  </a:solidFill>
                  <a:latin typeface="Garet Ultra-Bold"/>
                </a:rPr>
                <a:t>not possible</a:t>
              </a: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 that something is true.</a:t>
              </a:r>
            </a:p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.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7242882" y="3709736"/>
            <a:ext cx="5252579" cy="3686355"/>
          </a:xfrm>
          <a:custGeom>
            <a:avLst/>
            <a:gdLst/>
            <a:ahLst/>
            <a:cxnLst/>
            <a:rect l="l" t="t" r="r" b="b"/>
            <a:pathLst>
              <a:path w="7878868" h="5529533">
                <a:moveTo>
                  <a:pt x="0" y="0"/>
                </a:moveTo>
                <a:lnTo>
                  <a:pt x="7878868" y="0"/>
                </a:lnTo>
                <a:lnTo>
                  <a:pt x="7878868" y="5529533"/>
                </a:lnTo>
                <a:lnTo>
                  <a:pt x="0" y="5529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450324" y="685411"/>
            <a:ext cx="5792558" cy="117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80"/>
              </a:lnSpc>
            </a:pPr>
            <a:r>
              <a:rPr lang="en-US" sz="3600">
                <a:solidFill>
                  <a:srgbClr val="000000"/>
                </a:solidFill>
                <a:latin typeface="Garet Bold"/>
              </a:rPr>
              <a:t>Use of can/could in negative sentences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6158" y="-736690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651933">
            <a:off x="-1348005" y="3363335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954584">
            <a:off x="11628033" y="2741527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1954584">
            <a:off x="2868602" y="6283473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428354">
            <a:off x="-1274965" y="8590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270137" y="1128527"/>
            <a:ext cx="10311417" cy="2646784"/>
            <a:chOff x="0" y="0"/>
            <a:chExt cx="2771534" cy="71141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71534" cy="711411"/>
            </a:xfrm>
            <a:custGeom>
              <a:avLst/>
              <a:gdLst/>
              <a:ahLst/>
              <a:cxnLst/>
              <a:rect l="l" t="t" r="r" b="b"/>
              <a:pathLst>
                <a:path w="2771534" h="711411">
                  <a:moveTo>
                    <a:pt x="10011" y="0"/>
                  </a:moveTo>
                  <a:lnTo>
                    <a:pt x="2761523" y="0"/>
                  </a:lnTo>
                  <a:cubicBezTo>
                    <a:pt x="2767052" y="0"/>
                    <a:pt x="2771534" y="4482"/>
                    <a:pt x="2771534" y="10011"/>
                  </a:cubicBezTo>
                  <a:lnTo>
                    <a:pt x="2771534" y="701400"/>
                  </a:lnTo>
                  <a:cubicBezTo>
                    <a:pt x="2771534" y="704055"/>
                    <a:pt x="2770480" y="706601"/>
                    <a:pt x="2768602" y="708479"/>
                  </a:cubicBezTo>
                  <a:cubicBezTo>
                    <a:pt x="2766725" y="710356"/>
                    <a:pt x="2764179" y="711411"/>
                    <a:pt x="2761523" y="711411"/>
                  </a:cubicBezTo>
                  <a:lnTo>
                    <a:pt x="10011" y="711411"/>
                  </a:lnTo>
                  <a:cubicBezTo>
                    <a:pt x="7356" y="711411"/>
                    <a:pt x="4809" y="710356"/>
                    <a:pt x="2932" y="708479"/>
                  </a:cubicBezTo>
                  <a:cubicBezTo>
                    <a:pt x="1055" y="706601"/>
                    <a:pt x="0" y="704055"/>
                    <a:pt x="0" y="701400"/>
                  </a:cubicBezTo>
                  <a:lnTo>
                    <a:pt x="0" y="10011"/>
                  </a:lnTo>
                  <a:cubicBezTo>
                    <a:pt x="0" y="7356"/>
                    <a:pt x="1055" y="4809"/>
                    <a:pt x="2932" y="2932"/>
                  </a:cubicBezTo>
                  <a:cubicBezTo>
                    <a:pt x="4809" y="1055"/>
                    <a:pt x="7356" y="0"/>
                    <a:pt x="10011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2771534" cy="77808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3570"/>
                </a:lnSpc>
              </a:pPr>
              <a:endParaRPr lang="en-US" sz="3133">
                <a:solidFill>
                  <a:srgbClr val="000000"/>
                </a:solidFill>
                <a:latin typeface="Times New Roman Bold" panose="02030802070405020303"/>
              </a:endParaRPr>
            </a:p>
            <a:p>
              <a:pPr>
                <a:lnSpc>
                  <a:spcPts val="3570"/>
                </a:lnSpc>
              </a:pPr>
              <a:endParaRPr lang="en-US" sz="3133">
                <a:solidFill>
                  <a:srgbClr val="000000"/>
                </a:solidFill>
                <a:latin typeface="Times New Roman Bold" panose="02030802070405020303"/>
              </a:endParaRPr>
            </a:p>
            <a:p>
              <a:pPr>
                <a:lnSpc>
                  <a:spcPts val="3570"/>
                </a:lnSpc>
              </a:pPr>
              <a:r>
                <a:rPr lang="en-US" sz="3133">
                  <a:solidFill>
                    <a:srgbClr val="000000"/>
                  </a:solidFill>
                  <a:latin typeface="Times New Roman Bold" panose="02030802070405020303"/>
                </a:rPr>
                <a:t>We use may/might (not 'can') + have + past participle to say that by some time in the</a:t>
              </a:r>
              <a:r>
                <a:rPr lang="en-US" sz="3133" u="sng">
                  <a:solidFill>
                    <a:srgbClr val="000000"/>
                  </a:solidFill>
                  <a:latin typeface="Times New Roman Bold" panose="02030802070405020303"/>
                </a:rPr>
                <a:t> future</a:t>
              </a:r>
              <a:r>
                <a:rPr lang="en-US" sz="3133">
                  <a:solidFill>
                    <a:srgbClr val="000000"/>
                  </a:solidFill>
                  <a:latin typeface="Times New Roman Bold" panose="02030802070405020303"/>
                </a:rPr>
                <a:t>, it is </a:t>
              </a:r>
              <a:r>
                <a:rPr lang="en-US" sz="3133" u="sng">
                  <a:solidFill>
                    <a:srgbClr val="000000"/>
                  </a:solidFill>
                  <a:latin typeface="Times New Roman Bold" panose="02030802070405020303"/>
                </a:rPr>
                <a:t>possible</a:t>
              </a:r>
              <a:r>
                <a:rPr lang="en-US" sz="3133">
                  <a:solidFill>
                    <a:srgbClr val="000000"/>
                  </a:solidFill>
                  <a:latin typeface="Times New Roman Bold" panose="02030802070405020303"/>
                </a:rPr>
                <a:t> that something will have happened: </a:t>
              </a:r>
            </a:p>
            <a:p>
              <a:pPr>
                <a:lnSpc>
                  <a:spcPts val="2660"/>
                </a:lnSpc>
              </a:pPr>
              <a:endParaRPr lang="en-US" sz="3133">
                <a:solidFill>
                  <a:srgbClr val="000000"/>
                </a:solidFill>
                <a:latin typeface="Times New Roman Bold" panose="02030802070405020303"/>
              </a:endParaRPr>
            </a:p>
            <a:p>
              <a:pPr algn="ctr">
                <a:lnSpc>
                  <a:spcPts val="5017"/>
                </a:lnSpc>
              </a:pPr>
              <a:endParaRPr lang="en-US" sz="3133">
                <a:solidFill>
                  <a:srgbClr val="000000"/>
                </a:solidFill>
                <a:latin typeface="Times New Roman Bold" panose="02030802070405020303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95779" y="4760291"/>
            <a:ext cx="10073931" cy="1411909"/>
            <a:chOff x="0" y="0"/>
            <a:chExt cx="2707702" cy="37949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07702" cy="379497"/>
            </a:xfrm>
            <a:custGeom>
              <a:avLst/>
              <a:gdLst/>
              <a:ahLst/>
              <a:cxnLst/>
              <a:rect l="l" t="t" r="r" b="b"/>
              <a:pathLst>
                <a:path w="2707702" h="379497">
                  <a:moveTo>
                    <a:pt x="10247" y="0"/>
                  </a:moveTo>
                  <a:lnTo>
                    <a:pt x="2697455" y="0"/>
                  </a:lnTo>
                  <a:cubicBezTo>
                    <a:pt x="2703114" y="0"/>
                    <a:pt x="2707702" y="4588"/>
                    <a:pt x="2707702" y="10247"/>
                  </a:cubicBezTo>
                  <a:lnTo>
                    <a:pt x="2707702" y="369251"/>
                  </a:lnTo>
                  <a:cubicBezTo>
                    <a:pt x="2707702" y="374910"/>
                    <a:pt x="2703114" y="379497"/>
                    <a:pt x="2697455" y="379497"/>
                  </a:cubicBezTo>
                  <a:lnTo>
                    <a:pt x="10247" y="379497"/>
                  </a:lnTo>
                  <a:cubicBezTo>
                    <a:pt x="4588" y="379497"/>
                    <a:pt x="0" y="374910"/>
                    <a:pt x="0" y="369251"/>
                  </a:cubicBezTo>
                  <a:lnTo>
                    <a:pt x="0" y="10247"/>
                  </a:lnTo>
                  <a:cubicBezTo>
                    <a:pt x="0" y="4588"/>
                    <a:pt x="4588" y="0"/>
                    <a:pt x="1024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2707702" cy="4080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lvl="1"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Garet Bold"/>
                </a:rPr>
                <a:t>e.g. By next Friday I may/might have completed the report.</a:t>
              </a:r>
            </a:p>
          </p:txBody>
        </p:sp>
      </p:grpSp>
      <p:sp>
        <p:nvSpPr>
          <p:cNvPr id="19" name="Freeform 19"/>
          <p:cNvSpPr/>
          <p:nvPr/>
        </p:nvSpPr>
        <p:spPr>
          <a:xfrm rot="-1856826">
            <a:off x="9211498" y="563697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663569">
            <a:off x="10437139" y="-70485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5402871"/>
            <a:ext cx="12376149" cy="4141916"/>
            <a:chOff x="0" y="0"/>
            <a:chExt cx="24752298" cy="82838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1667257">
            <a:off x="1657648" y="569323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4741321">
            <a:off x="-1398966" y="4693846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901624">
            <a:off x="9995274" y="5511134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E353624-A2CE-C1A9-76AE-B2EB91CC2E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37"/>
          <a:stretch/>
        </p:blipFill>
        <p:spPr bwMode="auto">
          <a:xfrm>
            <a:off x="-145" y="0"/>
            <a:ext cx="12192000" cy="684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5402871"/>
            <a:ext cx="12376149" cy="4141916"/>
            <a:chOff x="0" y="0"/>
            <a:chExt cx="24752298" cy="82838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1667257">
            <a:off x="1657648" y="569323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4741321">
            <a:off x="-1398966" y="4693846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901624">
            <a:off x="9995274" y="5511134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948538-BD93-0F81-AB30-6F23178D3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0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259420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651933">
            <a:off x="-1348005" y="3363335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954584">
            <a:off x="4181822" y="6258073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428354">
            <a:off x="-1274965" y="8590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856826">
            <a:off x="9211498" y="563697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63569">
            <a:off x="10437139" y="-70485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85F78E-F02E-4A40-E0DA-2F7273C57D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90" b="7870"/>
          <a:stretch/>
        </p:blipFill>
        <p:spPr bwMode="auto">
          <a:xfrm>
            <a:off x="711055" y="1472244"/>
            <a:ext cx="10769600" cy="492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C0BE6367-E7A6-B4E7-344D-8183947F55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1" r="26886" b="84116"/>
          <a:stretch/>
        </p:blipFill>
        <p:spPr bwMode="auto">
          <a:xfrm>
            <a:off x="711055" y="497222"/>
            <a:ext cx="10769600" cy="9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53545" y="3537573"/>
            <a:ext cx="4141916" cy="4141916"/>
          </a:xfrm>
          <a:custGeom>
            <a:avLst/>
            <a:gdLst/>
            <a:ahLst/>
            <a:cxnLst/>
            <a:rect l="l" t="t" r="r" b="b"/>
            <a:pathLst>
              <a:path w="6212874" h="6212874">
                <a:moveTo>
                  <a:pt x="0" y="0"/>
                </a:moveTo>
                <a:lnTo>
                  <a:pt x="6212874" y="0"/>
                </a:lnTo>
                <a:lnTo>
                  <a:pt x="6212874" y="6212874"/>
                </a:lnTo>
                <a:lnTo>
                  <a:pt x="0" y="621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70455" y="-406035"/>
            <a:ext cx="4141916" cy="4141916"/>
          </a:xfrm>
          <a:custGeom>
            <a:avLst/>
            <a:gdLst/>
            <a:ahLst/>
            <a:cxnLst/>
            <a:rect l="l" t="t" r="r" b="b"/>
            <a:pathLst>
              <a:path w="6212874" h="6212874">
                <a:moveTo>
                  <a:pt x="0" y="0"/>
                </a:moveTo>
                <a:lnTo>
                  <a:pt x="6212874" y="0"/>
                </a:lnTo>
                <a:lnTo>
                  <a:pt x="6212874" y="6212874"/>
                </a:lnTo>
                <a:lnTo>
                  <a:pt x="0" y="621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679185" y="-921369"/>
            <a:ext cx="9652609" cy="7483641"/>
            <a:chOff x="0" y="0"/>
            <a:chExt cx="2594458" cy="20114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18216" y="204757"/>
            <a:ext cx="7352239" cy="962087"/>
            <a:chOff x="0" y="0"/>
            <a:chExt cx="1899885" cy="2486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99885" cy="248612"/>
            </a:xfrm>
            <a:custGeom>
              <a:avLst/>
              <a:gdLst/>
              <a:ahLst/>
              <a:cxnLst/>
              <a:rect l="l" t="t" r="r" b="b"/>
              <a:pathLst>
                <a:path w="1899885" h="248612">
                  <a:moveTo>
                    <a:pt x="14040" y="0"/>
                  </a:moveTo>
                  <a:lnTo>
                    <a:pt x="1885845" y="0"/>
                  </a:lnTo>
                  <a:cubicBezTo>
                    <a:pt x="1893599" y="0"/>
                    <a:pt x="1899885" y="6286"/>
                    <a:pt x="1899885" y="14040"/>
                  </a:cubicBezTo>
                  <a:lnTo>
                    <a:pt x="1899885" y="234572"/>
                  </a:lnTo>
                  <a:cubicBezTo>
                    <a:pt x="1899885" y="238295"/>
                    <a:pt x="1898406" y="241867"/>
                    <a:pt x="1895773" y="244500"/>
                  </a:cubicBezTo>
                  <a:cubicBezTo>
                    <a:pt x="1893139" y="247133"/>
                    <a:pt x="1889568" y="248612"/>
                    <a:pt x="1885845" y="248612"/>
                  </a:cubicBezTo>
                  <a:lnTo>
                    <a:pt x="14040" y="248612"/>
                  </a:lnTo>
                  <a:cubicBezTo>
                    <a:pt x="10316" y="248612"/>
                    <a:pt x="6745" y="247133"/>
                    <a:pt x="4112" y="244500"/>
                  </a:cubicBezTo>
                  <a:cubicBezTo>
                    <a:pt x="1479" y="241867"/>
                    <a:pt x="0" y="238295"/>
                    <a:pt x="0" y="234572"/>
                  </a:cubicBezTo>
                  <a:lnTo>
                    <a:pt x="0" y="14040"/>
                  </a:lnTo>
                  <a:cubicBezTo>
                    <a:pt x="0" y="10316"/>
                    <a:pt x="1479" y="6745"/>
                    <a:pt x="4112" y="4112"/>
                  </a:cubicBezTo>
                  <a:cubicBezTo>
                    <a:pt x="6745" y="1479"/>
                    <a:pt x="10316" y="0"/>
                    <a:pt x="14040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899885" cy="267662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Need(n’t), don’t have to and mustn’t.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66562" y="1582379"/>
            <a:ext cx="9538914" cy="1796627"/>
            <a:chOff x="0" y="0"/>
            <a:chExt cx="2464941" cy="4642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64941" cy="464265"/>
            </a:xfrm>
            <a:custGeom>
              <a:avLst/>
              <a:gdLst/>
              <a:ahLst/>
              <a:cxnLst/>
              <a:rect l="l" t="t" r="r" b="b"/>
              <a:pathLst>
                <a:path w="2464941" h="464265">
                  <a:moveTo>
                    <a:pt x="10822" y="0"/>
                  </a:moveTo>
                  <a:lnTo>
                    <a:pt x="2454120" y="0"/>
                  </a:lnTo>
                  <a:cubicBezTo>
                    <a:pt x="2456990" y="0"/>
                    <a:pt x="2459742" y="1140"/>
                    <a:pt x="2461771" y="3170"/>
                  </a:cubicBezTo>
                  <a:cubicBezTo>
                    <a:pt x="2463801" y="5199"/>
                    <a:pt x="2464941" y="7951"/>
                    <a:pt x="2464941" y="10822"/>
                  </a:cubicBezTo>
                  <a:lnTo>
                    <a:pt x="2464941" y="453443"/>
                  </a:lnTo>
                  <a:cubicBezTo>
                    <a:pt x="2464941" y="456313"/>
                    <a:pt x="2463801" y="459066"/>
                    <a:pt x="2461771" y="461095"/>
                  </a:cubicBezTo>
                  <a:cubicBezTo>
                    <a:pt x="2459742" y="463125"/>
                    <a:pt x="2456990" y="464265"/>
                    <a:pt x="2454120" y="464265"/>
                  </a:cubicBezTo>
                  <a:lnTo>
                    <a:pt x="10822" y="464265"/>
                  </a:lnTo>
                  <a:cubicBezTo>
                    <a:pt x="7951" y="464265"/>
                    <a:pt x="5199" y="463125"/>
                    <a:pt x="3170" y="461095"/>
                  </a:cubicBezTo>
                  <a:cubicBezTo>
                    <a:pt x="1140" y="459066"/>
                    <a:pt x="0" y="456313"/>
                    <a:pt x="0" y="453443"/>
                  </a:cubicBezTo>
                  <a:lnTo>
                    <a:pt x="0" y="10822"/>
                  </a:lnTo>
                  <a:cubicBezTo>
                    <a:pt x="0" y="7951"/>
                    <a:pt x="1140" y="5199"/>
                    <a:pt x="3170" y="3170"/>
                  </a:cubicBezTo>
                  <a:cubicBezTo>
                    <a:pt x="5199" y="1140"/>
                    <a:pt x="7951" y="0"/>
                    <a:pt x="10822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464941" cy="48331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We use mustn't to say that something is NOT ALLOWED and needn't (or don't need to) or don't  have to to say that something is NOT NECESSARY: 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66562" y="3735882"/>
            <a:ext cx="9538914" cy="1447377"/>
            <a:chOff x="0" y="0"/>
            <a:chExt cx="2464941" cy="3740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64941" cy="374015"/>
            </a:xfrm>
            <a:custGeom>
              <a:avLst/>
              <a:gdLst/>
              <a:ahLst/>
              <a:cxnLst/>
              <a:rect l="l" t="t" r="r" b="b"/>
              <a:pathLst>
                <a:path w="2464941" h="374015">
                  <a:moveTo>
                    <a:pt x="10822" y="0"/>
                  </a:moveTo>
                  <a:lnTo>
                    <a:pt x="2454120" y="0"/>
                  </a:lnTo>
                  <a:cubicBezTo>
                    <a:pt x="2456990" y="0"/>
                    <a:pt x="2459742" y="1140"/>
                    <a:pt x="2461771" y="3170"/>
                  </a:cubicBezTo>
                  <a:cubicBezTo>
                    <a:pt x="2463801" y="5199"/>
                    <a:pt x="2464941" y="7951"/>
                    <a:pt x="2464941" y="10822"/>
                  </a:cubicBezTo>
                  <a:lnTo>
                    <a:pt x="2464941" y="363194"/>
                  </a:lnTo>
                  <a:cubicBezTo>
                    <a:pt x="2464941" y="366064"/>
                    <a:pt x="2463801" y="368816"/>
                    <a:pt x="2461771" y="370846"/>
                  </a:cubicBezTo>
                  <a:cubicBezTo>
                    <a:pt x="2459742" y="372875"/>
                    <a:pt x="2456990" y="374015"/>
                    <a:pt x="2454120" y="374015"/>
                  </a:cubicBezTo>
                  <a:lnTo>
                    <a:pt x="10822" y="374015"/>
                  </a:lnTo>
                  <a:cubicBezTo>
                    <a:pt x="7951" y="374015"/>
                    <a:pt x="5199" y="372875"/>
                    <a:pt x="3170" y="370846"/>
                  </a:cubicBezTo>
                  <a:cubicBezTo>
                    <a:pt x="1140" y="368816"/>
                    <a:pt x="0" y="366064"/>
                    <a:pt x="0" y="363194"/>
                  </a:cubicBezTo>
                  <a:lnTo>
                    <a:pt x="0" y="10822"/>
                  </a:lnTo>
                  <a:cubicBezTo>
                    <a:pt x="0" y="7951"/>
                    <a:pt x="1140" y="5199"/>
                    <a:pt x="3170" y="3170"/>
                  </a:cubicBezTo>
                  <a:cubicBezTo>
                    <a:pt x="5199" y="1140"/>
                    <a:pt x="7951" y="0"/>
                    <a:pt x="10822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464941" cy="39306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e.g.  We needn't go into details now, but we seem to agree on the general principles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7725357" y="2875917"/>
            <a:ext cx="5252579" cy="3686355"/>
          </a:xfrm>
          <a:custGeom>
            <a:avLst/>
            <a:gdLst/>
            <a:ahLst/>
            <a:cxnLst/>
            <a:rect l="l" t="t" r="r" b="b"/>
            <a:pathLst>
              <a:path w="7878868" h="5529533">
                <a:moveTo>
                  <a:pt x="0" y="0"/>
                </a:moveTo>
                <a:lnTo>
                  <a:pt x="7878868" y="0"/>
                </a:lnTo>
                <a:lnTo>
                  <a:pt x="7878868" y="5529534"/>
                </a:lnTo>
                <a:lnTo>
                  <a:pt x="0" y="552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5402871"/>
            <a:ext cx="12376149" cy="4141916"/>
            <a:chOff x="0" y="0"/>
            <a:chExt cx="24752298" cy="82838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65877" y="607705"/>
            <a:ext cx="9668119" cy="1438557"/>
            <a:chOff x="0" y="0"/>
            <a:chExt cx="2598627" cy="3866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98627" cy="386660"/>
            </a:xfrm>
            <a:custGeom>
              <a:avLst/>
              <a:gdLst/>
              <a:ahLst/>
              <a:cxnLst/>
              <a:rect l="l" t="t" r="r" b="b"/>
              <a:pathLst>
                <a:path w="2598627" h="386660">
                  <a:moveTo>
                    <a:pt x="10677" y="0"/>
                  </a:moveTo>
                  <a:lnTo>
                    <a:pt x="2587950" y="0"/>
                  </a:lnTo>
                  <a:cubicBezTo>
                    <a:pt x="2593847" y="0"/>
                    <a:pt x="2598627" y="4780"/>
                    <a:pt x="2598627" y="10677"/>
                  </a:cubicBezTo>
                  <a:lnTo>
                    <a:pt x="2598627" y="375983"/>
                  </a:lnTo>
                  <a:cubicBezTo>
                    <a:pt x="2598627" y="381880"/>
                    <a:pt x="2593847" y="386660"/>
                    <a:pt x="2587950" y="386660"/>
                  </a:cubicBezTo>
                  <a:lnTo>
                    <a:pt x="10677" y="386660"/>
                  </a:lnTo>
                  <a:cubicBezTo>
                    <a:pt x="4780" y="386660"/>
                    <a:pt x="0" y="381880"/>
                    <a:pt x="0" y="375983"/>
                  </a:cubicBezTo>
                  <a:lnTo>
                    <a:pt x="0" y="10677"/>
                  </a:lnTo>
                  <a:cubicBezTo>
                    <a:pt x="0" y="4780"/>
                    <a:pt x="4780" y="0"/>
                    <a:pt x="1067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598627" cy="44381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lvl="1" algn="ctr">
                <a:lnSpc>
                  <a:spcPts val="6240"/>
                </a:lnSpc>
                <a:spcBef>
                  <a:spcPct val="0"/>
                </a:spcBef>
              </a:pPr>
              <a:r>
                <a:rPr lang="en-US" sz="4800">
                  <a:solidFill>
                    <a:srgbClr val="000000"/>
                  </a:solidFill>
                  <a:latin typeface="Garet Bold"/>
                </a:rPr>
                <a:t>Permission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11504" y="2433611"/>
            <a:ext cx="10655473" cy="2969260"/>
            <a:chOff x="0" y="0"/>
            <a:chExt cx="2864011" cy="7980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64011" cy="798087"/>
            </a:xfrm>
            <a:custGeom>
              <a:avLst/>
              <a:gdLst/>
              <a:ahLst/>
              <a:cxnLst/>
              <a:rect l="l" t="t" r="r" b="b"/>
              <a:pathLst>
                <a:path w="2864011" h="798087">
                  <a:moveTo>
                    <a:pt x="9688" y="0"/>
                  </a:moveTo>
                  <a:lnTo>
                    <a:pt x="2854323" y="0"/>
                  </a:lnTo>
                  <a:cubicBezTo>
                    <a:pt x="2856892" y="0"/>
                    <a:pt x="2859356" y="1021"/>
                    <a:pt x="2861173" y="2837"/>
                  </a:cubicBezTo>
                  <a:cubicBezTo>
                    <a:pt x="2862990" y="4654"/>
                    <a:pt x="2864011" y="7118"/>
                    <a:pt x="2864011" y="9688"/>
                  </a:cubicBezTo>
                  <a:lnTo>
                    <a:pt x="2864011" y="788399"/>
                  </a:lnTo>
                  <a:cubicBezTo>
                    <a:pt x="2864011" y="793750"/>
                    <a:pt x="2859673" y="798087"/>
                    <a:pt x="2854323" y="798087"/>
                  </a:cubicBezTo>
                  <a:lnTo>
                    <a:pt x="9688" y="798087"/>
                  </a:lnTo>
                  <a:cubicBezTo>
                    <a:pt x="4337" y="798087"/>
                    <a:pt x="0" y="793750"/>
                    <a:pt x="0" y="788399"/>
                  </a:cubicBezTo>
                  <a:lnTo>
                    <a:pt x="0" y="9688"/>
                  </a:lnTo>
                  <a:cubicBezTo>
                    <a:pt x="0" y="4337"/>
                    <a:pt x="4337" y="0"/>
                    <a:pt x="9688" y="0"/>
                  </a:cubicBezTo>
                  <a:close/>
                </a:path>
              </a:pathLst>
            </a:custGeom>
            <a:solidFill>
              <a:srgbClr val="9FDFF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864011" cy="84571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604550" lvl="1" indent="-302275" algn="ctr">
                <a:lnSpc>
                  <a:spcPts val="3640"/>
                </a:lnSpc>
                <a:buFont typeface="Arial" panose="020B0604020202020204"/>
                <a:buChar char="•"/>
              </a:pPr>
              <a:r>
                <a:rPr lang="en-US" sz="2800">
                  <a:solidFill>
                    <a:srgbClr val="000000"/>
                  </a:solidFill>
                  <a:latin typeface="Garet"/>
                </a:rPr>
                <a:t>To ask permission to do something: We use can/could</a:t>
              </a:r>
            </a:p>
            <a:p>
              <a:pPr marL="604550" lvl="1" indent="-302275" algn="ctr">
                <a:lnSpc>
                  <a:spcPts val="3640"/>
                </a:lnSpc>
                <a:buFont typeface="Arial" panose="020B0604020202020204"/>
                <a:buChar char="•"/>
              </a:pPr>
              <a:r>
                <a:rPr lang="en-US" sz="2800">
                  <a:solidFill>
                    <a:srgbClr val="000000"/>
                  </a:solidFill>
                  <a:latin typeface="Garet"/>
                </a:rPr>
                <a:t>To give and refuse permission, we use can/can’t</a:t>
              </a:r>
            </a:p>
            <a:p>
              <a:pPr algn="ctr">
                <a:lnSpc>
                  <a:spcPts val="3640"/>
                </a:lnSpc>
              </a:pPr>
              <a:endParaRPr lang="en-US" sz="2800">
                <a:solidFill>
                  <a:srgbClr val="000000"/>
                </a:solidFill>
                <a:latin typeface="Garet"/>
              </a:endParaRPr>
            </a:p>
            <a:p>
              <a:pPr algn="ctr">
                <a:lnSpc>
                  <a:spcPts val="3640"/>
                </a:lnSpc>
              </a:pPr>
              <a:r>
                <a:rPr lang="en-US" sz="2800">
                  <a:solidFill>
                    <a:srgbClr val="000000"/>
                  </a:solidFill>
                  <a:latin typeface="Garet"/>
                </a:rPr>
                <a:t>Can is used for Present/future; Could is used for Past</a:t>
              </a:r>
            </a:p>
            <a:p>
              <a:pPr algn="ctr">
                <a:lnSpc>
                  <a:spcPts val="3640"/>
                </a:lnSpc>
              </a:pPr>
              <a:endParaRPr lang="en-US" sz="2800">
                <a:solidFill>
                  <a:srgbClr val="000000"/>
                </a:solidFill>
                <a:latin typeface="Garet"/>
              </a:endParaRPr>
            </a:p>
            <a:p>
              <a:pPr marL="0" lvl="1"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Garet"/>
                </a:rPr>
                <a:t>Fo</a:t>
              </a:r>
            </a:p>
          </p:txBody>
        </p:sp>
      </p:grpSp>
      <p:sp>
        <p:nvSpPr>
          <p:cNvPr id="12" name="Freeform 12"/>
          <p:cNvSpPr/>
          <p:nvPr/>
        </p:nvSpPr>
        <p:spPr>
          <a:xfrm rot="-1667257">
            <a:off x="6745028" y="569323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4741321">
            <a:off x="-1398966" y="4693846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2175487">
            <a:off x="9687800" y="54864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355525" y="56246"/>
            <a:ext cx="9652609" cy="7483641"/>
            <a:chOff x="0" y="0"/>
            <a:chExt cx="2594458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9483179" y="2584288"/>
            <a:ext cx="2455209" cy="4129556"/>
          </a:xfrm>
          <a:custGeom>
            <a:avLst/>
            <a:gdLst/>
            <a:ahLst/>
            <a:cxnLst/>
            <a:rect l="l" t="t" r="r" b="b"/>
            <a:pathLst>
              <a:path w="3682813" h="6194334">
                <a:moveTo>
                  <a:pt x="0" y="0"/>
                </a:moveTo>
                <a:lnTo>
                  <a:pt x="3682813" y="0"/>
                </a:lnTo>
                <a:lnTo>
                  <a:pt x="3682813" y="6194334"/>
                </a:lnTo>
                <a:lnTo>
                  <a:pt x="0" y="61943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685800" y="1045511"/>
            <a:ext cx="6324583" cy="1796627"/>
            <a:chOff x="0" y="0"/>
            <a:chExt cx="1634329" cy="4642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34329" cy="464265"/>
            </a:xfrm>
            <a:custGeom>
              <a:avLst/>
              <a:gdLst/>
              <a:ahLst/>
              <a:cxnLst/>
              <a:rect l="l" t="t" r="r" b="b"/>
              <a:pathLst>
                <a:path w="1634329" h="464265">
                  <a:moveTo>
                    <a:pt x="16321" y="0"/>
                  </a:moveTo>
                  <a:lnTo>
                    <a:pt x="1618008" y="0"/>
                  </a:lnTo>
                  <a:cubicBezTo>
                    <a:pt x="1627022" y="0"/>
                    <a:pt x="1634329" y="7307"/>
                    <a:pt x="1634329" y="16321"/>
                  </a:cubicBezTo>
                  <a:lnTo>
                    <a:pt x="1634329" y="447943"/>
                  </a:lnTo>
                  <a:cubicBezTo>
                    <a:pt x="1634329" y="452272"/>
                    <a:pt x="1632610" y="456423"/>
                    <a:pt x="1629549" y="459484"/>
                  </a:cubicBezTo>
                  <a:cubicBezTo>
                    <a:pt x="1626488" y="462545"/>
                    <a:pt x="1622336" y="464265"/>
                    <a:pt x="1618008" y="464265"/>
                  </a:cubicBezTo>
                  <a:lnTo>
                    <a:pt x="16321" y="464265"/>
                  </a:lnTo>
                  <a:cubicBezTo>
                    <a:pt x="11993" y="464265"/>
                    <a:pt x="7841" y="462545"/>
                    <a:pt x="4780" y="459484"/>
                  </a:cubicBezTo>
                  <a:cubicBezTo>
                    <a:pt x="1720" y="456423"/>
                    <a:pt x="0" y="452272"/>
                    <a:pt x="0" y="447943"/>
                  </a:cubicBezTo>
                  <a:lnTo>
                    <a:pt x="0" y="16321"/>
                  </a:lnTo>
                  <a:cubicBezTo>
                    <a:pt x="0" y="11993"/>
                    <a:pt x="1720" y="7841"/>
                    <a:pt x="4780" y="4780"/>
                  </a:cubicBezTo>
                  <a:cubicBezTo>
                    <a:pt x="7841" y="1720"/>
                    <a:pt x="11993" y="0"/>
                    <a:pt x="16321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634329" cy="48331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When we OFFER to do something, or offer by making a suggestion, we can use can or could: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800" y="3053305"/>
            <a:ext cx="6324583" cy="1447377"/>
            <a:chOff x="0" y="0"/>
            <a:chExt cx="1634329" cy="3740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4329" cy="374015"/>
            </a:xfrm>
            <a:custGeom>
              <a:avLst/>
              <a:gdLst/>
              <a:ahLst/>
              <a:cxnLst/>
              <a:rect l="l" t="t" r="r" b="b"/>
              <a:pathLst>
                <a:path w="1634329" h="374015">
                  <a:moveTo>
                    <a:pt x="16321" y="0"/>
                  </a:moveTo>
                  <a:lnTo>
                    <a:pt x="1618008" y="0"/>
                  </a:lnTo>
                  <a:cubicBezTo>
                    <a:pt x="1627022" y="0"/>
                    <a:pt x="1634329" y="7307"/>
                    <a:pt x="1634329" y="16321"/>
                  </a:cubicBezTo>
                  <a:lnTo>
                    <a:pt x="1634329" y="357694"/>
                  </a:lnTo>
                  <a:cubicBezTo>
                    <a:pt x="1634329" y="362023"/>
                    <a:pt x="1632610" y="366174"/>
                    <a:pt x="1629549" y="369235"/>
                  </a:cubicBezTo>
                  <a:cubicBezTo>
                    <a:pt x="1626488" y="372296"/>
                    <a:pt x="1622336" y="374015"/>
                    <a:pt x="1618008" y="374015"/>
                  </a:cubicBezTo>
                  <a:lnTo>
                    <a:pt x="16321" y="374015"/>
                  </a:lnTo>
                  <a:cubicBezTo>
                    <a:pt x="11993" y="374015"/>
                    <a:pt x="7841" y="372296"/>
                    <a:pt x="4780" y="369235"/>
                  </a:cubicBezTo>
                  <a:cubicBezTo>
                    <a:pt x="1720" y="366174"/>
                    <a:pt x="0" y="362023"/>
                    <a:pt x="0" y="357694"/>
                  </a:cubicBezTo>
                  <a:lnTo>
                    <a:pt x="0" y="16321"/>
                  </a:lnTo>
                  <a:cubicBezTo>
                    <a:pt x="0" y="11993"/>
                    <a:pt x="1720" y="7841"/>
                    <a:pt x="4780" y="4780"/>
                  </a:cubicBezTo>
                  <a:cubicBezTo>
                    <a:pt x="7841" y="1720"/>
                    <a:pt x="11993" y="0"/>
                    <a:pt x="16321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634329" cy="39306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We also use shall/should in questions that request confirmation or advice: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" y="4884858"/>
            <a:ext cx="6324583" cy="1447377"/>
            <a:chOff x="0" y="0"/>
            <a:chExt cx="1634329" cy="3740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34329" cy="374015"/>
            </a:xfrm>
            <a:custGeom>
              <a:avLst/>
              <a:gdLst/>
              <a:ahLst/>
              <a:cxnLst/>
              <a:rect l="l" t="t" r="r" b="b"/>
              <a:pathLst>
                <a:path w="1634329" h="374015">
                  <a:moveTo>
                    <a:pt x="16321" y="0"/>
                  </a:moveTo>
                  <a:lnTo>
                    <a:pt x="1618008" y="0"/>
                  </a:lnTo>
                  <a:cubicBezTo>
                    <a:pt x="1627022" y="0"/>
                    <a:pt x="1634329" y="7307"/>
                    <a:pt x="1634329" y="16321"/>
                  </a:cubicBezTo>
                  <a:lnTo>
                    <a:pt x="1634329" y="357694"/>
                  </a:lnTo>
                  <a:cubicBezTo>
                    <a:pt x="1634329" y="362023"/>
                    <a:pt x="1632610" y="366174"/>
                    <a:pt x="1629549" y="369235"/>
                  </a:cubicBezTo>
                  <a:cubicBezTo>
                    <a:pt x="1626488" y="372296"/>
                    <a:pt x="1622336" y="374015"/>
                    <a:pt x="1618008" y="374015"/>
                  </a:cubicBezTo>
                  <a:lnTo>
                    <a:pt x="16321" y="374015"/>
                  </a:lnTo>
                  <a:cubicBezTo>
                    <a:pt x="11993" y="374015"/>
                    <a:pt x="7841" y="372296"/>
                    <a:pt x="4780" y="369235"/>
                  </a:cubicBezTo>
                  <a:cubicBezTo>
                    <a:pt x="1720" y="366174"/>
                    <a:pt x="0" y="362023"/>
                    <a:pt x="0" y="357694"/>
                  </a:cubicBezTo>
                  <a:lnTo>
                    <a:pt x="0" y="16321"/>
                  </a:lnTo>
                  <a:cubicBezTo>
                    <a:pt x="0" y="11993"/>
                    <a:pt x="1720" y="7841"/>
                    <a:pt x="4780" y="4780"/>
                  </a:cubicBezTo>
                  <a:cubicBezTo>
                    <a:pt x="7841" y="1720"/>
                    <a:pt x="11993" y="0"/>
                    <a:pt x="16321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634329" cy="39306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We can use Would (you) like when we make an offer, but not 'Will...'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314276" y="380453"/>
            <a:ext cx="3554405" cy="659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74"/>
              </a:lnSpc>
            </a:pPr>
            <a:r>
              <a:rPr lang="en-US" sz="4134">
                <a:solidFill>
                  <a:srgbClr val="000000"/>
                </a:solidFill>
                <a:latin typeface="Garet Bold"/>
              </a:rPr>
              <a:t>Offers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9483179" y="2584288"/>
            <a:ext cx="2455209" cy="4129556"/>
          </a:xfrm>
          <a:custGeom>
            <a:avLst/>
            <a:gdLst/>
            <a:ahLst/>
            <a:cxnLst/>
            <a:rect l="l" t="t" r="r" b="b"/>
            <a:pathLst>
              <a:path w="3682813" h="6194334">
                <a:moveTo>
                  <a:pt x="0" y="0"/>
                </a:moveTo>
                <a:lnTo>
                  <a:pt x="3682813" y="0"/>
                </a:lnTo>
                <a:lnTo>
                  <a:pt x="3682813" y="6194334"/>
                </a:lnTo>
                <a:lnTo>
                  <a:pt x="0" y="6194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12B1409-16E2-C0FE-3197-51560C7E07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24" r="50000" b="7759"/>
          <a:stretch/>
        </p:blipFill>
        <p:spPr bwMode="auto">
          <a:xfrm>
            <a:off x="8128000" y="1709107"/>
            <a:ext cx="4064000" cy="492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5DED6012-C2C3-080E-D871-0B90C8CD54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88" b="7778"/>
          <a:stretch/>
        </p:blipFill>
        <p:spPr bwMode="auto">
          <a:xfrm>
            <a:off x="0" y="1709107"/>
            <a:ext cx="8229600" cy="492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D62FBA6-6614-F98B-F470-6F8499EAA7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0" r="20625" b="83333"/>
          <a:stretch/>
        </p:blipFill>
        <p:spPr bwMode="auto">
          <a:xfrm>
            <a:off x="0" y="431800"/>
            <a:ext cx="1219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DB39B47-987C-E118-6613-E6716EA607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5" t="16667" r="15625" b="72222"/>
          <a:stretch/>
        </p:blipFill>
        <p:spPr bwMode="auto">
          <a:xfrm>
            <a:off x="-1" y="1193800"/>
            <a:ext cx="6364513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AEEF897B-102E-4739-5FE4-9623E33201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t="16667" r="34375" b="72222"/>
          <a:stretch/>
        </p:blipFill>
        <p:spPr bwMode="auto">
          <a:xfrm>
            <a:off x="6364514" y="1185114"/>
            <a:ext cx="3297162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32623584-7973-4A36-7F43-411C7F45C7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9" t="16667" r="53751" b="71809"/>
          <a:stretch/>
        </p:blipFill>
        <p:spPr bwMode="auto">
          <a:xfrm>
            <a:off x="9652001" y="1169121"/>
            <a:ext cx="2539999" cy="52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8067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CBFDE5-61DA-9ECD-3DB9-D98AAB0BE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1" y="0"/>
            <a:ext cx="113070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210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B386B0-33D0-4931-E79B-F02328F0A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87" y="0"/>
            <a:ext cx="11395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87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DAE2B-F0A3-86E6-2C82-70004F40D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5" y="0"/>
            <a:ext cx="111694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64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150936" y="1986510"/>
            <a:ext cx="9890129" cy="3227557"/>
            <a:chOff x="0" y="0"/>
            <a:chExt cx="2658299" cy="8675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58299" cy="867513"/>
            </a:xfrm>
            <a:custGeom>
              <a:avLst/>
              <a:gdLst/>
              <a:ahLst/>
              <a:cxnLst/>
              <a:rect l="l" t="t" r="r" b="b"/>
              <a:pathLst>
                <a:path w="2658299" h="867513">
                  <a:moveTo>
                    <a:pt x="10437" y="0"/>
                  </a:moveTo>
                  <a:lnTo>
                    <a:pt x="2647862" y="0"/>
                  </a:lnTo>
                  <a:cubicBezTo>
                    <a:pt x="2650630" y="0"/>
                    <a:pt x="2653285" y="1100"/>
                    <a:pt x="2655242" y="3057"/>
                  </a:cubicBezTo>
                  <a:cubicBezTo>
                    <a:pt x="2657200" y="5014"/>
                    <a:pt x="2658299" y="7669"/>
                    <a:pt x="2658299" y="10437"/>
                  </a:cubicBezTo>
                  <a:lnTo>
                    <a:pt x="2658299" y="857075"/>
                  </a:lnTo>
                  <a:cubicBezTo>
                    <a:pt x="2658299" y="862840"/>
                    <a:pt x="2653626" y="867513"/>
                    <a:pt x="2647862" y="867513"/>
                  </a:cubicBezTo>
                  <a:lnTo>
                    <a:pt x="10437" y="867513"/>
                  </a:lnTo>
                  <a:cubicBezTo>
                    <a:pt x="7669" y="867513"/>
                    <a:pt x="5014" y="866413"/>
                    <a:pt x="3057" y="864456"/>
                  </a:cubicBezTo>
                  <a:cubicBezTo>
                    <a:pt x="1100" y="862498"/>
                    <a:pt x="0" y="859844"/>
                    <a:pt x="0" y="857075"/>
                  </a:cubicBezTo>
                  <a:lnTo>
                    <a:pt x="0" y="10437"/>
                  </a:lnTo>
                  <a:cubicBezTo>
                    <a:pt x="0" y="7669"/>
                    <a:pt x="1100" y="5014"/>
                    <a:pt x="3057" y="3057"/>
                  </a:cubicBezTo>
                  <a:cubicBezTo>
                    <a:pt x="5014" y="1100"/>
                    <a:pt x="7669" y="0"/>
                    <a:pt x="1043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238125"/>
              <a:ext cx="2658299" cy="62938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7787"/>
                </a:lnSpc>
              </a:pPr>
              <a:r>
                <a:rPr lang="en-US" sz="7867">
                  <a:solidFill>
                    <a:srgbClr val="000000"/>
                  </a:solidFill>
                  <a:latin typeface="Garet Bold"/>
                </a:rPr>
                <a:t>Thank you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54654" y="313849"/>
            <a:ext cx="1296687" cy="1676400"/>
            <a:chOff x="0" y="0"/>
            <a:chExt cx="348527" cy="4505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8527" cy="450588"/>
            </a:xfrm>
            <a:custGeom>
              <a:avLst/>
              <a:gdLst/>
              <a:ahLst/>
              <a:cxnLst/>
              <a:rect l="l" t="t" r="r" b="b"/>
              <a:pathLst>
                <a:path w="348527" h="450588">
                  <a:moveTo>
                    <a:pt x="79607" y="0"/>
                  </a:moveTo>
                  <a:lnTo>
                    <a:pt x="268920" y="0"/>
                  </a:lnTo>
                  <a:cubicBezTo>
                    <a:pt x="312886" y="0"/>
                    <a:pt x="348527" y="35641"/>
                    <a:pt x="348527" y="79607"/>
                  </a:cubicBezTo>
                  <a:lnTo>
                    <a:pt x="348527" y="370981"/>
                  </a:lnTo>
                  <a:cubicBezTo>
                    <a:pt x="348527" y="414947"/>
                    <a:pt x="312886" y="450588"/>
                    <a:pt x="268920" y="450588"/>
                  </a:cubicBezTo>
                  <a:lnTo>
                    <a:pt x="79607" y="450588"/>
                  </a:lnTo>
                  <a:cubicBezTo>
                    <a:pt x="35641" y="450588"/>
                    <a:pt x="0" y="414947"/>
                    <a:pt x="0" y="370981"/>
                  </a:cubicBezTo>
                  <a:lnTo>
                    <a:pt x="0" y="79607"/>
                  </a:lnTo>
                  <a:cubicBezTo>
                    <a:pt x="0" y="35641"/>
                    <a:pt x="35641" y="0"/>
                    <a:pt x="79607" y="0"/>
                  </a:cubicBezTo>
                  <a:close/>
                </a:path>
              </a:pathLst>
            </a:custGeom>
            <a:solidFill>
              <a:srgbClr val="FFE9E4"/>
            </a:solidFill>
            <a:ln w="38100" cap="sq">
              <a:solidFill>
                <a:srgbClr val="F8CAB9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348527" cy="53631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392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5" name="Freeform 15"/>
          <p:cNvSpPr/>
          <p:nvPr/>
        </p:nvSpPr>
        <p:spPr>
          <a:xfrm rot="-438185">
            <a:off x="9997622" y="-395801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1373948" y="364077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856826">
            <a:off x="5350660" y="5658941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882</Words>
  <Application>Microsoft Office PowerPoint</Application>
  <PresentationFormat>Widescreen</PresentationFormat>
  <Paragraphs>92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Arial</vt:lpstr>
      <vt:lpstr>Calibri</vt:lpstr>
      <vt:lpstr>Calibri Light</vt:lpstr>
      <vt:lpstr>Garet</vt:lpstr>
      <vt:lpstr>Garet Bold</vt:lpstr>
      <vt:lpstr>Garet Heavy</vt:lpstr>
      <vt:lpstr>Garet Italics</vt:lpstr>
      <vt:lpstr>Garet Ultra-Bold</vt:lpstr>
      <vt:lpstr>Times New Roman</vt:lpstr>
      <vt:lpstr>Times New Roman Bold</vt:lpstr>
      <vt:lpstr>Times New Roman Italics</vt:lpstr>
      <vt:lpstr>Times New Roman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Macro Office</dc:creator>
  <cp:lastModifiedBy>Iti Bhardwaj</cp:lastModifiedBy>
  <cp:revision>1</cp:revision>
  <dcterms:created xsi:type="dcterms:W3CDTF">2023-12-19T06:05:11Z</dcterms:created>
  <dcterms:modified xsi:type="dcterms:W3CDTF">2024-02-19T08:09:46Z</dcterms:modified>
</cp:coreProperties>
</file>