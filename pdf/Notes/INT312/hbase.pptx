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6" r:id="rId11"/>
    <p:sldId id="267" r:id="rId12"/>
    <p:sldId id="264" r:id="rId13"/>
    <p:sldId id="268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6" name="Shape 1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1524000" y="3429000"/>
            <a:ext cx="10363200" cy="1066800"/>
          </a:xfrm>
          <a:prstGeom prst="rect">
            <a:avLst/>
          </a:prstGeom>
          <a:solidFill>
            <a:srgbClr val="FFFFFF"/>
          </a:solidFill>
          <a:ln w="19050" cap="sq">
            <a:solidFill>
              <a:srgbClr val="000000"/>
            </a:solidFill>
            <a:bevel/>
          </a:ln>
        </p:spPr>
        <p:txBody>
          <a:bodyPr/>
          <a:lstStyle>
            <a:lvl1pPr algn="r"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1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University Institute of Engineering (UI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33" name="Line"/>
          <p:cNvSpPr/>
          <p:nvPr/>
        </p:nvSpPr>
        <p:spPr>
          <a:xfrm>
            <a:off x="-3" y="6400800"/>
            <a:ext cx="12192006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34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Department of Computer and Communication Engineering (CCE)"/>
          <p:cNvSpPr/>
          <p:nvPr/>
        </p:nvSpPr>
        <p:spPr>
          <a:xfrm>
            <a:off x="3791392" y="87311"/>
            <a:ext cx="6134479" cy="383885"/>
          </a:xfrm>
          <a:prstGeom prst="rect">
            <a:avLst/>
          </a:prstGeom>
          <a:ln w="50800">
            <a:solidFill>
              <a:srgbClr val="C00000"/>
            </a:solidFill>
            <a:miter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Department of Computer and Communication Engineering (CCE)</a:t>
            </a:r>
          </a:p>
        </p:txBody>
      </p:sp>
      <p:sp>
        <p:nvSpPr>
          <p:cNvPr id="36" name="Body Level One…"/>
          <p:cNvSpPr txBox="1">
            <a:spLocks noGrp="1"/>
          </p:cNvSpPr>
          <p:nvPr>
            <p:ph type="body" idx="1"/>
          </p:nvPr>
        </p:nvSpPr>
        <p:spPr>
          <a:xfrm>
            <a:off x="1016000" y="1447800"/>
            <a:ext cx="10972800" cy="4800600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 marL="771525" indent="-314325">
              <a:defRPr sz="2200"/>
            </a:lvl2pPr>
            <a:lvl3pPr marL="1193800" indent="-279400">
              <a:defRPr sz="2200"/>
            </a:lvl3pPr>
            <a:lvl4pPr marL="1651000" indent="-279400">
              <a:defRPr sz="2200"/>
            </a:lvl4pPr>
            <a:lvl5pPr marL="2108200" indent="-279400">
              <a:defRPr sz="2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Rectangle"/>
          <p:cNvSpPr>
            <a:spLocks noGrp="1"/>
          </p:cNvSpPr>
          <p:nvPr>
            <p:ph type="body" sz="quarter" idx="21"/>
          </p:nvPr>
        </p:nvSpPr>
        <p:spPr>
          <a:xfrm>
            <a:off x="1422400" y="609600"/>
            <a:ext cx="10566400" cy="685800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/>
          <a:p>
            <a:endParaRPr/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Image"/>
          <p:cNvSpPr>
            <a:spLocks noGrp="1"/>
          </p:cNvSpPr>
          <p:nvPr>
            <p:ph type="pic" idx="21"/>
          </p:nvPr>
        </p:nvSpPr>
        <p:spPr>
          <a:xfrm>
            <a:off x="3860800" y="1371600"/>
            <a:ext cx="8026400" cy="4724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4800" y="1371600"/>
            <a:ext cx="3454400" cy="4724400"/>
          </a:xfrm>
          <a:prstGeom prst="rect">
            <a:avLst/>
          </a:prstGeom>
        </p:spPr>
        <p:txBody>
          <a:bodyPr/>
          <a:lstStyle>
            <a:lvl1pPr marL="137160" indent="-137160">
              <a:spcBef>
                <a:spcPts val="400"/>
              </a:spcBef>
              <a:defRPr sz="2000"/>
            </a:lvl1pPr>
            <a:lvl2pPr marL="340358" indent="-203198">
              <a:spcBef>
                <a:spcPts val="400"/>
              </a:spcBef>
              <a:buChar char="▪"/>
              <a:defRPr sz="2000"/>
            </a:lvl2pPr>
            <a:lvl3pPr marL="523238" indent="-203198">
              <a:spcBef>
                <a:spcPts val="400"/>
              </a:spcBef>
              <a:defRPr sz="2000"/>
            </a:lvl3pPr>
            <a:lvl4pPr marL="1600199" indent="-228599">
              <a:spcBef>
                <a:spcPts val="400"/>
              </a:spcBef>
              <a:defRPr sz="2000"/>
            </a:lvl4pPr>
            <a:lvl5pPr marL="2057399" indent="-228599">
              <a:spcBef>
                <a:spcPts val="400"/>
              </a:spcBef>
              <a:defRPr sz="2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1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University Institute of Engineering (UI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55" name="Line"/>
          <p:cNvSpPr/>
          <p:nvPr/>
        </p:nvSpPr>
        <p:spPr>
          <a:xfrm>
            <a:off x="-3" y="6400800"/>
            <a:ext cx="12192006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56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Department of Computer and Communicationq Engineering (CCE)"/>
          <p:cNvSpPr/>
          <p:nvPr/>
        </p:nvSpPr>
        <p:spPr>
          <a:xfrm>
            <a:off x="4013198" y="-3"/>
            <a:ext cx="5968647" cy="310488"/>
          </a:xfrm>
          <a:prstGeom prst="rect">
            <a:avLst/>
          </a:prstGeom>
          <a:solidFill>
            <a:srgbClr val="63252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700" b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Department of Computer and Communicationq Engineering (CCE)</a:t>
            </a:r>
          </a:p>
        </p:txBody>
      </p:sp>
      <p:sp>
        <p:nvSpPr>
          <p:cNvPr id="58" name="Body Level One…"/>
          <p:cNvSpPr txBox="1">
            <a:spLocks noGrp="1"/>
          </p:cNvSpPr>
          <p:nvPr>
            <p:ph type="body" idx="1"/>
          </p:nvPr>
        </p:nvSpPr>
        <p:spPr>
          <a:xfrm>
            <a:off x="812800" y="1524000"/>
            <a:ext cx="11074400" cy="48768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Rectangle"/>
          <p:cNvSpPr>
            <a:spLocks noGrp="1"/>
          </p:cNvSpPr>
          <p:nvPr>
            <p:ph type="body" sz="quarter" idx="21"/>
          </p:nvPr>
        </p:nvSpPr>
        <p:spPr>
          <a:xfrm>
            <a:off x="1422400" y="533400"/>
            <a:ext cx="10464800" cy="685800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/>
          <a:p>
            <a:endParaRPr/>
          </a:p>
        </p:txBody>
      </p:sp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chool of Computer Science &amp; Engineering (SCS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School of Computer Science &amp; Engineering (SCSE)</a:t>
            </a:r>
          </a:p>
        </p:txBody>
      </p:sp>
      <p:sp>
        <p:nvSpPr>
          <p:cNvPr id="68" name="Line"/>
          <p:cNvSpPr/>
          <p:nvPr/>
        </p:nvSpPr>
        <p:spPr>
          <a:xfrm>
            <a:off x="-3" y="6400800"/>
            <a:ext cx="12192006" cy="0"/>
          </a:xfrm>
          <a:prstGeom prst="line">
            <a:avLst/>
          </a:prstGeom>
          <a:ln w="88900">
            <a:solidFill>
              <a:srgbClr val="FF88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69" name="lpu logo.png" descr="lp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3700" y="100834"/>
            <a:ext cx="2236729" cy="1118366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1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University Institute of Engineering (UI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78" name="Line"/>
          <p:cNvSpPr/>
          <p:nvPr/>
        </p:nvSpPr>
        <p:spPr>
          <a:xfrm>
            <a:off x="-3" y="6400800"/>
            <a:ext cx="12192006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79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Title Text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Title Text</a:t>
            </a:r>
          </a:p>
        </p:txBody>
      </p:sp>
      <p:sp>
        <p:nvSpPr>
          <p:cNvPr id="81" name="Body Level One…"/>
          <p:cNvSpPr txBox="1">
            <a:spLocks noGrp="1"/>
          </p:cNvSpPr>
          <p:nvPr>
            <p:ph type="body" idx="1"/>
          </p:nvPr>
        </p:nvSpPr>
        <p:spPr>
          <a:xfrm>
            <a:off x="4766733" y="273050"/>
            <a:ext cx="6815667" cy="5853115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3200"/>
            </a:lvl1pPr>
            <a:lvl2pPr marL="783771" indent="-326571">
              <a:spcBef>
                <a:spcPts val="700"/>
              </a:spcBef>
              <a:defRPr sz="3200"/>
            </a:lvl2pPr>
            <a:lvl3pPr marL="1219200" indent="-304800">
              <a:spcBef>
                <a:spcPts val="700"/>
              </a:spcBef>
              <a:defRPr sz="3200"/>
            </a:lvl3pPr>
            <a:lvl4pPr marL="1737360" indent="-365760">
              <a:spcBef>
                <a:spcPts val="700"/>
              </a:spcBef>
              <a:defRPr sz="3200"/>
            </a:lvl4pPr>
            <a:lvl5pPr marL="2194560" indent="-365760">
              <a:spcBef>
                <a:spcPts val="70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Rectangle"/>
          <p:cNvSpPr>
            <a:spLocks noGrp="1"/>
          </p:cNvSpPr>
          <p:nvPr>
            <p:ph type="body" sz="half" idx="21"/>
          </p:nvPr>
        </p:nvSpPr>
        <p:spPr>
          <a:xfrm>
            <a:off x="609598" y="1435101"/>
            <a:ext cx="4011090" cy="46910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1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Text"/>
          <p:cNvSpPr txBox="1">
            <a:spLocks noGrp="1"/>
          </p:cNvSpPr>
          <p:nvPr>
            <p:ph type="title"/>
          </p:nvPr>
        </p:nvSpPr>
        <p:spPr>
          <a:xfrm>
            <a:off x="2389714" y="4800600"/>
            <a:ext cx="7315204" cy="566738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Title Text</a:t>
            </a:r>
          </a:p>
        </p:txBody>
      </p:sp>
      <p:sp>
        <p:nvSpPr>
          <p:cNvPr id="91" name="Image"/>
          <p:cNvSpPr>
            <a:spLocks noGrp="1"/>
          </p:cNvSpPr>
          <p:nvPr>
            <p:ph type="pic" sz="half" idx="21"/>
          </p:nvPr>
        </p:nvSpPr>
        <p:spPr>
          <a:xfrm>
            <a:off x="2389714" y="612775"/>
            <a:ext cx="73152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89714" y="5367337"/>
            <a:ext cx="7315204" cy="80486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623887" indent="-166687">
              <a:spcBef>
                <a:spcPts val="300"/>
              </a:spcBef>
              <a:buFontTx/>
              <a:defRPr sz="1400"/>
            </a:lvl2pPr>
            <a:lvl3pPr marL="1047750" indent="-133350">
              <a:spcBef>
                <a:spcPts val="300"/>
              </a:spcBef>
              <a:buFontTx/>
              <a:defRPr sz="1400"/>
            </a:lvl3pPr>
            <a:lvl4pPr marL="1531619" indent="-160019">
              <a:spcBef>
                <a:spcPts val="300"/>
              </a:spcBef>
              <a:buFontTx/>
              <a:defRPr sz="1400"/>
            </a:lvl4pPr>
            <a:lvl5pPr marL="1988817" indent="-160017">
              <a:spcBef>
                <a:spcPts val="300"/>
              </a:spcBef>
              <a:buFontTx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1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University Institute of Engineering (UI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101" name="Line"/>
          <p:cNvSpPr/>
          <p:nvPr/>
        </p:nvSpPr>
        <p:spPr>
          <a:xfrm>
            <a:off x="-3" y="6400800"/>
            <a:ext cx="12192006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02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itle Text"/>
          <p:cNvSpPr txBox="1">
            <a:spLocks noGrp="1"/>
          </p:cNvSpPr>
          <p:nvPr>
            <p:ph type="title"/>
          </p:nvPr>
        </p:nvSpPr>
        <p:spPr>
          <a:xfrm>
            <a:off x="406400" y="1371600"/>
            <a:ext cx="10972800" cy="685800"/>
          </a:xfrm>
          <a:prstGeom prst="rect">
            <a:avLst/>
          </a:prstGeom>
        </p:spPr>
        <p:txBody>
          <a:bodyPr anchor="t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04" name="Body Level One…"/>
          <p:cNvSpPr txBox="1">
            <a:spLocks noGrp="1"/>
          </p:cNvSpPr>
          <p:nvPr>
            <p:ph type="body" idx="1"/>
          </p:nvPr>
        </p:nvSpPr>
        <p:spPr>
          <a:xfrm>
            <a:off x="406400" y="2209800"/>
            <a:ext cx="10972800" cy="4267200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181100" indent="-266700">
              <a:spcBef>
                <a:spcPts val="600"/>
              </a:spcBef>
              <a:defRPr sz="2800"/>
            </a:lvl3pPr>
            <a:lvl4pPr marL="1691638" indent="-320038">
              <a:spcBef>
                <a:spcPts val="600"/>
              </a:spcBef>
              <a:defRPr sz="2800"/>
            </a:lvl4pPr>
            <a:lvl5pPr marL="2148838" indent="-320038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1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Text"/>
          <p:cNvSpPr txBox="1">
            <a:spLocks noGrp="1"/>
          </p:cNvSpPr>
          <p:nvPr>
            <p:ph type="title"/>
          </p:nvPr>
        </p:nvSpPr>
        <p:spPr>
          <a:xfrm>
            <a:off x="8839200" y="274639"/>
            <a:ext cx="2743200" cy="5851527"/>
          </a:xfrm>
          <a:prstGeom prst="rect">
            <a:avLst/>
          </a:prstGeom>
        </p:spPr>
        <p:txBody>
          <a:bodyPr anchor="t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1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274639"/>
            <a:ext cx="8026400" cy="5851527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181100" indent="-266700">
              <a:spcBef>
                <a:spcPts val="600"/>
              </a:spcBef>
              <a:defRPr sz="2800"/>
            </a:lvl3pPr>
            <a:lvl4pPr marL="1691638" indent="-320038">
              <a:spcBef>
                <a:spcPts val="600"/>
              </a:spcBef>
              <a:defRPr sz="2800"/>
            </a:lvl4pPr>
            <a:lvl5pPr marL="2148838" indent="-320038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1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University Institute of Engineering (UI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122" name="Line"/>
          <p:cNvSpPr/>
          <p:nvPr/>
        </p:nvSpPr>
        <p:spPr>
          <a:xfrm>
            <a:off x="-3" y="6400800"/>
            <a:ext cx="12192006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23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Title Text"/>
          <p:cNvSpPr txBox="1">
            <a:spLocks noGrp="1"/>
          </p:cNvSpPr>
          <p:nvPr>
            <p:ph type="title"/>
          </p:nvPr>
        </p:nvSpPr>
        <p:spPr>
          <a:xfrm>
            <a:off x="541867" y="88900"/>
            <a:ext cx="10358967" cy="1139826"/>
          </a:xfrm>
          <a:prstGeom prst="rect">
            <a:avLst/>
          </a:prstGeom>
        </p:spPr>
        <p:txBody>
          <a:bodyPr anchor="t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University Institute of Engineering (UI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133" name="Line"/>
          <p:cNvSpPr/>
          <p:nvPr/>
        </p:nvSpPr>
        <p:spPr>
          <a:xfrm>
            <a:off x="-3" y="6400800"/>
            <a:ext cx="12192006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34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Title Text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1" cy="1362079"/>
          </a:xfrm>
          <a:prstGeom prst="rect">
            <a:avLst/>
          </a:prstGeom>
        </p:spPr>
        <p:txBody>
          <a:bodyPr anchor="t"/>
          <a:lstStyle>
            <a:lvl1pPr algn="l">
              <a:defRPr sz="4000" cap="all"/>
            </a:lvl1pPr>
          </a:lstStyle>
          <a:p>
            <a:r>
              <a:t>Title Text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63084" y="2906713"/>
            <a:ext cx="10363201" cy="150019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695325" indent="-238125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2pPr>
            <a:lvl3pPr marL="1104900" indent="-190500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3pPr>
            <a:lvl4pPr marL="1600199" indent="-228599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4pPr>
            <a:lvl5pPr marL="2057399" indent="-228599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1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chool of Computer Science &amp; Engineering (SCS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School of Computer Science &amp; Engineering (SCSE)</a:t>
            </a:r>
          </a:p>
        </p:txBody>
      </p:sp>
      <p:sp>
        <p:nvSpPr>
          <p:cNvPr id="145" name="Line"/>
          <p:cNvSpPr/>
          <p:nvPr/>
        </p:nvSpPr>
        <p:spPr>
          <a:xfrm>
            <a:off x="-3" y="6400800"/>
            <a:ext cx="12192006" cy="0"/>
          </a:xfrm>
          <a:prstGeom prst="line">
            <a:avLst/>
          </a:prstGeom>
          <a:ln w="88900">
            <a:solidFill>
              <a:srgbClr val="FF9601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1154954" y="1447800"/>
            <a:ext cx="8825660" cy="3329581"/>
          </a:xfrm>
          <a:prstGeom prst="rect">
            <a:avLst/>
          </a:prstGeom>
        </p:spPr>
        <p:txBody>
          <a:bodyPr anchor="b"/>
          <a:lstStyle>
            <a:lvl1pPr>
              <a:defRPr sz="7200"/>
            </a:lvl1pPr>
          </a:lstStyle>
          <a:p>
            <a:r>
              <a:t>Title Text</a:t>
            </a:r>
          </a:p>
        </p:txBody>
      </p:sp>
      <p:sp>
        <p:nvSpPr>
          <p:cNvPr id="14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54954" y="4777380"/>
            <a:ext cx="8825660" cy="86142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cap="all">
                <a:solidFill>
                  <a:srgbClr val="F8F7F3"/>
                </a:solidFill>
              </a:defRPr>
            </a:lvl1pPr>
            <a:lvl2pPr marL="790575" indent="-333375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2pPr>
            <a:lvl3pPr marL="1181100" indent="-266700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3pPr>
            <a:lvl4pPr marL="1691638" indent="-320038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4pPr>
            <a:lvl5pPr marL="2148838" indent="-320038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148" name="lpu logo.png" descr="lp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2900" y="136404"/>
            <a:ext cx="2178289" cy="1089146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versity Institute of Engineering (UI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3" name="Line"/>
          <p:cNvSpPr/>
          <p:nvPr/>
        </p:nvSpPr>
        <p:spPr>
          <a:xfrm>
            <a:off x="-3" y="6400800"/>
            <a:ext cx="12192006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4" name="https://encrypted-tbn3.gstatic.com/images?q=tbn:ANd9GcTyg3Gq4WoxkxO75aZWNEjYFvavmMfWdiMvs57jpDF8YRR3yCybqQ" descr="https://encrypted-tbn3.gstatic.com/images?q=tbn:ANd9GcTyg3Gq4WoxkxO75aZWNEjYFvavmMfWdiMvs57jpDF8YRR3yCybqQ">
            <a:hlinkClick r:id="rId15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Department of Computer Science and Engineering (CSE)"/>
          <p:cNvSpPr/>
          <p:nvPr/>
        </p:nvSpPr>
        <p:spPr>
          <a:xfrm>
            <a:off x="3740151" y="87311"/>
            <a:ext cx="8451852" cy="383885"/>
          </a:xfrm>
          <a:prstGeom prst="rect">
            <a:avLst/>
          </a:prstGeom>
          <a:ln w="50800">
            <a:solidFill>
              <a:srgbClr val="C00000"/>
            </a:solidFill>
            <a:miter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Department of Computer Science and Engineering (CSE)</a:t>
            </a:r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1320800" y="1066800"/>
            <a:ext cx="10566400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1219200" y="1752600"/>
            <a:ext cx="10668000" cy="449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78981" y="6232199"/>
            <a:ext cx="258621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1pPr>
      <a:lvl2pPr marL="800100" marR="0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2pPr>
      <a:lvl3pPr marL="1188719" marR="0" indent="-274319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3pPr>
      <a:lvl4pPr marL="1676400" marR="0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4pPr>
      <a:lvl5pPr marL="2133600" marR="0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»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5pPr>
      <a:lvl6pPr marL="2560317" marR="0" indent="-27431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6pPr>
      <a:lvl7pPr marL="3017517" marR="0" indent="-27431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7pPr>
      <a:lvl8pPr marL="3474720" marR="0" indent="-27431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8pPr>
      <a:lvl9pPr marL="3931920" marR="0" indent="-2743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Unit 1-Introduction To Hadoop…"/>
          <p:cNvSpPr txBox="1">
            <a:spLocks noGrp="1"/>
          </p:cNvSpPr>
          <p:nvPr>
            <p:ph type="title"/>
          </p:nvPr>
        </p:nvSpPr>
        <p:spPr>
          <a:xfrm>
            <a:off x="1300765" y="1601300"/>
            <a:ext cx="10354617" cy="4112451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521208">
              <a:defRPr sz="4560">
                <a:solidFill>
                  <a:srgbClr val="94175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INT-312 Big Data Fundamentals</a:t>
            </a:r>
            <a:endParaRPr lang="en-IN" dirty="0"/>
          </a:p>
          <a:p>
            <a:pPr defTabSz="521208">
              <a:defRPr sz="3800">
                <a:solidFill>
                  <a:srgbClr val="531B9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dirty="0"/>
              <a:t>Unit 5-Introduction To </a:t>
            </a:r>
            <a:r>
              <a:rPr lang="en-IN" dirty="0" err="1"/>
              <a:t>Hbase</a:t>
            </a:r>
            <a:endParaRPr lang="en-IN" dirty="0"/>
          </a:p>
          <a:p>
            <a:pPr algn="r" defTabSz="521208">
              <a:defRPr sz="285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IN" dirty="0"/>
          </a:p>
          <a:p>
            <a:pPr algn="r" defTabSz="521208">
              <a:defRPr sz="285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IN" dirty="0"/>
          </a:p>
          <a:p>
            <a:pPr algn="r" defTabSz="521208">
              <a:defRPr sz="228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IN" dirty="0"/>
          </a:p>
          <a:p>
            <a:pPr algn="r" defTabSz="521208">
              <a:defRPr sz="2280">
                <a:solidFill>
                  <a:srgbClr val="94219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IN" dirty="0"/>
          </a:p>
        </p:txBody>
      </p:sp>
      <p:pic>
        <p:nvPicPr>
          <p:cNvPr id="159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ONTENTS…"/>
          <p:cNvSpPr txBox="1">
            <a:spLocks noGrp="1"/>
          </p:cNvSpPr>
          <p:nvPr>
            <p:ph type="title"/>
          </p:nvPr>
        </p:nvSpPr>
        <p:spPr>
          <a:xfrm>
            <a:off x="1766148" y="498325"/>
            <a:ext cx="8520215" cy="5148999"/>
          </a:xfrm>
          <a:prstGeom prst="rect">
            <a:avLst/>
          </a:prstGeom>
        </p:spPr>
        <p:txBody>
          <a:bodyPr/>
          <a:lstStyle/>
          <a:p>
            <a:pPr algn="l" defTabSz="125820">
              <a:defRPr sz="2408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CONTENTS</a:t>
            </a:r>
          </a:p>
          <a:p>
            <a:pPr algn="l" defTabSz="125820">
              <a:defRPr sz="2408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l" defTabSz="125820">
              <a:defRPr sz="688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68980" indent="-68980" algn="l" defTabSz="125820">
              <a:defRPr sz="2064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dirty="0"/>
              <a:t>Introduction to </a:t>
            </a:r>
            <a:r>
              <a:rPr lang="en-IN" dirty="0" err="1"/>
              <a:t>Hbase</a:t>
            </a:r>
            <a:br>
              <a:rPr lang="en-IN" dirty="0"/>
            </a:br>
            <a:r>
              <a:rPr lang="en-IN" dirty="0"/>
              <a:t>Features of </a:t>
            </a:r>
            <a:r>
              <a:rPr lang="en-IN" dirty="0" err="1"/>
              <a:t>Hbase</a:t>
            </a:r>
            <a:br>
              <a:rPr lang="en-IN" dirty="0"/>
            </a:br>
            <a:r>
              <a:rPr lang="en-IN" dirty="0"/>
              <a:t>HBase Architecture</a:t>
            </a:r>
            <a:br>
              <a:rPr lang="en-IN" dirty="0"/>
            </a:br>
            <a:r>
              <a:rPr lang="en-IN" dirty="0"/>
              <a:t>Data Model in </a:t>
            </a:r>
            <a:r>
              <a:rPr lang="en-IN" dirty="0" err="1"/>
              <a:t>Hbase</a:t>
            </a:r>
            <a:br>
              <a:rPr lang="en-IN" dirty="0"/>
            </a:br>
            <a:r>
              <a:rPr lang="en-IN" dirty="0"/>
              <a:t>Read/Write Mechanism</a:t>
            </a:r>
            <a:br>
              <a:rPr lang="en-IN" dirty="0"/>
            </a:br>
            <a:r>
              <a:rPr lang="en-IN" dirty="0"/>
              <a:t>HBase Use Cases</a:t>
            </a:r>
            <a:endParaRPr dirty="0"/>
          </a:p>
          <a:p>
            <a:pPr marL="68980" indent="-68980" algn="l" defTabSz="125820">
              <a:defRPr sz="172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l" defTabSz="125820">
              <a:defRPr sz="688">
                <a:latin typeface="+mj-lt"/>
                <a:ea typeface="+mj-ea"/>
                <a:cs typeface="+mj-cs"/>
                <a:sym typeface="Calibri"/>
              </a:defRPr>
            </a:pPr>
            <a:endParaRPr dirty="0"/>
          </a:p>
          <a:p>
            <a:pPr marL="68980" indent="-68980" algn="l" defTabSz="125820">
              <a:defRPr sz="688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68980" indent="-68980" algn="l" defTabSz="125820">
              <a:defRPr sz="688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68980" indent="-68980" algn="l" defTabSz="125820">
              <a:defRPr sz="688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pic>
        <p:nvPicPr>
          <p:cNvPr id="162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ircl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Data too big for traditional tools.…"/>
          <p:cNvSpPr txBox="1">
            <a:spLocks noGrp="1"/>
          </p:cNvSpPr>
          <p:nvPr>
            <p:ph type="body" idx="1"/>
          </p:nvPr>
        </p:nvSpPr>
        <p:spPr>
          <a:xfrm>
            <a:off x="2164955" y="1542949"/>
            <a:ext cx="8765428" cy="4659110"/>
          </a:xfrm>
          <a:prstGeom prst="rect">
            <a:avLst/>
          </a:prstGeom>
        </p:spPr>
        <p:txBody>
          <a:bodyPr/>
          <a:lstStyle/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dirty="0"/>
              <a:t>Open-source distributed NoSQL database</a:t>
            </a:r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dirty="0"/>
              <a:t>Built on Hadoop and HDFS</a:t>
            </a:r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dirty="0" err="1"/>
              <a:t>Modeled</a:t>
            </a:r>
            <a:r>
              <a:rPr lang="en-IN" dirty="0"/>
              <a:t> after Google Bigtable</a:t>
            </a:r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dirty="0"/>
              <a:t>Column-oriented storage system</a:t>
            </a:r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dirty="0"/>
              <a:t>Supports random real-time access</a:t>
            </a:r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dirty="0"/>
              <a:t>Scales to billions of rows</a:t>
            </a:r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lang="en-IN" dirty="0"/>
          </a:p>
        </p:txBody>
      </p:sp>
      <p:sp>
        <p:nvSpPr>
          <p:cNvPr id="165" name="Introduction To Big Data"/>
          <p:cNvSpPr txBox="1"/>
          <p:nvPr/>
        </p:nvSpPr>
        <p:spPr>
          <a:xfrm>
            <a:off x="2111100" y="438655"/>
            <a:ext cx="7415294" cy="738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CA1B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Introduction To </a:t>
            </a:r>
            <a:r>
              <a:rPr lang="en-IN" dirty="0"/>
              <a:t>HBase</a:t>
            </a:r>
            <a:endParaRPr dirty="0"/>
          </a:p>
        </p:txBody>
      </p:sp>
      <p:pic>
        <p:nvPicPr>
          <p:cNvPr id="166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ircl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53B78-D9F2-CD56-EB8A-802909781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Data too big for traditional tools.…">
            <a:extLst>
              <a:ext uri="{FF2B5EF4-FFF2-40B4-BE49-F238E27FC236}">
                <a16:creationId xmlns:a16="http://schemas.microsoft.com/office/drawing/2014/main" id="{A144EFCC-9601-EF70-9CC1-9BC8B74C85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64955" y="1542949"/>
            <a:ext cx="8765428" cy="4659110"/>
          </a:xfrm>
          <a:prstGeom prst="rect">
            <a:avLst/>
          </a:prstGeom>
        </p:spPr>
        <p:txBody>
          <a:bodyPr/>
          <a:lstStyle/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HBase is schema-less NoSQL DB</a:t>
            </a:r>
            <a:endParaRPr lang="en-IN" dirty="0"/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RDBMS uses predefined table schemas</a:t>
            </a:r>
            <a:endParaRPr lang="en-IN" dirty="0"/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nb-NO" dirty="0"/>
              <a:t>HBase handles large sparse datasets</a:t>
            </a:r>
            <a:endParaRPr lang="en-IN" dirty="0"/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dirty="0"/>
              <a:t>RDBMS supports complex joins natively</a:t>
            </a:r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HBase scales horizontally by regions</a:t>
            </a:r>
            <a:endParaRPr lang="en-IN" dirty="0"/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RDBMS scales vertically with hardware</a:t>
            </a:r>
            <a:endParaRPr lang="en-IN" dirty="0"/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lang="en-IN" dirty="0"/>
          </a:p>
        </p:txBody>
      </p:sp>
      <p:sp>
        <p:nvSpPr>
          <p:cNvPr id="165" name="Introduction To Big Data">
            <a:extLst>
              <a:ext uri="{FF2B5EF4-FFF2-40B4-BE49-F238E27FC236}">
                <a16:creationId xmlns:a16="http://schemas.microsoft.com/office/drawing/2014/main" id="{A70BC6AC-1D56-E98F-3095-B73FD1A64435}"/>
              </a:ext>
            </a:extLst>
          </p:cNvPr>
          <p:cNvSpPr txBox="1"/>
          <p:nvPr/>
        </p:nvSpPr>
        <p:spPr>
          <a:xfrm>
            <a:off x="2111100" y="438655"/>
            <a:ext cx="7415294" cy="738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CA1B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HBase vs RDBMS</a:t>
            </a:r>
            <a:endParaRPr dirty="0"/>
          </a:p>
        </p:txBody>
      </p:sp>
      <p:pic>
        <p:nvPicPr>
          <p:cNvPr id="166" name="Screenshot 2024-12-21 at 12.39.35 PM.png" descr="Screenshot 2024-12-21 at 12.39.35 PM.png">
            <a:extLst>
              <a:ext uri="{FF2B5EF4-FFF2-40B4-BE49-F238E27FC236}">
                <a16:creationId xmlns:a16="http://schemas.microsoft.com/office/drawing/2014/main" id="{2AE632F9-256B-2FAC-898B-9E8E36AFB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53744131"/>
      </p:ext>
    </p:extLst>
  </p:cSld>
  <p:clrMapOvr>
    <a:masterClrMapping/>
  </p:clrMapOvr>
  <p:transition spd="slow">
    <p:circl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Facebook: 10 billion photos stored today.…"/>
          <p:cNvSpPr txBox="1"/>
          <p:nvPr/>
        </p:nvSpPr>
        <p:spPr>
          <a:xfrm>
            <a:off x="2059896" y="1411106"/>
            <a:ext cx="8714876" cy="57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defTabSz="457200">
              <a:lnSpc>
                <a:spcPct val="150000"/>
              </a:lnSpc>
              <a:buSzPct val="100000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 </a:t>
            </a:r>
          </a:p>
        </p:txBody>
      </p:sp>
      <p:sp>
        <p:nvSpPr>
          <p:cNvPr id="169" name="Different Sources of Data"/>
          <p:cNvSpPr txBox="1"/>
          <p:nvPr/>
        </p:nvSpPr>
        <p:spPr>
          <a:xfrm>
            <a:off x="1910738" y="480118"/>
            <a:ext cx="6689681" cy="738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C02A1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Features of HBase</a:t>
            </a:r>
            <a:endParaRPr dirty="0"/>
          </a:p>
        </p:txBody>
      </p:sp>
      <p:pic>
        <p:nvPicPr>
          <p:cNvPr id="175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390C81-D6FB-E182-25D8-9617A931F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090" y="1666780"/>
            <a:ext cx="5504886" cy="288693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Volume: Data size is massive.…"/>
          <p:cNvSpPr txBox="1"/>
          <p:nvPr/>
        </p:nvSpPr>
        <p:spPr>
          <a:xfrm>
            <a:off x="1834060" y="1161529"/>
            <a:ext cx="8922144" cy="57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42217" indent="-240631" algn="just">
              <a:lnSpc>
                <a:spcPct val="150000"/>
              </a:lnSpc>
              <a:buSzPct val="100000"/>
              <a:buChar char="•"/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24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IN" dirty="0"/>
          </a:p>
        </p:txBody>
      </p:sp>
      <p:sp>
        <p:nvSpPr>
          <p:cNvPr id="178" name="V’s of Big Data"/>
          <p:cNvSpPr txBox="1"/>
          <p:nvPr/>
        </p:nvSpPr>
        <p:spPr>
          <a:xfrm>
            <a:off x="1847238" y="602799"/>
            <a:ext cx="6915502" cy="738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BD383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HBase Architecture</a:t>
            </a:r>
            <a:endParaRPr dirty="0"/>
          </a:p>
        </p:txBody>
      </p:sp>
      <p:pic>
        <p:nvPicPr>
          <p:cNvPr id="180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9C8732-9393-DC52-A6F7-A848BDFC356E}"/>
              </a:ext>
            </a:extLst>
          </p:cNvPr>
          <p:cNvSpPr txBox="1"/>
          <p:nvPr/>
        </p:nvSpPr>
        <p:spPr>
          <a:xfrm>
            <a:off x="724662" y="2031296"/>
            <a:ext cx="7907274" cy="22467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HMaster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controls region assignment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RegionServers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manage data regions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ZooKeeper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handles coordination tasks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stored in HDFS blocks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MemStore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holds in-memory writes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HFiles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store persistent data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tructured: Organized rows and columns.…"/>
          <p:cNvSpPr txBox="1"/>
          <p:nvPr/>
        </p:nvSpPr>
        <p:spPr>
          <a:xfrm>
            <a:off x="1834060" y="1504429"/>
            <a:ext cx="8922144" cy="57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 b="1">
                <a:latin typeface="Times Roman"/>
                <a:ea typeface="Times Roman"/>
                <a:cs typeface="Times Roman"/>
                <a:sym typeface="Times Roman"/>
              </a:defRPr>
            </a:pPr>
            <a:endParaRPr b="0" dirty="0"/>
          </a:p>
        </p:txBody>
      </p:sp>
      <p:sp>
        <p:nvSpPr>
          <p:cNvPr id="183" name="Types of Data"/>
          <p:cNvSpPr txBox="1"/>
          <p:nvPr/>
        </p:nvSpPr>
        <p:spPr>
          <a:xfrm>
            <a:off x="1783738" y="463099"/>
            <a:ext cx="6915502" cy="738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BD383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Data Model in HBase</a:t>
            </a:r>
            <a:endParaRPr dirty="0"/>
          </a:p>
        </p:txBody>
      </p:sp>
      <p:pic>
        <p:nvPicPr>
          <p:cNvPr id="184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72D745-897E-31E4-1B20-6487681EBB27}"/>
              </a:ext>
            </a:extLst>
          </p:cNvPr>
          <p:cNvSpPr txBox="1"/>
          <p:nvPr/>
        </p:nvSpPr>
        <p:spPr>
          <a:xfrm>
            <a:off x="797814" y="1793684"/>
            <a:ext cx="6313932" cy="22467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organized in tables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Rows identified by row keys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Columns grouped in families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cell has timestamp version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Columns can vary per row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Supports millions of columns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Based on Google’s pioneering work.…"/>
          <p:cNvSpPr txBox="1"/>
          <p:nvPr/>
        </p:nvSpPr>
        <p:spPr>
          <a:xfrm>
            <a:off x="840920" y="1567929"/>
            <a:ext cx="8922144" cy="2732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Write-Ahead Log ensures durability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MemStore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buffers recent writes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flushed to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HFiles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periodically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Reads check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MemStore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HFiles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BlockCache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stores frequently read data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Efficient scan and lookup operations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endParaRPr lang="en-IN" dirty="0"/>
          </a:p>
        </p:txBody>
      </p:sp>
      <p:sp>
        <p:nvSpPr>
          <p:cNvPr id="187" name="Hadoop History"/>
          <p:cNvSpPr txBox="1"/>
          <p:nvPr/>
        </p:nvSpPr>
        <p:spPr>
          <a:xfrm>
            <a:off x="1771037" y="513899"/>
            <a:ext cx="8189771" cy="738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BD383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Read/Write Mechanism</a:t>
            </a:r>
            <a:endParaRPr dirty="0"/>
          </a:p>
        </p:txBody>
      </p:sp>
      <p:pic>
        <p:nvPicPr>
          <p:cNvPr id="188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Hadoop handles massive data volumes.…"/>
          <p:cNvSpPr txBox="1"/>
          <p:nvPr/>
        </p:nvSpPr>
        <p:spPr>
          <a:xfrm>
            <a:off x="1808660" y="1707628"/>
            <a:ext cx="8922144" cy="57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defTabSz="457200">
              <a:lnSpc>
                <a:spcPct val="150000"/>
              </a:lnSpc>
              <a:buSzPct val="100000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</p:txBody>
      </p:sp>
      <p:sp>
        <p:nvSpPr>
          <p:cNvPr id="191" name="Introduction to Hadoop"/>
          <p:cNvSpPr txBox="1"/>
          <p:nvPr/>
        </p:nvSpPr>
        <p:spPr>
          <a:xfrm>
            <a:off x="1732938" y="628199"/>
            <a:ext cx="6915502" cy="738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BD383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HBase Use Cases</a:t>
            </a:r>
            <a:endParaRPr dirty="0"/>
          </a:p>
        </p:txBody>
      </p:sp>
      <p:pic>
        <p:nvPicPr>
          <p:cNvPr id="193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15D65D-6BD2-CA7B-A399-2F5DEAE5D285}"/>
              </a:ext>
            </a:extLst>
          </p:cNvPr>
          <p:cNvSpPr txBox="1"/>
          <p:nvPr/>
        </p:nvSpPr>
        <p:spPr>
          <a:xfrm>
            <a:off x="962406" y="1802696"/>
            <a:ext cx="6313932" cy="22467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Real-time analytics on big data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Sensor and IoT data storage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Time-series data processing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Social media data analysis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Clickstream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behavior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tracking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 data management system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Banking: Detects fraud, manages financial risks.…"/>
          <p:cNvSpPr txBox="1"/>
          <p:nvPr/>
        </p:nvSpPr>
        <p:spPr>
          <a:xfrm>
            <a:off x="1834060" y="1682228"/>
            <a:ext cx="8922144" cy="57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 b="1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b="0" dirty="0"/>
          </a:p>
        </p:txBody>
      </p:sp>
      <p:sp>
        <p:nvSpPr>
          <p:cNvPr id="217" name="Applications of Big Data"/>
          <p:cNvSpPr txBox="1"/>
          <p:nvPr/>
        </p:nvSpPr>
        <p:spPr>
          <a:xfrm>
            <a:off x="1771038" y="501199"/>
            <a:ext cx="6915502" cy="738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BD383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Real-World Use Cases</a:t>
            </a:r>
            <a:endParaRPr dirty="0"/>
          </a:p>
        </p:txBody>
      </p:sp>
      <p:pic>
        <p:nvPicPr>
          <p:cNvPr id="218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24BE2E-181B-90F8-CF65-280E66C5336F}"/>
              </a:ext>
            </a:extLst>
          </p:cNvPr>
          <p:cNvSpPr txBox="1"/>
          <p:nvPr/>
        </p:nvSpPr>
        <p:spPr>
          <a:xfrm>
            <a:off x="1017270" y="1825945"/>
            <a:ext cx="6773418" cy="1754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Facebook uses HBase for messages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Pinterest stores user feeds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Adobe uses HBase for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Flipkart uses it for transactions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Yahoo! logs clickstream in </a:t>
            </a:r>
            <a:r>
              <a:rPr lang="en-IN" dirty="0" err="1"/>
              <a:t>Hbase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HBase supports IoT time series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Integration: Combining multiple data sources.…"/>
          <p:cNvSpPr txBox="1">
            <a:spLocks noGrp="1"/>
          </p:cNvSpPr>
          <p:nvPr>
            <p:ph type="body" idx="1"/>
          </p:nvPr>
        </p:nvSpPr>
        <p:spPr>
          <a:xfrm>
            <a:off x="2190355" y="1542949"/>
            <a:ext cx="8765428" cy="4659110"/>
          </a:xfrm>
          <a:prstGeom prst="rect">
            <a:avLst/>
          </a:prstGeom>
        </p:spPr>
        <p:txBody>
          <a:bodyPr/>
          <a:lstStyle/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0" dirty="0"/>
              <a:t>Use create to define tables</a:t>
            </a:r>
            <a:endParaRPr b="0" dirty="0"/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0" dirty="0"/>
              <a:t>Insert data using put command</a:t>
            </a:r>
            <a:endParaRPr b="0" dirty="0"/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0" dirty="0"/>
              <a:t>get retrieves data by row key</a:t>
            </a:r>
            <a:endParaRPr b="0" dirty="0"/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0" dirty="0"/>
              <a:t>scan fetches table range data</a:t>
            </a:r>
            <a:endParaRPr b="0" dirty="0"/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0" dirty="0"/>
              <a:t>delete removes data from HBase</a:t>
            </a:r>
            <a:endParaRPr b="0" dirty="0"/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b="0" dirty="0"/>
              <a:t>Supports namespaces and descriptions</a:t>
            </a:r>
            <a:endParaRPr b="0" dirty="0"/>
          </a:p>
        </p:txBody>
      </p:sp>
      <p:sp>
        <p:nvSpPr>
          <p:cNvPr id="221" name="Challenges of Big Data"/>
          <p:cNvSpPr txBox="1"/>
          <p:nvPr/>
        </p:nvSpPr>
        <p:spPr>
          <a:xfrm>
            <a:off x="2085700" y="608679"/>
            <a:ext cx="7415294" cy="738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CA1B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HBase Shell Commands</a:t>
            </a:r>
            <a:endParaRPr dirty="0"/>
          </a:p>
        </p:txBody>
      </p:sp>
      <p:pic>
        <p:nvPicPr>
          <p:cNvPr id="222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Hadoop Components"/>
          <p:cNvSpPr txBox="1"/>
          <p:nvPr/>
        </p:nvSpPr>
        <p:spPr>
          <a:xfrm>
            <a:off x="1796438" y="435129"/>
            <a:ext cx="6915502" cy="738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BD383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Advantages and Limitations</a:t>
            </a:r>
            <a:endParaRPr dirty="0"/>
          </a:p>
        </p:txBody>
      </p:sp>
      <p:pic>
        <p:nvPicPr>
          <p:cNvPr id="198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ABF4B6-015E-45C2-FF80-8F19582C06FE}"/>
              </a:ext>
            </a:extLst>
          </p:cNvPr>
          <p:cNvSpPr txBox="1"/>
          <p:nvPr/>
        </p:nvSpPr>
        <p:spPr>
          <a:xfrm>
            <a:off x="934974" y="1674680"/>
            <a:ext cx="6313932" cy="22467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Highly scalable and distributed system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Supports massive data volumes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Strong consistency guarantees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Requires expert tuning efforts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Limited query and join support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>
                <a:solidFill>
                  <a:srgbClr val="000000"/>
                </a:solidFill>
                <a:latin typeface="Calibri"/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Dependent on Hadoop infrastructure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HANK YOU"/>
          <p:cNvSpPr txBox="1"/>
          <p:nvPr/>
        </p:nvSpPr>
        <p:spPr>
          <a:xfrm>
            <a:off x="1805895" y="1796530"/>
            <a:ext cx="9387482" cy="2416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93673" indent="-192085" algn="ctr"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60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193673" indent="-192085" algn="ctr"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60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THANK YOU	</a:t>
            </a:r>
          </a:p>
          <a:p>
            <a:pPr marL="193673" indent="-192085" algn="just"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20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pic>
        <p:nvPicPr>
          <p:cNvPr id="225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u">
  <a:themeElements>
    <a:clrScheme name="cu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u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c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u">
  <a:themeElements>
    <a:clrScheme name="cu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u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c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313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Helvetica</vt:lpstr>
      <vt:lpstr>cu</vt:lpstr>
      <vt:lpstr>INT-312 Big Data Fundamentals Unit 5-Introduction To Hbase    </vt:lpstr>
      <vt:lpstr>CONTENTS   Introduction to Hbase Features of Hbase HBase Architecture Data Model in Hbase Read/Write Mechanism HBase Use Cases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INT-312 Big Data Fundamentals Unit 1-Introduction To Hadoop</dc:title>
  <dc:creator>Lenovo</dc:creator>
  <cp:lastModifiedBy>Shivani Bhardwaj</cp:lastModifiedBy>
  <cp:revision>3</cp:revision>
  <dcterms:modified xsi:type="dcterms:W3CDTF">2025-04-07T11:16:12Z</dcterms:modified>
</cp:coreProperties>
</file>