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7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6" name="Shape 1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756732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524000" y="3429000"/>
            <a:ext cx="10363200" cy="1066800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000000"/>
            </a:solidFill>
            <a:bevel/>
          </a:ln>
        </p:spPr>
        <p:txBody>
          <a:bodyPr/>
          <a:lstStyle>
            <a:lvl1pPr algn="r"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33" name="Line"/>
          <p:cNvSpPr/>
          <p:nvPr/>
        </p:nvSpPr>
        <p:spPr>
          <a:xfrm>
            <a:off x="-3" y="6400800"/>
            <a:ext cx="12192008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Department of Computer and Communication Engineering (CCE)"/>
          <p:cNvSpPr/>
          <p:nvPr/>
        </p:nvSpPr>
        <p:spPr>
          <a:xfrm>
            <a:off x="3791391" y="87310"/>
            <a:ext cx="6134479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/>
          </a:lstStyle>
          <a:p>
            <a:r>
              <a:t>Department of Computer and Communication Engineering (CCE)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771525" indent="-314325">
              <a:defRPr sz="2200"/>
            </a:lvl2pPr>
            <a:lvl3pPr marL="1193800" indent="-279400">
              <a:defRPr sz="2200"/>
            </a:lvl3pPr>
            <a:lvl4pPr marL="1651000" indent="-279400">
              <a:defRPr sz="2200"/>
            </a:lvl4pPr>
            <a:lvl5pPr marL="2108200" indent="-27940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mage"/>
          <p:cNvSpPr>
            <a:spLocks noGrp="1"/>
          </p:cNvSpPr>
          <p:nvPr>
            <p:ph type="pic" idx="21"/>
          </p:nvPr>
        </p:nvSpPr>
        <p:spPr>
          <a:xfrm>
            <a:off x="3860800" y="1371600"/>
            <a:ext cx="8026400" cy="4724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371600"/>
            <a:ext cx="3454400" cy="4724400"/>
          </a:xfrm>
          <a:prstGeom prst="rect">
            <a:avLst/>
          </a:prstGeom>
        </p:spPr>
        <p:txBody>
          <a:bodyPr/>
          <a:lstStyle>
            <a:lvl1pPr marL="137160" indent="-137160">
              <a:spcBef>
                <a:spcPts val="400"/>
              </a:spcBef>
              <a:defRPr sz="2000"/>
            </a:lvl1pPr>
            <a:lvl2pPr marL="340358" indent="-203198">
              <a:spcBef>
                <a:spcPts val="400"/>
              </a:spcBef>
              <a:buChar char="▪"/>
              <a:defRPr sz="2000"/>
            </a:lvl2pPr>
            <a:lvl3pPr marL="523238" indent="-203198">
              <a:spcBef>
                <a:spcPts val="400"/>
              </a:spcBef>
              <a:defRPr sz="2000"/>
            </a:lvl3pPr>
            <a:lvl4pPr marL="1600199" indent="-228599">
              <a:spcBef>
                <a:spcPts val="400"/>
              </a:spcBef>
              <a:defRPr sz="2000"/>
            </a:lvl4pPr>
            <a:lvl5pPr marL="2057399" indent="-228599">
              <a:spcBef>
                <a:spcPts val="400"/>
              </a:spcBef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55" name="Line"/>
          <p:cNvSpPr/>
          <p:nvPr/>
        </p:nvSpPr>
        <p:spPr>
          <a:xfrm>
            <a:off x="-3" y="6400800"/>
            <a:ext cx="12192008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56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Department of Computer and Communicationq Engineering (CCE)"/>
          <p:cNvSpPr/>
          <p:nvPr/>
        </p:nvSpPr>
        <p:spPr>
          <a:xfrm>
            <a:off x="4013198" y="-4"/>
            <a:ext cx="5968647" cy="310488"/>
          </a:xfrm>
          <a:prstGeom prst="rect">
            <a:avLst/>
          </a:prstGeom>
          <a:solidFill>
            <a:srgbClr val="63252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700" b="1">
                <a:solidFill>
                  <a:srgbClr val="FFFFFF"/>
                </a:solidFill>
              </a:defRPr>
            </a:lvl1pPr>
          </a:lstStyle>
          <a:p>
            <a:r>
              <a:t>Department of Computer and Communicationq Engineering (CCE)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1524000"/>
            <a:ext cx="11074400" cy="48768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>
            <a:spLocks noGrp="1"/>
          </p:cNvSpPr>
          <p:nvPr>
            <p:ph type="body" sz="quarter" idx="21"/>
          </p:nvPr>
        </p:nvSpPr>
        <p:spPr>
          <a:xfrm>
            <a:off x="1422400" y="533400"/>
            <a:ext cx="10464800" cy="6858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endParaRPr/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chool of Computer Science &amp; Engineering (SCS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68" name="Line"/>
          <p:cNvSpPr/>
          <p:nvPr/>
        </p:nvSpPr>
        <p:spPr>
          <a:xfrm>
            <a:off x="-3" y="6400800"/>
            <a:ext cx="12192008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69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93700" y="100833"/>
            <a:ext cx="2236729" cy="1118368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78" name="Line"/>
          <p:cNvSpPr/>
          <p:nvPr/>
        </p:nvSpPr>
        <p:spPr>
          <a:xfrm>
            <a:off x="-3" y="6400800"/>
            <a:ext cx="12192008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79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81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5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783771" indent="-326571">
              <a:spcBef>
                <a:spcPts val="700"/>
              </a:spcBef>
              <a:defRPr sz="3200"/>
            </a:lvl2pPr>
            <a:lvl3pPr marL="1219200" indent="-304800">
              <a:spcBef>
                <a:spcPts val="700"/>
              </a:spcBef>
              <a:defRPr sz="3200"/>
            </a:lvl3pPr>
            <a:lvl4pPr marL="1737360" indent="-365760">
              <a:spcBef>
                <a:spcPts val="700"/>
              </a:spcBef>
              <a:defRPr sz="3200"/>
            </a:lvl4pPr>
            <a:lvl5pPr marL="2194560" indent="-365760">
              <a:spcBef>
                <a:spcPts val="700"/>
              </a:spcBef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Rectangle"/>
          <p:cNvSpPr>
            <a:spLocks noGrp="1"/>
          </p:cNvSpPr>
          <p:nvPr>
            <p:ph type="body" sz="half" idx="21"/>
          </p:nvPr>
        </p:nvSpPr>
        <p:spPr>
          <a:xfrm>
            <a:off x="609597" y="1435101"/>
            <a:ext cx="4011092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91" name="Image"/>
          <p:cNvSpPr>
            <a:spLocks noGrp="1"/>
          </p:cNvSpPr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4" y="5367337"/>
            <a:ext cx="7315204" cy="8048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623887" indent="-166687">
              <a:spcBef>
                <a:spcPts val="300"/>
              </a:spcBef>
              <a:buFontTx/>
              <a:defRPr sz="1400"/>
            </a:lvl2pPr>
            <a:lvl3pPr marL="1047750" indent="-133350">
              <a:spcBef>
                <a:spcPts val="300"/>
              </a:spcBef>
              <a:buFontTx/>
              <a:defRPr sz="1400"/>
            </a:lvl3pPr>
            <a:lvl4pPr marL="1531619" indent="-160019">
              <a:spcBef>
                <a:spcPts val="300"/>
              </a:spcBef>
              <a:buFontTx/>
              <a:defRPr sz="1400"/>
            </a:lvl4pPr>
            <a:lvl5pPr marL="1988816" indent="-160016">
              <a:spcBef>
                <a:spcPts val="300"/>
              </a:spcBef>
              <a:buFontTx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101" name="Line"/>
          <p:cNvSpPr/>
          <p:nvPr/>
        </p:nvSpPr>
        <p:spPr>
          <a:xfrm>
            <a:off x="-3" y="6400800"/>
            <a:ext cx="12192008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02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406400" y="1371600"/>
            <a:ext cx="10972800" cy="685800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idx="1"/>
          </p:nvPr>
        </p:nvSpPr>
        <p:spPr>
          <a:xfrm>
            <a:off x="406400" y="2209800"/>
            <a:ext cx="10972800" cy="42672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7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7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181100" indent="-266700">
              <a:spcBef>
                <a:spcPts val="600"/>
              </a:spcBef>
              <a:defRPr sz="2800"/>
            </a:lvl3pPr>
            <a:lvl4pPr marL="1691638" indent="-320038">
              <a:spcBef>
                <a:spcPts val="600"/>
              </a:spcBef>
              <a:defRPr sz="2800"/>
            </a:lvl4pPr>
            <a:lvl5pPr marL="2148838" indent="-320038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122" name="Line"/>
          <p:cNvSpPr/>
          <p:nvPr/>
        </p:nvSpPr>
        <p:spPr>
          <a:xfrm>
            <a:off x="-3" y="6400800"/>
            <a:ext cx="12192008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23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itle Text"/>
          <p:cNvSpPr txBox="1">
            <a:spLocks noGrp="1"/>
          </p:cNvSpPr>
          <p:nvPr>
            <p:ph type="title"/>
          </p:nvPr>
        </p:nvSpPr>
        <p:spPr>
          <a:xfrm>
            <a:off x="541867" y="88900"/>
            <a:ext cx="10358967" cy="1139826"/>
          </a:xfrm>
          <a:prstGeom prst="rect">
            <a:avLst/>
          </a:prstGeom>
        </p:spPr>
        <p:txBody>
          <a:bodyPr anchor="t"/>
          <a:lstStyle>
            <a:lvl1pPr>
              <a:defRPr sz="4400"/>
            </a:lvl1pPr>
          </a:lstStyle>
          <a:p>
            <a:r>
              <a:t>Title Text</a:t>
            </a:r>
          </a:p>
        </p:txBody>
      </p:sp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133" name="Line"/>
          <p:cNvSpPr/>
          <p:nvPr/>
        </p:nvSpPr>
        <p:spPr>
          <a:xfrm>
            <a:off x="-3" y="6400800"/>
            <a:ext cx="12192008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34" name="https://encrypted-tbn3.gstatic.com/images?q=tbn:ANd9GcTyg3Gq4WoxkxO75aZWNEjYFvavmMfWdiMvs57jpDF8YRR3yCybqQ" descr="https://encrypted-tbn3.gstatic.com/images?q=tbn:ANd9GcTyg3Gq4WoxkxO75aZWNEjYFvavmMfWdiMvs57jpDF8YRR3yCybqQ">
            <a:hlinkClick r:id="rId2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80"/>
          </a:xfrm>
          <a:prstGeom prst="rect">
            <a:avLst/>
          </a:prstGeom>
        </p:spPr>
        <p:txBody>
          <a:bodyPr anchor="t"/>
          <a:lstStyle>
            <a:lvl1pPr algn="l">
              <a:defRPr sz="4000" cap="all"/>
            </a:lvl1pPr>
          </a:lstStyle>
          <a:p>
            <a:r>
              <a:t>Title Text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9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695325" indent="-238125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2pPr>
            <a:lvl3pPr marL="1104900" indent="-190500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3pPr>
            <a:lvl4pPr marL="16001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4pPr>
            <a:lvl5pPr marL="2057399" indent="-228599">
              <a:spcBef>
                <a:spcPts val="400"/>
              </a:spcBef>
              <a:buFontTx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0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chool of Computer Science &amp; Engineering (SCS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45" name="Line"/>
          <p:cNvSpPr/>
          <p:nvPr/>
        </p:nvSpPr>
        <p:spPr>
          <a:xfrm>
            <a:off x="-3" y="6400800"/>
            <a:ext cx="12192008" cy="0"/>
          </a:xfrm>
          <a:prstGeom prst="line">
            <a:avLst/>
          </a:prstGeom>
          <a:ln w="88900">
            <a:solidFill>
              <a:srgbClr val="FF9601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60" cy="3329581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t>Title Text</a:t>
            </a:r>
          </a:p>
        </p:txBody>
      </p:sp>
      <p:sp>
        <p:nvSpPr>
          <p:cNvPr id="1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54954" y="4777380"/>
            <a:ext cx="8825660" cy="86142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cap="all">
                <a:solidFill>
                  <a:srgbClr val="F8F7F3"/>
                </a:solidFill>
              </a:defRPr>
            </a:lvl1pPr>
            <a:lvl2pPr marL="790575" indent="-333375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2pPr>
            <a:lvl3pPr marL="1181100" indent="-266700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3pPr>
            <a:lvl4pPr marL="16916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4pPr>
            <a:lvl5pPr marL="2148838" indent="-320038">
              <a:spcBef>
                <a:spcPts val="600"/>
              </a:spcBef>
              <a:buFontTx/>
              <a:defRPr sz="2800" cap="all">
                <a:solidFill>
                  <a:srgbClr val="F8F7F3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8" name="lpu logo.png" descr="lpu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42900" y="136404"/>
            <a:ext cx="2178289" cy="1089147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chool of Computer Science &amp; Engineering (SCS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School of Computer Science &amp; Engineering (SCSE)</a:t>
            </a:r>
          </a:p>
        </p:txBody>
      </p:sp>
      <p:sp>
        <p:nvSpPr>
          <p:cNvPr id="157" name="Line"/>
          <p:cNvSpPr/>
          <p:nvPr/>
        </p:nvSpPr>
        <p:spPr>
          <a:xfrm>
            <a:off x="-3" y="6400800"/>
            <a:ext cx="12192006" cy="0"/>
          </a:xfrm>
          <a:prstGeom prst="line">
            <a:avLst/>
          </a:prstGeom>
          <a:ln w="88900">
            <a:solidFill>
              <a:srgbClr val="FF88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158" name="image1.png" descr="image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93700" y="100834"/>
            <a:ext cx="2236729" cy="1118366"/>
          </a:xfrm>
          <a:prstGeom prst="rect">
            <a:avLst/>
          </a:prstGeom>
          <a:ln w="12700">
            <a:miter lim="400000"/>
          </a:ln>
        </p:spPr>
      </p:pic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3381" y="6551288"/>
            <a:ext cx="258621" cy="24830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versity Institute of Engineering (UIE)"/>
          <p:cNvSpPr txBox="1"/>
          <p:nvPr/>
        </p:nvSpPr>
        <p:spPr>
          <a:xfrm>
            <a:off x="0" y="6457949"/>
            <a:ext cx="12192000" cy="34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000" b="1"/>
            </a:lvl1pPr>
          </a:lstStyle>
          <a:p>
            <a:r>
              <a:t>University Institute of Engineering (UIE)</a:t>
            </a:r>
          </a:p>
        </p:txBody>
      </p:sp>
      <p:sp>
        <p:nvSpPr>
          <p:cNvPr id="3" name="Line"/>
          <p:cNvSpPr/>
          <p:nvPr/>
        </p:nvSpPr>
        <p:spPr>
          <a:xfrm>
            <a:off x="-3" y="6400800"/>
            <a:ext cx="12192008" cy="0"/>
          </a:xfrm>
          <a:prstGeom prst="line">
            <a:avLst/>
          </a:prstGeom>
          <a:ln w="88900">
            <a:solidFill>
              <a:srgbClr val="C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4" name="https://encrypted-tbn3.gstatic.com/images?q=tbn:ANd9GcTyg3Gq4WoxkxO75aZWNEjYFvavmMfWdiMvs57jpDF8YRR3yCybqQ" descr="https://encrypted-tbn3.gstatic.com/images?q=tbn:ANd9GcTyg3Gq4WoxkxO75aZWNEjYFvavmMfWdiMvs57jpDF8YRR3yCybqQ">
            <a:hlinkClick r:id="rId16"/>
          </p:cNvPr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203200" y="152400"/>
            <a:ext cx="1024468" cy="121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Department of Computer Science and Engineering (CSE)"/>
          <p:cNvSpPr/>
          <p:nvPr/>
        </p:nvSpPr>
        <p:spPr>
          <a:xfrm>
            <a:off x="3740151" y="87310"/>
            <a:ext cx="8451852" cy="383885"/>
          </a:xfrm>
          <a:prstGeom prst="rect">
            <a:avLst/>
          </a:prstGeom>
          <a:ln w="50800">
            <a:solidFill>
              <a:srgbClr val="C00000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/>
          </a:lstStyle>
          <a:p>
            <a:r>
              <a:t>Department of Computer Science and Engineering (CSE)</a:t>
            </a:r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320800" y="1066800"/>
            <a:ext cx="10566400" cy="60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78982" y="6232199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1pPr>
      <a:lvl2pPr marL="800100" marR="0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2pPr>
      <a:lvl3pPr marL="1188719" marR="0" indent="-27431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3pPr>
      <a:lvl4pPr marL="16764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4pPr>
      <a:lvl5pPr marL="2133600" marR="0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5pPr>
      <a:lvl6pPr marL="2560316" marR="0" indent="-274316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6pPr>
      <a:lvl7pPr marL="3017516" marR="0" indent="-274316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7pPr>
      <a:lvl8pPr marL="3474720" marR="0" indent="-274316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8pPr>
      <a:lvl9pPr marL="393192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Cambria"/>
          <a:ea typeface="Cambria"/>
          <a:cs typeface="Cambria"/>
          <a:sym typeface="Cambri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Unit 1-Introduction To Hadoop…"/>
          <p:cNvSpPr txBox="1">
            <a:spLocks noGrp="1"/>
          </p:cNvSpPr>
          <p:nvPr>
            <p:ph type="title"/>
          </p:nvPr>
        </p:nvSpPr>
        <p:spPr>
          <a:xfrm>
            <a:off x="1300765" y="1601300"/>
            <a:ext cx="10354617" cy="4112451"/>
          </a:xfrm>
          <a:prstGeom prst="rect">
            <a:avLst/>
          </a:prstGeom>
        </p:spPr>
        <p:txBody>
          <a:bodyPr/>
          <a:lstStyle/>
          <a:p>
            <a:pPr defTabSz="548640">
              <a:defRPr sz="4800" b="1">
                <a:solidFill>
                  <a:srgbClr val="94175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dirty="0"/>
              <a:t>Unit 3- </a:t>
            </a:r>
            <a:r>
              <a:rPr dirty="0" err="1"/>
              <a:t>MapReduce</a:t>
            </a:r>
            <a:r>
              <a:rPr dirty="0"/>
              <a:t> and YARN</a:t>
            </a:r>
          </a:p>
          <a:p>
            <a:pPr algn="r" defTabSz="548640"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3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algn="r" defTabSz="548640">
              <a:defRPr sz="2400" b="1">
                <a:solidFill>
                  <a:srgbClr val="94219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CONTENTS…"/>
          <p:cNvSpPr txBox="1">
            <a:spLocks noGrp="1"/>
          </p:cNvSpPr>
          <p:nvPr>
            <p:ph type="title"/>
          </p:nvPr>
        </p:nvSpPr>
        <p:spPr>
          <a:xfrm>
            <a:off x="1766148" y="498325"/>
            <a:ext cx="8520215" cy="5148999"/>
          </a:xfrm>
          <a:prstGeom prst="rect">
            <a:avLst/>
          </a:prstGeom>
        </p:spPr>
        <p:txBody>
          <a:bodyPr/>
          <a:lstStyle/>
          <a:p>
            <a:pPr algn="l" defTabSz="121430">
              <a:defRPr sz="2300" b="1" u="sng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CONTENTS</a:t>
            </a:r>
          </a:p>
          <a:p>
            <a:pPr algn="l" defTabSz="121430">
              <a:defRPr sz="23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l" defTabSz="121430">
              <a:defRPr sz="2300" b="1">
                <a:latin typeface="+mn-lt"/>
                <a:ea typeface="+mn-ea"/>
                <a:cs typeface="+mn-cs"/>
                <a:sym typeface="Calibri"/>
              </a:defRPr>
            </a:pPr>
            <a:endParaRPr/>
          </a:p>
          <a:p>
            <a:pPr algn="l">
              <a:tabLst>
                <a:tab pos="292100" algn="l"/>
                <a:tab pos="584200" algn="l"/>
                <a:tab pos="876300" algn="l"/>
                <a:tab pos="1168400" algn="l"/>
                <a:tab pos="1473200" algn="l"/>
                <a:tab pos="1765300" algn="l"/>
                <a:tab pos="2057400" algn="l"/>
                <a:tab pos="2349500" algn="l"/>
                <a:tab pos="2654300" algn="l"/>
                <a:tab pos="2946400" algn="l"/>
                <a:tab pos="3238500" algn="l"/>
                <a:tab pos="3530600" algn="l"/>
              </a:tabLst>
              <a:defRPr sz="2300" b="1">
                <a:latin typeface="+mn-lt"/>
                <a:ea typeface="+mn-ea"/>
                <a:cs typeface="+mn-cs"/>
                <a:sym typeface="Calibri"/>
              </a:defRPr>
            </a:pPr>
            <a:r>
              <a:t>the MapReduce model v1</a:t>
            </a:r>
          </a:p>
          <a:p>
            <a:pPr algn="l">
              <a:tabLst>
                <a:tab pos="292100" algn="l"/>
                <a:tab pos="584200" algn="l"/>
                <a:tab pos="876300" algn="l"/>
                <a:tab pos="1168400" algn="l"/>
                <a:tab pos="1473200" algn="l"/>
                <a:tab pos="1765300" algn="l"/>
                <a:tab pos="2057400" algn="l"/>
                <a:tab pos="2349500" algn="l"/>
                <a:tab pos="2654300" algn="l"/>
                <a:tab pos="2946400" algn="l"/>
                <a:tab pos="3238500" algn="l"/>
                <a:tab pos="3530600" algn="l"/>
              </a:tabLst>
              <a:defRPr sz="2300" b="1">
                <a:latin typeface="+mn-lt"/>
                <a:ea typeface="+mn-ea"/>
                <a:cs typeface="+mn-cs"/>
                <a:sym typeface="Calibri"/>
              </a:defRPr>
            </a:pPr>
            <a:r>
              <a:t>limitations of Hadoop 1 </a:t>
            </a:r>
          </a:p>
          <a:p>
            <a:pPr algn="l">
              <a:tabLst>
                <a:tab pos="292100" algn="l"/>
                <a:tab pos="584200" algn="l"/>
                <a:tab pos="876300" algn="l"/>
                <a:tab pos="1168400" algn="l"/>
                <a:tab pos="1473200" algn="l"/>
                <a:tab pos="1765300" algn="l"/>
                <a:tab pos="2057400" algn="l"/>
                <a:tab pos="2349500" algn="l"/>
                <a:tab pos="2654300" algn="l"/>
                <a:tab pos="2946400" algn="l"/>
                <a:tab pos="3238500" algn="l"/>
                <a:tab pos="3530600" algn="l"/>
              </a:tabLst>
              <a:defRPr sz="2300" b="1">
                <a:latin typeface="+mn-lt"/>
                <a:ea typeface="+mn-ea"/>
                <a:cs typeface="+mn-cs"/>
                <a:sym typeface="Calibri"/>
              </a:defRPr>
            </a:pPr>
            <a:r>
              <a:t>Limitations of MapReduce 1</a:t>
            </a:r>
          </a:p>
          <a:p>
            <a:pPr algn="l">
              <a:tabLst>
                <a:tab pos="292100" algn="l"/>
                <a:tab pos="584200" algn="l"/>
                <a:tab pos="876300" algn="l"/>
                <a:tab pos="1168400" algn="l"/>
                <a:tab pos="1473200" algn="l"/>
                <a:tab pos="1765300" algn="l"/>
                <a:tab pos="2057400" algn="l"/>
                <a:tab pos="2349500" algn="l"/>
                <a:tab pos="2654300" algn="l"/>
                <a:tab pos="2946400" algn="l"/>
                <a:tab pos="3238500" algn="l"/>
                <a:tab pos="3530600" algn="l"/>
              </a:tabLst>
              <a:defRPr sz="2300" b="1">
                <a:latin typeface="+mn-lt"/>
                <a:ea typeface="+mn-ea"/>
                <a:cs typeface="+mn-cs"/>
                <a:sym typeface="Calibri"/>
              </a:defRPr>
            </a:pPr>
            <a:r>
              <a:t>YARN Components</a:t>
            </a:r>
          </a:p>
          <a:p>
            <a:pPr algn="l">
              <a:tabLst>
                <a:tab pos="292100" algn="l"/>
                <a:tab pos="584200" algn="l"/>
                <a:tab pos="876300" algn="l"/>
                <a:tab pos="1168400" algn="l"/>
                <a:tab pos="1473200" algn="l"/>
                <a:tab pos="1765300" algn="l"/>
                <a:tab pos="2057400" algn="l"/>
                <a:tab pos="2349500" algn="l"/>
                <a:tab pos="2654300" algn="l"/>
                <a:tab pos="2946400" algn="l"/>
                <a:tab pos="3238500" algn="l"/>
                <a:tab pos="3530600" algn="l"/>
              </a:tabLst>
              <a:defRPr sz="2300" b="1">
                <a:latin typeface="+mn-lt"/>
                <a:ea typeface="+mn-ea"/>
                <a:cs typeface="+mn-cs"/>
                <a:sym typeface="Calibri"/>
              </a:defRPr>
            </a:pPr>
            <a:r>
              <a:t>Working of YARN</a:t>
            </a:r>
          </a:p>
          <a:p>
            <a:pPr algn="l">
              <a:tabLst>
                <a:tab pos="292100" algn="l"/>
                <a:tab pos="584200" algn="l"/>
                <a:tab pos="876300" algn="l"/>
                <a:tab pos="1168400" algn="l"/>
                <a:tab pos="1473200" algn="l"/>
                <a:tab pos="1765300" algn="l"/>
                <a:tab pos="2057400" algn="l"/>
                <a:tab pos="2349500" algn="l"/>
                <a:tab pos="2654300" algn="l"/>
                <a:tab pos="2946400" algn="l"/>
                <a:tab pos="3238500" algn="l"/>
                <a:tab pos="3530600" algn="l"/>
              </a:tabLst>
              <a:defRPr sz="2300" b="1">
                <a:latin typeface="+mn-lt"/>
                <a:ea typeface="+mn-ea"/>
                <a:cs typeface="+mn-cs"/>
                <a:sym typeface="Calibri"/>
              </a:defRPr>
            </a:pPr>
            <a:endParaRPr/>
          </a:p>
          <a:p>
            <a:pPr algn="l">
              <a:tabLst>
                <a:tab pos="292100" algn="l"/>
                <a:tab pos="584200" algn="l"/>
                <a:tab pos="876300" algn="l"/>
                <a:tab pos="1168400" algn="l"/>
                <a:tab pos="1473200" algn="l"/>
                <a:tab pos="1765300" algn="l"/>
                <a:tab pos="2057400" algn="l"/>
                <a:tab pos="2349500" algn="l"/>
                <a:tab pos="2654300" algn="l"/>
                <a:tab pos="2946400" algn="l"/>
                <a:tab pos="3238500" algn="l"/>
                <a:tab pos="3530600" algn="l"/>
              </a:tabLst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66574" indent="-66574" algn="l" defTabSz="121430"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66574" indent="-66574" algn="l" defTabSz="121430"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66574" indent="-66574" algn="l" defTabSz="121430"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66574" indent="-66574" algn="l" defTabSz="121430">
              <a:defRPr sz="1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l" defTabSz="121430">
              <a:defRPr sz="600" b="1">
                <a:latin typeface="+mn-lt"/>
                <a:ea typeface="+mn-ea"/>
                <a:cs typeface="+mn-cs"/>
                <a:sym typeface="Calibri"/>
              </a:defRPr>
            </a:pPr>
            <a:endParaRPr/>
          </a:p>
          <a:p>
            <a:pPr marL="66574" indent="-66574" algn="l" defTabSz="121430">
              <a:defRPr sz="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66574" indent="-66574" algn="l" defTabSz="121430">
              <a:defRPr sz="6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</p:spTree>
  </p:cSld>
  <p:clrMapOvr>
    <a:masterClrMapping/>
  </p:clrMapOvr>
  <p:transition spd="slow">
    <p:circl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ingle Point of Failure:…"/>
          <p:cNvSpPr txBox="1"/>
          <p:nvPr/>
        </p:nvSpPr>
        <p:spPr>
          <a:xfrm>
            <a:off x="1614779" y="1445618"/>
            <a:ext cx="10232625" cy="415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algn="just" defTabSz="457200">
              <a:spcBef>
                <a:spcPts val="1200"/>
              </a:spcBef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Single Point of Failure</a:t>
            </a:r>
            <a:r>
              <a:rPr b="0"/>
              <a:t>: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</a:t>
            </a:r>
            <a:r>
              <a:rPr b="1"/>
              <a:t>NameNode</a:t>
            </a:r>
            <a:r>
              <a:t> (responsible for metadata) is a single point of failure. 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the NameNode crashes, the whole Hadoop cluster goes down.</a:t>
            </a:r>
          </a:p>
          <a:p>
            <a:pPr algn="just"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defTabSz="457200">
              <a:spcBef>
                <a:spcPts val="1200"/>
              </a:spcBef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Job Tracker Bottleneck</a:t>
            </a:r>
            <a:r>
              <a:rPr b="0"/>
              <a:t>: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Job Tracker</a:t>
            </a:r>
            <a:r>
              <a:rPr b="0"/>
              <a:t> coordinates all MapReduce jobs.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 the number of jobs increases, it becomes a bottleneck for performance.</a:t>
            </a:r>
          </a:p>
          <a:p>
            <a:pPr algn="just"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defTabSz="457200">
              <a:spcBef>
                <a:spcPts val="1200"/>
              </a:spcBef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Limited Scalability</a:t>
            </a:r>
            <a:r>
              <a:rPr b="0"/>
              <a:t>: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can only handle a limited number of </a:t>
            </a:r>
            <a:r>
              <a:rPr b="1"/>
              <a:t>TaskTrackers</a:t>
            </a:r>
            <a:r>
              <a:t> and </a:t>
            </a:r>
            <a:r>
              <a:rPr b="1"/>
              <a:t>Jobs</a:t>
            </a:r>
            <a:r>
              <a:t>. 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Scaling to more nodes leads to inefficiency.</a:t>
            </a:r>
          </a:p>
        </p:txBody>
      </p:sp>
      <p:sp>
        <p:nvSpPr>
          <p:cNvPr id="173" name="Limitations of Hadoop 1"/>
          <p:cNvSpPr txBox="1"/>
          <p:nvPr/>
        </p:nvSpPr>
        <p:spPr>
          <a:xfrm>
            <a:off x="1646165" y="147988"/>
            <a:ext cx="8899670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Limitations of Hadoop 1</a:t>
            </a:r>
          </a:p>
        </p:txBody>
      </p:sp>
    </p:spTree>
  </p:cSld>
  <p:clrMapOvr>
    <a:masterClrMapping/>
  </p:clrMapOvr>
  <p:transition spd="slow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source Utilization:…"/>
          <p:cNvSpPr txBox="1"/>
          <p:nvPr/>
        </p:nvSpPr>
        <p:spPr>
          <a:xfrm>
            <a:off x="1614779" y="1471367"/>
            <a:ext cx="10232625" cy="3315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algn="just" defTabSz="457200">
              <a:spcBef>
                <a:spcPts val="1200"/>
              </a:spcBef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Resource Utilization</a:t>
            </a:r>
            <a:r>
              <a:rPr b="0"/>
              <a:t>: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uses a </a:t>
            </a:r>
            <a:r>
              <a:rPr b="1"/>
              <a:t>slot-based</a:t>
            </a:r>
            <a:r>
              <a:t> resource allocation.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Slots are pre-defined for Map and Reduce tasks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Leading to poor resource utilization. 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If one slot type is idle, it cannot be dynamically reassigned to another task.</a:t>
            </a:r>
          </a:p>
          <a:p>
            <a:pPr algn="just"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just" defTabSz="457200">
              <a:spcBef>
                <a:spcPts val="1200"/>
              </a:spcBef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No Support for Non-MapReduce Applications</a:t>
            </a:r>
            <a:r>
              <a:rPr b="0"/>
              <a:t>: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strictly supports MapReduce jobs.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Making it unsuitable for other types of data processing models.</a:t>
            </a:r>
          </a:p>
        </p:txBody>
      </p:sp>
      <p:sp>
        <p:nvSpPr>
          <p:cNvPr id="176" name="Limitations of Hadoop 1"/>
          <p:cNvSpPr txBox="1"/>
          <p:nvPr/>
        </p:nvSpPr>
        <p:spPr>
          <a:xfrm>
            <a:off x="1646165" y="147988"/>
            <a:ext cx="8899670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Limitations of Hadoop 1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Lack of Iterative Processing:…"/>
          <p:cNvSpPr txBox="1"/>
          <p:nvPr/>
        </p:nvSpPr>
        <p:spPr>
          <a:xfrm>
            <a:off x="1790071" y="1083818"/>
            <a:ext cx="9994062" cy="4839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457200">
              <a:spcBef>
                <a:spcPts val="1200"/>
              </a:spcBef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Lack of Iterative Processing</a:t>
            </a:r>
            <a:r>
              <a:rPr b="0"/>
              <a:t>: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MapReduce v1 is inefficient for iterative algorithms 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As each iteration requires reloading data from disk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So, it leads to high disk I/O overhead.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200"/>
              </a:spcBef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Complexity in Development</a:t>
            </a:r>
            <a:r>
              <a:rPr b="0"/>
              <a:t>: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Writing efficient MapReduce jobs requires substantial knowledge of Java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is difficult for developers not well-versed in Java.</a:t>
            </a:r>
          </a:p>
          <a:p>
            <a:pPr defTabSz="457200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defTabSz="457200">
              <a:spcBef>
                <a:spcPts val="1200"/>
              </a:spcBef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Latency Issues</a:t>
            </a:r>
            <a:r>
              <a:rPr b="0"/>
              <a:t>: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was designed for </a:t>
            </a:r>
            <a:r>
              <a:rPr b="1"/>
              <a:t>batch processing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</a:t>
            </a:r>
            <a:r>
              <a:rPr b="0"/>
              <a:t>o, it is not suitable for real-time data processing or low-latency requirements.</a:t>
            </a:r>
          </a:p>
        </p:txBody>
      </p:sp>
      <p:sp>
        <p:nvSpPr>
          <p:cNvPr id="179" name="Limitations of MapReduce v1"/>
          <p:cNvSpPr txBox="1"/>
          <p:nvPr/>
        </p:nvSpPr>
        <p:spPr>
          <a:xfrm>
            <a:off x="1825229" y="302318"/>
            <a:ext cx="8899671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Limitations of MapReduce v1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Limited Fault Tolerance in Reduce Phase:…"/>
          <p:cNvSpPr txBox="1"/>
          <p:nvPr/>
        </p:nvSpPr>
        <p:spPr>
          <a:xfrm>
            <a:off x="1867317" y="967949"/>
            <a:ext cx="9994062" cy="3709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defTabSz="457200"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spcBef>
                <a:spcPts val="1200"/>
              </a:spcBef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Limited Fault Tolerance in Reduce Phase</a:t>
            </a:r>
            <a:r>
              <a:rPr b="0"/>
              <a:t>: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If a reducer fails, it has to re-process all tasks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Leading to inefficiency in large datasets.</a:t>
            </a:r>
          </a:p>
          <a:p>
            <a:pPr defTabSz="457200"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defTabSz="457200">
              <a:spcBef>
                <a:spcPts val="1200"/>
              </a:spcBef>
              <a:defRPr sz="24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 Support for DAG (Directed Acyclic Graph)</a:t>
            </a:r>
            <a:r>
              <a:rPr b="0"/>
              <a:t>: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follows a linear chain of Map and Reduce phases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making it inflexible for more complex workflows that require multiple stages (as supported by later frameworks like Spark)</a:t>
            </a:r>
          </a:p>
        </p:txBody>
      </p:sp>
      <p:sp>
        <p:nvSpPr>
          <p:cNvPr id="182" name="Limitations of MapReduce v1"/>
          <p:cNvSpPr txBox="1"/>
          <p:nvPr/>
        </p:nvSpPr>
        <p:spPr>
          <a:xfrm>
            <a:off x="1825229" y="302318"/>
            <a:ext cx="8899671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Limitations of MapReduce v1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YARN is a core component of Hadoop 2 (Hadoop 2.0 onwards)…"/>
          <p:cNvSpPr txBox="1"/>
          <p:nvPr/>
        </p:nvSpPr>
        <p:spPr>
          <a:xfrm>
            <a:off x="1923437" y="2090342"/>
            <a:ext cx="8899673" cy="2477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220578" indent="-220578" algn="just" defTabSz="457200">
              <a:spcBef>
                <a:spcPts val="1200"/>
              </a:spcBef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YARN is a core component of Hadoop 2 (Hadoop 2.0 onwards)</a:t>
            </a:r>
          </a:p>
          <a:p>
            <a:pPr marL="220578" indent="-220578" algn="just" defTabSz="457200">
              <a:spcBef>
                <a:spcPts val="1200"/>
              </a:spcBef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overcomes the limitations of Hadoop 1’s MapReduce model. </a:t>
            </a:r>
          </a:p>
          <a:p>
            <a:pPr marL="220578" indent="-220578" algn="just" defTabSz="457200">
              <a:spcBef>
                <a:spcPts val="1200"/>
              </a:spcBef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is a resource management layer </a:t>
            </a:r>
          </a:p>
          <a:p>
            <a:pPr marL="220578" indent="-220578" algn="just" defTabSz="457200">
              <a:spcBef>
                <a:spcPts val="1200"/>
              </a:spcBef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allows multiple processing models to run on Hadoop</a:t>
            </a:r>
          </a:p>
          <a:p>
            <a:pPr marL="220578" indent="-220578" algn="just" defTabSz="457200">
              <a:spcBef>
                <a:spcPts val="1200"/>
              </a:spcBef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provides scalability and better resource utilisation.</a:t>
            </a:r>
          </a:p>
        </p:txBody>
      </p:sp>
      <p:sp>
        <p:nvSpPr>
          <p:cNvPr id="185" name="YARN (Yet Another Resource Negotiator)"/>
          <p:cNvSpPr txBox="1"/>
          <p:nvPr/>
        </p:nvSpPr>
        <p:spPr>
          <a:xfrm>
            <a:off x="1923437" y="425003"/>
            <a:ext cx="8899673" cy="1363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YARN (Yet Another Resource Negotiator)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source Manager (RM):…"/>
          <p:cNvSpPr txBox="1"/>
          <p:nvPr/>
        </p:nvSpPr>
        <p:spPr>
          <a:xfrm>
            <a:off x="1923437" y="1290637"/>
            <a:ext cx="8899673" cy="3290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algn="just" defTabSz="457200">
              <a:spcBef>
                <a:spcPts val="1200"/>
              </a:spcBef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Resource Manager (RM):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Central authority for allocating cluster resources.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Consists of two parts:</a:t>
            </a:r>
          </a:p>
          <a:p>
            <a:pPr marL="914400" lvl="1" indent="-317500" algn="just" defTabSz="457200">
              <a:buSzPct val="100000"/>
              <a:buFont typeface="Times Roman"/>
              <a:buChar char="◦"/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Scheduler</a:t>
            </a:r>
            <a:r>
              <a:rPr b="0" dirty="0"/>
              <a:t>: </a:t>
            </a:r>
          </a:p>
          <a:p>
            <a:pPr marL="1371600" lvl="2" indent="-317500" algn="just" defTabSz="457200">
              <a:buSzPct val="100000"/>
              <a:buFont typeface="Times Roman"/>
              <a:buChar char="◦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Allocates resources to running applications </a:t>
            </a:r>
          </a:p>
          <a:p>
            <a:pPr marL="1371600" lvl="2" indent="-317500" algn="just" defTabSz="457200">
              <a:buSzPct val="100000"/>
              <a:buFont typeface="Times Roman"/>
              <a:buChar char="◦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based on resource requests</a:t>
            </a:r>
          </a:p>
          <a:p>
            <a:pPr marL="914400" lvl="1" indent="-317500" algn="just" defTabSz="457200">
              <a:buSzPct val="100000"/>
              <a:buFont typeface="Times Roman"/>
              <a:buChar char="◦"/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Application Manager</a:t>
            </a:r>
            <a:r>
              <a:rPr b="0" dirty="0"/>
              <a:t>: </a:t>
            </a:r>
          </a:p>
          <a:p>
            <a:pPr marL="1371600" lvl="2" indent="-317500" algn="just" defTabSz="457200">
              <a:buSzPct val="100000"/>
              <a:buFont typeface="Times Roman"/>
              <a:buChar char="◦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Accepts job submissions </a:t>
            </a:r>
          </a:p>
          <a:p>
            <a:pPr marL="1371600" lvl="2" indent="-317500" algn="just" defTabSz="457200">
              <a:buSzPct val="100000"/>
              <a:buFont typeface="Times Roman"/>
              <a:buChar char="◦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Negotiates first container for executing application-specific code.</a:t>
            </a:r>
          </a:p>
        </p:txBody>
      </p:sp>
      <p:sp>
        <p:nvSpPr>
          <p:cNvPr id="188" name="YARN (Components)"/>
          <p:cNvSpPr txBox="1"/>
          <p:nvPr/>
        </p:nvSpPr>
        <p:spPr>
          <a:xfrm>
            <a:off x="1923437" y="425003"/>
            <a:ext cx="8899673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YARN (Components)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Node Manager (NM):…"/>
          <p:cNvSpPr txBox="1"/>
          <p:nvPr/>
        </p:nvSpPr>
        <p:spPr>
          <a:xfrm>
            <a:off x="1923437" y="1290637"/>
            <a:ext cx="8899673" cy="2223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algn="just" defTabSz="457200">
              <a:spcBef>
                <a:spcPts val="1200"/>
              </a:spcBef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Node Manager (NM):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Runs on each node 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Manages individual node resources.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Responsible for monitoring containers</a:t>
            </a:r>
          </a:p>
          <a:p>
            <a:pPr marL="457200" indent="-317500" algn="just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Monitor resource usage (memory, CPU) and reporting back to Resource Manager.</a:t>
            </a:r>
          </a:p>
        </p:txBody>
      </p:sp>
      <p:sp>
        <p:nvSpPr>
          <p:cNvPr id="191" name="YARN (Components)"/>
          <p:cNvSpPr txBox="1"/>
          <p:nvPr/>
        </p:nvSpPr>
        <p:spPr>
          <a:xfrm>
            <a:off x="1923437" y="425003"/>
            <a:ext cx="8899673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YARN (Components)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Application Master (AM):…"/>
          <p:cNvSpPr txBox="1"/>
          <p:nvPr/>
        </p:nvSpPr>
        <p:spPr>
          <a:xfrm>
            <a:off x="1923437" y="1290637"/>
            <a:ext cx="8899673" cy="5055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spcBef>
                <a:spcPts val="1200"/>
              </a:spcBef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Application Master (AM):</a:t>
            </a:r>
          </a:p>
          <a:p>
            <a:pPr marL="601578" lvl="1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Runs for the duration of the application.</a:t>
            </a:r>
          </a:p>
          <a:p>
            <a:pPr marL="601578" lvl="1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Negotiates resources with the Resource Manager </a:t>
            </a:r>
          </a:p>
          <a:p>
            <a:pPr marL="601578" lvl="1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Works with Node Managers to execute and monitor tasks.</a:t>
            </a:r>
          </a:p>
          <a:p>
            <a:pPr algn="just" defTabSz="457200">
              <a:lnSpc>
                <a:spcPct val="150000"/>
              </a:lnSpc>
              <a:spcBef>
                <a:spcPts val="1200"/>
              </a:spcBef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Containers:</a:t>
            </a:r>
          </a:p>
          <a:p>
            <a:pPr marL="601578" lvl="1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Containers are resource units in YARN. </a:t>
            </a:r>
          </a:p>
          <a:p>
            <a:pPr marL="601578" lvl="1" indent="-220578" algn="just" defTabSz="457200">
              <a:lnSpc>
                <a:spcPct val="150000"/>
              </a:lnSpc>
              <a:buSzPct val="100000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They encapsulate a collection of physical resources such as memory, CPU, and network bandwidth.</a:t>
            </a:r>
          </a:p>
        </p:txBody>
      </p:sp>
      <p:sp>
        <p:nvSpPr>
          <p:cNvPr id="194" name="YARN - Components"/>
          <p:cNvSpPr txBox="1"/>
          <p:nvPr/>
        </p:nvSpPr>
        <p:spPr>
          <a:xfrm>
            <a:off x="1923437" y="425003"/>
            <a:ext cx="8899673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YARN - Components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tep 1: The client submits the job to the Resource Manager.…"/>
          <p:cNvSpPr txBox="1"/>
          <p:nvPr/>
        </p:nvSpPr>
        <p:spPr>
          <a:xfrm>
            <a:off x="1923437" y="1641385"/>
            <a:ext cx="8899673" cy="3645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algn="just" defTabSz="457200">
              <a:lnSpc>
                <a:spcPct val="150000"/>
              </a:lnSpc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Step 1</a:t>
            </a:r>
            <a:r>
              <a:rPr b="0" dirty="0"/>
              <a:t>: The client submits the job to the </a:t>
            </a:r>
            <a:r>
              <a:rPr lang="en-IN" dirty="0"/>
              <a:t>Resource Manager </a:t>
            </a:r>
            <a:r>
              <a:rPr b="0" dirty="0" smtClean="0"/>
              <a:t>RM</a:t>
            </a:r>
            <a:r>
              <a:rPr b="0" dirty="0"/>
              <a:t>.</a:t>
            </a:r>
          </a:p>
          <a:p>
            <a:pPr algn="just" defTabSz="457200">
              <a:lnSpc>
                <a:spcPct val="150000"/>
              </a:lnSpc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Step 2</a:t>
            </a:r>
            <a:r>
              <a:rPr b="0" dirty="0"/>
              <a:t>: RM selects a </a:t>
            </a:r>
            <a:r>
              <a:rPr lang="en-IN" dirty="0"/>
              <a:t>Node Manager </a:t>
            </a:r>
            <a:r>
              <a:rPr b="0" dirty="0" smtClean="0"/>
              <a:t>NM </a:t>
            </a:r>
            <a:r>
              <a:rPr b="0" dirty="0"/>
              <a:t>to launch the </a:t>
            </a:r>
            <a:r>
              <a:rPr lang="en-IN" dirty="0"/>
              <a:t>Application Master </a:t>
            </a:r>
            <a:r>
              <a:rPr lang="en-IN" dirty="0" smtClean="0"/>
              <a:t> </a:t>
            </a:r>
            <a:r>
              <a:rPr b="0" dirty="0" smtClean="0"/>
              <a:t>AM</a:t>
            </a:r>
            <a:r>
              <a:rPr b="0" dirty="0"/>
              <a:t>.</a:t>
            </a:r>
          </a:p>
          <a:p>
            <a:pPr algn="just" defTabSz="457200">
              <a:lnSpc>
                <a:spcPct val="150000"/>
              </a:lnSpc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Step 3</a:t>
            </a:r>
            <a:r>
              <a:rPr b="0" dirty="0"/>
              <a:t>: AM negotiates for resources from the RM.</a:t>
            </a:r>
          </a:p>
          <a:p>
            <a:pPr algn="just" defTabSz="457200">
              <a:lnSpc>
                <a:spcPct val="150000"/>
              </a:lnSpc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Step 4</a:t>
            </a:r>
            <a:r>
              <a:rPr b="0" dirty="0"/>
              <a:t>: Tasks are executed in containers managed by NM.</a:t>
            </a:r>
          </a:p>
          <a:p>
            <a:pPr algn="just" defTabSz="457200">
              <a:lnSpc>
                <a:spcPct val="150000"/>
              </a:lnSpc>
              <a:defRPr sz="2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Step 5</a:t>
            </a:r>
            <a:r>
              <a:rPr b="0" dirty="0"/>
              <a:t>: AM monitors the execution of tasks and reports the status back to the client.</a:t>
            </a:r>
          </a:p>
        </p:txBody>
      </p:sp>
      <p:sp>
        <p:nvSpPr>
          <p:cNvPr id="197" name="YARN -Working"/>
          <p:cNvSpPr txBox="1"/>
          <p:nvPr/>
        </p:nvSpPr>
        <p:spPr>
          <a:xfrm>
            <a:off x="1923437" y="425003"/>
            <a:ext cx="8899673" cy="715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 b="1">
                <a:solidFill>
                  <a:srgbClr val="BD35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YARN -Working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HANK YOU"/>
          <p:cNvSpPr txBox="1"/>
          <p:nvPr/>
        </p:nvSpPr>
        <p:spPr>
          <a:xfrm>
            <a:off x="1805894" y="1796530"/>
            <a:ext cx="9387484" cy="2686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4999" tIns="44999" rIns="44999" bIns="44999">
            <a:spAutoFit/>
          </a:bodyPr>
          <a:lstStyle/>
          <a:p>
            <a:pPr marL="192085" indent="-190497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192085" indent="-190497" algn="ctr">
              <a:tabLst>
                <a:tab pos="393700" algn="l"/>
                <a:tab pos="850900" algn="l"/>
                <a:tab pos="1308100" algn="l"/>
                <a:tab pos="1765300" algn="l"/>
                <a:tab pos="2222500" algn="l"/>
                <a:tab pos="2679700" algn="l"/>
                <a:tab pos="3136900" algn="l"/>
                <a:tab pos="3594100" algn="l"/>
                <a:tab pos="4051300" algn="l"/>
                <a:tab pos="4508500" algn="l"/>
                <a:tab pos="4965700" algn="l"/>
                <a:tab pos="5422900" algn="l"/>
                <a:tab pos="5880100" algn="l"/>
                <a:tab pos="6337300" algn="l"/>
                <a:tab pos="6794500" algn="l"/>
                <a:tab pos="7251700" algn="l"/>
                <a:tab pos="7708900" algn="l"/>
                <a:tab pos="8166100" algn="l"/>
                <a:tab pos="8623300" algn="l"/>
                <a:tab pos="9080500" algn="l"/>
                <a:tab pos="9537700" algn="l"/>
              </a:tabLst>
              <a:defRPr sz="6000" b="1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	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u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591</Words>
  <Application>Microsoft Office PowerPoint</Application>
  <PresentationFormat>Custom</PresentationFormat>
  <Paragraphs>100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cu</vt:lpstr>
      <vt:lpstr>Unit 3- MapReduce and YARN    </vt:lpstr>
      <vt:lpstr>CONTENTS   the MapReduce model v1 limitations of Hadoop 1  Limitations of MapReduce 1 YARN Components Working of YARN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3- MapReduce and YARN    </dc:title>
  <cp:lastModifiedBy>hp Win 10</cp:lastModifiedBy>
  <cp:revision>2</cp:revision>
  <dcterms:modified xsi:type="dcterms:W3CDTF">2025-04-06T17:22:07Z</dcterms:modified>
</cp:coreProperties>
</file>