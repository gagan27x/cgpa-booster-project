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6" name="Shape 1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1524000" y="3429000"/>
            <a:ext cx="10363200" cy="1066800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000000"/>
            </a:solidFill>
            <a:bevel/>
          </a:ln>
        </p:spPr>
        <p:txBody>
          <a:bodyPr/>
          <a:lstStyle>
            <a:lvl1pPr algn="r"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33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34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Department of Computer and Communication Engineering (CCE)"/>
          <p:cNvSpPr/>
          <p:nvPr/>
        </p:nvSpPr>
        <p:spPr>
          <a:xfrm>
            <a:off x="3791391" y="87311"/>
            <a:ext cx="6134479" cy="383885"/>
          </a:xfrm>
          <a:prstGeom prst="rect">
            <a:avLst/>
          </a:prstGeom>
          <a:ln w="50800">
            <a:solidFill>
              <a:srgbClr val="C00000"/>
            </a:solidFill>
            <a:miter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Department of Computer and Communication Engineering (CCE)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1016000" y="1447800"/>
            <a:ext cx="10972800" cy="4800600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 marL="771525" indent="-314325">
              <a:defRPr sz="2200"/>
            </a:lvl2pPr>
            <a:lvl3pPr marL="1193800" indent="-279400">
              <a:defRPr sz="2200"/>
            </a:lvl3pPr>
            <a:lvl4pPr marL="1651000" indent="-279400">
              <a:defRPr sz="2200"/>
            </a:lvl4pPr>
            <a:lvl5pPr marL="2108200" indent="-279400"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Rectangle"/>
          <p:cNvSpPr>
            <a:spLocks noGrp="1"/>
          </p:cNvSpPr>
          <p:nvPr>
            <p:ph type="body" sz="quarter" idx="21"/>
          </p:nvPr>
        </p:nvSpPr>
        <p:spPr>
          <a:xfrm>
            <a:off x="1422400" y="609600"/>
            <a:ext cx="10566400" cy="6858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Image"/>
          <p:cNvSpPr>
            <a:spLocks noGrp="1"/>
          </p:cNvSpPr>
          <p:nvPr>
            <p:ph type="pic" idx="21"/>
          </p:nvPr>
        </p:nvSpPr>
        <p:spPr>
          <a:xfrm>
            <a:off x="3860800" y="1371600"/>
            <a:ext cx="8026400" cy="4724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4800" y="1371600"/>
            <a:ext cx="3454400" cy="4724400"/>
          </a:xfrm>
          <a:prstGeom prst="rect">
            <a:avLst/>
          </a:prstGeom>
        </p:spPr>
        <p:txBody>
          <a:bodyPr/>
          <a:lstStyle>
            <a:lvl1pPr marL="137160" indent="-137160">
              <a:spcBef>
                <a:spcPts val="400"/>
              </a:spcBef>
              <a:defRPr sz="2000"/>
            </a:lvl1pPr>
            <a:lvl2pPr marL="340358" indent="-203198">
              <a:spcBef>
                <a:spcPts val="400"/>
              </a:spcBef>
              <a:buChar char="▪"/>
              <a:defRPr sz="2000"/>
            </a:lvl2pPr>
            <a:lvl3pPr marL="523238" indent="-203198">
              <a:spcBef>
                <a:spcPts val="400"/>
              </a:spcBef>
              <a:defRPr sz="2000"/>
            </a:lvl3pPr>
            <a:lvl4pPr marL="1600199" indent="-228599">
              <a:spcBef>
                <a:spcPts val="400"/>
              </a:spcBef>
              <a:defRPr sz="2000"/>
            </a:lvl4pPr>
            <a:lvl5pPr marL="2057399" indent="-228599">
              <a:spcBef>
                <a:spcPts val="400"/>
              </a:spcBef>
              <a:defRPr sz="2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55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56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Department of Computer and Communicationq Engineering (CCE)"/>
          <p:cNvSpPr/>
          <p:nvPr/>
        </p:nvSpPr>
        <p:spPr>
          <a:xfrm>
            <a:off x="4013198" y="-3"/>
            <a:ext cx="5968647" cy="310488"/>
          </a:xfrm>
          <a:prstGeom prst="rect">
            <a:avLst/>
          </a:prstGeom>
          <a:solidFill>
            <a:srgbClr val="63252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700" b="1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Department of Computer and Communicationq Engineering (CCE)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idx="1"/>
          </p:nvPr>
        </p:nvSpPr>
        <p:spPr>
          <a:xfrm>
            <a:off x="812800" y="1524000"/>
            <a:ext cx="11074400" cy="48768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Rectangle"/>
          <p:cNvSpPr>
            <a:spLocks noGrp="1"/>
          </p:cNvSpPr>
          <p:nvPr>
            <p:ph type="body" sz="quarter" idx="21"/>
          </p:nvPr>
        </p:nvSpPr>
        <p:spPr>
          <a:xfrm>
            <a:off x="1422400" y="533400"/>
            <a:ext cx="10464800" cy="6858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endParaRPr/>
          </a:p>
        </p:txBody>
      </p:sp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chool of Computer Science &amp; Engineering (SCS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68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FF88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69" name="lpu logo.png" descr="lpu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93700" y="100834"/>
            <a:ext cx="2236729" cy="1118366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78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79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itle Text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81" name="Body Level One…"/>
          <p:cNvSpPr txBox="1">
            <a:spLocks noGrp="1"/>
          </p:cNvSpPr>
          <p:nvPr>
            <p:ph type="body" idx="1"/>
          </p:nvPr>
        </p:nvSpPr>
        <p:spPr>
          <a:xfrm>
            <a:off x="4766733" y="273050"/>
            <a:ext cx="6815667" cy="5853115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3200"/>
            </a:lvl1pPr>
            <a:lvl2pPr marL="783771" indent="-326571">
              <a:spcBef>
                <a:spcPts val="700"/>
              </a:spcBef>
              <a:defRPr sz="3200"/>
            </a:lvl2pPr>
            <a:lvl3pPr marL="1219200" indent="-304800">
              <a:spcBef>
                <a:spcPts val="700"/>
              </a:spcBef>
              <a:defRPr sz="3200"/>
            </a:lvl3pPr>
            <a:lvl4pPr marL="1737360" indent="-365760">
              <a:spcBef>
                <a:spcPts val="700"/>
              </a:spcBef>
              <a:defRPr sz="3200"/>
            </a:lvl4pPr>
            <a:lvl5pPr marL="2194560" indent="-365760">
              <a:spcBef>
                <a:spcPts val="7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Rectangle"/>
          <p:cNvSpPr>
            <a:spLocks noGrp="1"/>
          </p:cNvSpPr>
          <p:nvPr>
            <p:ph type="body" sz="half" idx="21"/>
          </p:nvPr>
        </p:nvSpPr>
        <p:spPr>
          <a:xfrm>
            <a:off x="609598" y="1435101"/>
            <a:ext cx="4011090" cy="46910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Text"/>
          <p:cNvSpPr txBox="1">
            <a:spLocks noGrp="1"/>
          </p:cNvSpPr>
          <p:nvPr>
            <p:ph type="title"/>
          </p:nvPr>
        </p:nvSpPr>
        <p:spPr>
          <a:xfrm>
            <a:off x="2389714" y="4800600"/>
            <a:ext cx="7315204" cy="566738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91" name="Image"/>
          <p:cNvSpPr>
            <a:spLocks noGrp="1"/>
          </p:cNvSpPr>
          <p:nvPr>
            <p:ph type="pic" sz="half" idx="21"/>
          </p:nvPr>
        </p:nvSpPr>
        <p:spPr>
          <a:xfrm>
            <a:off x="2389714" y="612775"/>
            <a:ext cx="73152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14" y="5367337"/>
            <a:ext cx="7315204" cy="80486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623887" indent="-166687">
              <a:spcBef>
                <a:spcPts val="300"/>
              </a:spcBef>
              <a:buFontTx/>
              <a:defRPr sz="1400"/>
            </a:lvl2pPr>
            <a:lvl3pPr marL="1047750" indent="-133350">
              <a:spcBef>
                <a:spcPts val="300"/>
              </a:spcBef>
              <a:buFontTx/>
              <a:defRPr sz="1400"/>
            </a:lvl3pPr>
            <a:lvl4pPr marL="1531619" indent="-160019">
              <a:spcBef>
                <a:spcPts val="300"/>
              </a:spcBef>
              <a:buFontTx/>
              <a:defRPr sz="1400"/>
            </a:lvl4pPr>
            <a:lvl5pPr marL="1988817" indent="-160017">
              <a:spcBef>
                <a:spcPts val="300"/>
              </a:spcBef>
              <a:buFontTx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101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02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406400" y="1371600"/>
            <a:ext cx="10972800" cy="685800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2209800"/>
            <a:ext cx="10972800" cy="426720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181100" indent="-266700">
              <a:spcBef>
                <a:spcPts val="600"/>
              </a:spcBef>
              <a:defRPr sz="2800"/>
            </a:lvl3pPr>
            <a:lvl4pPr marL="1691638" indent="-320038">
              <a:spcBef>
                <a:spcPts val="600"/>
              </a:spcBef>
              <a:defRPr sz="2800"/>
            </a:lvl4pPr>
            <a:lvl5pPr marL="2148838" indent="-320038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Text"/>
          <p:cNvSpPr txBox="1">
            <a:spLocks noGrp="1"/>
          </p:cNvSpPr>
          <p:nvPr>
            <p:ph type="title"/>
          </p:nvPr>
        </p:nvSpPr>
        <p:spPr>
          <a:xfrm>
            <a:off x="8839200" y="274639"/>
            <a:ext cx="2743200" cy="5851527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1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7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181100" indent="-266700">
              <a:spcBef>
                <a:spcPts val="600"/>
              </a:spcBef>
              <a:defRPr sz="2800"/>
            </a:lvl3pPr>
            <a:lvl4pPr marL="1691638" indent="-320038">
              <a:spcBef>
                <a:spcPts val="600"/>
              </a:spcBef>
              <a:defRPr sz="2800"/>
            </a:lvl4pPr>
            <a:lvl5pPr marL="2148838" indent="-320038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122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23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Title Text"/>
          <p:cNvSpPr txBox="1">
            <a:spLocks noGrp="1"/>
          </p:cNvSpPr>
          <p:nvPr>
            <p:ph type="title"/>
          </p:nvPr>
        </p:nvSpPr>
        <p:spPr>
          <a:xfrm>
            <a:off x="541867" y="88900"/>
            <a:ext cx="10358967" cy="1139826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133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34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itle Text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1" cy="1362079"/>
          </a:xfrm>
          <a:prstGeom prst="rect">
            <a:avLst/>
          </a:prstGeom>
        </p:spPr>
        <p:txBody>
          <a:bodyPr anchor="t"/>
          <a:lstStyle>
            <a:lvl1pPr algn="l">
              <a:defRPr sz="4000" cap="all"/>
            </a:lvl1pPr>
          </a:lstStyle>
          <a:p>
            <a:r>
              <a:t>Title Text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695325" indent="-238125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2pPr>
            <a:lvl3pPr marL="1104900" indent="-190500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3pPr>
            <a:lvl4pPr marL="1600199" indent="-228599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4pPr>
            <a:lvl5pPr marL="2057399" indent="-228599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chool of Computer Science &amp; Engineering (SCS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145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FF9601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154954" y="1447800"/>
            <a:ext cx="8825660" cy="3329581"/>
          </a:xfrm>
          <a:prstGeom prst="rect">
            <a:avLst/>
          </a:prstGeom>
        </p:spPr>
        <p:txBody>
          <a:bodyPr anchor="b"/>
          <a:lstStyle>
            <a:lvl1pPr>
              <a:defRPr sz="7200"/>
            </a:lvl1pPr>
          </a:lstStyle>
          <a:p>
            <a:r>
              <a:t>Title Text</a:t>
            </a:r>
          </a:p>
        </p:txBody>
      </p:sp>
      <p:sp>
        <p:nvSpPr>
          <p:cNvPr id="14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4954" y="4777380"/>
            <a:ext cx="8825660" cy="86142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cap="all">
                <a:solidFill>
                  <a:srgbClr val="F8F7F3"/>
                </a:solidFill>
              </a:defRPr>
            </a:lvl1pPr>
            <a:lvl2pPr marL="790575" indent="-333375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2pPr>
            <a:lvl3pPr marL="1181100" indent="-266700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3pPr>
            <a:lvl4pPr marL="1691638" indent="-320038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4pPr>
            <a:lvl5pPr marL="2148838" indent="-320038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48" name="lpu logo.png" descr="lpu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42900" y="136404"/>
            <a:ext cx="2178289" cy="1089146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chool of Computer Science &amp; Engineering (SCSE)"/>
          <p:cNvSpPr txBox="1"/>
          <p:nvPr/>
        </p:nvSpPr>
        <p:spPr>
          <a:xfrm>
            <a:off x="0" y="6457950"/>
            <a:ext cx="12192000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157" name="Line"/>
          <p:cNvSpPr/>
          <p:nvPr/>
        </p:nvSpPr>
        <p:spPr>
          <a:xfrm>
            <a:off x="-2" y="6400800"/>
            <a:ext cx="12192005" cy="0"/>
          </a:xfrm>
          <a:prstGeom prst="line">
            <a:avLst/>
          </a:prstGeom>
          <a:ln w="88900">
            <a:solidFill>
              <a:srgbClr val="FF880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pic>
        <p:nvPicPr>
          <p:cNvPr id="158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93700" y="100835"/>
            <a:ext cx="2236729" cy="1118365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28023" y="6540821"/>
            <a:ext cx="263978" cy="26923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versity Institute of Engineering (UI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3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4" name="https://encrypted-tbn3.gstatic.com/images?q=tbn:ANd9GcTyg3Gq4WoxkxO75aZWNEjYFvavmMfWdiMvs57jpDF8YRR3yCybqQ" descr="https://encrypted-tbn3.gstatic.com/images?q=tbn:ANd9GcTyg3Gq4WoxkxO75aZWNEjYFvavmMfWdiMvs57jpDF8YRR3yCybqQ">
            <a:hlinkClick r:id="rId16"/>
          </p:cNvPr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Department of Computer Science and Engineering (CSE)"/>
          <p:cNvSpPr/>
          <p:nvPr/>
        </p:nvSpPr>
        <p:spPr>
          <a:xfrm>
            <a:off x="3740151" y="87311"/>
            <a:ext cx="8451851" cy="383885"/>
          </a:xfrm>
          <a:prstGeom prst="rect">
            <a:avLst/>
          </a:prstGeom>
          <a:ln w="50800">
            <a:solidFill>
              <a:srgbClr val="C00000"/>
            </a:solidFill>
            <a:miter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Department of Computer Science and Engineering (CSE)</a:t>
            </a:r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1320800" y="1066800"/>
            <a:ext cx="10566400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1219200" y="1752600"/>
            <a:ext cx="10668000" cy="449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8981" y="6232199"/>
            <a:ext cx="258621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 Bold"/>
          <a:ea typeface="Cambria Bold"/>
          <a:cs typeface="Cambria Bold"/>
          <a:sym typeface="Cambria Bold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1pPr>
      <a:lvl2pPr marL="8001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2pPr>
      <a:lvl3pPr marL="1188719" marR="0" indent="-27431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3pPr>
      <a:lvl4pPr marL="16764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4pPr>
      <a:lvl5pPr marL="21336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5pPr>
      <a:lvl6pPr marL="2560317" marR="0" indent="-27431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6pPr>
      <a:lvl7pPr marL="3017517" marR="0" indent="-27431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7pPr>
      <a:lvl8pPr marL="3474720" marR="0" indent="-27431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8pPr>
      <a:lvl9pPr marL="39319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Unit 1-Introduction To Hadoop…"/>
          <p:cNvSpPr txBox="1">
            <a:spLocks noGrp="1"/>
          </p:cNvSpPr>
          <p:nvPr>
            <p:ph type="title"/>
          </p:nvPr>
        </p:nvSpPr>
        <p:spPr>
          <a:xfrm>
            <a:off x="1300765" y="1601300"/>
            <a:ext cx="10354617" cy="4112451"/>
          </a:xfrm>
          <a:prstGeom prst="rect">
            <a:avLst/>
          </a:prstGeom>
        </p:spPr>
        <p:txBody>
          <a:bodyPr/>
          <a:lstStyle/>
          <a:p>
            <a:pPr defTabSz="548640">
              <a:defRPr sz="4800" b="1">
                <a:solidFill>
                  <a:srgbClr val="94175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Unit 3- </a:t>
            </a:r>
            <a:r>
              <a:rPr dirty="0" err="1"/>
              <a:t>MapReduce</a:t>
            </a:r>
            <a:r>
              <a:rPr dirty="0"/>
              <a:t> and YARN</a:t>
            </a:r>
          </a:p>
          <a:p>
            <a:pPr algn="r" defTabSz="548640"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r" defTabSz="548640"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r" defTabSz="548640"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r" defTabSz="548640">
              <a:defRPr sz="2400" b="1">
                <a:solidFill>
                  <a:srgbClr val="94219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ONTENTS…"/>
          <p:cNvSpPr txBox="1">
            <a:spLocks noGrp="1"/>
          </p:cNvSpPr>
          <p:nvPr>
            <p:ph type="title"/>
          </p:nvPr>
        </p:nvSpPr>
        <p:spPr>
          <a:xfrm>
            <a:off x="1766148" y="498325"/>
            <a:ext cx="8520215" cy="5148999"/>
          </a:xfrm>
          <a:prstGeom prst="rect">
            <a:avLst/>
          </a:prstGeom>
        </p:spPr>
        <p:txBody>
          <a:bodyPr/>
          <a:lstStyle/>
          <a:p>
            <a:pPr algn="l" defTabSz="130209">
              <a:defRPr sz="2492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CONTENTS</a:t>
            </a:r>
          </a:p>
          <a:p>
            <a:pPr algn="l" defTabSz="130209">
              <a:defRPr sz="2492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l" defTabSz="130209">
              <a:defRPr sz="2492" b="1">
                <a:latin typeface="+mn-lt"/>
                <a:ea typeface="+mn-ea"/>
                <a:cs typeface="+mn-cs"/>
                <a:sym typeface="Calibri"/>
              </a:defRPr>
            </a:pPr>
            <a:endParaRPr/>
          </a:p>
          <a:p>
            <a:pPr algn="l">
              <a:tabLst>
                <a:tab pos="304800" algn="l"/>
                <a:tab pos="622300" algn="l"/>
                <a:tab pos="939800" algn="l"/>
                <a:tab pos="1257300" algn="l"/>
                <a:tab pos="1574800" algn="l"/>
                <a:tab pos="1892300" algn="l"/>
                <a:tab pos="2209800" algn="l"/>
                <a:tab pos="2527300" algn="l"/>
                <a:tab pos="2844800" algn="l"/>
                <a:tab pos="3162300" algn="l"/>
                <a:tab pos="3479800" algn="l"/>
                <a:tab pos="3797300" algn="l"/>
              </a:tabLst>
              <a:defRPr sz="2492" b="1">
                <a:latin typeface="+mn-lt"/>
                <a:ea typeface="+mn-ea"/>
                <a:cs typeface="+mn-cs"/>
                <a:sym typeface="Calibri"/>
              </a:defRPr>
            </a:pPr>
            <a:r>
              <a:t>Comparison of YARN / Hadoop 2 / MR2 vs</a:t>
            </a:r>
          </a:p>
          <a:p>
            <a:pPr algn="l">
              <a:tabLst>
                <a:tab pos="304800" algn="l"/>
                <a:tab pos="622300" algn="l"/>
                <a:tab pos="939800" algn="l"/>
                <a:tab pos="1257300" algn="l"/>
                <a:tab pos="1574800" algn="l"/>
                <a:tab pos="1892300" algn="l"/>
                <a:tab pos="2209800" algn="l"/>
                <a:tab pos="2527300" algn="l"/>
                <a:tab pos="2844800" algn="l"/>
                <a:tab pos="3162300" algn="l"/>
                <a:tab pos="3479800" algn="l"/>
                <a:tab pos="3797300" algn="l"/>
              </a:tabLst>
              <a:defRPr sz="2492" b="1">
                <a:latin typeface="+mn-lt"/>
                <a:ea typeface="+mn-ea"/>
                <a:cs typeface="+mn-cs"/>
                <a:sym typeface="Calibri"/>
              </a:defRPr>
            </a:pPr>
            <a:r>
              <a:t>Hadoop 1 / MR1</a:t>
            </a:r>
          </a:p>
          <a:p>
            <a:pPr algn="l">
              <a:tabLst>
                <a:tab pos="304800" algn="l"/>
                <a:tab pos="622300" algn="l"/>
                <a:tab pos="939800" algn="l"/>
                <a:tab pos="1257300" algn="l"/>
                <a:tab pos="1574800" algn="l"/>
                <a:tab pos="1892300" algn="l"/>
                <a:tab pos="2209800" algn="l"/>
                <a:tab pos="2527300" algn="l"/>
                <a:tab pos="2844800" algn="l"/>
                <a:tab pos="3162300" algn="l"/>
                <a:tab pos="3479800" algn="l"/>
                <a:tab pos="3797300" algn="l"/>
              </a:tabLst>
              <a:defRPr sz="2492" b="1">
                <a:latin typeface="+mn-lt"/>
                <a:ea typeface="+mn-ea"/>
                <a:cs typeface="+mn-cs"/>
                <a:sym typeface="Calibri"/>
              </a:defRPr>
            </a:pPr>
            <a:r>
              <a:t>Advantages of YARN</a:t>
            </a:r>
          </a:p>
          <a:p>
            <a:pPr algn="l">
              <a:tabLst>
                <a:tab pos="304800" algn="l"/>
                <a:tab pos="622300" algn="l"/>
                <a:tab pos="939800" algn="l"/>
                <a:tab pos="1257300" algn="l"/>
                <a:tab pos="1574800" algn="l"/>
                <a:tab pos="1892300" algn="l"/>
                <a:tab pos="2209800" algn="l"/>
                <a:tab pos="2527300" algn="l"/>
                <a:tab pos="2844800" algn="l"/>
                <a:tab pos="3162300" algn="l"/>
                <a:tab pos="3479800" algn="l"/>
                <a:tab pos="3797300" algn="l"/>
              </a:tabLst>
              <a:defRPr sz="2492" b="1">
                <a:latin typeface="+mn-lt"/>
                <a:ea typeface="+mn-ea"/>
                <a:cs typeface="+mn-cs"/>
                <a:sym typeface="Calibri"/>
              </a:defRPr>
            </a:pPr>
            <a:r>
              <a:t>review of the Java code required to handle the Mapper class, the Reducer class, and the program</a:t>
            </a:r>
          </a:p>
          <a:p>
            <a:pPr algn="l">
              <a:tabLst>
                <a:tab pos="304800" algn="l"/>
                <a:tab pos="622300" algn="l"/>
                <a:tab pos="939800" algn="l"/>
                <a:tab pos="1257300" algn="l"/>
                <a:tab pos="1574800" algn="l"/>
                <a:tab pos="1892300" algn="l"/>
                <a:tab pos="2209800" algn="l"/>
                <a:tab pos="2527300" algn="l"/>
                <a:tab pos="2844800" algn="l"/>
                <a:tab pos="3162300" algn="l"/>
                <a:tab pos="3479800" algn="l"/>
                <a:tab pos="3797300" algn="l"/>
              </a:tabLst>
              <a:defRPr sz="2492" b="1">
                <a:latin typeface="+mn-lt"/>
                <a:ea typeface="+mn-ea"/>
                <a:cs typeface="+mn-cs"/>
                <a:sym typeface="Calibri"/>
              </a:defRPr>
            </a:pPr>
            <a:endParaRPr sz="21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2136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2136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2136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1779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 defTabSz="130209">
              <a:defRPr sz="712" b="1">
                <a:latin typeface="+mn-lt"/>
                <a:ea typeface="+mn-ea"/>
                <a:cs typeface="+mn-cs"/>
                <a:sym typeface="Calibri"/>
              </a:defRPr>
            </a:pPr>
            <a:endParaRPr sz="21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712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712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386" indent="-71386" algn="l" defTabSz="130209">
              <a:defRPr sz="712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13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ircl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omparison: YARN (Hadoop 2 / MR2) vs Hadoop 1 / MR1"/>
          <p:cNvSpPr txBox="1"/>
          <p:nvPr/>
        </p:nvSpPr>
        <p:spPr>
          <a:xfrm>
            <a:off x="1923438" y="238854"/>
            <a:ext cx="8899671" cy="1363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Comparison: YARN (Hadoop 2 / MR2) vs Hadoop 1 / MR1</a:t>
            </a:r>
          </a:p>
        </p:txBody>
      </p:sp>
      <p:pic>
        <p:nvPicPr>
          <p:cNvPr id="173" name="Screenshot 2024-09-15 at 2.31.56 PM.png" descr="Screenshot 2024-09-15 at 2.31.56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93429" y="1617644"/>
            <a:ext cx="8065902" cy="44424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ircl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omparison: YARN (Hadoop 2 / MR2) vs Hadoop 1 / MR1"/>
          <p:cNvSpPr txBox="1"/>
          <p:nvPr/>
        </p:nvSpPr>
        <p:spPr>
          <a:xfrm>
            <a:off x="1923438" y="238854"/>
            <a:ext cx="8899671" cy="1363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Comparison: YARN (Hadoop 2 / MR2) vs Hadoop 1 / MR1</a:t>
            </a:r>
          </a:p>
        </p:txBody>
      </p:sp>
      <p:pic>
        <p:nvPicPr>
          <p:cNvPr id="176" name="Screenshot 2024-09-15 at 2.32.41 PM.png" descr="Screenshot 2024-09-15 at 2.32.41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13973" y="2530113"/>
            <a:ext cx="9118601" cy="3644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Screenshot 2024-09-15 at 2.33.13 PM.png" descr="Screenshot 2024-09-15 at 2.33.13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0323" y="2120110"/>
            <a:ext cx="9105901" cy="482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Decoupling of Components: Job scheduling and resource management are separated into the Application Master and Resource Manager, improving scalability.…"/>
          <p:cNvSpPr txBox="1"/>
          <p:nvPr/>
        </p:nvSpPr>
        <p:spPr>
          <a:xfrm>
            <a:off x="1833318" y="1317536"/>
            <a:ext cx="8899671" cy="4142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20578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Decoupling of Components</a:t>
            </a:r>
            <a:r>
              <a:t>: Job scheduling and resource management are separated into the Application Master and Resource Manager, improving scalability.</a:t>
            </a:r>
          </a:p>
          <a:p>
            <a:pPr marL="220578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Multiple Frameworks</a:t>
            </a:r>
            <a:r>
              <a:t>: YARN supports Apache Spark, Tez, and Flink, making it versatile.</a:t>
            </a:r>
          </a:p>
          <a:p>
            <a:pPr marL="220578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Dynamic Resource Allocation</a:t>
            </a:r>
            <a:r>
              <a:t>: Resources are allocated dynamically based on the job's need, leading to better cluster resource utilization.</a:t>
            </a:r>
          </a:p>
        </p:txBody>
      </p:sp>
      <p:sp>
        <p:nvSpPr>
          <p:cNvPr id="180" name="Advantages of YARN (Hadoop 2)"/>
          <p:cNvSpPr txBox="1"/>
          <p:nvPr/>
        </p:nvSpPr>
        <p:spPr>
          <a:xfrm>
            <a:off x="1923438" y="238854"/>
            <a:ext cx="8899671" cy="715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Advantages of YARN (Hadoop 2)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YARN (introduced in Hadoop 2)…"/>
          <p:cNvSpPr txBox="1"/>
          <p:nvPr/>
        </p:nvSpPr>
        <p:spPr>
          <a:xfrm>
            <a:off x="1923438" y="1641386"/>
            <a:ext cx="8899671" cy="3608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457200" indent="-317500" algn="just" defTabSz="457200">
              <a:lnSpc>
                <a:spcPct val="150000"/>
              </a:lnSpc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YARN</a:t>
            </a:r>
            <a:r>
              <a:t> (introduced in Hadoop 2) </a:t>
            </a:r>
          </a:p>
          <a:p>
            <a:pPr marL="457200" indent="-317500" algn="just" defTabSz="457200">
              <a:lnSpc>
                <a:spcPct val="150000"/>
              </a:lnSpc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Revolutionised Hadoop by decoupling resource management from task scheduling, </a:t>
            </a:r>
          </a:p>
          <a:p>
            <a:pPr marL="457200" indent="-317500" algn="just" defTabSz="457200">
              <a:lnSpc>
                <a:spcPct val="150000"/>
              </a:lnSpc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Allows better scalability</a:t>
            </a:r>
          </a:p>
          <a:p>
            <a:pPr marL="457200" indent="-317500" algn="just" defTabSz="457200">
              <a:lnSpc>
                <a:spcPct val="150000"/>
              </a:lnSpc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Improved resource utilisation.</a:t>
            </a:r>
          </a:p>
          <a:p>
            <a:pPr marL="457200" indent="-317500" algn="just" defTabSz="457200">
              <a:lnSpc>
                <a:spcPct val="150000"/>
              </a:lnSpc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Support for multiple processing models.</a:t>
            </a:r>
          </a:p>
        </p:txBody>
      </p:sp>
      <p:sp>
        <p:nvSpPr>
          <p:cNvPr id="183" name="Summary"/>
          <p:cNvSpPr txBox="1"/>
          <p:nvPr/>
        </p:nvSpPr>
        <p:spPr>
          <a:xfrm>
            <a:off x="1923438" y="238854"/>
            <a:ext cx="8899671" cy="715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Summary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import java.io.IOException;…"/>
          <p:cNvSpPr txBox="1"/>
          <p:nvPr/>
        </p:nvSpPr>
        <p:spPr>
          <a:xfrm>
            <a:off x="1756072" y="740182"/>
            <a:ext cx="8899671" cy="6253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import java.io.IOException;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import java.util.StringTokenizer;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import org.apache.hadoop.conf.Configuration;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import org.apache.hadoop.fs.Path;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import org.apache.hadoop.io.IntWritable;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import org.apache.hadoop.io.Text;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import org.apache.hadoop.mapreduce.Job;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import org.apache.hadoop.mapreduce.Mapper;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import org.apache.hadoop.mapreduce.Reducer;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import org.apache.hadoop.mapreduce.lib.input.FileInputFormat;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import org.apache.hadoop.mapreduce.lib.output.FileOutputFormat;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1"/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public class WordCount {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public static class TokenizerMapper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   extends Mapper&lt;Object, Text, Text, IntWritable&gt;{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private final static IntWritable one = new IntWritable(1);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private Text word = new Text();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public void map(Object key, Text value, Context context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                ) throws IOException, InterruptedException {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  StringTokenizer itr = new StringTokenizer(value.toString());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  while (itr.hasMoreTokens()) {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    word.set(itr.nextToken());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    context.write(word, one);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  }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}</a:t>
            </a:r>
          </a:p>
          <a:p>
            <a:pPr defTabSz="457200"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}</a:t>
            </a:r>
          </a:p>
        </p:txBody>
      </p:sp>
      <p:sp>
        <p:nvSpPr>
          <p:cNvPr id="186" name="Java Code - Mapper class"/>
          <p:cNvSpPr txBox="1"/>
          <p:nvPr/>
        </p:nvSpPr>
        <p:spPr>
          <a:xfrm>
            <a:off x="1646165" y="45738"/>
            <a:ext cx="8899670" cy="715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Java Code - Mapper class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ublic static class IntSumReducer…"/>
          <p:cNvSpPr txBox="1"/>
          <p:nvPr/>
        </p:nvSpPr>
        <p:spPr>
          <a:xfrm>
            <a:off x="1646165" y="1076758"/>
            <a:ext cx="8899670" cy="5220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public static class IntSumReducer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   extends Reducer&lt;Text,IntWritable,Text,IntWritable&gt; {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private IntWritable result = new IntWritable();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1"/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public void reduce(Text key, Iterable&lt;IntWritable&gt; values,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                   Context context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                   ) throws IOException, InterruptedException {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  int sum = 0;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  for (IntWritable val : values) {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    sum += val.get();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  }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  result.set(sum);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  context.write(key, result);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}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}</a:t>
            </a:r>
          </a:p>
        </p:txBody>
      </p:sp>
      <p:sp>
        <p:nvSpPr>
          <p:cNvPr id="189" name="Java Code - Reducer class"/>
          <p:cNvSpPr txBox="1"/>
          <p:nvPr/>
        </p:nvSpPr>
        <p:spPr>
          <a:xfrm>
            <a:off x="1646165" y="302319"/>
            <a:ext cx="8899670" cy="715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Java Code - Reducer class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ublic static void main(String[] args) throws Exception {…"/>
          <p:cNvSpPr txBox="1"/>
          <p:nvPr/>
        </p:nvSpPr>
        <p:spPr>
          <a:xfrm>
            <a:off x="1646165" y="1267781"/>
            <a:ext cx="8899670" cy="487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public static void main(String[] args) throws Exception {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Configuration conf = new Configuration();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Job job = Job.getInstance(conf, "word count");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job.setJarByClass(WordCount.class);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job.setMapperClass(TokenizerMapper.class);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job.setCombinerClass(IntSumReducer.class);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job.setReducerClass(IntSumReducer.class);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job.setOutputKeyClass(Text.class);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job.setOutputValueClass(IntWritable.class);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FileInputFormat.addInputPath(job, new Path(args[0]));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FileOutputFormat.setOutputPath(job, new Path(args[1]));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  System.exit(job.waitForCompletion(true) ? 0 : 1);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  }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}</a:t>
            </a:r>
          </a:p>
        </p:txBody>
      </p:sp>
      <p:sp>
        <p:nvSpPr>
          <p:cNvPr id="192" name="Java Code - Driver class"/>
          <p:cNvSpPr txBox="1"/>
          <p:nvPr/>
        </p:nvSpPr>
        <p:spPr>
          <a:xfrm>
            <a:off x="1646165" y="393346"/>
            <a:ext cx="8899670" cy="715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Java Code - Driver class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HANK YOU"/>
          <p:cNvSpPr txBox="1"/>
          <p:nvPr/>
        </p:nvSpPr>
        <p:spPr>
          <a:xfrm>
            <a:off x="1805895" y="1796530"/>
            <a:ext cx="9387482" cy="2416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93673" indent="-192085" algn="ctr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6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3673" indent="-192085" algn="ctr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6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THANK YOU	</a:t>
            </a:r>
          </a:p>
          <a:p>
            <a:pPr marL="193673" indent="-192085" algn="just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2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u">
  <a:themeElements>
    <a:clrScheme name="c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u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c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u">
  <a:themeElements>
    <a:clrScheme name="c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u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c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</vt:lpstr>
      <vt:lpstr>Cambria Bold</vt:lpstr>
      <vt:lpstr>Helvetica</vt:lpstr>
      <vt:lpstr>Times New Roman</vt:lpstr>
      <vt:lpstr>Times Roman</vt:lpstr>
      <vt:lpstr>cu</vt:lpstr>
      <vt:lpstr>Unit 3- MapReduce and YARN    </vt:lpstr>
      <vt:lpstr>CONTENTS   Comparison of YARN / Hadoop 2 / MR2 vs Hadoop 1 / MR1 Advantages of YARN review of the Java code required to handle the Mapper class, the Reducer class, and the program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3- MapReduce and YARN    </dc:title>
  <cp:lastModifiedBy>hp Win 10</cp:lastModifiedBy>
  <cp:revision>1</cp:revision>
  <dcterms:modified xsi:type="dcterms:W3CDTF">2026-02-28T10:38:33Z</dcterms:modified>
</cp:coreProperties>
</file>