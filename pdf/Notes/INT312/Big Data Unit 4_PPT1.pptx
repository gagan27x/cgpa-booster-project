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0" r:id="rId4"/>
    <p:sldId id="261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65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89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6" name="Shape 1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1524000" y="3429000"/>
            <a:ext cx="10363200" cy="1066800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000000"/>
            </a:solidFill>
            <a:bevel/>
          </a:ln>
        </p:spPr>
        <p:txBody>
          <a:bodyPr/>
          <a:lstStyle>
            <a:lvl1pPr algn="r"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33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34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Department of Computer and Communication Engineering (CCE)"/>
          <p:cNvSpPr/>
          <p:nvPr/>
        </p:nvSpPr>
        <p:spPr>
          <a:xfrm>
            <a:off x="3791391" y="87311"/>
            <a:ext cx="6134479" cy="383885"/>
          </a:xfrm>
          <a:prstGeom prst="rect">
            <a:avLst/>
          </a:prstGeom>
          <a:ln w="50800">
            <a:solidFill>
              <a:srgbClr val="C00000"/>
            </a:solidFill>
            <a:miter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Department of Computer and Communication Engineering (CCE)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xfrm>
            <a:off x="1016000" y="1447800"/>
            <a:ext cx="10972800" cy="4800600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 marL="771525" indent="-314325">
              <a:defRPr sz="2200"/>
            </a:lvl2pPr>
            <a:lvl3pPr marL="1193800" indent="-279400">
              <a:defRPr sz="2200"/>
            </a:lvl3pPr>
            <a:lvl4pPr marL="1651000" indent="-279400">
              <a:defRPr sz="2200"/>
            </a:lvl4pPr>
            <a:lvl5pPr marL="2108200" indent="-279400"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Rectangle"/>
          <p:cNvSpPr>
            <a:spLocks noGrp="1"/>
          </p:cNvSpPr>
          <p:nvPr>
            <p:ph type="body" sz="quarter" idx="21"/>
          </p:nvPr>
        </p:nvSpPr>
        <p:spPr>
          <a:xfrm>
            <a:off x="1422400" y="609600"/>
            <a:ext cx="10566400" cy="6858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Image"/>
          <p:cNvSpPr>
            <a:spLocks noGrp="1"/>
          </p:cNvSpPr>
          <p:nvPr>
            <p:ph type="pic" idx="21"/>
          </p:nvPr>
        </p:nvSpPr>
        <p:spPr>
          <a:xfrm>
            <a:off x="3860800" y="1371600"/>
            <a:ext cx="8026400" cy="4724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4800" y="1371600"/>
            <a:ext cx="3454400" cy="4724400"/>
          </a:xfrm>
          <a:prstGeom prst="rect">
            <a:avLst/>
          </a:prstGeom>
        </p:spPr>
        <p:txBody>
          <a:bodyPr/>
          <a:lstStyle>
            <a:lvl1pPr marL="137160" indent="-137160">
              <a:spcBef>
                <a:spcPts val="400"/>
              </a:spcBef>
              <a:defRPr sz="2000"/>
            </a:lvl1pPr>
            <a:lvl2pPr marL="340358" indent="-203198">
              <a:spcBef>
                <a:spcPts val="400"/>
              </a:spcBef>
              <a:buChar char="▪"/>
              <a:defRPr sz="2000"/>
            </a:lvl2pPr>
            <a:lvl3pPr marL="523238" indent="-203198">
              <a:spcBef>
                <a:spcPts val="400"/>
              </a:spcBef>
              <a:defRPr sz="2000"/>
            </a:lvl3pPr>
            <a:lvl4pPr marL="1600199" indent="-228599">
              <a:spcBef>
                <a:spcPts val="400"/>
              </a:spcBef>
              <a:defRPr sz="2000"/>
            </a:lvl4pPr>
            <a:lvl5pPr marL="2057399" indent="-228599">
              <a:spcBef>
                <a:spcPts val="400"/>
              </a:spcBef>
              <a:defRPr sz="2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55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56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Department of Computer and Communicationq Engineering (CCE)"/>
          <p:cNvSpPr/>
          <p:nvPr/>
        </p:nvSpPr>
        <p:spPr>
          <a:xfrm>
            <a:off x="4013198" y="-3"/>
            <a:ext cx="5968647" cy="310488"/>
          </a:xfrm>
          <a:prstGeom prst="rect">
            <a:avLst/>
          </a:prstGeom>
          <a:solidFill>
            <a:srgbClr val="63252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700" b="1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Department of Computer and Communicationq Engineering (CCE)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idx="1"/>
          </p:nvPr>
        </p:nvSpPr>
        <p:spPr>
          <a:xfrm>
            <a:off x="812800" y="1524000"/>
            <a:ext cx="11074400" cy="48768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Rectangle"/>
          <p:cNvSpPr>
            <a:spLocks noGrp="1"/>
          </p:cNvSpPr>
          <p:nvPr>
            <p:ph type="body" sz="quarter" idx="21"/>
          </p:nvPr>
        </p:nvSpPr>
        <p:spPr>
          <a:xfrm>
            <a:off x="1422400" y="533400"/>
            <a:ext cx="10464800" cy="6858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endParaRPr/>
          </a:p>
        </p:txBody>
      </p:sp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chool of Computer Science &amp; Engineering (SCS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68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FF88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69" name="lpu logo.png" descr="lp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3700" y="100834"/>
            <a:ext cx="2236729" cy="1118366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78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79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Title Text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Title Text</a:t>
            </a:r>
          </a:p>
        </p:txBody>
      </p:sp>
      <p:sp>
        <p:nvSpPr>
          <p:cNvPr id="81" name="Body Level One…"/>
          <p:cNvSpPr txBox="1">
            <a:spLocks noGrp="1"/>
          </p:cNvSpPr>
          <p:nvPr>
            <p:ph type="body" idx="1"/>
          </p:nvPr>
        </p:nvSpPr>
        <p:spPr>
          <a:xfrm>
            <a:off x="4766733" y="273050"/>
            <a:ext cx="6815667" cy="5853115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3200"/>
            </a:lvl1pPr>
            <a:lvl2pPr marL="783771" indent="-326571">
              <a:spcBef>
                <a:spcPts val="700"/>
              </a:spcBef>
              <a:defRPr sz="3200"/>
            </a:lvl2pPr>
            <a:lvl3pPr marL="1219200" indent="-304800">
              <a:spcBef>
                <a:spcPts val="700"/>
              </a:spcBef>
              <a:defRPr sz="3200"/>
            </a:lvl3pPr>
            <a:lvl4pPr marL="1737360" indent="-365760">
              <a:spcBef>
                <a:spcPts val="700"/>
              </a:spcBef>
              <a:defRPr sz="3200"/>
            </a:lvl4pPr>
            <a:lvl5pPr marL="2194560" indent="-365760">
              <a:spcBef>
                <a:spcPts val="7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Rectangle"/>
          <p:cNvSpPr>
            <a:spLocks noGrp="1"/>
          </p:cNvSpPr>
          <p:nvPr>
            <p:ph type="body" sz="half" idx="21"/>
          </p:nvPr>
        </p:nvSpPr>
        <p:spPr>
          <a:xfrm>
            <a:off x="609598" y="1435101"/>
            <a:ext cx="4011090" cy="46910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Text"/>
          <p:cNvSpPr txBox="1">
            <a:spLocks noGrp="1"/>
          </p:cNvSpPr>
          <p:nvPr>
            <p:ph type="title"/>
          </p:nvPr>
        </p:nvSpPr>
        <p:spPr>
          <a:xfrm>
            <a:off x="2389714" y="4800600"/>
            <a:ext cx="7315204" cy="566738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Title Text</a:t>
            </a:r>
          </a:p>
        </p:txBody>
      </p:sp>
      <p:sp>
        <p:nvSpPr>
          <p:cNvPr id="91" name="Image"/>
          <p:cNvSpPr>
            <a:spLocks noGrp="1"/>
          </p:cNvSpPr>
          <p:nvPr>
            <p:ph type="pic" sz="half" idx="21"/>
          </p:nvPr>
        </p:nvSpPr>
        <p:spPr>
          <a:xfrm>
            <a:off x="2389714" y="612775"/>
            <a:ext cx="73152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9714" y="5367337"/>
            <a:ext cx="7315204" cy="80486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623887" indent="-166687">
              <a:spcBef>
                <a:spcPts val="300"/>
              </a:spcBef>
              <a:buFontTx/>
              <a:defRPr sz="1400"/>
            </a:lvl2pPr>
            <a:lvl3pPr marL="1047750" indent="-133350">
              <a:spcBef>
                <a:spcPts val="300"/>
              </a:spcBef>
              <a:buFontTx/>
              <a:defRPr sz="1400"/>
            </a:lvl3pPr>
            <a:lvl4pPr marL="1531619" indent="-160019">
              <a:spcBef>
                <a:spcPts val="300"/>
              </a:spcBef>
              <a:buFontTx/>
              <a:defRPr sz="1400"/>
            </a:lvl4pPr>
            <a:lvl5pPr marL="1988817" indent="-160017">
              <a:spcBef>
                <a:spcPts val="300"/>
              </a:spcBef>
              <a:buFontTx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101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02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xfrm>
            <a:off x="406400" y="1371600"/>
            <a:ext cx="10972800" cy="685800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04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2209800"/>
            <a:ext cx="10972800" cy="4267200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181100" indent="-266700">
              <a:spcBef>
                <a:spcPts val="600"/>
              </a:spcBef>
              <a:defRPr sz="2800"/>
            </a:lvl3pPr>
            <a:lvl4pPr marL="1691638" indent="-320038">
              <a:spcBef>
                <a:spcPts val="600"/>
              </a:spcBef>
              <a:defRPr sz="2800"/>
            </a:lvl4pPr>
            <a:lvl5pPr marL="2148838" indent="-320038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Text"/>
          <p:cNvSpPr txBox="1">
            <a:spLocks noGrp="1"/>
          </p:cNvSpPr>
          <p:nvPr>
            <p:ph type="title"/>
          </p:nvPr>
        </p:nvSpPr>
        <p:spPr>
          <a:xfrm>
            <a:off x="8839200" y="274639"/>
            <a:ext cx="2743200" cy="5851527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1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7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181100" indent="-266700">
              <a:spcBef>
                <a:spcPts val="600"/>
              </a:spcBef>
              <a:defRPr sz="2800"/>
            </a:lvl3pPr>
            <a:lvl4pPr marL="1691638" indent="-320038">
              <a:spcBef>
                <a:spcPts val="600"/>
              </a:spcBef>
              <a:defRPr sz="2800"/>
            </a:lvl4pPr>
            <a:lvl5pPr marL="2148838" indent="-320038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122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23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Title Text"/>
          <p:cNvSpPr txBox="1">
            <a:spLocks noGrp="1"/>
          </p:cNvSpPr>
          <p:nvPr>
            <p:ph type="title"/>
          </p:nvPr>
        </p:nvSpPr>
        <p:spPr>
          <a:xfrm>
            <a:off x="541867" y="88900"/>
            <a:ext cx="10358967" cy="1139826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133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34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itle Text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1" cy="1362079"/>
          </a:xfrm>
          <a:prstGeom prst="rect">
            <a:avLst/>
          </a:prstGeom>
        </p:spPr>
        <p:txBody>
          <a:bodyPr anchor="t"/>
          <a:lstStyle>
            <a:lvl1pPr algn="l">
              <a:defRPr sz="4000" cap="all"/>
            </a:lvl1pPr>
          </a:lstStyle>
          <a:p>
            <a:r>
              <a:t>Title Text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695325" indent="-238125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2pPr>
            <a:lvl3pPr marL="1104900" indent="-190500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3pPr>
            <a:lvl4pPr marL="1600199" indent="-228599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4pPr>
            <a:lvl5pPr marL="2057399" indent="-228599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chool of Computer Science &amp; Engineering (SCS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145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FF9601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154954" y="1447800"/>
            <a:ext cx="8825660" cy="3329581"/>
          </a:xfrm>
          <a:prstGeom prst="rect">
            <a:avLst/>
          </a:prstGeom>
        </p:spPr>
        <p:txBody>
          <a:bodyPr anchor="b"/>
          <a:lstStyle>
            <a:lvl1pPr>
              <a:defRPr sz="7200"/>
            </a:lvl1pPr>
          </a:lstStyle>
          <a:p>
            <a:r>
              <a:t>Title Text</a:t>
            </a:r>
          </a:p>
        </p:txBody>
      </p:sp>
      <p:sp>
        <p:nvSpPr>
          <p:cNvPr id="14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4954" y="4777380"/>
            <a:ext cx="8825660" cy="86142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cap="all">
                <a:solidFill>
                  <a:srgbClr val="F8F7F3"/>
                </a:solidFill>
              </a:defRPr>
            </a:lvl1pPr>
            <a:lvl2pPr marL="790575" indent="-333375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2pPr>
            <a:lvl3pPr marL="1181100" indent="-266700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3pPr>
            <a:lvl4pPr marL="1691638" indent="-320038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4pPr>
            <a:lvl5pPr marL="2148838" indent="-320038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48" name="lpu logo.png" descr="lp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2900" y="136404"/>
            <a:ext cx="2178289" cy="1089146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chool of Computer Science &amp; Engineering (SCSE)"/>
          <p:cNvSpPr txBox="1"/>
          <p:nvPr/>
        </p:nvSpPr>
        <p:spPr>
          <a:xfrm>
            <a:off x="0" y="6457950"/>
            <a:ext cx="12192000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157" name="Line"/>
          <p:cNvSpPr/>
          <p:nvPr/>
        </p:nvSpPr>
        <p:spPr>
          <a:xfrm>
            <a:off x="-2" y="6400800"/>
            <a:ext cx="12192005" cy="0"/>
          </a:xfrm>
          <a:prstGeom prst="line">
            <a:avLst/>
          </a:prstGeom>
          <a:ln w="88900">
            <a:solidFill>
              <a:srgbClr val="FF880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pic>
        <p:nvPicPr>
          <p:cNvPr id="158" name="image1.png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3700" y="100835"/>
            <a:ext cx="2236729" cy="1118365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28023" y="6540821"/>
            <a:ext cx="263978" cy="26923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3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4" name="https://encrypted-tbn3.gstatic.com/images?q=tbn:ANd9GcTyg3Gq4WoxkxO75aZWNEjYFvavmMfWdiMvs57jpDF8YRR3yCybqQ" descr="https://encrypted-tbn3.gstatic.com/images?q=tbn:ANd9GcTyg3Gq4WoxkxO75aZWNEjYFvavmMfWdiMvs57jpDF8YRR3yCybqQ">
            <a:hlinkClick r:id="rId16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Department of Computer Science and Engineering (CSE)"/>
          <p:cNvSpPr/>
          <p:nvPr/>
        </p:nvSpPr>
        <p:spPr>
          <a:xfrm>
            <a:off x="3740151" y="87311"/>
            <a:ext cx="8451851" cy="383885"/>
          </a:xfrm>
          <a:prstGeom prst="rect">
            <a:avLst/>
          </a:prstGeom>
          <a:ln w="50800">
            <a:solidFill>
              <a:srgbClr val="C00000"/>
            </a:solidFill>
            <a:miter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Department of Computer Science and Engineering (CSE)</a:t>
            </a:r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1320800" y="1066800"/>
            <a:ext cx="10566400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1219200" y="1752600"/>
            <a:ext cx="10668000" cy="449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8981" y="6232199"/>
            <a:ext cx="258621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1pPr>
      <a:lvl2pPr marL="8001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2pPr>
      <a:lvl3pPr marL="1188719" marR="0" indent="-27431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3pPr>
      <a:lvl4pPr marL="16764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4pPr>
      <a:lvl5pPr marL="21336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5pPr>
      <a:lvl6pPr marL="2560317" marR="0" indent="-27431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6pPr>
      <a:lvl7pPr marL="3017517" marR="0" indent="-27431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7pPr>
      <a:lvl8pPr marL="3474720" marR="0" indent="-27431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8pPr>
      <a:lvl9pPr marL="39319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Unit 1-Introduction To Hadoop…"/>
          <p:cNvSpPr txBox="1">
            <a:spLocks noGrp="1"/>
          </p:cNvSpPr>
          <p:nvPr>
            <p:ph type="title"/>
          </p:nvPr>
        </p:nvSpPr>
        <p:spPr>
          <a:xfrm>
            <a:off x="1300765" y="1601300"/>
            <a:ext cx="10354617" cy="4112451"/>
          </a:xfrm>
          <a:prstGeom prst="rect">
            <a:avLst/>
          </a:prstGeom>
        </p:spPr>
        <p:txBody>
          <a:bodyPr/>
          <a:lstStyle/>
          <a:p>
            <a:pPr defTabSz="548640">
              <a:defRPr sz="4800" b="1">
                <a:solidFill>
                  <a:srgbClr val="94175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Unit </a:t>
            </a:r>
            <a:r>
              <a:rPr lang="en-IN" dirty="0"/>
              <a:t>4</a:t>
            </a:r>
            <a:r>
              <a:rPr dirty="0"/>
              <a:t>- </a:t>
            </a:r>
            <a:r>
              <a:rPr lang="en-IN" dirty="0"/>
              <a:t>Introduction to Apache Hive </a:t>
            </a:r>
            <a:endParaRPr dirty="0"/>
          </a:p>
          <a:p>
            <a:pPr algn="r" defTabSz="548640"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r" defTabSz="548640"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r" defTabSz="548640">
              <a:defRPr sz="2400" b="1">
                <a:solidFill>
                  <a:srgbClr val="94219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ONTENTS…"/>
          <p:cNvSpPr txBox="1">
            <a:spLocks noGrp="1"/>
          </p:cNvSpPr>
          <p:nvPr>
            <p:ph type="title"/>
          </p:nvPr>
        </p:nvSpPr>
        <p:spPr>
          <a:xfrm>
            <a:off x="1696826" y="1140643"/>
            <a:ext cx="8589538" cy="450668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l" defTabSz="130209">
              <a:defRPr sz="2492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  <a:p>
            <a:pPr algn="l" defTabSz="130209">
              <a:defRPr sz="2492" b="1">
                <a:latin typeface="Times New Roman"/>
                <a:ea typeface="Times New Roman"/>
                <a:cs typeface="Times New Roman"/>
                <a:sym typeface="Times New Roman"/>
              </a:defRPr>
            </a:pPr>
            <a:br>
              <a:rPr lang="en-IN" dirty="0"/>
            </a:br>
            <a:r>
              <a:rPr lang="en-IN" dirty="0"/>
              <a:t>CONTENTS</a:t>
            </a:r>
          </a:p>
          <a:p>
            <a:pPr algn="l" defTabSz="130209">
              <a:defRPr sz="2492" b="1">
                <a:latin typeface="+mn-lt"/>
                <a:ea typeface="+mn-ea"/>
                <a:cs typeface="+mn-cs"/>
                <a:sym typeface="Calibri"/>
              </a:defRPr>
            </a:pPr>
            <a:endParaRPr lang="en-US" dirty="0"/>
          </a:p>
          <a:p>
            <a:pPr algn="l">
              <a:tabLst>
                <a:tab pos="304800" algn="l"/>
                <a:tab pos="622300" algn="l"/>
                <a:tab pos="939800" algn="l"/>
                <a:tab pos="1257300" algn="l"/>
                <a:tab pos="1574800" algn="l"/>
                <a:tab pos="1892300" algn="l"/>
                <a:tab pos="2209800" algn="l"/>
                <a:tab pos="2527300" algn="l"/>
                <a:tab pos="2844800" algn="l"/>
                <a:tab pos="3162300" algn="l"/>
                <a:tab pos="3479800" algn="l"/>
                <a:tab pos="3797300" algn="l"/>
              </a:tabLst>
              <a:defRPr sz="2492" b="1">
                <a:latin typeface="+mn-lt"/>
                <a:ea typeface="+mn-ea"/>
                <a:cs typeface="+mn-cs"/>
                <a:sym typeface="Calibri"/>
              </a:defRPr>
            </a:pPr>
            <a:r>
              <a:rPr lang="en-US" sz="2136" dirty="0">
                <a:latin typeface="Times New Roman"/>
                <a:ea typeface="Times New Roman"/>
                <a:cs typeface="Times New Roman"/>
                <a:sym typeface="Times New Roman"/>
              </a:rPr>
              <a:t>Hive data types</a:t>
            </a:r>
            <a:br>
              <a:rPr lang="en-US" sz="2136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36" dirty="0">
                <a:latin typeface="Times New Roman"/>
                <a:ea typeface="Times New Roman"/>
                <a:cs typeface="Times New Roman"/>
                <a:sym typeface="Times New Roman"/>
              </a:rPr>
              <a:t>Hive Bucketing</a:t>
            </a:r>
            <a:br>
              <a:rPr lang="en-US" sz="2136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36" dirty="0">
                <a:latin typeface="Times New Roman"/>
                <a:ea typeface="Times New Roman"/>
                <a:cs typeface="Times New Roman"/>
                <a:sym typeface="Times New Roman"/>
              </a:rPr>
              <a:t>Hive partitioning</a:t>
            </a:r>
            <a:br>
              <a:rPr lang="en-US" sz="2136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36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386" indent="-71386" algn="l" defTabSz="130209">
              <a:defRPr sz="2136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386" indent="-71386" algn="l" defTabSz="130209">
              <a:defRPr sz="2136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386" indent="-71386" algn="l" defTabSz="130209">
              <a:defRPr sz="1779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 defTabSz="130209">
              <a:defRPr sz="712" b="1">
                <a:latin typeface="+mn-lt"/>
                <a:ea typeface="+mn-ea"/>
                <a:cs typeface="+mn-cs"/>
                <a:sym typeface="Calibri"/>
              </a:defRPr>
            </a:pPr>
            <a:endParaRPr sz="2136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386" indent="-71386" algn="l" defTabSz="130209">
              <a:defRPr sz="712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386" indent="-71386" algn="l" defTabSz="130209">
              <a:defRPr sz="712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386" indent="-71386" algn="l" defTabSz="130209">
              <a:defRPr sz="712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ircl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Decoupling of Components: Job scheduling and resource management are separated into the Application Master and Resource Manager, improving scalability.…"/>
          <p:cNvSpPr txBox="1"/>
          <p:nvPr/>
        </p:nvSpPr>
        <p:spPr>
          <a:xfrm>
            <a:off x="1833318" y="1317536"/>
            <a:ext cx="8899671" cy="3077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20578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Data Warehouse: </a:t>
            </a:r>
            <a:r>
              <a:rPr lang="en-US" dirty="0"/>
              <a:t>Built for big data</a:t>
            </a:r>
            <a:r>
              <a:rPr dirty="0"/>
              <a:t>.</a:t>
            </a:r>
          </a:p>
          <a:p>
            <a:pPr marL="220578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Query Language: </a:t>
            </a:r>
            <a:r>
              <a:rPr lang="en-US" dirty="0"/>
              <a:t>Uses HiveQL (SQL-like)</a:t>
            </a:r>
          </a:p>
          <a:p>
            <a:pPr marL="220578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Storage:</a:t>
            </a:r>
            <a:r>
              <a:rPr lang="en-US" dirty="0"/>
              <a:t> Runs on Hadoop ecosystem</a:t>
            </a:r>
          </a:p>
          <a:p>
            <a:pPr marL="220578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Processing:</a:t>
            </a:r>
            <a:r>
              <a:rPr lang="en-US" dirty="0"/>
              <a:t> Converts queries to MapReduce</a:t>
            </a:r>
          </a:p>
          <a:p>
            <a:pPr marL="220578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Optimized For:</a:t>
            </a:r>
            <a:r>
              <a:rPr lang="en-US" dirty="0"/>
              <a:t> Structured, semi-structured data</a:t>
            </a:r>
          </a:p>
          <a:p>
            <a:pPr marL="220578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Use Case:</a:t>
            </a:r>
            <a:r>
              <a:rPr lang="en-US" dirty="0"/>
              <a:t> Analytics, reporting, data processing</a:t>
            </a:r>
          </a:p>
        </p:txBody>
      </p:sp>
      <p:sp>
        <p:nvSpPr>
          <p:cNvPr id="180" name="Advantages of YARN (Hadoop 2)"/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HIVE:</a:t>
            </a:r>
            <a:endParaRPr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YARN (introduced in Hadoop 2)…"/>
          <p:cNvSpPr txBox="1"/>
          <p:nvPr/>
        </p:nvSpPr>
        <p:spPr>
          <a:xfrm>
            <a:off x="1923438" y="1641386"/>
            <a:ext cx="8899671" cy="3077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4826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Primitive  Types: 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TINYINT: </a:t>
            </a:r>
            <a:r>
              <a:rPr lang="en-IN" dirty="0"/>
              <a:t>(1-byte signed integer)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SMALLINT: </a:t>
            </a:r>
            <a:r>
              <a:rPr lang="en-IN" dirty="0"/>
              <a:t>(2-byte signed integer)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INT: </a:t>
            </a:r>
            <a:r>
              <a:rPr lang="en-IN" dirty="0"/>
              <a:t>(4-byte signed integer)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FLOAT: </a:t>
            </a:r>
            <a:r>
              <a:rPr lang="en-IN" dirty="0"/>
              <a:t>(4-byte)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DOUBLE: </a:t>
            </a:r>
            <a:r>
              <a:rPr lang="en-IN" dirty="0"/>
              <a:t>(8-byte)</a:t>
            </a:r>
          </a:p>
        </p:txBody>
      </p:sp>
      <p:sp>
        <p:nvSpPr>
          <p:cNvPr id="183" name="Summary"/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 Data Types:</a:t>
            </a:r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7F1BD-0D7C-B359-A208-742379713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YARN (introduced in Hadoop 2)…">
            <a:extLst>
              <a:ext uri="{FF2B5EF4-FFF2-40B4-BE49-F238E27FC236}">
                <a16:creationId xmlns:a16="http://schemas.microsoft.com/office/drawing/2014/main" id="{47A232E6-8EB7-DAF8-7ACF-A682321F6111}"/>
              </a:ext>
            </a:extLst>
          </p:cNvPr>
          <p:cNvSpPr txBox="1"/>
          <p:nvPr/>
        </p:nvSpPr>
        <p:spPr>
          <a:xfrm>
            <a:off x="1923438" y="1641386"/>
            <a:ext cx="8899671" cy="3584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4826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Date/Time Types: 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TIMESTAMP: </a:t>
            </a:r>
            <a:r>
              <a:rPr lang="en-US" dirty="0"/>
              <a:t>It supports traditional UNIX timestamp with optional nanosecond precision.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"YYYY-MM-DD HH:MM:SS.fffffffff" (9 decimal place precision)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DATES:  </a:t>
            </a:r>
            <a:r>
              <a:rPr lang="en-US" dirty="0"/>
              <a:t>The Date value is used to specify a particular year, month and day.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YYYY--MM--DD.</a:t>
            </a:r>
            <a:endParaRPr lang="en-IN" dirty="0"/>
          </a:p>
        </p:txBody>
      </p:sp>
      <p:sp>
        <p:nvSpPr>
          <p:cNvPr id="183" name="Summary">
            <a:extLst>
              <a:ext uri="{FF2B5EF4-FFF2-40B4-BE49-F238E27FC236}">
                <a16:creationId xmlns:a16="http://schemas.microsoft.com/office/drawing/2014/main" id="{C34C8AF4-1BE4-135C-97E5-C36879C0F6F5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 Data Types: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66838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29C7E-EE9F-AF54-D1D1-FAD50D701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YARN (introduced in Hadoop 2)…">
            <a:extLst>
              <a:ext uri="{FF2B5EF4-FFF2-40B4-BE49-F238E27FC236}">
                <a16:creationId xmlns:a16="http://schemas.microsoft.com/office/drawing/2014/main" id="{F38B424A-74B1-82CE-4D47-A29A5C0A079A}"/>
              </a:ext>
            </a:extLst>
          </p:cNvPr>
          <p:cNvSpPr txBox="1"/>
          <p:nvPr/>
        </p:nvSpPr>
        <p:spPr>
          <a:xfrm>
            <a:off x="1923438" y="1641386"/>
            <a:ext cx="8899671" cy="3584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4826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String Types: 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STRING: </a:t>
            </a:r>
            <a:r>
              <a:rPr lang="en-US" dirty="0"/>
              <a:t>The string is a sequence of characters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Enclose within single quotes (') or double quotes (").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VARCHAR: </a:t>
            </a:r>
            <a:r>
              <a:rPr lang="en-US" dirty="0"/>
              <a:t> range lies between 1 and 65535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CHAR:  </a:t>
            </a:r>
            <a:r>
              <a:rPr lang="en-US" dirty="0"/>
              <a:t>maximum length is fixed at 255.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IN" dirty="0"/>
          </a:p>
        </p:txBody>
      </p:sp>
      <p:sp>
        <p:nvSpPr>
          <p:cNvPr id="183" name="Summary">
            <a:extLst>
              <a:ext uri="{FF2B5EF4-FFF2-40B4-BE49-F238E27FC236}">
                <a16:creationId xmlns:a16="http://schemas.microsoft.com/office/drawing/2014/main" id="{01D255C6-42CD-6A32-67EA-01F7AAE9DD51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 Data Types: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856241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81595-1B6E-899F-220F-2A5EA20A0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YARN (introduced in Hadoop 2)…">
            <a:extLst>
              <a:ext uri="{FF2B5EF4-FFF2-40B4-BE49-F238E27FC236}">
                <a16:creationId xmlns:a16="http://schemas.microsoft.com/office/drawing/2014/main" id="{043365AF-A68A-A988-1014-ED6D6CC1C0AC}"/>
              </a:ext>
            </a:extLst>
          </p:cNvPr>
          <p:cNvSpPr txBox="1"/>
          <p:nvPr/>
        </p:nvSpPr>
        <p:spPr>
          <a:xfrm>
            <a:off x="1923438" y="1641386"/>
            <a:ext cx="8899671" cy="3077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4826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Complex Types: 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Arrays: </a:t>
            </a:r>
            <a:r>
              <a:rPr lang="en-US" dirty="0"/>
              <a:t>collection of fields all of the same data type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Map: </a:t>
            </a:r>
            <a:r>
              <a:rPr lang="en-US" dirty="0"/>
              <a:t>Collection of Key, Value Pairs 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Key is a Primitive Type 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Value can be anything. 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IN" dirty="0"/>
          </a:p>
        </p:txBody>
      </p:sp>
      <p:sp>
        <p:nvSpPr>
          <p:cNvPr id="183" name="Summary">
            <a:extLst>
              <a:ext uri="{FF2B5EF4-FFF2-40B4-BE49-F238E27FC236}">
                <a16:creationId xmlns:a16="http://schemas.microsoft.com/office/drawing/2014/main" id="{45B7A87A-6081-48E6-91B7-94C6A965A4F5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 Data Types: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998949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0EBCF-50B8-C617-DC9A-3A52A7E8A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YARN (introduced in Hadoop 2)…">
            <a:extLst>
              <a:ext uri="{FF2B5EF4-FFF2-40B4-BE49-F238E27FC236}">
                <a16:creationId xmlns:a16="http://schemas.microsoft.com/office/drawing/2014/main" id="{E0EE1D2C-9A35-F1EA-9705-B0E4B391101C}"/>
              </a:ext>
            </a:extLst>
          </p:cNvPr>
          <p:cNvSpPr txBox="1"/>
          <p:nvPr/>
        </p:nvSpPr>
        <p:spPr>
          <a:xfrm>
            <a:off x="1923438" y="1641386"/>
            <a:ext cx="8899671" cy="1045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4826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Complex Types: 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Struct: </a:t>
            </a:r>
            <a:r>
              <a:rPr lang="en-US" dirty="0"/>
              <a:t>It is a nested complex data structure.</a:t>
            </a:r>
            <a:endParaRPr lang="en-IN" dirty="0"/>
          </a:p>
        </p:txBody>
      </p:sp>
      <p:sp>
        <p:nvSpPr>
          <p:cNvPr id="183" name="Summary">
            <a:extLst>
              <a:ext uri="{FF2B5EF4-FFF2-40B4-BE49-F238E27FC236}">
                <a16:creationId xmlns:a16="http://schemas.microsoft.com/office/drawing/2014/main" id="{55AD611A-9C3C-6C8A-8760-16CA01391FFA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 Data Types: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908044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6E0C3-699E-54CD-1A4D-4A7422EC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YARN (introduced in Hadoop 2)…">
            <a:extLst>
              <a:ext uri="{FF2B5EF4-FFF2-40B4-BE49-F238E27FC236}">
                <a16:creationId xmlns:a16="http://schemas.microsoft.com/office/drawing/2014/main" id="{D0B81BBA-B7F0-61A5-93EC-1BC21C05B150}"/>
              </a:ext>
            </a:extLst>
          </p:cNvPr>
          <p:cNvSpPr txBox="1"/>
          <p:nvPr/>
        </p:nvSpPr>
        <p:spPr>
          <a:xfrm>
            <a:off x="1923438" y="1641386"/>
            <a:ext cx="8899671" cy="3077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Purpose: </a:t>
            </a:r>
            <a:r>
              <a:rPr lang="en-IN" dirty="0"/>
              <a:t>Improves query performance, efficiency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Hash Function: </a:t>
            </a:r>
            <a:r>
              <a:rPr lang="en-IN" dirty="0"/>
              <a:t>Distributes data into buckets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Defined Using: </a:t>
            </a:r>
            <a:r>
              <a:rPr lang="en-IN" dirty="0"/>
              <a:t>CLUSTERED BY (column)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Bucket Count: </a:t>
            </a:r>
            <a:r>
              <a:rPr lang="en-IN" dirty="0"/>
              <a:t>Determines number of files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Used With: </a:t>
            </a:r>
            <a:r>
              <a:rPr lang="en-IN" dirty="0"/>
              <a:t>Partitioning for better performance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Manages: </a:t>
            </a:r>
            <a:r>
              <a:rPr lang="en-IN" dirty="0"/>
              <a:t>Even data distribution, faster queries</a:t>
            </a:r>
          </a:p>
        </p:txBody>
      </p:sp>
      <p:sp>
        <p:nvSpPr>
          <p:cNvPr id="183" name="Summary">
            <a:extLst>
              <a:ext uri="{FF2B5EF4-FFF2-40B4-BE49-F238E27FC236}">
                <a16:creationId xmlns:a16="http://schemas.microsoft.com/office/drawing/2014/main" id="{415DBEE3-9FAA-5F1C-1DF4-532EB7E7581B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 Bucketing: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394749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46E04-DFD8-DC32-B5AC-A411C2996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YARN (introduced in Hadoop 2)…">
            <a:extLst>
              <a:ext uri="{FF2B5EF4-FFF2-40B4-BE49-F238E27FC236}">
                <a16:creationId xmlns:a16="http://schemas.microsoft.com/office/drawing/2014/main" id="{CB2B1441-6F05-E68F-A46F-25860DEDFB33}"/>
              </a:ext>
            </a:extLst>
          </p:cNvPr>
          <p:cNvSpPr txBox="1"/>
          <p:nvPr/>
        </p:nvSpPr>
        <p:spPr>
          <a:xfrm>
            <a:off x="1923438" y="1641386"/>
            <a:ext cx="8899671" cy="3077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596900" indent="-457200" algn="just" defTabSz="457200">
              <a:lnSpc>
                <a:spcPct val="150000"/>
              </a:lnSpc>
              <a:buSzPct val="100000"/>
              <a:buAutoNum type="arabicPeriod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Creating a Bucketed table:</a:t>
            </a:r>
          </a:p>
          <a:p>
            <a:pPr marL="139700"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CREATE TABLE table_name (column1 DATA_TYPE, column2 DATA_TYPE)</a:t>
            </a:r>
          </a:p>
          <a:p>
            <a:pPr marL="139700"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CLUSTERED BY (column_name) INTO N BUCKETSSTORED AS FILE_FORMAT;</a:t>
            </a:r>
            <a:endParaRPr lang="en-IN" dirty="0"/>
          </a:p>
          <a:p>
            <a:pPr marL="596900" indent="-457200" algn="just" defTabSz="457200">
              <a:lnSpc>
                <a:spcPct val="150000"/>
              </a:lnSpc>
              <a:buSzPct val="100000"/>
              <a:buAutoNum type="arabicPeriod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IN" dirty="0"/>
          </a:p>
        </p:txBody>
      </p:sp>
      <p:sp>
        <p:nvSpPr>
          <p:cNvPr id="183" name="Summary">
            <a:extLst>
              <a:ext uri="{FF2B5EF4-FFF2-40B4-BE49-F238E27FC236}">
                <a16:creationId xmlns:a16="http://schemas.microsoft.com/office/drawing/2014/main" id="{AF62FC90-6422-FA20-C333-720CF35D1C0E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 Bucketing: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93636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9FA84-025D-0574-016B-48C799BA4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YARN (introduced in Hadoop 2)…">
            <a:extLst>
              <a:ext uri="{FF2B5EF4-FFF2-40B4-BE49-F238E27FC236}">
                <a16:creationId xmlns:a16="http://schemas.microsoft.com/office/drawing/2014/main" id="{DD3D8C5C-DD46-B74B-C947-2677D8528860}"/>
              </a:ext>
            </a:extLst>
          </p:cNvPr>
          <p:cNvSpPr txBox="1"/>
          <p:nvPr/>
        </p:nvSpPr>
        <p:spPr>
          <a:xfrm>
            <a:off x="1923438" y="1641386"/>
            <a:ext cx="8899671" cy="3584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39700"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2.  Enabling Bucketing:</a:t>
            </a:r>
          </a:p>
          <a:p>
            <a:pPr marL="139700"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SET hive.enforce.bucketing = true;</a:t>
            </a:r>
          </a:p>
          <a:p>
            <a:pPr marL="139700"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139700"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3. Inserting Data:</a:t>
            </a:r>
          </a:p>
          <a:p>
            <a:pPr marL="139700"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INSERT INTO table_name VALUES (value1, value2);</a:t>
            </a:r>
          </a:p>
          <a:p>
            <a:pPr marL="139700"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139700"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IN" dirty="0"/>
          </a:p>
        </p:txBody>
      </p:sp>
      <p:sp>
        <p:nvSpPr>
          <p:cNvPr id="183" name="Summary">
            <a:extLst>
              <a:ext uri="{FF2B5EF4-FFF2-40B4-BE49-F238E27FC236}">
                <a16:creationId xmlns:a16="http://schemas.microsoft.com/office/drawing/2014/main" id="{6E6188C6-5168-7A07-C258-C8C750BCFB46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 Bucketing: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653684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C9AB6-17E2-0C97-CD4D-ADAB8CA87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YARN (introduced in Hadoop 2)…">
            <a:extLst>
              <a:ext uri="{FF2B5EF4-FFF2-40B4-BE49-F238E27FC236}">
                <a16:creationId xmlns:a16="http://schemas.microsoft.com/office/drawing/2014/main" id="{21582F50-A211-8050-6C64-4D7612AD2341}"/>
              </a:ext>
            </a:extLst>
          </p:cNvPr>
          <p:cNvSpPr txBox="1"/>
          <p:nvPr/>
        </p:nvSpPr>
        <p:spPr>
          <a:xfrm>
            <a:off x="1923438" y="1641386"/>
            <a:ext cx="8899671" cy="3584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Goal: </a:t>
            </a:r>
            <a:r>
              <a:rPr lang="en-IN" dirty="0"/>
              <a:t>Splits data into multiple partitions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Partition Column: </a:t>
            </a:r>
            <a:r>
              <a:rPr lang="en-IN" dirty="0"/>
              <a:t>Used for data organization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Types: </a:t>
            </a:r>
            <a:r>
              <a:rPr lang="en-US" dirty="0"/>
              <a:t>Static and Dynamic partitioning available</a:t>
            </a:r>
            <a:endParaRPr lang="en-IN" dirty="0"/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Reduces Scanning:  </a:t>
            </a:r>
            <a:r>
              <a:rPr lang="en-IN" dirty="0"/>
              <a:t>Queries run on partitions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Improves Performance: </a:t>
            </a:r>
            <a:r>
              <a:rPr lang="en-IN" dirty="0"/>
              <a:t>Faster retrieval, execution time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Storage Optimization:</a:t>
            </a:r>
            <a:r>
              <a:rPr lang="en-US" dirty="0"/>
              <a:t> Saves storage and processing resources</a:t>
            </a:r>
          </a:p>
          <a:p>
            <a:pPr marL="4826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IN" dirty="0"/>
          </a:p>
        </p:txBody>
      </p:sp>
      <p:sp>
        <p:nvSpPr>
          <p:cNvPr id="183" name="Summary">
            <a:extLst>
              <a:ext uri="{FF2B5EF4-FFF2-40B4-BE49-F238E27FC236}">
                <a16:creationId xmlns:a16="http://schemas.microsoft.com/office/drawing/2014/main" id="{512EEFF7-521F-2166-FE7A-D3C9C0F6F330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 Partitioning: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620673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79A73-F1B5-08EE-1244-77135445B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YARN (introduced in Hadoop 2)…">
            <a:extLst>
              <a:ext uri="{FF2B5EF4-FFF2-40B4-BE49-F238E27FC236}">
                <a16:creationId xmlns:a16="http://schemas.microsoft.com/office/drawing/2014/main" id="{F33A10F9-679B-BAD0-EB6F-5C15A0AD2670}"/>
              </a:ext>
            </a:extLst>
          </p:cNvPr>
          <p:cNvSpPr txBox="1"/>
          <p:nvPr/>
        </p:nvSpPr>
        <p:spPr>
          <a:xfrm>
            <a:off x="1923438" y="1641386"/>
            <a:ext cx="8899671" cy="2569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596900" indent="-457200" algn="just" defTabSz="457200">
              <a:lnSpc>
                <a:spcPct val="150000"/>
              </a:lnSpc>
              <a:buSzPct val="100000"/>
              <a:buAutoNum type="arabicPeriod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Creating a Partitioned Table:</a:t>
            </a:r>
          </a:p>
          <a:p>
            <a:pPr marL="139700"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CREATE TABLE table_name (column1 DATA_TYPE, column2 DATA_TYPE ) </a:t>
            </a:r>
          </a:p>
          <a:p>
            <a:pPr marL="139700"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PARTITIONED BY (partition_column DATA_TYPE) STORED AS FILE_FORMAT;</a:t>
            </a:r>
            <a:r>
              <a:rPr lang="en-IN" dirty="0"/>
              <a:t> </a:t>
            </a:r>
          </a:p>
        </p:txBody>
      </p:sp>
      <p:sp>
        <p:nvSpPr>
          <p:cNvPr id="183" name="Summary">
            <a:extLst>
              <a:ext uri="{FF2B5EF4-FFF2-40B4-BE49-F238E27FC236}">
                <a16:creationId xmlns:a16="http://schemas.microsoft.com/office/drawing/2014/main" id="{49145B2C-3560-018B-B364-3097A3DAF45A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 Partitioning: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597578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81AA9-7BA9-FCD1-DD3D-48786C7DE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YARN (introduced in Hadoop 2)…">
            <a:extLst>
              <a:ext uri="{FF2B5EF4-FFF2-40B4-BE49-F238E27FC236}">
                <a16:creationId xmlns:a16="http://schemas.microsoft.com/office/drawing/2014/main" id="{45C1D8E3-9C5F-D006-25C3-906E58DAB69C}"/>
              </a:ext>
            </a:extLst>
          </p:cNvPr>
          <p:cNvSpPr txBox="1"/>
          <p:nvPr/>
        </p:nvSpPr>
        <p:spPr>
          <a:xfrm>
            <a:off x="1923438" y="1641386"/>
            <a:ext cx="8899671" cy="155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39700"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2. Inserting Data into a Partition:</a:t>
            </a:r>
          </a:p>
          <a:p>
            <a:pPr marL="139700"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INSERT INTO table_name PARTITION (partition_column=value) VALUES (value1, value2);</a:t>
            </a:r>
          </a:p>
        </p:txBody>
      </p:sp>
      <p:sp>
        <p:nvSpPr>
          <p:cNvPr id="183" name="Summary">
            <a:extLst>
              <a:ext uri="{FF2B5EF4-FFF2-40B4-BE49-F238E27FC236}">
                <a16:creationId xmlns:a16="http://schemas.microsoft.com/office/drawing/2014/main" id="{07061D7B-DAC0-ACC1-ADA5-2F1BBE5DD7B8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 Partitioning: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773118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HANK YOU"/>
          <p:cNvSpPr txBox="1"/>
          <p:nvPr/>
        </p:nvSpPr>
        <p:spPr>
          <a:xfrm>
            <a:off x="1805895" y="1796530"/>
            <a:ext cx="9387482" cy="2416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93673" indent="-192085" algn="ctr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6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193673" indent="-192085" algn="ctr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6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THANK YOU	</a:t>
            </a:r>
          </a:p>
          <a:p>
            <a:pPr marL="193673" indent="-192085" algn="just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2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u">
  <a:themeElements>
    <a:clrScheme name="cu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u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c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u">
  <a:themeElements>
    <a:clrScheme name="cu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u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c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1680</TotalTime>
  <Words>503</Words>
  <Application>Microsoft Office PowerPoint</Application>
  <PresentationFormat>Widescreen</PresentationFormat>
  <Paragraphs>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Cambria</vt:lpstr>
      <vt:lpstr>Cambria Bold</vt:lpstr>
      <vt:lpstr>Helvetica</vt:lpstr>
      <vt:lpstr>Times New Roman</vt:lpstr>
      <vt:lpstr>Wingdings</vt:lpstr>
      <vt:lpstr>cu</vt:lpstr>
      <vt:lpstr>Unit 4- Introduction to Apache Hive    </vt:lpstr>
      <vt:lpstr>       CONTENTS  Hive data types Hive Bucketing Hive partitioning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zeenat zahra</cp:lastModifiedBy>
  <cp:revision>46</cp:revision>
  <dcterms:modified xsi:type="dcterms:W3CDTF">2025-03-11T03:38:42Z</dcterms:modified>
</cp:coreProperties>
</file>