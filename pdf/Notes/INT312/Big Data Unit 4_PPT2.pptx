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0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65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144" y="7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6" name="Shape 16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1524000" y="3429000"/>
            <a:ext cx="10363200" cy="1066800"/>
          </a:xfrm>
          <a:prstGeom prst="rect">
            <a:avLst/>
          </a:prstGeom>
          <a:solidFill>
            <a:srgbClr val="FFFFFF"/>
          </a:solidFill>
          <a:ln w="19050" cap="sq">
            <a:solidFill>
              <a:srgbClr val="000000"/>
            </a:solidFill>
            <a:bevel/>
          </a:ln>
        </p:spPr>
        <p:txBody>
          <a:bodyPr/>
          <a:lstStyle>
            <a:lvl1pPr algn="r"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33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34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Department of Computer and Communication Engineering (CCE)"/>
          <p:cNvSpPr/>
          <p:nvPr/>
        </p:nvSpPr>
        <p:spPr>
          <a:xfrm>
            <a:off x="3791391" y="87311"/>
            <a:ext cx="6134479" cy="383885"/>
          </a:xfrm>
          <a:prstGeom prst="rect">
            <a:avLst/>
          </a:prstGeom>
          <a:ln w="50800">
            <a:solidFill>
              <a:srgbClr val="C00000"/>
            </a:solidFill>
            <a:miter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Department of Computer and Communication Engineering (CCE)</a:t>
            </a:r>
          </a:p>
        </p:txBody>
      </p:sp>
      <p:sp>
        <p:nvSpPr>
          <p:cNvPr id="36" name="Body Level One…"/>
          <p:cNvSpPr txBox="1">
            <a:spLocks noGrp="1"/>
          </p:cNvSpPr>
          <p:nvPr>
            <p:ph type="body" idx="1"/>
          </p:nvPr>
        </p:nvSpPr>
        <p:spPr>
          <a:xfrm>
            <a:off x="1016000" y="1447800"/>
            <a:ext cx="10972800" cy="4800600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 marL="771525" indent="-314325">
              <a:defRPr sz="2200"/>
            </a:lvl2pPr>
            <a:lvl3pPr marL="1193800" indent="-279400">
              <a:defRPr sz="2200"/>
            </a:lvl3pPr>
            <a:lvl4pPr marL="1651000" indent="-279400">
              <a:defRPr sz="2200"/>
            </a:lvl4pPr>
            <a:lvl5pPr marL="2108200" indent="-279400">
              <a:defRPr sz="2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Rectangle"/>
          <p:cNvSpPr>
            <a:spLocks noGrp="1"/>
          </p:cNvSpPr>
          <p:nvPr>
            <p:ph type="body" sz="quarter" idx="21"/>
          </p:nvPr>
        </p:nvSpPr>
        <p:spPr>
          <a:xfrm>
            <a:off x="1422400" y="609600"/>
            <a:ext cx="10566400" cy="685800"/>
          </a:xfrm>
          <a:prstGeom prst="rect">
            <a:avLst/>
          </a:prstGeom>
          <a:solidFill>
            <a:srgbClr val="FFFFFF"/>
          </a:solidFill>
        </p:spPr>
        <p:txBody>
          <a:bodyPr anchor="ctr"/>
          <a:lstStyle/>
          <a:p>
            <a:endParaRPr/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Image"/>
          <p:cNvSpPr>
            <a:spLocks noGrp="1"/>
          </p:cNvSpPr>
          <p:nvPr>
            <p:ph type="pic" idx="21"/>
          </p:nvPr>
        </p:nvSpPr>
        <p:spPr>
          <a:xfrm>
            <a:off x="3860800" y="1371600"/>
            <a:ext cx="8026400" cy="4724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04800" y="1371600"/>
            <a:ext cx="3454400" cy="4724400"/>
          </a:xfrm>
          <a:prstGeom prst="rect">
            <a:avLst/>
          </a:prstGeom>
        </p:spPr>
        <p:txBody>
          <a:bodyPr/>
          <a:lstStyle>
            <a:lvl1pPr marL="137160" indent="-137160">
              <a:spcBef>
                <a:spcPts val="400"/>
              </a:spcBef>
              <a:defRPr sz="2000"/>
            </a:lvl1pPr>
            <a:lvl2pPr marL="340358" indent="-203198">
              <a:spcBef>
                <a:spcPts val="400"/>
              </a:spcBef>
              <a:buChar char="▪"/>
              <a:defRPr sz="2000"/>
            </a:lvl2pPr>
            <a:lvl3pPr marL="523238" indent="-203198">
              <a:spcBef>
                <a:spcPts val="400"/>
              </a:spcBef>
              <a:defRPr sz="2000"/>
            </a:lvl3pPr>
            <a:lvl4pPr marL="1600199" indent="-228599">
              <a:spcBef>
                <a:spcPts val="400"/>
              </a:spcBef>
              <a:defRPr sz="2000"/>
            </a:lvl4pPr>
            <a:lvl5pPr marL="2057399" indent="-228599">
              <a:spcBef>
                <a:spcPts val="400"/>
              </a:spcBef>
              <a:defRPr sz="2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55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56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Department of Computer and Communicationq Engineering (CCE)"/>
          <p:cNvSpPr/>
          <p:nvPr/>
        </p:nvSpPr>
        <p:spPr>
          <a:xfrm>
            <a:off x="4013198" y="-3"/>
            <a:ext cx="5968647" cy="310488"/>
          </a:xfrm>
          <a:prstGeom prst="rect">
            <a:avLst/>
          </a:prstGeom>
          <a:solidFill>
            <a:srgbClr val="632523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700" b="1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Department of Computer and Communicationq Engineering (CCE)</a:t>
            </a:r>
          </a:p>
        </p:txBody>
      </p:sp>
      <p:sp>
        <p:nvSpPr>
          <p:cNvPr id="58" name="Body Level One…"/>
          <p:cNvSpPr txBox="1">
            <a:spLocks noGrp="1"/>
          </p:cNvSpPr>
          <p:nvPr>
            <p:ph type="body" idx="1"/>
          </p:nvPr>
        </p:nvSpPr>
        <p:spPr>
          <a:xfrm>
            <a:off x="812800" y="1524000"/>
            <a:ext cx="11074400" cy="48768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Rectangle"/>
          <p:cNvSpPr>
            <a:spLocks noGrp="1"/>
          </p:cNvSpPr>
          <p:nvPr>
            <p:ph type="body" sz="quarter" idx="21"/>
          </p:nvPr>
        </p:nvSpPr>
        <p:spPr>
          <a:xfrm>
            <a:off x="1422400" y="533400"/>
            <a:ext cx="10464800" cy="685800"/>
          </a:xfrm>
          <a:prstGeom prst="rect">
            <a:avLst/>
          </a:prstGeom>
          <a:solidFill>
            <a:srgbClr val="FFFFFF"/>
          </a:solidFill>
        </p:spPr>
        <p:txBody>
          <a:bodyPr anchor="ctr"/>
          <a:lstStyle/>
          <a:p>
            <a:endParaRPr/>
          </a:p>
        </p:txBody>
      </p:sp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chool of Computer Science &amp; Engineering (SCS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School of Computer Science &amp; Engineering (SCSE)</a:t>
            </a:r>
          </a:p>
        </p:txBody>
      </p:sp>
      <p:sp>
        <p:nvSpPr>
          <p:cNvPr id="68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FF88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69" name="lpu logo.png" descr="lp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3700" y="100834"/>
            <a:ext cx="2236729" cy="1118366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78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79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Title Text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r>
              <a:t>Title Text</a:t>
            </a:r>
          </a:p>
        </p:txBody>
      </p:sp>
      <p:sp>
        <p:nvSpPr>
          <p:cNvPr id="81" name="Body Level One…"/>
          <p:cNvSpPr txBox="1">
            <a:spLocks noGrp="1"/>
          </p:cNvSpPr>
          <p:nvPr>
            <p:ph type="body" idx="1"/>
          </p:nvPr>
        </p:nvSpPr>
        <p:spPr>
          <a:xfrm>
            <a:off x="4766733" y="273050"/>
            <a:ext cx="6815667" cy="5853115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defRPr sz="3200"/>
            </a:lvl1pPr>
            <a:lvl2pPr marL="783771" indent="-326571">
              <a:spcBef>
                <a:spcPts val="700"/>
              </a:spcBef>
              <a:defRPr sz="3200"/>
            </a:lvl2pPr>
            <a:lvl3pPr marL="1219200" indent="-304800">
              <a:spcBef>
                <a:spcPts val="700"/>
              </a:spcBef>
              <a:defRPr sz="3200"/>
            </a:lvl3pPr>
            <a:lvl4pPr marL="1737360" indent="-365760">
              <a:spcBef>
                <a:spcPts val="700"/>
              </a:spcBef>
              <a:defRPr sz="3200"/>
            </a:lvl4pPr>
            <a:lvl5pPr marL="2194560" indent="-365760">
              <a:spcBef>
                <a:spcPts val="700"/>
              </a:spcBef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2" name="Rectangle"/>
          <p:cNvSpPr>
            <a:spLocks noGrp="1"/>
          </p:cNvSpPr>
          <p:nvPr>
            <p:ph type="body" sz="half" idx="21"/>
          </p:nvPr>
        </p:nvSpPr>
        <p:spPr>
          <a:xfrm>
            <a:off x="609598" y="1435101"/>
            <a:ext cx="4011090" cy="46910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Text"/>
          <p:cNvSpPr txBox="1">
            <a:spLocks noGrp="1"/>
          </p:cNvSpPr>
          <p:nvPr>
            <p:ph type="title"/>
          </p:nvPr>
        </p:nvSpPr>
        <p:spPr>
          <a:xfrm>
            <a:off x="2389714" y="4800600"/>
            <a:ext cx="7315204" cy="566738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r>
              <a:t>Title Text</a:t>
            </a:r>
          </a:p>
        </p:txBody>
      </p:sp>
      <p:sp>
        <p:nvSpPr>
          <p:cNvPr id="91" name="Image"/>
          <p:cNvSpPr>
            <a:spLocks noGrp="1"/>
          </p:cNvSpPr>
          <p:nvPr>
            <p:ph type="pic" sz="half" idx="21"/>
          </p:nvPr>
        </p:nvSpPr>
        <p:spPr>
          <a:xfrm>
            <a:off x="2389714" y="612775"/>
            <a:ext cx="73152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389714" y="5367337"/>
            <a:ext cx="7315204" cy="80486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623887" indent="-166687">
              <a:spcBef>
                <a:spcPts val="300"/>
              </a:spcBef>
              <a:buFontTx/>
              <a:defRPr sz="1400"/>
            </a:lvl2pPr>
            <a:lvl3pPr marL="1047750" indent="-133350">
              <a:spcBef>
                <a:spcPts val="300"/>
              </a:spcBef>
              <a:buFontTx/>
              <a:defRPr sz="1400"/>
            </a:lvl3pPr>
            <a:lvl4pPr marL="1531619" indent="-160019">
              <a:spcBef>
                <a:spcPts val="300"/>
              </a:spcBef>
              <a:buFontTx/>
              <a:defRPr sz="1400"/>
            </a:lvl4pPr>
            <a:lvl5pPr marL="1988817" indent="-160017">
              <a:spcBef>
                <a:spcPts val="300"/>
              </a:spcBef>
              <a:buFontTx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101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02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Title Text"/>
          <p:cNvSpPr txBox="1">
            <a:spLocks noGrp="1"/>
          </p:cNvSpPr>
          <p:nvPr>
            <p:ph type="title"/>
          </p:nvPr>
        </p:nvSpPr>
        <p:spPr>
          <a:xfrm>
            <a:off x="406400" y="1371600"/>
            <a:ext cx="10972800" cy="685800"/>
          </a:xfrm>
          <a:prstGeom prst="rect">
            <a:avLst/>
          </a:prstGeom>
        </p:spPr>
        <p:txBody>
          <a:bodyPr anchor="t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04" name="Body Level One…"/>
          <p:cNvSpPr txBox="1">
            <a:spLocks noGrp="1"/>
          </p:cNvSpPr>
          <p:nvPr>
            <p:ph type="body" idx="1"/>
          </p:nvPr>
        </p:nvSpPr>
        <p:spPr>
          <a:xfrm>
            <a:off x="406400" y="2209800"/>
            <a:ext cx="10972800" cy="4267200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181100" indent="-266700">
              <a:spcBef>
                <a:spcPts val="600"/>
              </a:spcBef>
              <a:defRPr sz="2800"/>
            </a:lvl3pPr>
            <a:lvl4pPr marL="1691638" indent="-320038">
              <a:spcBef>
                <a:spcPts val="600"/>
              </a:spcBef>
              <a:defRPr sz="2800"/>
            </a:lvl4pPr>
            <a:lvl5pPr marL="2148838" indent="-320038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Text"/>
          <p:cNvSpPr txBox="1">
            <a:spLocks noGrp="1"/>
          </p:cNvSpPr>
          <p:nvPr>
            <p:ph type="title"/>
          </p:nvPr>
        </p:nvSpPr>
        <p:spPr>
          <a:xfrm>
            <a:off x="8839200" y="274639"/>
            <a:ext cx="2743200" cy="5851527"/>
          </a:xfrm>
          <a:prstGeom prst="rect">
            <a:avLst/>
          </a:prstGeom>
        </p:spPr>
        <p:txBody>
          <a:bodyPr anchor="t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1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274639"/>
            <a:ext cx="8026400" cy="5851527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181100" indent="-266700">
              <a:spcBef>
                <a:spcPts val="600"/>
              </a:spcBef>
              <a:defRPr sz="2800"/>
            </a:lvl3pPr>
            <a:lvl4pPr marL="1691638" indent="-320038">
              <a:spcBef>
                <a:spcPts val="600"/>
              </a:spcBef>
              <a:defRPr sz="2800"/>
            </a:lvl4pPr>
            <a:lvl5pPr marL="2148838" indent="-320038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122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23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Title Text"/>
          <p:cNvSpPr txBox="1">
            <a:spLocks noGrp="1"/>
          </p:cNvSpPr>
          <p:nvPr>
            <p:ph type="title"/>
          </p:nvPr>
        </p:nvSpPr>
        <p:spPr>
          <a:xfrm>
            <a:off x="541867" y="88900"/>
            <a:ext cx="10358967" cy="1139826"/>
          </a:xfrm>
          <a:prstGeom prst="rect">
            <a:avLst/>
          </a:prstGeom>
        </p:spPr>
        <p:txBody>
          <a:bodyPr anchor="t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133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34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Title Text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1" cy="1362079"/>
          </a:xfrm>
          <a:prstGeom prst="rect">
            <a:avLst/>
          </a:prstGeom>
        </p:spPr>
        <p:txBody>
          <a:bodyPr anchor="t"/>
          <a:lstStyle>
            <a:lvl1pPr algn="l">
              <a:defRPr sz="4000" cap="all"/>
            </a:lvl1pPr>
          </a:lstStyle>
          <a:p>
            <a:r>
              <a:t>Title Text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63084" y="2906713"/>
            <a:ext cx="10363201" cy="150019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695325" indent="-238125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2pPr>
            <a:lvl3pPr marL="1104900" indent="-190500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3pPr>
            <a:lvl4pPr marL="1600199" indent="-228599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4pPr>
            <a:lvl5pPr marL="2057399" indent="-228599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chool of Computer Science &amp; Engineering (SCS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School of Computer Science &amp; Engineering (SCSE)</a:t>
            </a:r>
          </a:p>
        </p:txBody>
      </p:sp>
      <p:sp>
        <p:nvSpPr>
          <p:cNvPr id="145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FF9601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xfrm>
            <a:off x="1154954" y="1447800"/>
            <a:ext cx="8825660" cy="3329581"/>
          </a:xfrm>
          <a:prstGeom prst="rect">
            <a:avLst/>
          </a:prstGeom>
        </p:spPr>
        <p:txBody>
          <a:bodyPr anchor="b"/>
          <a:lstStyle>
            <a:lvl1pPr>
              <a:defRPr sz="7200"/>
            </a:lvl1pPr>
          </a:lstStyle>
          <a:p>
            <a:r>
              <a:t>Title Text</a:t>
            </a:r>
          </a:p>
        </p:txBody>
      </p:sp>
      <p:sp>
        <p:nvSpPr>
          <p:cNvPr id="14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54954" y="4777380"/>
            <a:ext cx="8825660" cy="86142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cap="all">
                <a:solidFill>
                  <a:srgbClr val="F8F7F3"/>
                </a:solidFill>
              </a:defRPr>
            </a:lvl1pPr>
            <a:lvl2pPr marL="790575" indent="-333375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2pPr>
            <a:lvl3pPr marL="1181100" indent="-266700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3pPr>
            <a:lvl4pPr marL="1691638" indent="-320038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4pPr>
            <a:lvl5pPr marL="2148838" indent="-320038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148" name="lpu logo.png" descr="lp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2900" y="136404"/>
            <a:ext cx="2178289" cy="1089146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chool of Computer Science &amp; Engineering (SCSE)"/>
          <p:cNvSpPr txBox="1"/>
          <p:nvPr/>
        </p:nvSpPr>
        <p:spPr>
          <a:xfrm>
            <a:off x="0" y="6457950"/>
            <a:ext cx="12192000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School of Computer Science &amp; Engineering (SCSE)</a:t>
            </a:r>
          </a:p>
        </p:txBody>
      </p:sp>
      <p:sp>
        <p:nvSpPr>
          <p:cNvPr id="157" name="Line"/>
          <p:cNvSpPr/>
          <p:nvPr/>
        </p:nvSpPr>
        <p:spPr>
          <a:xfrm>
            <a:off x="-2" y="6400800"/>
            <a:ext cx="12192005" cy="0"/>
          </a:xfrm>
          <a:prstGeom prst="line">
            <a:avLst/>
          </a:prstGeom>
          <a:ln w="88900">
            <a:solidFill>
              <a:srgbClr val="FF880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pic>
        <p:nvPicPr>
          <p:cNvPr id="158" name="image1.png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3700" y="100835"/>
            <a:ext cx="2236729" cy="1118365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28023" y="6540821"/>
            <a:ext cx="263978" cy="26923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3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4" name="https://encrypted-tbn3.gstatic.com/images?q=tbn:ANd9GcTyg3Gq4WoxkxO75aZWNEjYFvavmMfWdiMvs57jpDF8YRR3yCybqQ" descr="https://encrypted-tbn3.gstatic.com/images?q=tbn:ANd9GcTyg3Gq4WoxkxO75aZWNEjYFvavmMfWdiMvs57jpDF8YRR3yCybqQ">
            <a:hlinkClick r:id="rId16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Department of Computer Science and Engineering (CSE)"/>
          <p:cNvSpPr/>
          <p:nvPr/>
        </p:nvSpPr>
        <p:spPr>
          <a:xfrm>
            <a:off x="3740151" y="87311"/>
            <a:ext cx="8451851" cy="383885"/>
          </a:xfrm>
          <a:prstGeom prst="rect">
            <a:avLst/>
          </a:prstGeom>
          <a:ln w="50800">
            <a:solidFill>
              <a:srgbClr val="C00000"/>
            </a:solidFill>
            <a:miter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Department of Computer Science and Engineering (CSE)</a:t>
            </a:r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1320800" y="1066800"/>
            <a:ext cx="10566400" cy="6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1219200" y="1752600"/>
            <a:ext cx="10668000" cy="4495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78981" y="6232199"/>
            <a:ext cx="258621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 Bold"/>
          <a:ea typeface="Cambria Bold"/>
          <a:cs typeface="Cambria Bold"/>
          <a:sym typeface="Cambria Bold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 Bold"/>
          <a:ea typeface="Cambria Bold"/>
          <a:cs typeface="Cambria Bold"/>
          <a:sym typeface="Cambria Bold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 Bold"/>
          <a:ea typeface="Cambria Bold"/>
          <a:cs typeface="Cambria Bold"/>
          <a:sym typeface="Cambria Bold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 Bold"/>
          <a:ea typeface="Cambria Bold"/>
          <a:cs typeface="Cambria Bold"/>
          <a:sym typeface="Cambria Bold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 Bold"/>
          <a:ea typeface="Cambria Bold"/>
          <a:cs typeface="Cambria Bold"/>
          <a:sym typeface="Cambria Bold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 Bold"/>
          <a:ea typeface="Cambria Bold"/>
          <a:cs typeface="Cambria Bold"/>
          <a:sym typeface="Cambria Bold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 Bold"/>
          <a:ea typeface="Cambria Bold"/>
          <a:cs typeface="Cambria Bold"/>
          <a:sym typeface="Cambria Bold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 Bold"/>
          <a:ea typeface="Cambria Bold"/>
          <a:cs typeface="Cambria Bold"/>
          <a:sym typeface="Cambria Bold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 Bold"/>
          <a:ea typeface="Cambria Bold"/>
          <a:cs typeface="Cambria Bold"/>
          <a:sym typeface="Cambria Bold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1pPr>
      <a:lvl2pPr marL="800100" marR="0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2pPr>
      <a:lvl3pPr marL="1188719" marR="0" indent="-274319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3pPr>
      <a:lvl4pPr marL="1676400" marR="0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4pPr>
      <a:lvl5pPr marL="2133600" marR="0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»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5pPr>
      <a:lvl6pPr marL="2560317" marR="0" indent="-27431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6pPr>
      <a:lvl7pPr marL="3017517" marR="0" indent="-27431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7pPr>
      <a:lvl8pPr marL="3474720" marR="0" indent="-27431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8pPr>
      <a:lvl9pPr marL="3931920" marR="0" indent="-2743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Unit 1-Introduction To Hadoop…"/>
          <p:cNvSpPr txBox="1">
            <a:spLocks noGrp="1"/>
          </p:cNvSpPr>
          <p:nvPr>
            <p:ph type="title"/>
          </p:nvPr>
        </p:nvSpPr>
        <p:spPr>
          <a:xfrm>
            <a:off x="1300765" y="1601300"/>
            <a:ext cx="10354617" cy="4112451"/>
          </a:xfrm>
          <a:prstGeom prst="rect">
            <a:avLst/>
          </a:prstGeom>
        </p:spPr>
        <p:txBody>
          <a:bodyPr/>
          <a:lstStyle/>
          <a:p>
            <a:pPr defTabSz="548640">
              <a:defRPr sz="4800" b="1">
                <a:solidFill>
                  <a:srgbClr val="94175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Unit </a:t>
            </a:r>
            <a:r>
              <a:rPr lang="en-IN" dirty="0"/>
              <a:t>4</a:t>
            </a:r>
            <a:r>
              <a:rPr dirty="0"/>
              <a:t>- </a:t>
            </a:r>
            <a:r>
              <a:rPr lang="en-IN" dirty="0"/>
              <a:t>Introduction to Apache Hive </a:t>
            </a:r>
            <a:endParaRPr dirty="0"/>
          </a:p>
          <a:p>
            <a:pPr algn="r" defTabSz="548640"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r" defTabSz="548640"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r" defTabSz="548640">
              <a:defRPr sz="2400" b="1">
                <a:solidFill>
                  <a:srgbClr val="94219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ONTENTS…"/>
          <p:cNvSpPr txBox="1">
            <a:spLocks noGrp="1"/>
          </p:cNvSpPr>
          <p:nvPr>
            <p:ph type="title"/>
          </p:nvPr>
        </p:nvSpPr>
        <p:spPr>
          <a:xfrm>
            <a:off x="1696826" y="1140643"/>
            <a:ext cx="8589538" cy="4506681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 defTabSz="130209">
              <a:defRPr sz="2492"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  <a:p>
            <a:pPr algn="l" defTabSz="130209">
              <a:defRPr sz="2492" b="1">
                <a:latin typeface="Times New Roman"/>
                <a:ea typeface="Times New Roman"/>
                <a:cs typeface="Times New Roman"/>
                <a:sym typeface="Times New Roman"/>
              </a:defRPr>
            </a:pPr>
            <a:br>
              <a:rPr lang="en-IN" dirty="0"/>
            </a:br>
            <a:r>
              <a:rPr lang="en-IN" dirty="0"/>
              <a:t>CONTENTS</a:t>
            </a:r>
          </a:p>
          <a:p>
            <a:pPr algn="l">
              <a:tabLst>
                <a:tab pos="304800" algn="l"/>
                <a:tab pos="622300" algn="l"/>
                <a:tab pos="939800" algn="l"/>
                <a:tab pos="1257300" algn="l"/>
                <a:tab pos="1574800" algn="l"/>
                <a:tab pos="1892300" algn="l"/>
                <a:tab pos="2209800" algn="l"/>
                <a:tab pos="2527300" algn="l"/>
                <a:tab pos="2844800" algn="l"/>
                <a:tab pos="3162300" algn="l"/>
                <a:tab pos="3479800" algn="l"/>
                <a:tab pos="3797300" algn="l"/>
              </a:tabLst>
              <a:defRPr sz="2492" b="1">
                <a:latin typeface="+mn-lt"/>
                <a:ea typeface="+mn-ea"/>
                <a:cs typeface="+mn-cs"/>
                <a:sym typeface="Calibri"/>
              </a:defRPr>
            </a:pPr>
            <a:br>
              <a:rPr lang="en-US" sz="2136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136" dirty="0">
                <a:latin typeface="Times New Roman"/>
                <a:ea typeface="Times New Roman"/>
                <a:cs typeface="Times New Roman"/>
                <a:sym typeface="Times New Roman"/>
              </a:rPr>
              <a:t>HiveQL operations</a:t>
            </a:r>
            <a:br>
              <a:rPr lang="en-US" sz="2136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136" dirty="0">
                <a:latin typeface="Times New Roman"/>
                <a:ea typeface="Times New Roman"/>
                <a:cs typeface="Times New Roman"/>
                <a:sym typeface="Times New Roman"/>
              </a:rPr>
              <a:t>Hive operators</a:t>
            </a:r>
          </a:p>
          <a:p>
            <a:pPr marL="71386" indent="-71386" algn="l" defTabSz="130209">
              <a:defRPr sz="2136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136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386" indent="-71386" algn="l" defTabSz="130209">
              <a:defRPr sz="2136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136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386" indent="-71386" algn="l" defTabSz="130209">
              <a:defRPr sz="2136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136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386" indent="-71386" algn="l" defTabSz="130209">
              <a:defRPr sz="1779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136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 defTabSz="130209">
              <a:defRPr sz="712" b="1">
                <a:latin typeface="+mn-lt"/>
                <a:ea typeface="+mn-ea"/>
                <a:cs typeface="+mn-cs"/>
                <a:sym typeface="Calibri"/>
              </a:defRPr>
            </a:pPr>
            <a:endParaRPr sz="2136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386" indent="-71386" algn="l" defTabSz="130209">
              <a:defRPr sz="712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136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386" indent="-71386" algn="l" defTabSz="130209">
              <a:defRPr sz="712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136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386" indent="-71386" algn="l" defTabSz="130209">
              <a:defRPr sz="712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136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ircl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Decoupling of Components: Job scheduling and resource management are separated into the Application Master and Resource Manager, improving scalability.…"/>
          <p:cNvSpPr txBox="1"/>
          <p:nvPr/>
        </p:nvSpPr>
        <p:spPr>
          <a:xfrm>
            <a:off x="1833318" y="1317536"/>
            <a:ext cx="8899671" cy="30770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20578" indent="-220578" algn="just" defTabSz="457200">
              <a:lnSpc>
                <a:spcPct val="150000"/>
              </a:lnSpc>
              <a:buSzPct val="10000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 err="1"/>
              <a:t>DDL</a:t>
            </a:r>
            <a:r>
              <a:rPr lang="en-US" b="1" dirty="0"/>
              <a:t> Commands: </a:t>
            </a:r>
            <a:r>
              <a:rPr lang="en-IN" dirty="0"/>
              <a:t>CREATE, DROP, ALTER, TRUNCATE</a:t>
            </a:r>
          </a:p>
          <a:p>
            <a:pPr marL="220578" indent="-220578" algn="just" defTabSz="457200">
              <a:lnSpc>
                <a:spcPct val="150000"/>
              </a:lnSpc>
              <a:buSzPct val="10000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DML Commands: </a:t>
            </a:r>
            <a:r>
              <a:rPr lang="en-IN" dirty="0"/>
              <a:t>INSERT, SELECT, UPDATE, DELETE</a:t>
            </a:r>
          </a:p>
          <a:p>
            <a:pPr marL="220578" indent="-220578" algn="just" defTabSz="457200">
              <a:lnSpc>
                <a:spcPct val="150000"/>
              </a:lnSpc>
              <a:buSzPct val="10000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Partitioning: </a:t>
            </a:r>
            <a:r>
              <a:rPr lang="en-IN" dirty="0"/>
              <a:t>Manages large datasets efficiently</a:t>
            </a:r>
          </a:p>
          <a:p>
            <a:pPr marL="220578" indent="-220578" algn="just" defTabSz="457200">
              <a:lnSpc>
                <a:spcPct val="150000"/>
              </a:lnSpc>
              <a:buSzPct val="10000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Joins: </a:t>
            </a:r>
            <a:r>
              <a:rPr lang="en-US" dirty="0"/>
              <a:t>INNER, LEFT, RIGHT, FULL OUTER</a:t>
            </a:r>
            <a:endParaRPr lang="en-IN" dirty="0"/>
          </a:p>
          <a:p>
            <a:pPr marL="220578" indent="-220578" algn="just" defTabSz="457200">
              <a:lnSpc>
                <a:spcPct val="150000"/>
              </a:lnSpc>
              <a:buSzPct val="10000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Aggregation:</a:t>
            </a:r>
            <a:r>
              <a:rPr lang="en-IN" dirty="0"/>
              <a:t> COUNT, SUM, AVG, MIN, MAX</a:t>
            </a:r>
          </a:p>
          <a:p>
            <a:pPr marL="220578" indent="-220578" algn="just" defTabSz="457200">
              <a:lnSpc>
                <a:spcPct val="150000"/>
              </a:lnSpc>
              <a:buSzPct val="10000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Sorting &amp; Filtering:</a:t>
            </a:r>
            <a:r>
              <a:rPr lang="en-US" dirty="0"/>
              <a:t> ORDER BY, WHERE, HAVING</a:t>
            </a:r>
            <a:r>
              <a:rPr lang="en-US" b="1" dirty="0"/>
              <a:t> </a:t>
            </a:r>
          </a:p>
        </p:txBody>
      </p:sp>
      <p:sp>
        <p:nvSpPr>
          <p:cNvPr id="180" name="Advantages of YARN (Hadoop 2)"/>
          <p:cNvSpPr txBox="1"/>
          <p:nvPr/>
        </p:nvSpPr>
        <p:spPr>
          <a:xfrm>
            <a:off x="1923438" y="238854"/>
            <a:ext cx="8899671" cy="7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HiveQL Operations:</a:t>
            </a:r>
            <a:endParaRPr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DB4D1-1C4C-43DF-436A-29CE07901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Decoupling of Components: Job scheduling and resource management are separated into the Application Master and Resource Manager, improving scalability.…">
            <a:extLst>
              <a:ext uri="{FF2B5EF4-FFF2-40B4-BE49-F238E27FC236}">
                <a16:creationId xmlns:a16="http://schemas.microsoft.com/office/drawing/2014/main" id="{93FCF936-4BEE-68EB-3EF9-E566B6A06CAD}"/>
              </a:ext>
            </a:extLst>
          </p:cNvPr>
          <p:cNvSpPr txBox="1"/>
          <p:nvPr/>
        </p:nvSpPr>
        <p:spPr>
          <a:xfrm>
            <a:off x="1743960" y="933254"/>
            <a:ext cx="9624766" cy="6631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1. </a:t>
            </a:r>
            <a:r>
              <a:rPr lang="en-IN" b="1" dirty="0"/>
              <a:t>Database Operations: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Create Database: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 err="1"/>
              <a:t>E.g</a:t>
            </a:r>
            <a:r>
              <a:rPr lang="en-US" b="1" dirty="0"/>
              <a:t>: </a:t>
            </a:r>
            <a:r>
              <a:rPr lang="en-US" dirty="0"/>
              <a:t>CREATE DATABASE ecommerce_db;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Use Database: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 err="1"/>
              <a:t>E.g</a:t>
            </a:r>
            <a:r>
              <a:rPr lang="en-US" b="1" dirty="0"/>
              <a:t>: </a:t>
            </a:r>
            <a:r>
              <a:rPr lang="en-US" dirty="0"/>
              <a:t>USE ecommerce_db;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 Show Databases: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SHOW DATABASES;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Drop Database:</a:t>
            </a:r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it-IT" b="1" dirty="0"/>
              <a:t>E.g: </a:t>
            </a:r>
            <a:r>
              <a:rPr lang="it-IT" dirty="0"/>
              <a:t>DROP DATABASE ecommerce_db CASCADE;</a:t>
            </a:r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b="1" dirty="0"/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b="1" dirty="0"/>
          </a:p>
        </p:txBody>
      </p:sp>
      <p:sp>
        <p:nvSpPr>
          <p:cNvPr id="180" name="Advantages of YARN (Hadoop 2)">
            <a:extLst>
              <a:ext uri="{FF2B5EF4-FFF2-40B4-BE49-F238E27FC236}">
                <a16:creationId xmlns:a16="http://schemas.microsoft.com/office/drawing/2014/main" id="{F241D185-0F14-E985-0B62-9CBFD134D552}"/>
              </a:ext>
            </a:extLst>
          </p:cNvPr>
          <p:cNvSpPr txBox="1"/>
          <p:nvPr/>
        </p:nvSpPr>
        <p:spPr>
          <a:xfrm>
            <a:off x="1923438" y="238854"/>
            <a:ext cx="8899671" cy="7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HiveQL Operations: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752811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56549-EC58-960E-17FE-A17F4C1AE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Decoupling of Components: Job scheduling and resource management are separated into the Application Master and Resource Manager, improving scalability.…">
            <a:extLst>
              <a:ext uri="{FF2B5EF4-FFF2-40B4-BE49-F238E27FC236}">
                <a16:creationId xmlns:a16="http://schemas.microsoft.com/office/drawing/2014/main" id="{6FCBCEDD-3C7F-5C01-76B5-23FE69146D09}"/>
              </a:ext>
            </a:extLst>
          </p:cNvPr>
          <p:cNvSpPr txBox="1"/>
          <p:nvPr/>
        </p:nvSpPr>
        <p:spPr>
          <a:xfrm>
            <a:off x="1743960" y="933254"/>
            <a:ext cx="9624766" cy="5108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2. </a:t>
            </a:r>
            <a:r>
              <a:rPr lang="en-IN" b="1" dirty="0"/>
              <a:t>Table Operations: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Create Table: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 err="1"/>
              <a:t>E.g</a:t>
            </a:r>
            <a:r>
              <a:rPr lang="en-US" b="1" dirty="0"/>
              <a:t>: </a:t>
            </a:r>
            <a:r>
              <a:rPr lang="en-US" dirty="0"/>
              <a:t>CREATE TABLE products (</a:t>
            </a:r>
            <a:r>
              <a:rPr lang="en-US" dirty="0" err="1"/>
              <a:t>product_id</a:t>
            </a:r>
            <a:r>
              <a:rPr lang="en-US" dirty="0"/>
              <a:t> INT, name STRING, category STRING, price FLOAT) ROW FORMAT DELIMITED</a:t>
            </a:r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 FIELDS TERMINATED BY ',’</a:t>
            </a:r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 STORED AS TEXTFILE;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b="1" dirty="0"/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b="1" dirty="0"/>
          </a:p>
        </p:txBody>
      </p:sp>
      <p:sp>
        <p:nvSpPr>
          <p:cNvPr id="180" name="Advantages of YARN (Hadoop 2)">
            <a:extLst>
              <a:ext uri="{FF2B5EF4-FFF2-40B4-BE49-F238E27FC236}">
                <a16:creationId xmlns:a16="http://schemas.microsoft.com/office/drawing/2014/main" id="{2B4174F4-F81F-9D39-3D7C-B77419178403}"/>
              </a:ext>
            </a:extLst>
          </p:cNvPr>
          <p:cNvSpPr txBox="1"/>
          <p:nvPr/>
        </p:nvSpPr>
        <p:spPr>
          <a:xfrm>
            <a:off x="1923438" y="238854"/>
            <a:ext cx="8899671" cy="7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HiveQL Operations: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991267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97277-C0AB-FEDF-91E0-E717D52CF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Decoupling of Components: Job scheduling and resource management are separated into the Application Master and Resource Manager, improving scalability.…">
            <a:extLst>
              <a:ext uri="{FF2B5EF4-FFF2-40B4-BE49-F238E27FC236}">
                <a16:creationId xmlns:a16="http://schemas.microsoft.com/office/drawing/2014/main" id="{5142959A-D347-4F96-7547-04A680629286}"/>
              </a:ext>
            </a:extLst>
          </p:cNvPr>
          <p:cNvSpPr txBox="1"/>
          <p:nvPr/>
        </p:nvSpPr>
        <p:spPr>
          <a:xfrm>
            <a:off x="1743960" y="933254"/>
            <a:ext cx="9624766" cy="5108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2. </a:t>
            </a:r>
            <a:r>
              <a:rPr lang="en-IN" b="1" dirty="0"/>
              <a:t>Table Operations: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Show Tables: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 err="1"/>
              <a:t>E.g</a:t>
            </a:r>
            <a:r>
              <a:rPr lang="en-US" b="1" dirty="0"/>
              <a:t>: </a:t>
            </a:r>
            <a:r>
              <a:rPr lang="en-US" dirty="0"/>
              <a:t>SHOW TABLES;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Describe Table:</a:t>
            </a:r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 err="1"/>
              <a:t>E.g</a:t>
            </a:r>
            <a:r>
              <a:rPr lang="en-US" b="1" dirty="0"/>
              <a:t>: </a:t>
            </a:r>
            <a:r>
              <a:rPr lang="en-US" dirty="0"/>
              <a:t>DESCRIBE products;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Drop a Table:</a:t>
            </a:r>
            <a:endParaRPr lang="en-US" b="1" dirty="0"/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 err="1"/>
              <a:t>E.g</a:t>
            </a:r>
            <a:r>
              <a:rPr lang="en-US" b="1" dirty="0"/>
              <a:t>: </a:t>
            </a:r>
            <a:r>
              <a:rPr lang="en-US" dirty="0"/>
              <a:t>DROP TABLE products;</a:t>
            </a:r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b="1" dirty="0"/>
          </a:p>
        </p:txBody>
      </p:sp>
      <p:sp>
        <p:nvSpPr>
          <p:cNvPr id="180" name="Advantages of YARN (Hadoop 2)">
            <a:extLst>
              <a:ext uri="{FF2B5EF4-FFF2-40B4-BE49-F238E27FC236}">
                <a16:creationId xmlns:a16="http://schemas.microsoft.com/office/drawing/2014/main" id="{2263C9BD-8B56-8F4F-6798-95D372A8A3C4}"/>
              </a:ext>
            </a:extLst>
          </p:cNvPr>
          <p:cNvSpPr txBox="1"/>
          <p:nvPr/>
        </p:nvSpPr>
        <p:spPr>
          <a:xfrm>
            <a:off x="1923438" y="238854"/>
            <a:ext cx="8899671" cy="7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HiveQL Operations: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469455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7FCC3-4F7A-14DB-A41A-17847B1CE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Decoupling of Components: Job scheduling and resource management are separated into the Application Master and Resource Manager, improving scalability.…">
            <a:extLst>
              <a:ext uri="{FF2B5EF4-FFF2-40B4-BE49-F238E27FC236}">
                <a16:creationId xmlns:a16="http://schemas.microsoft.com/office/drawing/2014/main" id="{5E51A8B9-1821-678F-7E2D-6BA53C6FCAA4}"/>
              </a:ext>
            </a:extLst>
          </p:cNvPr>
          <p:cNvSpPr txBox="1"/>
          <p:nvPr/>
        </p:nvSpPr>
        <p:spPr>
          <a:xfrm>
            <a:off x="1743960" y="933254"/>
            <a:ext cx="9624766" cy="561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3. Data</a:t>
            </a:r>
            <a:r>
              <a:rPr lang="en-IN" b="1" dirty="0"/>
              <a:t> Operations: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Insert Data into Table: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 err="1"/>
              <a:t>E.g</a:t>
            </a:r>
            <a:r>
              <a:rPr lang="en-US" b="1" dirty="0"/>
              <a:t>: </a:t>
            </a:r>
            <a:r>
              <a:rPr lang="en-US" dirty="0"/>
              <a:t>INSERT INTO TABLE products VALUES </a:t>
            </a:r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(1, 'Laptop', 'Electronics', 800.50),</a:t>
            </a:r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(2, 'Smartphone', 'Electronics', 500.75);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Load Data from HDFS</a:t>
            </a:r>
            <a:r>
              <a:rPr lang="en-US" b="1" dirty="0"/>
              <a:t>: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 err="1"/>
              <a:t>E.g</a:t>
            </a:r>
            <a:r>
              <a:rPr lang="en-US" b="1" dirty="0"/>
              <a:t>: </a:t>
            </a:r>
            <a:r>
              <a:rPr lang="en-US" dirty="0"/>
              <a:t>LOAD DATA </a:t>
            </a:r>
            <a:r>
              <a:rPr lang="en-US" dirty="0" err="1"/>
              <a:t>INPATH</a:t>
            </a:r>
            <a:r>
              <a:rPr lang="en-US" dirty="0"/>
              <a:t> '/user/hive/</a:t>
            </a:r>
            <a:r>
              <a:rPr lang="en-US" dirty="0" err="1"/>
              <a:t>products.csv</a:t>
            </a:r>
            <a:r>
              <a:rPr lang="en-US" dirty="0"/>
              <a:t>' </a:t>
            </a:r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INTO TABLE products;</a:t>
            </a:r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b="1" dirty="0"/>
          </a:p>
        </p:txBody>
      </p:sp>
      <p:sp>
        <p:nvSpPr>
          <p:cNvPr id="180" name="Advantages of YARN (Hadoop 2)">
            <a:extLst>
              <a:ext uri="{FF2B5EF4-FFF2-40B4-BE49-F238E27FC236}">
                <a16:creationId xmlns:a16="http://schemas.microsoft.com/office/drawing/2014/main" id="{826DE89C-E13E-B4B7-08CA-ACEA7CBC8152}"/>
              </a:ext>
            </a:extLst>
          </p:cNvPr>
          <p:cNvSpPr txBox="1"/>
          <p:nvPr/>
        </p:nvSpPr>
        <p:spPr>
          <a:xfrm>
            <a:off x="1923438" y="238854"/>
            <a:ext cx="8899671" cy="7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HiveQL Operations: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378026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93F72-FE6F-3A99-9B75-B06202AC9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Decoupling of Components: Job scheduling and resource management are separated into the Application Master and Resource Manager, improving scalability.…">
            <a:extLst>
              <a:ext uri="{FF2B5EF4-FFF2-40B4-BE49-F238E27FC236}">
                <a16:creationId xmlns:a16="http://schemas.microsoft.com/office/drawing/2014/main" id="{C84FFD52-378F-14A7-55D8-283DEBBBA572}"/>
              </a:ext>
            </a:extLst>
          </p:cNvPr>
          <p:cNvSpPr txBox="1"/>
          <p:nvPr/>
        </p:nvSpPr>
        <p:spPr>
          <a:xfrm>
            <a:off x="1743960" y="933254"/>
            <a:ext cx="9624766" cy="4092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3. Data</a:t>
            </a:r>
            <a:r>
              <a:rPr lang="en-IN" b="1" dirty="0"/>
              <a:t> Operations: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Select Data: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 err="1"/>
              <a:t>E.g</a:t>
            </a:r>
            <a:r>
              <a:rPr lang="en-US" b="1" dirty="0"/>
              <a:t>: </a:t>
            </a:r>
            <a:r>
              <a:rPr lang="en-US" dirty="0"/>
              <a:t>SELECT * FROM products;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Filter Data</a:t>
            </a:r>
            <a:r>
              <a:rPr lang="en-US" b="1" dirty="0"/>
              <a:t>: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 err="1"/>
              <a:t>E.g</a:t>
            </a:r>
            <a:r>
              <a:rPr lang="en-US" b="1" dirty="0"/>
              <a:t>: </a:t>
            </a:r>
            <a:r>
              <a:rPr lang="en-US" dirty="0"/>
              <a:t>SELECT * FROM products WHERE category = 'Electronics';</a:t>
            </a:r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b="1" dirty="0"/>
          </a:p>
        </p:txBody>
      </p:sp>
      <p:sp>
        <p:nvSpPr>
          <p:cNvPr id="180" name="Advantages of YARN (Hadoop 2)">
            <a:extLst>
              <a:ext uri="{FF2B5EF4-FFF2-40B4-BE49-F238E27FC236}">
                <a16:creationId xmlns:a16="http://schemas.microsoft.com/office/drawing/2014/main" id="{6172CD33-0C33-AE22-1A0C-64BFFDEFE80E}"/>
              </a:ext>
            </a:extLst>
          </p:cNvPr>
          <p:cNvSpPr txBox="1"/>
          <p:nvPr/>
        </p:nvSpPr>
        <p:spPr>
          <a:xfrm>
            <a:off x="1923438" y="238854"/>
            <a:ext cx="8899671" cy="7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HiveQL Operations: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19971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C40B4-C3C3-F54F-20B3-5BB1D65B3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Decoupling of Components: Job scheduling and resource management are separated into the Application Master and Resource Manager, improving scalability.…">
            <a:extLst>
              <a:ext uri="{FF2B5EF4-FFF2-40B4-BE49-F238E27FC236}">
                <a16:creationId xmlns:a16="http://schemas.microsoft.com/office/drawing/2014/main" id="{481FB943-683F-FD26-A6A5-BEFA9CC44BB5}"/>
              </a:ext>
            </a:extLst>
          </p:cNvPr>
          <p:cNvSpPr txBox="1"/>
          <p:nvPr/>
        </p:nvSpPr>
        <p:spPr>
          <a:xfrm>
            <a:off x="1743960" y="933254"/>
            <a:ext cx="9624766" cy="561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4. Joins in HiveQL</a:t>
            </a:r>
            <a:r>
              <a:rPr lang="en-IN" b="1" dirty="0"/>
              <a:t>: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Inner Join: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 err="1"/>
              <a:t>E.g</a:t>
            </a:r>
            <a:r>
              <a:rPr lang="en-US" b="1" dirty="0"/>
              <a:t>: </a:t>
            </a:r>
            <a:r>
              <a:rPr lang="en-US" dirty="0"/>
              <a:t>SELECT </a:t>
            </a:r>
            <a:r>
              <a:rPr lang="en-US" dirty="0" err="1"/>
              <a:t>p.name</a:t>
            </a:r>
            <a:r>
              <a:rPr lang="en-US" dirty="0"/>
              <a:t>, </a:t>
            </a:r>
            <a:r>
              <a:rPr lang="en-US" dirty="0" err="1"/>
              <a:t>s.amount</a:t>
            </a:r>
            <a:r>
              <a:rPr lang="en-US" dirty="0"/>
              <a:t> FROM products p </a:t>
            </a:r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JOIN sales s ON </a:t>
            </a:r>
            <a:r>
              <a:rPr lang="en-US" dirty="0" err="1"/>
              <a:t>p.product_id</a:t>
            </a:r>
            <a:r>
              <a:rPr lang="en-US" dirty="0"/>
              <a:t> = </a:t>
            </a:r>
            <a:r>
              <a:rPr lang="en-US" dirty="0" err="1"/>
              <a:t>s.product_id</a:t>
            </a:r>
            <a:r>
              <a:rPr lang="en-US" dirty="0"/>
              <a:t>;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Left Join: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 err="1"/>
              <a:t>E.g</a:t>
            </a:r>
            <a:r>
              <a:rPr lang="en-US" b="1" dirty="0"/>
              <a:t>: </a:t>
            </a:r>
            <a:r>
              <a:rPr lang="en-US" dirty="0"/>
              <a:t>SELECT </a:t>
            </a:r>
            <a:r>
              <a:rPr lang="en-US" dirty="0" err="1"/>
              <a:t>p.name</a:t>
            </a:r>
            <a:r>
              <a:rPr lang="en-US" dirty="0"/>
              <a:t>, </a:t>
            </a:r>
            <a:r>
              <a:rPr lang="en-US" dirty="0" err="1"/>
              <a:t>s.amount</a:t>
            </a:r>
            <a:r>
              <a:rPr lang="en-US" dirty="0"/>
              <a:t> FROM products p </a:t>
            </a:r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LEFT JOIN sales s ON </a:t>
            </a:r>
            <a:r>
              <a:rPr lang="en-US" dirty="0" err="1"/>
              <a:t>p.product_id</a:t>
            </a:r>
            <a:r>
              <a:rPr lang="en-US" dirty="0"/>
              <a:t> = </a:t>
            </a:r>
            <a:r>
              <a:rPr lang="en-US" dirty="0" err="1"/>
              <a:t>s.product_id</a:t>
            </a:r>
            <a:r>
              <a:rPr lang="en-US" dirty="0"/>
              <a:t>;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b="1" dirty="0"/>
          </a:p>
        </p:txBody>
      </p:sp>
      <p:sp>
        <p:nvSpPr>
          <p:cNvPr id="180" name="Advantages of YARN (Hadoop 2)">
            <a:extLst>
              <a:ext uri="{FF2B5EF4-FFF2-40B4-BE49-F238E27FC236}">
                <a16:creationId xmlns:a16="http://schemas.microsoft.com/office/drawing/2014/main" id="{1964E9B1-C562-82B1-D163-921BCFC6CD4A}"/>
              </a:ext>
            </a:extLst>
          </p:cNvPr>
          <p:cNvSpPr txBox="1"/>
          <p:nvPr/>
        </p:nvSpPr>
        <p:spPr>
          <a:xfrm>
            <a:off x="1923438" y="238854"/>
            <a:ext cx="8899671" cy="7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HiveQL Operations: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372676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ED009-298F-9203-E712-336ABB718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Decoupling of Components: Job scheduling and resource management are separated into the Application Master and Resource Manager, improving scalability.…">
            <a:extLst>
              <a:ext uri="{FF2B5EF4-FFF2-40B4-BE49-F238E27FC236}">
                <a16:creationId xmlns:a16="http://schemas.microsoft.com/office/drawing/2014/main" id="{AE635902-4F45-1CA8-6B2E-D73D886AEDB3}"/>
              </a:ext>
            </a:extLst>
          </p:cNvPr>
          <p:cNvSpPr txBox="1"/>
          <p:nvPr/>
        </p:nvSpPr>
        <p:spPr>
          <a:xfrm>
            <a:off x="1743960" y="933254"/>
            <a:ext cx="9624766" cy="561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4. Joins in HiveQL</a:t>
            </a:r>
            <a:r>
              <a:rPr lang="en-IN" b="1" dirty="0"/>
              <a:t>: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Right Join: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 err="1"/>
              <a:t>E.g</a:t>
            </a:r>
            <a:r>
              <a:rPr lang="en-US" b="1" dirty="0"/>
              <a:t>: </a:t>
            </a:r>
            <a:r>
              <a:rPr lang="en-US" dirty="0"/>
              <a:t>SELECT </a:t>
            </a:r>
            <a:r>
              <a:rPr lang="en-US" dirty="0" err="1"/>
              <a:t>p.name</a:t>
            </a:r>
            <a:r>
              <a:rPr lang="en-US" dirty="0"/>
              <a:t>, </a:t>
            </a:r>
            <a:r>
              <a:rPr lang="en-US" dirty="0" err="1"/>
              <a:t>s.amount</a:t>
            </a:r>
            <a:r>
              <a:rPr lang="en-US" dirty="0"/>
              <a:t> FROM products p </a:t>
            </a:r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RIGHT JOIN sales s ON </a:t>
            </a:r>
            <a:r>
              <a:rPr lang="en-US" dirty="0" err="1"/>
              <a:t>p.product_id</a:t>
            </a:r>
            <a:r>
              <a:rPr lang="en-US" dirty="0"/>
              <a:t> = </a:t>
            </a:r>
            <a:r>
              <a:rPr lang="en-US" dirty="0" err="1"/>
              <a:t>s.product_id</a:t>
            </a:r>
            <a:r>
              <a:rPr lang="en-US" dirty="0"/>
              <a:t>;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Full Outer Join: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 err="1"/>
              <a:t>E.g</a:t>
            </a:r>
            <a:r>
              <a:rPr lang="en-US" b="1" dirty="0"/>
              <a:t>: </a:t>
            </a:r>
            <a:r>
              <a:rPr lang="en-US" dirty="0"/>
              <a:t>SELECT </a:t>
            </a:r>
            <a:r>
              <a:rPr lang="en-US" dirty="0" err="1"/>
              <a:t>p.name</a:t>
            </a:r>
            <a:r>
              <a:rPr lang="en-US" dirty="0"/>
              <a:t>, </a:t>
            </a:r>
            <a:r>
              <a:rPr lang="en-US" dirty="0" err="1"/>
              <a:t>s.amount</a:t>
            </a:r>
            <a:r>
              <a:rPr lang="en-US" dirty="0"/>
              <a:t> FROM products p </a:t>
            </a:r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FULL OUTER JOIN sales s ON </a:t>
            </a:r>
            <a:r>
              <a:rPr lang="en-US" dirty="0" err="1"/>
              <a:t>p.product_id</a:t>
            </a:r>
            <a:r>
              <a:rPr lang="en-US" dirty="0"/>
              <a:t> = </a:t>
            </a:r>
            <a:r>
              <a:rPr lang="en-US" dirty="0" err="1"/>
              <a:t>s.product_id</a:t>
            </a:r>
            <a:r>
              <a:rPr lang="en-US" dirty="0"/>
              <a:t>;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b="1" dirty="0"/>
          </a:p>
        </p:txBody>
      </p:sp>
      <p:sp>
        <p:nvSpPr>
          <p:cNvPr id="180" name="Advantages of YARN (Hadoop 2)">
            <a:extLst>
              <a:ext uri="{FF2B5EF4-FFF2-40B4-BE49-F238E27FC236}">
                <a16:creationId xmlns:a16="http://schemas.microsoft.com/office/drawing/2014/main" id="{2B71CFCC-2458-A25D-E14E-95977F81CBD6}"/>
              </a:ext>
            </a:extLst>
          </p:cNvPr>
          <p:cNvSpPr txBox="1"/>
          <p:nvPr/>
        </p:nvSpPr>
        <p:spPr>
          <a:xfrm>
            <a:off x="1923438" y="238854"/>
            <a:ext cx="8899671" cy="7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HiveQL Operations: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878357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42934-F9CC-660D-3A4E-F57CF4C68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Decoupling of Components: Job scheduling and resource management are separated into the Application Master and Resource Manager, improving scalability.…">
            <a:extLst>
              <a:ext uri="{FF2B5EF4-FFF2-40B4-BE49-F238E27FC236}">
                <a16:creationId xmlns:a16="http://schemas.microsoft.com/office/drawing/2014/main" id="{DE4C3033-D74A-BB11-5813-CBACDA0F486E}"/>
              </a:ext>
            </a:extLst>
          </p:cNvPr>
          <p:cNvSpPr txBox="1"/>
          <p:nvPr/>
        </p:nvSpPr>
        <p:spPr>
          <a:xfrm>
            <a:off x="1743960" y="933254"/>
            <a:ext cx="9624766" cy="561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5. Aggregation Function</a:t>
            </a:r>
            <a:r>
              <a:rPr lang="en-IN" b="1" dirty="0"/>
              <a:t>: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Group By Query: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 err="1"/>
              <a:t>E.g</a:t>
            </a:r>
            <a:r>
              <a:rPr lang="en-US" b="1" dirty="0"/>
              <a:t>: </a:t>
            </a:r>
            <a:r>
              <a:rPr lang="en-US" dirty="0"/>
              <a:t>SELECT category, COUNT(*) AS </a:t>
            </a:r>
            <a:r>
              <a:rPr lang="en-US" dirty="0" err="1"/>
              <a:t>product_count</a:t>
            </a:r>
            <a:r>
              <a:rPr lang="en-US" dirty="0"/>
              <a:t>  FROM products </a:t>
            </a:r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GROUP BY category;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Order By Query: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 err="1"/>
              <a:t>E.g</a:t>
            </a:r>
            <a:r>
              <a:rPr lang="en-US" b="1" dirty="0"/>
              <a:t>: </a:t>
            </a:r>
            <a:r>
              <a:rPr lang="en-US" dirty="0"/>
              <a:t>SELECT * FROM products ORDER BY price DESC;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Limit Query:</a:t>
            </a:r>
            <a:endParaRPr lang="en-US" b="1" dirty="0"/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 err="1"/>
              <a:t>E.g</a:t>
            </a:r>
            <a:r>
              <a:rPr lang="en-US" b="1" dirty="0"/>
              <a:t>: </a:t>
            </a:r>
            <a:r>
              <a:rPr lang="en-US" dirty="0"/>
              <a:t>SELECT * FROM products LIMIT 5;</a:t>
            </a:r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b="1" dirty="0"/>
          </a:p>
        </p:txBody>
      </p:sp>
      <p:sp>
        <p:nvSpPr>
          <p:cNvPr id="180" name="Advantages of YARN (Hadoop 2)">
            <a:extLst>
              <a:ext uri="{FF2B5EF4-FFF2-40B4-BE49-F238E27FC236}">
                <a16:creationId xmlns:a16="http://schemas.microsoft.com/office/drawing/2014/main" id="{BDC8F5EB-8A98-875E-D984-CB188A342C2B}"/>
              </a:ext>
            </a:extLst>
          </p:cNvPr>
          <p:cNvSpPr txBox="1"/>
          <p:nvPr/>
        </p:nvSpPr>
        <p:spPr>
          <a:xfrm>
            <a:off x="1923438" y="238854"/>
            <a:ext cx="8899671" cy="7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HiveQL Operations: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660440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ADBC2-CF5F-E00A-54EF-5DBEF7B4F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Decoupling of Components: Job scheduling and resource management are separated into the Application Master and Resource Manager, improving scalability.…">
            <a:extLst>
              <a:ext uri="{FF2B5EF4-FFF2-40B4-BE49-F238E27FC236}">
                <a16:creationId xmlns:a16="http://schemas.microsoft.com/office/drawing/2014/main" id="{4B64C589-C434-DFF1-C99D-E38D6CD81C80}"/>
              </a:ext>
            </a:extLst>
          </p:cNvPr>
          <p:cNvSpPr txBox="1"/>
          <p:nvPr/>
        </p:nvSpPr>
        <p:spPr>
          <a:xfrm>
            <a:off x="1743960" y="933254"/>
            <a:ext cx="9624766" cy="561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6. Views and Indexes</a:t>
            </a:r>
            <a:r>
              <a:rPr lang="en-IN" b="1" dirty="0"/>
              <a:t>: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Create a View: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 err="1"/>
              <a:t>E.g</a:t>
            </a:r>
            <a:r>
              <a:rPr lang="en-US" b="1" dirty="0"/>
              <a:t>: </a:t>
            </a:r>
            <a:r>
              <a:rPr lang="en-US" dirty="0"/>
              <a:t>CREATE VIEW </a:t>
            </a:r>
            <a:r>
              <a:rPr lang="en-US" dirty="0" err="1"/>
              <a:t>electronics_view</a:t>
            </a:r>
            <a:r>
              <a:rPr lang="en-US" dirty="0"/>
              <a:t> AS </a:t>
            </a:r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SELECT * FROM products WHERE category = 'Electronics';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Use View: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 err="1"/>
              <a:t>E.g</a:t>
            </a:r>
            <a:r>
              <a:rPr lang="en-US" b="1" dirty="0"/>
              <a:t>: </a:t>
            </a:r>
            <a:r>
              <a:rPr lang="en-US" dirty="0"/>
              <a:t>SELECT * FROM </a:t>
            </a:r>
            <a:r>
              <a:rPr lang="en-US" dirty="0" err="1"/>
              <a:t>electronics_view</a:t>
            </a:r>
            <a:r>
              <a:rPr lang="en-US" dirty="0"/>
              <a:t>;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Drop a View:</a:t>
            </a:r>
            <a:endParaRPr lang="en-US" b="1" dirty="0"/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 err="1"/>
              <a:t>E.g</a:t>
            </a:r>
            <a:r>
              <a:rPr lang="en-US" b="1" dirty="0"/>
              <a:t>: </a:t>
            </a:r>
            <a:r>
              <a:rPr lang="en-US" dirty="0"/>
              <a:t>DROP VIEW </a:t>
            </a:r>
            <a:r>
              <a:rPr lang="en-US" dirty="0" err="1"/>
              <a:t>electronics_view</a:t>
            </a:r>
            <a:r>
              <a:rPr lang="en-US" dirty="0"/>
              <a:t>;</a:t>
            </a:r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</a:t>
            </a:r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b="1" dirty="0"/>
          </a:p>
        </p:txBody>
      </p:sp>
      <p:sp>
        <p:nvSpPr>
          <p:cNvPr id="180" name="Advantages of YARN (Hadoop 2)">
            <a:extLst>
              <a:ext uri="{FF2B5EF4-FFF2-40B4-BE49-F238E27FC236}">
                <a16:creationId xmlns:a16="http://schemas.microsoft.com/office/drawing/2014/main" id="{EB2B7068-73AA-8642-3265-47ADF2A8BDB3}"/>
              </a:ext>
            </a:extLst>
          </p:cNvPr>
          <p:cNvSpPr txBox="1"/>
          <p:nvPr/>
        </p:nvSpPr>
        <p:spPr>
          <a:xfrm>
            <a:off x="1923438" y="238854"/>
            <a:ext cx="8899671" cy="7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HiveQL Operations: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185993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27283-E0CF-B6F3-995C-0D1F6C568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Decoupling of Components: Job scheduling and resource management are separated into the Application Master and Resource Manager, improving scalability.…">
            <a:extLst>
              <a:ext uri="{FF2B5EF4-FFF2-40B4-BE49-F238E27FC236}">
                <a16:creationId xmlns:a16="http://schemas.microsoft.com/office/drawing/2014/main" id="{6651C6C7-BC0B-0BD1-8DF5-28A010942D4C}"/>
              </a:ext>
            </a:extLst>
          </p:cNvPr>
          <p:cNvSpPr txBox="1"/>
          <p:nvPr/>
        </p:nvSpPr>
        <p:spPr>
          <a:xfrm>
            <a:off x="1743960" y="933254"/>
            <a:ext cx="9624766" cy="25692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1. Arithmetic Operators</a:t>
            </a:r>
            <a:r>
              <a:rPr lang="en-IN" b="1" dirty="0"/>
              <a:t>: </a:t>
            </a:r>
            <a:r>
              <a:rPr lang="en-IN" dirty="0"/>
              <a:t>+, -, *, /, % operations</a:t>
            </a:r>
            <a:endParaRPr lang="en-IN" b="1" dirty="0"/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2. </a:t>
            </a:r>
            <a:r>
              <a:rPr lang="en-IN" b="1" dirty="0"/>
              <a:t>Comparison:</a:t>
            </a:r>
            <a:r>
              <a:rPr lang="en-IN" dirty="0"/>
              <a:t> =, !=, &gt;, &lt;, &gt;=, &lt;=</a:t>
            </a:r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1" dirty="0"/>
              <a:t>3. </a:t>
            </a:r>
            <a:r>
              <a:rPr lang="en-US" b="1" dirty="0"/>
              <a:t>Logical:</a:t>
            </a:r>
            <a:r>
              <a:rPr lang="en-US" dirty="0"/>
              <a:t> AND, OR, NOT conditions</a:t>
            </a:r>
          </a:p>
          <a:p>
            <a:pPr algn="just" defTabSz="457200">
              <a:lnSpc>
                <a:spcPct val="150000"/>
              </a:lnSpc>
              <a:buSzPct val="100000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</a:t>
            </a:r>
            <a:r>
              <a:rPr lang="en-US" b="1" dirty="0"/>
              <a:t>4. </a:t>
            </a:r>
            <a:r>
              <a:rPr lang="en-IN" b="1" dirty="0"/>
              <a:t>String Operators:</a:t>
            </a:r>
            <a:r>
              <a:rPr lang="en-IN" dirty="0"/>
              <a:t> LIKE, </a:t>
            </a:r>
            <a:r>
              <a:rPr lang="en-IN" dirty="0" err="1"/>
              <a:t>REGEXP</a:t>
            </a:r>
            <a:r>
              <a:rPr lang="en-IN" dirty="0"/>
              <a:t>, IN</a:t>
            </a:r>
            <a:endParaRPr lang="en-US" dirty="0"/>
          </a:p>
          <a:p>
            <a:pPr marL="342900" indent="-342900" algn="just" defTabSz="4572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b="1" dirty="0"/>
          </a:p>
        </p:txBody>
      </p:sp>
      <p:sp>
        <p:nvSpPr>
          <p:cNvPr id="180" name="Advantages of YARN (Hadoop 2)">
            <a:extLst>
              <a:ext uri="{FF2B5EF4-FFF2-40B4-BE49-F238E27FC236}">
                <a16:creationId xmlns:a16="http://schemas.microsoft.com/office/drawing/2014/main" id="{B122A0B5-A036-B76B-E406-7D04D984CEE1}"/>
              </a:ext>
            </a:extLst>
          </p:cNvPr>
          <p:cNvSpPr txBox="1"/>
          <p:nvPr/>
        </p:nvSpPr>
        <p:spPr>
          <a:xfrm>
            <a:off x="1923438" y="238854"/>
            <a:ext cx="8899671" cy="7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Hive Operators: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873554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HANK YOU"/>
          <p:cNvSpPr txBox="1"/>
          <p:nvPr/>
        </p:nvSpPr>
        <p:spPr>
          <a:xfrm>
            <a:off x="1805895" y="1796530"/>
            <a:ext cx="9387482" cy="2416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93673" indent="-192085" algn="ctr">
              <a:tabLst>
                <a:tab pos="393700" algn="l"/>
                <a:tab pos="850900" algn="l"/>
                <a:tab pos="1308100" algn="l"/>
                <a:tab pos="1765300" algn="l"/>
                <a:tab pos="2222500" algn="l"/>
                <a:tab pos="2679700" algn="l"/>
                <a:tab pos="3136900" algn="l"/>
                <a:tab pos="3594100" algn="l"/>
                <a:tab pos="4051300" algn="l"/>
                <a:tab pos="4508500" algn="l"/>
                <a:tab pos="4965700" algn="l"/>
                <a:tab pos="5422900" algn="l"/>
                <a:tab pos="5880100" algn="l"/>
                <a:tab pos="6337300" algn="l"/>
                <a:tab pos="6794500" algn="l"/>
                <a:tab pos="7251700" algn="l"/>
                <a:tab pos="7708900" algn="l"/>
                <a:tab pos="8166100" algn="l"/>
                <a:tab pos="8623300" algn="l"/>
                <a:tab pos="9080500" algn="l"/>
                <a:tab pos="9537700" algn="l"/>
              </a:tabLst>
              <a:defRPr sz="60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193673" indent="-192085" algn="ctr">
              <a:tabLst>
                <a:tab pos="393700" algn="l"/>
                <a:tab pos="850900" algn="l"/>
                <a:tab pos="1308100" algn="l"/>
                <a:tab pos="1765300" algn="l"/>
                <a:tab pos="2222500" algn="l"/>
                <a:tab pos="2679700" algn="l"/>
                <a:tab pos="3136900" algn="l"/>
                <a:tab pos="3594100" algn="l"/>
                <a:tab pos="4051300" algn="l"/>
                <a:tab pos="4508500" algn="l"/>
                <a:tab pos="4965700" algn="l"/>
                <a:tab pos="5422900" algn="l"/>
                <a:tab pos="5880100" algn="l"/>
                <a:tab pos="6337300" algn="l"/>
                <a:tab pos="6794500" algn="l"/>
                <a:tab pos="7251700" algn="l"/>
                <a:tab pos="7708900" algn="l"/>
                <a:tab pos="8166100" algn="l"/>
                <a:tab pos="8623300" algn="l"/>
                <a:tab pos="9080500" algn="l"/>
                <a:tab pos="9537700" algn="l"/>
              </a:tabLst>
              <a:defRPr sz="60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THANK YOU	</a:t>
            </a:r>
          </a:p>
          <a:p>
            <a:pPr marL="193673" indent="-192085" algn="just">
              <a:tabLst>
                <a:tab pos="393700" algn="l"/>
                <a:tab pos="850900" algn="l"/>
                <a:tab pos="1308100" algn="l"/>
                <a:tab pos="1765300" algn="l"/>
                <a:tab pos="2222500" algn="l"/>
                <a:tab pos="2679700" algn="l"/>
                <a:tab pos="3136900" algn="l"/>
                <a:tab pos="3594100" algn="l"/>
                <a:tab pos="4051300" algn="l"/>
                <a:tab pos="4508500" algn="l"/>
                <a:tab pos="4965700" algn="l"/>
                <a:tab pos="5422900" algn="l"/>
                <a:tab pos="5880100" algn="l"/>
                <a:tab pos="6337300" algn="l"/>
                <a:tab pos="6794500" algn="l"/>
                <a:tab pos="7251700" algn="l"/>
                <a:tab pos="7708900" algn="l"/>
                <a:tab pos="8166100" algn="l"/>
                <a:tab pos="8623300" algn="l"/>
                <a:tab pos="9080500" algn="l"/>
                <a:tab pos="9537700" algn="l"/>
              </a:tabLst>
              <a:defRPr sz="20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u">
  <a:themeElements>
    <a:clrScheme name="cu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u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c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u">
  <a:themeElements>
    <a:clrScheme name="cu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u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c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2409</TotalTime>
  <Words>667</Words>
  <Application>Microsoft Office PowerPoint</Application>
  <PresentationFormat>Widescreen</PresentationFormat>
  <Paragraphs>120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Cambria</vt:lpstr>
      <vt:lpstr>Cambria Bold</vt:lpstr>
      <vt:lpstr>Helvetica</vt:lpstr>
      <vt:lpstr>Times New Roman</vt:lpstr>
      <vt:lpstr>Wingdings</vt:lpstr>
      <vt:lpstr>cu</vt:lpstr>
      <vt:lpstr>Unit 4- Introduction to Apache Hive    </vt:lpstr>
      <vt:lpstr>       CONTENTS  HiveQL operations Hive operators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zeenat zahra</cp:lastModifiedBy>
  <cp:revision>66</cp:revision>
  <dcterms:modified xsi:type="dcterms:W3CDTF">2025-03-11T04:36:06Z</dcterms:modified>
</cp:coreProperties>
</file>