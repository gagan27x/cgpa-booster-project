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/>
      <a:tcStyle>
        <a:tcBdr/>
        <a:fill>
          <a:solidFill>
            <a:srgbClr val="E8ECF4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/>
      <a:tcStyle>
        <a:tcBdr/>
        <a:fill>
          <a:solidFill>
            <a:srgbClr val="EFF3E9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/>
      <a:tcStyle>
        <a:tcBdr/>
        <a:fill>
          <a:solidFill>
            <a:srgbClr val="FDEE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70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Shape 155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56" name="Shape 156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://www.google.co.in/url?sa=i&amp;rct=j&amp;q=&amp;esrc=s&amp;source=images&amp;cd=&amp;cad=rja&amp;docid=Yol378O-s-lkMM&amp;tbnid=OLCbrS9PtZY4xM:&amp;ved=0CAUQjRw&amp;url=http://www.vidyavision.com/universities.asp?page=2&amp;ei=AFmwUobeKoL-iAf-44CwBQ&amp;psig=AFQjCNGRiFfOFz-wmZM6WF05bau8z5zqnw&amp;ust=1387374581297603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://www.google.co.in/url?sa=i&amp;rct=j&amp;q=&amp;esrc=s&amp;source=images&amp;cd=&amp;cad=rja&amp;docid=Yol378O-s-lkMM&amp;tbnid=OLCbrS9PtZY4xM:&amp;ved=0CAUQjRw&amp;url=http://www.vidyavision.com/universities.asp?page=2&amp;ei=AFmwUobeKoL-iAf-44CwBQ&amp;psig=AFQjCNGRiFfOFz-wmZM6WF05bau8z5zqnw&amp;ust=1387374581297603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://www.google.co.in/url?sa=i&amp;rct=j&amp;q=&amp;esrc=s&amp;source=images&amp;cd=&amp;cad=rja&amp;docid=Yol378O-s-lkMM&amp;tbnid=OLCbrS9PtZY4xM:&amp;ved=0CAUQjRw&amp;url=http://www.vidyavision.com/universities.asp?page=2&amp;ei=AFmwUobeKoL-iAf-44CwBQ&amp;psig=AFQjCNGRiFfOFz-wmZM6WF05bau8z5zqnw&amp;ust=1387374581297603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://www.google.co.in/url?sa=i&amp;rct=j&amp;q=&amp;esrc=s&amp;source=images&amp;cd=&amp;cad=rja&amp;docid=Yol378O-s-lkMM&amp;tbnid=OLCbrS9PtZY4xM:&amp;ved=0CAUQjRw&amp;url=http://www.vidyavision.com/universities.asp?page=2&amp;ei=AFmwUobeKoL-iAf-44CwBQ&amp;psig=AFQjCNGRiFfOFz-wmZM6WF05bau8z5zqnw&amp;ust=1387374581297603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://www.google.co.in/url?sa=i&amp;rct=j&amp;q=&amp;esrc=s&amp;source=images&amp;cd=&amp;cad=rja&amp;docid=Yol378O-s-lkMM&amp;tbnid=OLCbrS9PtZY4xM:&amp;ved=0CAUQjRw&amp;url=http://www.vidyavision.com/universities.asp?page=2&amp;ei=AFmwUobeKoL-iAf-44CwBQ&amp;psig=AFQjCNGRiFfOFz-wmZM6WF05bau8z5zqnw&amp;ust=1387374581297603" TargetMode="Externa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://www.google.co.in/url?sa=i&amp;rct=j&amp;q=&amp;esrc=s&amp;source=images&amp;cd=&amp;cad=rja&amp;docid=Yol378O-s-lkMM&amp;tbnid=OLCbrS9PtZY4xM:&amp;ved=0CAUQjRw&amp;url=http://www.vidyavision.com/universities.asp?page=2&amp;ei=AFmwUobeKoL-iAf-44CwBQ&amp;psig=AFQjCNGRiFfOFz-wmZM6WF05bau8z5zqnw&amp;ust=1387374581297603" TargetMode="Externa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Text"/>
          <p:cNvSpPr txBox="1">
            <a:spLocks noGrp="1"/>
          </p:cNvSpPr>
          <p:nvPr>
            <p:ph type="title"/>
          </p:nvPr>
        </p:nvSpPr>
        <p:spPr>
          <a:xfrm>
            <a:off x="1524000" y="3429000"/>
            <a:ext cx="10363200" cy="1066800"/>
          </a:xfrm>
          <a:prstGeom prst="rect">
            <a:avLst/>
          </a:prstGeom>
          <a:solidFill>
            <a:srgbClr val="FFFFFF"/>
          </a:solidFill>
          <a:ln w="19050" cap="sq">
            <a:solidFill>
              <a:srgbClr val="000000"/>
            </a:solidFill>
            <a:bevel/>
          </a:ln>
        </p:spPr>
        <p:txBody>
          <a:bodyPr/>
          <a:lstStyle>
            <a:lvl1pPr algn="r">
              <a:defRPr sz="4400"/>
            </a:lvl1pPr>
          </a:lstStyle>
          <a:p>
            <a:r>
              <a:t>Title Text</a:t>
            </a:r>
          </a:p>
        </p:txBody>
      </p:sp>
      <p:sp>
        <p:nvSpPr>
          <p:cNvPr id="1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33381" y="6551288"/>
            <a:ext cx="258620" cy="24830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4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University Institute of Engineering (UIE)"/>
          <p:cNvSpPr txBox="1"/>
          <p:nvPr/>
        </p:nvSpPr>
        <p:spPr>
          <a:xfrm>
            <a:off x="0" y="6457950"/>
            <a:ext cx="12192000" cy="3401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2000" b="1"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r>
              <a:t>University Institute of Engineering (UIE)</a:t>
            </a:r>
          </a:p>
        </p:txBody>
      </p:sp>
      <p:sp>
        <p:nvSpPr>
          <p:cNvPr id="33" name="Line"/>
          <p:cNvSpPr/>
          <p:nvPr/>
        </p:nvSpPr>
        <p:spPr>
          <a:xfrm>
            <a:off x="-3" y="6400800"/>
            <a:ext cx="12192007" cy="0"/>
          </a:xfrm>
          <a:prstGeom prst="line">
            <a:avLst/>
          </a:prstGeom>
          <a:ln w="88900">
            <a:solidFill>
              <a:srgbClr val="C00000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pic>
        <p:nvPicPr>
          <p:cNvPr id="34" name="https://encrypted-tbn3.gstatic.com/images?q=tbn:ANd9GcTyg3Gq4WoxkxO75aZWNEjYFvavmMfWdiMvs57jpDF8YRR3yCybqQ" descr="https://encrypted-tbn3.gstatic.com/images?q=tbn:ANd9GcTyg3Gq4WoxkxO75aZWNEjYFvavmMfWdiMvs57jpDF8YRR3yCybqQ">
            <a:hlinkClick r:id="rId2"/>
          </p:cNvPr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03200" y="152400"/>
            <a:ext cx="1024468" cy="1219200"/>
          </a:xfrm>
          <a:prstGeom prst="rect">
            <a:avLst/>
          </a:prstGeom>
          <a:ln w="12700">
            <a:miter lim="400000"/>
          </a:ln>
        </p:spPr>
      </p:pic>
      <p:sp>
        <p:nvSpPr>
          <p:cNvPr id="35" name="Department of Computer and Communication Engineering (CCE)"/>
          <p:cNvSpPr/>
          <p:nvPr/>
        </p:nvSpPr>
        <p:spPr>
          <a:xfrm>
            <a:off x="3791391" y="87311"/>
            <a:ext cx="6134479" cy="383885"/>
          </a:xfrm>
          <a:prstGeom prst="rect">
            <a:avLst/>
          </a:prstGeom>
          <a:ln w="50800">
            <a:solidFill>
              <a:srgbClr val="C00000"/>
            </a:solidFill>
            <a:miter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8" tIns="45718" rIns="45718" bIns="45718">
            <a:spAutoFit/>
          </a:bodyPr>
          <a:lstStyle>
            <a:lvl1pPr algn="ctr">
              <a:defRPr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r>
              <a:t>Department of Computer and Communication Engineering (CCE)</a:t>
            </a:r>
          </a:p>
        </p:txBody>
      </p:sp>
      <p:sp>
        <p:nvSpPr>
          <p:cNvPr id="36" name="Body Level One…"/>
          <p:cNvSpPr txBox="1">
            <a:spLocks noGrp="1"/>
          </p:cNvSpPr>
          <p:nvPr>
            <p:ph type="body" idx="1"/>
          </p:nvPr>
        </p:nvSpPr>
        <p:spPr>
          <a:xfrm>
            <a:off x="1016000" y="1447800"/>
            <a:ext cx="10972800" cy="4800600"/>
          </a:xfrm>
          <a:prstGeom prst="rect">
            <a:avLst/>
          </a:prstGeom>
        </p:spPr>
        <p:txBody>
          <a:bodyPr/>
          <a:lstStyle>
            <a:lvl1pPr>
              <a:defRPr sz="2200"/>
            </a:lvl1pPr>
            <a:lvl2pPr marL="771525" indent="-314325">
              <a:defRPr sz="2200"/>
            </a:lvl2pPr>
            <a:lvl3pPr marL="1193800" indent="-279400">
              <a:defRPr sz="2200"/>
            </a:lvl3pPr>
            <a:lvl4pPr marL="1651000" indent="-279400">
              <a:defRPr sz="2200"/>
            </a:lvl4pPr>
            <a:lvl5pPr marL="2108200" indent="-279400">
              <a:defRPr sz="2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7" name="Rectangle"/>
          <p:cNvSpPr>
            <a:spLocks noGrp="1"/>
          </p:cNvSpPr>
          <p:nvPr>
            <p:ph type="body" sz="quarter" idx="21"/>
          </p:nvPr>
        </p:nvSpPr>
        <p:spPr>
          <a:xfrm>
            <a:off x="1422400" y="609600"/>
            <a:ext cx="10566400" cy="685800"/>
          </a:xfrm>
          <a:prstGeom prst="rect">
            <a:avLst/>
          </a:prstGeom>
          <a:solidFill>
            <a:srgbClr val="FFFFFF"/>
          </a:solidFill>
        </p:spPr>
        <p:txBody>
          <a:bodyPr anchor="ctr"/>
          <a:lstStyle/>
          <a:p>
            <a:endParaRPr/>
          </a:p>
        </p:txBody>
      </p:sp>
      <p:sp>
        <p:nvSpPr>
          <p:cNvPr id="3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Image"/>
          <p:cNvSpPr>
            <a:spLocks noGrp="1"/>
          </p:cNvSpPr>
          <p:nvPr>
            <p:ph type="pic" idx="21"/>
          </p:nvPr>
        </p:nvSpPr>
        <p:spPr>
          <a:xfrm>
            <a:off x="3860800" y="1371600"/>
            <a:ext cx="8026400" cy="47244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46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304800" y="1371600"/>
            <a:ext cx="3454400" cy="4724400"/>
          </a:xfrm>
          <a:prstGeom prst="rect">
            <a:avLst/>
          </a:prstGeom>
        </p:spPr>
        <p:txBody>
          <a:bodyPr/>
          <a:lstStyle>
            <a:lvl1pPr marL="137160" indent="-137160">
              <a:spcBef>
                <a:spcPts val="400"/>
              </a:spcBef>
              <a:defRPr sz="2000"/>
            </a:lvl1pPr>
            <a:lvl2pPr marL="340358" indent="-203198">
              <a:spcBef>
                <a:spcPts val="400"/>
              </a:spcBef>
              <a:buChar char="▪"/>
              <a:defRPr sz="2000"/>
            </a:lvl2pPr>
            <a:lvl3pPr marL="523238" indent="-203198">
              <a:spcBef>
                <a:spcPts val="400"/>
              </a:spcBef>
              <a:defRPr sz="2000"/>
            </a:lvl3pPr>
            <a:lvl4pPr marL="1600199" indent="-228599">
              <a:spcBef>
                <a:spcPts val="400"/>
              </a:spcBef>
              <a:defRPr sz="2000"/>
            </a:lvl4pPr>
            <a:lvl5pPr marL="2057399" indent="-228599">
              <a:spcBef>
                <a:spcPts val="400"/>
              </a:spcBef>
              <a:defRPr sz="20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33381" y="6551288"/>
            <a:ext cx="258620" cy="24830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University Institute of Engineering (UIE)"/>
          <p:cNvSpPr txBox="1"/>
          <p:nvPr/>
        </p:nvSpPr>
        <p:spPr>
          <a:xfrm>
            <a:off x="0" y="6457950"/>
            <a:ext cx="12192000" cy="3401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2000" b="1"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r>
              <a:t>University Institute of Engineering (UIE)</a:t>
            </a:r>
          </a:p>
        </p:txBody>
      </p:sp>
      <p:sp>
        <p:nvSpPr>
          <p:cNvPr id="55" name="Line"/>
          <p:cNvSpPr/>
          <p:nvPr/>
        </p:nvSpPr>
        <p:spPr>
          <a:xfrm>
            <a:off x="-3" y="6400800"/>
            <a:ext cx="12192007" cy="0"/>
          </a:xfrm>
          <a:prstGeom prst="line">
            <a:avLst/>
          </a:prstGeom>
          <a:ln w="88900">
            <a:solidFill>
              <a:srgbClr val="C00000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pic>
        <p:nvPicPr>
          <p:cNvPr id="56" name="https://encrypted-tbn3.gstatic.com/images?q=tbn:ANd9GcTyg3Gq4WoxkxO75aZWNEjYFvavmMfWdiMvs57jpDF8YRR3yCybqQ" descr="https://encrypted-tbn3.gstatic.com/images?q=tbn:ANd9GcTyg3Gq4WoxkxO75aZWNEjYFvavmMfWdiMvs57jpDF8YRR3yCybqQ">
            <a:hlinkClick r:id="rId2"/>
          </p:cNvPr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03200" y="152400"/>
            <a:ext cx="1024468" cy="1219200"/>
          </a:xfrm>
          <a:prstGeom prst="rect">
            <a:avLst/>
          </a:prstGeom>
          <a:ln w="12700">
            <a:miter lim="400000"/>
          </a:ln>
        </p:spPr>
      </p:pic>
      <p:sp>
        <p:nvSpPr>
          <p:cNvPr id="57" name="Department of Computer and Communicationq Engineering (CCE)"/>
          <p:cNvSpPr/>
          <p:nvPr/>
        </p:nvSpPr>
        <p:spPr>
          <a:xfrm>
            <a:off x="4013198" y="-3"/>
            <a:ext cx="5968647" cy="310488"/>
          </a:xfrm>
          <a:prstGeom prst="rect">
            <a:avLst/>
          </a:prstGeom>
          <a:solidFill>
            <a:srgbClr val="632523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1700" b="1"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r>
              <a:t>Department of Computer and Communicationq Engineering (CCE)</a:t>
            </a:r>
          </a:p>
        </p:txBody>
      </p:sp>
      <p:sp>
        <p:nvSpPr>
          <p:cNvPr id="58" name="Body Level One…"/>
          <p:cNvSpPr txBox="1">
            <a:spLocks noGrp="1"/>
          </p:cNvSpPr>
          <p:nvPr>
            <p:ph type="body" idx="1"/>
          </p:nvPr>
        </p:nvSpPr>
        <p:spPr>
          <a:xfrm>
            <a:off x="812800" y="1524000"/>
            <a:ext cx="11074400" cy="4876800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9" name="Rectangle"/>
          <p:cNvSpPr>
            <a:spLocks noGrp="1"/>
          </p:cNvSpPr>
          <p:nvPr>
            <p:ph type="body" sz="quarter" idx="21"/>
          </p:nvPr>
        </p:nvSpPr>
        <p:spPr>
          <a:xfrm>
            <a:off x="1422400" y="533400"/>
            <a:ext cx="10464800" cy="685800"/>
          </a:xfrm>
          <a:prstGeom prst="rect">
            <a:avLst/>
          </a:prstGeom>
          <a:solidFill>
            <a:srgbClr val="FFFFFF"/>
          </a:solidFill>
        </p:spPr>
        <p:txBody>
          <a:bodyPr anchor="ctr"/>
          <a:lstStyle/>
          <a:p>
            <a:endParaRPr/>
          </a:p>
        </p:txBody>
      </p:sp>
      <p:sp>
        <p:nvSpPr>
          <p:cNvPr id="6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School of Computer Science &amp; Engineering (SCSE)"/>
          <p:cNvSpPr txBox="1"/>
          <p:nvPr/>
        </p:nvSpPr>
        <p:spPr>
          <a:xfrm>
            <a:off x="0" y="6457950"/>
            <a:ext cx="12192000" cy="3401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2000" b="1"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r>
              <a:t>School of Computer Science &amp; Engineering (SCSE)</a:t>
            </a:r>
          </a:p>
        </p:txBody>
      </p:sp>
      <p:sp>
        <p:nvSpPr>
          <p:cNvPr id="68" name="Line"/>
          <p:cNvSpPr/>
          <p:nvPr/>
        </p:nvSpPr>
        <p:spPr>
          <a:xfrm>
            <a:off x="-3" y="6400800"/>
            <a:ext cx="12192007" cy="0"/>
          </a:xfrm>
          <a:prstGeom prst="line">
            <a:avLst/>
          </a:prstGeom>
          <a:ln w="88900">
            <a:solidFill>
              <a:srgbClr val="FF8800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pic>
        <p:nvPicPr>
          <p:cNvPr id="69" name="lpu logo.png" descr="lpu logo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-393700" y="100834"/>
            <a:ext cx="2236729" cy="1118366"/>
          </a:xfrm>
          <a:prstGeom prst="rect">
            <a:avLst/>
          </a:prstGeom>
          <a:ln w="12700">
            <a:miter lim="400000"/>
          </a:ln>
        </p:spPr>
      </p:pic>
      <p:sp>
        <p:nvSpPr>
          <p:cNvPr id="7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33381" y="6551288"/>
            <a:ext cx="258620" cy="24830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University Institute of Engineering (UIE)"/>
          <p:cNvSpPr txBox="1"/>
          <p:nvPr/>
        </p:nvSpPr>
        <p:spPr>
          <a:xfrm>
            <a:off x="0" y="6457950"/>
            <a:ext cx="12192000" cy="3401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2000" b="1"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r>
              <a:t>University Institute of Engineering (UIE)</a:t>
            </a:r>
          </a:p>
        </p:txBody>
      </p:sp>
      <p:sp>
        <p:nvSpPr>
          <p:cNvPr id="78" name="Line"/>
          <p:cNvSpPr/>
          <p:nvPr/>
        </p:nvSpPr>
        <p:spPr>
          <a:xfrm>
            <a:off x="-3" y="6400800"/>
            <a:ext cx="12192007" cy="0"/>
          </a:xfrm>
          <a:prstGeom prst="line">
            <a:avLst/>
          </a:prstGeom>
          <a:ln w="88900">
            <a:solidFill>
              <a:srgbClr val="C00000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pic>
        <p:nvPicPr>
          <p:cNvPr id="79" name="https://encrypted-tbn3.gstatic.com/images?q=tbn:ANd9GcTyg3Gq4WoxkxO75aZWNEjYFvavmMfWdiMvs57jpDF8YRR3yCybqQ" descr="https://encrypted-tbn3.gstatic.com/images?q=tbn:ANd9GcTyg3Gq4WoxkxO75aZWNEjYFvavmMfWdiMvs57jpDF8YRR3yCybqQ">
            <a:hlinkClick r:id="rId2"/>
          </p:cNvPr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03200" y="152400"/>
            <a:ext cx="1024468" cy="1219200"/>
          </a:xfrm>
          <a:prstGeom prst="rect">
            <a:avLst/>
          </a:prstGeom>
          <a:ln w="12700">
            <a:miter lim="400000"/>
          </a:ln>
        </p:spPr>
      </p:pic>
      <p:sp>
        <p:nvSpPr>
          <p:cNvPr id="80" name="Title Text"/>
          <p:cNvSpPr txBox="1"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</p:spPr>
        <p:txBody>
          <a:bodyPr anchor="b"/>
          <a:lstStyle>
            <a:lvl1pPr algn="l">
              <a:defRPr sz="2000"/>
            </a:lvl1pPr>
          </a:lstStyle>
          <a:p>
            <a:r>
              <a:t>Title Text</a:t>
            </a:r>
          </a:p>
        </p:txBody>
      </p:sp>
      <p:sp>
        <p:nvSpPr>
          <p:cNvPr id="81" name="Body Level One…"/>
          <p:cNvSpPr txBox="1">
            <a:spLocks noGrp="1"/>
          </p:cNvSpPr>
          <p:nvPr>
            <p:ph type="body" idx="1"/>
          </p:nvPr>
        </p:nvSpPr>
        <p:spPr>
          <a:xfrm>
            <a:off x="4766733" y="273050"/>
            <a:ext cx="6815667" cy="5853115"/>
          </a:xfrm>
          <a:prstGeom prst="rect">
            <a:avLst/>
          </a:prstGeom>
        </p:spPr>
        <p:txBody>
          <a:bodyPr/>
          <a:lstStyle>
            <a:lvl1pPr>
              <a:spcBef>
                <a:spcPts val="700"/>
              </a:spcBef>
              <a:defRPr sz="3200"/>
            </a:lvl1pPr>
            <a:lvl2pPr marL="783771" indent="-326571">
              <a:spcBef>
                <a:spcPts val="700"/>
              </a:spcBef>
              <a:defRPr sz="3200"/>
            </a:lvl2pPr>
            <a:lvl3pPr marL="1219200" indent="-304800">
              <a:spcBef>
                <a:spcPts val="700"/>
              </a:spcBef>
              <a:defRPr sz="3200"/>
            </a:lvl3pPr>
            <a:lvl4pPr marL="1737360" indent="-365760">
              <a:spcBef>
                <a:spcPts val="700"/>
              </a:spcBef>
              <a:defRPr sz="3200"/>
            </a:lvl4pPr>
            <a:lvl5pPr marL="2194560" indent="-365760">
              <a:spcBef>
                <a:spcPts val="700"/>
              </a:spcBef>
              <a:defRPr sz="3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2" name="Rectangle"/>
          <p:cNvSpPr>
            <a:spLocks noGrp="1"/>
          </p:cNvSpPr>
          <p:nvPr>
            <p:ph type="body" sz="half" idx="21"/>
          </p:nvPr>
        </p:nvSpPr>
        <p:spPr>
          <a:xfrm>
            <a:off x="609598" y="1435101"/>
            <a:ext cx="4011090" cy="4691063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8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33381" y="6551288"/>
            <a:ext cx="258620" cy="24830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Title Text"/>
          <p:cNvSpPr txBox="1">
            <a:spLocks noGrp="1"/>
          </p:cNvSpPr>
          <p:nvPr>
            <p:ph type="title"/>
          </p:nvPr>
        </p:nvSpPr>
        <p:spPr>
          <a:xfrm>
            <a:off x="2389714" y="4800600"/>
            <a:ext cx="7315204" cy="566738"/>
          </a:xfrm>
          <a:prstGeom prst="rect">
            <a:avLst/>
          </a:prstGeom>
        </p:spPr>
        <p:txBody>
          <a:bodyPr anchor="b"/>
          <a:lstStyle>
            <a:lvl1pPr algn="l">
              <a:defRPr sz="2000"/>
            </a:lvl1pPr>
          </a:lstStyle>
          <a:p>
            <a:r>
              <a:t>Title Text</a:t>
            </a:r>
          </a:p>
        </p:txBody>
      </p:sp>
      <p:sp>
        <p:nvSpPr>
          <p:cNvPr id="91" name="Image"/>
          <p:cNvSpPr>
            <a:spLocks noGrp="1"/>
          </p:cNvSpPr>
          <p:nvPr>
            <p:ph type="pic" sz="half" idx="21"/>
          </p:nvPr>
        </p:nvSpPr>
        <p:spPr>
          <a:xfrm>
            <a:off x="2389714" y="612775"/>
            <a:ext cx="7315204" cy="4114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9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2389714" y="5367337"/>
            <a:ext cx="7315204" cy="804866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623887" indent="-166687">
              <a:spcBef>
                <a:spcPts val="300"/>
              </a:spcBef>
              <a:buFontTx/>
              <a:defRPr sz="1400"/>
            </a:lvl2pPr>
            <a:lvl3pPr marL="1047750" indent="-133350">
              <a:spcBef>
                <a:spcPts val="300"/>
              </a:spcBef>
              <a:buFontTx/>
              <a:defRPr sz="1400"/>
            </a:lvl3pPr>
            <a:lvl4pPr marL="1531619" indent="-160019">
              <a:spcBef>
                <a:spcPts val="300"/>
              </a:spcBef>
              <a:buFontTx/>
              <a:defRPr sz="1400"/>
            </a:lvl4pPr>
            <a:lvl5pPr marL="1988817" indent="-160017">
              <a:spcBef>
                <a:spcPts val="300"/>
              </a:spcBef>
              <a:buFontTx/>
              <a:defRPr sz="1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33381" y="6551288"/>
            <a:ext cx="258620" cy="24830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University Institute of Engineering (UIE)"/>
          <p:cNvSpPr txBox="1"/>
          <p:nvPr/>
        </p:nvSpPr>
        <p:spPr>
          <a:xfrm>
            <a:off x="0" y="6457950"/>
            <a:ext cx="12192000" cy="3401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2000" b="1"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r>
              <a:t>University Institute of Engineering (UIE)</a:t>
            </a:r>
          </a:p>
        </p:txBody>
      </p:sp>
      <p:sp>
        <p:nvSpPr>
          <p:cNvPr id="101" name="Line"/>
          <p:cNvSpPr/>
          <p:nvPr/>
        </p:nvSpPr>
        <p:spPr>
          <a:xfrm>
            <a:off x="-3" y="6400800"/>
            <a:ext cx="12192007" cy="0"/>
          </a:xfrm>
          <a:prstGeom prst="line">
            <a:avLst/>
          </a:prstGeom>
          <a:ln w="88900">
            <a:solidFill>
              <a:srgbClr val="C00000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pic>
        <p:nvPicPr>
          <p:cNvPr id="102" name="https://encrypted-tbn3.gstatic.com/images?q=tbn:ANd9GcTyg3Gq4WoxkxO75aZWNEjYFvavmMfWdiMvs57jpDF8YRR3yCybqQ" descr="https://encrypted-tbn3.gstatic.com/images?q=tbn:ANd9GcTyg3Gq4WoxkxO75aZWNEjYFvavmMfWdiMvs57jpDF8YRR3yCybqQ">
            <a:hlinkClick r:id="rId2"/>
          </p:cNvPr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03200" y="152400"/>
            <a:ext cx="1024468" cy="1219200"/>
          </a:xfrm>
          <a:prstGeom prst="rect">
            <a:avLst/>
          </a:prstGeom>
          <a:ln w="12700">
            <a:miter lim="400000"/>
          </a:ln>
        </p:spPr>
      </p:pic>
      <p:sp>
        <p:nvSpPr>
          <p:cNvPr id="103" name="Title Text"/>
          <p:cNvSpPr txBox="1">
            <a:spLocks noGrp="1"/>
          </p:cNvSpPr>
          <p:nvPr>
            <p:ph type="title"/>
          </p:nvPr>
        </p:nvSpPr>
        <p:spPr>
          <a:xfrm>
            <a:off x="406400" y="1371600"/>
            <a:ext cx="10972800" cy="685800"/>
          </a:xfrm>
          <a:prstGeom prst="rect">
            <a:avLst/>
          </a:prstGeom>
        </p:spPr>
        <p:txBody>
          <a:bodyPr anchor="t"/>
          <a:lstStyle>
            <a:lvl1pPr>
              <a:defRPr sz="4400"/>
            </a:lvl1pPr>
          </a:lstStyle>
          <a:p>
            <a:r>
              <a:t>Title Text</a:t>
            </a:r>
          </a:p>
        </p:txBody>
      </p:sp>
      <p:sp>
        <p:nvSpPr>
          <p:cNvPr id="104" name="Body Level One…"/>
          <p:cNvSpPr txBox="1">
            <a:spLocks noGrp="1"/>
          </p:cNvSpPr>
          <p:nvPr>
            <p:ph type="body" idx="1"/>
          </p:nvPr>
        </p:nvSpPr>
        <p:spPr>
          <a:xfrm>
            <a:off x="406400" y="2209800"/>
            <a:ext cx="10972800" cy="4267200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181100" indent="-266700">
              <a:spcBef>
                <a:spcPts val="600"/>
              </a:spcBef>
              <a:defRPr sz="2800"/>
            </a:lvl3pPr>
            <a:lvl4pPr marL="1691638" indent="-320038">
              <a:spcBef>
                <a:spcPts val="600"/>
              </a:spcBef>
              <a:defRPr sz="2800"/>
            </a:lvl4pPr>
            <a:lvl5pPr marL="2148838" indent="-320038">
              <a:spcBef>
                <a:spcPts val="600"/>
              </a:spcBef>
              <a:defRPr sz="28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33381" y="6551288"/>
            <a:ext cx="258620" cy="24830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Title Text"/>
          <p:cNvSpPr txBox="1">
            <a:spLocks noGrp="1"/>
          </p:cNvSpPr>
          <p:nvPr>
            <p:ph type="title"/>
          </p:nvPr>
        </p:nvSpPr>
        <p:spPr>
          <a:xfrm>
            <a:off x="8839200" y="274639"/>
            <a:ext cx="2743200" cy="5851527"/>
          </a:xfrm>
          <a:prstGeom prst="rect">
            <a:avLst/>
          </a:prstGeom>
        </p:spPr>
        <p:txBody>
          <a:bodyPr anchor="t"/>
          <a:lstStyle>
            <a:lvl1pPr>
              <a:defRPr sz="4400"/>
            </a:lvl1pPr>
          </a:lstStyle>
          <a:p>
            <a:r>
              <a:t>Title Text</a:t>
            </a:r>
          </a:p>
        </p:txBody>
      </p:sp>
      <p:sp>
        <p:nvSpPr>
          <p:cNvPr id="113" name="Body Level One…"/>
          <p:cNvSpPr txBox="1">
            <a:spLocks noGrp="1"/>
          </p:cNvSpPr>
          <p:nvPr>
            <p:ph type="body" idx="1"/>
          </p:nvPr>
        </p:nvSpPr>
        <p:spPr>
          <a:xfrm>
            <a:off x="609600" y="274639"/>
            <a:ext cx="8026400" cy="5851527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181100" indent="-266700">
              <a:spcBef>
                <a:spcPts val="600"/>
              </a:spcBef>
              <a:defRPr sz="2800"/>
            </a:lvl3pPr>
            <a:lvl4pPr marL="1691638" indent="-320038">
              <a:spcBef>
                <a:spcPts val="600"/>
              </a:spcBef>
              <a:defRPr sz="2800"/>
            </a:lvl4pPr>
            <a:lvl5pPr marL="2148838" indent="-320038">
              <a:spcBef>
                <a:spcPts val="600"/>
              </a:spcBef>
              <a:defRPr sz="28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1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33381" y="6551288"/>
            <a:ext cx="258620" cy="24830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University Institute of Engineering (UIE)"/>
          <p:cNvSpPr txBox="1"/>
          <p:nvPr/>
        </p:nvSpPr>
        <p:spPr>
          <a:xfrm>
            <a:off x="0" y="6457950"/>
            <a:ext cx="12192000" cy="3401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2000" b="1"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r>
              <a:t>University Institute of Engineering (UIE)</a:t>
            </a:r>
          </a:p>
        </p:txBody>
      </p:sp>
      <p:sp>
        <p:nvSpPr>
          <p:cNvPr id="122" name="Line"/>
          <p:cNvSpPr/>
          <p:nvPr/>
        </p:nvSpPr>
        <p:spPr>
          <a:xfrm>
            <a:off x="-3" y="6400800"/>
            <a:ext cx="12192007" cy="0"/>
          </a:xfrm>
          <a:prstGeom prst="line">
            <a:avLst/>
          </a:prstGeom>
          <a:ln w="88900">
            <a:solidFill>
              <a:srgbClr val="C00000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pic>
        <p:nvPicPr>
          <p:cNvPr id="123" name="https://encrypted-tbn3.gstatic.com/images?q=tbn:ANd9GcTyg3Gq4WoxkxO75aZWNEjYFvavmMfWdiMvs57jpDF8YRR3yCybqQ" descr="https://encrypted-tbn3.gstatic.com/images?q=tbn:ANd9GcTyg3Gq4WoxkxO75aZWNEjYFvavmMfWdiMvs57jpDF8YRR3yCybqQ">
            <a:hlinkClick r:id="rId2"/>
          </p:cNvPr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03200" y="152400"/>
            <a:ext cx="1024468" cy="1219200"/>
          </a:xfrm>
          <a:prstGeom prst="rect">
            <a:avLst/>
          </a:prstGeom>
          <a:ln w="12700">
            <a:miter lim="400000"/>
          </a:ln>
        </p:spPr>
      </p:pic>
      <p:sp>
        <p:nvSpPr>
          <p:cNvPr id="124" name="Title Text"/>
          <p:cNvSpPr txBox="1">
            <a:spLocks noGrp="1"/>
          </p:cNvSpPr>
          <p:nvPr>
            <p:ph type="title"/>
          </p:nvPr>
        </p:nvSpPr>
        <p:spPr>
          <a:xfrm>
            <a:off x="541867" y="88900"/>
            <a:ext cx="10358967" cy="1139826"/>
          </a:xfrm>
          <a:prstGeom prst="rect">
            <a:avLst/>
          </a:prstGeom>
        </p:spPr>
        <p:txBody>
          <a:bodyPr anchor="t"/>
          <a:lstStyle>
            <a:lvl1pPr>
              <a:defRPr sz="4400"/>
            </a:lvl1pPr>
          </a:lstStyle>
          <a:p>
            <a:r>
              <a:t>Title Text</a:t>
            </a:r>
          </a:p>
        </p:txBody>
      </p:sp>
      <p:sp>
        <p:nvSpPr>
          <p:cNvPr id="12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University Institute of Engineering (UIE)"/>
          <p:cNvSpPr txBox="1"/>
          <p:nvPr/>
        </p:nvSpPr>
        <p:spPr>
          <a:xfrm>
            <a:off x="0" y="6457950"/>
            <a:ext cx="12192000" cy="3401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2000" b="1"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r>
              <a:t>University Institute of Engineering (UIE)</a:t>
            </a:r>
          </a:p>
        </p:txBody>
      </p:sp>
      <p:sp>
        <p:nvSpPr>
          <p:cNvPr id="133" name="Line"/>
          <p:cNvSpPr/>
          <p:nvPr/>
        </p:nvSpPr>
        <p:spPr>
          <a:xfrm>
            <a:off x="-3" y="6400800"/>
            <a:ext cx="12192007" cy="0"/>
          </a:xfrm>
          <a:prstGeom prst="line">
            <a:avLst/>
          </a:prstGeom>
          <a:ln w="88900">
            <a:solidFill>
              <a:srgbClr val="C00000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pic>
        <p:nvPicPr>
          <p:cNvPr id="134" name="https://encrypted-tbn3.gstatic.com/images?q=tbn:ANd9GcTyg3Gq4WoxkxO75aZWNEjYFvavmMfWdiMvs57jpDF8YRR3yCybqQ" descr="https://encrypted-tbn3.gstatic.com/images?q=tbn:ANd9GcTyg3Gq4WoxkxO75aZWNEjYFvavmMfWdiMvs57jpDF8YRR3yCybqQ">
            <a:hlinkClick r:id="rId2"/>
          </p:cNvPr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03200" y="152400"/>
            <a:ext cx="1024468" cy="1219200"/>
          </a:xfrm>
          <a:prstGeom prst="rect">
            <a:avLst/>
          </a:prstGeom>
          <a:ln w="12700">
            <a:miter lim="400000"/>
          </a:ln>
        </p:spPr>
      </p:pic>
      <p:sp>
        <p:nvSpPr>
          <p:cNvPr id="135" name="Title Text"/>
          <p:cNvSpPr txBox="1">
            <a:spLocks noGrp="1"/>
          </p:cNvSpPr>
          <p:nvPr>
            <p:ph type="title"/>
          </p:nvPr>
        </p:nvSpPr>
        <p:spPr>
          <a:xfrm>
            <a:off x="963084" y="4406901"/>
            <a:ext cx="10363201" cy="1362079"/>
          </a:xfrm>
          <a:prstGeom prst="rect">
            <a:avLst/>
          </a:prstGeom>
        </p:spPr>
        <p:txBody>
          <a:bodyPr anchor="t"/>
          <a:lstStyle>
            <a:lvl1pPr algn="l">
              <a:defRPr sz="4000" cap="all"/>
            </a:lvl1pPr>
          </a:lstStyle>
          <a:p>
            <a:r>
              <a:t>Title Text</a:t>
            </a:r>
          </a:p>
        </p:txBody>
      </p:sp>
      <p:sp>
        <p:nvSpPr>
          <p:cNvPr id="136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963084" y="2906713"/>
            <a:ext cx="10363201" cy="1500191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695325" indent="-238125">
              <a:spcBef>
                <a:spcPts val="400"/>
              </a:spcBef>
              <a:buFontTx/>
              <a:defRPr sz="2000">
                <a:solidFill>
                  <a:srgbClr val="888888"/>
                </a:solidFill>
              </a:defRPr>
            </a:lvl2pPr>
            <a:lvl3pPr marL="1104900" indent="-190500">
              <a:spcBef>
                <a:spcPts val="400"/>
              </a:spcBef>
              <a:buFontTx/>
              <a:defRPr sz="2000">
                <a:solidFill>
                  <a:srgbClr val="888888"/>
                </a:solidFill>
              </a:defRPr>
            </a:lvl3pPr>
            <a:lvl4pPr marL="1600199" indent="-228599">
              <a:spcBef>
                <a:spcPts val="400"/>
              </a:spcBef>
              <a:buFontTx/>
              <a:defRPr sz="2000">
                <a:solidFill>
                  <a:srgbClr val="888888"/>
                </a:solidFill>
              </a:defRPr>
            </a:lvl4pPr>
            <a:lvl5pPr marL="2057399" indent="-228599">
              <a:spcBef>
                <a:spcPts val="400"/>
              </a:spcBef>
              <a:buFontTx/>
              <a:defRPr sz="2000">
                <a:solidFill>
                  <a:srgbClr val="888888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33381" y="6551288"/>
            <a:ext cx="258620" cy="24830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School of Computer Science &amp; Engineering (SCSE)"/>
          <p:cNvSpPr txBox="1"/>
          <p:nvPr/>
        </p:nvSpPr>
        <p:spPr>
          <a:xfrm>
            <a:off x="0" y="6457950"/>
            <a:ext cx="12192000" cy="3401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2000" b="1"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r>
              <a:t>School of Computer Science &amp; Engineering (SCSE)</a:t>
            </a:r>
          </a:p>
        </p:txBody>
      </p:sp>
      <p:sp>
        <p:nvSpPr>
          <p:cNvPr id="145" name="Line"/>
          <p:cNvSpPr/>
          <p:nvPr/>
        </p:nvSpPr>
        <p:spPr>
          <a:xfrm>
            <a:off x="-3" y="6400800"/>
            <a:ext cx="12192007" cy="0"/>
          </a:xfrm>
          <a:prstGeom prst="line">
            <a:avLst/>
          </a:prstGeom>
          <a:ln w="88900">
            <a:solidFill>
              <a:srgbClr val="FF9601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146" name="Title Text"/>
          <p:cNvSpPr txBox="1">
            <a:spLocks noGrp="1"/>
          </p:cNvSpPr>
          <p:nvPr>
            <p:ph type="title"/>
          </p:nvPr>
        </p:nvSpPr>
        <p:spPr>
          <a:xfrm>
            <a:off x="1154954" y="1447800"/>
            <a:ext cx="8825660" cy="3329581"/>
          </a:xfrm>
          <a:prstGeom prst="rect">
            <a:avLst/>
          </a:prstGeom>
        </p:spPr>
        <p:txBody>
          <a:bodyPr anchor="b"/>
          <a:lstStyle>
            <a:lvl1pPr>
              <a:defRPr sz="7200"/>
            </a:lvl1pPr>
          </a:lstStyle>
          <a:p>
            <a:r>
              <a:t>Title Text</a:t>
            </a:r>
          </a:p>
        </p:txBody>
      </p:sp>
      <p:sp>
        <p:nvSpPr>
          <p:cNvPr id="147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154954" y="4777380"/>
            <a:ext cx="8825660" cy="861424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600"/>
              </a:spcBef>
              <a:buSzTx/>
              <a:buFontTx/>
              <a:buNone/>
              <a:defRPr sz="2800" cap="all">
                <a:solidFill>
                  <a:srgbClr val="F8F7F3"/>
                </a:solidFill>
              </a:defRPr>
            </a:lvl1pPr>
            <a:lvl2pPr marL="790575" indent="-333375">
              <a:spcBef>
                <a:spcPts val="600"/>
              </a:spcBef>
              <a:buFontTx/>
              <a:defRPr sz="2800" cap="all">
                <a:solidFill>
                  <a:srgbClr val="F8F7F3"/>
                </a:solidFill>
              </a:defRPr>
            </a:lvl2pPr>
            <a:lvl3pPr marL="1181100" indent="-266700">
              <a:spcBef>
                <a:spcPts val="600"/>
              </a:spcBef>
              <a:buFontTx/>
              <a:defRPr sz="2800" cap="all">
                <a:solidFill>
                  <a:srgbClr val="F8F7F3"/>
                </a:solidFill>
              </a:defRPr>
            </a:lvl3pPr>
            <a:lvl4pPr marL="1691638" indent="-320038">
              <a:spcBef>
                <a:spcPts val="600"/>
              </a:spcBef>
              <a:buFontTx/>
              <a:defRPr sz="2800" cap="all">
                <a:solidFill>
                  <a:srgbClr val="F8F7F3"/>
                </a:solidFill>
              </a:defRPr>
            </a:lvl4pPr>
            <a:lvl5pPr marL="2148838" indent="-320038">
              <a:spcBef>
                <a:spcPts val="600"/>
              </a:spcBef>
              <a:buFontTx/>
              <a:defRPr sz="2800" cap="all">
                <a:solidFill>
                  <a:srgbClr val="F8F7F3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pic>
        <p:nvPicPr>
          <p:cNvPr id="148" name="lpu logo.png" descr="lpu logo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-342900" y="136404"/>
            <a:ext cx="2178289" cy="1089146"/>
          </a:xfrm>
          <a:prstGeom prst="rect">
            <a:avLst/>
          </a:prstGeom>
          <a:ln w="12700">
            <a:miter lim="400000"/>
          </a:ln>
        </p:spPr>
      </p:pic>
      <p:sp>
        <p:nvSpPr>
          <p:cNvPr id="14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hyperlink" Target="http://www.google.co.in/url?sa=i&amp;rct=j&amp;q=&amp;esrc=s&amp;source=images&amp;cd=&amp;cad=rja&amp;docid=Yol378O-s-lkMM&amp;tbnid=OLCbrS9PtZY4xM:&amp;ved=0CAUQjRw&amp;url=http://www.vidyavision.com/universities.asp?page=2&amp;ei=AFmwUobeKoL-iAf-44CwBQ&amp;psig=AFQjCNGRiFfOFz-wmZM6WF05bau8z5zqnw&amp;ust=1387374581297603" TargetMode="Externa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iversity Institute of Engineering (UIE)"/>
          <p:cNvSpPr txBox="1"/>
          <p:nvPr/>
        </p:nvSpPr>
        <p:spPr>
          <a:xfrm>
            <a:off x="0" y="6457950"/>
            <a:ext cx="12192000" cy="3401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2000" b="1"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r>
              <a:t>University Institute of Engineering (UIE)</a:t>
            </a:r>
          </a:p>
        </p:txBody>
      </p:sp>
      <p:sp>
        <p:nvSpPr>
          <p:cNvPr id="3" name="Line"/>
          <p:cNvSpPr/>
          <p:nvPr/>
        </p:nvSpPr>
        <p:spPr>
          <a:xfrm>
            <a:off x="-3" y="6400800"/>
            <a:ext cx="12192007" cy="0"/>
          </a:xfrm>
          <a:prstGeom prst="line">
            <a:avLst/>
          </a:prstGeom>
          <a:ln w="88900">
            <a:solidFill>
              <a:srgbClr val="C00000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pic>
        <p:nvPicPr>
          <p:cNvPr id="4" name="https://encrypted-tbn3.gstatic.com/images?q=tbn:ANd9GcTyg3Gq4WoxkxO75aZWNEjYFvavmMfWdiMvs57jpDF8YRR3yCybqQ" descr="https://encrypted-tbn3.gstatic.com/images?q=tbn:ANd9GcTyg3Gq4WoxkxO75aZWNEjYFvavmMfWdiMvs57jpDF8YRR3yCybqQ">
            <a:hlinkClick r:id="rId15"/>
          </p:cNvPr>
          <p:cNvPicPr>
            <a:picLocks noChangeAspect="1"/>
          </p:cNvPicPr>
          <p:nvPr/>
        </p:nvPicPr>
        <p:blipFill>
          <a:blip r:embed="rId16">
            <a:extLst/>
          </a:blip>
          <a:stretch>
            <a:fillRect/>
          </a:stretch>
        </p:blipFill>
        <p:spPr>
          <a:xfrm>
            <a:off x="203200" y="152400"/>
            <a:ext cx="1024468" cy="1219200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Department of Computer Science and Engineering (CSE)"/>
          <p:cNvSpPr/>
          <p:nvPr/>
        </p:nvSpPr>
        <p:spPr>
          <a:xfrm>
            <a:off x="3740151" y="87311"/>
            <a:ext cx="8451851" cy="383885"/>
          </a:xfrm>
          <a:prstGeom prst="rect">
            <a:avLst/>
          </a:prstGeom>
          <a:ln w="50800">
            <a:solidFill>
              <a:srgbClr val="C00000"/>
            </a:solidFill>
            <a:miter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r>
              <a:t>Department of Computer Science and Engineering (CSE)</a:t>
            </a:r>
          </a:p>
        </p:txBody>
      </p:sp>
      <p:sp>
        <p:nvSpPr>
          <p:cNvPr id="6" name="Title Text"/>
          <p:cNvSpPr txBox="1">
            <a:spLocks noGrp="1"/>
          </p:cNvSpPr>
          <p:nvPr>
            <p:ph type="title"/>
          </p:nvPr>
        </p:nvSpPr>
        <p:spPr>
          <a:xfrm>
            <a:off x="1320800" y="1066800"/>
            <a:ext cx="10566400" cy="609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7" name="Body Level One…"/>
          <p:cNvSpPr txBox="1">
            <a:spLocks noGrp="1"/>
          </p:cNvSpPr>
          <p:nvPr>
            <p:ph type="body" idx="1"/>
          </p:nvPr>
        </p:nvSpPr>
        <p:spPr>
          <a:xfrm>
            <a:off x="1219200" y="1752600"/>
            <a:ext cx="10668000" cy="4495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78981" y="6232199"/>
            <a:ext cx="258621" cy="248302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z="1200">
                <a:solidFill>
                  <a:srgbClr val="888888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ransition spd="med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1" i="0" u="none" strike="noStrike" cap="none" spc="0" baseline="0">
          <a:solidFill>
            <a:srgbClr val="000000"/>
          </a:solidFill>
          <a:uFillTx/>
          <a:latin typeface="Cambria"/>
          <a:ea typeface="Cambria"/>
          <a:cs typeface="Cambria"/>
          <a:sym typeface="Cambria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1" i="0" u="none" strike="noStrike" cap="none" spc="0" baseline="0">
          <a:solidFill>
            <a:srgbClr val="000000"/>
          </a:solidFill>
          <a:uFillTx/>
          <a:latin typeface="Cambria"/>
          <a:ea typeface="Cambria"/>
          <a:cs typeface="Cambria"/>
          <a:sym typeface="Cambria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1" i="0" u="none" strike="noStrike" cap="none" spc="0" baseline="0">
          <a:solidFill>
            <a:srgbClr val="000000"/>
          </a:solidFill>
          <a:uFillTx/>
          <a:latin typeface="Cambria"/>
          <a:ea typeface="Cambria"/>
          <a:cs typeface="Cambria"/>
          <a:sym typeface="Cambria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1" i="0" u="none" strike="noStrike" cap="none" spc="0" baseline="0">
          <a:solidFill>
            <a:srgbClr val="000000"/>
          </a:solidFill>
          <a:uFillTx/>
          <a:latin typeface="Cambria"/>
          <a:ea typeface="Cambria"/>
          <a:cs typeface="Cambria"/>
          <a:sym typeface="Cambria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1" i="0" u="none" strike="noStrike" cap="none" spc="0" baseline="0">
          <a:solidFill>
            <a:srgbClr val="000000"/>
          </a:solidFill>
          <a:uFillTx/>
          <a:latin typeface="Cambria"/>
          <a:ea typeface="Cambria"/>
          <a:cs typeface="Cambria"/>
          <a:sym typeface="Cambria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1" i="0" u="none" strike="noStrike" cap="none" spc="0" baseline="0">
          <a:solidFill>
            <a:srgbClr val="000000"/>
          </a:solidFill>
          <a:uFillTx/>
          <a:latin typeface="Cambria"/>
          <a:ea typeface="Cambria"/>
          <a:cs typeface="Cambria"/>
          <a:sym typeface="Cambria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1" i="0" u="none" strike="noStrike" cap="none" spc="0" baseline="0">
          <a:solidFill>
            <a:srgbClr val="000000"/>
          </a:solidFill>
          <a:uFillTx/>
          <a:latin typeface="Cambria"/>
          <a:ea typeface="Cambria"/>
          <a:cs typeface="Cambria"/>
          <a:sym typeface="Cambria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1" i="0" u="none" strike="noStrike" cap="none" spc="0" baseline="0">
          <a:solidFill>
            <a:srgbClr val="000000"/>
          </a:solidFill>
          <a:uFillTx/>
          <a:latin typeface="Cambria"/>
          <a:ea typeface="Cambria"/>
          <a:cs typeface="Cambria"/>
          <a:sym typeface="Cambria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1" i="0" u="none" strike="noStrike" cap="none" spc="0" baseline="0">
          <a:solidFill>
            <a:srgbClr val="000000"/>
          </a:solidFill>
          <a:uFillTx/>
          <a:latin typeface="Cambria"/>
          <a:ea typeface="Cambria"/>
          <a:cs typeface="Cambria"/>
          <a:sym typeface="Cambria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 typeface="Arial"/>
        <a:buChar char="•"/>
        <a:tabLst/>
        <a:defRPr sz="2400" b="0" i="0" u="none" strike="noStrike" cap="none" spc="0" baseline="0">
          <a:solidFill>
            <a:srgbClr val="000000"/>
          </a:solidFill>
          <a:uFillTx/>
          <a:latin typeface="Cambria"/>
          <a:ea typeface="Cambria"/>
          <a:cs typeface="Cambria"/>
          <a:sym typeface="Cambria"/>
        </a:defRPr>
      </a:lvl1pPr>
      <a:lvl2pPr marL="800100" marR="0" indent="-342900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 typeface="Arial"/>
        <a:buChar char="–"/>
        <a:tabLst/>
        <a:defRPr sz="2400" b="0" i="0" u="none" strike="noStrike" cap="none" spc="0" baseline="0">
          <a:solidFill>
            <a:srgbClr val="000000"/>
          </a:solidFill>
          <a:uFillTx/>
          <a:latin typeface="Cambria"/>
          <a:ea typeface="Cambria"/>
          <a:cs typeface="Cambria"/>
          <a:sym typeface="Cambria"/>
        </a:defRPr>
      </a:lvl2pPr>
      <a:lvl3pPr marL="1188719" marR="0" indent="-274319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 typeface="Arial"/>
        <a:buChar char="•"/>
        <a:tabLst/>
        <a:defRPr sz="2400" b="0" i="0" u="none" strike="noStrike" cap="none" spc="0" baseline="0">
          <a:solidFill>
            <a:srgbClr val="000000"/>
          </a:solidFill>
          <a:uFillTx/>
          <a:latin typeface="Cambria"/>
          <a:ea typeface="Cambria"/>
          <a:cs typeface="Cambria"/>
          <a:sym typeface="Cambria"/>
        </a:defRPr>
      </a:lvl3pPr>
      <a:lvl4pPr marL="1676400" marR="0" indent="-304800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 typeface="Arial"/>
        <a:buChar char="–"/>
        <a:tabLst/>
        <a:defRPr sz="2400" b="0" i="0" u="none" strike="noStrike" cap="none" spc="0" baseline="0">
          <a:solidFill>
            <a:srgbClr val="000000"/>
          </a:solidFill>
          <a:uFillTx/>
          <a:latin typeface="Cambria"/>
          <a:ea typeface="Cambria"/>
          <a:cs typeface="Cambria"/>
          <a:sym typeface="Cambria"/>
        </a:defRPr>
      </a:lvl4pPr>
      <a:lvl5pPr marL="2133600" marR="0" indent="-304800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 typeface="Arial"/>
        <a:buChar char="»"/>
        <a:tabLst/>
        <a:defRPr sz="2400" b="0" i="0" u="none" strike="noStrike" cap="none" spc="0" baseline="0">
          <a:solidFill>
            <a:srgbClr val="000000"/>
          </a:solidFill>
          <a:uFillTx/>
          <a:latin typeface="Cambria"/>
          <a:ea typeface="Cambria"/>
          <a:cs typeface="Cambria"/>
          <a:sym typeface="Cambria"/>
        </a:defRPr>
      </a:lvl5pPr>
      <a:lvl6pPr marL="2560317" marR="0" indent="-274317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 typeface="Arial"/>
        <a:buChar char="•"/>
        <a:tabLst/>
        <a:defRPr sz="2400" b="0" i="0" u="none" strike="noStrike" cap="none" spc="0" baseline="0">
          <a:solidFill>
            <a:srgbClr val="000000"/>
          </a:solidFill>
          <a:uFillTx/>
          <a:latin typeface="Cambria"/>
          <a:ea typeface="Cambria"/>
          <a:cs typeface="Cambria"/>
          <a:sym typeface="Cambria"/>
        </a:defRPr>
      </a:lvl6pPr>
      <a:lvl7pPr marL="3017517" marR="0" indent="-274317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 typeface="Arial"/>
        <a:buChar char="•"/>
        <a:tabLst/>
        <a:defRPr sz="2400" b="0" i="0" u="none" strike="noStrike" cap="none" spc="0" baseline="0">
          <a:solidFill>
            <a:srgbClr val="000000"/>
          </a:solidFill>
          <a:uFillTx/>
          <a:latin typeface="Cambria"/>
          <a:ea typeface="Cambria"/>
          <a:cs typeface="Cambria"/>
          <a:sym typeface="Cambria"/>
        </a:defRPr>
      </a:lvl7pPr>
      <a:lvl8pPr marL="3474720" marR="0" indent="-274317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 typeface="Arial"/>
        <a:buChar char="•"/>
        <a:tabLst/>
        <a:defRPr sz="2400" b="0" i="0" u="none" strike="noStrike" cap="none" spc="0" baseline="0">
          <a:solidFill>
            <a:srgbClr val="000000"/>
          </a:solidFill>
          <a:uFillTx/>
          <a:latin typeface="Cambria"/>
          <a:ea typeface="Cambria"/>
          <a:cs typeface="Cambria"/>
          <a:sym typeface="Cambria"/>
        </a:defRPr>
      </a:lvl8pPr>
      <a:lvl9pPr marL="3931920" marR="0" indent="-274320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 typeface="Arial"/>
        <a:buChar char="•"/>
        <a:tabLst/>
        <a:defRPr sz="2400" b="0" i="0" u="none" strike="noStrike" cap="none" spc="0" baseline="0">
          <a:solidFill>
            <a:srgbClr val="000000"/>
          </a:solidFill>
          <a:uFillTx/>
          <a:latin typeface="Cambria"/>
          <a:ea typeface="Cambria"/>
          <a:cs typeface="Cambria"/>
          <a:sym typeface="Cambria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Unit 1-Introduction To Hadoop…"/>
          <p:cNvSpPr txBox="1">
            <a:spLocks noGrp="1"/>
          </p:cNvSpPr>
          <p:nvPr>
            <p:ph type="title"/>
          </p:nvPr>
        </p:nvSpPr>
        <p:spPr>
          <a:xfrm>
            <a:off x="1300765" y="1601300"/>
            <a:ext cx="10354617" cy="4112451"/>
          </a:xfrm>
          <a:prstGeom prst="rect">
            <a:avLst/>
          </a:prstGeom>
        </p:spPr>
        <p:txBody>
          <a:bodyPr/>
          <a:lstStyle/>
          <a:p>
            <a:pPr defTabSz="548640">
              <a:defRPr sz="4800">
                <a:solidFill>
                  <a:srgbClr val="94175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Unit 2- Hadoop Architecture</a:t>
            </a:r>
          </a:p>
          <a:p>
            <a:pPr algn="r" defTabSz="548640">
              <a:defRPr sz="30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dirty="0"/>
          </a:p>
          <a:p>
            <a:pPr algn="r" defTabSz="548640">
              <a:defRPr sz="30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dirty="0"/>
          </a:p>
          <a:p>
            <a:pPr algn="r" defTabSz="548640"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dirty="0"/>
          </a:p>
        </p:txBody>
      </p:sp>
      <p:pic>
        <p:nvPicPr>
          <p:cNvPr id="159" name="Screenshot 2024-12-21 at 12.39.35 PM.png" descr="Screenshot 2024-12-21 at 12.39.35 P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041198" y="-61725"/>
            <a:ext cx="2178291" cy="61294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CONTENTS…"/>
          <p:cNvSpPr txBox="1">
            <a:spLocks noGrp="1"/>
          </p:cNvSpPr>
          <p:nvPr>
            <p:ph type="title"/>
          </p:nvPr>
        </p:nvSpPr>
        <p:spPr>
          <a:xfrm>
            <a:off x="1766148" y="498325"/>
            <a:ext cx="8520215" cy="5148999"/>
          </a:xfrm>
          <a:prstGeom prst="rect">
            <a:avLst/>
          </a:prstGeom>
        </p:spPr>
        <p:txBody>
          <a:bodyPr/>
          <a:lstStyle/>
          <a:p>
            <a:pPr algn="l" defTabSz="146303">
              <a:defRPr sz="2800" u="sng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CONTENTS</a:t>
            </a:r>
          </a:p>
          <a:p>
            <a:pPr algn="l" defTabSz="146303"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 algn="l" defTabSz="146303">
              <a:defRPr sz="8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sz="2800"/>
          </a:p>
          <a:p>
            <a:pPr marL="80210" indent="-80210" algn="l" defTabSz="146303"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Architecture of Hadoop</a:t>
            </a:r>
          </a:p>
          <a:p>
            <a:pPr marL="80210" indent="-80210" algn="l" defTabSz="146303"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Hadoop- HDFS &amp; MapReduce Terminologies</a:t>
            </a:r>
          </a:p>
          <a:p>
            <a:pPr marL="80210" indent="-80210" algn="l" defTabSz="146303"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 marL="80210" indent="-80210" algn="l" defTabSz="146303"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 marL="80210" indent="-80210" algn="l" defTabSz="146303"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 marL="80210" indent="-80210" algn="l" defTabSz="146303"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 marL="80210" indent="-80210" algn="l" defTabSz="146303"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 algn="l" defTabSz="146303">
              <a:defRPr sz="800">
                <a:latin typeface="+mn-lt"/>
                <a:ea typeface="+mn-ea"/>
                <a:cs typeface="+mn-cs"/>
                <a:sym typeface="Calibri"/>
              </a:defRPr>
            </a:pPr>
            <a:endParaRPr/>
          </a:p>
          <a:p>
            <a:pPr marL="80210" indent="-80210" algn="l" defTabSz="146303">
              <a:defRPr sz="8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 marL="80210" indent="-80210" algn="l" defTabSz="146303">
              <a:defRPr sz="8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 marL="80210" indent="-80210" algn="l" defTabSz="146303">
              <a:defRPr sz="8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</p:txBody>
      </p:sp>
      <p:pic>
        <p:nvPicPr>
          <p:cNvPr id="162" name="Screenshot 2024-12-21 at 12.39.35 PM.png" descr="Screenshot 2024-12-21 at 12.39.35 P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041198" y="-61725"/>
            <a:ext cx="2178291" cy="61294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circle/>
      </p:transition>
    </mc:Choice>
    <mc:Fallback xmlns:a14="http://schemas.microsoft.com/office/drawing/2010/main" xmlns:m="http://schemas.openxmlformats.org/officeDocument/2006/math"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V’s of Big Data"/>
          <p:cNvSpPr txBox="1"/>
          <p:nvPr/>
        </p:nvSpPr>
        <p:spPr>
          <a:xfrm>
            <a:off x="1783738" y="488499"/>
            <a:ext cx="6915502" cy="6783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4200" b="1">
                <a:solidFill>
                  <a:srgbClr val="BD383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Architecture of Hadoop</a:t>
            </a:r>
          </a:p>
        </p:txBody>
      </p:sp>
      <p:pic>
        <p:nvPicPr>
          <p:cNvPr id="165" name="Screenshot 2025-01-03 at 4.21.26 PM.png" descr="Screenshot 2025-01-03 at 4.21.26 P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203766" y="1929661"/>
            <a:ext cx="6075446" cy="2998678"/>
          </a:xfrm>
          <a:prstGeom prst="rect">
            <a:avLst/>
          </a:prstGeom>
          <a:ln w="12700">
            <a:miter lim="400000"/>
          </a:ln>
        </p:spPr>
      </p:pic>
      <p:pic>
        <p:nvPicPr>
          <p:cNvPr id="166" name="Screenshot 2024-12-21 at 12.39.35 PM.png" descr="Screenshot 2024-12-21 at 12.39.35 PM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041198" y="-61725"/>
            <a:ext cx="2178291" cy="61294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circle/>
      </p:transition>
    </mc:Choice>
    <mc:Fallback xmlns:a14="http://schemas.microsoft.com/office/drawing/2010/main" xmlns:m="http://schemas.openxmlformats.org/officeDocument/2006/math"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calable for large data growth.…"/>
          <p:cNvSpPr txBox="1"/>
          <p:nvPr/>
        </p:nvSpPr>
        <p:spPr>
          <a:xfrm>
            <a:off x="1757860" y="1479029"/>
            <a:ext cx="8922144" cy="33157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4999" tIns="44999" rIns="44999" bIns="44999">
            <a:spAutoFit/>
          </a:bodyPr>
          <a:lstStyle/>
          <a:p>
            <a:pPr defTabSz="457200">
              <a:spcBef>
                <a:spcPts val="1200"/>
              </a:spcBef>
              <a:defRPr sz="2500">
                <a:solidFill>
                  <a:srgbClr val="212121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•  HDFS is a fundamental or building block of Hadoop. </a:t>
            </a:r>
          </a:p>
          <a:p>
            <a:pPr marL="250657" indent="-250657" defTabSz="457200">
              <a:spcBef>
                <a:spcPts val="1200"/>
              </a:spcBef>
              <a:buSzPct val="100000"/>
              <a:buChar char="•"/>
              <a:defRPr sz="2500">
                <a:solidFill>
                  <a:srgbClr val="212121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Its design is based on Master-Slave Model.</a:t>
            </a:r>
            <a:endParaRPr>
              <a:solidFill>
                <a:srgbClr val="000000"/>
              </a:solidFill>
            </a:endParaRPr>
          </a:p>
          <a:p>
            <a:pPr marL="250657" indent="-250657" defTabSz="457200">
              <a:spcBef>
                <a:spcPts val="1200"/>
              </a:spcBef>
              <a:buSzPct val="100000"/>
              <a:buChar char="•"/>
              <a:defRPr sz="2500">
                <a:solidFill>
                  <a:srgbClr val="212121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It is having a single Active NameNode and multiple DataNode.</a:t>
            </a:r>
            <a:endParaRPr>
              <a:solidFill>
                <a:srgbClr val="000000"/>
              </a:solidFill>
            </a:endParaRPr>
          </a:p>
          <a:p>
            <a:pPr marL="250657" indent="-250657" defTabSz="457200">
              <a:spcBef>
                <a:spcPts val="1200"/>
              </a:spcBef>
              <a:buSzPct val="100000"/>
              <a:buChar char="•"/>
              <a:defRPr sz="2500">
                <a:solidFill>
                  <a:srgbClr val="212121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At any given point of time, there will be only one active NameNode.</a:t>
            </a:r>
            <a:endParaRPr>
              <a:solidFill>
                <a:srgbClr val="000000"/>
              </a:solidFill>
            </a:endParaRPr>
          </a:p>
          <a:p>
            <a:pPr marL="250657" indent="-250657" defTabSz="457200">
              <a:spcBef>
                <a:spcPts val="1200"/>
              </a:spcBef>
              <a:buSzPct val="100000"/>
              <a:buChar char="•"/>
              <a:defRPr sz="2500">
                <a:solidFill>
                  <a:srgbClr val="212121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NameNode and DataNode are basically the server machines.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69" name="Benefits of Hadoop"/>
          <p:cNvSpPr txBox="1"/>
          <p:nvPr/>
        </p:nvSpPr>
        <p:spPr>
          <a:xfrm>
            <a:off x="1745638" y="526599"/>
            <a:ext cx="6915502" cy="6783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4200" b="1">
                <a:solidFill>
                  <a:srgbClr val="BD383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HDFS Layer</a:t>
            </a:r>
          </a:p>
        </p:txBody>
      </p:sp>
      <p:pic>
        <p:nvPicPr>
          <p:cNvPr id="170" name="Screenshot 2024-12-21 at 12.39.35 PM.png" descr="Screenshot 2024-12-21 at 12.39.35 P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041198" y="-61725"/>
            <a:ext cx="2178291" cy="61294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Scalable for large data growth.…"/>
          <p:cNvSpPr txBox="1"/>
          <p:nvPr/>
        </p:nvSpPr>
        <p:spPr>
          <a:xfrm>
            <a:off x="1757860" y="1479029"/>
            <a:ext cx="8922144" cy="32205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4999" tIns="44999" rIns="44999" bIns="44999">
            <a:spAutoFit/>
          </a:bodyPr>
          <a:lstStyle/>
          <a:p>
            <a:pPr marL="120315" indent="-120315" defTabSz="457200">
              <a:lnSpc>
                <a:spcPct val="150000"/>
              </a:lnSpc>
              <a:buSzPct val="100000"/>
              <a:buChar char="•"/>
              <a:defRPr sz="24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Processes large datasets using MapReduce efficiently.</a:t>
            </a:r>
          </a:p>
          <a:p>
            <a:pPr marL="120315" indent="-120315" defTabSz="457200">
              <a:lnSpc>
                <a:spcPct val="150000"/>
              </a:lnSpc>
              <a:buSzPct val="100000"/>
              <a:buChar char="•"/>
              <a:defRPr sz="24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Distributes tasks across nodes in parallel manner.</a:t>
            </a:r>
          </a:p>
          <a:p>
            <a:pPr marL="120315" indent="-120315" defTabSz="457200">
              <a:lnSpc>
                <a:spcPct val="150000"/>
              </a:lnSpc>
              <a:buSzPct val="100000"/>
              <a:buChar char="•"/>
              <a:defRPr sz="24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Handles data in key-value pairs during processing.</a:t>
            </a:r>
          </a:p>
          <a:p>
            <a:pPr marL="120315" indent="-120315" defTabSz="457200">
              <a:lnSpc>
                <a:spcPct val="150000"/>
              </a:lnSpc>
              <a:buSzPct val="100000"/>
              <a:buChar char="•"/>
              <a:defRPr sz="24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Uses Map function for data transformation tasks.</a:t>
            </a:r>
          </a:p>
          <a:p>
            <a:pPr marL="120315" indent="-120315" defTabSz="457200">
              <a:lnSpc>
                <a:spcPct val="150000"/>
              </a:lnSpc>
              <a:buSzPct val="100000"/>
              <a:buChar char="•"/>
              <a:defRPr sz="24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Reduce function aggregates results from Map outputs.</a:t>
            </a:r>
          </a:p>
          <a:p>
            <a:pPr marL="120315" indent="-120315" defTabSz="457200">
              <a:lnSpc>
                <a:spcPct val="150000"/>
              </a:lnSpc>
              <a:buSzPct val="100000"/>
              <a:buChar char="•"/>
              <a:defRPr sz="24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Ensures scalability and fault tolerance in computations.</a:t>
            </a:r>
          </a:p>
        </p:txBody>
      </p:sp>
      <p:sp>
        <p:nvSpPr>
          <p:cNvPr id="173" name="Benefits of Hadoop"/>
          <p:cNvSpPr txBox="1"/>
          <p:nvPr/>
        </p:nvSpPr>
        <p:spPr>
          <a:xfrm>
            <a:off x="1745638" y="526599"/>
            <a:ext cx="6915502" cy="6783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4200" b="1">
                <a:solidFill>
                  <a:srgbClr val="BD383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MapReduce Layer</a:t>
            </a:r>
          </a:p>
        </p:txBody>
      </p:sp>
      <p:pic>
        <p:nvPicPr>
          <p:cNvPr id="174" name="Screenshot 2024-12-21 at 12.39.35 PM.png" descr="Screenshot 2024-12-21 at 12.39.35 P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041198" y="-61725"/>
            <a:ext cx="2178291" cy="61294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Scalable for large data growth.…"/>
          <p:cNvSpPr txBox="1"/>
          <p:nvPr/>
        </p:nvSpPr>
        <p:spPr>
          <a:xfrm>
            <a:off x="1757860" y="1479029"/>
            <a:ext cx="8922144" cy="3430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4999" tIns="44999" rIns="44999" bIns="44999">
            <a:spAutoFit/>
          </a:bodyPr>
          <a:lstStyle/>
          <a:p>
            <a:pPr marL="240631" indent="-240631" defTabSz="457200">
              <a:lnSpc>
                <a:spcPct val="120000"/>
              </a:lnSpc>
              <a:spcBef>
                <a:spcPts val="1200"/>
              </a:spcBef>
              <a:buSzPct val="100000"/>
              <a:buChar char="•"/>
              <a:defRPr sz="24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Fault-tolerant with block replication approach.</a:t>
            </a:r>
          </a:p>
          <a:p>
            <a:pPr marL="240631" indent="-240631" defTabSz="457200">
              <a:lnSpc>
                <a:spcPct val="120000"/>
              </a:lnSpc>
              <a:spcBef>
                <a:spcPts val="1200"/>
              </a:spcBef>
              <a:buSzPct val="100000"/>
              <a:buChar char="•"/>
              <a:defRPr sz="24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Scalable design adapts to growing storage needs.</a:t>
            </a:r>
          </a:p>
          <a:p>
            <a:pPr marL="240631" indent="-240631" defTabSz="457200">
              <a:lnSpc>
                <a:spcPct val="120000"/>
              </a:lnSpc>
              <a:spcBef>
                <a:spcPts val="1200"/>
              </a:spcBef>
              <a:buSzPct val="100000"/>
              <a:buChar char="•"/>
              <a:defRPr sz="24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Optimised for write-once, read-many workloads.</a:t>
            </a:r>
          </a:p>
          <a:p>
            <a:pPr marL="240631" indent="-240631" defTabSz="457200">
              <a:lnSpc>
                <a:spcPct val="120000"/>
              </a:lnSpc>
              <a:spcBef>
                <a:spcPts val="1200"/>
              </a:spcBef>
              <a:buSzPct val="100000"/>
              <a:buChar char="•"/>
              <a:defRPr sz="24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Provides cost-effective distributed file storage.</a:t>
            </a:r>
          </a:p>
          <a:p>
            <a:pPr marL="240631" indent="-240631" defTabSz="457200">
              <a:lnSpc>
                <a:spcPct val="120000"/>
              </a:lnSpc>
              <a:spcBef>
                <a:spcPts val="1200"/>
              </a:spcBef>
              <a:buSzPct val="100000"/>
              <a:buChar char="•"/>
              <a:defRPr sz="24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Manages data efficiently across commodity hardware.</a:t>
            </a:r>
          </a:p>
          <a:p>
            <a:pPr marL="240631" indent="-240631" defTabSz="457200">
              <a:lnSpc>
                <a:spcPct val="120000"/>
              </a:lnSpc>
              <a:spcBef>
                <a:spcPts val="1200"/>
              </a:spcBef>
              <a:buSzPct val="100000"/>
              <a:buChar char="•"/>
              <a:defRPr sz="24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Supports storage for diverse file formats seamlessly.</a:t>
            </a:r>
          </a:p>
        </p:txBody>
      </p:sp>
      <p:sp>
        <p:nvSpPr>
          <p:cNvPr id="177" name="Benefits of Hadoop"/>
          <p:cNvSpPr txBox="1"/>
          <p:nvPr/>
        </p:nvSpPr>
        <p:spPr>
          <a:xfrm>
            <a:off x="1745638" y="526599"/>
            <a:ext cx="6915502" cy="6783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4200" b="1">
                <a:solidFill>
                  <a:srgbClr val="BD383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Benefits of HDFS</a:t>
            </a:r>
          </a:p>
        </p:txBody>
      </p:sp>
      <p:pic>
        <p:nvPicPr>
          <p:cNvPr id="178" name="Screenshot 2024-12-21 at 12.39.35 PM.png" descr="Screenshot 2024-12-21 at 12.39.35 P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041198" y="-61725"/>
            <a:ext cx="2178291" cy="61294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Scalable for large data growth.…"/>
          <p:cNvSpPr txBox="1"/>
          <p:nvPr/>
        </p:nvSpPr>
        <p:spPr>
          <a:xfrm>
            <a:off x="1757860" y="1479029"/>
            <a:ext cx="8922144" cy="32205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4999" tIns="44999" rIns="44999" bIns="44999">
            <a:spAutoFit/>
          </a:bodyPr>
          <a:lstStyle/>
          <a:p>
            <a:pPr marL="120315" indent="-120315" defTabSz="457200">
              <a:lnSpc>
                <a:spcPct val="150000"/>
              </a:lnSpc>
              <a:buSzPct val="100000"/>
              <a:buChar char="•"/>
              <a:defRPr sz="24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Processes massive datasets with fault tolerance.</a:t>
            </a:r>
          </a:p>
          <a:p>
            <a:pPr marL="120315" indent="-120315" defTabSz="457200">
              <a:lnSpc>
                <a:spcPct val="150000"/>
              </a:lnSpc>
              <a:buSzPct val="100000"/>
              <a:buChar char="•"/>
              <a:defRPr sz="24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Supports scalability for growing data challenges.</a:t>
            </a:r>
          </a:p>
          <a:p>
            <a:pPr marL="120315" indent="-120315" defTabSz="457200">
              <a:lnSpc>
                <a:spcPct val="150000"/>
              </a:lnSpc>
              <a:buSzPct val="100000"/>
              <a:buChar char="•"/>
              <a:defRPr sz="24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Reduces network traffic with data locality features.</a:t>
            </a:r>
          </a:p>
          <a:p>
            <a:pPr marL="120315" indent="-120315" defTabSz="457200">
              <a:lnSpc>
                <a:spcPct val="150000"/>
              </a:lnSpc>
              <a:buSzPct val="100000"/>
              <a:buChar char="•"/>
              <a:defRPr sz="24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Enables efficient parallel computations on clusters.</a:t>
            </a:r>
          </a:p>
          <a:p>
            <a:pPr marL="120315" indent="-120315" defTabSz="457200">
              <a:lnSpc>
                <a:spcPct val="150000"/>
              </a:lnSpc>
              <a:buSzPct val="100000"/>
              <a:buChar char="•"/>
              <a:defRPr sz="24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Enhances performance for big data applications.</a:t>
            </a:r>
          </a:p>
          <a:p>
            <a:pPr marL="120315" indent="-120315" defTabSz="457200">
              <a:lnSpc>
                <a:spcPct val="150000"/>
              </a:lnSpc>
              <a:buSzPct val="100000"/>
              <a:buChar char="•"/>
              <a:defRPr sz="24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Core processing engine in Hadoop ecosystem.</a:t>
            </a:r>
          </a:p>
        </p:txBody>
      </p:sp>
      <p:sp>
        <p:nvSpPr>
          <p:cNvPr id="181" name="Benefits of Hadoop"/>
          <p:cNvSpPr txBox="1"/>
          <p:nvPr/>
        </p:nvSpPr>
        <p:spPr>
          <a:xfrm>
            <a:off x="1745638" y="526599"/>
            <a:ext cx="6915502" cy="6783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4200" b="1">
                <a:solidFill>
                  <a:srgbClr val="BD383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Benefits of MapReduce</a:t>
            </a:r>
          </a:p>
        </p:txBody>
      </p:sp>
      <p:pic>
        <p:nvPicPr>
          <p:cNvPr id="182" name="Screenshot 2024-12-21 at 12.39.35 PM.png" descr="Screenshot 2024-12-21 at 12.39.35 P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041198" y="-61725"/>
            <a:ext cx="2178291" cy="61294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Hadoop handles massive data volumes.…"/>
          <p:cNvSpPr txBox="1"/>
          <p:nvPr/>
        </p:nvSpPr>
        <p:spPr>
          <a:xfrm>
            <a:off x="1821360" y="1631428"/>
            <a:ext cx="8922144" cy="32205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4999" tIns="44999" rIns="44999" bIns="44999">
            <a:spAutoFit/>
          </a:bodyPr>
          <a:lstStyle/>
          <a:p>
            <a:pPr marL="120315" indent="-120315" defTabSz="457200">
              <a:lnSpc>
                <a:spcPct val="150000"/>
              </a:lnSpc>
              <a:buSzPct val="100000"/>
              <a:buChar char="•"/>
              <a:defRPr sz="24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Manages HDFS metadata and file structures.</a:t>
            </a:r>
          </a:p>
          <a:p>
            <a:pPr marL="120315" indent="-120315" defTabSz="457200">
              <a:lnSpc>
                <a:spcPct val="150000"/>
              </a:lnSpc>
              <a:buSzPct val="100000"/>
              <a:buChar char="•"/>
              <a:defRPr sz="24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Stores file locations, permissions, and hierarchy.</a:t>
            </a:r>
          </a:p>
          <a:p>
            <a:pPr marL="120315" indent="-120315" defTabSz="457200">
              <a:lnSpc>
                <a:spcPct val="150000"/>
              </a:lnSpc>
              <a:buSzPct val="100000"/>
              <a:buChar char="•"/>
              <a:defRPr sz="24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Directs DataNodes for read/write file operations.</a:t>
            </a:r>
          </a:p>
          <a:p>
            <a:pPr marL="120315" indent="-120315" defTabSz="457200">
              <a:lnSpc>
                <a:spcPct val="150000"/>
              </a:lnSpc>
              <a:buSzPct val="100000"/>
              <a:buChar char="•"/>
              <a:defRPr sz="24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Acts as the master in HDFS architecture.</a:t>
            </a:r>
          </a:p>
          <a:p>
            <a:pPr marL="120315" indent="-120315" defTabSz="457200">
              <a:lnSpc>
                <a:spcPct val="150000"/>
              </a:lnSpc>
              <a:buSzPct val="100000"/>
              <a:buChar char="•"/>
              <a:defRPr sz="24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Stores only metadata, not actual data blocks.</a:t>
            </a:r>
          </a:p>
          <a:p>
            <a:pPr marL="120315" indent="-120315" defTabSz="457200">
              <a:lnSpc>
                <a:spcPct val="150000"/>
              </a:lnSpc>
              <a:buSzPct val="100000"/>
              <a:buChar char="•"/>
              <a:defRPr sz="24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Critical component for Hadoop's storage system.</a:t>
            </a:r>
          </a:p>
        </p:txBody>
      </p:sp>
      <p:sp>
        <p:nvSpPr>
          <p:cNvPr id="185" name="Introduction to Hadoop"/>
          <p:cNvSpPr txBox="1"/>
          <p:nvPr/>
        </p:nvSpPr>
        <p:spPr>
          <a:xfrm>
            <a:off x="1682138" y="590099"/>
            <a:ext cx="6915502" cy="6783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4200" b="1">
                <a:solidFill>
                  <a:srgbClr val="BD383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Role of NameNode</a:t>
            </a:r>
          </a:p>
        </p:txBody>
      </p:sp>
      <p:pic>
        <p:nvPicPr>
          <p:cNvPr id="186" name="Screenshot 2024-12-21 at 12.39.35 PM.png" descr="Screenshot 2024-12-21 at 12.39.35 P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041198" y="-61725"/>
            <a:ext cx="2178291" cy="61294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Scalable for large data growth.…"/>
          <p:cNvSpPr txBox="1"/>
          <p:nvPr/>
        </p:nvSpPr>
        <p:spPr>
          <a:xfrm>
            <a:off x="1757860" y="1479029"/>
            <a:ext cx="8922144" cy="32205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4999" tIns="44999" rIns="44999" bIns="44999">
            <a:spAutoFit/>
          </a:bodyPr>
          <a:lstStyle/>
          <a:p>
            <a:pPr marL="240631" indent="-240631" defTabSz="457200">
              <a:lnSpc>
                <a:spcPct val="150000"/>
              </a:lnSpc>
              <a:buSzPct val="100000"/>
              <a:buChar char="•"/>
              <a:defRPr sz="24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Stores actual data in HDFS block format.</a:t>
            </a:r>
          </a:p>
          <a:p>
            <a:pPr marL="240631" indent="-240631" defTabSz="457200">
              <a:lnSpc>
                <a:spcPct val="150000"/>
              </a:lnSpc>
              <a:buSzPct val="100000"/>
              <a:buChar char="•"/>
              <a:defRPr sz="24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Executes instructions received from Namenode.</a:t>
            </a:r>
          </a:p>
          <a:p>
            <a:pPr marL="240631" indent="-240631" defTabSz="457200">
              <a:lnSpc>
                <a:spcPct val="150000"/>
              </a:lnSpc>
              <a:buSzPct val="100000"/>
              <a:buChar char="•"/>
              <a:defRPr sz="24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Reports block health to Namenode via heartbeat signal.</a:t>
            </a:r>
          </a:p>
          <a:p>
            <a:pPr marL="240631" indent="-240631" defTabSz="457200">
              <a:lnSpc>
                <a:spcPct val="150000"/>
              </a:lnSpc>
              <a:buSzPct val="100000"/>
              <a:buChar char="•"/>
              <a:defRPr sz="24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Manages data replication for fault tolerance.</a:t>
            </a:r>
          </a:p>
          <a:p>
            <a:pPr marL="240631" indent="-240631" defTabSz="457200">
              <a:lnSpc>
                <a:spcPct val="150000"/>
              </a:lnSpc>
              <a:buSzPct val="100000"/>
              <a:buChar char="•"/>
              <a:defRPr sz="24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Acts as the worker node in HDFS system.</a:t>
            </a:r>
          </a:p>
          <a:p>
            <a:pPr marL="240631" indent="-240631" defTabSz="457200">
              <a:lnSpc>
                <a:spcPct val="150000"/>
              </a:lnSpc>
              <a:buSzPct val="100000"/>
              <a:buChar char="•"/>
              <a:defRPr sz="24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Supports distributed data storage across clusters.</a:t>
            </a:r>
          </a:p>
        </p:txBody>
      </p:sp>
      <p:sp>
        <p:nvSpPr>
          <p:cNvPr id="189" name="Benefits of Hadoop"/>
          <p:cNvSpPr txBox="1"/>
          <p:nvPr/>
        </p:nvSpPr>
        <p:spPr>
          <a:xfrm>
            <a:off x="1745638" y="526599"/>
            <a:ext cx="6915502" cy="6783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4200" b="1">
                <a:solidFill>
                  <a:srgbClr val="BD383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Role of DataNode</a:t>
            </a:r>
          </a:p>
        </p:txBody>
      </p:sp>
      <p:pic>
        <p:nvPicPr>
          <p:cNvPr id="190" name="Screenshot 2024-12-21 at 12.39.35 PM.png" descr="Screenshot 2024-12-21 at 12.39.35 P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041198" y="-61725"/>
            <a:ext cx="2178291" cy="61294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Banking: Fraud detection, risk management.…"/>
          <p:cNvSpPr txBox="1"/>
          <p:nvPr/>
        </p:nvSpPr>
        <p:spPr>
          <a:xfrm>
            <a:off x="1834060" y="1694928"/>
            <a:ext cx="8922144" cy="32205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4999" tIns="44999" rIns="44999" bIns="44999">
            <a:spAutoFit/>
          </a:bodyPr>
          <a:lstStyle/>
          <a:p>
            <a:pPr marL="240631" indent="-240631" defTabSz="457200">
              <a:lnSpc>
                <a:spcPct val="150000"/>
              </a:lnSpc>
              <a:buSzPct val="100000"/>
              <a:buChar char="•"/>
              <a:defRPr sz="24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Maintains a checkpoint of Namenode data.</a:t>
            </a:r>
          </a:p>
          <a:p>
            <a:pPr marL="240631" indent="-240631" defTabSz="457200">
              <a:lnSpc>
                <a:spcPct val="150000"/>
              </a:lnSpc>
              <a:buSzPct val="100000"/>
              <a:buChar char="•"/>
              <a:defRPr sz="24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Combines edits log and file system image.</a:t>
            </a:r>
          </a:p>
          <a:p>
            <a:pPr marL="240631" indent="-240631" defTabSz="457200">
              <a:lnSpc>
                <a:spcPct val="150000"/>
              </a:lnSpc>
              <a:buSzPct val="100000"/>
              <a:buChar char="•"/>
              <a:defRPr sz="24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Reduces Namenode workload in HDFS.</a:t>
            </a:r>
          </a:p>
          <a:p>
            <a:pPr marL="240631" indent="-240631" defTabSz="457200">
              <a:lnSpc>
                <a:spcPct val="150000"/>
              </a:lnSpc>
              <a:buSzPct val="100000"/>
              <a:buChar char="•"/>
              <a:defRPr sz="24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Prevents log file growth, ensuring efficiency.</a:t>
            </a:r>
          </a:p>
          <a:p>
            <a:pPr marL="240631" indent="-240631" defTabSz="457200">
              <a:lnSpc>
                <a:spcPct val="150000"/>
              </a:lnSpc>
              <a:buSzPct val="100000"/>
              <a:buChar char="•"/>
              <a:defRPr sz="24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Stores metadata snapshot for recovery needs.</a:t>
            </a:r>
          </a:p>
          <a:p>
            <a:pPr marL="240631" indent="-240631" defTabSz="457200">
              <a:lnSpc>
                <a:spcPct val="150000"/>
              </a:lnSpc>
              <a:buSzPct val="100000"/>
              <a:buChar char="•"/>
              <a:defRPr sz="24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Not a backup Namenode for system operations.</a:t>
            </a:r>
          </a:p>
        </p:txBody>
      </p:sp>
      <p:sp>
        <p:nvSpPr>
          <p:cNvPr id="193" name="Applications of Big Data"/>
          <p:cNvSpPr txBox="1"/>
          <p:nvPr/>
        </p:nvSpPr>
        <p:spPr>
          <a:xfrm>
            <a:off x="1771038" y="513899"/>
            <a:ext cx="6915502" cy="6783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4200" b="1">
                <a:solidFill>
                  <a:srgbClr val="BD383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Role of Secondary NameNode</a:t>
            </a:r>
          </a:p>
        </p:txBody>
      </p:sp>
      <p:pic>
        <p:nvPicPr>
          <p:cNvPr id="194" name="Screenshot 2024-12-21 at 12.39.35 PM.png" descr="Screenshot 2024-12-21 at 12.39.35 P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041198" y="-61725"/>
            <a:ext cx="2178291" cy="61294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Capturing: Collecting massive datasets efficiently.…"/>
          <p:cNvSpPr txBox="1">
            <a:spLocks noGrp="1"/>
          </p:cNvSpPr>
          <p:nvPr>
            <p:ph type="body" idx="1"/>
          </p:nvPr>
        </p:nvSpPr>
        <p:spPr>
          <a:xfrm>
            <a:off x="2012555" y="1555649"/>
            <a:ext cx="8765428" cy="4659110"/>
          </a:xfrm>
          <a:prstGeom prst="rect">
            <a:avLst/>
          </a:prstGeom>
        </p:spPr>
        <p:txBody>
          <a:bodyPr/>
          <a:lstStyle/>
          <a:p>
            <a:pPr marL="120315" indent="-120315" defTabSz="457200">
              <a:lnSpc>
                <a:spcPct val="150000"/>
              </a:lnSpc>
              <a:spcBef>
                <a:spcPts val="0"/>
              </a:spcBef>
              <a:buSzPct val="100000"/>
              <a:buChar char="•"/>
              <a:defRPr sz="2400" cap="none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Manages MapReduce jobs submitted to the cluster.</a:t>
            </a:r>
          </a:p>
          <a:p>
            <a:pPr marL="120315" indent="-120315" defTabSz="457200">
              <a:lnSpc>
                <a:spcPct val="150000"/>
              </a:lnSpc>
              <a:spcBef>
                <a:spcPts val="0"/>
              </a:spcBef>
              <a:buSzPct val="100000"/>
              <a:buChar char="•"/>
              <a:defRPr sz="2400" cap="none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Schedules tasks across nodes for job execution.</a:t>
            </a:r>
          </a:p>
          <a:p>
            <a:pPr marL="120315" indent="-120315" defTabSz="457200">
              <a:lnSpc>
                <a:spcPct val="150000"/>
              </a:lnSpc>
              <a:spcBef>
                <a:spcPts val="0"/>
              </a:spcBef>
              <a:buSzPct val="100000"/>
              <a:buChar char="•"/>
              <a:defRPr sz="2400" cap="none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Monitors task progress and handles job failures.</a:t>
            </a:r>
          </a:p>
          <a:p>
            <a:pPr marL="120315" indent="-120315" defTabSz="457200">
              <a:lnSpc>
                <a:spcPct val="150000"/>
              </a:lnSpc>
              <a:spcBef>
                <a:spcPts val="0"/>
              </a:spcBef>
              <a:buSzPct val="100000"/>
              <a:buChar char="•"/>
              <a:defRPr sz="2400" cap="none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Assigns resources using Hadoop YARN framework.</a:t>
            </a:r>
          </a:p>
          <a:p>
            <a:pPr marL="120315" indent="-120315" defTabSz="457200">
              <a:lnSpc>
                <a:spcPct val="150000"/>
              </a:lnSpc>
              <a:spcBef>
                <a:spcPts val="0"/>
              </a:spcBef>
              <a:buSzPct val="100000"/>
              <a:buChar char="•"/>
              <a:defRPr sz="2400" cap="none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Acts as the master for MapReduce computations.</a:t>
            </a:r>
          </a:p>
          <a:p>
            <a:pPr marL="120315" indent="-120315" defTabSz="457200">
              <a:lnSpc>
                <a:spcPct val="150000"/>
              </a:lnSpc>
              <a:spcBef>
                <a:spcPts val="0"/>
              </a:spcBef>
              <a:buSzPct val="100000"/>
              <a:buChar char="•"/>
              <a:defRPr sz="2400" cap="none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Ensures efficient task distribution and completion.</a:t>
            </a:r>
          </a:p>
        </p:txBody>
      </p:sp>
      <p:sp>
        <p:nvSpPr>
          <p:cNvPr id="197" name="Challenges of Big Data"/>
          <p:cNvSpPr txBox="1"/>
          <p:nvPr/>
        </p:nvSpPr>
        <p:spPr>
          <a:xfrm>
            <a:off x="1831700" y="634079"/>
            <a:ext cx="7415294" cy="6783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4200" b="1">
                <a:solidFill>
                  <a:srgbClr val="CA1B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Role of Job Tracker</a:t>
            </a:r>
          </a:p>
        </p:txBody>
      </p:sp>
      <p:pic>
        <p:nvPicPr>
          <p:cNvPr id="198" name="Screenshot 2024-12-21 at 12.39.35 PM.png" descr="Screenshot 2024-12-21 at 12.39.35 P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041198" y="-61725"/>
            <a:ext cx="2178291" cy="61294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Scalable for large data growth.…"/>
          <p:cNvSpPr txBox="1"/>
          <p:nvPr/>
        </p:nvSpPr>
        <p:spPr>
          <a:xfrm>
            <a:off x="1757860" y="1479029"/>
            <a:ext cx="8922144" cy="32205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4999" tIns="44999" rIns="44999" bIns="44999">
            <a:spAutoFit/>
          </a:bodyPr>
          <a:lstStyle/>
          <a:p>
            <a:pPr marL="240631" indent="-240631" defTabSz="457200">
              <a:lnSpc>
                <a:spcPct val="150000"/>
              </a:lnSpc>
              <a:buSzPct val="100000"/>
              <a:buChar char="•"/>
              <a:defRPr sz="24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Executes MapReduce tasks assigned by Job Tracker.</a:t>
            </a:r>
          </a:p>
          <a:p>
            <a:pPr marL="240631" indent="-240631" defTabSz="457200">
              <a:lnSpc>
                <a:spcPct val="150000"/>
              </a:lnSpc>
              <a:buSzPct val="100000"/>
              <a:buChar char="•"/>
              <a:defRPr sz="24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Manages individual tasks on a specific node.</a:t>
            </a:r>
          </a:p>
          <a:p>
            <a:pPr marL="240631" indent="-240631" defTabSz="457200">
              <a:lnSpc>
                <a:spcPct val="150000"/>
              </a:lnSpc>
              <a:buSzPct val="100000"/>
              <a:buChar char="•"/>
              <a:defRPr sz="24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Monitors task execution and reports progress.</a:t>
            </a:r>
          </a:p>
          <a:p>
            <a:pPr marL="240631" indent="-240631" defTabSz="457200">
              <a:lnSpc>
                <a:spcPct val="150000"/>
              </a:lnSpc>
              <a:buSzPct val="100000"/>
              <a:buChar char="•"/>
              <a:defRPr sz="24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Handles local input data for faster processing.</a:t>
            </a:r>
          </a:p>
          <a:p>
            <a:pPr marL="240631" indent="-240631" defTabSz="457200">
              <a:lnSpc>
                <a:spcPct val="150000"/>
              </a:lnSpc>
              <a:buSzPct val="100000"/>
              <a:buChar char="•"/>
              <a:defRPr sz="24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Supports fault tolerance by re-running failed tasks.</a:t>
            </a:r>
          </a:p>
          <a:p>
            <a:pPr marL="240631" indent="-240631" defTabSz="457200">
              <a:lnSpc>
                <a:spcPct val="150000"/>
              </a:lnSpc>
              <a:buSzPct val="100000"/>
              <a:buChar char="•"/>
              <a:defRPr sz="24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Ensures efficient use of cluster computational resources.</a:t>
            </a:r>
          </a:p>
        </p:txBody>
      </p:sp>
      <p:sp>
        <p:nvSpPr>
          <p:cNvPr id="201" name="Benefits of Hadoop"/>
          <p:cNvSpPr txBox="1"/>
          <p:nvPr/>
        </p:nvSpPr>
        <p:spPr>
          <a:xfrm>
            <a:off x="1745638" y="526599"/>
            <a:ext cx="6915502" cy="6783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4200" b="1">
                <a:solidFill>
                  <a:srgbClr val="BD383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Role of Task Tracker</a:t>
            </a:r>
          </a:p>
        </p:txBody>
      </p:sp>
      <p:pic>
        <p:nvPicPr>
          <p:cNvPr id="202" name="Screenshot 2024-12-21 at 12.39.35 PM.png" descr="Screenshot 2024-12-21 at 12.39.35 P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041198" y="-61725"/>
            <a:ext cx="2178291" cy="61294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THANK YOU"/>
          <p:cNvSpPr txBox="1"/>
          <p:nvPr/>
        </p:nvSpPr>
        <p:spPr>
          <a:xfrm>
            <a:off x="1805895" y="1796530"/>
            <a:ext cx="9387482" cy="24160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4999" tIns="44999" rIns="44999" bIns="44999">
            <a:spAutoFit/>
          </a:bodyPr>
          <a:lstStyle/>
          <a:p>
            <a:pPr marL="193673" indent="-192085" algn="ctr">
              <a:tabLst>
                <a:tab pos="393700" algn="l"/>
                <a:tab pos="850900" algn="l"/>
                <a:tab pos="1308100" algn="l"/>
                <a:tab pos="1765300" algn="l"/>
                <a:tab pos="2222500" algn="l"/>
                <a:tab pos="2679700" algn="l"/>
                <a:tab pos="3136900" algn="l"/>
                <a:tab pos="3594100" algn="l"/>
                <a:tab pos="4051300" algn="l"/>
                <a:tab pos="4508500" algn="l"/>
                <a:tab pos="4965700" algn="l"/>
                <a:tab pos="5422900" algn="l"/>
                <a:tab pos="5880100" algn="l"/>
                <a:tab pos="6337300" algn="l"/>
                <a:tab pos="6794500" algn="l"/>
                <a:tab pos="7251700" algn="l"/>
                <a:tab pos="7708900" algn="l"/>
                <a:tab pos="8166100" algn="l"/>
                <a:tab pos="8623300" algn="l"/>
                <a:tab pos="9080500" algn="l"/>
                <a:tab pos="9537700" algn="l"/>
              </a:tabLst>
              <a:defRPr sz="6000" b="1">
                <a:solidFill>
                  <a:srgbClr val="21212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 marL="193673" indent="-192085" algn="ctr">
              <a:tabLst>
                <a:tab pos="393700" algn="l"/>
                <a:tab pos="850900" algn="l"/>
                <a:tab pos="1308100" algn="l"/>
                <a:tab pos="1765300" algn="l"/>
                <a:tab pos="2222500" algn="l"/>
                <a:tab pos="2679700" algn="l"/>
                <a:tab pos="3136900" algn="l"/>
                <a:tab pos="3594100" algn="l"/>
                <a:tab pos="4051300" algn="l"/>
                <a:tab pos="4508500" algn="l"/>
                <a:tab pos="4965700" algn="l"/>
                <a:tab pos="5422900" algn="l"/>
                <a:tab pos="5880100" algn="l"/>
                <a:tab pos="6337300" algn="l"/>
                <a:tab pos="6794500" algn="l"/>
                <a:tab pos="7251700" algn="l"/>
                <a:tab pos="7708900" algn="l"/>
                <a:tab pos="8166100" algn="l"/>
                <a:tab pos="8623300" algn="l"/>
                <a:tab pos="9080500" algn="l"/>
                <a:tab pos="9537700" algn="l"/>
              </a:tabLst>
              <a:defRPr sz="6000" b="1">
                <a:solidFill>
                  <a:srgbClr val="21212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THANK YOU	</a:t>
            </a:r>
          </a:p>
          <a:p>
            <a:pPr marL="193673" indent="-192085" algn="just">
              <a:tabLst>
                <a:tab pos="393700" algn="l"/>
                <a:tab pos="850900" algn="l"/>
                <a:tab pos="1308100" algn="l"/>
                <a:tab pos="1765300" algn="l"/>
                <a:tab pos="2222500" algn="l"/>
                <a:tab pos="2679700" algn="l"/>
                <a:tab pos="3136900" algn="l"/>
                <a:tab pos="3594100" algn="l"/>
                <a:tab pos="4051300" algn="l"/>
                <a:tab pos="4508500" algn="l"/>
                <a:tab pos="4965700" algn="l"/>
                <a:tab pos="5422900" algn="l"/>
                <a:tab pos="5880100" algn="l"/>
                <a:tab pos="6337300" algn="l"/>
                <a:tab pos="6794500" algn="l"/>
                <a:tab pos="7251700" algn="l"/>
                <a:tab pos="7708900" algn="l"/>
                <a:tab pos="8166100" algn="l"/>
                <a:tab pos="8623300" algn="l"/>
                <a:tab pos="9080500" algn="l"/>
                <a:tab pos="9537700" algn="l"/>
              </a:tabLst>
              <a:defRPr sz="2000" b="1">
                <a:solidFill>
                  <a:srgbClr val="21212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</p:txBody>
      </p:sp>
      <p:pic>
        <p:nvPicPr>
          <p:cNvPr id="205" name="Screenshot 2024-12-21 at 12.39.35 PM.png" descr="Screenshot 2024-12-21 at 12.39.35 P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041198" y="-61725"/>
            <a:ext cx="2178291" cy="61294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cu">
  <a:themeElements>
    <a:clrScheme name="cu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cu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c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cu">
  <a:themeElements>
    <a:clrScheme name="cu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cu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c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463</Words>
  <Application>Microsoft Office PowerPoint</Application>
  <PresentationFormat>Widescreen</PresentationFormat>
  <Paragraphs>79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Calibri</vt:lpstr>
      <vt:lpstr>Cambria</vt:lpstr>
      <vt:lpstr>Helvetica</vt:lpstr>
      <vt:lpstr>Times New Roman</vt:lpstr>
      <vt:lpstr>Times Roman</vt:lpstr>
      <vt:lpstr>cu</vt:lpstr>
      <vt:lpstr>Unit 2- Hadoop Architecture   </vt:lpstr>
      <vt:lpstr>CONTENTS   Architecture of Hadoop Hadoop- HDFS &amp; MapReduce Terminologies       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2- Hadoop Architecture   </dc:title>
  <cp:lastModifiedBy>hp Win 10</cp:lastModifiedBy>
  <cp:revision>1</cp:revision>
  <dcterms:modified xsi:type="dcterms:W3CDTF">2026-02-19T04:13:39Z</dcterms:modified>
</cp:coreProperties>
</file>