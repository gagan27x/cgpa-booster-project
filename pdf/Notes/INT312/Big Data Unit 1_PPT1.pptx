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6" name="Shape 1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2042540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524000" y="3429000"/>
            <a:ext cx="10363200" cy="1066800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000000"/>
            </a:solidFill>
            <a:bevel/>
          </a:ln>
        </p:spPr>
        <p:txBody>
          <a:bodyPr/>
          <a:lstStyle>
            <a:lvl1pPr algn="r"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3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Department of Computer and Communication Engineering (CCE)"/>
          <p:cNvSpPr/>
          <p:nvPr/>
        </p:nvSpPr>
        <p:spPr>
          <a:xfrm>
            <a:off x="3791392" y="87311"/>
            <a:ext cx="6134479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Department of Computer and Communication Engineering (CCE)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771525" indent="-314325">
              <a:defRPr sz="2200"/>
            </a:lvl2pPr>
            <a:lvl3pPr marL="1193800" indent="-279400">
              <a:defRPr sz="2200"/>
            </a:lvl3pPr>
            <a:lvl4pPr marL="1651000" indent="-279400">
              <a:defRPr sz="2200"/>
            </a:lvl4pPr>
            <a:lvl5pPr marL="2108200" indent="-27940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Image"/>
          <p:cNvSpPr>
            <a:spLocks noGrp="1"/>
          </p:cNvSpPr>
          <p:nvPr>
            <p:ph type="pic" idx="21"/>
          </p:nvPr>
        </p:nvSpPr>
        <p:spPr>
          <a:xfrm>
            <a:off x="3860800" y="1371600"/>
            <a:ext cx="8026400" cy="4724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371600"/>
            <a:ext cx="3454400" cy="4724400"/>
          </a:xfrm>
          <a:prstGeom prst="rect">
            <a:avLst/>
          </a:prstGeom>
        </p:spPr>
        <p:txBody>
          <a:bodyPr/>
          <a:lstStyle>
            <a:lvl1pPr marL="137160" indent="-137160">
              <a:spcBef>
                <a:spcPts val="400"/>
              </a:spcBef>
              <a:defRPr sz="2000"/>
            </a:lvl1pPr>
            <a:lvl2pPr marL="340358" indent="-203198">
              <a:spcBef>
                <a:spcPts val="400"/>
              </a:spcBef>
              <a:buChar char="▪"/>
              <a:defRPr sz="2000"/>
            </a:lvl2pPr>
            <a:lvl3pPr marL="523238" indent="-203198">
              <a:spcBef>
                <a:spcPts val="400"/>
              </a:spcBef>
              <a:defRPr sz="2000"/>
            </a:lvl3pPr>
            <a:lvl4pPr marL="1600199" indent="-228599">
              <a:spcBef>
                <a:spcPts val="400"/>
              </a:spcBef>
              <a:defRPr sz="2000"/>
            </a:lvl4pPr>
            <a:lvl5pPr marL="2057399" indent="-228599">
              <a:spcBef>
                <a:spcPts val="400"/>
              </a:spcBef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55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6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Department of Computer and Communicationq Engineering (CCE)"/>
          <p:cNvSpPr/>
          <p:nvPr/>
        </p:nvSpPr>
        <p:spPr>
          <a:xfrm>
            <a:off x="4013198" y="-3"/>
            <a:ext cx="5968647" cy="310488"/>
          </a:xfrm>
          <a:prstGeom prst="rect">
            <a:avLst/>
          </a:prstGeom>
          <a:solidFill>
            <a:srgbClr val="632523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700"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Department of Computer and Communicationq Engineering (CCE)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1524000"/>
            <a:ext cx="11074400" cy="48768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533400"/>
            <a:ext cx="104648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chool of Computer Science &amp; Engineering (SCS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68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69" name="lpu logo.png" descr="lpu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93700" y="100834"/>
            <a:ext cx="2236729" cy="1118366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78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79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81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5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/>
            </a:lvl1pPr>
            <a:lvl2pPr marL="783771" indent="-326571">
              <a:spcBef>
                <a:spcPts val="700"/>
              </a:spcBef>
              <a:defRPr sz="3200"/>
            </a:lvl2pPr>
            <a:lvl3pPr marL="1219200" indent="-304800">
              <a:spcBef>
                <a:spcPts val="700"/>
              </a:spcBef>
              <a:defRPr sz="3200"/>
            </a:lvl3pPr>
            <a:lvl4pPr marL="1737360" indent="-365760">
              <a:spcBef>
                <a:spcPts val="700"/>
              </a:spcBef>
              <a:defRPr sz="3200"/>
            </a:lvl4pPr>
            <a:lvl5pPr marL="2194560" indent="-365760">
              <a:spcBef>
                <a:spcPts val="7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Rectangle"/>
          <p:cNvSpPr>
            <a:spLocks noGrp="1"/>
          </p:cNvSpPr>
          <p:nvPr>
            <p:ph type="body" sz="half" idx="21"/>
          </p:nvPr>
        </p:nvSpPr>
        <p:spPr>
          <a:xfrm>
            <a:off x="609598" y="1435101"/>
            <a:ext cx="4011090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91" name="Image"/>
          <p:cNvSpPr>
            <a:spLocks noGrp="1"/>
          </p:cNvSpPr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4" y="5367337"/>
            <a:ext cx="7315204" cy="80486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623887" indent="-166687">
              <a:spcBef>
                <a:spcPts val="300"/>
              </a:spcBef>
              <a:buFontTx/>
              <a:defRPr sz="1400"/>
            </a:lvl2pPr>
            <a:lvl3pPr marL="1047750" indent="-133350">
              <a:spcBef>
                <a:spcPts val="300"/>
              </a:spcBef>
              <a:buFontTx/>
              <a:defRPr sz="1400"/>
            </a:lvl3pPr>
            <a:lvl4pPr marL="1531619" indent="-160019">
              <a:spcBef>
                <a:spcPts val="300"/>
              </a:spcBef>
              <a:buFontTx/>
              <a:defRPr sz="1400"/>
            </a:lvl4pPr>
            <a:lvl5pPr marL="1988817" indent="-160017">
              <a:spcBef>
                <a:spcPts val="300"/>
              </a:spcBef>
              <a:buFontTx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01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02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406400" y="1371600"/>
            <a:ext cx="10972800" cy="685800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2209800"/>
            <a:ext cx="10972800" cy="42672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7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7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22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23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itle Text"/>
          <p:cNvSpPr txBox="1">
            <a:spLocks noGrp="1"/>
          </p:cNvSpPr>
          <p:nvPr>
            <p:ph type="title"/>
          </p:nvPr>
        </p:nvSpPr>
        <p:spPr>
          <a:xfrm>
            <a:off x="541867" y="88900"/>
            <a:ext cx="10358967" cy="1139826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133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79"/>
          </a:xfrm>
          <a:prstGeom prst="rect">
            <a:avLst/>
          </a:prstGeom>
        </p:spPr>
        <p:txBody>
          <a:bodyPr anchor="t"/>
          <a:lstStyle>
            <a:lvl1pPr algn="l">
              <a:defRPr sz="4000" cap="all"/>
            </a:lvl1pPr>
          </a:lstStyle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695325" indent="-238125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2pPr>
            <a:lvl3pPr marL="1104900" indent="-190500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3pPr>
            <a:lvl4pPr marL="16001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4pPr>
            <a:lvl5pPr marL="20573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chool of Computer Science &amp; Engineering (SCS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45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FF960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60" cy="3329581"/>
          </a:xfrm>
          <a:prstGeom prst="rect">
            <a:avLst/>
          </a:prstGeom>
        </p:spPr>
        <p:txBody>
          <a:bodyPr anchor="b"/>
          <a:lstStyle>
            <a:lvl1pPr>
              <a:defRPr sz="7200"/>
            </a:lvl1pPr>
          </a:lstStyle>
          <a:p>
            <a:r>
              <a:t>Title Text</a:t>
            </a:r>
          </a:p>
        </p:txBody>
      </p:sp>
      <p:sp>
        <p:nvSpPr>
          <p:cNvPr id="1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4777380"/>
            <a:ext cx="8825660" cy="861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cap="all">
                <a:solidFill>
                  <a:srgbClr val="F8F7F3"/>
                </a:solidFill>
              </a:defRPr>
            </a:lvl1pPr>
            <a:lvl2pPr marL="790575" indent="-333375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2pPr>
            <a:lvl3pPr marL="1181100" indent="-266700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3pPr>
            <a:lvl4pPr marL="16916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4pPr>
            <a:lvl5pPr marL="21488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8" name="lpu logo.png" descr="lpu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42900" y="136404"/>
            <a:ext cx="2178289" cy="1089146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University Institute of Engineering (UIE)</a:t>
            </a:r>
          </a:p>
        </p:txBody>
      </p:sp>
      <p:sp>
        <p:nvSpPr>
          <p:cNvPr id="3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4" name="https://encrypted-tbn3.gstatic.com/images?q=tbn:ANd9GcTyg3Gq4WoxkxO75aZWNEjYFvavmMfWdiMvs57jpDF8YRR3yCybqQ" descr="https://encrypted-tbn3.gstatic.com/images?q=tbn:ANd9GcTyg3Gq4WoxkxO75aZWNEjYFvavmMfWdiMvs57jpDF8YRR3yCybqQ">
            <a:hlinkClick r:id="rId15"/>
          </p:cNvPr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Department of Computer Science and Engineering (CSE)"/>
          <p:cNvSpPr/>
          <p:nvPr/>
        </p:nvSpPr>
        <p:spPr>
          <a:xfrm>
            <a:off x="3740151" y="87311"/>
            <a:ext cx="8451852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Department of Computer Science and Engineering (CSE)</a:t>
            </a:r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320800" y="1066800"/>
            <a:ext cx="1056640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81" y="6232199"/>
            <a:ext cx="258621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8001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1188719" marR="0" indent="-27431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16764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21336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25603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3017517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3474720" marR="0" indent="-27431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39319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Unit 1-Introduction To Hadoop…"/>
          <p:cNvSpPr txBox="1">
            <a:spLocks noGrp="1"/>
          </p:cNvSpPr>
          <p:nvPr>
            <p:ph type="title"/>
          </p:nvPr>
        </p:nvSpPr>
        <p:spPr>
          <a:xfrm>
            <a:off x="1300765" y="1601300"/>
            <a:ext cx="10354617" cy="411245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521208">
              <a:defRPr sz="4560">
                <a:solidFill>
                  <a:srgbClr val="94175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INT-312 Big Data Fundamentals</a:t>
            </a:r>
          </a:p>
          <a:p>
            <a:pPr defTabSz="521208">
              <a:defRPr sz="3800">
                <a:solidFill>
                  <a:srgbClr val="531B9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Unit 1-Introduction To </a:t>
            </a:r>
            <a:r>
              <a:rPr dirty="0" err="1"/>
              <a:t>Hadoop</a:t>
            </a:r>
            <a:endParaRPr dirty="0"/>
          </a:p>
          <a:p>
            <a:pPr algn="r" defTabSz="521208">
              <a:defRPr sz="285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21208">
              <a:defRPr sz="285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21208">
              <a:defRPr sz="228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21208">
              <a:defRPr sz="2280">
                <a:solidFill>
                  <a:srgbClr val="94219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159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ONTENTS…"/>
          <p:cNvSpPr txBox="1">
            <a:spLocks noGrp="1"/>
          </p:cNvSpPr>
          <p:nvPr>
            <p:ph type="title"/>
          </p:nvPr>
        </p:nvSpPr>
        <p:spPr>
          <a:xfrm>
            <a:off x="1766148" y="498325"/>
            <a:ext cx="8520215" cy="5148999"/>
          </a:xfrm>
          <a:prstGeom prst="rect">
            <a:avLst/>
          </a:prstGeom>
        </p:spPr>
        <p:txBody>
          <a:bodyPr/>
          <a:lstStyle/>
          <a:p>
            <a:pPr algn="l" defTabSz="125820">
              <a:defRPr sz="2408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CONTENTS</a:t>
            </a:r>
          </a:p>
          <a:p>
            <a:pPr algn="l" defTabSz="125820">
              <a:defRPr sz="240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l" defTabSz="125820">
              <a:defRPr sz="68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Introduction/ Definition</a:t>
            </a:r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Sources</a:t>
            </a:r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V’s of Big Data</a:t>
            </a:r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Types of Data</a:t>
            </a:r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Hadoop History</a:t>
            </a:r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Introduction to Hadoop</a:t>
            </a:r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Hadoop Components</a:t>
            </a:r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Hadoop 2.0 Components</a:t>
            </a:r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Applications of Big Data</a:t>
            </a:r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Challenges of Big data</a:t>
            </a:r>
          </a:p>
          <a:p>
            <a:pPr marL="68980" indent="-68980" algn="l" defTabSz="125820">
              <a:defRPr sz="2064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68980" indent="-68980" algn="l" defTabSz="125820">
              <a:defRPr sz="172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l" defTabSz="125820">
              <a:defRPr sz="688">
                <a:latin typeface="+mj-lt"/>
                <a:ea typeface="+mj-ea"/>
                <a:cs typeface="+mj-cs"/>
                <a:sym typeface="Calibri"/>
              </a:defRPr>
            </a:pPr>
            <a:endParaRPr/>
          </a:p>
          <a:p>
            <a:pPr marL="68980" indent="-68980" algn="l" defTabSz="125820">
              <a:defRPr sz="68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68980" indent="-68980" algn="l" defTabSz="125820">
              <a:defRPr sz="68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68980" indent="-68980" algn="l" defTabSz="125820">
              <a:defRPr sz="688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162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>
    <p:circl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Data too big for traditional tools.…"/>
          <p:cNvSpPr txBox="1">
            <a:spLocks noGrp="1"/>
          </p:cNvSpPr>
          <p:nvPr>
            <p:ph type="body" idx="1"/>
          </p:nvPr>
        </p:nvSpPr>
        <p:spPr>
          <a:xfrm>
            <a:off x="2164955" y="1542949"/>
            <a:ext cx="8765428" cy="4659110"/>
          </a:xfrm>
          <a:prstGeom prst="rect">
            <a:avLst/>
          </a:prstGeom>
        </p:spPr>
        <p:txBody>
          <a:bodyPr/>
          <a:lstStyle/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 too big for traditional tools.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Generated rapidly from many sources.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Complex to process and analyze.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Drives innovation across industries.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Includes structured and unstructured data.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enabler for smarter decisions.</a:t>
            </a:r>
          </a:p>
        </p:txBody>
      </p:sp>
      <p:sp>
        <p:nvSpPr>
          <p:cNvPr id="165" name="Introduction To Big Data"/>
          <p:cNvSpPr txBox="1"/>
          <p:nvPr/>
        </p:nvSpPr>
        <p:spPr>
          <a:xfrm>
            <a:off x="2111100" y="438655"/>
            <a:ext cx="7415294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Introduction To Big Data</a:t>
            </a:r>
          </a:p>
        </p:txBody>
      </p:sp>
      <p:pic>
        <p:nvPicPr>
          <p:cNvPr id="166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Facebook: 10 billion photos stored today.…"/>
          <p:cNvSpPr txBox="1"/>
          <p:nvPr/>
        </p:nvSpPr>
        <p:spPr>
          <a:xfrm>
            <a:off x="2059896" y="1411106"/>
            <a:ext cx="8714876" cy="3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</a:t>
            </a:r>
            <a:r>
              <a:rPr b="1"/>
              <a:t>Facebook:</a:t>
            </a:r>
            <a:r>
              <a:t> 10 billion photos stored today.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500 TB data received daily by Facebook.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</a:t>
            </a:r>
            <a:r>
              <a:rPr b="1"/>
              <a:t>Twitter(X):</a:t>
            </a:r>
            <a:r>
              <a:t> 600 million tweets daily shared.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</a:t>
            </a:r>
            <a:r>
              <a:rPr b="1"/>
              <a:t>eBay:</a:t>
            </a:r>
            <a:r>
              <a:t> Generates 500 TB data per day.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</a:t>
            </a:r>
            <a:r>
              <a:rPr b="1"/>
              <a:t>YouTube:</a:t>
            </a:r>
            <a:r>
              <a:t> 300 hours videos uploaded every minute.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</a:t>
            </a:r>
            <a:r>
              <a:rPr b="1"/>
              <a:t>WhatsApp:</a:t>
            </a:r>
            <a:r>
              <a:t> 4.7 billion photos shared daily.</a:t>
            </a:r>
          </a:p>
        </p:txBody>
      </p:sp>
      <p:sp>
        <p:nvSpPr>
          <p:cNvPr id="169" name="Different Sources of Data"/>
          <p:cNvSpPr txBox="1"/>
          <p:nvPr/>
        </p:nvSpPr>
        <p:spPr>
          <a:xfrm>
            <a:off x="1910738" y="480118"/>
            <a:ext cx="6689681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C02A1E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Different Sources of Data</a:t>
            </a:r>
          </a:p>
        </p:txBody>
      </p:sp>
      <p:pic>
        <p:nvPicPr>
          <p:cNvPr id="170" name="Screenshot 2024-12-21 at 12.21.14 PM.png" descr="Screenshot 2024-12-21 at 12.21.1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93942" y="1204015"/>
            <a:ext cx="1239739" cy="11183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Screenshot 2024-12-21 at 12.21.42 PM.png" descr="Screenshot 2024-12-21 at 12.21.4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36225" y="2367899"/>
            <a:ext cx="783946" cy="8373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Screenshot 2024-12-21 at 12.22.21 PM.png" descr="Screenshot 2024-12-21 at 12.22.21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90440" y="3250813"/>
            <a:ext cx="1359330" cy="5931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" name="Screenshot 2024-12-21 at 12.23.01 PM.png" descr="Screenshot 2024-12-21 at 12.23.01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373720" y="2367899"/>
            <a:ext cx="1159472" cy="8373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Screenshot 2024-12-21 at 12.23.31 PM.png" descr="Screenshot 2024-12-21 at 12.23.31 P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986059" y="1248446"/>
            <a:ext cx="1054767" cy="10295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Volume: Data size is massive.…"/>
          <p:cNvSpPr txBox="1"/>
          <p:nvPr/>
        </p:nvSpPr>
        <p:spPr>
          <a:xfrm>
            <a:off x="1834060" y="1161529"/>
            <a:ext cx="8922144" cy="3467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2217" indent="-240631" algn="just">
              <a:lnSpc>
                <a:spcPct val="150000"/>
              </a:lnSpc>
              <a:buSzPct val="100000"/>
              <a:buChar char="•"/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24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Volume:</a:t>
            </a:r>
            <a:r>
              <a:rPr b="0"/>
              <a:t> Data size is massive.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Velocity:</a:t>
            </a:r>
            <a:r>
              <a:rPr b="0"/>
              <a:t> Rapid data generation speed.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Variety:</a:t>
            </a:r>
            <a:r>
              <a:rPr b="0"/>
              <a:t> Diverse data types and sources.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Veracity:</a:t>
            </a:r>
            <a:r>
              <a:rPr b="0"/>
              <a:t> Uncertain or incomplete data.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Value:</a:t>
            </a:r>
            <a:r>
              <a:rPr b="0"/>
              <a:t> Extracting insights and meaning.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Vital for modern analytics tools.</a:t>
            </a:r>
          </a:p>
        </p:txBody>
      </p:sp>
      <p:sp>
        <p:nvSpPr>
          <p:cNvPr id="178" name="V’s of Big Data"/>
          <p:cNvSpPr txBox="1"/>
          <p:nvPr/>
        </p:nvSpPr>
        <p:spPr>
          <a:xfrm>
            <a:off x="1847238" y="6027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V’s of Big Data</a:t>
            </a:r>
          </a:p>
        </p:txBody>
      </p:sp>
      <p:pic>
        <p:nvPicPr>
          <p:cNvPr id="179" name="Screenshot 2024-12-21 at 12.24.55 PM.png" descr="Screenshot 2024-12-21 at 12.24.5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68245" y="1339381"/>
            <a:ext cx="3175001" cy="3111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tructured: Organized rows and columns.…"/>
          <p:cNvSpPr txBox="1"/>
          <p:nvPr/>
        </p:nvSpPr>
        <p:spPr>
          <a:xfrm>
            <a:off x="1834060" y="1504429"/>
            <a:ext cx="8922144" cy="3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Structured:</a:t>
            </a:r>
            <a:r>
              <a:rPr b="0"/>
              <a:t> Organised rows and columns.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Unstructured:</a:t>
            </a:r>
            <a:r>
              <a:rPr b="0"/>
              <a:t> Free text, images, videos.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Semi-structured:</a:t>
            </a:r>
            <a:r>
              <a:rPr b="0"/>
              <a:t> XML, JSON formats.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Machine-generated:</a:t>
            </a:r>
            <a:r>
              <a:rPr b="0"/>
              <a:t> Logs, sensor data.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Human-generated:</a:t>
            </a:r>
            <a:r>
              <a:rPr b="0"/>
              <a:t> Social media posts.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Hybrid data</a:t>
            </a:r>
            <a:r>
              <a:rPr b="0"/>
              <a:t> involves multiple types.</a:t>
            </a:r>
          </a:p>
        </p:txBody>
      </p:sp>
      <p:sp>
        <p:nvSpPr>
          <p:cNvPr id="183" name="Types of Data"/>
          <p:cNvSpPr txBox="1"/>
          <p:nvPr/>
        </p:nvSpPr>
        <p:spPr>
          <a:xfrm>
            <a:off x="1783738" y="4630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Types of Data</a:t>
            </a:r>
          </a:p>
        </p:txBody>
      </p:sp>
      <p:pic>
        <p:nvPicPr>
          <p:cNvPr id="184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Based on Google’s pioneering work.…"/>
          <p:cNvSpPr txBox="1"/>
          <p:nvPr/>
        </p:nvSpPr>
        <p:spPr>
          <a:xfrm>
            <a:off x="1846760" y="1567929"/>
            <a:ext cx="8922144" cy="3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Based on Google’s pioneering work.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Inspired by GFS paper (2003 release).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MapReduce concept published in 2004.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Introduced a radical distributed computing approach.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Designed for scalability and reliability needs.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Transforms how large-scale data is processed.</a:t>
            </a:r>
          </a:p>
        </p:txBody>
      </p:sp>
      <p:sp>
        <p:nvSpPr>
          <p:cNvPr id="187" name="Hadoop History"/>
          <p:cNvSpPr txBox="1"/>
          <p:nvPr/>
        </p:nvSpPr>
        <p:spPr>
          <a:xfrm>
            <a:off x="1771037" y="513899"/>
            <a:ext cx="8189771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Hadoop History</a:t>
            </a:r>
          </a:p>
        </p:txBody>
      </p:sp>
      <p:pic>
        <p:nvPicPr>
          <p:cNvPr id="188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Hadoop handles massive data volumes.…"/>
          <p:cNvSpPr txBox="1"/>
          <p:nvPr/>
        </p:nvSpPr>
        <p:spPr>
          <a:xfrm>
            <a:off x="1808660" y="1707628"/>
            <a:ext cx="8922144" cy="3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Hadoop handles massive data volumes.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Developed by Apache Software Foundation.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Open-source, distributed computing framework.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Solves storage and processing challenges.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Enables scalable, fault-tolerant systems.</a:t>
            </a:r>
          </a:p>
          <a:p>
            <a:pPr marL="120315" indent="-120315" defTabSz="457200">
              <a:lnSpc>
                <a:spcPct val="150000"/>
              </a:lnSpc>
              <a:buSzPct val="100000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Used by companies worldwide effectively.</a:t>
            </a:r>
          </a:p>
        </p:txBody>
      </p:sp>
      <p:sp>
        <p:nvSpPr>
          <p:cNvPr id="191" name="Introduction to Hadoop"/>
          <p:cNvSpPr txBox="1"/>
          <p:nvPr/>
        </p:nvSpPr>
        <p:spPr>
          <a:xfrm>
            <a:off x="1732938" y="6281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Introduction to Hadoop</a:t>
            </a:r>
          </a:p>
        </p:txBody>
      </p:sp>
      <p:pic>
        <p:nvPicPr>
          <p:cNvPr id="192" name="Screenshot 2024-12-21 at 12.26.51 PM.png" descr="Screenshot 2024-12-21 at 12.26.5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88626" y="408206"/>
            <a:ext cx="1522881" cy="11183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HDFS: Distributed file storage system.…"/>
          <p:cNvSpPr txBox="1"/>
          <p:nvPr/>
        </p:nvSpPr>
        <p:spPr>
          <a:xfrm>
            <a:off x="1745160" y="1453629"/>
            <a:ext cx="8922144" cy="1563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HDFS: Distributed file storage system.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MapReduce: Parallel processing framework.</a:t>
            </a:r>
          </a:p>
        </p:txBody>
      </p:sp>
      <p:sp>
        <p:nvSpPr>
          <p:cNvPr id="196" name="Hadoop Components"/>
          <p:cNvSpPr txBox="1"/>
          <p:nvPr/>
        </p:nvSpPr>
        <p:spPr>
          <a:xfrm>
            <a:off x="1796438" y="435129"/>
            <a:ext cx="6915502" cy="67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Hadoop Components</a:t>
            </a:r>
          </a:p>
        </p:txBody>
      </p:sp>
      <p:pic>
        <p:nvPicPr>
          <p:cNvPr id="197" name="Screenshot 2024-12-17 at 12.34.19 AM.png" descr="Screenshot 2024-12-17 at 12.34.19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73500" y="2775237"/>
            <a:ext cx="4445000" cy="27686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omponent of Hadoop 2.0…"/>
          <p:cNvSpPr txBox="1"/>
          <p:nvPr/>
        </p:nvSpPr>
        <p:spPr>
          <a:xfrm>
            <a:off x="1448907" y="178697"/>
            <a:ext cx="9825437" cy="6069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spcBef>
                <a:spcPts val="1200"/>
              </a:spcBef>
              <a:defRPr sz="3600" b="1">
                <a:solidFill>
                  <a:srgbClr val="9411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Component of Hadoop 2.0 </a:t>
            </a:r>
          </a:p>
          <a:p>
            <a:pPr defTabSz="457200">
              <a:spcBef>
                <a:spcPts val="1200"/>
              </a:spcBef>
              <a:defRPr sz="3600" b="1">
                <a:solidFill>
                  <a:srgbClr val="9411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and its Working</a:t>
            </a:r>
            <a:endParaRPr sz="4400">
              <a:solidFill>
                <a:schemeClr val="accent2">
                  <a:satOff val="-4966"/>
                  <a:lumOff val="-10549"/>
                </a:schemeClr>
              </a:solidFill>
            </a:endParaRPr>
          </a:p>
          <a:p>
            <a:pPr marL="220578" indent="-220578" defTabSz="457200">
              <a:lnSpc>
                <a:spcPts val="6400"/>
              </a:lnSpc>
              <a:spcBef>
                <a:spcPts val="1200"/>
              </a:spcBef>
              <a:buSzPct val="100000"/>
              <a:buChar char="•"/>
              <a:defRPr sz="2200" b="1">
                <a:solidFill>
                  <a:srgbClr val="21212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is released in 2012.</a:t>
            </a:r>
          </a:p>
          <a:p>
            <a:pPr marL="220578" indent="-220578" defTabSz="457200">
              <a:lnSpc>
                <a:spcPts val="6400"/>
              </a:lnSpc>
              <a:spcBef>
                <a:spcPts val="1200"/>
              </a:spcBef>
              <a:buSzPct val="100000"/>
              <a:buChar char="•"/>
              <a:defRPr sz="2200" b="1">
                <a:solidFill>
                  <a:srgbClr val="21212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3 main components of Hadoop 2.0 :</a:t>
            </a:r>
          </a:p>
          <a:p>
            <a:pPr marL="294104" indent="-294104" defTabSz="457200">
              <a:lnSpc>
                <a:spcPts val="6400"/>
              </a:lnSpc>
              <a:spcBef>
                <a:spcPts val="1200"/>
              </a:spcBef>
              <a:buSzPct val="100000"/>
              <a:buAutoNum type="arabicPeriod"/>
              <a:defRPr sz="2200" b="1">
                <a:solidFill>
                  <a:srgbClr val="21212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HDFS</a:t>
            </a:r>
          </a:p>
          <a:p>
            <a:pPr marL="294104" indent="-294104" defTabSz="457200">
              <a:lnSpc>
                <a:spcPts val="6400"/>
              </a:lnSpc>
              <a:spcBef>
                <a:spcPts val="1200"/>
              </a:spcBef>
              <a:buSzPct val="100000"/>
              <a:buAutoNum type="arabicPeriod"/>
              <a:defRPr sz="2200" b="1">
                <a:solidFill>
                  <a:srgbClr val="21212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YARN</a:t>
            </a:r>
          </a:p>
          <a:p>
            <a:pPr marL="294104" indent="-294104" defTabSz="457200">
              <a:lnSpc>
                <a:spcPts val="6400"/>
              </a:lnSpc>
              <a:spcBef>
                <a:spcPts val="1200"/>
              </a:spcBef>
              <a:buSzPct val="100000"/>
              <a:buAutoNum type="arabicPeriod"/>
              <a:defRPr sz="2200" b="1">
                <a:solidFill>
                  <a:srgbClr val="212121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MapReduce</a:t>
            </a:r>
          </a:p>
        </p:txBody>
      </p:sp>
      <p:sp>
        <p:nvSpPr>
          <p:cNvPr id="201" name="Hadoop 2.0 Components"/>
          <p:cNvSpPr txBox="1"/>
          <p:nvPr/>
        </p:nvSpPr>
        <p:spPr>
          <a:xfrm>
            <a:off x="5428843" y="3249932"/>
            <a:ext cx="2413689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Hadoop 2.0 Components</a:t>
            </a:r>
          </a:p>
        </p:txBody>
      </p:sp>
      <p:grpSp>
        <p:nvGrpSpPr>
          <p:cNvPr id="204" name="HDFS"/>
          <p:cNvGrpSpPr/>
          <p:nvPr/>
        </p:nvGrpSpPr>
        <p:grpSpPr>
          <a:xfrm>
            <a:off x="4697510" y="5395069"/>
            <a:ext cx="3840065" cy="700932"/>
            <a:chOff x="0" y="0"/>
            <a:chExt cx="3840064" cy="700931"/>
          </a:xfrm>
        </p:grpSpPr>
        <p:sp>
          <p:nvSpPr>
            <p:cNvPr id="202" name="Rectangle"/>
            <p:cNvSpPr/>
            <p:nvPr/>
          </p:nvSpPr>
          <p:spPr>
            <a:xfrm>
              <a:off x="-1" y="-1"/>
              <a:ext cx="3840066" cy="700933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endParaRPr/>
            </a:p>
          </p:txBody>
        </p:sp>
        <p:sp>
          <p:nvSpPr>
            <p:cNvPr id="203" name="HDFS"/>
            <p:cNvSpPr txBox="1"/>
            <p:nvPr/>
          </p:nvSpPr>
          <p:spPr>
            <a:xfrm>
              <a:off x="12699" y="183923"/>
              <a:ext cx="3814666" cy="3330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t>HDFS</a:t>
              </a:r>
            </a:p>
          </p:txBody>
        </p:sp>
      </p:grpSp>
      <p:grpSp>
        <p:nvGrpSpPr>
          <p:cNvPr id="207" name="YARN"/>
          <p:cNvGrpSpPr/>
          <p:nvPr/>
        </p:nvGrpSpPr>
        <p:grpSpPr>
          <a:xfrm>
            <a:off x="4697510" y="4607669"/>
            <a:ext cx="3840065" cy="700932"/>
            <a:chOff x="0" y="0"/>
            <a:chExt cx="3840064" cy="700931"/>
          </a:xfrm>
        </p:grpSpPr>
        <p:sp>
          <p:nvSpPr>
            <p:cNvPr id="205" name="Rectangle"/>
            <p:cNvSpPr/>
            <p:nvPr/>
          </p:nvSpPr>
          <p:spPr>
            <a:xfrm>
              <a:off x="-1" y="-1"/>
              <a:ext cx="3840066" cy="700933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endParaRPr/>
            </a:p>
          </p:txBody>
        </p:sp>
        <p:sp>
          <p:nvSpPr>
            <p:cNvPr id="206" name="YARN"/>
            <p:cNvSpPr txBox="1"/>
            <p:nvPr/>
          </p:nvSpPr>
          <p:spPr>
            <a:xfrm>
              <a:off x="12699" y="183923"/>
              <a:ext cx="3814666" cy="3330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t>YARN</a:t>
              </a:r>
            </a:p>
          </p:txBody>
        </p:sp>
      </p:grpSp>
      <p:grpSp>
        <p:nvGrpSpPr>
          <p:cNvPr id="210" name="MapReduce"/>
          <p:cNvGrpSpPr/>
          <p:nvPr/>
        </p:nvGrpSpPr>
        <p:grpSpPr>
          <a:xfrm>
            <a:off x="4697510" y="3820269"/>
            <a:ext cx="1752801" cy="700932"/>
            <a:chOff x="0" y="0"/>
            <a:chExt cx="1752799" cy="700931"/>
          </a:xfrm>
        </p:grpSpPr>
        <p:sp>
          <p:nvSpPr>
            <p:cNvPr id="208" name="Rectangle"/>
            <p:cNvSpPr/>
            <p:nvPr/>
          </p:nvSpPr>
          <p:spPr>
            <a:xfrm>
              <a:off x="0" y="-1"/>
              <a:ext cx="1752800" cy="700933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endParaRPr/>
            </a:p>
          </p:txBody>
        </p:sp>
        <p:sp>
          <p:nvSpPr>
            <p:cNvPr id="209" name="MapReduce"/>
            <p:cNvSpPr txBox="1"/>
            <p:nvPr/>
          </p:nvSpPr>
          <p:spPr>
            <a:xfrm>
              <a:off x="12700" y="183923"/>
              <a:ext cx="1727400" cy="3330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t>MapReduce</a:t>
              </a:r>
            </a:p>
          </p:txBody>
        </p:sp>
      </p:grpSp>
      <p:grpSp>
        <p:nvGrpSpPr>
          <p:cNvPr id="213" name="Other tools"/>
          <p:cNvGrpSpPr/>
          <p:nvPr/>
        </p:nvGrpSpPr>
        <p:grpSpPr>
          <a:xfrm>
            <a:off x="6767610" y="3820269"/>
            <a:ext cx="1752801" cy="700932"/>
            <a:chOff x="0" y="0"/>
            <a:chExt cx="1752799" cy="700931"/>
          </a:xfrm>
        </p:grpSpPr>
        <p:sp>
          <p:nvSpPr>
            <p:cNvPr id="211" name="Rectangle"/>
            <p:cNvSpPr/>
            <p:nvPr/>
          </p:nvSpPr>
          <p:spPr>
            <a:xfrm>
              <a:off x="0" y="-1"/>
              <a:ext cx="1752800" cy="700933"/>
            </a:xfrm>
            <a:prstGeom prst="rect">
              <a:avLst/>
            </a:prstGeom>
            <a:solidFill>
              <a:schemeClr val="accent2"/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  <a:endParaRPr/>
            </a:p>
          </p:txBody>
        </p:sp>
        <p:sp>
          <p:nvSpPr>
            <p:cNvPr id="212" name="Other tools"/>
            <p:cNvSpPr txBox="1"/>
            <p:nvPr/>
          </p:nvSpPr>
          <p:spPr>
            <a:xfrm>
              <a:off x="12700" y="183923"/>
              <a:ext cx="1727400" cy="3330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t>Other tools</a:t>
              </a:r>
            </a:p>
          </p:txBody>
        </p:sp>
      </p:grpSp>
      <p:pic>
        <p:nvPicPr>
          <p:cNvPr id="214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Banking: Detects fraud, manages financial risks.…"/>
          <p:cNvSpPr txBox="1"/>
          <p:nvPr/>
        </p:nvSpPr>
        <p:spPr>
          <a:xfrm>
            <a:off x="1834060" y="1682228"/>
            <a:ext cx="8922144" cy="3220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Banking:</a:t>
            </a:r>
            <a:r>
              <a:rPr b="0"/>
              <a:t> Detects fraud, manages financial risks.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Education:</a:t>
            </a:r>
            <a:r>
              <a:rPr b="0"/>
              <a:t> Enables personalised learning systems.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Entertainment:</a:t>
            </a:r>
            <a:r>
              <a:rPr b="0"/>
              <a:t> Enhances streaming, content preferences.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E-commerce:</a:t>
            </a:r>
            <a:r>
              <a:rPr b="0"/>
              <a:t> Improves recommendations, optimises supply.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Government:</a:t>
            </a:r>
            <a:r>
              <a:rPr b="0"/>
              <a:t> Plans policies, improves citizen services.</a:t>
            </a:r>
          </a:p>
          <a:p>
            <a:pPr marL="240631" indent="-240631" defTabSz="457200">
              <a:lnSpc>
                <a:spcPct val="150000"/>
              </a:lnSpc>
              <a:buSzPct val="100000"/>
              <a:buChar char="•"/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Healthcare:</a:t>
            </a:r>
            <a:r>
              <a:rPr b="0"/>
              <a:t> Advances predictive care, patient monitoring.</a:t>
            </a:r>
          </a:p>
        </p:txBody>
      </p:sp>
      <p:sp>
        <p:nvSpPr>
          <p:cNvPr id="217" name="Applications of Big Data"/>
          <p:cNvSpPr txBox="1"/>
          <p:nvPr/>
        </p:nvSpPr>
        <p:spPr>
          <a:xfrm>
            <a:off x="1771038" y="501199"/>
            <a:ext cx="6915502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BD383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Applications of Big Data</a:t>
            </a:r>
          </a:p>
        </p:txBody>
      </p:sp>
      <p:pic>
        <p:nvPicPr>
          <p:cNvPr id="218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Integration: Combining multiple data sources.…"/>
          <p:cNvSpPr txBox="1">
            <a:spLocks noGrp="1"/>
          </p:cNvSpPr>
          <p:nvPr>
            <p:ph type="body" idx="1"/>
          </p:nvPr>
        </p:nvSpPr>
        <p:spPr>
          <a:xfrm>
            <a:off x="2190355" y="1542949"/>
            <a:ext cx="8765428" cy="4659110"/>
          </a:xfrm>
          <a:prstGeom prst="rect">
            <a:avLst/>
          </a:prstGeom>
        </p:spPr>
        <p:txBody>
          <a:bodyPr/>
          <a:lstStyle/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Integration:</a:t>
            </a:r>
            <a:r>
              <a:rPr b="0"/>
              <a:t> Combining multiple data sources.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Searching:</a:t>
            </a:r>
            <a:r>
              <a:rPr b="0"/>
              <a:t> Retrieving relevant data accurately.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Scalability:</a:t>
            </a:r>
            <a:r>
              <a:rPr b="0"/>
              <a:t> Adapting to growing data needs.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Fault tolerance:</a:t>
            </a:r>
            <a:r>
              <a:rPr b="0"/>
              <a:t> Ensuring reliable system operations.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Quality:</a:t>
            </a:r>
            <a:r>
              <a:rPr b="0"/>
              <a:t> Addressing inconsistent, inaccurate data.</a:t>
            </a:r>
          </a:p>
          <a:p>
            <a:pPr marL="240631" indent="-240631" defTabSz="457200">
              <a:lnSpc>
                <a:spcPct val="150000"/>
              </a:lnSpc>
              <a:spcBef>
                <a:spcPts val="0"/>
              </a:spcBef>
              <a:buSzPct val="100000"/>
              <a:buChar char="•"/>
              <a:defRPr sz="2400" b="1" cap="none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Heterogeneous:</a:t>
            </a:r>
            <a:r>
              <a:rPr b="0"/>
              <a:t> Handling diverse data types easily.</a:t>
            </a:r>
          </a:p>
        </p:txBody>
      </p:sp>
      <p:sp>
        <p:nvSpPr>
          <p:cNvPr id="221" name="Challenges of Big Data"/>
          <p:cNvSpPr txBox="1"/>
          <p:nvPr/>
        </p:nvSpPr>
        <p:spPr>
          <a:xfrm>
            <a:off x="2085700" y="608679"/>
            <a:ext cx="7415294" cy="678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2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Challenges of Big Data</a:t>
            </a:r>
          </a:p>
        </p:txBody>
      </p:sp>
      <p:pic>
        <p:nvPicPr>
          <p:cNvPr id="222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HANK YOU"/>
          <p:cNvSpPr txBox="1"/>
          <p:nvPr/>
        </p:nvSpPr>
        <p:spPr>
          <a:xfrm>
            <a:off x="1805895" y="1796530"/>
            <a:ext cx="9387482" cy="2416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3673" indent="-192085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YOU	</a:t>
            </a:r>
          </a:p>
          <a:p>
            <a:pPr marL="193673" indent="-192085" algn="just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2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225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</vt:lpstr>
      <vt:lpstr>Helvetica</vt:lpstr>
      <vt:lpstr>Times New Roman</vt:lpstr>
      <vt:lpstr>Times Roman</vt:lpstr>
      <vt:lpstr>cu</vt:lpstr>
      <vt:lpstr>INT-312 Big Data Fundamentals Unit 1-Introduction To Hadoop    </vt:lpstr>
      <vt:lpstr>CONTENTS   Introduction/ Definition Data Sources V’s of Big Data Types of Data Hadoop History Introduction to Hadoop Hadoop Components Hadoop 2.0 Components Applications of Big Data Challenges of Big data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INT-312 Big Data Fundamentals Unit 1-Introduction To Hadoop     Saqib Ul Sabha Assistant Professor 32521 CSE Department</dc:title>
  <cp:lastModifiedBy>hp Win 10</cp:lastModifiedBy>
  <cp:revision>2</cp:revision>
  <dcterms:modified xsi:type="dcterms:W3CDTF">2026-02-28T10:38:09Z</dcterms:modified>
</cp:coreProperties>
</file>