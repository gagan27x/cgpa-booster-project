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6" r:id="rId2"/>
    <p:sldId id="257" r:id="rId3"/>
    <p:sldId id="297" r:id="rId4"/>
    <p:sldId id="305" r:id="rId5"/>
    <p:sldId id="304" r:id="rId6"/>
    <p:sldId id="298" r:id="rId7"/>
    <p:sldId id="299" r:id="rId8"/>
    <p:sldId id="300" r:id="rId9"/>
    <p:sldId id="301" r:id="rId10"/>
    <p:sldId id="302" r:id="rId11"/>
    <p:sldId id="284" r:id="rId12"/>
    <p:sldId id="303" r:id="rId13"/>
    <p:sldId id="296" r:id="rId14"/>
    <p:sldId id="27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Full" cryptAlgorithmClass="hash" cryptAlgorithmType="typeAny" cryptAlgorithmSid="4" spinCount="100000" saltData="ubrUHGws5mLEFnaJHSOx5A==" hashData="iNJsLAVEqadvcJDaoA5FW0/Mkl4="/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26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4B997-7476-4EC8-BD6D-F6D133459055}" type="datetimeFigureOut">
              <a:rPr lang="en-IN" smtClean="0"/>
              <a:t>01-10-2023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0AF00-BDC2-4E22-9AB6-6FDA0E6DE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65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8B5A0-437F-4D4F-9F63-0DE12B4707BA}" type="datetime1">
              <a:rPr lang="en-IN" smtClean="0"/>
              <a:t>01-10-2023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4AB0C-8A4F-4A9E-B7F7-58515A6440E7}" type="datetime1">
              <a:rPr lang="en-IN" smtClean="0"/>
              <a:t>01-10-2023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90D22-8420-4AF0-8722-2855801E82FB}" type="datetime1">
              <a:rPr lang="en-IN" smtClean="0"/>
              <a:t>01-10-2023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2F9F-5CFA-4EBA-BA27-C5E2A62FDF1A}" type="datetime1">
              <a:rPr lang="en-IN" smtClean="0"/>
              <a:t>01-10-2023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5814D-220D-40D4-AB32-274CBB40604A}" type="datetime1">
              <a:rPr lang="en-IN" smtClean="0"/>
              <a:t>01-10-2023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DACF4-6E2D-427B-9257-A5B396BB2F5D}" type="datetime1">
              <a:rPr lang="en-IN" smtClean="0"/>
              <a:t>01-10-2023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A0489-FB30-448B-B752-C7F233B89F76}" type="datetime1">
              <a:rPr lang="en-IN" smtClean="0"/>
              <a:t>01-10-2023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66C54-2EFD-437D-A71C-B4A779E37E51}" type="datetime1">
              <a:rPr lang="en-IN" smtClean="0"/>
              <a:t>01-10-2023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12386-994B-4EFF-A8B5-30B85EDF6DD6}" type="datetime1">
              <a:rPr lang="en-IN" smtClean="0"/>
              <a:t>01-10-2023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A0317-7514-470C-8859-FEAB78AFA84E}" type="datetime1">
              <a:rPr lang="en-IN" smtClean="0"/>
              <a:t>01-10-2023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E0D0C-0542-4575-9C53-121116BF1562}" type="datetime1">
              <a:rPr lang="en-IN" smtClean="0"/>
              <a:t>01-10-2023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785CAE0E-7D63-43E1-ACB7-595E8AE1D856}" type="datetime1">
              <a:rPr lang="en-IN" smtClean="0"/>
              <a:t>01-10-2023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066A04F-D713-4288-A8B9-BA887330B926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IN"/>
              <a:t>Dr. Navneet Kaur, Lovely Professional University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pr_background-color.php" TargetMode="External"/><Relationship Id="rId7" Type="http://schemas.openxmlformats.org/officeDocument/2006/relationships/hyperlink" Target="https://www.w3schools.com/cssref/css_pr_background-position-x.php" TargetMode="External"/><Relationship Id="rId2" Type="http://schemas.openxmlformats.org/officeDocument/2006/relationships/hyperlink" Target="https://www.w3schools.com/tags/tag_span.asp#:~:text=The%20tag%20is%20an,span%3E%20is%20an%20inline%20elemen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cssref/pr_background-position.php" TargetMode="External"/><Relationship Id="rId5" Type="http://schemas.openxmlformats.org/officeDocument/2006/relationships/hyperlink" Target="https://www.w3schools.com/cssref/css3_pr_background-origin.php" TargetMode="External"/><Relationship Id="rId4" Type="http://schemas.openxmlformats.org/officeDocument/2006/relationships/hyperlink" Target="https://www.w3schools.com/cssref/pr_background-image.php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pr_background-repeat.php" TargetMode="External"/><Relationship Id="rId7" Type="http://schemas.openxmlformats.org/officeDocument/2006/relationships/hyperlink" Target="https://www.w3schools.com/cssref/pr_background-blend-mode.php" TargetMode="External"/><Relationship Id="rId2" Type="http://schemas.openxmlformats.org/officeDocument/2006/relationships/hyperlink" Target="https://www.w3schools.com/cssref/css_pr_background-position-y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cssref/css3_pr_background-clip.php" TargetMode="External"/><Relationship Id="rId5" Type="http://schemas.openxmlformats.org/officeDocument/2006/relationships/hyperlink" Target="https://www.w3schools.com/cssref/pr_background-attachment.php" TargetMode="External"/><Relationship Id="rId4" Type="http://schemas.openxmlformats.org/officeDocument/2006/relationships/hyperlink" Target="https://www.w3schools.com/cssref/css3_pr_background-size.php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gdb.com/yI95y84Vb" TargetMode="External"/><Relationship Id="rId2" Type="http://schemas.openxmlformats.org/officeDocument/2006/relationships/hyperlink" Target="https://onlinegdb.com/ifUEpUB8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182880"/>
            <a:r>
              <a:rPr lang="en-US" dirty="0"/>
              <a:t>CSE326 </a:t>
            </a:r>
            <a:br>
              <a:rPr lang="en-US" dirty="0"/>
            </a:br>
            <a:r>
              <a:rPr lang="en-US" sz="3600" dirty="0"/>
              <a:t>Internet Programming Laboratory </a:t>
            </a:r>
            <a:br>
              <a:rPr lang="en-US" sz="3600" dirty="0"/>
            </a:br>
            <a:r>
              <a:rPr lang="en-US" sz="3600" dirty="0"/>
              <a:t>Lecture #7</a:t>
            </a:r>
            <a:endParaRPr lang="en-IN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Navneet</a:t>
            </a:r>
            <a:r>
              <a:rPr lang="en-US" dirty="0"/>
              <a:t> </a:t>
            </a:r>
            <a:r>
              <a:rPr lang="en-US" dirty="0" err="1"/>
              <a:t>Kaur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3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Outline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&lt;div&gt;</a:t>
            </a:r>
          </a:p>
          <a:p>
            <a:pPr algn="just"/>
            <a:r>
              <a:rPr lang="en-US" dirty="0"/>
              <a:t>&lt;span&gt;</a:t>
            </a:r>
          </a:p>
          <a:p>
            <a:pPr algn="just"/>
            <a:r>
              <a:rPr lang="en-US" dirty="0"/>
              <a:t>Working with background properties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91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&lt;div&gt;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FFFF00"/>
                </a:solidFill>
              </a:rPr>
              <a:t>&lt;div&gt; </a:t>
            </a:r>
            <a:r>
              <a:rPr lang="en-US" dirty="0"/>
              <a:t>HTML element is the generic container for flow content. It has no effect on the content or layout until styled in some way using CSS</a:t>
            </a:r>
          </a:p>
          <a:p>
            <a:pPr marL="45720" indent="0" algn="just">
              <a:buNone/>
            </a:pPr>
            <a:r>
              <a:rPr lang="en-US" b="1" u="sng" dirty="0"/>
              <a:t>HTML :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&lt;div&gt;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&lt;h1&gt;Hey there&lt;/h1&gt;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&lt;/div&gt;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6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&lt;div&gt;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algn="just">
              <a:buNone/>
            </a:pPr>
            <a:r>
              <a:rPr lang="en-US" b="1" u="sng" dirty="0"/>
              <a:t>CSS: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div{</a:t>
            </a:r>
          </a:p>
          <a:p>
            <a:pPr marL="45720" indent="0" algn="just">
              <a:buNone/>
            </a:pPr>
            <a:r>
              <a:rPr lang="en-US" b="1" dirty="0" err="1">
                <a:solidFill>
                  <a:srgbClr val="FFFF00"/>
                </a:solidFill>
              </a:rPr>
              <a:t>background-color:yellow</a:t>
            </a:r>
            <a:r>
              <a:rPr lang="en-US" b="1" dirty="0">
                <a:solidFill>
                  <a:srgbClr val="FFFF00"/>
                </a:solidFill>
              </a:rPr>
              <a:t>;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00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&lt;s</a:t>
            </a:r>
            <a:r>
              <a:rPr lang="en" b="1" dirty="0"/>
              <a:t>pan&gt;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rgbClr val="FFFF00"/>
                </a:solidFill>
              </a:rPr>
              <a:t>&lt;span&gt; </a:t>
            </a:r>
            <a:r>
              <a:rPr lang="en-US" dirty="0"/>
              <a:t>HTML element is a generic inline container for phrasing content, which does not inherently represent anything.</a:t>
            </a:r>
          </a:p>
          <a:p>
            <a:pPr algn="just"/>
            <a:r>
              <a:rPr lang="en-US" dirty="0"/>
              <a:t>It should be used only when no other semantic element is appropriate. </a:t>
            </a:r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&lt;span&gt; </a:t>
            </a:r>
            <a:r>
              <a:rPr lang="en-US" dirty="0"/>
              <a:t>is very much like a </a:t>
            </a:r>
            <a:r>
              <a:rPr lang="en-US" b="1" dirty="0">
                <a:solidFill>
                  <a:srgbClr val="FFFF00"/>
                </a:solidFill>
              </a:rPr>
              <a:t>&lt;div&gt; </a:t>
            </a:r>
            <a:r>
              <a:rPr lang="en-US" dirty="0"/>
              <a:t>element, but </a:t>
            </a:r>
            <a:r>
              <a:rPr lang="en-US" b="1" dirty="0">
                <a:solidFill>
                  <a:srgbClr val="FFFF00"/>
                </a:solidFill>
              </a:rPr>
              <a:t>&lt;div&gt; </a:t>
            </a:r>
            <a:r>
              <a:rPr lang="en-US" dirty="0"/>
              <a:t>is a block-level element whereas a </a:t>
            </a:r>
            <a:r>
              <a:rPr lang="en-US" b="1" dirty="0">
                <a:solidFill>
                  <a:srgbClr val="FFFF00"/>
                </a:solidFill>
              </a:rPr>
              <a:t>&lt;span&gt;</a:t>
            </a:r>
            <a:r>
              <a:rPr lang="en-US" dirty="0"/>
              <a:t> is an inline-level element.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2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&lt;s</a:t>
            </a:r>
            <a:r>
              <a:rPr lang="en" b="1" dirty="0"/>
              <a:t>pan&gt;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algn="just">
              <a:buNone/>
            </a:pPr>
            <a:r>
              <a:rPr lang="en-US" b="1" u="sng" dirty="0"/>
              <a:t>HTML :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&lt;p&gt;  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Add the &lt;span class="ingredient"&gt;basil&lt;/span&gt;, &lt;span class="ingredient"&gt;pine nuts&lt;/span&gt; and  &lt;span class="ingredient"&gt;garlic&lt;/span&gt; to a blender and blend into a paste.&lt;/p&gt;&lt;p&gt;Gradually add the &lt;span class="ingredient"&gt;olive oil&lt;/span&gt; while running the blender slowly.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&lt;/p&gt;</a:t>
            </a:r>
          </a:p>
          <a:p>
            <a:pPr marL="45720" indent="0" algn="just">
              <a:buNone/>
            </a:pP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24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&lt;s</a:t>
            </a:r>
            <a:r>
              <a:rPr lang="en" b="1" dirty="0"/>
              <a:t>pan&gt;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algn="just">
              <a:buNone/>
            </a:pPr>
            <a:r>
              <a:rPr lang="en-US" b="1" u="sng" dirty="0"/>
              <a:t>CSS: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.ingredient 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{  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color: red;</a:t>
            </a:r>
          </a:p>
          <a:p>
            <a:pPr marL="45720" indent="0" algn="just">
              <a:buNone/>
            </a:pPr>
            <a:r>
              <a:rPr lang="en-US" b="1" dirty="0">
                <a:solidFill>
                  <a:srgbClr val="FFFF00"/>
                </a:solidFill>
              </a:rPr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13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Working with background properties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b="1" dirty="0">
                <a:solidFill>
                  <a:srgbClr val="FFFF00"/>
                </a:solidFill>
              </a:rPr>
              <a:t>background-</a:t>
            </a:r>
            <a:r>
              <a:rPr lang="en-IN" b="1" dirty="0" err="1">
                <a:solidFill>
                  <a:srgbClr val="FFFF00"/>
                </a:solidFill>
              </a:rPr>
              <a:t>color</a:t>
            </a:r>
            <a:r>
              <a:rPr lang="en-IN" b="1" dirty="0">
                <a:solidFill>
                  <a:srgbClr val="FFFF00"/>
                </a:solidFill>
              </a:rPr>
              <a:t> </a:t>
            </a:r>
            <a:r>
              <a:rPr lang="en-IN" dirty="0"/>
              <a:t>- </a:t>
            </a:r>
            <a:r>
              <a:rPr lang="en-US" dirty="0"/>
              <a:t>Sets the background color of an element.</a:t>
            </a:r>
          </a:p>
          <a:p>
            <a:pPr algn="just"/>
            <a:r>
              <a:rPr lang="en-IN" b="1" dirty="0">
                <a:solidFill>
                  <a:srgbClr val="FFFF00"/>
                </a:solidFill>
              </a:rPr>
              <a:t>background-image </a:t>
            </a:r>
            <a:r>
              <a:rPr lang="en-IN" dirty="0"/>
              <a:t>- </a:t>
            </a:r>
            <a:r>
              <a:rPr lang="en-US" dirty="0"/>
              <a:t>Sets one or more background images on an element.</a:t>
            </a:r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background-blend-mode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- Sets how an element's background images should blend with each other and with the element's background color.</a:t>
            </a:r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background-repeat</a:t>
            </a:r>
            <a:r>
              <a:rPr lang="en-US" dirty="0"/>
              <a:t> - Sets how background images are repeated. A background image can be repeated along the horizontal and vertical axes, or not repeated at all.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31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Working with background properties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b="1" dirty="0">
                <a:solidFill>
                  <a:srgbClr val="FFFF00"/>
                </a:solidFill>
              </a:rPr>
              <a:t>background-origin</a:t>
            </a:r>
            <a:r>
              <a:rPr lang="en-IN" dirty="0">
                <a:solidFill>
                  <a:srgbClr val="FFFF00"/>
                </a:solidFill>
              </a:rPr>
              <a:t> </a:t>
            </a:r>
            <a:r>
              <a:rPr lang="en-IN" dirty="0"/>
              <a:t>- </a:t>
            </a:r>
            <a:r>
              <a:rPr lang="en-US" dirty="0"/>
              <a:t>Sets the background's origin: from the border start, inside the border, or inside the padding.</a:t>
            </a:r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background-size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- Sets the size of the element's background image. The image can be left to its natural size, stretched, or constrained to fit the available space.</a:t>
            </a:r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background-attachment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- Sets whether a background image's position is fixed within the viewport, or scrolls with its containing block.</a:t>
            </a:r>
            <a:r>
              <a:rPr lang="en-IN" b="1" dirty="0">
                <a:solidFill>
                  <a:srgbClr val="FFFF00"/>
                </a:solidFill>
              </a:rPr>
              <a:t> </a:t>
            </a:r>
          </a:p>
          <a:p>
            <a:pPr algn="just"/>
            <a:r>
              <a:rPr lang="en-IN" b="1" dirty="0">
                <a:solidFill>
                  <a:srgbClr val="FFFF00"/>
                </a:solidFill>
              </a:rPr>
              <a:t>background-position</a:t>
            </a:r>
            <a:r>
              <a:rPr lang="en-IN" dirty="0"/>
              <a:t> - </a:t>
            </a:r>
            <a:r>
              <a:rPr lang="en-US" dirty="0"/>
              <a:t>Sets the initial position for each background image. The position is relative to the position layer set by background-origin.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95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Working with background properties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</a:rPr>
              <a:t>background-position-x</a:t>
            </a:r>
            <a:r>
              <a:rPr lang="en-US" dirty="0"/>
              <a:t> - Sets the initial horizontal position for each background image. The position is relative to the position layer set by background-origin.</a:t>
            </a:r>
            <a:endParaRPr lang="en-US" b="1" dirty="0">
              <a:solidFill>
                <a:srgbClr val="FFFF00"/>
              </a:solidFill>
            </a:endParaRPr>
          </a:p>
          <a:p>
            <a:pPr algn="just"/>
            <a:r>
              <a:rPr lang="en-US" b="1" dirty="0">
                <a:solidFill>
                  <a:srgbClr val="FFFF00"/>
                </a:solidFill>
              </a:rPr>
              <a:t>background-position-y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- Sets the initial vertical position for each background image. The position is relative to the position layer set by background-origin.</a:t>
            </a:r>
          </a:p>
          <a:p>
            <a:pPr algn="just"/>
            <a:r>
              <a:rPr lang="en-IN" b="1" dirty="0">
                <a:solidFill>
                  <a:srgbClr val="FFFF00"/>
                </a:solidFill>
              </a:rPr>
              <a:t>background-clip</a:t>
            </a:r>
            <a:r>
              <a:rPr lang="en-IN" dirty="0"/>
              <a:t> - </a:t>
            </a:r>
            <a:r>
              <a:rPr lang="en-US" dirty="0"/>
              <a:t>Sets whether an element's background extends underneath its border box, padding box, or content box.</a:t>
            </a:r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57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hlinkClick r:id="rId2"/>
              </a:rPr>
              <a:t>https://www.w3schools.com/tags/tag_span.asp#:~:text=The%20tag%20is%20an,span%3E%20is%20an%20inline%20element</a:t>
            </a:r>
            <a:r>
              <a:rPr lang="en-US" dirty="0"/>
              <a:t>.</a:t>
            </a:r>
          </a:p>
          <a:p>
            <a:pPr algn="just"/>
            <a:r>
              <a:rPr lang="en-US" dirty="0">
                <a:hlinkClick r:id="rId3"/>
              </a:rPr>
              <a:t>https://www.w3schools.com/cssref/pr_background-color.php</a:t>
            </a:r>
            <a:endParaRPr lang="en-US" dirty="0"/>
          </a:p>
          <a:p>
            <a:pPr algn="just"/>
            <a:r>
              <a:rPr lang="en-US" dirty="0">
                <a:hlinkClick r:id="rId4"/>
              </a:rPr>
              <a:t>https://www.w3schools.com/cssref/pr_background-image.php</a:t>
            </a:r>
            <a:endParaRPr lang="en-US" dirty="0"/>
          </a:p>
          <a:p>
            <a:pPr algn="just"/>
            <a:r>
              <a:rPr lang="en-US" dirty="0">
                <a:hlinkClick r:id="rId5"/>
              </a:rPr>
              <a:t>https://www.w3schools.com/cssref/css3_pr_background-origin.php</a:t>
            </a:r>
            <a:endParaRPr lang="en-US" dirty="0"/>
          </a:p>
          <a:p>
            <a:pPr algn="just"/>
            <a:r>
              <a:rPr lang="en-US" dirty="0">
                <a:hlinkClick r:id="rId6"/>
              </a:rPr>
              <a:t>https://www.w3schools.com/cssref/pr_background-position.php</a:t>
            </a:r>
            <a:endParaRPr lang="en-US" dirty="0"/>
          </a:p>
          <a:p>
            <a:pPr algn="just"/>
            <a:r>
              <a:rPr lang="en-US" dirty="0">
                <a:hlinkClick r:id="rId7"/>
              </a:rPr>
              <a:t>https://www.w3schools.com/cssref/css_pr_background-position-x.php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41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>
                <a:hlinkClick r:id="rId2"/>
              </a:rPr>
              <a:t>https://www.w3schools.com/cssref/css_pr_background-position-y.php</a:t>
            </a:r>
            <a:endParaRPr lang="en-US" dirty="0"/>
          </a:p>
          <a:p>
            <a:pPr algn="just"/>
            <a:r>
              <a:rPr lang="en-US" dirty="0">
                <a:hlinkClick r:id="rId3"/>
              </a:rPr>
              <a:t>https://www.w3schools.com/cssref/pr_background-repeat.php</a:t>
            </a:r>
            <a:endParaRPr lang="en-US" dirty="0"/>
          </a:p>
          <a:p>
            <a:pPr algn="just"/>
            <a:r>
              <a:rPr lang="en-US" dirty="0">
                <a:hlinkClick r:id="rId4"/>
              </a:rPr>
              <a:t>https://www.w3schools.com/cssref/css3_pr_background-size.php</a:t>
            </a:r>
            <a:endParaRPr lang="en-US" dirty="0"/>
          </a:p>
          <a:p>
            <a:pPr algn="just"/>
            <a:r>
              <a:rPr lang="en-US" dirty="0">
                <a:hlinkClick r:id="rId5"/>
              </a:rPr>
              <a:t>https://www.w3schools.com/cssref/pr_background-attachment.php</a:t>
            </a:r>
            <a:endParaRPr lang="en-US" dirty="0"/>
          </a:p>
          <a:p>
            <a:pPr algn="just"/>
            <a:r>
              <a:rPr lang="en-US" dirty="0">
                <a:hlinkClick r:id="rId6"/>
              </a:rPr>
              <a:t>https://www.w3schools.com/cssref/css3_pr_background-clip.php</a:t>
            </a:r>
            <a:endParaRPr lang="en-US" dirty="0"/>
          </a:p>
          <a:p>
            <a:pPr algn="just"/>
            <a:r>
              <a:rPr lang="en-US" dirty="0">
                <a:hlinkClick r:id="rId7"/>
              </a:rPr>
              <a:t>https://www.w3schools.com/cssref/pr_background-blend-mode.php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94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Program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algn="just">
              <a:buNone/>
            </a:pPr>
            <a:r>
              <a:rPr lang="en-US" dirty="0"/>
              <a:t>Div and span tag - </a:t>
            </a:r>
            <a:r>
              <a:rPr lang="en-US" dirty="0">
                <a:hlinkClick r:id="rId2"/>
              </a:rPr>
              <a:t>https://onlinegdb.com/ifUEpUB8t</a:t>
            </a:r>
            <a:endParaRPr lang="en-US" dirty="0"/>
          </a:p>
          <a:p>
            <a:pPr marL="45720" indent="0" algn="just">
              <a:buNone/>
            </a:pPr>
            <a:r>
              <a:rPr lang="en-US" dirty="0"/>
              <a:t>Background properties - </a:t>
            </a:r>
            <a:r>
              <a:rPr lang="en-US" dirty="0">
                <a:hlinkClick r:id="rId3"/>
              </a:rPr>
              <a:t>https://onlinegdb.com/yI95y84Vb</a:t>
            </a:r>
            <a:endParaRPr lang="en-US" dirty="0"/>
          </a:p>
          <a:p>
            <a:pPr marL="45720" indent="0"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Navneet</a:t>
            </a:r>
            <a:r>
              <a:rPr lang="en-IN" dirty="0"/>
              <a:t> </a:t>
            </a:r>
            <a:r>
              <a:rPr lang="en-IN" dirty="0" err="1"/>
              <a:t>Kaur</a:t>
            </a:r>
            <a:r>
              <a:rPr lang="en-IN" dirty="0"/>
              <a:t>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74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636912"/>
            <a:ext cx="7315200" cy="11540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/>
              <a:t>Thank you</a:t>
            </a:r>
            <a:endParaRPr lang="en-IN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Navneet Kaur, Lovely Professional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A04F-D713-4288-A8B9-BA887330B92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0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2155</TotalTime>
  <Words>665</Words>
  <Application>Microsoft Office PowerPoint</Application>
  <PresentationFormat>On-screen Show (4:3)</PresentationFormat>
  <Paragraphs>92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Perspective</vt:lpstr>
      <vt:lpstr>CSE326  Internet Programming Laboratory  Lecture #7</vt:lpstr>
      <vt:lpstr>Outline</vt:lpstr>
      <vt:lpstr>&lt;div&gt;</vt:lpstr>
      <vt:lpstr>&lt;div&gt;</vt:lpstr>
      <vt:lpstr>&lt;span&gt; </vt:lpstr>
      <vt:lpstr>&lt;span&gt; </vt:lpstr>
      <vt:lpstr>&lt;span&gt; </vt:lpstr>
      <vt:lpstr>Working with background properties</vt:lpstr>
      <vt:lpstr>Working with background properties</vt:lpstr>
      <vt:lpstr>Working with background properties</vt:lpstr>
      <vt:lpstr>References</vt:lpstr>
      <vt:lpstr>References</vt:lpstr>
      <vt:lpstr>Program link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775</cp:revision>
  <dcterms:created xsi:type="dcterms:W3CDTF">2023-08-17T03:51:20Z</dcterms:created>
  <dcterms:modified xsi:type="dcterms:W3CDTF">2023-10-01T16:51:52Z</dcterms:modified>
</cp:coreProperties>
</file>