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6" r:id="rId2"/>
    <p:sldId id="297" r:id="rId3"/>
    <p:sldId id="322" r:id="rId4"/>
    <p:sldId id="323" r:id="rId5"/>
    <p:sldId id="324" r:id="rId6"/>
    <p:sldId id="340" r:id="rId7"/>
    <p:sldId id="339" r:id="rId8"/>
    <p:sldId id="341" r:id="rId9"/>
    <p:sldId id="326" r:id="rId10"/>
    <p:sldId id="334" r:id="rId11"/>
    <p:sldId id="333" r:id="rId12"/>
    <p:sldId id="331" r:id="rId13"/>
    <p:sldId id="332" r:id="rId14"/>
    <p:sldId id="335" r:id="rId15"/>
    <p:sldId id="337" r:id="rId16"/>
    <p:sldId id="338" r:id="rId17"/>
    <p:sldId id="342" r:id="rId18"/>
    <p:sldId id="343" r:id="rId19"/>
    <p:sldId id="284" r:id="rId20"/>
    <p:sldId id="321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4B997-7476-4EC8-BD6D-F6D133459055}" type="datetimeFigureOut">
              <a:rPr lang="en-IN" smtClean="0"/>
              <a:t>10-11-2023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0AF00-BDC2-4E22-9AB6-6FDA0E6D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65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B5A0-437F-4D4F-9F63-0DE12B4707BA}" type="datetime1">
              <a:rPr lang="en-IN" smtClean="0"/>
              <a:t>10-11-2023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4AB0C-8A4F-4A9E-B7F7-58515A6440E7}" type="datetime1">
              <a:rPr lang="en-IN" smtClean="0"/>
              <a:t>10-11-2023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0D22-8420-4AF0-8722-2855801E82FB}" type="datetime1">
              <a:rPr lang="en-IN" smtClean="0"/>
              <a:t>10-11-2023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F9F-5CFA-4EBA-BA27-C5E2A62FDF1A}" type="datetime1">
              <a:rPr lang="en-IN" smtClean="0"/>
              <a:t>10-11-2023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5814D-220D-40D4-AB32-274CBB40604A}" type="datetime1">
              <a:rPr lang="en-IN" smtClean="0"/>
              <a:t>10-11-2023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DACF4-6E2D-427B-9257-A5B396BB2F5D}" type="datetime1">
              <a:rPr lang="en-IN" smtClean="0"/>
              <a:t>10-11-2023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A0489-FB30-448B-B752-C7F233B89F76}" type="datetime1">
              <a:rPr lang="en-IN" smtClean="0"/>
              <a:t>10-11-2023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6C54-2EFD-437D-A71C-B4A779E37E51}" type="datetime1">
              <a:rPr lang="en-IN" smtClean="0"/>
              <a:t>10-11-2023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2386-994B-4EFF-A8B5-30B85EDF6DD6}" type="datetime1">
              <a:rPr lang="en-IN" smtClean="0"/>
              <a:t>10-11-2023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A0317-7514-470C-8859-FEAB78AFA84E}" type="datetime1">
              <a:rPr lang="en-IN" smtClean="0"/>
              <a:t>10-11-2023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E0D0C-0542-4575-9C53-121116BF1562}" type="datetime1">
              <a:rPr lang="en-IN" smtClean="0"/>
              <a:t>10-11-2023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785CAE0E-7D63-43E1-ACB7-595E8AE1D856}" type="datetime1">
              <a:rPr lang="en-IN" smtClean="0"/>
              <a:t>10-11-2023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IN"/>
              <a:t>Dr. Navneet Kaur, Lovely Professional University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assignment.asp" TargetMode="External"/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javascript-ternary-operator/" TargetMode="External"/><Relationship Id="rId4" Type="http://schemas.openxmlformats.org/officeDocument/2006/relationships/hyperlink" Target="https://www.w3schools.com/js/js_comparisons.asp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gdb.com/7xNzMPxDa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82880"/>
            <a:r>
              <a:rPr lang="en-US" dirty="0"/>
              <a:t>CSE326 </a:t>
            </a:r>
            <a:br>
              <a:rPr lang="en-US" dirty="0"/>
            </a:br>
            <a:r>
              <a:rPr lang="en-US" sz="3600" dirty="0"/>
              <a:t>Internet Programming Laboratory </a:t>
            </a:r>
            <a:br>
              <a:rPr lang="en-US" sz="3600" dirty="0"/>
            </a:br>
            <a:r>
              <a:rPr lang="en-US" sz="3600" dirty="0"/>
              <a:t>Lecture </a:t>
            </a:r>
            <a:r>
              <a:rPr lang="en-US" sz="3600"/>
              <a:t>#11 Part 1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Navneet</a:t>
            </a:r>
            <a:r>
              <a:rPr lang="en-US" dirty="0"/>
              <a:t> </a:t>
            </a:r>
            <a:r>
              <a:rPr lang="en-US" dirty="0" err="1"/>
              <a:t>Kaur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3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Outline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&lt;script&gt;</a:t>
            </a:r>
          </a:p>
          <a:p>
            <a:pPr algn="just"/>
            <a:r>
              <a:rPr lang="en-IN" dirty="0"/>
              <a:t>Variables</a:t>
            </a:r>
          </a:p>
          <a:p>
            <a:pPr algn="just"/>
            <a:r>
              <a:rPr lang="en-IN" dirty="0"/>
              <a:t>Operators</a:t>
            </a:r>
          </a:p>
          <a:p>
            <a:pPr algn="just"/>
            <a:endParaRPr lang="en-IN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&lt;script&gt;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FFFF00"/>
                </a:solidFill>
              </a:rPr>
              <a:t>&lt;script&gt; </a:t>
            </a:r>
            <a:r>
              <a:rPr lang="en-US" dirty="0"/>
              <a:t>HTML element is used to embed executable code or data; this is typically used to embed or refer to JavaScript code.</a:t>
            </a:r>
          </a:p>
          <a:p>
            <a:pPr algn="just"/>
            <a:endParaRPr lang="en-US" dirty="0"/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&lt;head&gt;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&lt;script&gt;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  .   .   .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&lt;/script&gt;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&lt;/head&gt;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6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&lt;script&gt;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&lt;head&gt;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&lt;script </a:t>
            </a:r>
            <a:r>
              <a:rPr lang="en-US" b="1" dirty="0" err="1">
                <a:solidFill>
                  <a:srgbClr val="FFFF00"/>
                </a:solidFill>
              </a:rPr>
              <a:t>src</a:t>
            </a:r>
            <a:r>
              <a:rPr lang="en-US" b="1" dirty="0">
                <a:solidFill>
                  <a:srgbClr val="FFFF00"/>
                </a:solidFill>
              </a:rPr>
              <a:t>="javascript.js"&gt;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	    .   .   .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&lt;/script&gt;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&lt;/head&gt;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76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Variables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variable is a container for a value, like a number we might use in a sum, or a string that we might use as part of a sentence.</a:t>
            </a:r>
          </a:p>
          <a:p>
            <a:pPr algn="just"/>
            <a:endParaRPr lang="en-US" dirty="0"/>
          </a:p>
          <a:p>
            <a:pPr marL="45720" indent="0" algn="just">
              <a:buNone/>
            </a:pPr>
            <a:r>
              <a:rPr lang="en-US" b="1" dirty="0" err="1">
                <a:solidFill>
                  <a:srgbClr val="FFFF00"/>
                </a:solidFill>
              </a:rPr>
              <a:t>var</a:t>
            </a:r>
            <a:r>
              <a:rPr lang="en-US" b="1" dirty="0">
                <a:solidFill>
                  <a:srgbClr val="FFFF00"/>
                </a:solidFill>
              </a:rPr>
              <a:t> name = “Manish”;</a:t>
            </a:r>
          </a:p>
          <a:p>
            <a:pPr marL="45720" indent="0" algn="just">
              <a:buNone/>
            </a:pPr>
            <a:r>
              <a:rPr lang="en-US" dirty="0"/>
              <a:t>or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let name = “Manish”;</a:t>
            </a:r>
          </a:p>
          <a:p>
            <a:pPr marL="45720" indent="0" algn="just">
              <a:buNone/>
            </a:pPr>
            <a:r>
              <a:rPr lang="en-US" dirty="0"/>
              <a:t>or</a:t>
            </a:r>
          </a:p>
          <a:p>
            <a:pPr marL="45720" indent="0" algn="just">
              <a:buNone/>
            </a:pPr>
            <a:r>
              <a:rPr lang="en-US" b="1" dirty="0" err="1">
                <a:solidFill>
                  <a:srgbClr val="FFFF00"/>
                </a:solidFill>
              </a:rPr>
              <a:t>const</a:t>
            </a:r>
            <a:r>
              <a:rPr lang="en-US" b="1" dirty="0">
                <a:solidFill>
                  <a:srgbClr val="FFFF00"/>
                </a:solidFill>
              </a:rPr>
              <a:t> name = “Manish”;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38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C3F5-70F5-75EE-E99D-99FB0DD7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74438-EEA6-110B-3515-B0ABB2B6D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441BD-392C-208C-FC2A-23CE66C9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F01F7-27AE-15C8-9F6E-23E2C38D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441A3-7515-9D46-E186-77FB35A4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55" y="1638144"/>
            <a:ext cx="6480855" cy="436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4C78-FE23-2341-EE12-B9CD1E2B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BA2FF-0F22-E428-A8FC-E5BDF058D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72AB1-376F-EA96-1477-78B15AF1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A2360-1D24-A25C-2739-3D0EF888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AB483-27E8-85E8-7444-16F71B3B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6872" y="697041"/>
            <a:ext cx="12420872" cy="432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3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E3E8-FD99-42A5-E3F0-B5149C33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49254-9D17-7BB9-74E4-D62568285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64AD4-6B7C-F85E-A3AC-74CA8434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C880F-1C99-DD5E-B481-AFDC2256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86E9A-9E23-3DB8-4E90-859843E5A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2" y="654790"/>
            <a:ext cx="8946655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6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Arithmetic operators</a:t>
            </a:r>
          </a:p>
          <a:p>
            <a:pPr algn="just"/>
            <a:r>
              <a:rPr lang="en-US" dirty="0"/>
              <a:t>Assignment operators</a:t>
            </a:r>
          </a:p>
          <a:p>
            <a:pPr algn="just"/>
            <a:r>
              <a:rPr lang="en-US" dirty="0"/>
              <a:t>Comparison operators</a:t>
            </a:r>
          </a:p>
          <a:p>
            <a:pPr algn="just"/>
            <a:r>
              <a:rPr lang="en-US" dirty="0"/>
              <a:t>Logical operators</a:t>
            </a:r>
          </a:p>
          <a:p>
            <a:pPr algn="just"/>
            <a:r>
              <a:rPr lang="en-US" dirty="0"/>
              <a:t>String operators</a:t>
            </a:r>
          </a:p>
          <a:p>
            <a:pPr algn="just"/>
            <a:r>
              <a:rPr lang="en-US" dirty="0"/>
              <a:t>Conditional (ternary) operator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29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Arithmetic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10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Remainder (</a:t>
            </a:r>
            <a:r>
              <a:rPr lang="en-IN" b="1" dirty="0">
                <a:solidFill>
                  <a:srgbClr val="FFFF00"/>
                </a:solidFill>
              </a:rPr>
              <a:t>%</a:t>
            </a:r>
            <a:r>
              <a:rPr lang="en-IN" dirty="0"/>
              <a:t>)</a:t>
            </a:r>
          </a:p>
          <a:p>
            <a:r>
              <a:rPr lang="en-IN" dirty="0"/>
              <a:t>Increment (</a:t>
            </a:r>
            <a:r>
              <a:rPr lang="en-IN" b="1" dirty="0">
                <a:solidFill>
                  <a:srgbClr val="FFFF00"/>
                </a:solidFill>
              </a:rPr>
              <a:t>++</a:t>
            </a:r>
            <a:r>
              <a:rPr lang="en-IN" dirty="0"/>
              <a:t>)</a:t>
            </a:r>
          </a:p>
          <a:p>
            <a:r>
              <a:rPr lang="en-IN" dirty="0"/>
              <a:t>Decrement (</a:t>
            </a:r>
            <a:r>
              <a:rPr lang="en-IN" b="1" dirty="0">
                <a:solidFill>
                  <a:srgbClr val="FFFF00"/>
                </a:solidFill>
              </a:rPr>
              <a:t>--</a:t>
            </a:r>
            <a:r>
              <a:rPr lang="en-IN" dirty="0"/>
              <a:t>)</a:t>
            </a:r>
          </a:p>
          <a:p>
            <a:r>
              <a:rPr lang="en-IN" dirty="0"/>
              <a:t>Unary negation (</a:t>
            </a:r>
            <a:r>
              <a:rPr lang="en-IN" b="1" dirty="0">
                <a:solidFill>
                  <a:srgbClr val="FFFF00"/>
                </a:solidFill>
              </a:rPr>
              <a:t>-</a:t>
            </a:r>
            <a:r>
              <a:rPr lang="en-IN" dirty="0"/>
              <a:t>)</a:t>
            </a:r>
          </a:p>
          <a:p>
            <a:r>
              <a:rPr lang="en-IN" dirty="0"/>
              <a:t>Unary plus (</a:t>
            </a:r>
            <a:r>
              <a:rPr lang="en-IN" b="1" dirty="0">
                <a:solidFill>
                  <a:srgbClr val="FFFF00"/>
                </a:solidFill>
              </a:rPr>
              <a:t>+</a:t>
            </a:r>
            <a:r>
              <a:rPr lang="en-IN" dirty="0"/>
              <a:t>)</a:t>
            </a:r>
          </a:p>
          <a:p>
            <a:r>
              <a:rPr lang="en-IN" dirty="0"/>
              <a:t>Exponentiation operator (</a:t>
            </a:r>
            <a:r>
              <a:rPr lang="en-IN" b="1" dirty="0">
                <a:solidFill>
                  <a:srgbClr val="FFFF00"/>
                </a:solidFill>
              </a:rPr>
              <a:t>**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0077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Assignment Operators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1481651"/>
              </p:ext>
            </p:extLst>
          </p:nvPr>
        </p:nvGraphicFramePr>
        <p:xfrm>
          <a:off x="1343458" y="2770188"/>
          <a:ext cx="6457083" cy="3791308"/>
        </p:xfrm>
        <a:graphic>
          <a:graphicData uri="http://schemas.openxmlformats.org/drawingml/2006/table">
            <a:tbl>
              <a:tblPr/>
              <a:tblGrid>
                <a:gridCol w="272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8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</a:rPr>
                        <a:t>Shorthand operator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54">
                <a:tc>
                  <a:txBody>
                    <a:bodyPr/>
                    <a:lstStyle/>
                    <a:p>
                      <a:pPr fontAlgn="ctr"/>
                      <a:r>
                        <a:rPr lang="en-IN" sz="1700" u="none" dirty="0">
                          <a:solidFill>
                            <a:schemeClr val="tx1"/>
                          </a:solidFill>
                          <a:effectLst/>
                        </a:rPr>
                        <a:t>Assignment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</a:rPr>
                        <a:t>x 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244">
                <a:tc>
                  <a:txBody>
                    <a:bodyPr/>
                    <a:lstStyle/>
                    <a:p>
                      <a:pPr fontAlgn="ctr"/>
                      <a:r>
                        <a:rPr lang="en-IN" sz="1700" u="none" dirty="0">
                          <a:solidFill>
                            <a:schemeClr val="tx1"/>
                          </a:solidFill>
                          <a:effectLst/>
                        </a:rPr>
                        <a:t>Addition assignment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</a:rPr>
                        <a:t>x +=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= x +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244">
                <a:tc>
                  <a:txBody>
                    <a:bodyPr/>
                    <a:lstStyle/>
                    <a:p>
                      <a:pPr fontAlgn="ctr"/>
                      <a:r>
                        <a:rPr lang="en-IN" sz="1700" u="none" dirty="0">
                          <a:solidFill>
                            <a:schemeClr val="tx1"/>
                          </a:solidFill>
                          <a:effectLst/>
                        </a:rPr>
                        <a:t>Subtraction assignment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-=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= x -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244">
                <a:tc>
                  <a:txBody>
                    <a:bodyPr/>
                    <a:lstStyle/>
                    <a:p>
                      <a:pPr fontAlgn="ctr"/>
                      <a:r>
                        <a:rPr lang="en-IN" sz="1700" u="none" dirty="0">
                          <a:solidFill>
                            <a:schemeClr val="tx1"/>
                          </a:solidFill>
                          <a:effectLst/>
                        </a:rPr>
                        <a:t>Multiplication assignment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*=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= x *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54">
                <a:tc>
                  <a:txBody>
                    <a:bodyPr/>
                    <a:lstStyle/>
                    <a:p>
                      <a:pPr fontAlgn="ctr"/>
                      <a:r>
                        <a:rPr lang="en-IN" sz="1700" u="none" dirty="0">
                          <a:solidFill>
                            <a:schemeClr val="tx1"/>
                          </a:solidFill>
                          <a:effectLst/>
                        </a:rPr>
                        <a:t>Division assignment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/=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= x /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244">
                <a:tc>
                  <a:txBody>
                    <a:bodyPr/>
                    <a:lstStyle/>
                    <a:p>
                      <a:pPr fontAlgn="ctr"/>
                      <a:r>
                        <a:rPr lang="en-IN" sz="1700" u="none" dirty="0">
                          <a:solidFill>
                            <a:schemeClr val="tx1"/>
                          </a:solidFill>
                          <a:effectLst/>
                        </a:rPr>
                        <a:t>Remainder assignment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>
                          <a:solidFill>
                            <a:schemeClr val="tx1"/>
                          </a:solidFill>
                          <a:effectLst/>
                        </a:rPr>
                        <a:t>x %=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</a:rPr>
                        <a:t>x = x % f()</a:t>
                      </a:r>
                    </a:p>
                  </a:txBody>
                  <a:tcPr marL="88463" marR="88463" marT="44232" marB="44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110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Comparison 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682525"/>
              </p:ext>
            </p:extLst>
          </p:nvPr>
        </p:nvGraphicFramePr>
        <p:xfrm>
          <a:off x="1115616" y="2770188"/>
          <a:ext cx="7200801" cy="3866786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dirty="0">
                          <a:effectLst/>
                        </a:rPr>
                        <a:t>Operator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>
                          <a:effectLst/>
                        </a:rPr>
                        <a:t>Description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dirty="0">
                          <a:effectLst/>
                        </a:rPr>
                        <a:t>Examples returning true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85">
                <a:tc>
                  <a:txBody>
                    <a:bodyPr/>
                    <a:lstStyle/>
                    <a:p>
                      <a:pPr fontAlgn="ctr"/>
                      <a:r>
                        <a:rPr lang="en-IN" sz="1600" i="0" u="none" dirty="0">
                          <a:effectLst/>
                        </a:rPr>
                        <a:t>Equal</a:t>
                      </a:r>
                      <a:r>
                        <a:rPr lang="en-IN" sz="1600" i="0" u="none" baseline="0" dirty="0">
                          <a:effectLst/>
                        </a:rPr>
                        <a:t> </a:t>
                      </a:r>
                      <a:r>
                        <a:rPr lang="en-IN" sz="1600" i="0" u="none" dirty="0">
                          <a:effectLst/>
                        </a:rPr>
                        <a:t>(==)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Returns true if the operands are equal.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600" dirty="0">
                          <a:effectLst/>
                        </a:rPr>
                        <a:t>3 == var1 </a:t>
                      </a:r>
                    </a:p>
                    <a:p>
                      <a:pPr fontAlgn="ctr"/>
                      <a:r>
                        <a:rPr lang="en-IN" sz="1600" dirty="0">
                          <a:effectLst/>
                        </a:rPr>
                        <a:t>"3" == var1</a:t>
                      </a:r>
                    </a:p>
                    <a:p>
                      <a:pPr fontAlgn="ctr"/>
                      <a:r>
                        <a:rPr lang="en-IN" sz="1600" dirty="0">
                          <a:effectLst/>
                        </a:rPr>
                        <a:t>3 == '3'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85">
                <a:tc>
                  <a:txBody>
                    <a:bodyPr/>
                    <a:lstStyle/>
                    <a:p>
                      <a:pPr fontAlgn="ctr"/>
                      <a:r>
                        <a:rPr lang="en-IN" sz="1600" i="0" u="none" dirty="0">
                          <a:effectLst/>
                        </a:rPr>
                        <a:t>Not equal (!=)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Returns true if the operands are not equal.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600" dirty="0">
                          <a:effectLst/>
                        </a:rPr>
                        <a:t>var1 != 4</a:t>
                      </a:r>
                      <a:br>
                        <a:rPr lang="en-IN" sz="1600" dirty="0">
                          <a:effectLst/>
                        </a:rPr>
                      </a:br>
                      <a:r>
                        <a:rPr lang="en-IN" sz="1600" dirty="0">
                          <a:effectLst/>
                        </a:rPr>
                        <a:t>var2 != "3"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8498">
                <a:tc>
                  <a:txBody>
                    <a:bodyPr/>
                    <a:lstStyle/>
                    <a:p>
                      <a:pPr fontAlgn="ctr"/>
                      <a:r>
                        <a:rPr lang="en-IN" sz="1600" i="0" u="none" dirty="0">
                          <a:effectLst/>
                        </a:rPr>
                        <a:t>Strict equal (===)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Returns true if the operands are equal and of the same type.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600" dirty="0">
                          <a:effectLst/>
                        </a:rPr>
                        <a:t>3 === var1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655">
                <a:tc>
                  <a:txBody>
                    <a:bodyPr/>
                    <a:lstStyle/>
                    <a:p>
                      <a:pPr fontAlgn="ctr"/>
                      <a:r>
                        <a:rPr lang="en-IN" sz="1600" i="0" u="none" dirty="0">
                          <a:effectLst/>
                        </a:rPr>
                        <a:t>Strict not equal (!==)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Returns true if the operands are of the same type but not equal, or are of different type.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600" dirty="0">
                          <a:effectLst/>
                        </a:rPr>
                        <a:t>var1 !== "3"</a:t>
                      </a:r>
                      <a:br>
                        <a:rPr lang="en-IN" sz="1600" dirty="0">
                          <a:effectLst/>
                        </a:rPr>
                      </a:br>
                      <a:r>
                        <a:rPr lang="en-IN" sz="1600" dirty="0">
                          <a:effectLst/>
                        </a:rPr>
                        <a:t>3 !== '3'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78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Comparison 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13</a:t>
            </a:fld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533265"/>
              </p:ext>
            </p:extLst>
          </p:nvPr>
        </p:nvGraphicFramePr>
        <p:xfrm>
          <a:off x="1115616" y="2770188"/>
          <a:ext cx="7200801" cy="3809712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dirty="0">
                          <a:effectLst/>
                        </a:rPr>
                        <a:t>Operator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>
                          <a:effectLst/>
                        </a:rPr>
                        <a:t>Description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dirty="0">
                          <a:effectLst/>
                        </a:rPr>
                        <a:t>Examples returning true</a:t>
                      </a:r>
                    </a:p>
                  </a:txBody>
                  <a:tcPr marL="57073" marR="57073" marT="28537" marB="285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85">
                <a:tc>
                  <a:txBody>
                    <a:bodyPr/>
                    <a:lstStyle/>
                    <a:p>
                      <a:pPr fontAlgn="ctr"/>
                      <a:r>
                        <a:rPr lang="en-IN" sz="1400" u="none" dirty="0">
                          <a:effectLst/>
                        </a:rPr>
                        <a:t>Greater than (&gt;)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dirty="0">
                          <a:effectLst/>
                        </a:rPr>
                        <a:t>Returns true if the left operand is greater than the right operand.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400">
                          <a:effectLst/>
                        </a:rPr>
                        <a:t>var2 &gt; var1</a:t>
                      </a:r>
                      <a:br>
                        <a:rPr lang="en-IN" sz="1400">
                          <a:effectLst/>
                        </a:rPr>
                      </a:br>
                      <a:r>
                        <a:rPr lang="en-IN" sz="1400">
                          <a:effectLst/>
                        </a:rPr>
                        <a:t>"12" &gt;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85">
                <a:tc>
                  <a:txBody>
                    <a:bodyPr/>
                    <a:lstStyle/>
                    <a:p>
                      <a:pPr fontAlgn="ctr"/>
                      <a:r>
                        <a:rPr lang="en-IN" sz="1400" u="none" dirty="0">
                          <a:effectLst/>
                        </a:rPr>
                        <a:t>Greater than or equal (&gt;=)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>
                          <a:effectLst/>
                        </a:rPr>
                        <a:t>Returns true if the left operand is greater than or equal to the right operand.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400" dirty="0">
                          <a:effectLst/>
                        </a:rPr>
                        <a:t>var2 &gt;= var1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400" dirty="0" err="1">
                          <a:effectLst/>
                        </a:rPr>
                        <a:t>var1</a:t>
                      </a:r>
                      <a:r>
                        <a:rPr lang="en-IN" sz="1400" dirty="0">
                          <a:effectLst/>
                        </a:rPr>
                        <a:t> &gt;=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8498">
                <a:tc>
                  <a:txBody>
                    <a:bodyPr/>
                    <a:lstStyle/>
                    <a:p>
                      <a:pPr fontAlgn="ctr"/>
                      <a:r>
                        <a:rPr lang="en-IN" sz="1400" u="none" dirty="0">
                          <a:effectLst/>
                        </a:rPr>
                        <a:t>Less than (&lt;)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>
                          <a:effectLst/>
                        </a:rPr>
                        <a:t>Returns true if the left operand is less than the right operand.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400">
                          <a:effectLst/>
                        </a:rPr>
                        <a:t>var1 &lt; var2</a:t>
                      </a:r>
                      <a:br>
                        <a:rPr lang="en-IN" sz="1400">
                          <a:effectLst/>
                        </a:rPr>
                      </a:br>
                      <a:r>
                        <a:rPr lang="en-IN" sz="1400">
                          <a:effectLst/>
                        </a:rPr>
                        <a:t>"2" &lt;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655">
                <a:tc>
                  <a:txBody>
                    <a:bodyPr/>
                    <a:lstStyle/>
                    <a:p>
                      <a:pPr fontAlgn="ctr"/>
                      <a:r>
                        <a:rPr lang="en-IN" sz="1400" u="none" dirty="0">
                          <a:effectLst/>
                        </a:rPr>
                        <a:t>Less than or equal (&lt;=)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>
                          <a:effectLst/>
                        </a:rPr>
                        <a:t>Returns true if the left operand is less than or equal to the right operand.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sz="1400" dirty="0">
                          <a:effectLst/>
                        </a:rPr>
                        <a:t>var1 &lt;= var2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400" dirty="0" err="1">
                          <a:effectLst/>
                        </a:rPr>
                        <a:t>var2</a:t>
                      </a:r>
                      <a:r>
                        <a:rPr lang="en-IN" sz="1400" dirty="0">
                          <a:effectLst/>
                        </a:rPr>
                        <a:t> &lt;=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98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Logical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14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Logical operators are typically used with Boolean (logical) values.</a:t>
            </a:r>
          </a:p>
          <a:p>
            <a:pPr lvl="1" algn="just"/>
            <a:r>
              <a:rPr lang="en-US" dirty="0"/>
              <a:t>Logical AND (&amp;&amp;) -&gt; </a:t>
            </a:r>
            <a:r>
              <a:rPr lang="en-IN" b="1" dirty="0">
                <a:solidFill>
                  <a:srgbClr val="FFFF00"/>
                </a:solidFill>
              </a:rPr>
              <a:t>expr1 &amp;&amp; expr2</a:t>
            </a:r>
            <a:endParaRPr lang="en-US" b="1" dirty="0">
              <a:solidFill>
                <a:srgbClr val="FFFF00"/>
              </a:solidFill>
            </a:endParaRPr>
          </a:p>
          <a:p>
            <a:pPr lvl="1" algn="just"/>
            <a:r>
              <a:rPr lang="en-US" dirty="0"/>
              <a:t>Logical OR (||) -&gt; </a:t>
            </a:r>
            <a:r>
              <a:rPr lang="en-IN" b="1" dirty="0">
                <a:solidFill>
                  <a:srgbClr val="FFFF00"/>
                </a:solidFill>
              </a:rPr>
              <a:t>expr1 || expr2</a:t>
            </a:r>
            <a:endParaRPr lang="en-US" b="1" dirty="0">
              <a:solidFill>
                <a:srgbClr val="FFFF00"/>
              </a:solidFill>
            </a:endParaRPr>
          </a:p>
          <a:p>
            <a:pPr lvl="1" algn="just"/>
            <a:r>
              <a:rPr lang="en-US" dirty="0"/>
              <a:t>Logical NOT (!) -&gt; </a:t>
            </a:r>
            <a:r>
              <a:rPr lang="en-IN" b="1" dirty="0">
                <a:solidFill>
                  <a:srgbClr val="FFFF00"/>
                </a:solidFill>
              </a:rPr>
              <a:t>!</a:t>
            </a:r>
            <a:r>
              <a:rPr lang="en-IN" b="1" dirty="0" err="1">
                <a:solidFill>
                  <a:srgbClr val="FFFF00"/>
                </a:solidFill>
              </a:rPr>
              <a:t>expr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9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String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15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concatenation operator (+) concatenates two string values together, returning another string that is the union of the two operand strings.</a:t>
            </a:r>
          </a:p>
          <a:p>
            <a:pPr marL="45720" indent="0" algn="just">
              <a:buNone/>
            </a:pPr>
            <a:endParaRPr lang="en-US" dirty="0"/>
          </a:p>
          <a:p>
            <a:pPr marL="45720" indent="0" algn="just">
              <a:buNone/>
            </a:pPr>
            <a:r>
              <a:rPr lang="en-US" dirty="0"/>
              <a:t>	</a:t>
            </a:r>
            <a:r>
              <a:rPr lang="en-IN" b="1" dirty="0">
                <a:solidFill>
                  <a:srgbClr val="FFFF00"/>
                </a:solidFill>
              </a:rPr>
              <a:t>console.log("my " + "string");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78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Conditional (ternary) operator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16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conditional operator is the only JavaScript operator that takes three operands. The operator can have one of two values based on a condition. </a:t>
            </a:r>
          </a:p>
          <a:p>
            <a:pPr algn="just"/>
            <a:endParaRPr lang="en-US" dirty="0"/>
          </a:p>
          <a:p>
            <a:pPr marL="45720" indent="0" algn="ctr">
              <a:buNone/>
            </a:pPr>
            <a:r>
              <a:rPr lang="en-US" b="1" dirty="0">
                <a:solidFill>
                  <a:srgbClr val="FFFF00"/>
                </a:solidFill>
              </a:rPr>
              <a:t>condition ? val1 : val2</a:t>
            </a:r>
          </a:p>
          <a:p>
            <a:pPr marL="45720" indent="0" algn="ctr">
              <a:buNone/>
            </a:pPr>
            <a:endParaRPr lang="en-US" b="1" dirty="0">
              <a:solidFill>
                <a:srgbClr val="FFFF00"/>
              </a:solidFill>
            </a:endParaRPr>
          </a:p>
          <a:p>
            <a:pPr marL="45720" indent="0" algn="ctr">
              <a:buNone/>
            </a:pPr>
            <a:r>
              <a:rPr lang="en-US" b="1" dirty="0">
                <a:solidFill>
                  <a:srgbClr val="FFFF00"/>
                </a:solidFill>
              </a:rPr>
              <a:t>const status + age &gt;= 18 ? "adult" : "minor";</a:t>
            </a:r>
          </a:p>
        </p:txBody>
      </p:sp>
    </p:spTree>
    <p:extLst>
      <p:ext uri="{BB962C8B-B14F-4D97-AF65-F5344CB8AC3E}">
        <p14:creationId xmlns:p14="http://schemas.microsoft.com/office/powerpoint/2010/main" val="205788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0B53-E6DB-10BB-79B4-07E326852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 DATA TYPES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EAE557-2B04-48C2-141F-A808E9B43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94" y="548797"/>
            <a:ext cx="7072455" cy="575992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AD2D9-D8DB-2092-1A62-8D72844D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33DEE-299E-4A06-3FE5-EE5F987A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45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9455-CF65-E3AF-947B-7993DBC9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F26B-F53A-51D9-4A57-E70ECAFF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7C564-6C12-3E9B-9673-B75EDF10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9000C-C7BA-1663-AB5A-73EBCEC9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92C841-A7E4-933E-FC47-94E7FDA78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96952" y="-1528473"/>
            <a:ext cx="12771457" cy="749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55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hlinkClick r:id="rId2"/>
              </a:rPr>
              <a:t>https://www.w3schools.com/js/js_arithmetic.asp</a:t>
            </a:r>
            <a:endParaRPr lang="en-US" dirty="0"/>
          </a:p>
          <a:p>
            <a:pPr algn="just"/>
            <a:r>
              <a:rPr lang="en-US" dirty="0">
                <a:hlinkClick r:id="rId3"/>
              </a:rPr>
              <a:t>https://www.w3schools.com/js/js_assignment.asp</a:t>
            </a:r>
            <a:endParaRPr lang="en-US" dirty="0"/>
          </a:p>
          <a:p>
            <a:pPr algn="just"/>
            <a:r>
              <a:rPr lang="en-US" dirty="0">
                <a:hlinkClick r:id="rId4"/>
              </a:rPr>
              <a:t>https://www.w3schools.com/js/js_comparisons.asp</a:t>
            </a:r>
            <a:endParaRPr lang="en-US" dirty="0"/>
          </a:p>
          <a:p>
            <a:pPr algn="just"/>
            <a:r>
              <a:rPr lang="en-US" dirty="0">
                <a:hlinkClick r:id="rId5"/>
              </a:rPr>
              <a:t>https://www.geeksforgeeks.org/javascript-ternary-operator/</a:t>
            </a:r>
            <a:endParaRPr lang="en-US" dirty="0"/>
          </a:p>
          <a:p>
            <a:pPr marL="45720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41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Program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https://onlinegdb.com/7xNzMPxDa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46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636912"/>
            <a:ext cx="7459216" cy="11540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/>
              <a:t>Thank you</a:t>
            </a:r>
            <a:endParaRPr lang="en-IN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0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3582</TotalTime>
  <Words>848</Words>
  <Application>Microsoft Office PowerPoint</Application>
  <PresentationFormat>On-screen Show (4:3)</PresentationFormat>
  <Paragraphs>164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Perspective</vt:lpstr>
      <vt:lpstr>CSE326  Internet Programming Laboratory  Lecture #11 Part 1</vt:lpstr>
      <vt:lpstr>Outline</vt:lpstr>
      <vt:lpstr>&lt;script&gt;</vt:lpstr>
      <vt:lpstr>&lt;script&gt;</vt:lpstr>
      <vt:lpstr>Variables</vt:lpstr>
      <vt:lpstr>PowerPoint Presentation</vt:lpstr>
      <vt:lpstr>PowerPoint Presentation</vt:lpstr>
      <vt:lpstr>PowerPoint Presentation</vt:lpstr>
      <vt:lpstr>Operators</vt:lpstr>
      <vt:lpstr>Arithmetic Operators</vt:lpstr>
      <vt:lpstr>Assignment Operators</vt:lpstr>
      <vt:lpstr>Comparison Operators</vt:lpstr>
      <vt:lpstr>Comparison Operators</vt:lpstr>
      <vt:lpstr>Logical operators</vt:lpstr>
      <vt:lpstr>String operators</vt:lpstr>
      <vt:lpstr>Conditional (ternary) operator</vt:lpstr>
      <vt:lpstr>JS DATA TYPES</vt:lpstr>
      <vt:lpstr>PowerPoint Presentation</vt:lpstr>
      <vt:lpstr>References</vt:lpstr>
      <vt:lpstr>Program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sachin kaushal</cp:lastModifiedBy>
  <cp:revision>1312</cp:revision>
  <dcterms:created xsi:type="dcterms:W3CDTF">2023-08-17T03:51:20Z</dcterms:created>
  <dcterms:modified xsi:type="dcterms:W3CDTF">2023-11-10T04:16:07Z</dcterms:modified>
</cp:coreProperties>
</file>