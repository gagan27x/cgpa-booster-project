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6"/>
  </p:notesMasterIdLst>
  <p:sldIdLst>
    <p:sldId id="256" r:id="rId2"/>
    <p:sldId id="257" r:id="rId3"/>
    <p:sldId id="297" r:id="rId4"/>
    <p:sldId id="301" r:id="rId5"/>
    <p:sldId id="303" r:id="rId6"/>
    <p:sldId id="302" r:id="rId7"/>
    <p:sldId id="304" r:id="rId8"/>
    <p:sldId id="306" r:id="rId9"/>
    <p:sldId id="305" r:id="rId10"/>
    <p:sldId id="307" r:id="rId11"/>
    <p:sldId id="308" r:id="rId12"/>
    <p:sldId id="309" r:id="rId13"/>
    <p:sldId id="312" r:id="rId14"/>
    <p:sldId id="319" r:id="rId15"/>
    <p:sldId id="314" r:id="rId16"/>
    <p:sldId id="315" r:id="rId17"/>
    <p:sldId id="317" r:id="rId18"/>
    <p:sldId id="316" r:id="rId19"/>
    <p:sldId id="284" r:id="rId20"/>
    <p:sldId id="318" r:id="rId21"/>
    <p:sldId id="296" r:id="rId22"/>
    <p:sldId id="285" r:id="rId23"/>
    <p:sldId id="294" r:id="rId24"/>
    <p:sldId id="27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Full" cryptAlgorithmClass="hash" cryptAlgorithmType="typeAny" cryptAlgorithmSid="4" spinCount="100000" saltData="OLyEzOmqECWhCW2YxCYhgA==" hashData="jlJCeIWkP8rFkqW6z5Z+1nWiy5o="/>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4" d="100"/>
          <a:sy n="74" d="100"/>
        </p:scale>
        <p:origin x="-126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84B997-7476-4EC8-BD6D-F6D133459055}" type="datetimeFigureOut">
              <a:rPr lang="en-IN" smtClean="0"/>
              <a:t>22-09-2023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00AF00-BDC2-4E22-9AB6-6FDA0E6DEF9E}" type="slidenum">
              <a:rPr lang="en-IN" smtClean="0"/>
              <a:t>‹#›</a:t>
            </a:fld>
            <a:endParaRPr lang="en-IN"/>
          </a:p>
        </p:txBody>
      </p:sp>
    </p:spTree>
    <p:extLst>
      <p:ext uri="{BB962C8B-B14F-4D97-AF65-F5344CB8AC3E}">
        <p14:creationId xmlns:p14="http://schemas.microsoft.com/office/powerpoint/2010/main" val="422465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a:t>Click to edit Master title style</a:t>
            </a:r>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0E8B5A0-437F-4D4F-9F63-0DE12B4707BA}" type="datetime1">
              <a:rPr lang="en-IN" smtClean="0"/>
              <a:t>22-09-2023</a:t>
            </a:fld>
            <a:endParaRPr lang="en-IN"/>
          </a:p>
        </p:txBody>
      </p:sp>
      <p:sp>
        <p:nvSpPr>
          <p:cNvPr id="8" name="Slide Number Placeholder 7"/>
          <p:cNvSpPr>
            <a:spLocks noGrp="1"/>
          </p:cNvSpPr>
          <p:nvPr>
            <p:ph type="sldNum" sz="quarter" idx="11"/>
          </p:nvPr>
        </p:nvSpPr>
        <p:spPr/>
        <p:txBody>
          <a:bodyPr/>
          <a:lstStyle/>
          <a:p>
            <a:fld id="{2066A04F-D713-4288-A8B9-BA887330B926}" type="slidenum">
              <a:rPr lang="en-IN" smtClean="0"/>
              <a:t>‹#›</a:t>
            </a:fld>
            <a:endParaRPr lang="en-IN"/>
          </a:p>
        </p:txBody>
      </p:sp>
      <p:sp>
        <p:nvSpPr>
          <p:cNvPr id="9" name="Footer Placeholder 8"/>
          <p:cNvSpPr>
            <a:spLocks noGrp="1"/>
          </p:cNvSpPr>
          <p:nvPr>
            <p:ph type="ftr" sz="quarter" idx="12"/>
          </p:nvPr>
        </p:nvSpPr>
        <p:spPr/>
        <p:txBody>
          <a:bodyPr/>
          <a:lstStyle/>
          <a:p>
            <a:r>
              <a:rPr lang="en-IN"/>
              <a:t>Dr. Navneet Kaur, Lovely Professional University</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4AB0C-8A4F-4A9E-B7F7-58515A6440E7}" type="datetime1">
              <a:rPr lang="en-IN" smtClean="0"/>
              <a:t>22-09-2023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690D22-8420-4AF0-8722-2855801E82FB}" type="datetime1">
              <a:rPr lang="en-IN" smtClean="0"/>
              <a:t>22-09-2023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20D2F9F-5CFA-4EBA-BA27-C5E2A62FDF1A}" type="datetime1">
              <a:rPr lang="en-IN" smtClean="0"/>
              <a:t>22-09-2023</a:t>
            </a:fld>
            <a:endParaRPr lang="en-IN"/>
          </a:p>
        </p:txBody>
      </p:sp>
      <p:sp>
        <p:nvSpPr>
          <p:cNvPr id="6" name="Footer Placeholder 5"/>
          <p:cNvSpPr>
            <a:spLocks noGrp="1"/>
          </p:cNvSpPr>
          <p:nvPr>
            <p:ph type="ftr" sz="quarter" idx="11"/>
          </p:nvPr>
        </p:nvSpPr>
        <p:spPr/>
        <p:txBody>
          <a:bodyPr/>
          <a:lstStyle/>
          <a:p>
            <a:r>
              <a:rPr lang="en-IN"/>
              <a:t>Dr. Navneet Kaur, Lovely Professional University</a:t>
            </a:r>
          </a:p>
        </p:txBody>
      </p:sp>
      <p:sp>
        <p:nvSpPr>
          <p:cNvPr id="7" name="Slide Number Placeholder 6"/>
          <p:cNvSpPr>
            <a:spLocks noGrp="1"/>
          </p:cNvSpPr>
          <p:nvPr>
            <p:ph type="sldNum" sz="quarter" idx="12"/>
          </p:nvPr>
        </p:nvSpPr>
        <p:spPr/>
        <p:txBody>
          <a:bodyPr/>
          <a:lstStyle/>
          <a:p>
            <a:fld id="{2066A04F-D713-4288-A8B9-BA887330B926}" type="slidenum">
              <a:rPr lang="en-IN" smtClean="0"/>
              <a:t>‹#›</a:t>
            </a:fld>
            <a:endParaRPr lang="en-IN"/>
          </a:p>
        </p:txBody>
      </p:sp>
      <p:sp>
        <p:nvSpPr>
          <p:cNvPr id="9" name="Title 8"/>
          <p:cNvSpPr>
            <a:spLocks noGrp="1"/>
          </p:cNvSpPr>
          <p:nvPr>
            <p:ph type="title"/>
          </p:nvPr>
        </p:nvSpPr>
        <p:spPr>
          <a:xfrm>
            <a:off x="914400" y="1544715"/>
            <a:ext cx="7315200" cy="1154097"/>
          </a:xfrm>
        </p:spPr>
        <p:txBody>
          <a:bodyPr/>
          <a:lstStyle/>
          <a:p>
            <a:r>
              <a:rPr lang="en-US"/>
              <a:t>Click to edit Master title style</a:t>
            </a:r>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81728" y="2743200"/>
            <a:ext cx="3566160" cy="359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D415814D-220D-40D4-AB32-274CBB40604A}" type="datetime1">
              <a:rPr lang="en-IN" smtClean="0"/>
              <a:t>22-09-2023</a:t>
            </a:fld>
            <a:endParaRPr lang="en-IN"/>
          </a:p>
        </p:txBody>
      </p:sp>
      <p:sp>
        <p:nvSpPr>
          <p:cNvPr id="8" name="Footer Placeholder 7"/>
          <p:cNvSpPr>
            <a:spLocks noGrp="1"/>
          </p:cNvSpPr>
          <p:nvPr>
            <p:ph type="ftr" sz="quarter" idx="11"/>
          </p:nvPr>
        </p:nvSpPr>
        <p:spPr/>
        <p:txBody>
          <a:bodyPr/>
          <a:lstStyle/>
          <a:p>
            <a:r>
              <a:rPr lang="en-IN"/>
              <a:t>Dr. Navneet Kaur, Lovely Professional University</a:t>
            </a:r>
          </a:p>
        </p:txBody>
      </p:sp>
      <p:sp>
        <p:nvSpPr>
          <p:cNvPr id="9" name="Slide Number Placeholder 8"/>
          <p:cNvSpPr>
            <a:spLocks noGrp="1"/>
          </p:cNvSpPr>
          <p:nvPr>
            <p:ph type="sldNum" sz="quarter" idx="12"/>
          </p:nvPr>
        </p:nvSpPr>
        <p:spPr/>
        <p:txBody>
          <a:bodyPr/>
          <a:lstStyle/>
          <a:p>
            <a:fld id="{2066A04F-D713-4288-A8B9-BA887330B926}" type="slidenum">
              <a:rPr lang="en-IN" smtClean="0"/>
              <a:t>‹#›</a:t>
            </a:fld>
            <a:endParaRPr lang="en-IN"/>
          </a:p>
        </p:txBody>
      </p:sp>
      <p:sp>
        <p:nvSpPr>
          <p:cNvPr id="10" name="Title 9"/>
          <p:cNvSpPr>
            <a:spLocks noGrp="1"/>
          </p:cNvSpPr>
          <p:nvPr>
            <p:ph type="title"/>
          </p:nvPr>
        </p:nvSpPr>
        <p:spPr>
          <a:xfrm>
            <a:off x="914400" y="1544715"/>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E8DACF4-6E2D-427B-9257-A5B396BB2F5D}" type="datetime1">
              <a:rPr lang="en-IN" smtClean="0"/>
              <a:t>22-09-2023</a:t>
            </a:fld>
            <a:endParaRPr lang="en-IN"/>
          </a:p>
        </p:txBody>
      </p:sp>
      <p:sp>
        <p:nvSpPr>
          <p:cNvPr id="4" name="Footer Placeholder 3"/>
          <p:cNvSpPr>
            <a:spLocks noGrp="1"/>
          </p:cNvSpPr>
          <p:nvPr>
            <p:ph type="ftr" sz="quarter" idx="11"/>
          </p:nvPr>
        </p:nvSpPr>
        <p:spPr/>
        <p:txBody>
          <a:bodyPr/>
          <a:lstStyle/>
          <a:p>
            <a:r>
              <a:rPr lang="en-IN"/>
              <a:t>Dr. Navneet Kaur,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FA0489-FB30-448B-B752-C7F233B89F76}" type="datetime1">
              <a:rPr lang="en-IN" smtClean="0"/>
              <a:t>22-09-2023</a:t>
            </a:fld>
            <a:endParaRPr lang="en-IN"/>
          </a:p>
        </p:txBody>
      </p:sp>
      <p:sp>
        <p:nvSpPr>
          <p:cNvPr id="3" name="Footer Placeholder 2"/>
          <p:cNvSpPr>
            <a:spLocks noGrp="1"/>
          </p:cNvSpPr>
          <p:nvPr>
            <p:ph type="ftr" sz="quarter" idx="11"/>
          </p:nvPr>
        </p:nvSpPr>
        <p:spPr/>
        <p:txBody>
          <a:bodyPr/>
          <a:lstStyle/>
          <a:p>
            <a:r>
              <a:rPr lang="en-IN"/>
              <a:t>Dr. Navneet Kaur, Lovely Professional University</a:t>
            </a:r>
          </a:p>
        </p:txBody>
      </p:sp>
      <p:sp>
        <p:nvSpPr>
          <p:cNvPr id="4" name="Slide Number Placeholder 3"/>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566C54-2EFD-437D-A71C-B4A779E37E51}" type="datetime1">
              <a:rPr lang="en-IN" smtClean="0"/>
              <a:t>22-09-2023</a:t>
            </a:fld>
            <a:endParaRPr lang="en-IN"/>
          </a:p>
        </p:txBody>
      </p:sp>
      <p:sp>
        <p:nvSpPr>
          <p:cNvPr id="6" name="Footer Placeholder 5"/>
          <p:cNvSpPr>
            <a:spLocks noGrp="1"/>
          </p:cNvSpPr>
          <p:nvPr>
            <p:ph type="ftr" sz="quarter" idx="11"/>
          </p:nvPr>
        </p:nvSpPr>
        <p:spPr/>
        <p:txBody>
          <a:bodyPr/>
          <a:lstStyle/>
          <a:p>
            <a:r>
              <a:rPr lang="en-IN"/>
              <a:t>Dr. Navneet Kaur, Lovely Professional University</a:t>
            </a:r>
          </a:p>
        </p:txBody>
      </p:sp>
      <p:sp>
        <p:nvSpPr>
          <p:cNvPr id="7" name="Slide Number Placeholder 6"/>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412386-994B-4EFF-A8B5-30B85EDF6DD6}" type="datetime1">
              <a:rPr lang="en-IN" smtClean="0"/>
              <a:t>22-09-2023</a:t>
            </a:fld>
            <a:endParaRPr lang="en-IN"/>
          </a:p>
        </p:txBody>
      </p:sp>
      <p:sp>
        <p:nvSpPr>
          <p:cNvPr id="6" name="Footer Placeholder 5"/>
          <p:cNvSpPr>
            <a:spLocks noGrp="1"/>
          </p:cNvSpPr>
          <p:nvPr>
            <p:ph type="ftr" sz="quarter" idx="11"/>
          </p:nvPr>
        </p:nvSpPr>
        <p:spPr/>
        <p:txBody>
          <a:bodyPr/>
          <a:lstStyle/>
          <a:p>
            <a:r>
              <a:rPr lang="en-IN"/>
              <a:t>Dr. Navneet Kaur, Lovely Professional University</a:t>
            </a:r>
          </a:p>
        </p:txBody>
      </p:sp>
      <p:sp>
        <p:nvSpPr>
          <p:cNvPr id="7" name="Slide Number Placeholder 6"/>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2A0317-7514-470C-8859-FEAB78AFA84E}" type="datetime1">
              <a:rPr lang="en-IN" smtClean="0"/>
              <a:t>22-09-2023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BE0D0C-0542-4575-9C53-121116BF1562}" type="datetime1">
              <a:rPr lang="en-IN" smtClean="0"/>
              <a:t>22-09-2023</a:t>
            </a:fld>
            <a:endParaRPr lang="en-IN"/>
          </a:p>
        </p:txBody>
      </p:sp>
      <p:sp>
        <p:nvSpPr>
          <p:cNvPr id="5" name="Footer Placeholder 4"/>
          <p:cNvSpPr>
            <a:spLocks noGrp="1"/>
          </p:cNvSpPr>
          <p:nvPr>
            <p:ph type="ftr" sz="quarter" idx="11"/>
          </p:nvPr>
        </p:nvSpPr>
        <p:spPr/>
        <p:txBody>
          <a:bodyPr/>
          <a:lstStyle/>
          <a:p>
            <a:r>
              <a:rPr lang="en-IN"/>
              <a:t>Dr. Navneet Kaur, Lovely Professional University</a:t>
            </a:r>
          </a:p>
        </p:txBody>
      </p:sp>
      <p:sp>
        <p:nvSpPr>
          <p:cNvPr id="6" name="Slide Number Placeholder 5"/>
          <p:cNvSpPr>
            <a:spLocks noGrp="1"/>
          </p:cNvSpPr>
          <p:nvPr>
            <p:ph type="sldNum" sz="quarter" idx="12"/>
          </p:nvPr>
        </p:nvSpPr>
        <p:spPr/>
        <p:txBody>
          <a:bodyPr/>
          <a:lstStyle/>
          <a:p>
            <a:fld id="{2066A04F-D713-4288-A8B9-BA887330B92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785CAE0E-7D63-43E1-ACB7-595E8AE1D856}" type="datetime1">
              <a:rPr lang="en-IN" smtClean="0"/>
              <a:t>22-09-2023</a:t>
            </a:fld>
            <a:endParaRPr lang="en-IN"/>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2066A04F-D713-4288-A8B9-BA887330B926}" type="slidenum">
              <a:rPr lang="en-IN" smtClean="0"/>
              <a:t>‹#›</a:t>
            </a:fld>
            <a:endParaRPr lang="en-IN"/>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r>
              <a:rPr lang="en-IN"/>
              <a:t>Dr. Navneet Kaur, Lovely Professional University</a:t>
            </a:r>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w3schools.com/css/css_text_align.asp" TargetMode="External"/><Relationship Id="rId3" Type="http://schemas.openxmlformats.org/officeDocument/2006/relationships/hyperlink" Target="https://www.w3schools.com/css/css_margin.asp" TargetMode="External"/><Relationship Id="rId7" Type="http://schemas.openxmlformats.org/officeDocument/2006/relationships/hyperlink" Target="https://www.geeksforgeeks.org/difference-between-physical-and-logical-tags/" TargetMode="External"/><Relationship Id="rId2" Type="http://schemas.openxmlformats.org/officeDocument/2006/relationships/hyperlink" Target="https://www.w3schools.com/css/css_boxmodel.asp" TargetMode="External"/><Relationship Id="rId1" Type="http://schemas.openxmlformats.org/officeDocument/2006/relationships/slideLayout" Target="../slideLayouts/slideLayout2.xml"/><Relationship Id="rId6" Type="http://schemas.openxmlformats.org/officeDocument/2006/relationships/hyperlink" Target="https://www.geeksforgeeks.org/physical-and-logical-tags-in-html/" TargetMode="External"/><Relationship Id="rId5" Type="http://schemas.openxmlformats.org/officeDocument/2006/relationships/hyperlink" Target="https://www.w3schools.com/css/css_border.asp" TargetMode="External"/><Relationship Id="rId4" Type="http://schemas.openxmlformats.org/officeDocument/2006/relationships/hyperlink" Target="https://www.w3schools.com/css/css_padding.asp" TargetMode="External"/><Relationship Id="rId9" Type="http://schemas.openxmlformats.org/officeDocument/2006/relationships/hyperlink" Target="https://www.w3schools.com/css/css_text.asp"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w3schools.com/css/css_text_spacing.asp" TargetMode="External"/><Relationship Id="rId7" Type="http://schemas.openxmlformats.org/officeDocument/2006/relationships/hyperlink" Target="https://www.w3schools.com/css/css_font_size.asp" TargetMode="External"/><Relationship Id="rId2" Type="http://schemas.openxmlformats.org/officeDocument/2006/relationships/hyperlink" Target="https://www.w3schools.com/css/css_text_transformation.asp" TargetMode="External"/><Relationship Id="rId1" Type="http://schemas.openxmlformats.org/officeDocument/2006/relationships/slideLayout" Target="../slideLayouts/slideLayout2.xml"/><Relationship Id="rId6" Type="http://schemas.openxmlformats.org/officeDocument/2006/relationships/hyperlink" Target="https://www.w3schools.com/css/css_font_style.asp" TargetMode="External"/><Relationship Id="rId5" Type="http://schemas.openxmlformats.org/officeDocument/2006/relationships/hyperlink" Target="https://www.w3schools.com/css/css_font.asp" TargetMode="External"/><Relationship Id="rId4" Type="http://schemas.openxmlformats.org/officeDocument/2006/relationships/hyperlink" Target="https://www.w3schools.com/css/css_text_shadow.asp"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onlinegdb.com/UuN1pLO-Q" TargetMode="External"/><Relationship Id="rId2" Type="http://schemas.openxmlformats.org/officeDocument/2006/relationships/hyperlink" Target="https://onlinegdb.com/ofRNOyWY3" TargetMode="External"/><Relationship Id="rId1" Type="http://schemas.openxmlformats.org/officeDocument/2006/relationships/slideLayout" Target="../slideLayouts/slideLayout2.xml"/><Relationship Id="rId4" Type="http://schemas.openxmlformats.org/officeDocument/2006/relationships/hyperlink" Target="https://onlinegdb.com/cz2bNJDRwJ"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s://www.freecodecamp.org/learn/2022/responsive-web-desig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182880"/>
            <a:r>
              <a:rPr lang="en-US" dirty="0"/>
              <a:t>CSE326 </a:t>
            </a:r>
            <a:br>
              <a:rPr lang="en-US" dirty="0"/>
            </a:br>
            <a:r>
              <a:rPr lang="en-US" sz="3600" dirty="0"/>
              <a:t>Internet Programming Laboratory </a:t>
            </a:r>
            <a:br>
              <a:rPr lang="en-US" sz="3600" dirty="0"/>
            </a:br>
            <a:r>
              <a:rPr lang="en-US" sz="3600" dirty="0"/>
              <a:t>Lecture #6</a:t>
            </a:r>
            <a:endParaRPr lang="en-IN" sz="3600" dirty="0"/>
          </a:p>
        </p:txBody>
      </p:sp>
      <p:sp>
        <p:nvSpPr>
          <p:cNvPr id="3" name="Subtitle 2"/>
          <p:cNvSpPr>
            <a:spLocks noGrp="1"/>
          </p:cNvSpPr>
          <p:nvPr>
            <p:ph type="subTitle" idx="1"/>
          </p:nvPr>
        </p:nvSpPr>
        <p:spPr/>
        <p:txBody>
          <a:bodyPr/>
          <a:lstStyle/>
          <a:p>
            <a:r>
              <a:rPr lang="en-US" dirty="0"/>
              <a:t>Dr. </a:t>
            </a:r>
            <a:r>
              <a:rPr lang="en-US" dirty="0" err="1"/>
              <a:t>Navneet</a:t>
            </a:r>
            <a:r>
              <a:rPr lang="en-US" dirty="0"/>
              <a:t> </a:t>
            </a:r>
            <a:r>
              <a:rPr lang="en-US" dirty="0" err="1"/>
              <a:t>Kaur</a:t>
            </a:r>
            <a:endParaRPr lang="en-IN" dirty="0"/>
          </a:p>
        </p:txBody>
      </p:sp>
      <p:sp>
        <p:nvSpPr>
          <p:cNvPr id="4" name="Footer Placeholder 3"/>
          <p:cNvSpPr>
            <a:spLocks noGrp="1"/>
          </p:cNvSpPr>
          <p:nvPr>
            <p:ph type="ftr" sz="quarter" idx="12"/>
          </p:nvPr>
        </p:nvSpPr>
        <p:spPr/>
        <p:txBody>
          <a:bodyPr/>
          <a:lstStyle/>
          <a:p>
            <a:r>
              <a:rPr lang="en-IN"/>
              <a:t>Dr. Navneet Kaur, Lovely Professional University</a:t>
            </a:r>
          </a:p>
        </p:txBody>
      </p:sp>
      <p:sp>
        <p:nvSpPr>
          <p:cNvPr id="5" name="Slide Number Placeholder 4"/>
          <p:cNvSpPr>
            <a:spLocks noGrp="1"/>
          </p:cNvSpPr>
          <p:nvPr>
            <p:ph type="sldNum" sz="quarter" idx="11"/>
          </p:nvPr>
        </p:nvSpPr>
        <p:spPr/>
        <p:txBody>
          <a:bodyPr/>
          <a:lstStyle/>
          <a:p>
            <a:fld id="{2066A04F-D713-4288-A8B9-BA887330B926}" type="slidenum">
              <a:rPr lang="en-IN" smtClean="0"/>
              <a:t>1</a:t>
            </a:fld>
            <a:endParaRPr lang="en-IN"/>
          </a:p>
        </p:txBody>
      </p:sp>
    </p:spTree>
    <p:extLst>
      <p:ext uri="{BB962C8B-B14F-4D97-AF65-F5344CB8AC3E}">
        <p14:creationId xmlns:p14="http://schemas.microsoft.com/office/powerpoint/2010/main" val="333313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b="1" dirty="0"/>
              <a:t>Outline</a:t>
            </a:r>
            <a:endParaRPr lang="en-IN" b="1" dirty="0"/>
          </a:p>
        </p:txBody>
      </p:sp>
      <p:sp>
        <p:nvSpPr>
          <p:cNvPr id="3" name="Content Placeholder 2"/>
          <p:cNvSpPr>
            <a:spLocks noGrp="1"/>
          </p:cNvSpPr>
          <p:nvPr>
            <p:ph idx="1"/>
          </p:nvPr>
        </p:nvSpPr>
        <p:spPr/>
        <p:txBody>
          <a:bodyPr/>
          <a:lstStyle/>
          <a:p>
            <a:pPr algn="just"/>
            <a:r>
              <a:rPr lang="en-US" dirty="0"/>
              <a:t>CSS Box model</a:t>
            </a:r>
          </a:p>
          <a:p>
            <a:pPr lvl="1" algn="just"/>
            <a:r>
              <a:rPr lang="en-US" dirty="0"/>
              <a:t>Parts of a CSS Box model</a:t>
            </a:r>
          </a:p>
          <a:p>
            <a:pPr lvl="1" algn="just"/>
            <a:r>
              <a:rPr lang="en-US" dirty="0"/>
              <a:t>Margin</a:t>
            </a:r>
          </a:p>
          <a:p>
            <a:pPr lvl="1" algn="just"/>
            <a:r>
              <a:rPr lang="en-US" dirty="0"/>
              <a:t>Padding</a:t>
            </a:r>
          </a:p>
          <a:p>
            <a:pPr lvl="1" algn="just"/>
            <a:r>
              <a:rPr lang="en-US" dirty="0"/>
              <a:t>Border</a:t>
            </a:r>
          </a:p>
          <a:p>
            <a:pPr algn="just"/>
            <a:r>
              <a:rPr lang="en-US" dirty="0"/>
              <a:t>Physical and logical style elements in HTML</a:t>
            </a:r>
          </a:p>
          <a:p>
            <a:pPr algn="just"/>
            <a:r>
              <a:rPr lang="en-US" dirty="0"/>
              <a:t>CSS text formatting</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a:t>
            </a:fld>
            <a:endParaRPr lang="en-IN"/>
          </a:p>
        </p:txBody>
      </p:sp>
    </p:spTree>
    <p:extLst>
      <p:ext uri="{BB962C8B-B14F-4D97-AF65-F5344CB8AC3E}">
        <p14:creationId xmlns:p14="http://schemas.microsoft.com/office/powerpoint/2010/main" val="89291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additive="base">
                                        <p:cTn id="2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 end="1"/>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 calcmode="lin" valueType="num">
                                      <p:cBhvr additive="base">
                                        <p:cTn id="3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 calcmode="lin" valueType="num">
                                      <p:cBhvr additive="base">
                                        <p:cTn id="4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additive="base">
                                        <p:cTn id="4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 calcmode="lin" valueType="num">
                                      <p:cBhvr additive="base">
                                        <p:cTn id="5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Box model</a:t>
            </a:r>
            <a:endParaRPr lang="en-IN" b="1" dirty="0"/>
          </a:p>
        </p:txBody>
      </p:sp>
      <p:sp>
        <p:nvSpPr>
          <p:cNvPr id="3" name="Content Placeholder 2"/>
          <p:cNvSpPr>
            <a:spLocks noGrp="1"/>
          </p:cNvSpPr>
          <p:nvPr>
            <p:ph idx="1"/>
          </p:nvPr>
        </p:nvSpPr>
        <p:spPr/>
        <p:txBody>
          <a:bodyPr/>
          <a:lstStyle/>
          <a:p>
            <a:pPr algn="just"/>
            <a:r>
              <a:rPr lang="en-US" dirty="0"/>
              <a:t>The CSS box model as a whole applies to block boxes and defines how the different parts of a box — margin, border, padding, and content — work together to create a box that you can see on a page</a:t>
            </a:r>
            <a:r>
              <a:rPr lang="en-US"/>
              <a:t>. </a:t>
            </a:r>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3</a:t>
            </a:fld>
            <a:endParaRPr lang="en-IN"/>
          </a:p>
        </p:txBody>
      </p:sp>
    </p:spTree>
    <p:extLst>
      <p:ext uri="{BB962C8B-B14F-4D97-AF65-F5344CB8AC3E}">
        <p14:creationId xmlns:p14="http://schemas.microsoft.com/office/powerpoint/2010/main" val="2546703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Parts of a CSS box model</a:t>
            </a:r>
            <a:endParaRPr lang="en-IN" b="1" dirty="0"/>
          </a:p>
        </p:txBody>
      </p:sp>
      <p:sp>
        <p:nvSpPr>
          <p:cNvPr id="3" name="Content Placeholder 2"/>
          <p:cNvSpPr>
            <a:spLocks noGrp="1"/>
          </p:cNvSpPr>
          <p:nvPr>
            <p:ph idx="1"/>
          </p:nvPr>
        </p:nvSpPr>
        <p:spPr/>
        <p:txBody>
          <a:bodyPr/>
          <a:lstStyle/>
          <a:p>
            <a:pPr algn="just"/>
            <a:r>
              <a:rPr lang="en-US" b="1" dirty="0"/>
              <a:t>Margin box: </a:t>
            </a:r>
            <a:r>
              <a:rPr lang="en-US" dirty="0"/>
              <a:t>The margin is the outermost layer, wrapping the content, padding, and border as whitespace between this box and other elements; size it using margin and related properties.</a:t>
            </a:r>
          </a:p>
          <a:p>
            <a:pPr algn="just"/>
            <a:r>
              <a:rPr lang="en-US" b="1" dirty="0"/>
              <a:t>Border box: </a:t>
            </a:r>
            <a:r>
              <a:rPr lang="en-US" dirty="0"/>
              <a:t>The border box wraps the content and any padding; size it using border and related properties.</a:t>
            </a:r>
          </a:p>
          <a:p>
            <a:pPr algn="just"/>
            <a:r>
              <a:rPr lang="en-US" b="1" dirty="0"/>
              <a:t>Padding box: </a:t>
            </a:r>
            <a:r>
              <a:rPr lang="en-US" dirty="0"/>
              <a:t>The padding sits around the content as white space; size it using padding and related properties.</a:t>
            </a:r>
          </a:p>
          <a:p>
            <a:pPr algn="just"/>
            <a:r>
              <a:rPr lang="en-US" b="1" dirty="0"/>
              <a:t>Content box: </a:t>
            </a:r>
            <a:r>
              <a:rPr lang="en-US" dirty="0"/>
              <a:t>The area where your content is displayed.</a:t>
            </a:r>
          </a:p>
          <a:p>
            <a:pPr algn="just"/>
            <a:endParaRPr lang="en-US" dirty="0"/>
          </a:p>
          <a:p>
            <a:pPr algn="just"/>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4</a:t>
            </a:fld>
            <a:endParaRPr lang="en-IN"/>
          </a:p>
        </p:txBody>
      </p:sp>
    </p:spTree>
    <p:extLst>
      <p:ext uri="{BB962C8B-B14F-4D97-AF65-F5344CB8AC3E}">
        <p14:creationId xmlns:p14="http://schemas.microsoft.com/office/powerpoint/2010/main" val="356666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Parts of a CSS box model</a:t>
            </a:r>
            <a:endParaRPr lang="en-IN" b="1"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5</a:t>
            </a:fld>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640" y="2708920"/>
            <a:ext cx="6480720"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0749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1)">
                                      <p:cBhvr>
                                        <p:cTn id="7"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Margin</a:t>
            </a:r>
            <a:endParaRPr lang="en-IN" b="1" dirty="0"/>
          </a:p>
        </p:txBody>
      </p:sp>
      <p:sp>
        <p:nvSpPr>
          <p:cNvPr id="3" name="Content Placeholder 2"/>
          <p:cNvSpPr>
            <a:spLocks noGrp="1"/>
          </p:cNvSpPr>
          <p:nvPr>
            <p:ph idx="1"/>
          </p:nvPr>
        </p:nvSpPr>
        <p:spPr/>
        <p:txBody>
          <a:bodyPr/>
          <a:lstStyle/>
          <a:p>
            <a:pPr algn="just"/>
            <a:r>
              <a:rPr lang="en-US" dirty="0"/>
              <a:t>The margin is an invisible space around your box. </a:t>
            </a:r>
          </a:p>
          <a:p>
            <a:pPr algn="just"/>
            <a:r>
              <a:rPr lang="en-US" dirty="0"/>
              <a:t>It pushes other elements away from the box. </a:t>
            </a:r>
          </a:p>
          <a:p>
            <a:pPr algn="just"/>
            <a:r>
              <a:rPr lang="en-US" dirty="0"/>
              <a:t>Margins can have positive or negative values. </a:t>
            </a:r>
          </a:p>
          <a:p>
            <a:pPr algn="just"/>
            <a:r>
              <a:rPr lang="en-US" dirty="0"/>
              <a:t>Setting a negative margin on one side of your box can cause it to overlap other things on the page.</a:t>
            </a:r>
          </a:p>
          <a:p>
            <a:pPr marL="45720" indent="0" algn="just">
              <a:buNone/>
            </a:pPr>
            <a:r>
              <a:rPr lang="en-US" b="1" dirty="0">
                <a:solidFill>
                  <a:srgbClr val="FFFF00"/>
                </a:solidFill>
              </a:rPr>
              <a:t>margin-top</a:t>
            </a:r>
          </a:p>
          <a:p>
            <a:pPr marL="45720" indent="0" algn="just">
              <a:buNone/>
            </a:pPr>
            <a:r>
              <a:rPr lang="en-US" b="1" dirty="0">
                <a:solidFill>
                  <a:srgbClr val="FFFF00"/>
                </a:solidFill>
              </a:rPr>
              <a:t>margin-right</a:t>
            </a:r>
          </a:p>
          <a:p>
            <a:pPr marL="45720" indent="0" algn="just">
              <a:buNone/>
            </a:pPr>
            <a:r>
              <a:rPr lang="en-US" b="1" dirty="0">
                <a:solidFill>
                  <a:srgbClr val="FFFF00"/>
                </a:solidFill>
              </a:rPr>
              <a:t>margin-bottom</a:t>
            </a:r>
          </a:p>
          <a:p>
            <a:pPr marL="45720" indent="0" algn="just">
              <a:buNone/>
            </a:pPr>
            <a:r>
              <a:rPr lang="en-US" b="1" dirty="0">
                <a:solidFill>
                  <a:srgbClr val="FFFF00"/>
                </a:solidFill>
              </a:rPr>
              <a:t>margin-left</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6</a:t>
            </a:fld>
            <a:endParaRPr lang="en-IN"/>
          </a:p>
        </p:txBody>
      </p:sp>
    </p:spTree>
    <p:extLst>
      <p:ext uri="{BB962C8B-B14F-4D97-AF65-F5344CB8AC3E}">
        <p14:creationId xmlns:p14="http://schemas.microsoft.com/office/powerpoint/2010/main" val="809470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1000"/>
                                        <p:tgtEl>
                                          <p:spTgt spid="3">
                                            <p:txEl>
                                              <p:pRg st="4" end="4"/>
                                            </p:txEl>
                                          </p:spTgt>
                                        </p:tgtEl>
                                      </p:cBhvr>
                                    </p:animEffect>
                                    <p:anim calcmode="lin" valueType="num">
                                      <p:cBhvr>
                                        <p:cTn id="5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
                                            <p:txEl>
                                              <p:pRg st="5" end="5"/>
                                            </p:txEl>
                                          </p:spTgt>
                                        </p:tgtEl>
                                        <p:attrNameLst>
                                          <p:attrName>style.visibility</p:attrName>
                                        </p:attrNameLst>
                                      </p:cBhvr>
                                      <p:to>
                                        <p:strVal val="visible"/>
                                      </p:to>
                                    </p:set>
                                    <p:animEffect transition="in" filter="fade">
                                      <p:cBhvr>
                                        <p:cTn id="54" dur="1000"/>
                                        <p:tgtEl>
                                          <p:spTgt spid="3">
                                            <p:txEl>
                                              <p:pRg st="5" end="5"/>
                                            </p:txEl>
                                          </p:spTgt>
                                        </p:tgtEl>
                                      </p:cBhvr>
                                    </p:animEffect>
                                    <p:anim calcmode="lin" valueType="num">
                                      <p:cBhvr>
                                        <p:cTn id="5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Effect transition="in" filter="fade">
                                      <p:cBhvr>
                                        <p:cTn id="59" dur="1000"/>
                                        <p:tgtEl>
                                          <p:spTgt spid="3">
                                            <p:txEl>
                                              <p:pRg st="6" end="6"/>
                                            </p:txEl>
                                          </p:spTgt>
                                        </p:tgtEl>
                                      </p:cBhvr>
                                    </p:animEffect>
                                    <p:anim calcmode="lin" valueType="num">
                                      <p:cBhvr>
                                        <p:cTn id="6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3">
                                            <p:txEl>
                                              <p:pRg st="7" end="7"/>
                                            </p:txEl>
                                          </p:spTgt>
                                        </p:tgtEl>
                                        <p:attrNameLst>
                                          <p:attrName>style.visibility</p:attrName>
                                        </p:attrNameLst>
                                      </p:cBhvr>
                                      <p:to>
                                        <p:strVal val="visible"/>
                                      </p:to>
                                    </p:set>
                                    <p:animEffect transition="in" filter="fade">
                                      <p:cBhvr>
                                        <p:cTn id="64" dur="1000"/>
                                        <p:tgtEl>
                                          <p:spTgt spid="3">
                                            <p:txEl>
                                              <p:pRg st="7" end="7"/>
                                            </p:txEl>
                                          </p:spTgt>
                                        </p:tgtEl>
                                      </p:cBhvr>
                                    </p:animEffect>
                                    <p:anim calcmode="lin" valueType="num">
                                      <p:cBhvr>
                                        <p:cTn id="6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Borders</a:t>
            </a:r>
            <a:endParaRPr lang="en-IN" b="1" dirty="0"/>
          </a:p>
        </p:txBody>
      </p:sp>
      <p:sp>
        <p:nvSpPr>
          <p:cNvPr id="3" name="Content Placeholder 2"/>
          <p:cNvSpPr>
            <a:spLocks noGrp="1"/>
          </p:cNvSpPr>
          <p:nvPr>
            <p:ph idx="1"/>
          </p:nvPr>
        </p:nvSpPr>
        <p:spPr/>
        <p:txBody>
          <a:bodyPr/>
          <a:lstStyle/>
          <a:p>
            <a:pPr algn="just"/>
            <a:r>
              <a:rPr lang="en-US" dirty="0"/>
              <a:t>The border is drawn between the margin and the padding of a box.</a:t>
            </a:r>
          </a:p>
          <a:p>
            <a:pPr algn="just"/>
            <a:endParaRPr lang="en-US" b="1" dirty="0">
              <a:solidFill>
                <a:srgbClr val="FFFF00"/>
              </a:solidFill>
            </a:endParaRP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7</a:t>
            </a:fld>
            <a:endParaRPr lang="en-IN"/>
          </a:p>
        </p:txBody>
      </p:sp>
      <p:sp>
        <p:nvSpPr>
          <p:cNvPr id="6" name="Rectangle 5"/>
          <p:cNvSpPr/>
          <p:nvPr/>
        </p:nvSpPr>
        <p:spPr>
          <a:xfrm>
            <a:off x="4719726" y="3702827"/>
            <a:ext cx="2168348" cy="18417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rgbClr val="FFFF00"/>
                </a:solidFill>
              </a:rPr>
              <a:t>border-top</a:t>
            </a:r>
          </a:p>
          <a:p>
            <a:r>
              <a:rPr lang="en-IN" sz="2000" b="1" dirty="0">
                <a:solidFill>
                  <a:srgbClr val="FFFF00"/>
                </a:solidFill>
              </a:rPr>
              <a:t>border-right</a:t>
            </a:r>
          </a:p>
          <a:p>
            <a:r>
              <a:rPr lang="en-IN" sz="2000" b="1" dirty="0">
                <a:solidFill>
                  <a:srgbClr val="FFFF00"/>
                </a:solidFill>
              </a:rPr>
              <a:t>border-bottom</a:t>
            </a:r>
          </a:p>
          <a:p>
            <a:r>
              <a:rPr lang="en-IN" sz="2000" b="1" dirty="0">
                <a:solidFill>
                  <a:srgbClr val="FFFF00"/>
                </a:solidFill>
              </a:rPr>
              <a:t>border-left</a:t>
            </a:r>
          </a:p>
        </p:txBody>
      </p:sp>
      <p:sp>
        <p:nvSpPr>
          <p:cNvPr id="7" name="Rectangle 6"/>
          <p:cNvSpPr/>
          <p:nvPr/>
        </p:nvSpPr>
        <p:spPr>
          <a:xfrm>
            <a:off x="2110206" y="3789040"/>
            <a:ext cx="1872208" cy="16693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rgbClr val="FFFF00"/>
                </a:solidFill>
              </a:rPr>
              <a:t>border-width</a:t>
            </a:r>
          </a:p>
          <a:p>
            <a:r>
              <a:rPr lang="en-IN" sz="2000" b="1" dirty="0">
                <a:solidFill>
                  <a:srgbClr val="FFFF00"/>
                </a:solidFill>
              </a:rPr>
              <a:t>border-style</a:t>
            </a:r>
          </a:p>
          <a:p>
            <a:r>
              <a:rPr lang="en-IN" sz="2000" b="1" dirty="0">
                <a:solidFill>
                  <a:srgbClr val="FFFF00"/>
                </a:solidFill>
              </a:rPr>
              <a:t>border-</a:t>
            </a:r>
            <a:r>
              <a:rPr lang="en-IN" sz="2000" b="1" dirty="0" err="1">
                <a:solidFill>
                  <a:srgbClr val="FFFF00"/>
                </a:solidFill>
              </a:rPr>
              <a:t>color</a:t>
            </a:r>
            <a:endParaRPr lang="en-IN" sz="2000" b="1" dirty="0">
              <a:solidFill>
                <a:srgbClr val="FFFF00"/>
              </a:solidFill>
            </a:endParaRPr>
          </a:p>
        </p:txBody>
      </p:sp>
    </p:spTree>
    <p:extLst>
      <p:ext uri="{BB962C8B-B14F-4D97-AF65-F5344CB8AC3E}">
        <p14:creationId xmlns:p14="http://schemas.microsoft.com/office/powerpoint/2010/main" val="76358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Borders</a:t>
            </a:r>
            <a:endParaRPr lang="en-IN" b="1" dirty="0"/>
          </a:p>
        </p:txBody>
      </p:sp>
      <p:sp>
        <p:nvSpPr>
          <p:cNvPr id="3" name="Content Placeholder 2"/>
          <p:cNvSpPr>
            <a:spLocks noGrp="1"/>
          </p:cNvSpPr>
          <p:nvPr>
            <p:ph idx="1"/>
          </p:nvPr>
        </p:nvSpPr>
        <p:spPr/>
        <p:txBody>
          <a:bodyPr>
            <a:noAutofit/>
          </a:bodyPr>
          <a:lstStyle/>
          <a:p>
            <a:pPr marL="45720" indent="0">
              <a:buNone/>
            </a:pPr>
            <a:r>
              <a:rPr lang="en-IN" sz="1600" b="1" dirty="0">
                <a:solidFill>
                  <a:srgbClr val="FFFF00"/>
                </a:solidFill>
              </a:rPr>
              <a:t>border-top-width</a:t>
            </a:r>
          </a:p>
          <a:p>
            <a:pPr marL="45720" indent="0">
              <a:buNone/>
            </a:pPr>
            <a:r>
              <a:rPr lang="en-IN" sz="1600" b="1" dirty="0">
                <a:solidFill>
                  <a:srgbClr val="FFFF00"/>
                </a:solidFill>
              </a:rPr>
              <a:t>border-top-style</a:t>
            </a:r>
          </a:p>
          <a:p>
            <a:pPr marL="45720" indent="0">
              <a:buNone/>
            </a:pPr>
            <a:r>
              <a:rPr lang="en-IN" sz="1600" b="1" dirty="0">
                <a:solidFill>
                  <a:srgbClr val="FFFF00"/>
                </a:solidFill>
              </a:rPr>
              <a:t>border-top-</a:t>
            </a:r>
            <a:r>
              <a:rPr lang="en-IN" sz="1600" b="1" dirty="0" err="1">
                <a:solidFill>
                  <a:srgbClr val="FFFF00"/>
                </a:solidFill>
              </a:rPr>
              <a:t>color</a:t>
            </a:r>
            <a:endParaRPr lang="en-IN" sz="1600" b="1" dirty="0">
              <a:solidFill>
                <a:srgbClr val="FFFF00"/>
              </a:solidFill>
            </a:endParaRPr>
          </a:p>
          <a:p>
            <a:pPr marL="45720" indent="0">
              <a:buNone/>
            </a:pPr>
            <a:r>
              <a:rPr lang="en-IN" sz="1600" b="1" dirty="0">
                <a:solidFill>
                  <a:srgbClr val="FFFF00"/>
                </a:solidFill>
              </a:rPr>
              <a:t>border-right-width</a:t>
            </a:r>
          </a:p>
          <a:p>
            <a:pPr marL="45720" indent="0">
              <a:buNone/>
            </a:pPr>
            <a:r>
              <a:rPr lang="en-IN" sz="1600" b="1" dirty="0">
                <a:solidFill>
                  <a:srgbClr val="FFFF00"/>
                </a:solidFill>
              </a:rPr>
              <a:t>border-right-style</a:t>
            </a:r>
          </a:p>
          <a:p>
            <a:pPr marL="45720" indent="0">
              <a:buNone/>
            </a:pPr>
            <a:r>
              <a:rPr lang="en-IN" sz="1600" b="1" dirty="0">
                <a:solidFill>
                  <a:srgbClr val="FFFF00"/>
                </a:solidFill>
              </a:rPr>
              <a:t>border-right-</a:t>
            </a:r>
            <a:r>
              <a:rPr lang="en-IN" sz="1600" b="1" dirty="0" err="1">
                <a:solidFill>
                  <a:srgbClr val="FFFF00"/>
                </a:solidFill>
              </a:rPr>
              <a:t>color</a:t>
            </a:r>
            <a:endParaRPr lang="en-IN" sz="1600" b="1" dirty="0">
              <a:solidFill>
                <a:srgbClr val="FFFF00"/>
              </a:solidFill>
            </a:endParaRPr>
          </a:p>
          <a:p>
            <a:pPr marL="45720" indent="0">
              <a:buNone/>
            </a:pPr>
            <a:r>
              <a:rPr lang="en-IN" sz="1600" b="1" dirty="0">
                <a:solidFill>
                  <a:srgbClr val="FFFF00"/>
                </a:solidFill>
              </a:rPr>
              <a:t>border-bottom-width</a:t>
            </a:r>
          </a:p>
          <a:p>
            <a:pPr marL="45720" indent="0">
              <a:buNone/>
            </a:pPr>
            <a:r>
              <a:rPr lang="en-IN" sz="1600" b="1" dirty="0">
                <a:solidFill>
                  <a:srgbClr val="FFFF00"/>
                </a:solidFill>
              </a:rPr>
              <a:t>border-bottom-style</a:t>
            </a:r>
          </a:p>
          <a:p>
            <a:pPr marL="45720" indent="0">
              <a:buNone/>
            </a:pPr>
            <a:r>
              <a:rPr lang="en-IN" sz="1600" b="1" dirty="0">
                <a:solidFill>
                  <a:srgbClr val="FFFF00"/>
                </a:solidFill>
              </a:rPr>
              <a:t>border-bottom-</a:t>
            </a:r>
            <a:r>
              <a:rPr lang="en-IN" sz="1600" b="1" dirty="0" err="1">
                <a:solidFill>
                  <a:srgbClr val="FFFF00"/>
                </a:solidFill>
              </a:rPr>
              <a:t>color</a:t>
            </a:r>
            <a:endParaRPr lang="en-IN" sz="1600" b="1" dirty="0">
              <a:solidFill>
                <a:srgbClr val="FFFF00"/>
              </a:solidFill>
            </a:endParaRPr>
          </a:p>
          <a:p>
            <a:pPr marL="45720" indent="0">
              <a:buNone/>
            </a:pPr>
            <a:r>
              <a:rPr lang="en-IN" sz="1600" b="1" dirty="0">
                <a:solidFill>
                  <a:srgbClr val="FFFF00"/>
                </a:solidFill>
              </a:rPr>
              <a:t>border-left-width</a:t>
            </a:r>
          </a:p>
          <a:p>
            <a:pPr marL="45720" indent="0">
              <a:buNone/>
            </a:pPr>
            <a:r>
              <a:rPr lang="en-IN" sz="1600" b="1" dirty="0">
                <a:solidFill>
                  <a:srgbClr val="FFFF00"/>
                </a:solidFill>
              </a:rPr>
              <a:t>border-left-style</a:t>
            </a:r>
          </a:p>
          <a:p>
            <a:pPr marL="45720" indent="0">
              <a:buNone/>
            </a:pPr>
            <a:r>
              <a:rPr lang="en-IN" sz="1600" b="1" dirty="0">
                <a:solidFill>
                  <a:srgbClr val="FFFF00"/>
                </a:solidFill>
              </a:rPr>
              <a:t>border-left-</a:t>
            </a:r>
            <a:r>
              <a:rPr lang="en-IN" sz="1600" b="1" dirty="0" err="1">
                <a:solidFill>
                  <a:srgbClr val="FFFF00"/>
                </a:solidFill>
              </a:rPr>
              <a:t>color</a:t>
            </a:r>
            <a:endParaRPr lang="en-IN" sz="1600" b="1" dirty="0">
              <a:solidFill>
                <a:srgbClr val="FFFF00"/>
              </a:solidFill>
            </a:endParaRP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8</a:t>
            </a:fld>
            <a:endParaRPr lang="en-IN"/>
          </a:p>
        </p:txBody>
      </p:sp>
    </p:spTree>
    <p:extLst>
      <p:ext uri="{BB962C8B-B14F-4D97-AF65-F5344CB8AC3E}">
        <p14:creationId xmlns:p14="http://schemas.microsoft.com/office/powerpoint/2010/main" val="102007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1000"/>
                                        <p:tgtEl>
                                          <p:spTgt spid="3">
                                            <p:txEl>
                                              <p:pRg st="9" end="9"/>
                                            </p:txEl>
                                          </p:spTgt>
                                        </p:tgtEl>
                                      </p:cBhvr>
                                    </p:animEffect>
                                    <p:anim calcmode="lin" valueType="num">
                                      <p:cBhvr>
                                        <p:cTn id="5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1000"/>
                                        <p:tgtEl>
                                          <p:spTgt spid="3">
                                            <p:txEl>
                                              <p:pRg st="10" end="10"/>
                                            </p:txEl>
                                          </p:spTgt>
                                        </p:tgtEl>
                                      </p:cBhvr>
                                    </p:animEffect>
                                    <p:anim calcmode="lin" valueType="num">
                                      <p:cBhvr>
                                        <p:cTn id="5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1000"/>
                                        <p:tgtEl>
                                          <p:spTgt spid="3">
                                            <p:txEl>
                                              <p:pRg st="11" end="11"/>
                                            </p:txEl>
                                          </p:spTgt>
                                        </p:tgtEl>
                                      </p:cBhvr>
                                    </p:animEffect>
                                    <p:anim calcmode="lin" valueType="num">
                                      <p:cBhvr>
                                        <p:cTn id="6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Padding</a:t>
            </a:r>
            <a:endParaRPr lang="en-IN" b="1" dirty="0"/>
          </a:p>
        </p:txBody>
      </p:sp>
      <p:sp>
        <p:nvSpPr>
          <p:cNvPr id="3" name="Content Placeholder 2"/>
          <p:cNvSpPr>
            <a:spLocks noGrp="1"/>
          </p:cNvSpPr>
          <p:nvPr>
            <p:ph idx="1"/>
          </p:nvPr>
        </p:nvSpPr>
        <p:spPr/>
        <p:txBody>
          <a:bodyPr/>
          <a:lstStyle/>
          <a:p>
            <a:pPr algn="just"/>
            <a:r>
              <a:rPr lang="en-US" dirty="0"/>
              <a:t>The padding sits between the border and the content area and is used to push the content away from the border. </a:t>
            </a:r>
          </a:p>
          <a:p>
            <a:pPr algn="just"/>
            <a:r>
              <a:rPr lang="en-US" dirty="0"/>
              <a:t>Unlike margins, you cannot have a negative padding. </a:t>
            </a:r>
          </a:p>
          <a:p>
            <a:pPr algn="just"/>
            <a:r>
              <a:rPr lang="en-US" dirty="0"/>
              <a:t>Any background applied to your element will display behind the padding.</a:t>
            </a:r>
          </a:p>
          <a:p>
            <a:pPr marL="45720" indent="0" algn="just">
              <a:buNone/>
            </a:pPr>
            <a:r>
              <a:rPr lang="en-US" b="1" dirty="0">
                <a:solidFill>
                  <a:srgbClr val="FFFF00"/>
                </a:solidFill>
              </a:rPr>
              <a:t>padding-top</a:t>
            </a:r>
          </a:p>
          <a:p>
            <a:pPr marL="45720" indent="0" algn="just">
              <a:buNone/>
            </a:pPr>
            <a:r>
              <a:rPr lang="en-US" b="1" dirty="0">
                <a:solidFill>
                  <a:srgbClr val="FFFF00"/>
                </a:solidFill>
              </a:rPr>
              <a:t>padding-right</a:t>
            </a:r>
          </a:p>
          <a:p>
            <a:pPr marL="45720" indent="0" algn="just">
              <a:buNone/>
            </a:pPr>
            <a:r>
              <a:rPr lang="en-US" b="1" dirty="0">
                <a:solidFill>
                  <a:srgbClr val="FFFF00"/>
                </a:solidFill>
              </a:rPr>
              <a:t>padding-bottom</a:t>
            </a:r>
          </a:p>
          <a:p>
            <a:pPr marL="45720" indent="0" algn="just">
              <a:buNone/>
            </a:pPr>
            <a:r>
              <a:rPr lang="en-US" b="1" dirty="0">
                <a:solidFill>
                  <a:srgbClr val="FFFF00"/>
                </a:solidFill>
              </a:rPr>
              <a:t>padding-left</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9</a:t>
            </a:fld>
            <a:endParaRPr lang="en-IN"/>
          </a:p>
        </p:txBody>
      </p:sp>
    </p:spTree>
    <p:extLst>
      <p:ext uri="{BB962C8B-B14F-4D97-AF65-F5344CB8AC3E}">
        <p14:creationId xmlns:p14="http://schemas.microsoft.com/office/powerpoint/2010/main" val="80000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1000"/>
                                        <p:tgtEl>
                                          <p:spTgt spid="3">
                                            <p:txEl>
                                              <p:pRg st="3" end="3"/>
                                            </p:txEl>
                                          </p:spTgt>
                                        </p:tgtEl>
                                      </p:cBhvr>
                                    </p:animEffect>
                                    <p:anim calcmode="lin" valueType="num">
                                      <p:cBhvr>
                                        <p:cTn id="4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3" end="3"/>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4" end="4"/>
                                            </p:txEl>
                                          </p:spTgt>
                                        </p:tgtEl>
                                        <p:attrNameLst>
                                          <p:attrName>style.visibility</p:attrName>
                                        </p:attrNameLst>
                                      </p:cBhvr>
                                      <p:to>
                                        <p:strVal val="visible"/>
                                      </p:to>
                                    </p:set>
                                    <p:animEffect transition="in" filter="fade">
                                      <p:cBhvr>
                                        <p:cTn id="48" dur="1000"/>
                                        <p:tgtEl>
                                          <p:spTgt spid="3">
                                            <p:txEl>
                                              <p:pRg st="4" end="4"/>
                                            </p:txEl>
                                          </p:spTgt>
                                        </p:tgtEl>
                                      </p:cBhvr>
                                    </p:animEffect>
                                    <p:anim calcmode="lin" valueType="num">
                                      <p:cBhvr>
                                        <p:cTn id="4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4" end="4"/>
                                            </p:tx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Effect transition="in" filter="fade">
                                      <p:cBhvr>
                                        <p:cTn id="53" dur="1000"/>
                                        <p:tgtEl>
                                          <p:spTgt spid="3">
                                            <p:txEl>
                                              <p:pRg st="5" end="5"/>
                                            </p:txEl>
                                          </p:spTgt>
                                        </p:tgtEl>
                                      </p:cBhvr>
                                    </p:animEffect>
                                    <p:anim calcmode="lin" valueType="num">
                                      <p:cBhvr>
                                        <p:cTn id="5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5" end="5"/>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
                                            <p:txEl>
                                              <p:pRg st="6" end="6"/>
                                            </p:txEl>
                                          </p:spTgt>
                                        </p:tgtEl>
                                        <p:attrNameLst>
                                          <p:attrName>style.visibility</p:attrName>
                                        </p:attrNameLst>
                                      </p:cBhvr>
                                      <p:to>
                                        <p:strVal val="visible"/>
                                      </p:to>
                                    </p:set>
                                    <p:animEffect transition="in" filter="fade">
                                      <p:cBhvr>
                                        <p:cTn id="58" dur="1000"/>
                                        <p:tgtEl>
                                          <p:spTgt spid="3">
                                            <p:txEl>
                                              <p:pRg st="6" end="6"/>
                                            </p:txEl>
                                          </p:spTgt>
                                        </p:tgtEl>
                                      </p:cBhvr>
                                    </p:animEffect>
                                    <p:anim calcmode="lin" valueType="num">
                                      <p:cBhvr>
                                        <p:cTn id="5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Physical and logical style elements in HTML</a:t>
            </a:r>
          </a:p>
        </p:txBody>
      </p:sp>
      <p:sp>
        <p:nvSpPr>
          <p:cNvPr id="3" name="Content Placeholder 2"/>
          <p:cNvSpPr>
            <a:spLocks noGrp="1"/>
          </p:cNvSpPr>
          <p:nvPr>
            <p:ph idx="1"/>
          </p:nvPr>
        </p:nvSpPr>
        <p:spPr/>
        <p:txBody>
          <a:bodyPr/>
          <a:lstStyle/>
          <a:p>
            <a:pPr marL="45720" indent="0" algn="just">
              <a:buNone/>
            </a:pPr>
            <a:r>
              <a:rPr lang="en-US" b="1" u="sng" dirty="0"/>
              <a:t>Physical style elements:</a:t>
            </a:r>
          </a:p>
          <a:p>
            <a:pPr algn="just"/>
            <a:r>
              <a:rPr lang="en-US" dirty="0"/>
              <a:t>These are the elements that are primarily used for defining the appearance and presentation of content. </a:t>
            </a:r>
          </a:p>
          <a:p>
            <a:pPr algn="just"/>
            <a:r>
              <a:rPr lang="en-US" dirty="0"/>
              <a:t>They are traditionally used for styling and layout purposes.</a:t>
            </a:r>
          </a:p>
          <a:p>
            <a:pPr algn="just"/>
            <a:r>
              <a:rPr lang="en-US" dirty="0"/>
              <a:t>These elements are often associated with visual formatting and are considered somewhat outdated in modern web development, as the recommended practice is to use CSS for styling.</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10</a:t>
            </a:fld>
            <a:endParaRPr lang="en-IN"/>
          </a:p>
        </p:txBody>
      </p:sp>
    </p:spTree>
    <p:extLst>
      <p:ext uri="{BB962C8B-B14F-4D97-AF65-F5344CB8AC3E}">
        <p14:creationId xmlns:p14="http://schemas.microsoft.com/office/powerpoint/2010/main" val="120723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Physical and logical style elements in HTML</a:t>
            </a:r>
          </a:p>
        </p:txBody>
      </p:sp>
      <p:sp>
        <p:nvSpPr>
          <p:cNvPr id="3" name="Content Placeholder 2"/>
          <p:cNvSpPr>
            <a:spLocks noGrp="1"/>
          </p:cNvSpPr>
          <p:nvPr>
            <p:ph idx="1"/>
          </p:nvPr>
        </p:nvSpPr>
        <p:spPr/>
        <p:txBody>
          <a:bodyPr>
            <a:normAutofit lnSpcReduction="10000"/>
          </a:bodyPr>
          <a:lstStyle/>
          <a:p>
            <a:pPr algn="just"/>
            <a:r>
              <a:rPr lang="en-US" dirty="0"/>
              <a:t>Examples of physical style elements:</a:t>
            </a:r>
          </a:p>
          <a:p>
            <a:pPr lvl="1" algn="just"/>
            <a:r>
              <a:rPr lang="en-US" sz="2000" b="1" dirty="0">
                <a:solidFill>
                  <a:srgbClr val="FFFF00"/>
                </a:solidFill>
              </a:rPr>
              <a:t>&lt;b&gt;: </a:t>
            </a:r>
            <a:r>
              <a:rPr lang="en-US" sz="2000" dirty="0"/>
              <a:t>Represents bold text. It is used to make text visually bold.</a:t>
            </a:r>
          </a:p>
          <a:p>
            <a:pPr lvl="1" algn="just"/>
            <a:r>
              <a:rPr lang="en-US" sz="2000" b="1" dirty="0">
                <a:solidFill>
                  <a:srgbClr val="FFFF00"/>
                </a:solidFill>
              </a:rPr>
              <a:t>&lt;i&gt;: </a:t>
            </a:r>
            <a:r>
              <a:rPr lang="en-US" sz="2000" dirty="0"/>
              <a:t>Represents italicized text. It is used to make text appear in italics.</a:t>
            </a:r>
          </a:p>
          <a:p>
            <a:pPr lvl="1" algn="just"/>
            <a:r>
              <a:rPr lang="en-US" sz="2000" b="1" dirty="0">
                <a:solidFill>
                  <a:srgbClr val="FFFF00"/>
                </a:solidFill>
              </a:rPr>
              <a:t>&lt;u&gt;: </a:t>
            </a:r>
            <a:r>
              <a:rPr lang="en-US" sz="2000" dirty="0"/>
              <a:t>Represents underlined text. It is used to underline text.</a:t>
            </a:r>
          </a:p>
          <a:p>
            <a:pPr lvl="1" algn="just"/>
            <a:r>
              <a:rPr lang="en-US" sz="2000" b="1" dirty="0">
                <a:solidFill>
                  <a:srgbClr val="FFFF00"/>
                </a:solidFill>
              </a:rPr>
              <a:t>&lt;strike&gt;: </a:t>
            </a:r>
            <a:r>
              <a:rPr lang="en-US" sz="2000" dirty="0"/>
              <a:t>Represents strikethrough text. It is used to put a line through the text.</a:t>
            </a:r>
          </a:p>
          <a:p>
            <a:pPr lvl="1" algn="just"/>
            <a:r>
              <a:rPr lang="en-US" sz="2000" b="1" dirty="0">
                <a:solidFill>
                  <a:srgbClr val="FFFF00"/>
                </a:solidFill>
              </a:rPr>
              <a:t>&lt;font&gt;: </a:t>
            </a:r>
            <a:r>
              <a:rPr lang="en-US" sz="2000" dirty="0"/>
              <a:t>Used for specifying font attributes like size, color, and face.</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11</a:t>
            </a:fld>
            <a:endParaRPr lang="en-IN"/>
          </a:p>
        </p:txBody>
      </p:sp>
    </p:spTree>
    <p:extLst>
      <p:ext uri="{BB962C8B-B14F-4D97-AF65-F5344CB8AC3E}">
        <p14:creationId xmlns:p14="http://schemas.microsoft.com/office/powerpoint/2010/main" val="65370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Physical and logical style elements in HTML</a:t>
            </a:r>
          </a:p>
        </p:txBody>
      </p:sp>
      <p:sp>
        <p:nvSpPr>
          <p:cNvPr id="3" name="Content Placeholder 2"/>
          <p:cNvSpPr>
            <a:spLocks noGrp="1"/>
          </p:cNvSpPr>
          <p:nvPr>
            <p:ph idx="1"/>
          </p:nvPr>
        </p:nvSpPr>
        <p:spPr/>
        <p:txBody>
          <a:bodyPr/>
          <a:lstStyle/>
          <a:p>
            <a:pPr marL="45720" indent="0" algn="just">
              <a:buNone/>
            </a:pPr>
            <a:r>
              <a:rPr lang="en-US" b="1" u="sng" dirty="0"/>
              <a:t>Logical style elements:</a:t>
            </a:r>
          </a:p>
          <a:p>
            <a:pPr algn="just"/>
            <a:r>
              <a:rPr lang="en-US" dirty="0"/>
              <a:t>Logical style elements, also known as semantic elements, are HTML elements that convey the meaning and structure of content rather than its presentation. </a:t>
            </a:r>
          </a:p>
          <a:p>
            <a:pPr algn="just"/>
            <a:r>
              <a:rPr lang="en-US" dirty="0"/>
              <a:t>These elements are designed to describe the purpose or function of the content they enclose, making it easier for both humans and search engines to understand the document's structure and content.</a:t>
            </a:r>
          </a:p>
          <a:p>
            <a:pPr marL="45720" indent="0" algn="just">
              <a:buNone/>
            </a:pPr>
            <a:endParaRPr lang="en-US" b="1" u="sng" dirty="0"/>
          </a:p>
          <a:p>
            <a:pPr marL="45720" indent="0" algn="just">
              <a:buNone/>
            </a:pPr>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12</a:t>
            </a:fld>
            <a:endParaRPr lang="en-IN"/>
          </a:p>
        </p:txBody>
      </p:sp>
    </p:spTree>
    <p:extLst>
      <p:ext uri="{BB962C8B-B14F-4D97-AF65-F5344CB8AC3E}">
        <p14:creationId xmlns:p14="http://schemas.microsoft.com/office/powerpoint/2010/main" val="51385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Physical and logical style elements in HTML</a:t>
            </a:r>
          </a:p>
        </p:txBody>
      </p:sp>
      <p:sp>
        <p:nvSpPr>
          <p:cNvPr id="3" name="Content Placeholder 2"/>
          <p:cNvSpPr>
            <a:spLocks noGrp="1"/>
          </p:cNvSpPr>
          <p:nvPr>
            <p:ph idx="1"/>
          </p:nvPr>
        </p:nvSpPr>
        <p:spPr/>
        <p:txBody>
          <a:bodyPr>
            <a:normAutofit lnSpcReduction="10000"/>
          </a:bodyPr>
          <a:lstStyle/>
          <a:p>
            <a:pPr algn="just"/>
            <a:r>
              <a:rPr lang="en-US" dirty="0"/>
              <a:t>Examples of logical style elements:</a:t>
            </a:r>
          </a:p>
          <a:p>
            <a:pPr lvl="1" algn="just"/>
            <a:r>
              <a:rPr lang="en-US" sz="2000" b="1" dirty="0">
                <a:solidFill>
                  <a:srgbClr val="FFFF00"/>
                </a:solidFill>
              </a:rPr>
              <a:t>&lt;</a:t>
            </a:r>
            <a:r>
              <a:rPr lang="en-US" sz="2000" b="1" dirty="0" err="1">
                <a:solidFill>
                  <a:srgbClr val="FFFF00"/>
                </a:solidFill>
              </a:rPr>
              <a:t>abbr</a:t>
            </a:r>
            <a:r>
              <a:rPr lang="en-US" sz="2000" b="1" dirty="0">
                <a:solidFill>
                  <a:srgbClr val="FFFF00"/>
                </a:solidFill>
              </a:rPr>
              <a:t>&gt;: </a:t>
            </a:r>
            <a:r>
              <a:rPr lang="en-US" sz="2000" dirty="0"/>
              <a:t>Defines an abbreviation</a:t>
            </a:r>
          </a:p>
          <a:p>
            <a:pPr lvl="1" algn="just"/>
            <a:r>
              <a:rPr lang="en-US" sz="2000" b="1" dirty="0">
                <a:solidFill>
                  <a:srgbClr val="FFFF00"/>
                </a:solidFill>
              </a:rPr>
              <a:t>&lt;acronym</a:t>
            </a:r>
            <a:r>
              <a:rPr lang="en-US" sz="2000" dirty="0"/>
              <a:t>&gt;: Defines an acronym</a:t>
            </a:r>
          </a:p>
          <a:p>
            <a:pPr lvl="1" algn="just"/>
            <a:r>
              <a:rPr lang="en-US" sz="2000" b="1" dirty="0">
                <a:solidFill>
                  <a:srgbClr val="FFFF00"/>
                </a:solidFill>
              </a:rPr>
              <a:t>&lt;address&gt;: </a:t>
            </a:r>
            <a:r>
              <a:rPr lang="en-US" sz="2000" dirty="0"/>
              <a:t>Defines an address element</a:t>
            </a:r>
          </a:p>
          <a:p>
            <a:pPr lvl="1" algn="just"/>
            <a:r>
              <a:rPr lang="en-US" sz="2000" b="1" dirty="0">
                <a:solidFill>
                  <a:srgbClr val="FFFF00"/>
                </a:solidFill>
              </a:rPr>
              <a:t>&lt;cite&gt;: </a:t>
            </a:r>
            <a:r>
              <a:rPr lang="en-US" sz="2000" dirty="0"/>
              <a:t>Defines citation</a:t>
            </a:r>
          </a:p>
          <a:p>
            <a:pPr lvl="1" algn="just"/>
            <a:r>
              <a:rPr lang="en-US" sz="2000" b="1" dirty="0">
                <a:solidFill>
                  <a:srgbClr val="FFFF00"/>
                </a:solidFill>
              </a:rPr>
              <a:t>&lt;code&gt;: </a:t>
            </a:r>
            <a:r>
              <a:rPr lang="en-US" sz="2000" dirty="0"/>
              <a:t>Defines computer code text</a:t>
            </a:r>
          </a:p>
          <a:p>
            <a:pPr lvl="1" algn="just"/>
            <a:r>
              <a:rPr lang="en-US" sz="2000" b="1" dirty="0">
                <a:solidFill>
                  <a:srgbClr val="FFFF00"/>
                </a:solidFill>
              </a:rPr>
              <a:t>&lt;</a:t>
            </a:r>
            <a:r>
              <a:rPr lang="en-US" sz="2000" b="1" dirty="0" err="1">
                <a:solidFill>
                  <a:srgbClr val="FFFF00"/>
                </a:solidFill>
              </a:rPr>
              <a:t>blockquote</a:t>
            </a:r>
            <a:r>
              <a:rPr lang="en-US" sz="2000" b="1" dirty="0">
                <a:solidFill>
                  <a:srgbClr val="FFFF00"/>
                </a:solidFill>
              </a:rPr>
              <a:t>&gt;: </a:t>
            </a:r>
            <a:r>
              <a:rPr lang="en-US" sz="2000" dirty="0"/>
              <a:t>Defines a long quotation</a:t>
            </a:r>
          </a:p>
          <a:p>
            <a:pPr lvl="1" algn="just"/>
            <a:r>
              <a:rPr lang="en-US" sz="2000" b="1" dirty="0">
                <a:solidFill>
                  <a:srgbClr val="FFFF00"/>
                </a:solidFill>
              </a:rPr>
              <a:t>&lt;del&gt;: </a:t>
            </a:r>
            <a:r>
              <a:rPr lang="en-US" sz="2000"/>
              <a:t>Defines deleted text</a:t>
            </a:r>
            <a:endParaRPr lang="en-US" sz="2000" dirty="0"/>
          </a:p>
          <a:p>
            <a:pPr lvl="1" algn="just"/>
            <a:r>
              <a:rPr lang="en-US" sz="2000" b="1" dirty="0">
                <a:solidFill>
                  <a:srgbClr val="FFFF00"/>
                </a:solidFill>
              </a:rPr>
              <a:t>&lt;</a:t>
            </a:r>
            <a:r>
              <a:rPr lang="en-US" sz="2000" b="1" dirty="0" err="1">
                <a:solidFill>
                  <a:srgbClr val="FFFF00"/>
                </a:solidFill>
              </a:rPr>
              <a:t>dfn</a:t>
            </a:r>
            <a:r>
              <a:rPr lang="en-US" sz="2000" b="1" dirty="0">
                <a:solidFill>
                  <a:srgbClr val="FFFF00"/>
                </a:solidFill>
              </a:rPr>
              <a:t>&gt;: </a:t>
            </a:r>
            <a:r>
              <a:rPr lang="en-US" sz="2000" dirty="0"/>
              <a:t>Defines a definition term</a:t>
            </a:r>
          </a:p>
          <a:p>
            <a:pPr lvl="1" algn="just"/>
            <a:r>
              <a:rPr lang="en-US" sz="2000" b="1" dirty="0">
                <a:solidFill>
                  <a:srgbClr val="FFFF00"/>
                </a:solidFill>
              </a:rPr>
              <a:t>&lt;ins&gt;: </a:t>
            </a:r>
            <a:r>
              <a:rPr lang="en-US" sz="2000" dirty="0"/>
              <a:t>Defines inserted text</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13</a:t>
            </a:fld>
            <a:endParaRPr lang="en-IN"/>
          </a:p>
        </p:txBody>
      </p:sp>
    </p:spTree>
    <p:extLst>
      <p:ext uri="{BB962C8B-B14F-4D97-AF65-F5344CB8AC3E}">
        <p14:creationId xmlns:p14="http://schemas.microsoft.com/office/powerpoint/2010/main" val="138096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Physical and logical style elements in HTML</a:t>
            </a:r>
          </a:p>
        </p:txBody>
      </p:sp>
      <p:sp>
        <p:nvSpPr>
          <p:cNvPr id="3" name="Content Placeholder 2"/>
          <p:cNvSpPr>
            <a:spLocks noGrp="1"/>
          </p:cNvSpPr>
          <p:nvPr>
            <p:ph idx="1"/>
          </p:nvPr>
        </p:nvSpPr>
        <p:spPr/>
        <p:txBody>
          <a:bodyPr>
            <a:normAutofit/>
          </a:bodyPr>
          <a:lstStyle/>
          <a:p>
            <a:pPr algn="just"/>
            <a:r>
              <a:rPr lang="en-US" dirty="0"/>
              <a:t>Examples of logical style elements:</a:t>
            </a:r>
          </a:p>
          <a:p>
            <a:pPr lvl="1" algn="just"/>
            <a:r>
              <a:rPr lang="en-US" sz="2000" b="1" dirty="0">
                <a:solidFill>
                  <a:srgbClr val="FFFF00"/>
                </a:solidFill>
              </a:rPr>
              <a:t>&lt;</a:t>
            </a:r>
            <a:r>
              <a:rPr lang="en-US" sz="2000" b="1" dirty="0" err="1">
                <a:solidFill>
                  <a:srgbClr val="FFFF00"/>
                </a:solidFill>
              </a:rPr>
              <a:t>kbd</a:t>
            </a:r>
            <a:r>
              <a:rPr lang="en-US" sz="2000" dirty="0"/>
              <a:t>&gt;: Defines keyboard text</a:t>
            </a:r>
          </a:p>
          <a:p>
            <a:pPr lvl="1" algn="just"/>
            <a:r>
              <a:rPr lang="en-US" sz="2000" b="1" dirty="0">
                <a:solidFill>
                  <a:srgbClr val="FFFF00"/>
                </a:solidFill>
              </a:rPr>
              <a:t>&lt;pre&gt;: </a:t>
            </a:r>
            <a:r>
              <a:rPr lang="en-US" sz="2000" dirty="0"/>
              <a:t>Defines preformatted text</a:t>
            </a:r>
          </a:p>
          <a:p>
            <a:pPr lvl="1" algn="just"/>
            <a:r>
              <a:rPr lang="en-US" sz="2000" b="1" dirty="0">
                <a:solidFill>
                  <a:srgbClr val="FFFF00"/>
                </a:solidFill>
              </a:rPr>
              <a:t>&lt;q&gt;: </a:t>
            </a:r>
            <a:r>
              <a:rPr lang="en-US" sz="2000" dirty="0"/>
              <a:t>Defines short quotation</a:t>
            </a:r>
          </a:p>
          <a:p>
            <a:pPr lvl="1" algn="just"/>
            <a:r>
              <a:rPr lang="en-US" sz="2000" b="1" dirty="0">
                <a:solidFill>
                  <a:srgbClr val="FFFF00"/>
                </a:solidFill>
              </a:rPr>
              <a:t>&lt;</a:t>
            </a:r>
            <a:r>
              <a:rPr lang="en-US" sz="2000" b="1" dirty="0" err="1">
                <a:solidFill>
                  <a:srgbClr val="FFFF00"/>
                </a:solidFill>
              </a:rPr>
              <a:t>samp</a:t>
            </a:r>
            <a:r>
              <a:rPr lang="en-US" sz="2000" b="1" dirty="0">
                <a:solidFill>
                  <a:srgbClr val="FFFF00"/>
                </a:solidFill>
              </a:rPr>
              <a:t>&gt;: </a:t>
            </a:r>
            <a:r>
              <a:rPr lang="en-US" sz="2000" dirty="0"/>
              <a:t>Defines sample computer code</a:t>
            </a:r>
          </a:p>
          <a:p>
            <a:pPr lvl="1" algn="just"/>
            <a:r>
              <a:rPr lang="en-US" sz="2000" b="1" dirty="0">
                <a:solidFill>
                  <a:srgbClr val="FFFF00"/>
                </a:solidFill>
              </a:rPr>
              <a:t>&lt;strong&gt;: </a:t>
            </a:r>
            <a:r>
              <a:rPr lang="en-US" sz="2000" dirty="0"/>
              <a:t>Defines strong text</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14</a:t>
            </a:fld>
            <a:endParaRPr lang="en-IN"/>
          </a:p>
        </p:txBody>
      </p:sp>
    </p:spTree>
    <p:extLst>
      <p:ext uri="{BB962C8B-B14F-4D97-AF65-F5344CB8AC3E}">
        <p14:creationId xmlns:p14="http://schemas.microsoft.com/office/powerpoint/2010/main" val="2875076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Text Formatting</a:t>
            </a:r>
            <a:endParaRPr lang="en-IN" b="1" dirty="0"/>
          </a:p>
        </p:txBody>
      </p:sp>
      <p:sp>
        <p:nvSpPr>
          <p:cNvPr id="3" name="Content Placeholder 2"/>
          <p:cNvSpPr>
            <a:spLocks noGrp="1"/>
          </p:cNvSpPr>
          <p:nvPr>
            <p:ph idx="1"/>
          </p:nvPr>
        </p:nvSpPr>
        <p:spPr/>
        <p:txBody>
          <a:bodyPr/>
          <a:lstStyle/>
          <a:p>
            <a:pPr algn="just"/>
            <a:r>
              <a:rPr lang="en-US" dirty="0"/>
              <a:t>CSS (Cascading Style Sheets) provides a variety of text formatting properties that allow you to control the appearance and styling of text within HTML elements. </a:t>
            </a:r>
          </a:p>
          <a:p>
            <a:pPr algn="just"/>
            <a:r>
              <a:rPr lang="en-US" dirty="0"/>
              <a:t>These properties help you customize the font, size, color, alignment, decoration, and other aspects of text in your web pages. </a:t>
            </a: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15</a:t>
            </a:fld>
            <a:endParaRPr lang="en-IN"/>
          </a:p>
        </p:txBody>
      </p:sp>
    </p:spTree>
    <p:extLst>
      <p:ext uri="{BB962C8B-B14F-4D97-AF65-F5344CB8AC3E}">
        <p14:creationId xmlns:p14="http://schemas.microsoft.com/office/powerpoint/2010/main" val="399463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Text Formatting</a:t>
            </a:r>
            <a:endParaRPr lang="en-IN" b="1" dirty="0"/>
          </a:p>
        </p:txBody>
      </p:sp>
      <p:sp>
        <p:nvSpPr>
          <p:cNvPr id="3" name="Content Placeholder 2"/>
          <p:cNvSpPr>
            <a:spLocks noGrp="1"/>
          </p:cNvSpPr>
          <p:nvPr>
            <p:ph idx="1"/>
          </p:nvPr>
        </p:nvSpPr>
        <p:spPr/>
        <p:txBody>
          <a:bodyPr>
            <a:normAutofit lnSpcReduction="10000"/>
          </a:bodyPr>
          <a:lstStyle/>
          <a:p>
            <a:pPr algn="just"/>
            <a:r>
              <a:rPr lang="en-US" b="1" dirty="0">
                <a:solidFill>
                  <a:srgbClr val="FFFF00"/>
                </a:solidFill>
              </a:rPr>
              <a:t>font-family - </a:t>
            </a:r>
            <a:r>
              <a:rPr lang="en-US" dirty="0"/>
              <a:t>Specifies the font family or typeface to be used for the text.</a:t>
            </a:r>
            <a:endParaRPr lang="en-US" b="1" dirty="0">
              <a:solidFill>
                <a:srgbClr val="FFFF00"/>
              </a:solidFill>
            </a:endParaRPr>
          </a:p>
          <a:p>
            <a:pPr algn="just"/>
            <a:r>
              <a:rPr lang="en-US" b="1" dirty="0">
                <a:solidFill>
                  <a:srgbClr val="FFFF00"/>
                </a:solidFill>
              </a:rPr>
              <a:t>font-size - </a:t>
            </a:r>
            <a:r>
              <a:rPr lang="en-US" dirty="0"/>
              <a:t>Sets the size of the text characters.</a:t>
            </a:r>
            <a:endParaRPr lang="en-US" b="1" dirty="0">
              <a:solidFill>
                <a:srgbClr val="FFFF00"/>
              </a:solidFill>
            </a:endParaRPr>
          </a:p>
          <a:p>
            <a:pPr algn="just"/>
            <a:r>
              <a:rPr lang="en-US" b="1" dirty="0">
                <a:solidFill>
                  <a:srgbClr val="FFFF00"/>
                </a:solidFill>
              </a:rPr>
              <a:t>font-weight - </a:t>
            </a:r>
            <a:r>
              <a:rPr lang="en-US" dirty="0"/>
              <a:t>Defines the thickness or boldness of the text.</a:t>
            </a:r>
            <a:endParaRPr lang="en-US" b="1" dirty="0">
              <a:solidFill>
                <a:srgbClr val="FFFF00"/>
              </a:solidFill>
            </a:endParaRPr>
          </a:p>
          <a:p>
            <a:pPr algn="just"/>
            <a:r>
              <a:rPr lang="en-US" b="1" dirty="0">
                <a:solidFill>
                  <a:srgbClr val="FFFF00"/>
                </a:solidFill>
              </a:rPr>
              <a:t>font-style - </a:t>
            </a:r>
            <a:r>
              <a:rPr lang="en-US" dirty="0"/>
              <a:t>Specifies the style of the font (e.g., italic).</a:t>
            </a:r>
            <a:endParaRPr lang="en-US" b="1" dirty="0">
              <a:solidFill>
                <a:srgbClr val="FFFF00"/>
              </a:solidFill>
            </a:endParaRPr>
          </a:p>
          <a:p>
            <a:pPr algn="just"/>
            <a:r>
              <a:rPr lang="en-US" b="1" dirty="0">
                <a:solidFill>
                  <a:srgbClr val="FFFF00"/>
                </a:solidFill>
              </a:rPr>
              <a:t>color - </a:t>
            </a:r>
            <a:r>
              <a:rPr lang="en-US" dirty="0"/>
              <a:t>Sets the color of the text.</a:t>
            </a:r>
            <a:endParaRPr lang="en-US" b="1" dirty="0">
              <a:solidFill>
                <a:srgbClr val="FFFF00"/>
              </a:solidFill>
            </a:endParaRPr>
          </a:p>
          <a:p>
            <a:pPr algn="just"/>
            <a:r>
              <a:rPr lang="en-US" b="1" dirty="0">
                <a:solidFill>
                  <a:srgbClr val="FFFF00"/>
                </a:solidFill>
              </a:rPr>
              <a:t>text-align - </a:t>
            </a:r>
            <a:r>
              <a:rPr lang="en-US" dirty="0"/>
              <a:t>Determines how text is horizontally aligned within its container (e.g., left, center, right, justify).</a:t>
            </a:r>
          </a:p>
          <a:p>
            <a:pPr algn="just"/>
            <a:r>
              <a:rPr lang="en-US" b="1" dirty="0">
                <a:solidFill>
                  <a:srgbClr val="FFFF00"/>
                </a:solidFill>
              </a:rPr>
              <a:t>text-align-last - </a:t>
            </a:r>
            <a:r>
              <a:rPr lang="en-US" dirty="0"/>
              <a:t>Specifies how to align the last line of a text.</a:t>
            </a:r>
          </a:p>
          <a:p>
            <a:pPr algn="just"/>
            <a:r>
              <a:rPr lang="en-US" b="1" dirty="0">
                <a:solidFill>
                  <a:srgbClr val="FFFF00"/>
                </a:solidFill>
              </a:rPr>
              <a:t>direction - </a:t>
            </a:r>
            <a:r>
              <a:rPr lang="en-US" dirty="0"/>
              <a:t>Changes the text direction of an element.</a:t>
            </a:r>
            <a:endParaRPr lang="en-US" b="1" dirty="0">
              <a:solidFill>
                <a:srgbClr val="FFFF00"/>
              </a:solidFill>
            </a:endParaRPr>
          </a:p>
          <a:p>
            <a:pPr algn="just"/>
            <a:endParaRPr lang="en-US" b="1" dirty="0">
              <a:solidFill>
                <a:srgbClr val="FFFF00"/>
              </a:solidFill>
            </a:endParaRP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16</a:t>
            </a:fld>
            <a:endParaRPr lang="en-IN"/>
          </a:p>
        </p:txBody>
      </p:sp>
    </p:spTree>
    <p:extLst>
      <p:ext uri="{BB962C8B-B14F-4D97-AF65-F5344CB8AC3E}">
        <p14:creationId xmlns:p14="http://schemas.microsoft.com/office/powerpoint/2010/main" val="129110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Text Formatting</a:t>
            </a:r>
            <a:endParaRPr lang="en-IN" b="1" dirty="0"/>
          </a:p>
        </p:txBody>
      </p:sp>
      <p:sp>
        <p:nvSpPr>
          <p:cNvPr id="3" name="Content Placeholder 2"/>
          <p:cNvSpPr>
            <a:spLocks noGrp="1"/>
          </p:cNvSpPr>
          <p:nvPr>
            <p:ph idx="1"/>
          </p:nvPr>
        </p:nvSpPr>
        <p:spPr/>
        <p:txBody>
          <a:bodyPr>
            <a:normAutofit lnSpcReduction="10000"/>
          </a:bodyPr>
          <a:lstStyle/>
          <a:p>
            <a:pPr algn="just"/>
            <a:r>
              <a:rPr lang="en-US" b="1" dirty="0">
                <a:solidFill>
                  <a:srgbClr val="FFFF00"/>
                </a:solidFill>
              </a:rPr>
              <a:t>text-decoration-color - </a:t>
            </a:r>
            <a:r>
              <a:rPr lang="en-US" dirty="0"/>
              <a:t>Specifies the color of the text decoration lines.</a:t>
            </a:r>
            <a:endParaRPr lang="en-US" b="1" dirty="0">
              <a:solidFill>
                <a:srgbClr val="FFFF00"/>
              </a:solidFill>
            </a:endParaRPr>
          </a:p>
          <a:p>
            <a:pPr algn="just"/>
            <a:r>
              <a:rPr lang="en-US" b="1" dirty="0">
                <a:solidFill>
                  <a:srgbClr val="FFFF00"/>
                </a:solidFill>
              </a:rPr>
              <a:t>text-decoration-line - </a:t>
            </a:r>
            <a:r>
              <a:rPr lang="en-US" dirty="0"/>
              <a:t>Sets the kind of decoration that is used on text in an element, such as an underline or </a:t>
            </a:r>
            <a:r>
              <a:rPr lang="en-US" dirty="0" err="1"/>
              <a:t>overline</a:t>
            </a:r>
            <a:r>
              <a:rPr lang="en-US" dirty="0"/>
              <a:t>.</a:t>
            </a:r>
          </a:p>
          <a:p>
            <a:pPr algn="just"/>
            <a:r>
              <a:rPr lang="en-US" b="1" dirty="0">
                <a:solidFill>
                  <a:srgbClr val="FFFF00"/>
                </a:solidFill>
              </a:rPr>
              <a:t>text-decoration-style - </a:t>
            </a:r>
            <a:r>
              <a:rPr lang="en-US" dirty="0"/>
              <a:t>Sets the style of the text decoration (like solid, wavy, dotted, dashed, double)</a:t>
            </a:r>
            <a:endParaRPr lang="en-US" b="1" dirty="0">
              <a:solidFill>
                <a:srgbClr val="FFFF00"/>
              </a:solidFill>
            </a:endParaRPr>
          </a:p>
          <a:p>
            <a:pPr algn="just"/>
            <a:r>
              <a:rPr lang="en-US" b="1" dirty="0">
                <a:solidFill>
                  <a:srgbClr val="FFFF00"/>
                </a:solidFill>
              </a:rPr>
              <a:t>text-decoration - </a:t>
            </a:r>
            <a:r>
              <a:rPr lang="en-US" dirty="0"/>
              <a:t>Sets the appearance of decorative lines on text. It is a shorthand for text-decoration-line , text-decoration-color , text-decoration-style</a:t>
            </a:r>
          </a:p>
          <a:p>
            <a:pPr algn="just"/>
            <a:r>
              <a:rPr lang="en-US" b="1" dirty="0">
                <a:solidFill>
                  <a:srgbClr val="FFFF00"/>
                </a:solidFill>
              </a:rPr>
              <a:t>text-indent - </a:t>
            </a:r>
            <a:r>
              <a:rPr lang="en-US" dirty="0"/>
              <a:t>Used to define the indentation of the first line in each block of text. It also take negative values.</a:t>
            </a:r>
            <a:endParaRPr lang="en-US" b="1" dirty="0">
              <a:solidFill>
                <a:srgbClr val="FFFF00"/>
              </a:solidFill>
            </a:endParaRPr>
          </a:p>
          <a:p>
            <a:pPr algn="just"/>
            <a:endParaRPr lang="en-US" dirty="0"/>
          </a:p>
          <a:p>
            <a:pPr algn="just"/>
            <a:endParaRPr lang="en-US" b="1" dirty="0">
              <a:solidFill>
                <a:srgbClr val="FFFF00"/>
              </a:solidFill>
            </a:endParaRP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17</a:t>
            </a:fld>
            <a:endParaRPr lang="en-IN"/>
          </a:p>
        </p:txBody>
      </p:sp>
    </p:spTree>
    <p:extLst>
      <p:ext uri="{BB962C8B-B14F-4D97-AF65-F5344CB8AC3E}">
        <p14:creationId xmlns:p14="http://schemas.microsoft.com/office/powerpoint/2010/main" val="197232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Text Formatting</a:t>
            </a:r>
            <a:endParaRPr lang="en-IN" b="1" dirty="0"/>
          </a:p>
        </p:txBody>
      </p:sp>
      <p:sp>
        <p:nvSpPr>
          <p:cNvPr id="3" name="Content Placeholder 2"/>
          <p:cNvSpPr>
            <a:spLocks noGrp="1"/>
          </p:cNvSpPr>
          <p:nvPr>
            <p:ph idx="1"/>
          </p:nvPr>
        </p:nvSpPr>
        <p:spPr/>
        <p:txBody>
          <a:bodyPr>
            <a:normAutofit/>
          </a:bodyPr>
          <a:lstStyle/>
          <a:p>
            <a:pPr algn="just"/>
            <a:r>
              <a:rPr lang="en-US" b="1" dirty="0">
                <a:solidFill>
                  <a:srgbClr val="FFFF00"/>
                </a:solidFill>
              </a:rPr>
              <a:t>word-spacing - </a:t>
            </a:r>
            <a:r>
              <a:rPr lang="en-US" dirty="0"/>
              <a:t>Adjusts the space between words in a block of text.</a:t>
            </a:r>
            <a:endParaRPr lang="en-US" b="1" dirty="0">
              <a:solidFill>
                <a:srgbClr val="FFFF00"/>
              </a:solidFill>
            </a:endParaRPr>
          </a:p>
          <a:p>
            <a:pPr algn="just"/>
            <a:r>
              <a:rPr lang="en-US" b="1" dirty="0">
                <a:solidFill>
                  <a:srgbClr val="FFFF00"/>
                </a:solidFill>
              </a:rPr>
              <a:t>line-height - </a:t>
            </a:r>
            <a:r>
              <a:rPr lang="en-US" dirty="0"/>
              <a:t>Sets the vertical space between lines of text. It can affect the readability and aesthetics of text.</a:t>
            </a:r>
            <a:endParaRPr lang="en-US" b="1" dirty="0">
              <a:solidFill>
                <a:srgbClr val="FFFF00"/>
              </a:solidFill>
            </a:endParaRPr>
          </a:p>
          <a:p>
            <a:pPr algn="just"/>
            <a:r>
              <a:rPr lang="en-US" b="1" dirty="0">
                <a:solidFill>
                  <a:srgbClr val="FFFF00"/>
                </a:solidFill>
              </a:rPr>
              <a:t>letter-spacing - </a:t>
            </a:r>
            <a:r>
              <a:rPr lang="en-US" dirty="0"/>
              <a:t>Controls the space between individual characters.</a:t>
            </a:r>
            <a:endParaRPr lang="en-US" b="1" dirty="0">
              <a:solidFill>
                <a:srgbClr val="FFFF00"/>
              </a:solidFill>
            </a:endParaRPr>
          </a:p>
          <a:p>
            <a:pPr algn="just"/>
            <a:r>
              <a:rPr lang="en-US" b="1" dirty="0">
                <a:solidFill>
                  <a:srgbClr val="FFFF00"/>
                </a:solidFill>
              </a:rPr>
              <a:t>text-shadow - </a:t>
            </a:r>
            <a:r>
              <a:rPr lang="en-US" dirty="0"/>
              <a:t>Adds a shadow effect to the text, providing depth and emphasis.</a:t>
            </a:r>
          </a:p>
          <a:p>
            <a:pPr algn="just"/>
            <a:r>
              <a:rPr lang="en-US" b="1" dirty="0">
                <a:solidFill>
                  <a:srgbClr val="FFFF00"/>
                </a:solidFill>
              </a:rPr>
              <a:t>text-transform - </a:t>
            </a:r>
            <a:r>
              <a:rPr lang="en-US" dirty="0"/>
              <a:t>Changes the capitalization of text (e.g., uppercase, lowercase, capitalize).</a:t>
            </a:r>
            <a:endParaRPr lang="en-US" b="1" dirty="0">
              <a:solidFill>
                <a:srgbClr val="FFFF00"/>
              </a:solidFill>
            </a:endParaRPr>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18</a:t>
            </a:fld>
            <a:endParaRPr lang="en-IN"/>
          </a:p>
        </p:txBody>
      </p:sp>
    </p:spTree>
    <p:extLst>
      <p:ext uri="{BB962C8B-B14F-4D97-AF65-F5344CB8AC3E}">
        <p14:creationId xmlns:p14="http://schemas.microsoft.com/office/powerpoint/2010/main" val="168634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References</a:t>
            </a:r>
          </a:p>
        </p:txBody>
      </p:sp>
      <p:sp>
        <p:nvSpPr>
          <p:cNvPr id="3" name="Content Placeholder 2"/>
          <p:cNvSpPr>
            <a:spLocks noGrp="1"/>
          </p:cNvSpPr>
          <p:nvPr>
            <p:ph idx="1"/>
          </p:nvPr>
        </p:nvSpPr>
        <p:spPr/>
        <p:txBody>
          <a:bodyPr>
            <a:normAutofit lnSpcReduction="10000"/>
          </a:bodyPr>
          <a:lstStyle/>
          <a:p>
            <a:pPr algn="just"/>
            <a:r>
              <a:rPr lang="en-US" dirty="0">
                <a:hlinkClick r:id="rId2"/>
              </a:rPr>
              <a:t>https://www.w3schools.com/css/css_boxmodel.asp</a:t>
            </a:r>
            <a:endParaRPr lang="en-US" dirty="0"/>
          </a:p>
          <a:p>
            <a:pPr algn="just"/>
            <a:r>
              <a:rPr lang="en-US" dirty="0">
                <a:hlinkClick r:id="rId3"/>
              </a:rPr>
              <a:t>https://www.w3schools.com/css/css_margin.asp</a:t>
            </a:r>
            <a:endParaRPr lang="en-US" dirty="0"/>
          </a:p>
          <a:p>
            <a:pPr algn="just"/>
            <a:r>
              <a:rPr lang="en-US" dirty="0">
                <a:hlinkClick r:id="rId4"/>
              </a:rPr>
              <a:t>https://www.w3schools.com/css/css_padding.asp</a:t>
            </a:r>
            <a:endParaRPr lang="en-US" dirty="0"/>
          </a:p>
          <a:p>
            <a:pPr algn="just"/>
            <a:r>
              <a:rPr lang="en-US" dirty="0">
                <a:hlinkClick r:id="rId5"/>
              </a:rPr>
              <a:t>https://www.w3schools.com/css/css_border.asp</a:t>
            </a:r>
            <a:endParaRPr lang="en-US" dirty="0"/>
          </a:p>
          <a:p>
            <a:pPr algn="just"/>
            <a:r>
              <a:rPr lang="en-US" dirty="0">
                <a:hlinkClick r:id="rId6"/>
              </a:rPr>
              <a:t>https://www.geeksforgeeks.org/physical-and-logical-tags-in-html/</a:t>
            </a:r>
            <a:endParaRPr lang="en-US" dirty="0"/>
          </a:p>
          <a:p>
            <a:pPr algn="just"/>
            <a:r>
              <a:rPr lang="en-US" dirty="0">
                <a:hlinkClick r:id="rId7"/>
              </a:rPr>
              <a:t>https://www.geeksforgeeks.org/difference-between-physical-and-logical-tags/</a:t>
            </a:r>
            <a:endParaRPr lang="en-US" dirty="0"/>
          </a:p>
          <a:p>
            <a:pPr algn="just"/>
            <a:r>
              <a:rPr lang="en-US" dirty="0">
                <a:hlinkClick r:id="rId8"/>
              </a:rPr>
              <a:t>https://www.w3schools.com/css/css_text_align.asp</a:t>
            </a:r>
            <a:endParaRPr lang="en-US" dirty="0"/>
          </a:p>
          <a:p>
            <a:pPr algn="just"/>
            <a:r>
              <a:rPr lang="en-US" dirty="0">
                <a:hlinkClick r:id="rId9"/>
              </a:rPr>
              <a:t>https://www.w3schools.com/css/css_text.asp</a:t>
            </a:r>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19</a:t>
            </a:fld>
            <a:endParaRPr lang="en-IN"/>
          </a:p>
        </p:txBody>
      </p:sp>
    </p:spTree>
    <p:extLst>
      <p:ext uri="{BB962C8B-B14F-4D97-AF65-F5344CB8AC3E}">
        <p14:creationId xmlns:p14="http://schemas.microsoft.com/office/powerpoint/2010/main" val="3439417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1000"/>
                                        <p:tgtEl>
                                          <p:spTgt spid="3">
                                            <p:txEl>
                                              <p:pRg st="3" end="3"/>
                                            </p:txEl>
                                          </p:spTgt>
                                        </p:tgtEl>
                                      </p:cBhvr>
                                    </p:animEffect>
                                    <p:anim calcmode="lin" valueType="num">
                                      <p:cBhvr>
                                        <p:cTn id="4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3" end="3"/>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fade">
                                      <p:cBhvr>
                                        <p:cTn id="45" dur="1000"/>
                                        <p:tgtEl>
                                          <p:spTgt spid="3">
                                            <p:txEl>
                                              <p:pRg st="4" end="4"/>
                                            </p:txEl>
                                          </p:spTgt>
                                        </p:tgtEl>
                                      </p:cBhvr>
                                    </p:animEffect>
                                    <p:anim calcmode="lin" valueType="num">
                                      <p:cBhvr>
                                        <p:cTn id="4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fade">
                                      <p:cBhvr>
                                        <p:cTn id="50" dur="1000"/>
                                        <p:tgtEl>
                                          <p:spTgt spid="3">
                                            <p:txEl>
                                              <p:pRg st="5" end="5"/>
                                            </p:txEl>
                                          </p:spTgt>
                                        </p:tgtEl>
                                      </p:cBhvr>
                                    </p:animEffect>
                                    <p:anim calcmode="lin" valueType="num">
                                      <p:cBhvr>
                                        <p:cTn id="5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3">
                                            <p:txEl>
                                              <p:pRg st="7" end="7"/>
                                            </p:txEl>
                                          </p:spTgt>
                                        </p:tgtEl>
                                        <p:attrNameLst>
                                          <p:attrName>style.visibility</p:attrName>
                                        </p:attrNameLst>
                                      </p:cBhvr>
                                      <p:to>
                                        <p:strVal val="visible"/>
                                      </p:to>
                                    </p:set>
                                    <p:animEffect transition="in" filter="fade">
                                      <p:cBhvr>
                                        <p:cTn id="60" dur="1000"/>
                                        <p:tgtEl>
                                          <p:spTgt spid="3">
                                            <p:txEl>
                                              <p:pRg st="7" end="7"/>
                                            </p:txEl>
                                          </p:spTgt>
                                        </p:tgtEl>
                                      </p:cBhvr>
                                    </p:animEffect>
                                    <p:anim calcmode="lin" valueType="num">
                                      <p:cBhvr>
                                        <p:cTn id="6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References</a:t>
            </a:r>
          </a:p>
        </p:txBody>
      </p:sp>
      <p:sp>
        <p:nvSpPr>
          <p:cNvPr id="3" name="Content Placeholder 2"/>
          <p:cNvSpPr>
            <a:spLocks noGrp="1"/>
          </p:cNvSpPr>
          <p:nvPr>
            <p:ph idx="1"/>
          </p:nvPr>
        </p:nvSpPr>
        <p:spPr/>
        <p:txBody>
          <a:bodyPr>
            <a:normAutofit/>
          </a:bodyPr>
          <a:lstStyle/>
          <a:p>
            <a:pPr algn="just"/>
            <a:r>
              <a:rPr lang="en-US" dirty="0">
                <a:hlinkClick r:id="rId2"/>
              </a:rPr>
              <a:t>https://www.w3schools.com/css/css_text_transformation.asp</a:t>
            </a:r>
            <a:endParaRPr lang="en-US" dirty="0"/>
          </a:p>
          <a:p>
            <a:pPr algn="just"/>
            <a:r>
              <a:rPr lang="en-US" dirty="0">
                <a:hlinkClick r:id="rId3"/>
              </a:rPr>
              <a:t>https://www.w3schools.com/css/css_text_spacing.asp</a:t>
            </a:r>
            <a:endParaRPr lang="en-US" dirty="0"/>
          </a:p>
          <a:p>
            <a:pPr algn="just"/>
            <a:r>
              <a:rPr lang="en-US" dirty="0">
                <a:hlinkClick r:id="rId4"/>
              </a:rPr>
              <a:t>https://www.w3schools.com/css/css_text_shadow.asp</a:t>
            </a:r>
            <a:endParaRPr lang="en-US" dirty="0"/>
          </a:p>
          <a:p>
            <a:pPr algn="just"/>
            <a:r>
              <a:rPr lang="en-US" dirty="0">
                <a:hlinkClick r:id="rId5"/>
              </a:rPr>
              <a:t>https://www.w3schools.com/css/css_font.asp</a:t>
            </a:r>
            <a:endParaRPr lang="en-US" dirty="0"/>
          </a:p>
          <a:p>
            <a:pPr algn="just"/>
            <a:r>
              <a:rPr lang="en-US" dirty="0">
                <a:hlinkClick r:id="rId6"/>
              </a:rPr>
              <a:t>https://www.w3schools.com/css/css_font_style.asp</a:t>
            </a:r>
            <a:endParaRPr lang="en-US" dirty="0"/>
          </a:p>
          <a:p>
            <a:pPr algn="just"/>
            <a:r>
              <a:rPr lang="en-US" dirty="0">
                <a:hlinkClick r:id="rId7"/>
              </a:rPr>
              <a:t>https://www.w3schools.com/css/css_font_size.asp</a:t>
            </a:r>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20</a:t>
            </a:fld>
            <a:endParaRPr lang="en-IN"/>
          </a:p>
        </p:txBody>
      </p:sp>
    </p:spTree>
    <p:extLst>
      <p:ext uri="{BB962C8B-B14F-4D97-AF65-F5344CB8AC3E}">
        <p14:creationId xmlns:p14="http://schemas.microsoft.com/office/powerpoint/2010/main" val="367253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Program link</a:t>
            </a:r>
          </a:p>
        </p:txBody>
      </p:sp>
      <p:sp>
        <p:nvSpPr>
          <p:cNvPr id="3" name="Content Placeholder 2"/>
          <p:cNvSpPr>
            <a:spLocks noGrp="1"/>
          </p:cNvSpPr>
          <p:nvPr>
            <p:ph idx="1"/>
          </p:nvPr>
        </p:nvSpPr>
        <p:spPr/>
        <p:txBody>
          <a:bodyPr/>
          <a:lstStyle/>
          <a:p>
            <a:pPr algn="just"/>
            <a:r>
              <a:rPr lang="en-US" dirty="0"/>
              <a:t>CSS Box model -&gt; </a:t>
            </a:r>
            <a:r>
              <a:rPr lang="en-US" dirty="0">
                <a:hlinkClick r:id="rId2"/>
              </a:rPr>
              <a:t>https://onlinegdb.com/ofRNOyWY3</a:t>
            </a:r>
            <a:endParaRPr lang="en-US" dirty="0"/>
          </a:p>
          <a:p>
            <a:pPr algn="just"/>
            <a:r>
              <a:rPr lang="en-US" dirty="0"/>
              <a:t>Physical and Logical style elements -&gt; </a:t>
            </a:r>
            <a:r>
              <a:rPr lang="en-US" dirty="0">
                <a:hlinkClick r:id="rId3"/>
              </a:rPr>
              <a:t>https://onlinegdb.com/UuN1pLO-Q</a:t>
            </a:r>
            <a:endParaRPr lang="en-US" dirty="0"/>
          </a:p>
          <a:p>
            <a:pPr algn="just"/>
            <a:r>
              <a:rPr lang="en-US" dirty="0"/>
              <a:t>CSS text formatting -&gt; </a:t>
            </a:r>
            <a:r>
              <a:rPr lang="en-US" dirty="0">
                <a:hlinkClick r:id="rId4"/>
              </a:rPr>
              <a:t>https://onlinegdb.com/cz2bNJDRwJ</a:t>
            </a:r>
            <a:endParaRPr lang="en-US" dirty="0"/>
          </a:p>
          <a:p>
            <a:pPr algn="just"/>
            <a:endParaRPr lang="en-US" dirty="0"/>
          </a:p>
        </p:txBody>
      </p:sp>
      <p:sp>
        <p:nvSpPr>
          <p:cNvPr id="4" name="Footer Placeholder 3"/>
          <p:cNvSpPr>
            <a:spLocks noGrp="1"/>
          </p:cNvSpPr>
          <p:nvPr>
            <p:ph type="ftr" sz="quarter" idx="11"/>
          </p:nvPr>
        </p:nvSpPr>
        <p:spPr/>
        <p:txBody>
          <a:bodyPr/>
          <a:lstStyle/>
          <a:p>
            <a:r>
              <a:rPr lang="en-IN" dirty="0" err="1"/>
              <a:t>Dr.</a:t>
            </a:r>
            <a:r>
              <a:rPr lang="en-IN" dirty="0"/>
              <a:t> </a:t>
            </a:r>
            <a:r>
              <a:rPr lang="en-IN" dirty="0" err="1"/>
              <a:t>Navneet</a:t>
            </a:r>
            <a:r>
              <a:rPr lang="en-IN" dirty="0"/>
              <a:t> </a:t>
            </a:r>
            <a:r>
              <a:rPr lang="en-IN" dirty="0" err="1"/>
              <a:t>Kaur</a:t>
            </a:r>
            <a:r>
              <a:rPr lang="en-IN" dirty="0"/>
              <a:t>,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21</a:t>
            </a:fld>
            <a:endParaRPr lang="en-IN"/>
          </a:p>
        </p:txBody>
      </p:sp>
    </p:spTree>
    <p:extLst>
      <p:ext uri="{BB962C8B-B14F-4D97-AF65-F5344CB8AC3E}">
        <p14:creationId xmlns:p14="http://schemas.microsoft.com/office/powerpoint/2010/main" val="250174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1000"/>
                                        <p:tgtEl>
                                          <p:spTgt spid="3">
                                            <p:txEl>
                                              <p:pRg st="1" end="1"/>
                                            </p:txEl>
                                          </p:spTgt>
                                        </p:tgtEl>
                                      </p:cBhvr>
                                    </p:animEffect>
                                    <p:anim calcmode="lin" valueType="num">
                                      <p:cBhvr>
                                        <p:cTn id="3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fade">
                                      <p:cBhvr>
                                        <p:cTn id="39" dur="1000"/>
                                        <p:tgtEl>
                                          <p:spTgt spid="3">
                                            <p:txEl>
                                              <p:pRg st="2" end="2"/>
                                            </p:txEl>
                                          </p:spTgt>
                                        </p:tgtEl>
                                      </p:cBhvr>
                                    </p:animEffect>
                                    <p:anim calcmode="lin" valueType="num">
                                      <p:cBhvr>
                                        <p:cTn id="4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Week 6 assignment</a:t>
            </a:r>
            <a:endParaRPr lang="en-IN" b="1" dirty="0"/>
          </a:p>
        </p:txBody>
      </p:sp>
      <p:sp>
        <p:nvSpPr>
          <p:cNvPr id="3" name="Content Placeholder 2"/>
          <p:cNvSpPr>
            <a:spLocks noGrp="1"/>
          </p:cNvSpPr>
          <p:nvPr>
            <p:ph idx="1"/>
          </p:nvPr>
        </p:nvSpPr>
        <p:spPr/>
        <p:txBody>
          <a:bodyPr/>
          <a:lstStyle/>
          <a:p>
            <a:r>
              <a:rPr lang="en-US" dirty="0"/>
              <a:t>Go to  </a:t>
            </a:r>
            <a:r>
              <a:rPr lang="en-US" dirty="0">
                <a:sym typeface="Wingdings" pitchFamily="2" charset="2"/>
              </a:rPr>
              <a:t> </a:t>
            </a:r>
            <a:r>
              <a:rPr lang="en-US" dirty="0">
                <a:sym typeface="Wingdings" pitchFamily="2" charset="2"/>
                <a:hlinkClick r:id="rId2"/>
              </a:rPr>
              <a:t>https://www.freecodecamp.org/learn/2022/responsive-web-design/</a:t>
            </a:r>
            <a:endParaRPr lang="en-US" dirty="0">
              <a:sym typeface="Wingdings" pitchFamily="2" charset="2"/>
            </a:endParaRPr>
          </a:p>
          <a:p>
            <a:pPr algn="just"/>
            <a:r>
              <a:rPr lang="en-US" dirty="0">
                <a:sym typeface="Wingdings" pitchFamily="2" charset="2"/>
              </a:rPr>
              <a:t>Complete steps 1 to 45 of “</a:t>
            </a:r>
            <a:r>
              <a:rPr lang="en-US" b="1" dirty="0">
                <a:solidFill>
                  <a:srgbClr val="FFFF00"/>
                </a:solidFill>
                <a:sym typeface="Wingdings" pitchFamily="2" charset="2"/>
              </a:rPr>
              <a:t>Learn the CSS Box Model By Building a Rothko Painting</a:t>
            </a:r>
            <a:r>
              <a:rPr lang="en-US" dirty="0">
                <a:sym typeface="Wingdings" pitchFamily="2" charset="2"/>
              </a:rPr>
              <a:t>”</a:t>
            </a:r>
          </a:p>
          <a:p>
            <a:pPr algn="just"/>
            <a:endParaRPr lang="en-IN" dirty="0"/>
          </a:p>
        </p:txBody>
      </p:sp>
      <p:sp>
        <p:nvSpPr>
          <p:cNvPr id="4" name="Footer Placeholder 3"/>
          <p:cNvSpPr>
            <a:spLocks noGrp="1"/>
          </p:cNvSpPr>
          <p:nvPr>
            <p:ph type="ftr" sz="quarter" idx="11"/>
          </p:nvPr>
        </p:nvSpPr>
        <p:spPr/>
        <p:txBody>
          <a:bodyPr/>
          <a:lstStyle/>
          <a:p>
            <a:r>
              <a:rPr lang="en-IN"/>
              <a:t>Dr. Navneet Kaur,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22</a:t>
            </a:fld>
            <a:endParaRPr lang="en-IN"/>
          </a:p>
        </p:txBody>
      </p:sp>
    </p:spTree>
    <p:extLst>
      <p:ext uri="{BB962C8B-B14F-4D97-AF65-F5344CB8AC3E}">
        <p14:creationId xmlns:p14="http://schemas.microsoft.com/office/powerpoint/2010/main" val="419585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1000"/>
                                        <p:tgtEl>
                                          <p:spTgt spid="3">
                                            <p:txEl>
                                              <p:pRg st="0" end="0"/>
                                            </p:txEl>
                                          </p:spTgt>
                                        </p:tgtEl>
                                      </p:cBhvr>
                                    </p:animEffect>
                                    <p:anim calcmode="lin" valueType="num">
                                      <p:cBhvr>
                                        <p:cTn id="2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Week 6 assignment</a:t>
            </a:r>
            <a:endParaRPr lang="en-IN" b="1" dirty="0"/>
          </a:p>
        </p:txBody>
      </p:sp>
      <p:sp>
        <p:nvSpPr>
          <p:cNvPr id="4" name="Footer Placeholder 3"/>
          <p:cNvSpPr>
            <a:spLocks noGrp="1"/>
          </p:cNvSpPr>
          <p:nvPr>
            <p:ph type="ftr" sz="quarter" idx="11"/>
          </p:nvPr>
        </p:nvSpPr>
        <p:spPr/>
        <p:txBody>
          <a:bodyPr/>
          <a:lstStyle/>
          <a:p>
            <a:r>
              <a:rPr lang="en-IN"/>
              <a:t>Dr. Navneet Kaur,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23</a:t>
            </a:fld>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1760" y="2770188"/>
            <a:ext cx="4320479" cy="3539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633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heel(1)">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636912"/>
            <a:ext cx="7315200" cy="1154097"/>
          </a:xfrm>
        </p:spPr>
        <p:txBody>
          <a:bodyPr>
            <a:noAutofit/>
          </a:bodyPr>
          <a:lstStyle/>
          <a:p>
            <a:pPr algn="ctr"/>
            <a:r>
              <a:rPr lang="en-IN" sz="3600" b="1" dirty="0"/>
              <a:t>Thank you</a:t>
            </a:r>
            <a:endParaRPr lang="en-IN" sz="3600" dirty="0"/>
          </a:p>
        </p:txBody>
      </p:sp>
      <p:sp>
        <p:nvSpPr>
          <p:cNvPr id="4" name="Footer Placeholder 3"/>
          <p:cNvSpPr>
            <a:spLocks noGrp="1"/>
          </p:cNvSpPr>
          <p:nvPr>
            <p:ph type="ftr" sz="quarter" idx="11"/>
          </p:nvPr>
        </p:nvSpPr>
        <p:spPr/>
        <p:txBody>
          <a:bodyPr/>
          <a:lstStyle/>
          <a:p>
            <a:r>
              <a:rPr lang="en-IN"/>
              <a:t>Dr. Navneet Kaur, Lovely Professional University</a:t>
            </a:r>
          </a:p>
        </p:txBody>
      </p:sp>
      <p:sp>
        <p:nvSpPr>
          <p:cNvPr id="5" name="Slide Number Placeholder 4"/>
          <p:cNvSpPr>
            <a:spLocks noGrp="1"/>
          </p:cNvSpPr>
          <p:nvPr>
            <p:ph type="sldNum" sz="quarter" idx="12"/>
          </p:nvPr>
        </p:nvSpPr>
        <p:spPr/>
        <p:txBody>
          <a:bodyPr/>
          <a:lstStyle/>
          <a:p>
            <a:fld id="{2066A04F-D713-4288-A8B9-BA887330B926}" type="slidenum">
              <a:rPr lang="en-IN" smtClean="0"/>
              <a:t>24</a:t>
            </a:fld>
            <a:endParaRPr lang="en-IN"/>
          </a:p>
        </p:txBody>
      </p:sp>
    </p:spTree>
    <p:extLst>
      <p:ext uri="{BB962C8B-B14F-4D97-AF65-F5344CB8AC3E}">
        <p14:creationId xmlns:p14="http://schemas.microsoft.com/office/powerpoint/2010/main" val="33950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1964</TotalTime>
  <Words>1263</Words>
  <Application>Microsoft Office PowerPoint</Application>
  <PresentationFormat>On-screen Show (4:3)</PresentationFormat>
  <Paragraphs>188</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Perspective</vt:lpstr>
      <vt:lpstr>CSE326  Internet Programming Laboratory  Lecture #6</vt:lpstr>
      <vt:lpstr>Outline</vt:lpstr>
      <vt:lpstr>CSS Box model</vt:lpstr>
      <vt:lpstr>Parts of a CSS box model</vt:lpstr>
      <vt:lpstr>Parts of a CSS box model</vt:lpstr>
      <vt:lpstr>Margin</vt:lpstr>
      <vt:lpstr>Borders</vt:lpstr>
      <vt:lpstr>Borders</vt:lpstr>
      <vt:lpstr>Padding</vt:lpstr>
      <vt:lpstr>Physical and logical style elements in HTML</vt:lpstr>
      <vt:lpstr>Physical and logical style elements in HTML</vt:lpstr>
      <vt:lpstr>Physical and logical style elements in HTML</vt:lpstr>
      <vt:lpstr>Physical and logical style elements in HTML</vt:lpstr>
      <vt:lpstr>Physical and logical style elements in HTML</vt:lpstr>
      <vt:lpstr>CSS Text Formatting</vt:lpstr>
      <vt:lpstr>CSS Text Formatting</vt:lpstr>
      <vt:lpstr>CSS Text Formatting</vt:lpstr>
      <vt:lpstr>CSS Text Formatting</vt:lpstr>
      <vt:lpstr>References</vt:lpstr>
      <vt:lpstr>References</vt:lpstr>
      <vt:lpstr>Program link</vt:lpstr>
      <vt:lpstr>Week 6 assignment</vt:lpstr>
      <vt:lpstr>Week 6 assignment</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665</cp:revision>
  <dcterms:created xsi:type="dcterms:W3CDTF">2023-08-17T03:51:20Z</dcterms:created>
  <dcterms:modified xsi:type="dcterms:W3CDTF">2023-09-22T07:28:32Z</dcterms:modified>
</cp:coreProperties>
</file>