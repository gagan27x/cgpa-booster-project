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74" r:id="rId3"/>
    <p:sldId id="275" r:id="rId4"/>
    <p:sldId id="276" r:id="rId5"/>
    <p:sldId id="305" r:id="rId6"/>
    <p:sldId id="279" r:id="rId7"/>
    <p:sldId id="280" r:id="rId8"/>
    <p:sldId id="281" r:id="rId9"/>
    <p:sldId id="284" r:id="rId10"/>
    <p:sldId id="303" r:id="rId11"/>
    <p:sldId id="304" r:id="rId12"/>
    <p:sldId id="300" r:id="rId13"/>
    <p:sldId id="301" r:id="rId14"/>
    <p:sldId id="306" r:id="rId15"/>
    <p:sldId id="258" r:id="rId16"/>
    <p:sldId id="289" r:id="rId17"/>
    <p:sldId id="290" r:id="rId18"/>
    <p:sldId id="293" r:id="rId19"/>
    <p:sldId id="294" r:id="rId20"/>
    <p:sldId id="295" r:id="rId21"/>
    <p:sldId id="296" r:id="rId22"/>
    <p:sldId id="273" r:id="rId23"/>
    <p:sldId id="302" r:id="rId2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9" d="100"/>
          <a:sy n="59" d="100"/>
        </p:scale>
        <p:origin x="940" y="-1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8739" y="576198"/>
            <a:ext cx="12034520" cy="45211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FF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4400" b="0" i="0">
                <a:solidFill>
                  <a:schemeClr val="tx1"/>
                </a:solidFill>
                <a:latin typeface="Calibri Light" panose="020F0302020204030204"/>
                <a:cs typeface="Calibri Light" panose="020F030202020403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FF0000"/>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76390" y="2300478"/>
            <a:ext cx="4349750" cy="3672840"/>
          </a:xfrm>
          <a:prstGeom prst="rect">
            <a:avLst/>
          </a:prstGeom>
        </p:spPr>
        <p:txBody>
          <a:bodyPr wrap="square" lIns="0" tIns="0" rIns="0" bIns="0">
            <a:spAutoFit/>
          </a:bodyPr>
          <a:lstStyle>
            <a:lvl1pPr>
              <a:defRPr sz="1800" b="0" i="0">
                <a:solidFill>
                  <a:srgbClr val="FF0000"/>
                </a:solidFill>
                <a:latin typeface="Arial MT"/>
                <a:cs typeface="Arial MT"/>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FF0000"/>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77893" y="626440"/>
            <a:ext cx="4236212" cy="697230"/>
          </a:xfrm>
          <a:prstGeom prst="rect">
            <a:avLst/>
          </a:prstGeom>
        </p:spPr>
        <p:txBody>
          <a:bodyPr wrap="square" lIns="0" tIns="0" rIns="0" bIns="0">
            <a:spAutoFit/>
          </a:bodyPr>
          <a:lstStyle>
            <a:lvl1pPr>
              <a:defRPr sz="4400" b="0" i="0">
                <a:solidFill>
                  <a:srgbClr val="FF0000"/>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879475" y="1311738"/>
            <a:ext cx="10433049" cy="2989579"/>
          </a:xfrm>
          <a:prstGeom prst="rect">
            <a:avLst/>
          </a:prstGeom>
        </p:spPr>
        <p:txBody>
          <a:bodyPr wrap="square" lIns="0" tIns="0" rIns="0" bIns="0">
            <a:spAutoFit/>
          </a:bodyPr>
          <a:lstStyle>
            <a:lvl1pPr>
              <a:defRPr sz="4400" b="0" i="0">
                <a:solidFill>
                  <a:schemeClr val="tx1"/>
                </a:solidFill>
                <a:latin typeface="Calibri Light" panose="020F0302020204030204"/>
                <a:cs typeface="Calibri Light" panose="020F0302020204030204"/>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2.jpe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4.xml"/><Relationship Id="rId5" Type="http://schemas.openxmlformats.org/officeDocument/2006/relationships/image" Target="../media/image23.jpe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35636" y="1338032"/>
            <a:ext cx="9177528" cy="4703064"/>
          </a:xfrm>
          <a:prstGeom prst="rect">
            <a:avLst/>
          </a:prstGeom>
        </p:spPr>
      </p:pic>
      <p:pic>
        <p:nvPicPr>
          <p:cNvPr id="4" name="object 4"/>
          <p:cNvPicPr>
            <a:picLocks noGrp="1" noChangeAspect="1"/>
          </p:cNvPicPr>
          <p:nvPr>
            <p:ph sz="half" idx="2"/>
          </p:nvPr>
        </p:nvPicPr>
        <p:blipFill>
          <a:blip r:embed="rId3" cstate="print"/>
          <a:stretch>
            <a:fillRect/>
          </a:stretch>
        </p:blipFill>
        <p:spPr>
          <a:xfrm>
            <a:off x="9451975" y="76200"/>
            <a:ext cx="2691130" cy="1159510"/>
          </a:xfrm>
          <a:prstGeom prst="rect">
            <a:avLst/>
          </a:prstGeom>
        </p:spPr>
      </p:pic>
      <p:sp>
        <p:nvSpPr>
          <p:cNvPr id="5" name="object 2">
            <a:extLst>
              <a:ext uri="{FF2B5EF4-FFF2-40B4-BE49-F238E27FC236}">
                <a16:creationId xmlns:a16="http://schemas.microsoft.com/office/drawing/2014/main" id="{791F7A11-E06C-807B-E124-506201BE905C}"/>
              </a:ext>
            </a:extLst>
          </p:cNvPr>
          <p:cNvSpPr txBox="1">
            <a:spLocks/>
          </p:cNvSpPr>
          <p:nvPr/>
        </p:nvSpPr>
        <p:spPr>
          <a:xfrm>
            <a:off x="3848989" y="288711"/>
            <a:ext cx="4236212" cy="697230"/>
          </a:xfrm>
          <a:prstGeom prst="rect">
            <a:avLst/>
          </a:prstGeom>
        </p:spPr>
        <p:txBody>
          <a:bodyPr vert="horz" wrap="square" lIns="0" tIns="12700" rIns="0" bIns="0" rtlCol="0">
            <a:spAutoFit/>
          </a:bodyPr>
          <a:lstStyle>
            <a:lvl1pPr>
              <a:defRPr>
                <a:latin typeface="+mj-lt"/>
                <a:ea typeface="+mj-ea"/>
                <a:cs typeface="+mj-cs"/>
              </a:defRPr>
            </a:lvl1pPr>
          </a:lstStyle>
          <a:p>
            <a:pPr marL="12700" algn="ctr">
              <a:spcBef>
                <a:spcPts val="100"/>
              </a:spcBef>
            </a:pPr>
            <a:r>
              <a:rPr lang="en-IN" sz="5400" kern="0" spc="-15"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Lecture</a:t>
            </a:r>
            <a:r>
              <a:rPr lang="en-IN" sz="5400" kern="0" spc="-85"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 </a:t>
            </a:r>
            <a:r>
              <a:rPr lang="en-IN" sz="5400" kern="0"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0</a:t>
            </a:r>
          </a:p>
        </p:txBody>
      </p:sp>
      <p:sp>
        <p:nvSpPr>
          <p:cNvPr id="6" name="object 3">
            <a:extLst>
              <a:ext uri="{FF2B5EF4-FFF2-40B4-BE49-F238E27FC236}">
                <a16:creationId xmlns:a16="http://schemas.microsoft.com/office/drawing/2014/main" id="{D68B9363-8C31-A25A-16AB-918399A28D1B}"/>
              </a:ext>
            </a:extLst>
          </p:cNvPr>
          <p:cNvSpPr txBox="1"/>
          <p:nvPr/>
        </p:nvSpPr>
        <p:spPr>
          <a:xfrm>
            <a:off x="5486400" y="3754586"/>
            <a:ext cx="7086600" cy="3103414"/>
          </a:xfrm>
          <a:prstGeom prst="rect">
            <a:avLst/>
          </a:prstGeom>
        </p:spPr>
        <p:txBody>
          <a:bodyPr vert="horz" wrap="square" lIns="0" tIns="12700" rIns="0" bIns="0" rtlCol="0">
            <a:spAutoFit/>
          </a:bodyPr>
          <a:lstStyle/>
          <a:p>
            <a:pPr marL="12700" marR="5080" algn="ctr">
              <a:lnSpc>
                <a:spcPts val="3890"/>
              </a:lnSpc>
              <a:spcBef>
                <a:spcPts val="585"/>
              </a:spcBef>
            </a:pPr>
            <a:r>
              <a:rPr lang="en-IN" sz="3200" spc="-35" dirty="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Welcome</a:t>
            </a:r>
            <a:r>
              <a:rPr lang="en-IN" sz="3200" spc="-75" dirty="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IN" sz="3200" dirty="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to</a:t>
            </a:r>
          </a:p>
          <a:p>
            <a:pPr marL="12700" marR="5080" algn="ctr">
              <a:lnSpc>
                <a:spcPts val="3890"/>
              </a:lnSpc>
              <a:spcBef>
                <a:spcPts val="585"/>
              </a:spcBef>
            </a:pPr>
            <a:r>
              <a:rPr lang="en-US" sz="3200" b="1" spc="-10" dirty="0">
                <a:solidFill>
                  <a:schemeClr val="tx1"/>
                </a:solidFill>
                <a:latin typeface="Times New Roman" panose="02020603050405020304" pitchFamily="18" charset="0"/>
                <a:cs typeface="Times New Roman" panose="02020603050405020304" pitchFamily="18" charset="0"/>
              </a:rPr>
              <a:t>BASIC ELECTRICAL </a:t>
            </a:r>
          </a:p>
          <a:p>
            <a:pPr marL="12700" marR="5080" algn="ctr">
              <a:lnSpc>
                <a:spcPts val="3890"/>
              </a:lnSpc>
              <a:spcBef>
                <a:spcPts val="585"/>
              </a:spcBef>
            </a:pPr>
            <a:r>
              <a:rPr lang="en-US" sz="3200" b="1" dirty="0">
                <a:solidFill>
                  <a:schemeClr val="tx1"/>
                </a:solidFill>
                <a:latin typeface="Times New Roman" panose="02020603050405020304" pitchFamily="18" charset="0"/>
                <a:cs typeface="Times New Roman" panose="02020603050405020304" pitchFamily="18" charset="0"/>
              </a:rPr>
              <a:t>AND </a:t>
            </a:r>
          </a:p>
          <a:p>
            <a:pPr marL="12700" marR="5080" algn="ctr">
              <a:lnSpc>
                <a:spcPts val="3890"/>
              </a:lnSpc>
              <a:spcBef>
                <a:spcPts val="585"/>
              </a:spcBef>
            </a:pPr>
            <a:r>
              <a:rPr lang="en-US" sz="3200" b="1" spc="-15" dirty="0">
                <a:solidFill>
                  <a:schemeClr val="tx1"/>
                </a:solidFill>
                <a:latin typeface="Times New Roman" panose="02020603050405020304" pitchFamily="18" charset="0"/>
                <a:cs typeface="Times New Roman" panose="02020603050405020304" pitchFamily="18" charset="0"/>
              </a:rPr>
              <a:t>ELECTRONICS  </a:t>
            </a:r>
            <a:r>
              <a:rPr lang="en-US" sz="3200" b="1" spc="-5" dirty="0">
                <a:solidFill>
                  <a:schemeClr val="tx1"/>
                </a:solidFill>
                <a:latin typeface="Times New Roman" panose="02020603050405020304" pitchFamily="18" charset="0"/>
                <a:cs typeface="Times New Roman" panose="02020603050405020304" pitchFamily="18" charset="0"/>
              </a:rPr>
              <a:t>ENGINEERING</a:t>
            </a:r>
            <a:endParaRPr lang="en-US" sz="3200" b="1" dirty="0">
              <a:solidFill>
                <a:schemeClr val="tx1"/>
              </a:solidFill>
              <a:latin typeface="Times New Roman" panose="02020603050405020304" pitchFamily="18" charset="0"/>
              <a:cs typeface="Times New Roman" panose="02020603050405020304" pitchFamily="18" charset="0"/>
            </a:endParaRPr>
          </a:p>
          <a:p>
            <a:pPr marL="8255" algn="ctr">
              <a:lnSpc>
                <a:spcPct val="100000"/>
              </a:lnSpc>
              <a:spcBef>
                <a:spcPts val="520"/>
              </a:spcBef>
            </a:pPr>
            <a:endParaRPr lang="en-US" sz="2400" b="1" i="1" dirty="0">
              <a:solidFill>
                <a:srgbClr val="FF0000"/>
              </a:solidFill>
              <a:latin typeface="Times New Roman" panose="02020603050405020304" pitchFamily="18" charset="0"/>
              <a:cs typeface="Times New Roman" panose="02020603050405020304" pitchFamily="18" charset="0"/>
            </a:endParaRPr>
          </a:p>
          <a:p>
            <a:pPr marL="8255" algn="ctr">
              <a:lnSpc>
                <a:spcPct val="100000"/>
              </a:lnSpc>
              <a:spcBef>
                <a:spcPts val="520"/>
              </a:spcBef>
            </a:pPr>
            <a:r>
              <a:rPr lang="en-US" sz="2400" b="1" i="1" dirty="0">
                <a:solidFill>
                  <a:srgbClr val="FF0000"/>
                </a:solidFill>
                <a:latin typeface="Times New Roman" panose="02020603050405020304" pitchFamily="18" charset="0"/>
                <a:cs typeface="Times New Roman" panose="02020603050405020304" pitchFamily="18" charset="0"/>
              </a:rPr>
              <a:t>Course Code: </a:t>
            </a:r>
            <a:r>
              <a:rPr lang="en-US" sz="2400" b="1" i="1" spc="-25" dirty="0">
                <a:solidFill>
                  <a:srgbClr val="FF0000"/>
                </a:solidFill>
                <a:latin typeface="Times New Roman" panose="02020603050405020304" pitchFamily="18" charset="0"/>
                <a:cs typeface="Times New Roman" panose="02020603050405020304" pitchFamily="18" charset="0"/>
              </a:rPr>
              <a:t>ECE</a:t>
            </a:r>
            <a:r>
              <a:rPr lang="en-US" sz="2400" b="1" i="1" spc="-55" dirty="0">
                <a:solidFill>
                  <a:srgbClr val="FF0000"/>
                </a:solidFill>
                <a:latin typeface="Times New Roman" panose="02020603050405020304" pitchFamily="18" charset="0"/>
                <a:cs typeface="Times New Roman" panose="02020603050405020304" pitchFamily="18" charset="0"/>
              </a:rPr>
              <a:t> </a:t>
            </a:r>
            <a:r>
              <a:rPr lang="en-US" sz="2400" b="1" i="1" spc="-5" dirty="0">
                <a:solidFill>
                  <a:srgbClr val="FF0000"/>
                </a:solidFill>
                <a:latin typeface="Times New Roman" panose="02020603050405020304" pitchFamily="18" charset="0"/>
                <a:cs typeface="Times New Roman" panose="02020603050405020304" pitchFamily="18" charset="0"/>
              </a:rPr>
              <a:t>249</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7165" y="457200"/>
            <a:ext cx="11964035" cy="829945"/>
          </a:xfrm>
          <a:prstGeom prst="rect">
            <a:avLst/>
          </a:prstGeom>
        </p:spPr>
        <p:txBody>
          <a:bodyPr wrap="square">
            <a:spAutoFit/>
          </a:bodyPr>
          <a:lstStyle/>
          <a:p>
            <a:pPr algn="ctr"/>
            <a:r>
              <a:rPr lang="en-US" sz="4800" b="1" dirty="0">
                <a:solidFill>
                  <a:srgbClr val="FF0000"/>
                </a:solidFill>
                <a:latin typeface="Times New Roman" panose="02020603050405020304" pitchFamily="18" charset="0"/>
                <a:cs typeface="Times New Roman" panose="02020603050405020304" pitchFamily="18" charset="0"/>
              </a:rPr>
              <a:t>Course Outcomes</a:t>
            </a:r>
          </a:p>
        </p:txBody>
      </p:sp>
      <p:pic>
        <p:nvPicPr>
          <p:cNvPr id="4" name="object 4"/>
          <p:cNvPicPr>
            <a:picLocks noGrp="1" noChangeAspect="1"/>
          </p:cNvPicPr>
          <p:nvPr>
            <p:ph sz="half" idx="2"/>
          </p:nvPr>
        </p:nvPicPr>
        <p:blipFill>
          <a:blip r:embed="rId2" cstate="print"/>
          <a:stretch>
            <a:fillRect/>
          </a:stretch>
        </p:blipFill>
        <p:spPr>
          <a:xfrm>
            <a:off x="10063480" y="76200"/>
            <a:ext cx="2079625" cy="826770"/>
          </a:xfrm>
          <a:prstGeom prst="rect">
            <a:avLst/>
          </a:prstGeom>
        </p:spPr>
      </p:pic>
      <p:sp>
        <p:nvSpPr>
          <p:cNvPr id="6" name="TextBox 5">
            <a:extLst>
              <a:ext uri="{FF2B5EF4-FFF2-40B4-BE49-F238E27FC236}">
                <a16:creationId xmlns:a16="http://schemas.microsoft.com/office/drawing/2014/main" id="{821C4BB1-5B46-4EAD-1E3F-0BFA0F93ABD5}"/>
              </a:ext>
            </a:extLst>
          </p:cNvPr>
          <p:cNvSpPr txBox="1"/>
          <p:nvPr/>
        </p:nvSpPr>
        <p:spPr>
          <a:xfrm>
            <a:off x="990600" y="1149489"/>
            <a:ext cx="10668000" cy="5355312"/>
          </a:xfrm>
          <a:prstGeom prst="rect">
            <a:avLst/>
          </a:prstGeom>
          <a:noFill/>
        </p:spPr>
        <p:txBody>
          <a:bodyPr wrap="square">
            <a:spAutoFit/>
          </a:bodyPr>
          <a:lstStyle/>
          <a:p>
            <a:r>
              <a:rPr lang="en-IN" sz="1800" b="1" dirty="0">
                <a:solidFill>
                  <a:srgbClr val="000000"/>
                </a:solidFill>
                <a:latin typeface="Verdana" panose="020B0604030504040204" pitchFamily="34" charset="0"/>
              </a:rPr>
              <a:t>Course Outcomes:</a:t>
            </a:r>
          </a:p>
          <a:p>
            <a:r>
              <a:rPr lang="en-US" sz="1800" dirty="0">
                <a:solidFill>
                  <a:srgbClr val="000000"/>
                </a:solidFill>
                <a:latin typeface="Verdana" panose="020B0604030504040204" pitchFamily="34" charset="0"/>
              </a:rPr>
              <a:t>Through this course students should be able to</a:t>
            </a:r>
          </a:p>
          <a:p>
            <a:r>
              <a:rPr lang="en-US" sz="1800" dirty="0">
                <a:solidFill>
                  <a:srgbClr val="000000"/>
                </a:solidFill>
                <a:latin typeface="Verdana" panose="020B0604030504040204" pitchFamily="34" charset="0"/>
              </a:rPr>
              <a:t>CO1 :: Learn to use basic circuit components and calculate related parameters for DC circuit.</a:t>
            </a:r>
          </a:p>
          <a:p>
            <a:endParaRPr lang="en-US" sz="1800" dirty="0">
              <a:solidFill>
                <a:srgbClr val="000000"/>
              </a:solidFill>
              <a:latin typeface="Verdana" panose="020B0604030504040204" pitchFamily="34" charset="0"/>
            </a:endParaRPr>
          </a:p>
          <a:p>
            <a:r>
              <a:rPr lang="en-US" sz="1800" dirty="0">
                <a:solidFill>
                  <a:srgbClr val="000000"/>
                </a:solidFill>
                <a:latin typeface="Verdana" panose="020B0604030504040204" pitchFamily="34" charset="0"/>
              </a:rPr>
              <a:t>CO2 :: Understand the working of various semiconductor devices and use them in various </a:t>
            </a:r>
          </a:p>
          <a:p>
            <a:r>
              <a:rPr lang="en-IN" sz="1800" dirty="0">
                <a:solidFill>
                  <a:srgbClr val="000000"/>
                </a:solidFill>
                <a:latin typeface="Verdana" panose="020B0604030504040204" pitchFamily="34" charset="0"/>
              </a:rPr>
              <a:t>applications.</a:t>
            </a:r>
          </a:p>
          <a:p>
            <a:endParaRPr lang="en-US" sz="1800" dirty="0">
              <a:solidFill>
                <a:srgbClr val="000000"/>
              </a:solidFill>
              <a:latin typeface="Verdana" panose="020B0604030504040204" pitchFamily="34" charset="0"/>
            </a:endParaRPr>
          </a:p>
          <a:p>
            <a:r>
              <a:rPr lang="en-US" sz="1800" dirty="0">
                <a:solidFill>
                  <a:srgbClr val="000000"/>
                </a:solidFill>
                <a:latin typeface="Verdana" panose="020B0604030504040204" pitchFamily="34" charset="0"/>
              </a:rPr>
              <a:t>CO3 :: Understand and examine the structure of various number system and its application in </a:t>
            </a:r>
            <a:r>
              <a:rPr lang="en-IN" sz="1800" dirty="0">
                <a:solidFill>
                  <a:srgbClr val="000000"/>
                </a:solidFill>
                <a:latin typeface="Verdana" panose="020B0604030504040204" pitchFamily="34" charset="0"/>
              </a:rPr>
              <a:t>digital circuit design.</a:t>
            </a:r>
          </a:p>
          <a:p>
            <a:endParaRPr lang="en-US" sz="1800" dirty="0">
              <a:solidFill>
                <a:srgbClr val="000000"/>
              </a:solidFill>
              <a:latin typeface="Verdana" panose="020B0604030504040204" pitchFamily="34" charset="0"/>
            </a:endParaRPr>
          </a:p>
          <a:p>
            <a:r>
              <a:rPr lang="en-US" sz="1800" dirty="0">
                <a:solidFill>
                  <a:srgbClr val="000000"/>
                </a:solidFill>
                <a:latin typeface="Verdana" panose="020B0604030504040204" pitchFamily="34" charset="0"/>
              </a:rPr>
              <a:t>CO4 :: Develop applications by programming an Arduino board to interface sensor modules.</a:t>
            </a:r>
          </a:p>
          <a:p>
            <a:endParaRPr lang="en-US" sz="1800" dirty="0">
              <a:solidFill>
                <a:srgbClr val="000000"/>
              </a:solidFill>
              <a:latin typeface="Verdana" panose="020B0604030504040204" pitchFamily="34" charset="0"/>
            </a:endParaRPr>
          </a:p>
          <a:p>
            <a:r>
              <a:rPr lang="en-US" sz="1800" dirty="0">
                <a:solidFill>
                  <a:srgbClr val="000000"/>
                </a:solidFill>
                <a:latin typeface="Verdana" panose="020B0604030504040204" pitchFamily="34" charset="0"/>
              </a:rPr>
              <a:t>CO5 :: Construct combinational circuit with application-specific integrated circuit and logic gates.</a:t>
            </a:r>
          </a:p>
          <a:p>
            <a:endParaRPr lang="en-US" sz="1800" dirty="0">
              <a:solidFill>
                <a:srgbClr val="000000"/>
              </a:solidFill>
              <a:latin typeface="Verdana" panose="020B0604030504040204" pitchFamily="34" charset="0"/>
            </a:endParaRPr>
          </a:p>
          <a:p>
            <a:r>
              <a:rPr lang="en-US" sz="1800" dirty="0">
                <a:solidFill>
                  <a:srgbClr val="000000"/>
                </a:solidFill>
                <a:latin typeface="Verdana" panose="020B0604030504040204" pitchFamily="34" charset="0"/>
              </a:rPr>
              <a:t>CO6 :: Develop sequential circuit with flip-flops, logic gates and IC's for various applications.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04950" y="0"/>
            <a:ext cx="9182100" cy="787400"/>
            <a:chOff x="-19050" y="0"/>
            <a:chExt cx="9182100" cy="787400"/>
          </a:xfrm>
        </p:grpSpPr>
        <p:sp>
          <p:nvSpPr>
            <p:cNvPr id="3" name="object 3"/>
            <p:cNvSpPr/>
            <p:nvPr/>
          </p:nvSpPr>
          <p:spPr>
            <a:xfrm>
              <a:off x="0" y="685800"/>
              <a:ext cx="9144000" cy="8229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0" y="0"/>
              <a:ext cx="9144000" cy="685800"/>
            </a:xfrm>
            <a:custGeom>
              <a:avLst/>
              <a:gdLst/>
              <a:ahLst/>
              <a:cxnLst/>
              <a:rect l="l" t="t" r="r" b="b"/>
              <a:pathLst>
                <a:path w="9144000" h="685800">
                  <a:moveTo>
                    <a:pt x="9144000" y="0"/>
                  </a:moveTo>
                  <a:lnTo>
                    <a:pt x="0" y="0"/>
                  </a:lnTo>
                  <a:lnTo>
                    <a:pt x="0" y="685800"/>
                  </a:lnTo>
                  <a:lnTo>
                    <a:pt x="9144000" y="685800"/>
                  </a:lnTo>
                  <a:lnTo>
                    <a:pt x="9144000" y="0"/>
                  </a:lnTo>
                  <a:close/>
                </a:path>
              </a:pathLst>
            </a:custGeom>
            <a:solidFill>
              <a:srgbClr val="9BBA58"/>
            </a:solidFill>
          </p:spPr>
          <p:txBody>
            <a:bodyPr wrap="square" lIns="0" tIns="0" rIns="0" bIns="0" rtlCol="0"/>
            <a:lstStyle/>
            <a:p>
              <a:endParaRPr/>
            </a:p>
          </p:txBody>
        </p:sp>
        <p:sp>
          <p:nvSpPr>
            <p:cNvPr id="5" name="object 5"/>
            <p:cNvSpPr/>
            <p:nvPr/>
          </p:nvSpPr>
          <p:spPr>
            <a:xfrm>
              <a:off x="0" y="0"/>
              <a:ext cx="9144000" cy="685800"/>
            </a:xfrm>
            <a:custGeom>
              <a:avLst/>
              <a:gdLst/>
              <a:ahLst/>
              <a:cxnLst/>
              <a:rect l="l" t="t" r="r" b="b"/>
              <a:pathLst>
                <a:path w="9144000" h="685800">
                  <a:moveTo>
                    <a:pt x="0" y="685800"/>
                  </a:moveTo>
                  <a:lnTo>
                    <a:pt x="9144000" y="685800"/>
                  </a:lnTo>
                  <a:lnTo>
                    <a:pt x="9144000" y="0"/>
                  </a:lnTo>
                  <a:lnTo>
                    <a:pt x="0" y="0"/>
                  </a:lnTo>
                  <a:lnTo>
                    <a:pt x="0" y="685800"/>
                  </a:lnTo>
                  <a:close/>
                </a:path>
              </a:pathLst>
            </a:custGeom>
            <a:ln w="38100">
              <a:solidFill>
                <a:srgbClr val="FFFFFF"/>
              </a:solidFill>
            </a:ln>
          </p:spPr>
          <p:txBody>
            <a:bodyPr wrap="square" lIns="0" tIns="0" rIns="0" bIns="0" rtlCol="0"/>
            <a:lstStyle/>
            <a:p>
              <a:endParaRPr/>
            </a:p>
          </p:txBody>
        </p:sp>
      </p:grpSp>
      <p:sp>
        <p:nvSpPr>
          <p:cNvPr id="6" name="object 6"/>
          <p:cNvSpPr txBox="1">
            <a:spLocks noGrp="1"/>
          </p:cNvSpPr>
          <p:nvPr>
            <p:ph type="title"/>
          </p:nvPr>
        </p:nvSpPr>
        <p:spPr>
          <a:xfrm>
            <a:off x="3745288" y="44586"/>
            <a:ext cx="6313112" cy="627380"/>
          </a:xfrm>
          <a:prstGeom prst="rect">
            <a:avLst/>
          </a:prstGeom>
        </p:spPr>
        <p:txBody>
          <a:bodyPr vert="horz" wrap="square" lIns="0" tIns="12065" rIns="0" bIns="0" rtlCol="0">
            <a:spAutoFit/>
          </a:bodyPr>
          <a:lstStyle/>
          <a:p>
            <a:pPr marL="12700">
              <a:spcBef>
                <a:spcPts val="95"/>
              </a:spcBef>
            </a:pPr>
            <a:r>
              <a:rPr sz="4000" spc="-25" dirty="0">
                <a:solidFill>
                  <a:srgbClr val="FFFFFF"/>
                </a:solidFill>
              </a:rPr>
              <a:t>Program</a:t>
            </a:r>
            <a:r>
              <a:rPr lang="en-IN" sz="4000" spc="-25" dirty="0">
                <a:solidFill>
                  <a:srgbClr val="FFFFFF"/>
                </a:solidFill>
              </a:rPr>
              <a:t> </a:t>
            </a:r>
            <a:r>
              <a:rPr sz="4000" spc="-20" dirty="0">
                <a:solidFill>
                  <a:srgbClr val="FFFFFF"/>
                </a:solidFill>
              </a:rPr>
              <a:t>Outcome</a:t>
            </a:r>
            <a:endParaRPr sz="4000" dirty="0"/>
          </a:p>
        </p:txBody>
      </p:sp>
      <p:sp>
        <p:nvSpPr>
          <p:cNvPr id="7" name="object 7"/>
          <p:cNvSpPr/>
          <p:nvPr/>
        </p:nvSpPr>
        <p:spPr>
          <a:xfrm>
            <a:off x="762000" y="1860052"/>
            <a:ext cx="4880668" cy="4558360"/>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6858000" y="2211070"/>
            <a:ext cx="4069715" cy="664210"/>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7307580" y="2133600"/>
            <a:ext cx="3187700" cy="693420"/>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6896100" y="2231390"/>
            <a:ext cx="4030345" cy="584835"/>
          </a:xfrm>
          <a:prstGeom prst="rect">
            <a:avLst/>
          </a:prstGeom>
          <a:blipFill>
            <a:blip r:embed="rId6" cstate="print"/>
            <a:stretch>
              <a:fillRect/>
            </a:stretch>
          </a:blipFill>
        </p:spPr>
        <p:txBody>
          <a:bodyPr wrap="square" lIns="0" tIns="0" rIns="0" bIns="0" rtlCol="0"/>
          <a:lstStyle/>
          <a:p>
            <a:endParaRPr/>
          </a:p>
        </p:txBody>
      </p:sp>
      <p:sp>
        <p:nvSpPr>
          <p:cNvPr id="12" name="object 12"/>
          <p:cNvSpPr txBox="1"/>
          <p:nvPr/>
        </p:nvSpPr>
        <p:spPr>
          <a:xfrm>
            <a:off x="6858000" y="2272151"/>
            <a:ext cx="4069079" cy="513602"/>
          </a:xfrm>
          <a:prstGeom prst="rect">
            <a:avLst/>
          </a:prstGeom>
          <a:ln w="12700">
            <a:solidFill>
              <a:srgbClr val="97B853"/>
            </a:solidFill>
          </a:ln>
        </p:spPr>
        <p:txBody>
          <a:bodyPr vert="horz" wrap="square" lIns="0" tIns="20955" rIns="0" bIns="0" rtlCol="0">
            <a:spAutoFit/>
          </a:bodyPr>
          <a:lstStyle/>
          <a:p>
            <a:pPr marL="635" algn="ctr">
              <a:spcBef>
                <a:spcPts val="165"/>
              </a:spcBef>
            </a:pPr>
            <a:r>
              <a:rPr sz="3200" spc="-5" dirty="0">
                <a:latin typeface="Carlito"/>
                <a:cs typeface="Carlito"/>
              </a:rPr>
              <a:t>PO-CO</a:t>
            </a:r>
            <a:r>
              <a:rPr sz="3200" spc="-25" dirty="0">
                <a:latin typeface="Carlito"/>
                <a:cs typeface="Carlito"/>
              </a:rPr>
              <a:t> </a:t>
            </a:r>
            <a:r>
              <a:rPr sz="3200" spc="-5" dirty="0">
                <a:latin typeface="Carlito"/>
                <a:cs typeface="Carlito"/>
              </a:rPr>
              <a:t>Mapping</a:t>
            </a:r>
            <a:endParaRPr sz="3200" dirty="0">
              <a:latin typeface="Carlito"/>
              <a:cs typeface="Carlito"/>
            </a:endParaRPr>
          </a:p>
        </p:txBody>
      </p:sp>
      <p:grpSp>
        <p:nvGrpSpPr>
          <p:cNvPr id="13" name="object 13"/>
          <p:cNvGrpSpPr/>
          <p:nvPr/>
        </p:nvGrpSpPr>
        <p:grpSpPr>
          <a:xfrm>
            <a:off x="6598678" y="3069988"/>
            <a:ext cx="4904486" cy="2122914"/>
            <a:chOff x="4863084" y="3835908"/>
            <a:chExt cx="4281170" cy="1864360"/>
          </a:xfrm>
        </p:grpSpPr>
        <p:sp>
          <p:nvSpPr>
            <p:cNvPr id="14" name="object 14"/>
            <p:cNvSpPr/>
            <p:nvPr/>
          </p:nvSpPr>
          <p:spPr>
            <a:xfrm>
              <a:off x="4913379" y="3866388"/>
              <a:ext cx="4230620" cy="1833372"/>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4863084" y="3835908"/>
              <a:ext cx="4201668" cy="1804416"/>
            </a:xfrm>
            <a:prstGeom prst="rect">
              <a:avLst/>
            </a:prstGeom>
            <a:blipFill>
              <a:blip r:embed="rId8" cstate="print"/>
              <a:stretch>
                <a:fillRect/>
              </a:stretch>
            </a:blipFill>
          </p:spPr>
          <p:txBody>
            <a:bodyPr wrap="square" lIns="0" tIns="0" rIns="0" bIns="0" rtlCol="0"/>
            <a:lstStyle/>
            <a:p>
              <a:endParaRPr/>
            </a:p>
          </p:txBody>
        </p:sp>
        <p:sp>
          <p:nvSpPr>
            <p:cNvPr id="16" name="object 16"/>
            <p:cNvSpPr/>
            <p:nvPr/>
          </p:nvSpPr>
          <p:spPr>
            <a:xfrm>
              <a:off x="4953000" y="3886149"/>
              <a:ext cx="4191000" cy="1754377"/>
            </a:xfrm>
            <a:prstGeom prst="rect">
              <a:avLst/>
            </a:prstGeom>
            <a:blipFill>
              <a:blip r:embed="rId9" cstate="print"/>
              <a:stretch>
                <a:fillRect/>
              </a:stretch>
            </a:blipFill>
          </p:spPr>
          <p:txBody>
            <a:bodyPr wrap="square" lIns="0" tIns="0" rIns="0" bIns="0" rtlCol="0"/>
            <a:lstStyle/>
            <a:p>
              <a:endParaRPr/>
            </a:p>
          </p:txBody>
        </p:sp>
      </p:grpSp>
      <p:sp>
        <p:nvSpPr>
          <p:cNvPr id="17" name="object 17"/>
          <p:cNvSpPr txBox="1"/>
          <p:nvPr/>
        </p:nvSpPr>
        <p:spPr>
          <a:xfrm>
            <a:off x="6689090" y="2954020"/>
            <a:ext cx="4814570" cy="25920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31115" rIns="0" bIns="0" rtlCol="0">
            <a:noAutofit/>
          </a:bodyPr>
          <a:lstStyle/>
          <a:p>
            <a:pPr marL="434975" indent="-343535">
              <a:spcBef>
                <a:spcPts val="245"/>
              </a:spcBef>
              <a:buAutoNum type="arabicPeriod"/>
              <a:tabLst>
                <a:tab pos="434975" algn="l"/>
                <a:tab pos="434975" algn="l"/>
              </a:tabLst>
            </a:pPr>
            <a:r>
              <a:rPr sz="2000" spc="-5" dirty="0">
                <a:latin typeface="Carlito"/>
                <a:cs typeface="Carlito"/>
              </a:rPr>
              <a:t>Engineering </a:t>
            </a:r>
            <a:r>
              <a:rPr sz="2000" spc="-10" dirty="0">
                <a:latin typeface="Carlito"/>
                <a:cs typeface="Carlito"/>
              </a:rPr>
              <a:t>Knowledge</a:t>
            </a:r>
            <a:endParaRPr sz="2000" dirty="0">
              <a:latin typeface="Carlito"/>
              <a:cs typeface="Carlito"/>
            </a:endParaRPr>
          </a:p>
          <a:p>
            <a:pPr marL="434975" indent="-343535">
              <a:buAutoNum type="arabicPeriod"/>
              <a:tabLst>
                <a:tab pos="434975" algn="l"/>
                <a:tab pos="434975" algn="l"/>
              </a:tabLst>
            </a:pPr>
            <a:r>
              <a:rPr sz="2000" spc="-10" dirty="0">
                <a:latin typeface="Carlito"/>
                <a:cs typeface="Carlito"/>
              </a:rPr>
              <a:t>Problem</a:t>
            </a:r>
            <a:r>
              <a:rPr sz="2000" spc="-5" dirty="0">
                <a:latin typeface="Carlito"/>
                <a:cs typeface="Carlito"/>
              </a:rPr>
              <a:t> Analysis</a:t>
            </a:r>
            <a:endParaRPr sz="2000" dirty="0">
              <a:latin typeface="Carlito"/>
              <a:cs typeface="Carlito"/>
            </a:endParaRPr>
          </a:p>
          <a:p>
            <a:pPr marL="434975" indent="-343535">
              <a:buAutoNum type="arabicPeriod"/>
              <a:tabLst>
                <a:tab pos="434975" algn="l"/>
                <a:tab pos="434975" algn="l"/>
              </a:tabLst>
            </a:pPr>
            <a:r>
              <a:rPr sz="2000" dirty="0">
                <a:latin typeface="Carlito"/>
                <a:cs typeface="Carlito"/>
              </a:rPr>
              <a:t>Modern </a:t>
            </a:r>
            <a:r>
              <a:rPr sz="2000" spc="-45" dirty="0">
                <a:latin typeface="Carlito"/>
                <a:cs typeface="Carlito"/>
              </a:rPr>
              <a:t>Tool</a:t>
            </a:r>
            <a:r>
              <a:rPr sz="2000" spc="-5" dirty="0">
                <a:latin typeface="Carlito"/>
                <a:cs typeface="Carlito"/>
              </a:rPr>
              <a:t> usage</a:t>
            </a:r>
            <a:endParaRPr sz="2000" dirty="0">
              <a:latin typeface="Carlito"/>
              <a:cs typeface="Carlito"/>
            </a:endParaRPr>
          </a:p>
          <a:p>
            <a:pPr marL="434975" indent="-343535">
              <a:buAutoNum type="arabicPeriod"/>
              <a:tabLst>
                <a:tab pos="434975" algn="l"/>
                <a:tab pos="434975" algn="l"/>
              </a:tabLst>
            </a:pPr>
            <a:r>
              <a:rPr sz="2000" spc="-5" dirty="0">
                <a:latin typeface="Carlito"/>
                <a:cs typeface="Carlito"/>
              </a:rPr>
              <a:t>Individual </a:t>
            </a:r>
            <a:r>
              <a:rPr sz="2000" dirty="0">
                <a:latin typeface="Carlito"/>
                <a:cs typeface="Carlito"/>
              </a:rPr>
              <a:t>and</a:t>
            </a:r>
            <a:r>
              <a:rPr sz="2000" spc="10" dirty="0">
                <a:latin typeface="Carlito"/>
                <a:cs typeface="Carlito"/>
              </a:rPr>
              <a:t> </a:t>
            </a:r>
            <a:r>
              <a:rPr sz="2000" spc="-10" dirty="0">
                <a:latin typeface="Carlito"/>
                <a:cs typeface="Carlito"/>
              </a:rPr>
              <a:t>teamwork</a:t>
            </a:r>
            <a:endParaRPr sz="2000" dirty="0">
              <a:latin typeface="Carlito"/>
              <a:cs typeface="Carlito"/>
            </a:endParaRPr>
          </a:p>
          <a:p>
            <a:pPr marL="434975" indent="-343535">
              <a:spcBef>
                <a:spcPts val="5"/>
              </a:spcBef>
              <a:buAutoNum type="arabicPeriod"/>
              <a:tabLst>
                <a:tab pos="434975" algn="l"/>
                <a:tab pos="434975" algn="l"/>
              </a:tabLst>
            </a:pPr>
            <a:r>
              <a:rPr sz="2000" spc="-10" dirty="0">
                <a:latin typeface="Carlito"/>
                <a:cs typeface="Carlito"/>
              </a:rPr>
              <a:t>Life-long</a:t>
            </a:r>
            <a:r>
              <a:rPr sz="2000" spc="5" dirty="0">
                <a:latin typeface="Carlito"/>
                <a:cs typeface="Carlito"/>
              </a:rPr>
              <a:t> </a:t>
            </a:r>
            <a:r>
              <a:rPr sz="2000" spc="-5" dirty="0">
                <a:latin typeface="Carlito"/>
                <a:cs typeface="Carlito"/>
              </a:rPr>
              <a:t>learning</a:t>
            </a:r>
            <a:endParaRPr sz="2000" dirty="0">
              <a:latin typeface="Carlito"/>
              <a:cs typeface="Carlito"/>
            </a:endParaRPr>
          </a:p>
        </p:txBody>
      </p:sp>
      <p:sp>
        <p:nvSpPr>
          <p:cNvPr id="19" name="Cloud 18"/>
          <p:cNvSpPr/>
          <p:nvPr/>
        </p:nvSpPr>
        <p:spPr>
          <a:xfrm>
            <a:off x="152400" y="954071"/>
            <a:ext cx="3352800" cy="603503"/>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a:t>Program Outcomes</a:t>
            </a:r>
            <a:endParaRPr lang="en-IN" b="1" dirty="0"/>
          </a:p>
        </p:txBody>
      </p:sp>
      <p:sp>
        <p:nvSpPr>
          <p:cNvPr id="20" name="Cloud 19"/>
          <p:cNvSpPr/>
          <p:nvPr/>
        </p:nvSpPr>
        <p:spPr>
          <a:xfrm>
            <a:off x="5943859" y="1219171"/>
            <a:ext cx="4107175" cy="9144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Program outcome and Course Outcome</a:t>
            </a:r>
          </a:p>
        </p:txBody>
      </p:sp>
      <p:pic>
        <p:nvPicPr>
          <p:cNvPr id="18" name="object 4"/>
          <p:cNvPicPr>
            <a:picLocks noGrp="1" noChangeAspect="1"/>
          </p:cNvPicPr>
          <p:nvPr>
            <p:ph sz="half" idx="2"/>
          </p:nvPr>
        </p:nvPicPr>
        <p:blipFill>
          <a:blip r:embed="rId10" cstate="print"/>
          <a:stretch>
            <a:fillRect/>
          </a:stretch>
        </p:blipFill>
        <p:spPr>
          <a:xfrm>
            <a:off x="10170160" y="14605"/>
            <a:ext cx="1972945" cy="939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sz="half" idx="2"/>
          </p:nvPr>
        </p:nvSpPr>
        <p:spPr>
          <a:xfrm>
            <a:off x="609600" y="1447800"/>
            <a:ext cx="10509885" cy="4526280"/>
          </a:xfrm>
          <a:prstGeom prst="rect">
            <a:avLst/>
          </a:prstGeom>
        </p:spPr>
        <p:txBody>
          <a:bodyPr vert="horz" wrap="square" lIns="0" tIns="12700" rIns="0" bIns="0" rtlCol="0">
            <a:noAutofit/>
          </a:bodyPr>
          <a:lstStyle/>
          <a:p>
            <a:pPr marL="24130" algn="just">
              <a:spcBef>
                <a:spcPts val="5"/>
              </a:spcBef>
            </a:pPr>
            <a:r>
              <a:rPr lang="en-IN" sz="2400" b="1" spc="-15" dirty="0">
                <a:solidFill>
                  <a:schemeClr val="tx1"/>
                </a:solidFill>
                <a:latin typeface="Times New Roman" panose="02020603050405020304" pitchFamily="18" charset="0"/>
                <a:cs typeface="Times New Roman" panose="02020603050405020304" pitchFamily="18" charset="0"/>
              </a:rPr>
              <a:t>References:</a:t>
            </a:r>
          </a:p>
          <a:p>
            <a:r>
              <a:rPr lang="en-US" sz="1800" dirty="0">
                <a:solidFill>
                  <a:srgbClr val="000000"/>
                </a:solidFill>
                <a:latin typeface="Verdana" panose="020B0604030504040204" pitchFamily="34" charset="0"/>
              </a:rPr>
              <a:t>1</a:t>
            </a:r>
            <a:r>
              <a:rPr lang="en-US" sz="1800" dirty="0">
                <a:solidFill>
                  <a:srgbClr val="000000"/>
                </a:solidFill>
                <a:latin typeface="Tahoma" panose="020B0604030504040204" pitchFamily="34" charset="0"/>
              </a:rPr>
              <a:t>. </a:t>
            </a:r>
            <a:r>
              <a:rPr lang="en-US" sz="1800" dirty="0">
                <a:solidFill>
                  <a:srgbClr val="000000"/>
                </a:solidFill>
                <a:latin typeface="Verdana" panose="020B0604030504040204" pitchFamily="34" charset="0"/>
              </a:rPr>
              <a:t>FUNDAMENTALS OF ELECTRICAL ENGINEERING AND ELECTRONICS by B.L.THERAJA, S. </a:t>
            </a:r>
          </a:p>
          <a:p>
            <a:r>
              <a:rPr lang="en-IN" sz="1800" dirty="0">
                <a:solidFill>
                  <a:srgbClr val="000000"/>
                </a:solidFill>
                <a:latin typeface="Verdana" panose="020B0604030504040204" pitchFamily="34" charset="0"/>
              </a:rPr>
              <a:t>CHAND &amp; COMPANY</a:t>
            </a:r>
          </a:p>
          <a:p>
            <a:r>
              <a:rPr lang="en-US" sz="1800" dirty="0">
                <a:solidFill>
                  <a:srgbClr val="000000"/>
                </a:solidFill>
                <a:latin typeface="Verdana" panose="020B0604030504040204" pitchFamily="34" charset="0"/>
              </a:rPr>
              <a:t>2</a:t>
            </a:r>
            <a:r>
              <a:rPr lang="en-US" sz="1800" dirty="0">
                <a:solidFill>
                  <a:srgbClr val="000000"/>
                </a:solidFill>
                <a:latin typeface="Tahoma" panose="020B0604030504040204" pitchFamily="34" charset="0"/>
              </a:rPr>
              <a:t>. </a:t>
            </a:r>
            <a:r>
              <a:rPr lang="en-US" sz="1800" dirty="0">
                <a:solidFill>
                  <a:srgbClr val="000000"/>
                </a:solidFill>
                <a:latin typeface="Verdana" panose="020B0604030504040204" pitchFamily="34" charset="0"/>
              </a:rPr>
              <a:t>. DIGITAL FUNDAMENTALS BY THOMAS L. FLOYD , R. P JAIN, PEARSON by THOMAS L. </a:t>
            </a:r>
          </a:p>
          <a:p>
            <a:r>
              <a:rPr lang="en-US" sz="1800" dirty="0">
                <a:solidFill>
                  <a:srgbClr val="000000"/>
                </a:solidFill>
                <a:latin typeface="Verdana" panose="020B0604030504040204" pitchFamily="34" charset="0"/>
              </a:rPr>
              <a:t>FLOYD , R. P JAIN, PEARSON</a:t>
            </a:r>
          </a:p>
          <a:p>
            <a:r>
              <a:rPr lang="en-US" sz="1800" dirty="0">
                <a:solidFill>
                  <a:srgbClr val="000000"/>
                </a:solidFill>
                <a:latin typeface="Verdana" panose="020B0604030504040204" pitchFamily="34" charset="0"/>
              </a:rPr>
              <a:t>3</a:t>
            </a:r>
            <a:r>
              <a:rPr lang="en-US" sz="1800" dirty="0">
                <a:solidFill>
                  <a:srgbClr val="000000"/>
                </a:solidFill>
                <a:latin typeface="Tahoma" panose="020B0604030504040204" pitchFamily="34" charset="0"/>
              </a:rPr>
              <a:t>. </a:t>
            </a:r>
            <a:r>
              <a:rPr lang="en-US" sz="1800" dirty="0">
                <a:solidFill>
                  <a:srgbClr val="000000"/>
                </a:solidFill>
                <a:latin typeface="Verdana" panose="020B0604030504040204" pitchFamily="34" charset="0"/>
              </a:rPr>
              <a:t>BASIC ELECTRICAL AND ELECTRONICS ENGINEERING by D.P. KOTHARI, I J. NAGRATH, </a:t>
            </a:r>
          </a:p>
          <a:p>
            <a:r>
              <a:rPr lang="en-IN" sz="1800" dirty="0">
                <a:solidFill>
                  <a:srgbClr val="000000"/>
                </a:solidFill>
                <a:latin typeface="Verdana" panose="020B0604030504040204" pitchFamily="34" charset="0"/>
              </a:rPr>
              <a:t>MCGRAW HILL EDUCATION</a:t>
            </a:r>
          </a:p>
          <a:p>
            <a:r>
              <a:rPr lang="en-US" sz="1800" dirty="0">
                <a:solidFill>
                  <a:srgbClr val="000000"/>
                </a:solidFill>
                <a:latin typeface="Verdana" panose="020B0604030504040204" pitchFamily="34" charset="0"/>
              </a:rPr>
              <a:t>4</a:t>
            </a:r>
            <a:r>
              <a:rPr lang="en-US" sz="1800" dirty="0">
                <a:solidFill>
                  <a:srgbClr val="000000"/>
                </a:solidFill>
                <a:latin typeface="Tahoma" panose="020B0604030504040204" pitchFamily="34" charset="0"/>
              </a:rPr>
              <a:t>. </a:t>
            </a:r>
            <a:r>
              <a:rPr lang="en-US" sz="1800" dirty="0">
                <a:solidFill>
                  <a:srgbClr val="000000"/>
                </a:solidFill>
                <a:latin typeface="Verdana" panose="020B0604030504040204" pitchFamily="34" charset="0"/>
              </a:rPr>
              <a:t>ELECTRONIC CIRCUIT FUNDAMENTALS AND APPLICATIONS by MIKE TOOLEY, NEWNES </a:t>
            </a:r>
          </a:p>
          <a:p>
            <a:r>
              <a:rPr lang="en-IN" sz="1800" dirty="0">
                <a:solidFill>
                  <a:srgbClr val="000000"/>
                </a:solidFill>
                <a:latin typeface="Verdana" panose="020B0604030504040204" pitchFamily="34" charset="0"/>
              </a:rPr>
              <a:t>PUBLISHERS</a:t>
            </a:r>
          </a:p>
          <a:p>
            <a:r>
              <a:rPr lang="en-IN" sz="1800" dirty="0">
                <a:solidFill>
                  <a:srgbClr val="000000"/>
                </a:solidFill>
                <a:latin typeface="Verdana" panose="020B0604030504040204" pitchFamily="34" charset="0"/>
              </a:rPr>
              <a:t>5</a:t>
            </a:r>
            <a:r>
              <a:rPr lang="en-IN" sz="1800" dirty="0">
                <a:solidFill>
                  <a:srgbClr val="000000"/>
                </a:solidFill>
                <a:latin typeface="Tahoma" panose="020B0604030504040204" pitchFamily="34" charset="0"/>
              </a:rPr>
              <a:t>. </a:t>
            </a:r>
            <a:r>
              <a:rPr lang="en-IN" sz="1800" dirty="0">
                <a:solidFill>
                  <a:srgbClr val="000000"/>
                </a:solidFill>
                <a:latin typeface="Verdana" panose="020B0604030504040204" pitchFamily="34" charset="0"/>
              </a:rPr>
              <a:t>DIGITAL ELECTRONICS PRINCIPLES,DEVICES AND APPLICATIONS by ANIL K. MAINI, </a:t>
            </a:r>
          </a:p>
          <a:p>
            <a:r>
              <a:rPr lang="en-IN" sz="1800" dirty="0">
                <a:solidFill>
                  <a:srgbClr val="000000"/>
                </a:solidFill>
                <a:latin typeface="Verdana" panose="020B0604030504040204" pitchFamily="34" charset="0"/>
              </a:rPr>
              <a:t>WILEY </a:t>
            </a:r>
            <a:endParaRPr lang="en-IN" sz="1000" dirty="0">
              <a:solidFill>
                <a:schemeClr val="tx1"/>
              </a:solidFill>
              <a:latin typeface="Times New Roman" panose="02020603050405020304" pitchFamily="18" charset="0"/>
              <a:cs typeface="Times New Roman" panose="02020603050405020304" pitchFamily="18" charset="0"/>
            </a:endParaRPr>
          </a:p>
        </p:txBody>
      </p:sp>
      <p:sp>
        <p:nvSpPr>
          <p:cNvPr id="10" name="Title 9"/>
          <p:cNvSpPr>
            <a:spLocks noGrp="1"/>
          </p:cNvSpPr>
          <p:nvPr>
            <p:ph type="title"/>
          </p:nvPr>
        </p:nvSpPr>
        <p:spPr/>
        <p:txBody>
          <a:bodyPr/>
          <a:lstStyle/>
          <a:p>
            <a:r>
              <a:rPr lang="en-US" b="1" dirty="0"/>
              <a:t>Reference Books</a:t>
            </a:r>
          </a:p>
        </p:txBody>
      </p:sp>
      <p:pic>
        <p:nvPicPr>
          <p:cNvPr id="5" name="object 4"/>
          <p:cNvPicPr>
            <a:picLocks noGrp="1" noChangeAspect="1"/>
          </p:cNvPicPr>
          <p:nvPr>
            <p:ph sz="half" idx="3"/>
          </p:nvPr>
        </p:nvPicPr>
        <p:blipFill>
          <a:blip r:embed="rId2" cstate="print"/>
          <a:stretch>
            <a:fillRect/>
          </a:stretch>
        </p:blipFill>
        <p:spPr>
          <a:xfrm>
            <a:off x="10013950" y="0"/>
            <a:ext cx="2178050" cy="1117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739" y="576198"/>
            <a:ext cx="12034520" cy="677108"/>
          </a:xfrm>
        </p:spPr>
        <p:txBody>
          <a:bodyPr/>
          <a:lstStyle/>
          <a:p>
            <a:pPr algn="ctr"/>
            <a:r>
              <a:rPr lang="en-US" dirty="0">
                <a:solidFill>
                  <a:srgbClr val="FF0000"/>
                </a:solidFill>
              </a:rPr>
              <a:t>Course Assessment Model</a:t>
            </a:r>
          </a:p>
        </p:txBody>
      </p:sp>
      <p:sp>
        <p:nvSpPr>
          <p:cNvPr id="3" name="Subtitle 2"/>
          <p:cNvSpPr>
            <a:spLocks noGrp="1"/>
          </p:cNvSpPr>
          <p:nvPr>
            <p:ph type="subTitle" idx="4"/>
          </p:nvPr>
        </p:nvSpPr>
        <p:spPr>
          <a:xfrm>
            <a:off x="990600" y="1600200"/>
            <a:ext cx="10287000" cy="4985980"/>
          </a:xfrm>
        </p:spPr>
        <p:txBody>
          <a:bodyPr/>
          <a:lstStyle/>
          <a:p>
            <a:r>
              <a:rPr lang="en-US" sz="3600" dirty="0">
                <a:latin typeface="Times New Roman" panose="02020603050405020304" pitchFamily="18" charset="0"/>
                <a:cs typeface="Times New Roman" panose="02020603050405020304" pitchFamily="18" charset="0"/>
              </a:rPr>
              <a:t>Marks Break Up:</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Attendance                                           5</a:t>
            </a:r>
          </a:p>
          <a:p>
            <a:r>
              <a:rPr lang="en-US" sz="3600" dirty="0">
                <a:latin typeface="Times New Roman" panose="02020603050405020304" pitchFamily="18" charset="0"/>
                <a:cs typeface="Times New Roman" panose="02020603050405020304" pitchFamily="18" charset="0"/>
              </a:rPr>
              <a:t>CA (Two best out of Three)               25</a:t>
            </a:r>
          </a:p>
          <a:p>
            <a:r>
              <a:rPr lang="en-US" sz="3600" dirty="0">
                <a:latin typeface="Times New Roman" panose="02020603050405020304" pitchFamily="18" charset="0"/>
                <a:cs typeface="Times New Roman" panose="02020603050405020304" pitchFamily="18" charset="0"/>
              </a:rPr>
              <a:t>MTE                                                   20</a:t>
            </a:r>
          </a:p>
          <a:p>
            <a:r>
              <a:rPr lang="en-US" sz="3600" dirty="0">
                <a:latin typeface="Times New Roman" panose="02020603050405020304" pitchFamily="18" charset="0"/>
                <a:cs typeface="Times New Roman" panose="02020603050405020304" pitchFamily="18" charset="0"/>
              </a:rPr>
              <a:t>ETE                                                    50</a:t>
            </a:r>
          </a:p>
          <a:p>
            <a:r>
              <a:rPr lang="en-US" sz="3600" dirty="0">
                <a:latin typeface="Times New Roman" panose="02020603050405020304" pitchFamily="18" charset="0"/>
                <a:cs typeface="Times New Roman" panose="02020603050405020304" pitchFamily="18" charset="0"/>
              </a:rPr>
              <a:t>Total                                                 100</a:t>
            </a:r>
          </a:p>
          <a:p>
            <a:endParaRPr lang="en-US"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p:txBody>
      </p:sp>
      <p:pic>
        <p:nvPicPr>
          <p:cNvPr id="5" name="object 4"/>
          <p:cNvPicPr>
            <a:picLocks noGrp="1" noChangeAspect="1"/>
          </p:cNvPicPr>
          <p:nvPr>
            <p:ph sz="half" idx="2"/>
          </p:nvPr>
        </p:nvPicPr>
        <p:blipFill>
          <a:blip r:embed="rId2" cstate="print"/>
          <a:stretch>
            <a:fillRect/>
          </a:stretch>
        </p:blipFill>
        <p:spPr>
          <a:xfrm>
            <a:off x="10125710" y="0"/>
            <a:ext cx="2011045" cy="9404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8900" y="457200"/>
            <a:ext cx="9739630" cy="690245"/>
          </a:xfrm>
          <a:prstGeom prst="rect">
            <a:avLst/>
          </a:prstGeom>
        </p:spPr>
        <p:txBody>
          <a:bodyPr vert="horz" wrap="square" lIns="0" tIns="13335" rIns="0" bIns="0" rtlCol="0">
            <a:spAutoFit/>
          </a:bodyPr>
          <a:lstStyle/>
          <a:p>
            <a:pPr marL="12700" algn="ctr">
              <a:lnSpc>
                <a:spcPct val="100000"/>
              </a:lnSpc>
              <a:spcBef>
                <a:spcPts val="105"/>
              </a:spcBef>
            </a:pPr>
            <a:r>
              <a:rPr spc="-5" dirty="0">
                <a:latin typeface="Times New Roman" panose="02020603050405020304" pitchFamily="18" charset="0"/>
                <a:cs typeface="Times New Roman" panose="02020603050405020304" pitchFamily="18" charset="0"/>
              </a:rPr>
              <a:t>The</a:t>
            </a:r>
            <a:r>
              <a:rPr spc="-25" dirty="0">
                <a:latin typeface="Times New Roman" panose="02020603050405020304" pitchFamily="18" charset="0"/>
                <a:cs typeface="Times New Roman" panose="02020603050405020304" pitchFamily="18" charset="0"/>
              </a:rPr>
              <a:t> course</a:t>
            </a:r>
            <a:r>
              <a:rPr spc="-20"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content</a:t>
            </a:r>
            <a:r>
              <a:rPr lang="en-US" spc="-25" dirty="0">
                <a:latin typeface="Times New Roman" panose="02020603050405020304" pitchFamily="18" charset="0"/>
                <a:cs typeface="Times New Roman" panose="02020603050405020304" pitchFamily="18" charset="0"/>
              </a:rPr>
              <a:t> Before MTE</a:t>
            </a:r>
            <a:endParaRPr spc="-25" dirty="0">
              <a:latin typeface="Times New Roman" panose="02020603050405020304" pitchFamily="18" charset="0"/>
              <a:cs typeface="Times New Roman" panose="02020603050405020304" pitchFamily="18" charset="0"/>
            </a:endParaRPr>
          </a:p>
        </p:txBody>
      </p:sp>
      <p:pic>
        <p:nvPicPr>
          <p:cNvPr id="5" name="object 4"/>
          <p:cNvPicPr>
            <a:picLocks noGrp="1" noChangeAspect="1"/>
          </p:cNvPicPr>
          <p:nvPr>
            <p:ph sz="half" idx="2"/>
          </p:nvPr>
        </p:nvPicPr>
        <p:blipFill>
          <a:blip r:embed="rId2" cstate="print"/>
          <a:stretch>
            <a:fillRect/>
          </a:stretch>
        </p:blipFill>
        <p:spPr>
          <a:xfrm>
            <a:off x="10125710" y="0"/>
            <a:ext cx="2011045" cy="940435"/>
          </a:xfrm>
          <a:prstGeom prst="rect">
            <a:avLst/>
          </a:prstGeom>
        </p:spPr>
      </p:pic>
      <p:sp>
        <p:nvSpPr>
          <p:cNvPr id="6" name="TextBox 5">
            <a:extLst>
              <a:ext uri="{FF2B5EF4-FFF2-40B4-BE49-F238E27FC236}">
                <a16:creationId xmlns:a16="http://schemas.microsoft.com/office/drawing/2014/main" id="{4C3160FD-483C-3CE6-67DC-25A712097A1D}"/>
              </a:ext>
            </a:extLst>
          </p:cNvPr>
          <p:cNvSpPr txBox="1"/>
          <p:nvPr/>
        </p:nvSpPr>
        <p:spPr>
          <a:xfrm>
            <a:off x="88900" y="1066800"/>
            <a:ext cx="12014200" cy="5170646"/>
          </a:xfrm>
          <a:prstGeom prst="rect">
            <a:avLst/>
          </a:prstGeom>
          <a:noFill/>
        </p:spPr>
        <p:txBody>
          <a:bodyPr wrap="square">
            <a:spAutoFit/>
          </a:bodyPr>
          <a:lstStyle/>
          <a:p>
            <a:r>
              <a:rPr lang="en-IN" sz="2200" b="1" dirty="0">
                <a:solidFill>
                  <a:srgbClr val="000000"/>
                </a:solidFill>
                <a:latin typeface="Verdana" panose="020B0604030504040204" pitchFamily="34" charset="0"/>
              </a:rPr>
              <a:t>Unit I</a:t>
            </a:r>
          </a:p>
          <a:p>
            <a:r>
              <a:rPr lang="en-US" sz="2200" b="1" dirty="0">
                <a:solidFill>
                  <a:srgbClr val="000000"/>
                </a:solidFill>
                <a:latin typeface="Verdana" panose="020B0604030504040204" pitchFamily="34" charset="0"/>
              </a:rPr>
              <a:t>Fundamentals of DC and AC circuits</a:t>
            </a:r>
            <a:r>
              <a:rPr lang="en-US" sz="2200" b="1" dirty="0">
                <a:solidFill>
                  <a:srgbClr val="000000"/>
                </a:solidFill>
                <a:latin typeface="Tahoma" panose="020B0604030504040204" pitchFamily="34" charset="0"/>
              </a:rPr>
              <a:t> : </a:t>
            </a:r>
            <a:r>
              <a:rPr lang="en-US" sz="2200" dirty="0">
                <a:solidFill>
                  <a:srgbClr val="000000"/>
                </a:solidFill>
                <a:latin typeface="Verdana" panose="020B0604030504040204" pitchFamily="34" charset="0"/>
              </a:rPr>
              <a:t>resistance, inductance, capacitance, voltage, current, power and energy concepts, ohm's law, Kirchhoff’s laws, voltage division rule, current division rule, dependent and independent sources, mesh and nodal analysis, Thevenin’s theorem Norton’s theorem, alternating current and voltage, definitions of amplitude and phase, average and RMS value of an AC </a:t>
            </a:r>
            <a:r>
              <a:rPr lang="en-IN" sz="2200" dirty="0">
                <a:solidFill>
                  <a:srgbClr val="000000"/>
                </a:solidFill>
                <a:latin typeface="Verdana" panose="020B0604030504040204" pitchFamily="34" charset="0"/>
              </a:rPr>
              <a:t>signal</a:t>
            </a:r>
          </a:p>
          <a:p>
            <a:r>
              <a:rPr lang="en-IN" sz="2200" b="1" dirty="0">
                <a:solidFill>
                  <a:srgbClr val="000000"/>
                </a:solidFill>
                <a:latin typeface="Verdana" panose="020B0604030504040204" pitchFamily="34" charset="0"/>
              </a:rPr>
              <a:t>Unit II</a:t>
            </a:r>
          </a:p>
          <a:p>
            <a:r>
              <a:rPr lang="en-US" sz="2200" b="1" dirty="0">
                <a:solidFill>
                  <a:srgbClr val="000000"/>
                </a:solidFill>
                <a:latin typeface="Verdana" panose="020B0604030504040204" pitchFamily="34" charset="0"/>
              </a:rPr>
              <a:t>Fundamental of semiconductor devices</a:t>
            </a:r>
            <a:r>
              <a:rPr lang="en-US" sz="2200" b="1" dirty="0">
                <a:solidFill>
                  <a:srgbClr val="000000"/>
                </a:solidFill>
                <a:latin typeface="Tahoma" panose="020B0604030504040204" pitchFamily="34" charset="0"/>
              </a:rPr>
              <a:t> : </a:t>
            </a:r>
            <a:r>
              <a:rPr lang="en-US" sz="2200" dirty="0">
                <a:solidFill>
                  <a:srgbClr val="000000"/>
                </a:solidFill>
                <a:latin typeface="Verdana" panose="020B0604030504040204" pitchFamily="34" charset="0"/>
              </a:rPr>
              <a:t>PN junction diode(working and characteristics) and its applications, Bipolar junction transistor (PNP and NPN), MOSFET (types and applications), Op-amp(features and virtual ground concept), Op-amp (inverting and non-inverting)</a:t>
            </a:r>
          </a:p>
          <a:p>
            <a:r>
              <a:rPr lang="en-IN" sz="2200" b="1" dirty="0">
                <a:solidFill>
                  <a:srgbClr val="000000"/>
                </a:solidFill>
                <a:latin typeface="Verdana" panose="020B0604030504040204" pitchFamily="34" charset="0"/>
              </a:rPr>
              <a:t>Unit III</a:t>
            </a:r>
          </a:p>
          <a:p>
            <a:r>
              <a:rPr lang="en-US" sz="2200" b="1" dirty="0">
                <a:solidFill>
                  <a:srgbClr val="000000"/>
                </a:solidFill>
                <a:latin typeface="Verdana" panose="020B0604030504040204" pitchFamily="34" charset="0"/>
              </a:rPr>
              <a:t>Introduction to number system and logic gates</a:t>
            </a:r>
            <a:r>
              <a:rPr lang="en-US" sz="2200" b="1" dirty="0">
                <a:solidFill>
                  <a:srgbClr val="000000"/>
                </a:solidFill>
                <a:latin typeface="Tahoma" panose="020B0604030504040204" pitchFamily="34" charset="0"/>
              </a:rPr>
              <a:t> : </a:t>
            </a:r>
            <a:r>
              <a:rPr lang="en-US" sz="2200" dirty="0">
                <a:solidFill>
                  <a:srgbClr val="000000"/>
                </a:solidFill>
                <a:latin typeface="Verdana" panose="020B0604030504040204" pitchFamily="34" charset="0"/>
              </a:rPr>
              <a:t>Number system (conversion) and codes (B-G,G-B,Excess-3,BCD), logic gates, CMOS logic gates, Boolean algebra, SOP and POS, K- Map ( up to 4 </a:t>
            </a:r>
            <a:r>
              <a:rPr lang="en-IN" sz="2200" dirty="0">
                <a:solidFill>
                  <a:srgbClr val="000000"/>
                </a:solidFill>
                <a:latin typeface="Verdana" panose="020B0604030504040204" pitchFamily="34" charset="0"/>
              </a:rPr>
              <a:t>variables)</a:t>
            </a:r>
            <a:endParaRPr lang="en-IN"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4335" y="626745"/>
            <a:ext cx="7731125" cy="690245"/>
          </a:xfrm>
          <a:prstGeom prst="rect">
            <a:avLst/>
          </a:prstGeom>
        </p:spPr>
        <p:txBody>
          <a:bodyPr vert="horz" wrap="square" lIns="0" tIns="13335" rIns="0" bIns="0" rtlCol="0">
            <a:spAutoFit/>
          </a:bodyPr>
          <a:lstStyle/>
          <a:p>
            <a:pPr marL="12700" algn="ctr">
              <a:lnSpc>
                <a:spcPct val="100000"/>
              </a:lnSpc>
              <a:spcBef>
                <a:spcPts val="105"/>
              </a:spcBef>
            </a:pPr>
            <a:r>
              <a:rPr spc="-5" dirty="0">
                <a:latin typeface="Times New Roman" panose="02020603050405020304" pitchFamily="18" charset="0"/>
                <a:cs typeface="Times New Roman" panose="02020603050405020304" pitchFamily="18" charset="0"/>
              </a:rPr>
              <a:t>The</a:t>
            </a:r>
            <a:r>
              <a:rPr spc="-25" dirty="0">
                <a:latin typeface="Times New Roman" panose="02020603050405020304" pitchFamily="18" charset="0"/>
                <a:cs typeface="Times New Roman" panose="02020603050405020304" pitchFamily="18" charset="0"/>
              </a:rPr>
              <a:t> course</a:t>
            </a:r>
            <a:r>
              <a:rPr spc="-20"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contents</a:t>
            </a:r>
            <a:r>
              <a:rPr lang="en-US" spc="-25" dirty="0">
                <a:latin typeface="Times New Roman" panose="02020603050405020304" pitchFamily="18" charset="0"/>
                <a:cs typeface="Times New Roman" panose="02020603050405020304" pitchFamily="18" charset="0"/>
              </a:rPr>
              <a:t> After MTE</a:t>
            </a:r>
            <a:endParaRPr spc="-25" dirty="0">
              <a:latin typeface="Times New Roman" panose="02020603050405020304" pitchFamily="18" charset="0"/>
              <a:cs typeface="Times New Roman" panose="02020603050405020304" pitchFamily="18" charset="0"/>
            </a:endParaRPr>
          </a:p>
        </p:txBody>
      </p:sp>
      <p:pic>
        <p:nvPicPr>
          <p:cNvPr id="3" name="object 4"/>
          <p:cNvPicPr>
            <a:picLocks noGrp="1" noChangeAspect="1"/>
          </p:cNvPicPr>
          <p:nvPr>
            <p:ph sz="half" idx="2"/>
          </p:nvPr>
        </p:nvPicPr>
        <p:blipFill>
          <a:blip r:embed="rId2" cstate="print"/>
          <a:stretch>
            <a:fillRect/>
          </a:stretch>
        </p:blipFill>
        <p:spPr>
          <a:xfrm>
            <a:off x="9395460" y="0"/>
            <a:ext cx="2796540" cy="967740"/>
          </a:xfrm>
          <a:prstGeom prst="rect">
            <a:avLst/>
          </a:prstGeom>
        </p:spPr>
      </p:pic>
      <p:sp>
        <p:nvSpPr>
          <p:cNvPr id="8" name="TextBox 7">
            <a:extLst>
              <a:ext uri="{FF2B5EF4-FFF2-40B4-BE49-F238E27FC236}">
                <a16:creationId xmlns:a16="http://schemas.microsoft.com/office/drawing/2014/main" id="{364313A6-680F-5E7E-EE9A-1632ABB24C3D}"/>
              </a:ext>
            </a:extLst>
          </p:cNvPr>
          <p:cNvSpPr txBox="1"/>
          <p:nvPr/>
        </p:nvSpPr>
        <p:spPr>
          <a:xfrm>
            <a:off x="21771" y="1752600"/>
            <a:ext cx="12115800" cy="4493538"/>
          </a:xfrm>
          <a:prstGeom prst="rect">
            <a:avLst/>
          </a:prstGeom>
          <a:noFill/>
        </p:spPr>
        <p:txBody>
          <a:bodyPr wrap="square">
            <a:spAutoFit/>
          </a:bodyPr>
          <a:lstStyle/>
          <a:p>
            <a:r>
              <a:rPr lang="en-IN" sz="2200" b="1" dirty="0">
                <a:solidFill>
                  <a:srgbClr val="000000"/>
                </a:solidFill>
                <a:latin typeface="Verdana" panose="020B0604030504040204" pitchFamily="34" charset="0"/>
              </a:rPr>
              <a:t>Unit IV</a:t>
            </a:r>
          </a:p>
          <a:p>
            <a:r>
              <a:rPr lang="en-US" sz="2200" b="1" dirty="0">
                <a:solidFill>
                  <a:srgbClr val="000000"/>
                </a:solidFill>
                <a:latin typeface="Verdana" panose="020B0604030504040204" pitchFamily="34" charset="0"/>
              </a:rPr>
              <a:t>Introduction of Arduino and Sensors</a:t>
            </a:r>
            <a:r>
              <a:rPr lang="en-US" sz="2200" b="1" dirty="0">
                <a:solidFill>
                  <a:srgbClr val="000000"/>
                </a:solidFill>
                <a:latin typeface="Tahoma" panose="020B0604030504040204" pitchFamily="34" charset="0"/>
              </a:rPr>
              <a:t> : </a:t>
            </a:r>
            <a:r>
              <a:rPr lang="en-US" sz="2200" dirty="0">
                <a:solidFill>
                  <a:srgbClr val="000000"/>
                </a:solidFill>
                <a:latin typeface="Verdana" panose="020B0604030504040204" pitchFamily="34" charset="0"/>
              </a:rPr>
              <a:t>Arduino board (pin configuration and description), IR sensor., LDR, basic principle of ultrasonic sensor, Temperature sensor</a:t>
            </a:r>
          </a:p>
          <a:p>
            <a:r>
              <a:rPr lang="en-IN" sz="2200" b="1" dirty="0">
                <a:solidFill>
                  <a:srgbClr val="000000"/>
                </a:solidFill>
                <a:latin typeface="Verdana" panose="020B0604030504040204" pitchFamily="34" charset="0"/>
              </a:rPr>
              <a:t>Unit V</a:t>
            </a:r>
          </a:p>
          <a:p>
            <a:r>
              <a:rPr lang="en-IN" sz="2200" b="1" dirty="0">
                <a:solidFill>
                  <a:srgbClr val="000000"/>
                </a:solidFill>
                <a:latin typeface="Verdana" panose="020B0604030504040204" pitchFamily="34" charset="0"/>
              </a:rPr>
              <a:t>Introduction to Combinational Logic Circuits</a:t>
            </a:r>
            <a:r>
              <a:rPr lang="en-IN" sz="2200" b="1" dirty="0">
                <a:solidFill>
                  <a:srgbClr val="000000"/>
                </a:solidFill>
                <a:latin typeface="Tahoma" panose="020B0604030504040204" pitchFamily="34" charset="0"/>
              </a:rPr>
              <a:t> : </a:t>
            </a:r>
            <a:r>
              <a:rPr lang="en-IN" sz="2200" dirty="0">
                <a:solidFill>
                  <a:srgbClr val="000000"/>
                </a:solidFill>
                <a:latin typeface="Verdana" panose="020B0604030504040204" pitchFamily="34" charset="0"/>
              </a:rPr>
              <a:t>Adders, Subtractors, Comparators, Multiplexers </a:t>
            </a:r>
            <a:r>
              <a:rPr lang="fr-FR" sz="2200" dirty="0">
                <a:solidFill>
                  <a:srgbClr val="000000"/>
                </a:solidFill>
                <a:latin typeface="Verdana" panose="020B0604030504040204" pitchFamily="34" charset="0"/>
              </a:rPr>
              <a:t>and De-</a:t>
            </a:r>
            <a:r>
              <a:rPr lang="fr-FR" sz="2200" dirty="0" err="1">
                <a:solidFill>
                  <a:srgbClr val="000000"/>
                </a:solidFill>
                <a:latin typeface="Verdana" panose="020B0604030504040204" pitchFamily="34" charset="0"/>
              </a:rPr>
              <a:t>multiplexers</a:t>
            </a:r>
            <a:r>
              <a:rPr lang="fr-FR" sz="2200" dirty="0">
                <a:solidFill>
                  <a:srgbClr val="000000"/>
                </a:solidFill>
                <a:latin typeface="Verdana" panose="020B0604030504040204" pitchFamily="34" charset="0"/>
              </a:rPr>
              <a:t>, </a:t>
            </a:r>
            <a:r>
              <a:rPr lang="fr-FR" sz="2200" dirty="0" err="1">
                <a:solidFill>
                  <a:srgbClr val="000000"/>
                </a:solidFill>
                <a:latin typeface="Verdana" panose="020B0604030504040204" pitchFamily="34" charset="0"/>
              </a:rPr>
              <a:t>Decoders</a:t>
            </a:r>
            <a:r>
              <a:rPr lang="fr-FR" sz="2200" dirty="0">
                <a:solidFill>
                  <a:srgbClr val="000000"/>
                </a:solidFill>
                <a:latin typeface="Verdana" panose="020B0604030504040204" pitchFamily="34" charset="0"/>
              </a:rPr>
              <a:t>, </a:t>
            </a:r>
            <a:r>
              <a:rPr lang="fr-FR" sz="2200" dirty="0" err="1">
                <a:solidFill>
                  <a:srgbClr val="000000"/>
                </a:solidFill>
                <a:latin typeface="Verdana" panose="020B0604030504040204" pitchFamily="34" charset="0"/>
              </a:rPr>
              <a:t>Encoders</a:t>
            </a:r>
            <a:r>
              <a:rPr lang="fr-FR" sz="2200" dirty="0">
                <a:solidFill>
                  <a:srgbClr val="000000"/>
                </a:solidFill>
                <a:latin typeface="Verdana" panose="020B0604030504040204" pitchFamily="34" charset="0"/>
              </a:rPr>
              <a:t>, </a:t>
            </a:r>
            <a:r>
              <a:rPr lang="fr-FR" sz="2200" dirty="0" err="1">
                <a:solidFill>
                  <a:srgbClr val="000000"/>
                </a:solidFill>
                <a:latin typeface="Verdana" panose="020B0604030504040204" pitchFamily="34" charset="0"/>
              </a:rPr>
              <a:t>Parity</a:t>
            </a:r>
            <a:r>
              <a:rPr lang="fr-FR" sz="2200" dirty="0">
                <a:solidFill>
                  <a:srgbClr val="000000"/>
                </a:solidFill>
                <a:latin typeface="Verdana" panose="020B0604030504040204" pitchFamily="34" charset="0"/>
              </a:rPr>
              <a:t> circuits</a:t>
            </a:r>
          </a:p>
          <a:p>
            <a:r>
              <a:rPr lang="en-IN" sz="2200" b="1" dirty="0">
                <a:solidFill>
                  <a:srgbClr val="000000"/>
                </a:solidFill>
                <a:latin typeface="Verdana" panose="020B0604030504040204" pitchFamily="34" charset="0"/>
              </a:rPr>
              <a:t>Unit VI</a:t>
            </a:r>
          </a:p>
          <a:p>
            <a:r>
              <a:rPr lang="en-US" sz="2200" b="1" dirty="0">
                <a:solidFill>
                  <a:srgbClr val="000000"/>
                </a:solidFill>
                <a:latin typeface="Verdana" panose="020B0604030504040204" pitchFamily="34" charset="0"/>
              </a:rPr>
              <a:t>Introduction to Sequential Logic Circuits</a:t>
            </a:r>
            <a:r>
              <a:rPr lang="en-US" sz="2200" b="1" dirty="0">
                <a:solidFill>
                  <a:srgbClr val="000000"/>
                </a:solidFill>
                <a:latin typeface="Tahoma" panose="020B0604030504040204" pitchFamily="34" charset="0"/>
              </a:rPr>
              <a:t> : </a:t>
            </a:r>
            <a:r>
              <a:rPr lang="en-US" sz="2200" dirty="0">
                <a:solidFill>
                  <a:srgbClr val="000000"/>
                </a:solidFill>
                <a:latin typeface="Verdana" panose="020B0604030504040204" pitchFamily="34" charset="0"/>
              </a:rPr>
              <a:t>Basic sequential circuits: SR-latch, D-latch, D flip-flop, JK flip- flop, T flip-flop, Master Slave JK flip flop, Conversion of basic flip-flop, Registers: Operation of all basic Shift Registers, Ring counter and Johnson ring counter, Counters: Design of Asynchronous, Synchronous counters, Decade counter using IC-7490</a:t>
            </a:r>
            <a:endParaRPr lang="en-IN"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265" y="605155"/>
            <a:ext cx="11189335" cy="689610"/>
          </a:xfrm>
          <a:prstGeom prst="rect">
            <a:avLst/>
          </a:prstGeom>
        </p:spPr>
        <p:txBody>
          <a:bodyPr vert="horz" wrap="square" lIns="0" tIns="12700" rIns="0" bIns="0" rtlCol="0">
            <a:spAutoFit/>
          </a:bodyPr>
          <a:lstStyle/>
          <a:p>
            <a:pPr marL="12700">
              <a:lnSpc>
                <a:spcPct val="100000"/>
              </a:lnSpc>
              <a:spcBef>
                <a:spcPts val="100"/>
              </a:spcBef>
              <a:tabLst>
                <a:tab pos="9421495" algn="l"/>
              </a:tabLst>
            </a:pPr>
            <a:r>
              <a:rPr sz="4400" spc="-195" dirty="0">
                <a:solidFill>
                  <a:srgbClr val="FF0000"/>
                </a:solidFill>
                <a:uFill>
                  <a:solidFill>
                    <a:srgbClr val="6FAC46"/>
                  </a:solidFill>
                </a:uFill>
                <a:latin typeface="Times New Roman" panose="02020603050405020304" pitchFamily="18" charset="0"/>
                <a:cs typeface="Times New Roman" panose="02020603050405020304" pitchFamily="18" charset="0"/>
              </a:rPr>
              <a:t> </a:t>
            </a:r>
            <a:r>
              <a:rPr lang="en-US" sz="4400" spc="-195" dirty="0">
                <a:solidFill>
                  <a:srgbClr val="FF0000"/>
                </a:solidFill>
                <a:uFill>
                  <a:solidFill>
                    <a:srgbClr val="6FAC46"/>
                  </a:solidFill>
                </a:uFill>
                <a:latin typeface="Times New Roman" panose="02020603050405020304" pitchFamily="18" charset="0"/>
                <a:cs typeface="Times New Roman" panose="02020603050405020304" pitchFamily="18" charset="0"/>
              </a:rPr>
              <a:t>Unit- 1: </a:t>
            </a:r>
            <a:r>
              <a:rPr sz="4400" spc="-50" dirty="0">
                <a:solidFill>
                  <a:srgbClr val="FF0000"/>
                </a:solidFill>
                <a:uFill>
                  <a:solidFill>
                    <a:srgbClr val="6FAC46"/>
                  </a:solidFill>
                </a:uFill>
                <a:latin typeface="Times New Roman" panose="02020603050405020304" pitchFamily="18" charset="0"/>
                <a:cs typeface="Times New Roman" panose="02020603050405020304" pitchFamily="18" charset="0"/>
              </a:rPr>
              <a:t>Fundamentals</a:t>
            </a:r>
            <a:r>
              <a:rPr sz="4400" spc="-95" dirty="0">
                <a:solidFill>
                  <a:srgbClr val="FF0000"/>
                </a:solidFill>
                <a:uFill>
                  <a:solidFill>
                    <a:srgbClr val="6FAC46"/>
                  </a:solidFill>
                </a:uFill>
                <a:latin typeface="Times New Roman" panose="02020603050405020304" pitchFamily="18" charset="0"/>
                <a:cs typeface="Times New Roman" panose="02020603050405020304" pitchFamily="18" charset="0"/>
              </a:rPr>
              <a:t> </a:t>
            </a:r>
            <a:r>
              <a:rPr sz="4400" spc="-20" dirty="0">
                <a:solidFill>
                  <a:srgbClr val="FF0000"/>
                </a:solidFill>
                <a:uFill>
                  <a:solidFill>
                    <a:srgbClr val="6FAC46"/>
                  </a:solidFill>
                </a:uFill>
                <a:latin typeface="Times New Roman" panose="02020603050405020304" pitchFamily="18" charset="0"/>
                <a:cs typeface="Times New Roman" panose="02020603050405020304" pitchFamily="18" charset="0"/>
              </a:rPr>
              <a:t>of</a:t>
            </a:r>
            <a:r>
              <a:rPr sz="4400" spc="-50" dirty="0">
                <a:solidFill>
                  <a:srgbClr val="FF0000"/>
                </a:solidFill>
                <a:uFill>
                  <a:solidFill>
                    <a:srgbClr val="6FAC46"/>
                  </a:solidFill>
                </a:uFill>
                <a:latin typeface="Times New Roman" panose="02020603050405020304" pitchFamily="18" charset="0"/>
                <a:cs typeface="Times New Roman" panose="02020603050405020304" pitchFamily="18" charset="0"/>
              </a:rPr>
              <a:t> </a:t>
            </a:r>
            <a:r>
              <a:rPr sz="4400" spc="-75" dirty="0">
                <a:solidFill>
                  <a:srgbClr val="FF0000"/>
                </a:solidFill>
                <a:uFill>
                  <a:solidFill>
                    <a:srgbClr val="6FAC46"/>
                  </a:solidFill>
                </a:uFill>
                <a:latin typeface="Times New Roman" panose="02020603050405020304" pitchFamily="18" charset="0"/>
                <a:cs typeface="Times New Roman" panose="02020603050405020304" pitchFamily="18" charset="0"/>
              </a:rPr>
              <a:t>DC</a:t>
            </a:r>
            <a:r>
              <a:rPr lang="en-US" sz="4400" spc="-75" dirty="0">
                <a:solidFill>
                  <a:srgbClr val="FF0000"/>
                </a:solidFill>
                <a:uFill>
                  <a:solidFill>
                    <a:srgbClr val="6FAC46"/>
                  </a:solidFill>
                </a:uFill>
                <a:latin typeface="Times New Roman" panose="02020603050405020304" pitchFamily="18" charset="0"/>
                <a:cs typeface="Times New Roman" panose="02020603050405020304" pitchFamily="18" charset="0"/>
              </a:rPr>
              <a:t> and A.C</a:t>
            </a:r>
            <a:r>
              <a:rPr sz="4400" spc="-85" dirty="0">
                <a:solidFill>
                  <a:srgbClr val="FF0000"/>
                </a:solidFill>
                <a:uFill>
                  <a:solidFill>
                    <a:srgbClr val="6FAC46"/>
                  </a:solidFill>
                </a:uFill>
                <a:latin typeface="Times New Roman" panose="02020603050405020304" pitchFamily="18" charset="0"/>
                <a:cs typeface="Times New Roman" panose="02020603050405020304" pitchFamily="18" charset="0"/>
              </a:rPr>
              <a:t> </a:t>
            </a:r>
            <a:r>
              <a:rPr sz="4400" spc="-35" dirty="0">
                <a:solidFill>
                  <a:srgbClr val="FF0000"/>
                </a:solidFill>
                <a:uFill>
                  <a:solidFill>
                    <a:srgbClr val="6FAC46"/>
                  </a:solidFill>
                </a:uFill>
                <a:latin typeface="Times New Roman" panose="02020603050405020304" pitchFamily="18" charset="0"/>
                <a:cs typeface="Times New Roman" panose="02020603050405020304" pitchFamily="18" charset="0"/>
              </a:rPr>
              <a:t>Circuits</a:t>
            </a:r>
            <a:r>
              <a:rPr sz="4400" dirty="0">
                <a:solidFill>
                  <a:srgbClr val="FF0000"/>
                </a:solidFill>
                <a:uFill>
                  <a:solidFill>
                    <a:srgbClr val="6FAC46"/>
                  </a:solidFill>
                </a:uFill>
                <a:latin typeface="Times New Roman" panose="02020603050405020304" pitchFamily="18" charset="0"/>
                <a:cs typeface="Times New Roman" panose="02020603050405020304" pitchFamily="18" charset="0"/>
              </a:rPr>
              <a:t>	</a:t>
            </a:r>
            <a:endParaRPr sz="4400" dirty="0">
              <a:solidFill>
                <a:srgbClr val="FF0000"/>
              </a:solidFill>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10439400" y="76200"/>
            <a:ext cx="1717040" cy="861060"/>
          </a:xfrm>
          <a:prstGeom prst="rect">
            <a:avLst/>
          </a:prstGeom>
        </p:spPr>
      </p:pic>
      <p:pic>
        <p:nvPicPr>
          <p:cNvPr id="3074" name="Picture 2" descr="Electricity 101 Ohm's Law, Circuit Capacities, and Appliance Wattages">
            <a:extLst>
              <a:ext uri="{FF2B5EF4-FFF2-40B4-BE49-F238E27FC236}">
                <a16:creationId xmlns:a16="http://schemas.microsoft.com/office/drawing/2014/main" id="{1985C0F2-0A8C-EA75-15FF-A52BBD8B07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58245"/>
            <a:ext cx="6054725" cy="53997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5EBEF8D-3FC2-04A9-775D-BEBA41F379CF}"/>
              </a:ext>
            </a:extLst>
          </p:cNvPr>
          <p:cNvPicPr>
            <a:picLocks noChangeAspect="1"/>
          </p:cNvPicPr>
          <p:nvPr/>
        </p:nvPicPr>
        <p:blipFill>
          <a:blip r:embed="rId4"/>
          <a:stretch>
            <a:fillRect/>
          </a:stretch>
        </p:blipFill>
        <p:spPr>
          <a:xfrm>
            <a:off x="6489419" y="1823720"/>
            <a:ext cx="5473981" cy="421661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190" y="0"/>
            <a:ext cx="12068810" cy="1379224"/>
          </a:xfrm>
          <a:prstGeom prst="rect">
            <a:avLst/>
          </a:prstGeom>
        </p:spPr>
        <p:txBody>
          <a:bodyPr vert="horz" wrap="square" lIns="0" tIns="12065" rIns="0" bIns="0" rtlCol="0">
            <a:spAutoFit/>
          </a:bodyPr>
          <a:lstStyle/>
          <a:p>
            <a:pPr marL="12700">
              <a:lnSpc>
                <a:spcPct val="100000"/>
              </a:lnSpc>
              <a:spcBef>
                <a:spcPts val="95"/>
              </a:spcBef>
            </a:pPr>
            <a:r>
              <a:rPr lang="en-US" sz="4400" spc="-10" dirty="0">
                <a:solidFill>
                  <a:srgbClr val="FF0000"/>
                </a:solidFill>
                <a:latin typeface="Times New Roman" panose="02020603050405020304" pitchFamily="18" charset="0"/>
                <a:cs typeface="Times New Roman" panose="02020603050405020304" pitchFamily="18" charset="0"/>
              </a:rPr>
              <a:t>Unit- 2: </a:t>
            </a:r>
            <a:r>
              <a:rPr sz="4400" spc="-10" dirty="0">
                <a:solidFill>
                  <a:srgbClr val="FF0000"/>
                </a:solidFill>
                <a:latin typeface="Times New Roman" panose="02020603050405020304" pitchFamily="18" charset="0"/>
                <a:cs typeface="Times New Roman" panose="02020603050405020304" pitchFamily="18" charset="0"/>
              </a:rPr>
              <a:t>Fundamentals</a:t>
            </a:r>
            <a:r>
              <a:rPr sz="4400" dirty="0">
                <a:solidFill>
                  <a:srgbClr val="FF0000"/>
                </a:solidFill>
                <a:latin typeface="Times New Roman" panose="02020603050405020304" pitchFamily="18" charset="0"/>
                <a:cs typeface="Times New Roman" panose="02020603050405020304" pitchFamily="18" charset="0"/>
              </a:rPr>
              <a:t> </a:t>
            </a:r>
            <a:r>
              <a:rPr sz="4400" spc="-5" dirty="0">
                <a:solidFill>
                  <a:srgbClr val="FF0000"/>
                </a:solidFill>
                <a:latin typeface="Times New Roman" panose="02020603050405020304" pitchFamily="18" charset="0"/>
                <a:cs typeface="Times New Roman" panose="02020603050405020304" pitchFamily="18" charset="0"/>
              </a:rPr>
              <a:t>of</a:t>
            </a:r>
            <a:r>
              <a:rPr sz="4400" spc="5" dirty="0">
                <a:solidFill>
                  <a:srgbClr val="FF0000"/>
                </a:solidFill>
                <a:latin typeface="Times New Roman" panose="02020603050405020304" pitchFamily="18" charset="0"/>
                <a:cs typeface="Times New Roman" panose="02020603050405020304" pitchFamily="18" charset="0"/>
              </a:rPr>
              <a:t> </a:t>
            </a:r>
            <a:r>
              <a:rPr sz="4400" spc="-15" dirty="0">
                <a:solidFill>
                  <a:srgbClr val="FF0000"/>
                </a:solidFill>
                <a:latin typeface="Times New Roman" panose="02020603050405020304" pitchFamily="18" charset="0"/>
                <a:cs typeface="Times New Roman" panose="02020603050405020304" pitchFamily="18" charset="0"/>
              </a:rPr>
              <a:t>semiconductor</a:t>
            </a:r>
            <a:r>
              <a:rPr sz="4400" spc="10" dirty="0">
                <a:solidFill>
                  <a:srgbClr val="FF0000"/>
                </a:solidFill>
                <a:latin typeface="Times New Roman" panose="02020603050405020304" pitchFamily="18" charset="0"/>
                <a:cs typeface="Times New Roman" panose="02020603050405020304" pitchFamily="18" charset="0"/>
              </a:rPr>
              <a:t> </a:t>
            </a:r>
            <a:endParaRPr lang="en-IN" sz="4400" spc="10" dirty="0">
              <a:solidFill>
                <a:srgbClr val="FF0000"/>
              </a:solidFill>
              <a:latin typeface="Times New Roman" panose="02020603050405020304" pitchFamily="18" charset="0"/>
              <a:cs typeface="Times New Roman" panose="02020603050405020304" pitchFamily="18" charset="0"/>
            </a:endParaRPr>
          </a:p>
          <a:p>
            <a:pPr marL="12700">
              <a:lnSpc>
                <a:spcPct val="100000"/>
              </a:lnSpc>
              <a:spcBef>
                <a:spcPts val="95"/>
              </a:spcBef>
            </a:pPr>
            <a:r>
              <a:rPr sz="4400" spc="-5" dirty="0">
                <a:solidFill>
                  <a:srgbClr val="FF0000"/>
                </a:solidFill>
                <a:latin typeface="Times New Roman" panose="02020603050405020304" pitchFamily="18" charset="0"/>
                <a:cs typeface="Times New Roman" panose="02020603050405020304" pitchFamily="18" charset="0"/>
              </a:rPr>
              <a:t>devices</a:t>
            </a:r>
            <a:r>
              <a:rPr sz="4400" spc="55" dirty="0">
                <a:solidFill>
                  <a:srgbClr val="FF0000"/>
                </a:solidFill>
                <a:latin typeface="Times New Roman" panose="02020603050405020304" pitchFamily="18" charset="0"/>
                <a:cs typeface="Times New Roman" panose="02020603050405020304" pitchFamily="18" charset="0"/>
              </a:rPr>
              <a:t> </a:t>
            </a:r>
            <a:endParaRPr sz="4400" dirty="0">
              <a:solidFill>
                <a:srgbClr val="FF0000"/>
              </a:solidFill>
              <a:latin typeface="Times New Roman" panose="02020603050405020304" pitchFamily="18" charset="0"/>
              <a:cs typeface="Times New Roman" panose="02020603050405020304" pitchFamily="18" charset="0"/>
            </a:endParaRPr>
          </a:p>
        </p:txBody>
      </p:sp>
      <p:pic>
        <p:nvPicPr>
          <p:cNvPr id="3" name="object 4"/>
          <p:cNvPicPr>
            <a:picLocks noGrp="1" noChangeAspect="1"/>
          </p:cNvPicPr>
          <p:nvPr>
            <p:ph sz="half" idx="2"/>
          </p:nvPr>
        </p:nvPicPr>
        <p:blipFill>
          <a:blip r:embed="rId2" cstate="print"/>
          <a:stretch>
            <a:fillRect/>
          </a:stretch>
        </p:blipFill>
        <p:spPr>
          <a:xfrm>
            <a:off x="10125710" y="0"/>
            <a:ext cx="2011045" cy="940435"/>
          </a:xfrm>
          <a:prstGeom prst="rect">
            <a:avLst/>
          </a:prstGeom>
        </p:spPr>
      </p:pic>
      <p:sp>
        <p:nvSpPr>
          <p:cNvPr id="5" name="TextBox 4">
            <a:extLst>
              <a:ext uri="{FF2B5EF4-FFF2-40B4-BE49-F238E27FC236}">
                <a16:creationId xmlns:a16="http://schemas.microsoft.com/office/drawing/2014/main" id="{D295D0BA-61AB-FFA6-E462-162CB3CF66FE}"/>
              </a:ext>
            </a:extLst>
          </p:cNvPr>
          <p:cNvSpPr txBox="1"/>
          <p:nvPr/>
        </p:nvSpPr>
        <p:spPr>
          <a:xfrm>
            <a:off x="-19105" y="1198760"/>
            <a:ext cx="7160100" cy="923330"/>
          </a:xfrm>
          <a:prstGeom prst="rect">
            <a:avLst/>
          </a:prstGeom>
          <a:noFill/>
        </p:spPr>
        <p:txBody>
          <a:bodyPr wrap="square">
            <a:spAutoFit/>
          </a:bodyPr>
          <a:lstStyle/>
          <a:p>
            <a:r>
              <a:rPr lang="en-US" b="1" dirty="0">
                <a:solidFill>
                  <a:srgbClr val="000000"/>
                </a:solidFill>
                <a:latin typeface="Nunito" pitchFamily="2" charset="0"/>
              </a:rPr>
              <a:t>TV Set TOP BOX for signal conditioning</a:t>
            </a:r>
          </a:p>
          <a:p>
            <a:r>
              <a:rPr lang="en-US" b="0" i="0" dirty="0">
                <a:solidFill>
                  <a:srgbClr val="000000"/>
                </a:solidFill>
                <a:effectLst/>
                <a:latin typeface="Nunito" pitchFamily="2" charset="0"/>
              </a:rPr>
              <a:t>enhances your TV viewing experience by offering </a:t>
            </a:r>
            <a:r>
              <a:rPr lang="en-US" b="1" i="0" dirty="0">
                <a:solidFill>
                  <a:srgbClr val="000000"/>
                </a:solidFill>
                <a:effectLst/>
                <a:latin typeface="Nunito" pitchFamily="2" charset="0"/>
              </a:rPr>
              <a:t>better picture quality </a:t>
            </a:r>
            <a:r>
              <a:rPr lang="en-US" b="0" i="0" dirty="0">
                <a:solidFill>
                  <a:srgbClr val="000000"/>
                </a:solidFill>
                <a:effectLst/>
                <a:latin typeface="Nunito" pitchFamily="2" charset="0"/>
              </a:rPr>
              <a:t>, improved voice content options, </a:t>
            </a:r>
            <a:endParaRPr lang="en-IN" dirty="0"/>
          </a:p>
        </p:txBody>
      </p:sp>
      <p:pic>
        <p:nvPicPr>
          <p:cNvPr id="2052" name="Picture 4" descr="Connect Set Top Box - Set top box setup">
            <a:extLst>
              <a:ext uri="{FF2B5EF4-FFF2-40B4-BE49-F238E27FC236}">
                <a16:creationId xmlns:a16="http://schemas.microsoft.com/office/drawing/2014/main" id="{DB517423-93D9-8099-CA9A-573D6DBB3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637" y="2077703"/>
            <a:ext cx="6181725" cy="22288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ose PowerMatch PM8500N 4000 Watt Configurable Audio Power Amplifier">
            <a:extLst>
              <a:ext uri="{FF2B5EF4-FFF2-40B4-BE49-F238E27FC236}">
                <a16:creationId xmlns:a16="http://schemas.microsoft.com/office/drawing/2014/main" id="{53333A2C-F712-C44A-9AD8-BFE3493EE6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57" y="4170362"/>
            <a:ext cx="7376256" cy="30686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384AF9-7FA1-8AD1-D452-875C7809D963}"/>
              </a:ext>
            </a:extLst>
          </p:cNvPr>
          <p:cNvSpPr txBox="1"/>
          <p:nvPr/>
        </p:nvSpPr>
        <p:spPr>
          <a:xfrm>
            <a:off x="2133600" y="4191000"/>
            <a:ext cx="2929618" cy="646331"/>
          </a:xfrm>
          <a:prstGeom prst="rect">
            <a:avLst/>
          </a:prstGeom>
          <a:noFill/>
        </p:spPr>
        <p:txBody>
          <a:bodyPr wrap="square">
            <a:spAutoFit/>
          </a:bodyPr>
          <a:lstStyle/>
          <a:p>
            <a:r>
              <a:rPr lang="en-US" b="1" dirty="0">
                <a:solidFill>
                  <a:srgbClr val="000000"/>
                </a:solidFill>
                <a:latin typeface="Nunito" pitchFamily="2" charset="0"/>
              </a:rPr>
              <a:t>BOSE Power amplifier for  music systems</a:t>
            </a:r>
            <a:endParaRPr lang="en-IN" dirty="0"/>
          </a:p>
        </p:txBody>
      </p:sp>
      <p:sp>
        <p:nvSpPr>
          <p:cNvPr id="7" name="TextBox 6">
            <a:extLst>
              <a:ext uri="{FF2B5EF4-FFF2-40B4-BE49-F238E27FC236}">
                <a16:creationId xmlns:a16="http://schemas.microsoft.com/office/drawing/2014/main" id="{990CD7A6-18F9-282A-D3E3-B9A2666904DF}"/>
              </a:ext>
            </a:extLst>
          </p:cNvPr>
          <p:cNvSpPr txBox="1"/>
          <p:nvPr/>
        </p:nvSpPr>
        <p:spPr>
          <a:xfrm>
            <a:off x="10079465" y="917559"/>
            <a:ext cx="1901555" cy="923330"/>
          </a:xfrm>
          <a:prstGeom prst="rect">
            <a:avLst/>
          </a:prstGeom>
          <a:noFill/>
        </p:spPr>
        <p:txBody>
          <a:bodyPr wrap="square">
            <a:spAutoFit/>
          </a:bodyPr>
          <a:lstStyle/>
          <a:p>
            <a:r>
              <a:rPr lang="en-US" b="1" dirty="0">
                <a:solidFill>
                  <a:srgbClr val="000000"/>
                </a:solidFill>
                <a:latin typeface="Nunito" pitchFamily="2" charset="0"/>
              </a:rPr>
              <a:t>Power supply using diode: mobile charger</a:t>
            </a:r>
            <a:endParaRPr lang="en-IN" dirty="0"/>
          </a:p>
        </p:txBody>
      </p:sp>
      <p:pic>
        <p:nvPicPr>
          <p:cNvPr id="10" name="Picture 9">
            <a:extLst>
              <a:ext uri="{FF2B5EF4-FFF2-40B4-BE49-F238E27FC236}">
                <a16:creationId xmlns:a16="http://schemas.microsoft.com/office/drawing/2014/main" id="{8BDDC7ED-AEA1-B5D8-F904-B5D6C2A6333C}"/>
              </a:ext>
            </a:extLst>
          </p:cNvPr>
          <p:cNvPicPr>
            <a:picLocks noChangeAspect="1"/>
          </p:cNvPicPr>
          <p:nvPr/>
        </p:nvPicPr>
        <p:blipFill>
          <a:blip r:embed="rId5"/>
          <a:stretch>
            <a:fillRect/>
          </a:stretch>
        </p:blipFill>
        <p:spPr>
          <a:xfrm>
            <a:off x="7007700" y="609159"/>
            <a:ext cx="3118010" cy="2267067"/>
          </a:xfrm>
          <a:prstGeom prst="rect">
            <a:avLst/>
          </a:prstGeom>
        </p:spPr>
      </p:pic>
      <p:sp>
        <p:nvSpPr>
          <p:cNvPr id="12" name="TextBox 11">
            <a:extLst>
              <a:ext uri="{FF2B5EF4-FFF2-40B4-BE49-F238E27FC236}">
                <a16:creationId xmlns:a16="http://schemas.microsoft.com/office/drawing/2014/main" id="{7B3AFB87-0269-4D81-A473-E6990D413AD4}"/>
              </a:ext>
            </a:extLst>
          </p:cNvPr>
          <p:cNvSpPr txBox="1"/>
          <p:nvPr/>
        </p:nvSpPr>
        <p:spPr>
          <a:xfrm>
            <a:off x="7213298" y="3844888"/>
            <a:ext cx="1901555" cy="923330"/>
          </a:xfrm>
          <a:prstGeom prst="rect">
            <a:avLst/>
          </a:prstGeom>
          <a:noFill/>
        </p:spPr>
        <p:txBody>
          <a:bodyPr wrap="square">
            <a:spAutoFit/>
          </a:bodyPr>
          <a:lstStyle/>
          <a:p>
            <a:r>
              <a:rPr lang="en-US" b="1" dirty="0">
                <a:solidFill>
                  <a:srgbClr val="000000"/>
                </a:solidFill>
                <a:latin typeface="Nunito" pitchFamily="2" charset="0"/>
              </a:rPr>
              <a:t>MOSFET: Chip Design: Motherboard</a:t>
            </a:r>
            <a:endParaRPr lang="en-IN" dirty="0"/>
          </a:p>
        </p:txBody>
      </p:sp>
      <p:pic>
        <p:nvPicPr>
          <p:cNvPr id="2058" name="Picture 10" descr="MSI PRO B660-A DDR4 LGA 1700 ATX Motherboard PRO B660-A DDR4 B&amp;H">
            <a:extLst>
              <a:ext uri="{FF2B5EF4-FFF2-40B4-BE49-F238E27FC236}">
                <a16:creationId xmlns:a16="http://schemas.microsoft.com/office/drawing/2014/main" id="{3C429859-B2B1-B7C1-D459-E5E00997DDA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37171" y="3045202"/>
            <a:ext cx="3276600" cy="3276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228600"/>
            <a:ext cx="12136755" cy="1122045"/>
          </a:xfrm>
          <a:prstGeom prst="rect">
            <a:avLst/>
          </a:prstGeom>
        </p:spPr>
        <p:txBody>
          <a:bodyPr vert="horz" wrap="square" lIns="0" tIns="12065" rIns="0" bIns="0" rtlCol="0">
            <a:noAutofit/>
          </a:bodyPr>
          <a:lstStyle/>
          <a:p>
            <a:pPr marL="12700">
              <a:lnSpc>
                <a:spcPct val="100000"/>
              </a:lnSpc>
              <a:spcBef>
                <a:spcPts val="95"/>
              </a:spcBef>
            </a:pPr>
            <a:r>
              <a:rPr lang="en-US" sz="4400" spc="-10" dirty="0">
                <a:solidFill>
                  <a:srgbClr val="FF0000"/>
                </a:solidFill>
                <a:latin typeface="Times New Roman" panose="02020603050405020304" pitchFamily="18" charset="0"/>
                <a:cs typeface="Times New Roman" panose="02020603050405020304" pitchFamily="18" charset="0"/>
              </a:rPr>
              <a:t>Unit- 3: </a:t>
            </a:r>
            <a:r>
              <a:rPr lang="en-US" sz="4400" dirty="0">
                <a:solidFill>
                  <a:srgbClr val="FF0000"/>
                </a:solidFill>
                <a:latin typeface="Times New Roman" panose="02020603050405020304" pitchFamily="18" charset="0"/>
                <a:cs typeface="Times New Roman" panose="02020603050405020304" pitchFamily="18" charset="0"/>
              </a:rPr>
              <a:t>Introduction to number system and </a:t>
            </a:r>
          </a:p>
          <a:p>
            <a:pPr marL="12700">
              <a:lnSpc>
                <a:spcPct val="100000"/>
              </a:lnSpc>
              <a:spcBef>
                <a:spcPts val="95"/>
              </a:spcBef>
            </a:pPr>
            <a:r>
              <a:rPr lang="en-US" sz="4400" dirty="0">
                <a:solidFill>
                  <a:srgbClr val="FF0000"/>
                </a:solidFill>
                <a:latin typeface="Times New Roman" panose="02020603050405020304" pitchFamily="18" charset="0"/>
                <a:cs typeface="Times New Roman" panose="02020603050405020304" pitchFamily="18" charset="0"/>
              </a:rPr>
              <a:t>logic gates</a:t>
            </a:r>
            <a:endParaRPr sz="4400" dirty="0">
              <a:solidFill>
                <a:srgbClr val="FF0000"/>
              </a:solidFill>
              <a:latin typeface="Times New Roman" panose="02020603050405020304" pitchFamily="18" charset="0"/>
              <a:cs typeface="Times New Roman" panose="02020603050405020304" pitchFamily="18" charset="0"/>
            </a:endParaRPr>
          </a:p>
        </p:txBody>
      </p:sp>
      <p:pic>
        <p:nvPicPr>
          <p:cNvPr id="12" name="object 12"/>
          <p:cNvPicPr/>
          <p:nvPr/>
        </p:nvPicPr>
        <p:blipFill>
          <a:blip r:embed="rId2" cstate="print"/>
          <a:stretch>
            <a:fillRect/>
          </a:stretch>
        </p:blipFill>
        <p:spPr>
          <a:xfrm>
            <a:off x="483870" y="3581400"/>
            <a:ext cx="5246370" cy="2531745"/>
          </a:xfrm>
          <a:prstGeom prst="rect">
            <a:avLst/>
          </a:prstGeom>
        </p:spPr>
      </p:pic>
      <p:pic>
        <p:nvPicPr>
          <p:cNvPr id="3" name="object 4"/>
          <p:cNvPicPr>
            <a:picLocks noGrp="1" noChangeAspect="1"/>
          </p:cNvPicPr>
          <p:nvPr>
            <p:ph sz="half" idx="2"/>
          </p:nvPr>
        </p:nvPicPr>
        <p:blipFill>
          <a:blip r:embed="rId3" cstate="print"/>
          <a:stretch>
            <a:fillRect/>
          </a:stretch>
        </p:blipFill>
        <p:spPr>
          <a:xfrm>
            <a:off x="10125710" y="0"/>
            <a:ext cx="2011045" cy="940435"/>
          </a:xfrm>
          <a:prstGeom prst="rect">
            <a:avLst/>
          </a:prstGeom>
        </p:spPr>
      </p:pic>
      <p:pic>
        <p:nvPicPr>
          <p:cNvPr id="5" name="Picture 4">
            <a:extLst>
              <a:ext uri="{FF2B5EF4-FFF2-40B4-BE49-F238E27FC236}">
                <a16:creationId xmlns:a16="http://schemas.microsoft.com/office/drawing/2014/main" id="{4AEDDCB1-A38F-AB91-0905-4E059ABC4CD6}"/>
              </a:ext>
            </a:extLst>
          </p:cNvPr>
          <p:cNvPicPr>
            <a:picLocks noChangeAspect="1"/>
          </p:cNvPicPr>
          <p:nvPr/>
        </p:nvPicPr>
        <p:blipFill>
          <a:blip r:embed="rId4"/>
          <a:stretch>
            <a:fillRect/>
          </a:stretch>
        </p:blipFill>
        <p:spPr>
          <a:xfrm>
            <a:off x="152400" y="1606693"/>
            <a:ext cx="3435059" cy="1740430"/>
          </a:xfrm>
          <a:prstGeom prst="rect">
            <a:avLst/>
          </a:prstGeom>
        </p:spPr>
      </p:pic>
      <p:pic>
        <p:nvPicPr>
          <p:cNvPr id="7" name="Picture 6">
            <a:extLst>
              <a:ext uri="{FF2B5EF4-FFF2-40B4-BE49-F238E27FC236}">
                <a16:creationId xmlns:a16="http://schemas.microsoft.com/office/drawing/2014/main" id="{C3955D09-9490-FB90-5784-0BDF59135EED}"/>
              </a:ext>
            </a:extLst>
          </p:cNvPr>
          <p:cNvPicPr>
            <a:picLocks noChangeAspect="1"/>
          </p:cNvPicPr>
          <p:nvPr/>
        </p:nvPicPr>
        <p:blipFill>
          <a:blip r:embed="rId5"/>
          <a:stretch>
            <a:fillRect/>
          </a:stretch>
        </p:blipFill>
        <p:spPr>
          <a:xfrm>
            <a:off x="3939539" y="1169980"/>
            <a:ext cx="3581401" cy="2152601"/>
          </a:xfrm>
          <a:prstGeom prst="rect">
            <a:avLst/>
          </a:prstGeom>
        </p:spPr>
      </p:pic>
      <p:graphicFrame>
        <p:nvGraphicFramePr>
          <p:cNvPr id="8" name="Table 7">
            <a:extLst>
              <a:ext uri="{FF2B5EF4-FFF2-40B4-BE49-F238E27FC236}">
                <a16:creationId xmlns:a16="http://schemas.microsoft.com/office/drawing/2014/main" id="{96E2652C-554E-D7AC-5724-93E95BB0FC3D}"/>
              </a:ext>
            </a:extLst>
          </p:cNvPr>
          <p:cNvGraphicFramePr>
            <a:graphicFrameLocks noGrp="1"/>
          </p:cNvGraphicFramePr>
          <p:nvPr>
            <p:extLst>
              <p:ext uri="{D42A27DB-BD31-4B8C-83A1-F6EECF244321}">
                <p14:modId xmlns:p14="http://schemas.microsoft.com/office/powerpoint/2010/main" val="508350204"/>
              </p:ext>
            </p:extLst>
          </p:nvPr>
        </p:nvGraphicFramePr>
        <p:xfrm>
          <a:off x="7300137" y="990600"/>
          <a:ext cx="4429764" cy="5487096"/>
        </p:xfrm>
        <a:graphic>
          <a:graphicData uri="http://schemas.openxmlformats.org/drawingml/2006/table">
            <a:tbl>
              <a:tblPr firstRow="1" bandRow="1">
                <a:tableStyleId>{5C22544A-7EE6-4342-B048-85BDC9FD1C3A}</a:tableStyleId>
              </a:tblPr>
              <a:tblGrid>
                <a:gridCol w="1107441">
                  <a:extLst>
                    <a:ext uri="{9D8B030D-6E8A-4147-A177-3AD203B41FA5}">
                      <a16:colId xmlns:a16="http://schemas.microsoft.com/office/drawing/2014/main" val="4280781621"/>
                    </a:ext>
                  </a:extLst>
                </a:gridCol>
                <a:gridCol w="1107441">
                  <a:extLst>
                    <a:ext uri="{9D8B030D-6E8A-4147-A177-3AD203B41FA5}">
                      <a16:colId xmlns:a16="http://schemas.microsoft.com/office/drawing/2014/main" val="1528614787"/>
                    </a:ext>
                  </a:extLst>
                </a:gridCol>
                <a:gridCol w="1107441">
                  <a:extLst>
                    <a:ext uri="{9D8B030D-6E8A-4147-A177-3AD203B41FA5}">
                      <a16:colId xmlns:a16="http://schemas.microsoft.com/office/drawing/2014/main" val="893602566"/>
                    </a:ext>
                  </a:extLst>
                </a:gridCol>
                <a:gridCol w="1107441">
                  <a:extLst>
                    <a:ext uri="{9D8B030D-6E8A-4147-A177-3AD203B41FA5}">
                      <a16:colId xmlns:a16="http://schemas.microsoft.com/office/drawing/2014/main" val="1128909358"/>
                    </a:ext>
                  </a:extLst>
                </a:gridCol>
              </a:tblGrid>
              <a:tr h="1006536">
                <a:tc>
                  <a:txBody>
                    <a:bodyPr/>
                    <a:lstStyle/>
                    <a:p>
                      <a:r>
                        <a:rPr lang="en-IN" dirty="0"/>
                        <a:t>Dec Numbers</a:t>
                      </a:r>
                    </a:p>
                  </a:txBody>
                  <a:tcPr/>
                </a:tc>
                <a:tc>
                  <a:txBody>
                    <a:bodyPr/>
                    <a:lstStyle/>
                    <a:p>
                      <a:r>
                        <a:rPr lang="en-IN" dirty="0"/>
                        <a:t>Binary Numbers</a:t>
                      </a:r>
                    </a:p>
                  </a:txBody>
                  <a:tcPr/>
                </a:tc>
                <a:tc>
                  <a:txBody>
                    <a:bodyPr/>
                    <a:lstStyle/>
                    <a:p>
                      <a:r>
                        <a:rPr lang="en-IN" dirty="0"/>
                        <a:t>Octal Numbers</a:t>
                      </a:r>
                    </a:p>
                  </a:txBody>
                  <a:tcPr/>
                </a:tc>
                <a:tc>
                  <a:txBody>
                    <a:bodyPr/>
                    <a:lstStyle/>
                    <a:p>
                      <a:r>
                        <a:rPr lang="en-IN" dirty="0"/>
                        <a:t>Hexadecimal Numbers</a:t>
                      </a:r>
                    </a:p>
                  </a:txBody>
                  <a:tcPr/>
                </a:tc>
                <a:extLst>
                  <a:ext uri="{0D108BD9-81ED-4DB2-BD59-A6C34878D82A}">
                    <a16:rowId xmlns:a16="http://schemas.microsoft.com/office/drawing/2014/main" val="3399903747"/>
                  </a:ext>
                </a:extLst>
              </a:tr>
              <a:tr h="2764367">
                <a:tc>
                  <a:txBody>
                    <a:bodyPr/>
                    <a:lstStyle/>
                    <a:p>
                      <a:pPr algn="ctr"/>
                      <a:r>
                        <a:rPr lang="en-IN" dirty="0"/>
                        <a:t>0</a:t>
                      </a:r>
                    </a:p>
                    <a:p>
                      <a:pPr algn="ctr"/>
                      <a:r>
                        <a:rPr lang="en-IN" dirty="0"/>
                        <a:t>1</a:t>
                      </a:r>
                    </a:p>
                    <a:p>
                      <a:pPr algn="ctr"/>
                      <a:r>
                        <a:rPr lang="en-IN" dirty="0"/>
                        <a:t>2</a:t>
                      </a:r>
                    </a:p>
                    <a:p>
                      <a:pPr algn="ctr"/>
                      <a:r>
                        <a:rPr lang="en-IN" dirty="0"/>
                        <a:t>3</a:t>
                      </a:r>
                    </a:p>
                    <a:p>
                      <a:pPr algn="ctr"/>
                      <a:r>
                        <a:rPr lang="en-IN" dirty="0"/>
                        <a:t>4</a:t>
                      </a:r>
                    </a:p>
                    <a:p>
                      <a:pPr algn="ctr"/>
                      <a:r>
                        <a:rPr lang="en-IN" dirty="0"/>
                        <a:t>5</a:t>
                      </a:r>
                    </a:p>
                    <a:p>
                      <a:pPr algn="ctr"/>
                      <a:r>
                        <a:rPr lang="en-IN" dirty="0"/>
                        <a:t>6</a:t>
                      </a:r>
                    </a:p>
                    <a:p>
                      <a:pPr algn="ctr"/>
                      <a:r>
                        <a:rPr lang="en-IN" dirty="0"/>
                        <a:t>7</a:t>
                      </a:r>
                    </a:p>
                    <a:p>
                      <a:pPr algn="ctr"/>
                      <a:r>
                        <a:rPr lang="en-IN" dirty="0"/>
                        <a:t>8</a:t>
                      </a:r>
                    </a:p>
                    <a:p>
                      <a:pPr algn="ctr"/>
                      <a:r>
                        <a:rPr lang="en-IN" dirty="0"/>
                        <a:t>9</a:t>
                      </a:r>
                    </a:p>
                  </a:txBody>
                  <a:tcPr/>
                </a:tc>
                <a:tc>
                  <a:txBody>
                    <a:bodyPr/>
                    <a:lstStyle/>
                    <a:p>
                      <a:pPr algn="ctr"/>
                      <a:r>
                        <a:rPr lang="en-IN" dirty="0"/>
                        <a:t>0</a:t>
                      </a:r>
                    </a:p>
                    <a:p>
                      <a:pPr algn="ctr"/>
                      <a:r>
                        <a:rPr lang="en-IN" dirty="0"/>
                        <a:t>1</a:t>
                      </a:r>
                    </a:p>
                  </a:txBody>
                  <a:tcPr/>
                </a:tc>
                <a:tc>
                  <a:txBody>
                    <a:bodyPr/>
                    <a:lstStyle/>
                    <a:p>
                      <a:pPr algn="ctr"/>
                      <a:r>
                        <a:rPr lang="en-IN" dirty="0"/>
                        <a:t>0</a:t>
                      </a:r>
                    </a:p>
                    <a:p>
                      <a:pPr algn="ctr"/>
                      <a:r>
                        <a:rPr lang="en-IN" dirty="0"/>
                        <a:t>1</a:t>
                      </a:r>
                    </a:p>
                    <a:p>
                      <a:pPr algn="ctr"/>
                      <a:r>
                        <a:rPr lang="en-IN" dirty="0"/>
                        <a:t>2</a:t>
                      </a:r>
                      <a:br>
                        <a:rPr lang="en-IN" dirty="0"/>
                      </a:br>
                      <a:r>
                        <a:rPr lang="en-IN" dirty="0"/>
                        <a:t>3</a:t>
                      </a:r>
                    </a:p>
                    <a:p>
                      <a:pPr algn="ctr"/>
                      <a:r>
                        <a:rPr lang="en-IN" dirty="0"/>
                        <a:t>4</a:t>
                      </a:r>
                    </a:p>
                    <a:p>
                      <a:pPr algn="ctr"/>
                      <a:r>
                        <a:rPr lang="en-IN" dirty="0"/>
                        <a:t>5</a:t>
                      </a:r>
                    </a:p>
                    <a:p>
                      <a:pPr algn="ctr"/>
                      <a:r>
                        <a:rPr lang="en-IN" dirty="0"/>
                        <a:t>6</a:t>
                      </a:r>
                    </a:p>
                    <a:p>
                      <a:pPr algn="ctr"/>
                      <a:r>
                        <a:rPr lang="en-IN" dirty="0"/>
                        <a:t>7</a:t>
                      </a:r>
                    </a:p>
                    <a:p>
                      <a:pPr algn="ctr"/>
                      <a:endParaRPr lang="en-IN" dirty="0"/>
                    </a:p>
                  </a:txBody>
                  <a:tcPr/>
                </a:tc>
                <a:tc>
                  <a:txBody>
                    <a:bodyPr/>
                    <a:lstStyle/>
                    <a:p>
                      <a:pPr algn="ctr"/>
                      <a:r>
                        <a:rPr lang="en-IN" dirty="0"/>
                        <a:t>0</a:t>
                      </a:r>
                    </a:p>
                    <a:p>
                      <a:pPr algn="ctr"/>
                      <a:r>
                        <a:rPr lang="en-IN" dirty="0"/>
                        <a:t>1</a:t>
                      </a:r>
                    </a:p>
                    <a:p>
                      <a:pPr algn="ctr"/>
                      <a:r>
                        <a:rPr lang="en-IN" dirty="0"/>
                        <a:t>2</a:t>
                      </a:r>
                    </a:p>
                    <a:p>
                      <a:pPr algn="ctr"/>
                      <a:r>
                        <a:rPr lang="en-IN" dirty="0"/>
                        <a:t>3</a:t>
                      </a:r>
                    </a:p>
                    <a:p>
                      <a:pPr algn="ctr"/>
                      <a:r>
                        <a:rPr lang="en-IN" dirty="0"/>
                        <a:t>4</a:t>
                      </a:r>
                    </a:p>
                    <a:p>
                      <a:pPr algn="ctr"/>
                      <a:r>
                        <a:rPr lang="en-IN" dirty="0"/>
                        <a:t>5</a:t>
                      </a:r>
                    </a:p>
                    <a:p>
                      <a:pPr algn="ctr"/>
                      <a:r>
                        <a:rPr lang="en-IN" dirty="0"/>
                        <a:t>6</a:t>
                      </a:r>
                    </a:p>
                    <a:p>
                      <a:pPr algn="ctr"/>
                      <a:r>
                        <a:rPr lang="en-IN" dirty="0"/>
                        <a:t>7</a:t>
                      </a:r>
                    </a:p>
                    <a:p>
                      <a:pPr algn="ctr"/>
                      <a:r>
                        <a:rPr lang="en-IN" dirty="0"/>
                        <a:t>8</a:t>
                      </a:r>
                    </a:p>
                    <a:p>
                      <a:pPr algn="ctr"/>
                      <a:r>
                        <a:rPr lang="en-IN" dirty="0"/>
                        <a:t>9</a:t>
                      </a:r>
                    </a:p>
                    <a:p>
                      <a:pPr algn="ctr"/>
                      <a:r>
                        <a:rPr lang="en-IN" dirty="0"/>
                        <a:t>A</a:t>
                      </a:r>
                    </a:p>
                    <a:p>
                      <a:pPr algn="ctr"/>
                      <a:r>
                        <a:rPr lang="en-IN" dirty="0"/>
                        <a:t>B</a:t>
                      </a:r>
                    </a:p>
                    <a:p>
                      <a:pPr algn="ctr"/>
                      <a:r>
                        <a:rPr lang="en-IN" dirty="0"/>
                        <a:t>C</a:t>
                      </a:r>
                    </a:p>
                    <a:p>
                      <a:pPr algn="ctr"/>
                      <a:r>
                        <a:rPr lang="en-IN" dirty="0"/>
                        <a:t>D</a:t>
                      </a:r>
                    </a:p>
                    <a:p>
                      <a:pPr algn="ctr"/>
                      <a:r>
                        <a:rPr lang="en-IN" dirty="0"/>
                        <a:t>E</a:t>
                      </a:r>
                    </a:p>
                    <a:p>
                      <a:pPr algn="ctr"/>
                      <a:r>
                        <a:rPr lang="en-IN" dirty="0"/>
                        <a:t>F</a:t>
                      </a:r>
                    </a:p>
                  </a:txBody>
                  <a:tcPr/>
                </a:tc>
                <a:extLst>
                  <a:ext uri="{0D108BD9-81ED-4DB2-BD59-A6C34878D82A}">
                    <a16:rowId xmlns:a16="http://schemas.microsoft.com/office/drawing/2014/main" val="977761861"/>
                  </a:ext>
                </a:extLst>
              </a:tr>
            </a:tbl>
          </a:graphicData>
        </a:graphic>
      </p:graphicFrame>
      <p:sp>
        <p:nvSpPr>
          <p:cNvPr id="10" name="TextBox 9">
            <a:extLst>
              <a:ext uri="{FF2B5EF4-FFF2-40B4-BE49-F238E27FC236}">
                <a16:creationId xmlns:a16="http://schemas.microsoft.com/office/drawing/2014/main" id="{DEFE9885-B48D-D5C4-1795-CC0A05896D28}"/>
              </a:ext>
            </a:extLst>
          </p:cNvPr>
          <p:cNvSpPr txBox="1"/>
          <p:nvPr/>
        </p:nvSpPr>
        <p:spPr>
          <a:xfrm>
            <a:off x="7300137" y="5181600"/>
            <a:ext cx="3658690" cy="646331"/>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How to create large numbers in any number system????</a:t>
            </a: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685800"/>
            <a:ext cx="10424795" cy="676910"/>
          </a:xfrm>
        </p:spPr>
        <p:txBody>
          <a:bodyPr wrap="square"/>
          <a:lstStyle/>
          <a:p>
            <a:r>
              <a:rPr lang="en-US" dirty="0">
                <a:latin typeface="Times New Roman" panose="02020603050405020304" pitchFamily="18" charset="0"/>
                <a:cs typeface="Times New Roman" panose="02020603050405020304" pitchFamily="18" charset="0"/>
              </a:rPr>
              <a:t>Unit-</a:t>
            </a:r>
            <a:r>
              <a:rPr lang="en-IN" altLang="en-US"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Introduction of Arduino and Sensors</a:t>
            </a:r>
            <a:endParaRPr lang="en-IN" dirty="0">
              <a:latin typeface="Times New Roman" panose="02020603050405020304" pitchFamily="18" charset="0"/>
              <a:cs typeface="Times New Roman" panose="02020603050405020304" pitchFamily="18" charset="0"/>
            </a:endParaRPr>
          </a:p>
        </p:txBody>
      </p:sp>
      <p:sp>
        <p:nvSpPr>
          <p:cNvPr id="4" name="object 4"/>
          <p:cNvSpPr/>
          <p:nvPr/>
        </p:nvSpPr>
        <p:spPr>
          <a:xfrm>
            <a:off x="10046970" y="31115"/>
            <a:ext cx="2042795" cy="960120"/>
          </a:xfrm>
          <a:prstGeom prst="rect">
            <a:avLst/>
          </a:prstGeom>
          <a:blipFill>
            <a:blip r:embed="rId2" cstate="print"/>
            <a:stretch>
              <a:fillRect/>
            </a:stretch>
          </a:blipFill>
        </p:spPr>
        <p:txBody>
          <a:bodyPr wrap="square" lIns="0" tIns="0" rIns="0" bIns="0" rtlCol="0"/>
          <a:lstStyle/>
          <a:p>
            <a:endParaRPr/>
          </a:p>
        </p:txBody>
      </p:sp>
      <p:pic>
        <p:nvPicPr>
          <p:cNvPr id="6" name="Picture 5">
            <a:extLst>
              <a:ext uri="{FF2B5EF4-FFF2-40B4-BE49-F238E27FC236}">
                <a16:creationId xmlns:a16="http://schemas.microsoft.com/office/drawing/2014/main" id="{5A9B397B-C8E7-1C66-2466-B5BCC06D9615}"/>
              </a:ext>
            </a:extLst>
          </p:cNvPr>
          <p:cNvPicPr>
            <a:picLocks noChangeAspect="1"/>
          </p:cNvPicPr>
          <p:nvPr/>
        </p:nvPicPr>
        <p:blipFill>
          <a:blip r:embed="rId3"/>
          <a:stretch>
            <a:fillRect/>
          </a:stretch>
        </p:blipFill>
        <p:spPr>
          <a:xfrm>
            <a:off x="762000" y="1463888"/>
            <a:ext cx="11049000" cy="49479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838200"/>
            <a:ext cx="11931015" cy="1366520"/>
          </a:xfrm>
          <a:prstGeom prst="rect">
            <a:avLst/>
          </a:prstGeom>
        </p:spPr>
        <p:txBody>
          <a:bodyPr vert="horz" wrap="square" lIns="0" tIns="12700" rIns="0" bIns="0" rtlCol="0">
            <a:spAutoFit/>
          </a:bodyPr>
          <a:lstStyle/>
          <a:p>
            <a:pPr marL="12700">
              <a:lnSpc>
                <a:spcPct val="100000"/>
              </a:lnSpc>
              <a:spcBef>
                <a:spcPts val="100"/>
              </a:spcBef>
              <a:tabLst>
                <a:tab pos="10146030" algn="l"/>
              </a:tabLst>
            </a:pPr>
            <a:r>
              <a:rPr lang="en-IN" spc="-229" dirty="0">
                <a:uFill>
                  <a:solidFill>
                    <a:srgbClr val="6FAC46"/>
                  </a:solidFill>
                </a:uFill>
              </a:rPr>
              <a:t>Unit- 5 : </a:t>
            </a:r>
            <a:r>
              <a:rPr lang="en-US" dirty="0"/>
              <a:t>Introduction to Combinational Logic Circuits</a:t>
            </a:r>
            <a:r>
              <a:rPr spc="-85" dirty="0">
                <a:solidFill>
                  <a:srgbClr val="C00000"/>
                </a:solidFill>
                <a:uFill>
                  <a:solidFill>
                    <a:srgbClr val="6FAC46"/>
                  </a:solidFill>
                </a:uFill>
              </a:rPr>
              <a:t>	</a:t>
            </a:r>
            <a:endParaRPr dirty="0"/>
          </a:p>
        </p:txBody>
      </p:sp>
      <p:sp>
        <p:nvSpPr>
          <p:cNvPr id="3" name="object 3"/>
          <p:cNvSpPr/>
          <p:nvPr/>
        </p:nvSpPr>
        <p:spPr>
          <a:xfrm>
            <a:off x="9855707" y="85343"/>
            <a:ext cx="2234183" cy="679703"/>
          </a:xfrm>
          <a:prstGeom prst="rect">
            <a:avLst/>
          </a:prstGeom>
          <a:blipFill>
            <a:blip r:embed="rId2" cstate="print"/>
            <a:stretch>
              <a:fillRect/>
            </a:stretch>
          </a:blipFill>
        </p:spPr>
        <p:txBody>
          <a:bodyPr wrap="square" lIns="0" tIns="0" rIns="0" bIns="0" rtlCol="0"/>
          <a:lstStyle/>
          <a:p>
            <a:endParaRPr/>
          </a:p>
        </p:txBody>
      </p:sp>
      <p:pic>
        <p:nvPicPr>
          <p:cNvPr id="9" name="Picture 7" descr="Multiplexer (MUX) and Multiplexing Tutori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305935"/>
            <a:ext cx="4217670" cy="179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6041707" y="1505766"/>
            <a:ext cx="5483225" cy="1322070"/>
          </a:xfrm>
          <a:prstGeom prst="rect">
            <a:avLst/>
          </a:prstGeom>
        </p:spPr>
        <p:txBody>
          <a:bodyPr wrap="square">
            <a:spAutoFit/>
          </a:bodyPr>
          <a:lstStyle/>
          <a:p>
            <a:pPr marL="285750" indent="-285750" algn="just">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Design of combinational circuits </a:t>
            </a:r>
          </a:p>
          <a:p>
            <a:pPr marL="285750" indent="-285750" algn="just">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Decoder and encoder operation and function implementation</a:t>
            </a:r>
          </a:p>
          <a:p>
            <a:pPr marL="285750" indent="-285750" algn="just">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 Multiplexer and </a:t>
            </a:r>
            <a:r>
              <a:rPr lang="en-US" altLang="en-US" sz="2000" dirty="0" err="1">
                <a:latin typeface="Times New Roman" panose="02020603050405020304" pitchFamily="18" charset="0"/>
                <a:cs typeface="Times New Roman" panose="02020603050405020304" pitchFamily="18" charset="0"/>
              </a:rPr>
              <a:t>Demultiplexer</a:t>
            </a:r>
            <a:r>
              <a:rPr lang="en-US" altLang="en-US" sz="2000" dirty="0">
                <a:latin typeface="Times New Roman" panose="02020603050405020304" pitchFamily="18" charset="0"/>
                <a:cs typeface="Times New Roman" panose="02020603050405020304" pitchFamily="18" charset="0"/>
              </a:rPr>
              <a:t> operation etc.</a:t>
            </a:r>
          </a:p>
        </p:txBody>
      </p:sp>
      <p:pic>
        <p:nvPicPr>
          <p:cNvPr id="12" name="Picture 11"/>
          <p:cNvPicPr>
            <a:picLocks noChangeAspect="1"/>
          </p:cNvPicPr>
          <p:nvPr/>
        </p:nvPicPr>
        <p:blipFill>
          <a:blip r:embed="rId4"/>
          <a:stretch>
            <a:fillRect/>
          </a:stretch>
        </p:blipFill>
        <p:spPr>
          <a:xfrm>
            <a:off x="685800" y="1791335"/>
            <a:ext cx="3747135" cy="1780540"/>
          </a:xfrm>
          <a:prstGeom prst="rect">
            <a:avLst/>
          </a:prstGeom>
        </p:spPr>
      </p:pic>
      <p:pic>
        <p:nvPicPr>
          <p:cNvPr id="1026" name="Picture 2" descr="How Does Computer Memory Work? Examples Analysis">
            <a:extLst>
              <a:ext uri="{FF2B5EF4-FFF2-40B4-BE49-F238E27FC236}">
                <a16:creationId xmlns:a16="http://schemas.microsoft.com/office/drawing/2014/main" id="{647AA733-27AB-F425-1ECB-E5283D3F7B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2827836"/>
            <a:ext cx="4343400" cy="30898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3E57BFE-58E0-5444-7F2B-417EFA3C26BA}"/>
              </a:ext>
            </a:extLst>
          </p:cNvPr>
          <p:cNvSpPr txBox="1"/>
          <p:nvPr/>
        </p:nvSpPr>
        <p:spPr>
          <a:xfrm>
            <a:off x="6781800" y="6019800"/>
            <a:ext cx="4419600" cy="646331"/>
          </a:xfrm>
          <a:prstGeom prst="rect">
            <a:avLst/>
          </a:prstGeom>
          <a:noFill/>
        </p:spPr>
        <p:txBody>
          <a:bodyPr wrap="square" rtlCol="0">
            <a:spAutoFit/>
          </a:bodyPr>
          <a:lstStyle/>
          <a:p>
            <a:r>
              <a:rPr lang="en-IN" dirty="0"/>
              <a:t>Decoder used to activate memory chips in a computer to access or load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838200"/>
            <a:ext cx="11657330" cy="447675"/>
          </a:xfrm>
          <a:prstGeom prst="rect">
            <a:avLst/>
          </a:prstGeom>
        </p:spPr>
        <p:txBody>
          <a:bodyPr vert="horz" wrap="square" lIns="0" tIns="60960" rIns="0" bIns="0" rtlCol="0">
            <a:spAutoFit/>
          </a:bodyPr>
          <a:lstStyle/>
          <a:p>
            <a:pPr marL="12700" marR="5080">
              <a:lnSpc>
                <a:spcPts val="3020"/>
              </a:lnSpc>
              <a:spcBef>
                <a:spcPts val="480"/>
              </a:spcBef>
            </a:pPr>
            <a:r>
              <a:rPr lang="en-US" dirty="0"/>
              <a:t>Unit-</a:t>
            </a:r>
            <a:r>
              <a:rPr lang="en-IN" altLang="en-US" dirty="0"/>
              <a:t>6</a:t>
            </a:r>
            <a:r>
              <a:rPr lang="en-US" dirty="0"/>
              <a:t>: Introduction to Sequential Logic Circuits  </a:t>
            </a:r>
            <a:endParaRPr dirty="0"/>
          </a:p>
        </p:txBody>
      </p:sp>
      <p:sp>
        <p:nvSpPr>
          <p:cNvPr id="4" name="object 4"/>
          <p:cNvSpPr/>
          <p:nvPr/>
        </p:nvSpPr>
        <p:spPr>
          <a:xfrm>
            <a:off x="9855707" y="85343"/>
            <a:ext cx="2234183" cy="679703"/>
          </a:xfrm>
          <a:prstGeom prst="rect">
            <a:avLst/>
          </a:prstGeom>
          <a:blipFill>
            <a:blip r:embed="rId2" cstate="print"/>
            <a:stretch>
              <a:fillRect/>
            </a:stretch>
          </a:blipFill>
        </p:spPr>
        <p:txBody>
          <a:bodyPr wrap="square" lIns="0" tIns="0" rIns="0" bIns="0" rtlCol="0"/>
          <a:lstStyle/>
          <a:p>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743250"/>
            <a:ext cx="4910138"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388" y="5257850"/>
            <a:ext cx="448151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304800" y="1414780"/>
            <a:ext cx="6096000" cy="1322070"/>
          </a:xfrm>
          <a:prstGeom prst="rect">
            <a:avLst/>
          </a:prstGeom>
        </p:spPr>
        <p:txBody>
          <a:bodyPr>
            <a:spAutoFit/>
          </a:bodyPr>
          <a:lstStyle/>
          <a:p>
            <a:pPr marL="285750" indent="-28575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Sequential logic Application</a:t>
            </a:r>
          </a:p>
          <a:p>
            <a:pPr marL="285750" indent="-28575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 Multi-bit latches, Registers</a:t>
            </a:r>
          </a:p>
          <a:p>
            <a:pPr marL="285750" indent="-28575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 Counters</a:t>
            </a:r>
          </a:p>
          <a:p>
            <a:pPr marL="285750" indent="-28575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 Shift register</a:t>
            </a:r>
          </a:p>
        </p:txBody>
      </p:sp>
      <p:pic>
        <p:nvPicPr>
          <p:cNvPr id="3" name="Picture 2">
            <a:extLst>
              <a:ext uri="{FF2B5EF4-FFF2-40B4-BE49-F238E27FC236}">
                <a16:creationId xmlns:a16="http://schemas.microsoft.com/office/drawing/2014/main" id="{779E4FB6-8880-D715-78D5-6B9530ABBC4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33938" y="1785938"/>
            <a:ext cx="6921500" cy="3168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739" y="-76200"/>
            <a:ext cx="12034520" cy="533400"/>
          </a:xfrm>
        </p:spPr>
        <p:txBody>
          <a:bodyPr/>
          <a:lstStyle/>
          <a:p>
            <a:pPr algn="ctr"/>
            <a:r>
              <a:rPr lang="en-US" dirty="0">
                <a:solidFill>
                  <a:srgbClr val="FF0000"/>
                </a:solidFill>
              </a:rPr>
              <a:t>Course Assessment Model</a:t>
            </a:r>
          </a:p>
        </p:txBody>
      </p:sp>
      <p:sp>
        <p:nvSpPr>
          <p:cNvPr id="3" name="Subtitle 2"/>
          <p:cNvSpPr>
            <a:spLocks noGrp="1"/>
          </p:cNvSpPr>
          <p:nvPr>
            <p:ph type="subTitle" idx="4"/>
          </p:nvPr>
        </p:nvSpPr>
        <p:spPr>
          <a:xfrm>
            <a:off x="990600" y="1600200"/>
            <a:ext cx="10287000" cy="3877985"/>
          </a:xfrm>
        </p:spPr>
        <p:txBody>
          <a:bodyPr/>
          <a:lstStyle/>
          <a:p>
            <a:r>
              <a:rPr lang="en-US" sz="3600" dirty="0">
                <a:latin typeface="Times New Roman" panose="02020603050405020304" pitchFamily="18" charset="0"/>
                <a:cs typeface="Times New Roman" panose="02020603050405020304" pitchFamily="18" charset="0"/>
              </a:rPr>
              <a:t>Marks Break Up:</a:t>
            </a:r>
          </a:p>
          <a:p>
            <a:r>
              <a:rPr lang="en-US" sz="3600" dirty="0">
                <a:latin typeface="Times New Roman" panose="02020603050405020304" pitchFamily="18" charset="0"/>
                <a:cs typeface="Times New Roman" panose="02020603050405020304" pitchFamily="18" charset="0"/>
              </a:rPr>
              <a:t>CA (Two best out of Three)               25</a:t>
            </a:r>
          </a:p>
          <a:p>
            <a:r>
              <a:rPr lang="en-US" sz="3600" dirty="0">
                <a:latin typeface="Times New Roman" panose="02020603050405020304" pitchFamily="18" charset="0"/>
                <a:cs typeface="Times New Roman" panose="02020603050405020304" pitchFamily="18" charset="0"/>
              </a:rPr>
              <a:t>MTE                                                   20</a:t>
            </a:r>
          </a:p>
          <a:p>
            <a:r>
              <a:rPr lang="en-US" sz="3600" dirty="0">
                <a:latin typeface="Times New Roman" panose="02020603050405020304" pitchFamily="18" charset="0"/>
                <a:cs typeface="Times New Roman" panose="02020603050405020304" pitchFamily="18" charset="0"/>
              </a:rPr>
              <a:t>ETE                                                    50</a:t>
            </a:r>
          </a:p>
          <a:p>
            <a:r>
              <a:rPr lang="en-US" sz="3600" dirty="0">
                <a:latin typeface="Times New Roman" panose="02020603050405020304" pitchFamily="18" charset="0"/>
                <a:cs typeface="Times New Roman" panose="02020603050405020304" pitchFamily="18" charset="0"/>
              </a:rPr>
              <a:t>Total                                                 100</a:t>
            </a:r>
          </a:p>
          <a:p>
            <a:endParaRPr lang="en-US" sz="3600" dirty="0">
              <a:latin typeface="Times New Roman" panose="02020603050405020304" pitchFamily="18" charset="0"/>
              <a:cs typeface="Times New Roman" panose="02020603050405020304" pitchFamily="18" charset="0"/>
            </a:endParaRPr>
          </a:p>
          <a:p>
            <a:endParaRPr lang="en-IN" sz="3600" dirty="0">
              <a:latin typeface="Times New Roman" panose="02020603050405020304" pitchFamily="18" charset="0"/>
              <a:cs typeface="Times New Roman" panose="02020603050405020304" pitchFamily="18" charset="0"/>
            </a:endParaRPr>
          </a:p>
        </p:txBody>
      </p:sp>
      <p:pic>
        <p:nvPicPr>
          <p:cNvPr id="5" name="object 4"/>
          <p:cNvPicPr>
            <a:picLocks noGrp="1" noChangeAspect="1"/>
          </p:cNvPicPr>
          <p:nvPr>
            <p:ph sz="half" idx="2"/>
          </p:nvPr>
        </p:nvPicPr>
        <p:blipFill>
          <a:blip r:embed="rId2" cstate="print"/>
          <a:stretch>
            <a:fillRect/>
          </a:stretch>
        </p:blipFill>
        <p:spPr>
          <a:xfrm>
            <a:off x="10125710" y="0"/>
            <a:ext cx="2011045" cy="940435"/>
          </a:xfrm>
          <a:prstGeom prst="rect">
            <a:avLst/>
          </a:prstGeom>
        </p:spPr>
      </p:pic>
      <p:graphicFrame>
        <p:nvGraphicFramePr>
          <p:cNvPr id="7" name="Table 6">
            <a:extLst>
              <a:ext uri="{FF2B5EF4-FFF2-40B4-BE49-F238E27FC236}">
                <a16:creationId xmlns:a16="http://schemas.microsoft.com/office/drawing/2014/main" id="{7F4D1DD0-DB61-57CB-C7F0-AA740BB08100}"/>
              </a:ext>
            </a:extLst>
          </p:cNvPr>
          <p:cNvGraphicFramePr>
            <a:graphicFrameLocks noGrp="1"/>
          </p:cNvGraphicFramePr>
          <p:nvPr/>
        </p:nvGraphicFramePr>
        <p:xfrm>
          <a:off x="0" y="457200"/>
          <a:ext cx="12191999" cy="64211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4070262407"/>
                    </a:ext>
                  </a:extLst>
                </a:gridCol>
                <a:gridCol w="2496492">
                  <a:extLst>
                    <a:ext uri="{9D8B030D-6E8A-4147-A177-3AD203B41FA5}">
                      <a16:colId xmlns:a16="http://schemas.microsoft.com/office/drawing/2014/main" val="2063061528"/>
                    </a:ext>
                  </a:extLst>
                </a:gridCol>
                <a:gridCol w="3333371">
                  <a:extLst>
                    <a:ext uri="{9D8B030D-6E8A-4147-A177-3AD203B41FA5}">
                      <a16:colId xmlns:a16="http://schemas.microsoft.com/office/drawing/2014/main" val="3787587035"/>
                    </a:ext>
                  </a:extLst>
                </a:gridCol>
                <a:gridCol w="5447736">
                  <a:extLst>
                    <a:ext uri="{9D8B030D-6E8A-4147-A177-3AD203B41FA5}">
                      <a16:colId xmlns:a16="http://schemas.microsoft.com/office/drawing/2014/main" val="3620741997"/>
                    </a:ext>
                  </a:extLst>
                </a:gridCol>
              </a:tblGrid>
              <a:tr h="370840">
                <a:tc>
                  <a:txBody>
                    <a:bodyPr/>
                    <a:lstStyle/>
                    <a:p>
                      <a:endParaRPr lang="en-IN" dirty="0"/>
                    </a:p>
                  </a:txBody>
                  <a:tcPr>
                    <a:solidFill>
                      <a:schemeClr val="accent1">
                        <a:lumMod val="40000"/>
                        <a:lumOff val="60000"/>
                      </a:schemeClr>
                    </a:solidFill>
                  </a:tcPr>
                </a:tc>
                <a:tc>
                  <a:txBody>
                    <a:bodyPr/>
                    <a:lstStyle/>
                    <a:p>
                      <a:r>
                        <a:rPr lang="en-IN" dirty="0"/>
                        <a:t>CA-1</a:t>
                      </a:r>
                    </a:p>
                  </a:txBody>
                  <a:tcPr>
                    <a:solidFill>
                      <a:schemeClr val="accent1">
                        <a:lumMod val="40000"/>
                        <a:lumOff val="60000"/>
                      </a:schemeClr>
                    </a:solidFill>
                  </a:tcPr>
                </a:tc>
                <a:tc>
                  <a:txBody>
                    <a:bodyPr/>
                    <a:lstStyle/>
                    <a:p>
                      <a:r>
                        <a:rPr lang="en-IN" dirty="0"/>
                        <a:t>CA-2</a:t>
                      </a:r>
                    </a:p>
                  </a:txBody>
                  <a:tcPr>
                    <a:solidFill>
                      <a:schemeClr val="accent1">
                        <a:lumMod val="40000"/>
                        <a:lumOff val="60000"/>
                      </a:schemeClr>
                    </a:solidFill>
                  </a:tcPr>
                </a:tc>
                <a:tc>
                  <a:txBody>
                    <a:bodyPr/>
                    <a:lstStyle/>
                    <a:p>
                      <a:r>
                        <a:rPr lang="en-IN" dirty="0"/>
                        <a:t>CA-3</a:t>
                      </a:r>
                    </a:p>
                  </a:txBody>
                  <a:tcPr>
                    <a:solidFill>
                      <a:schemeClr val="accent1">
                        <a:lumMod val="40000"/>
                        <a:lumOff val="60000"/>
                      </a:schemeClr>
                    </a:solidFill>
                  </a:tcPr>
                </a:tc>
                <a:extLst>
                  <a:ext uri="{0D108BD9-81ED-4DB2-BD59-A6C34878D82A}">
                    <a16:rowId xmlns:a16="http://schemas.microsoft.com/office/drawing/2014/main" val="4085521454"/>
                  </a:ext>
                </a:extLst>
              </a:tr>
              <a:tr h="370840">
                <a:tc>
                  <a:txBody>
                    <a:bodyPr/>
                    <a:lstStyle/>
                    <a:p>
                      <a:r>
                        <a:rPr lang="en-IN" b="1" dirty="0"/>
                        <a:t>Marks</a:t>
                      </a:r>
                    </a:p>
                  </a:txBody>
                  <a:tcPr>
                    <a:solidFill>
                      <a:schemeClr val="accent1">
                        <a:lumMod val="40000"/>
                        <a:lumOff val="6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30 (12.5 weightage)</a:t>
                      </a:r>
                    </a:p>
                  </a:txBody>
                  <a:tcPr>
                    <a:solidFill>
                      <a:schemeClr val="accent1">
                        <a:lumMod val="40000"/>
                        <a:lumOff val="6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prstClr val="black"/>
                          </a:solidFill>
                          <a:effectLst/>
                          <a:uLnTx/>
                          <a:uFillTx/>
                          <a:latin typeface="Calibri"/>
                          <a:ea typeface="+mn-ea"/>
                          <a:cs typeface="+mn-cs"/>
                        </a:rPr>
                        <a:t>30 (12.5 weightage)</a:t>
                      </a:r>
                    </a:p>
                  </a:txBody>
                  <a:tcPr>
                    <a:solidFill>
                      <a:schemeClr val="accent1">
                        <a:lumMod val="40000"/>
                        <a:lumOff val="6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30 (12.5 weightage)</a:t>
                      </a:r>
                    </a:p>
                  </a:txBody>
                  <a:tcPr>
                    <a:solidFill>
                      <a:schemeClr val="accent1">
                        <a:lumMod val="40000"/>
                        <a:lumOff val="60000"/>
                      </a:schemeClr>
                    </a:solidFill>
                  </a:tcPr>
                </a:tc>
                <a:extLst>
                  <a:ext uri="{0D108BD9-81ED-4DB2-BD59-A6C34878D82A}">
                    <a16:rowId xmlns:a16="http://schemas.microsoft.com/office/drawing/2014/main" val="30535582"/>
                  </a:ext>
                </a:extLst>
              </a:tr>
              <a:tr h="370840">
                <a:tc>
                  <a:txBody>
                    <a:bodyPr/>
                    <a:lstStyle/>
                    <a:p>
                      <a:r>
                        <a:rPr lang="en-IN" b="1" dirty="0"/>
                        <a:t>Evaluation Procedure</a:t>
                      </a:r>
                    </a:p>
                  </a:txBody>
                  <a:tcPr>
                    <a:solidFill>
                      <a:schemeClr val="accent1">
                        <a:lumMod val="40000"/>
                        <a:lumOff val="60000"/>
                      </a:schemeClr>
                    </a:solidFill>
                  </a:tcPr>
                </a:tc>
                <a:tc>
                  <a:txBody>
                    <a:bodyPr/>
                    <a:lstStyle/>
                    <a:p>
                      <a:r>
                        <a:rPr lang="en-IN" dirty="0"/>
                        <a:t>6 Questions of 5 marks each: </a:t>
                      </a:r>
                      <a:r>
                        <a:rPr lang="en-IN" b="1" dirty="0"/>
                        <a:t>Syllabus: Unit 1</a:t>
                      </a:r>
                    </a:p>
                  </a:txBody>
                  <a:tcPr>
                    <a:solidFill>
                      <a:schemeClr val="accent1">
                        <a:lumMod val="40000"/>
                        <a:lumOff val="60000"/>
                      </a:schemeClr>
                    </a:solidFill>
                  </a:tcPr>
                </a:tc>
                <a:tc>
                  <a:txBody>
                    <a:bodyPr/>
                    <a:lstStyle/>
                    <a:p>
                      <a:r>
                        <a:rPr lang="en-IN" dirty="0"/>
                        <a:t>Solve 3 questions on circuit simulator , also solve on paper, merge both solutions in one answer book and upload online on UMS</a:t>
                      </a:r>
                    </a:p>
                  </a:txBody>
                  <a:tcPr>
                    <a:solidFill>
                      <a:schemeClr val="accent1">
                        <a:lumMod val="40000"/>
                        <a:lumOff val="6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One Arduino based group Project (group size:04 student) , </a:t>
                      </a:r>
                      <a:r>
                        <a:rPr lang="en-IN" b="1" i="1" dirty="0"/>
                        <a:t>students from same class group  will create project groups</a:t>
                      </a:r>
                      <a:r>
                        <a:rPr lang="en-IN" dirty="0"/>
                        <a:t>, Project report and viva-10M, Innovativeness in the project-10M, Working Model-10M (</a:t>
                      </a:r>
                      <a:r>
                        <a:rPr lang="en-IN" b="1" dirty="0"/>
                        <a:t>Plagiarism: Report should be written by the group members only/not copied from online sources)</a:t>
                      </a:r>
                    </a:p>
                  </a:txBody>
                  <a:tcPr>
                    <a:solidFill>
                      <a:schemeClr val="accent1">
                        <a:lumMod val="40000"/>
                        <a:lumOff val="60000"/>
                      </a:schemeClr>
                    </a:solidFill>
                  </a:tcPr>
                </a:tc>
                <a:extLst>
                  <a:ext uri="{0D108BD9-81ED-4DB2-BD59-A6C34878D82A}">
                    <a16:rowId xmlns:a16="http://schemas.microsoft.com/office/drawing/2014/main" val="3994684747"/>
                  </a:ext>
                </a:extLst>
              </a:tr>
              <a:tr h="370840">
                <a:tc>
                  <a:txBody>
                    <a:bodyPr/>
                    <a:lstStyle/>
                    <a:p>
                      <a:endParaRPr lang="en-IN" dirty="0"/>
                    </a:p>
                    <a:p>
                      <a:endParaRPr lang="en-IN" dirty="0"/>
                    </a:p>
                    <a:p>
                      <a:endParaRPr lang="en-IN" dirty="0"/>
                    </a:p>
                    <a:p>
                      <a:endParaRPr lang="en-IN" dirty="0"/>
                    </a:p>
                    <a:p>
                      <a:r>
                        <a:rPr lang="en-IN" b="1" dirty="0"/>
                        <a:t>Conduct</a:t>
                      </a:r>
                    </a:p>
                  </a:txBody>
                  <a:tcPr>
                    <a:solidFill>
                      <a:schemeClr val="accent1">
                        <a:lumMod val="40000"/>
                        <a:lumOff val="60000"/>
                      </a:schemeClr>
                    </a:solidFill>
                  </a:tcPr>
                </a:tc>
                <a:tc>
                  <a:txBody>
                    <a:bodyPr/>
                    <a:lstStyle/>
                    <a:p>
                      <a:r>
                        <a:rPr lang="en-IN" dirty="0"/>
                        <a:t>Assignment of task on UMS: 6</a:t>
                      </a:r>
                      <a:r>
                        <a:rPr lang="en-IN" baseline="30000" dirty="0"/>
                        <a:t>th</a:t>
                      </a:r>
                      <a:r>
                        <a:rPr lang="en-IN" dirty="0"/>
                        <a:t> Lecture, Conduct of test :9</a:t>
                      </a:r>
                      <a:r>
                        <a:rPr lang="en-IN" baseline="30000" dirty="0"/>
                        <a:t>th</a:t>
                      </a:r>
                      <a:r>
                        <a:rPr lang="en-IN" dirty="0"/>
                        <a:t> Lecture </a:t>
                      </a:r>
                    </a:p>
                    <a:p>
                      <a:r>
                        <a:rPr lang="en-IN" b="1" dirty="0"/>
                        <a:t>(after conduct: retest/ appear on another date /with other group/health etc. not allowed)</a:t>
                      </a:r>
                    </a:p>
                  </a:txBody>
                  <a:tcPr>
                    <a:solidFill>
                      <a:schemeClr val="accent1">
                        <a:lumMod val="40000"/>
                        <a:lumOff val="60000"/>
                      </a:schemeClr>
                    </a:solidFill>
                  </a:tcPr>
                </a:tc>
                <a:tc>
                  <a:txBody>
                    <a:bodyPr/>
                    <a:lstStyle/>
                    <a:p>
                      <a:r>
                        <a:rPr lang="en-IN" dirty="0"/>
                        <a:t>Assignment of task on UMS:24</a:t>
                      </a:r>
                      <a:r>
                        <a:rPr lang="en-IN" baseline="30000" dirty="0"/>
                        <a:t>th</a:t>
                      </a:r>
                      <a:r>
                        <a:rPr lang="en-IN" dirty="0"/>
                        <a:t> lecture, Submission: 27</a:t>
                      </a:r>
                      <a:r>
                        <a:rPr lang="en-IN" baseline="30000" dirty="0"/>
                        <a:t>th</a:t>
                      </a:r>
                      <a:r>
                        <a:rPr lang="en-IN" dirty="0"/>
                        <a:t> Lecture : (9:00PM), </a:t>
                      </a:r>
                    </a:p>
                    <a:p>
                      <a:r>
                        <a:rPr lang="en-IN" b="1" dirty="0"/>
                        <a:t>)Late submissions due to internet/ums/health will not be entertained. )</a:t>
                      </a:r>
                    </a:p>
                  </a:txBody>
                  <a:tcPr>
                    <a:solidFill>
                      <a:schemeClr val="accent1">
                        <a:lumMod val="40000"/>
                        <a:lumOff val="6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Assignment of task on UMS:14</a:t>
                      </a:r>
                      <a:r>
                        <a:rPr lang="en-IN" baseline="30000" dirty="0"/>
                        <a:t>th</a:t>
                      </a:r>
                      <a:r>
                        <a:rPr lang="en-IN" dirty="0"/>
                        <a:t> lecture, Submission: 31</a:t>
                      </a:r>
                      <a:r>
                        <a:rPr lang="en-IN" baseline="30000" dirty="0"/>
                        <a:t>st</a:t>
                      </a:r>
                      <a:r>
                        <a:rPr lang="en-IN" dirty="0"/>
                        <a:t> Lecture (tutorial in the same week). Report should be uploaded on ums by 9:00PM-</a:t>
                      </a:r>
                    </a:p>
                    <a:p>
                      <a:pPr marL="0" marR="0" lvl="0" indent="0" defTabSz="914400" eaLnBrk="1" fontAlgn="auto" latinLnBrk="0" hangingPunct="1">
                        <a:lnSpc>
                          <a:spcPct val="100000"/>
                        </a:lnSpc>
                        <a:spcBef>
                          <a:spcPts val="0"/>
                        </a:spcBef>
                        <a:spcAft>
                          <a:spcPts val="0"/>
                        </a:spcAft>
                        <a:buClrTx/>
                        <a:buSzTx/>
                        <a:buFontTx/>
                        <a:buNone/>
                        <a:tabLst/>
                        <a:defRPr/>
                      </a:pPr>
                      <a:r>
                        <a:rPr lang="en-IN" b="1" dirty="0"/>
                        <a:t>Late Report submissions due to issues e.g. internet/ ums/health will not be entertained. </a:t>
                      </a:r>
                    </a:p>
                    <a:p>
                      <a:pPr marL="0" marR="0" lvl="0" indent="0" defTabSz="914400" eaLnBrk="1" fontAlgn="auto" latinLnBrk="0" hangingPunct="1">
                        <a:lnSpc>
                          <a:spcPct val="100000"/>
                        </a:lnSpc>
                        <a:spcBef>
                          <a:spcPts val="0"/>
                        </a:spcBef>
                        <a:spcAft>
                          <a:spcPts val="0"/>
                        </a:spcAft>
                        <a:buClrTx/>
                        <a:buSzTx/>
                        <a:buFontTx/>
                        <a:buNone/>
                        <a:tabLst/>
                        <a:defRPr/>
                      </a:pPr>
                      <a:r>
                        <a:rPr lang="en-IN" b="1" dirty="0"/>
                        <a:t>Project title submission: </a:t>
                      </a:r>
                      <a:r>
                        <a:rPr lang="en-IN" b="0" dirty="0"/>
                        <a:t>17</a:t>
                      </a:r>
                      <a:r>
                        <a:rPr lang="en-IN" b="0" baseline="30000" dirty="0"/>
                        <a:t>th</a:t>
                      </a:r>
                      <a:r>
                        <a:rPr lang="en-IN" b="0" dirty="0"/>
                        <a:t> Lecture</a:t>
                      </a:r>
                    </a:p>
                    <a:p>
                      <a:pPr marL="0" marR="0" lvl="0" indent="0" defTabSz="914400" eaLnBrk="1" fontAlgn="auto" latinLnBrk="0" hangingPunct="1">
                        <a:lnSpc>
                          <a:spcPct val="100000"/>
                        </a:lnSpc>
                        <a:spcBef>
                          <a:spcPts val="0"/>
                        </a:spcBef>
                        <a:spcAft>
                          <a:spcPts val="0"/>
                        </a:spcAft>
                        <a:buClrTx/>
                        <a:buSzTx/>
                        <a:buFontTx/>
                        <a:buNone/>
                        <a:tabLst/>
                        <a:defRPr/>
                      </a:pPr>
                      <a:r>
                        <a:rPr lang="en-IN" b="0" dirty="0"/>
                        <a:t>Must update progress of Project to the faculty on weekly basis in tutorial class (1</a:t>
                      </a:r>
                      <a:r>
                        <a:rPr lang="en-IN" b="0" baseline="30000" dirty="0"/>
                        <a:t>st</a:t>
                      </a:r>
                      <a:r>
                        <a:rPr lang="en-IN" b="0" dirty="0"/>
                        <a:t> 5 min), </a:t>
                      </a:r>
                      <a:r>
                        <a:rPr lang="en-IN" b="1" dirty="0"/>
                        <a:t>carelessness will lead to deduction of marks</a:t>
                      </a:r>
                    </a:p>
                  </a:txBody>
                  <a:tcPr>
                    <a:solidFill>
                      <a:schemeClr val="accent1">
                        <a:lumMod val="40000"/>
                        <a:lumOff val="60000"/>
                      </a:schemeClr>
                    </a:solidFill>
                  </a:tcPr>
                </a:tc>
                <a:extLst>
                  <a:ext uri="{0D108BD9-81ED-4DB2-BD59-A6C34878D82A}">
                    <a16:rowId xmlns:a16="http://schemas.microsoft.com/office/drawing/2014/main" val="1122226852"/>
                  </a:ext>
                </a:extLst>
              </a:tr>
              <a:tr h="370840">
                <a:tc>
                  <a:txBody>
                    <a:bodyPr/>
                    <a:lstStyle/>
                    <a:p>
                      <a:endParaRPr lang="en-IN" b="1" dirty="0"/>
                    </a:p>
                  </a:txBody>
                  <a:tcPr>
                    <a:solidFill>
                      <a:schemeClr val="accent1">
                        <a:lumMod val="40000"/>
                        <a:lumOff val="60000"/>
                      </a:schemeClr>
                    </a:solidFill>
                  </a:tcPr>
                </a:tc>
                <a:tc>
                  <a:txBody>
                    <a:bodyPr/>
                    <a:lstStyle/>
                    <a:p>
                      <a:r>
                        <a:rPr lang="en-IN" dirty="0"/>
                        <a:t>Test will be conducted in lecture class</a:t>
                      </a:r>
                    </a:p>
                  </a:txBody>
                  <a:tcPr>
                    <a:solidFill>
                      <a:schemeClr val="accent1">
                        <a:lumMod val="40000"/>
                        <a:lumOff val="60000"/>
                      </a:schemeClr>
                    </a:solidFill>
                  </a:tcPr>
                </a:tc>
                <a:tc>
                  <a:txBody>
                    <a:bodyPr/>
                    <a:lstStyle/>
                    <a:p>
                      <a:r>
                        <a:rPr lang="en-IN"/>
                        <a:t>Online uploading on UMS by the students</a:t>
                      </a:r>
                    </a:p>
                  </a:txBody>
                  <a:tcPr>
                    <a:solidFill>
                      <a:schemeClr val="accent1">
                        <a:lumMod val="40000"/>
                        <a:lumOff val="60000"/>
                      </a:schemeClr>
                    </a:solidFill>
                  </a:tcPr>
                </a:tc>
                <a:tc>
                  <a:txBody>
                    <a:bodyPr/>
                    <a:lstStyle/>
                    <a:p>
                      <a:r>
                        <a:rPr lang="en-IN" dirty="0"/>
                        <a:t>Upload report on UMS, and submit hardware project to faculty</a:t>
                      </a:r>
                    </a:p>
                  </a:txBody>
                  <a:tcPr>
                    <a:solidFill>
                      <a:schemeClr val="accent1">
                        <a:lumMod val="40000"/>
                        <a:lumOff val="60000"/>
                      </a:schemeClr>
                    </a:solidFill>
                  </a:tcPr>
                </a:tc>
                <a:extLst>
                  <a:ext uri="{0D108BD9-81ED-4DB2-BD59-A6C34878D82A}">
                    <a16:rowId xmlns:a16="http://schemas.microsoft.com/office/drawing/2014/main" val="2476832898"/>
                  </a:ext>
                </a:extLst>
              </a:tr>
              <a:tr h="370840">
                <a:tc>
                  <a:txBody>
                    <a:bodyPr/>
                    <a:lstStyle/>
                    <a:p>
                      <a:r>
                        <a:rPr lang="en-IN" b="1" dirty="0"/>
                        <a:t>MTE</a:t>
                      </a:r>
                    </a:p>
                  </a:txBody>
                  <a:tcPr/>
                </a:tc>
                <a:tc gridSpan="3">
                  <a:txBody>
                    <a:bodyPr/>
                    <a:lstStyle/>
                    <a:p>
                      <a:r>
                        <a:rPr lang="en-IN" b="1" dirty="0"/>
                        <a:t>40 questions of MCQ type based on 1</a:t>
                      </a:r>
                      <a:r>
                        <a:rPr lang="en-IN" b="1" baseline="30000" dirty="0"/>
                        <a:t>st</a:t>
                      </a:r>
                      <a:r>
                        <a:rPr lang="en-IN" b="1" dirty="0"/>
                        <a:t>  unit 1- unit 3  (No direct MCQ questions )</a:t>
                      </a:r>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844591784"/>
                  </a:ext>
                </a:extLst>
              </a:tr>
              <a:tr h="370840">
                <a:tc>
                  <a:txBody>
                    <a:bodyPr/>
                    <a:lstStyle/>
                    <a:p>
                      <a:r>
                        <a:rPr lang="en-IN" b="1" dirty="0"/>
                        <a:t>ETE</a:t>
                      </a:r>
                    </a:p>
                  </a:txBody>
                  <a:tcPr/>
                </a:tc>
                <a:tc gridSpan="2">
                  <a:txBody>
                    <a:bodyPr/>
                    <a:lstStyle/>
                    <a:p>
                      <a:r>
                        <a:rPr lang="en-IN" b="1" dirty="0"/>
                        <a:t>30 questions of MCQ type based on 1</a:t>
                      </a:r>
                      <a:r>
                        <a:rPr lang="en-IN" b="1" baseline="30000" dirty="0"/>
                        <a:t>st</a:t>
                      </a:r>
                      <a:r>
                        <a:rPr lang="en-IN" b="1" dirty="0"/>
                        <a:t>  unit 1- unit 6</a:t>
                      </a:r>
                    </a:p>
                  </a:txBody>
                  <a:tcPr/>
                </a:tc>
                <a:tc hMerge="1">
                  <a:txBody>
                    <a:bodyPr/>
                    <a:lstStyle/>
                    <a:p>
                      <a:endParaRPr lang="en-IN" dirty="0"/>
                    </a:p>
                  </a:txBody>
                  <a:tcPr/>
                </a:tc>
                <a:tc>
                  <a:txBody>
                    <a:bodyPr/>
                    <a:lstStyle/>
                    <a:p>
                      <a:r>
                        <a:rPr lang="en-IN" b="1" dirty="0"/>
                        <a:t>5 questions, 10 marks each (4 out of 5): Unit-1 to unit 6</a:t>
                      </a:r>
                    </a:p>
                  </a:txBody>
                  <a:tcPr/>
                </a:tc>
                <a:extLst>
                  <a:ext uri="{0D108BD9-81ED-4DB2-BD59-A6C34878D82A}">
                    <a16:rowId xmlns:a16="http://schemas.microsoft.com/office/drawing/2014/main" val="3634979646"/>
                  </a:ext>
                </a:extLst>
              </a:tr>
            </a:tbl>
          </a:graphicData>
        </a:graphic>
      </p:graphicFrame>
    </p:spTree>
    <p:extLst>
      <p:ext uri="{BB962C8B-B14F-4D97-AF65-F5344CB8AC3E}">
        <p14:creationId xmlns:p14="http://schemas.microsoft.com/office/powerpoint/2010/main" val="2672070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526" y="380695"/>
            <a:ext cx="8928735" cy="757555"/>
          </a:xfrm>
          <a:prstGeom prst="rect">
            <a:avLst/>
          </a:prstGeom>
        </p:spPr>
        <p:txBody>
          <a:bodyPr vert="horz" wrap="square" lIns="0" tIns="12700" rIns="0" bIns="0" rtlCol="0">
            <a:spAutoFit/>
          </a:bodyPr>
          <a:lstStyle/>
          <a:p>
            <a:pPr marL="12700">
              <a:lnSpc>
                <a:spcPct val="100000"/>
              </a:lnSpc>
              <a:spcBef>
                <a:spcPts val="100"/>
              </a:spcBef>
            </a:pPr>
            <a:r>
              <a:rPr sz="4800" dirty="0"/>
              <a:t>Practical</a:t>
            </a:r>
            <a:r>
              <a:rPr sz="4800" spc="-290" dirty="0"/>
              <a:t> </a:t>
            </a:r>
            <a:r>
              <a:rPr sz="4800" dirty="0"/>
              <a:t>Applications</a:t>
            </a:r>
            <a:r>
              <a:rPr sz="4800" spc="-35" dirty="0"/>
              <a:t> </a:t>
            </a:r>
            <a:r>
              <a:rPr sz="4800" dirty="0"/>
              <a:t>of</a:t>
            </a:r>
            <a:r>
              <a:rPr sz="4800" spc="-15" dirty="0"/>
              <a:t> </a:t>
            </a:r>
            <a:r>
              <a:rPr sz="4800" dirty="0"/>
              <a:t>the</a:t>
            </a:r>
            <a:r>
              <a:rPr sz="4800" spc="-10" dirty="0"/>
              <a:t> </a:t>
            </a:r>
            <a:r>
              <a:rPr sz="4800" spc="-5" dirty="0"/>
              <a:t>Subject</a:t>
            </a:r>
            <a:endParaRPr sz="4800"/>
          </a:p>
        </p:txBody>
      </p:sp>
      <p:pic>
        <p:nvPicPr>
          <p:cNvPr id="3" name="object 3"/>
          <p:cNvPicPr/>
          <p:nvPr/>
        </p:nvPicPr>
        <p:blipFill>
          <a:blip r:embed="rId2" cstate="print"/>
          <a:stretch>
            <a:fillRect/>
          </a:stretch>
        </p:blipFill>
        <p:spPr>
          <a:xfrm>
            <a:off x="2718816" y="1431733"/>
            <a:ext cx="6569910" cy="4931606"/>
          </a:xfrm>
          <a:prstGeom prst="rect">
            <a:avLst/>
          </a:prstGeom>
        </p:spPr>
      </p:pic>
      <p:sp>
        <p:nvSpPr>
          <p:cNvPr id="4" name="object 4"/>
          <p:cNvSpPr/>
          <p:nvPr/>
        </p:nvSpPr>
        <p:spPr>
          <a:xfrm>
            <a:off x="10046970" y="31115"/>
            <a:ext cx="2042795" cy="96012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457200"/>
            <a:ext cx="7733030" cy="697230"/>
          </a:xfrm>
          <a:prstGeom prst="rect">
            <a:avLst/>
          </a:prstGeom>
        </p:spPr>
        <p:txBody>
          <a:bodyPr vert="horz" wrap="square" lIns="0" tIns="13335" rIns="0" bIns="0" rtlCol="0">
            <a:spAutoFit/>
          </a:bodyPr>
          <a:lstStyle/>
          <a:p>
            <a:pPr marL="12700">
              <a:lnSpc>
                <a:spcPct val="100000"/>
              </a:lnSpc>
              <a:spcBef>
                <a:spcPts val="105"/>
              </a:spcBef>
            </a:pPr>
            <a:r>
              <a:rPr spc="-140" dirty="0"/>
              <a:t>Why</a:t>
            </a:r>
            <a:r>
              <a:rPr spc="-425" dirty="0"/>
              <a:t> </a:t>
            </a:r>
            <a:r>
              <a:rPr spc="-265" dirty="0"/>
              <a:t>ECE</a:t>
            </a:r>
            <a:r>
              <a:rPr spc="-430" dirty="0"/>
              <a:t> </a:t>
            </a:r>
            <a:r>
              <a:rPr spc="-295" dirty="0"/>
              <a:t>Subject</a:t>
            </a:r>
            <a:r>
              <a:rPr spc="-425" dirty="0"/>
              <a:t> </a:t>
            </a:r>
            <a:r>
              <a:rPr spc="-240" dirty="0"/>
              <a:t>for</a:t>
            </a:r>
            <a:r>
              <a:rPr spc="-434" dirty="0"/>
              <a:t> </a:t>
            </a:r>
            <a:r>
              <a:rPr spc="-220" dirty="0"/>
              <a:t>CSE</a:t>
            </a:r>
            <a:r>
              <a:rPr spc="-430" dirty="0"/>
              <a:t> </a:t>
            </a:r>
            <a:r>
              <a:rPr spc="-150" dirty="0"/>
              <a:t>Students?</a:t>
            </a:r>
          </a:p>
        </p:txBody>
      </p:sp>
      <p:sp>
        <p:nvSpPr>
          <p:cNvPr id="3" name="object 3"/>
          <p:cNvSpPr txBox="1"/>
          <p:nvPr/>
        </p:nvSpPr>
        <p:spPr>
          <a:xfrm>
            <a:off x="228600" y="1447800"/>
            <a:ext cx="5638799" cy="4462888"/>
          </a:xfrm>
          <a:prstGeom prst="rect">
            <a:avLst/>
          </a:prstGeom>
        </p:spPr>
        <p:txBody>
          <a:bodyPr vert="horz" wrap="square" lIns="0" tIns="43815" rIns="0" bIns="0" rtlCol="0">
            <a:spAutoFit/>
          </a:bodyPr>
          <a:lstStyle/>
          <a:p>
            <a:pPr marL="241300" marR="45085" indent="-229235" algn="just">
              <a:lnSpc>
                <a:spcPts val="1940"/>
              </a:lnSpc>
              <a:spcBef>
                <a:spcPts val="345"/>
              </a:spcBef>
              <a:buFont typeface="Arial" panose="020B0604020202020204"/>
              <a:buChar char="•"/>
              <a:tabLst>
                <a:tab pos="241300" algn="l"/>
                <a:tab pos="241935" algn="l"/>
              </a:tabLst>
            </a:pPr>
            <a:r>
              <a:rPr sz="2400" spc="-5" dirty="0">
                <a:latin typeface="Times New Roman" panose="02020603050405020304" pitchFamily="18" charset="0"/>
                <a:cs typeface="Times New Roman" panose="02020603050405020304" pitchFamily="18" charset="0"/>
              </a:rPr>
              <a:t>Electrical engineers </a:t>
            </a:r>
            <a:r>
              <a:rPr sz="2400" spc="-10" dirty="0">
                <a:latin typeface="Times New Roman" panose="02020603050405020304" pitchFamily="18" charset="0"/>
                <a:cs typeface="Times New Roman" panose="02020603050405020304" pitchFamily="18" charset="0"/>
              </a:rPr>
              <a:t>largely </a:t>
            </a:r>
            <a:r>
              <a:rPr sz="2400" spc="-5" dirty="0">
                <a:latin typeface="Times New Roman" panose="02020603050405020304" pitchFamily="18" charset="0"/>
                <a:cs typeface="Times New Roman" panose="02020603050405020304" pitchFamily="18" charset="0"/>
              </a:rPr>
              <a:t>deal with </a:t>
            </a:r>
            <a:r>
              <a:rPr sz="2400" spc="-15" dirty="0">
                <a:latin typeface="Times New Roman" panose="02020603050405020304" pitchFamily="18" charset="0"/>
                <a:cs typeface="Times New Roman" panose="02020603050405020304" pitchFamily="18" charset="0"/>
              </a:rPr>
              <a:t>hardware,  </a:t>
            </a:r>
            <a:r>
              <a:rPr sz="2400" spc="-5" dirty="0">
                <a:latin typeface="Times New Roman" panose="02020603050405020304" pitchFamily="18" charset="0"/>
                <a:cs typeface="Times New Roman" panose="02020603050405020304" pitchFamily="18" charset="0"/>
              </a:rPr>
              <a:t>while </a:t>
            </a:r>
            <a:r>
              <a:rPr sz="2400" spc="-10" dirty="0">
                <a:latin typeface="Times New Roman" panose="02020603050405020304" pitchFamily="18" charset="0"/>
                <a:cs typeface="Times New Roman" panose="02020603050405020304" pitchFamily="18" charset="0"/>
              </a:rPr>
              <a:t>computer scientists </a:t>
            </a:r>
            <a:r>
              <a:rPr sz="2400" dirty="0">
                <a:latin typeface="Times New Roman" panose="02020603050405020304" pitchFamily="18" charset="0"/>
                <a:cs typeface="Times New Roman" panose="02020603050405020304" pitchFamily="18" charset="0"/>
              </a:rPr>
              <a:t>deal </a:t>
            </a:r>
            <a:r>
              <a:rPr sz="2400" spc="-5" dirty="0">
                <a:latin typeface="Times New Roman" panose="02020603050405020304" pitchFamily="18" charset="0"/>
                <a:cs typeface="Times New Roman" panose="02020603050405020304" pitchFamily="18" charset="0"/>
              </a:rPr>
              <a:t>with</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software.</a:t>
            </a:r>
            <a:endParaRPr sz="2400" dirty="0">
              <a:latin typeface="Times New Roman" panose="02020603050405020304" pitchFamily="18" charset="0"/>
              <a:cs typeface="Times New Roman" panose="02020603050405020304" pitchFamily="18" charset="0"/>
            </a:endParaRPr>
          </a:p>
          <a:p>
            <a:pPr marL="241300" marR="174625" indent="-229235" algn="just">
              <a:lnSpc>
                <a:spcPct val="90000"/>
              </a:lnSpc>
              <a:spcBef>
                <a:spcPts val="985"/>
              </a:spcBef>
              <a:buFont typeface="Arial" panose="020B0604020202020204"/>
              <a:buChar char="•"/>
              <a:tabLst>
                <a:tab pos="292735" algn="l"/>
                <a:tab pos="294005" algn="l"/>
              </a:tabLst>
            </a:pP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Electrical engineers </a:t>
            </a:r>
            <a:r>
              <a:rPr sz="2400" spc="-10" dirty="0">
                <a:latin typeface="Times New Roman" panose="02020603050405020304" pitchFamily="18" charset="0"/>
                <a:cs typeface="Times New Roman" panose="02020603050405020304" pitchFamily="18" charset="0"/>
              </a:rPr>
              <a:t>are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ones </a:t>
            </a:r>
            <a:r>
              <a:rPr sz="2400" spc="-5" dirty="0">
                <a:solidFill>
                  <a:srgbClr val="FF0000"/>
                </a:solidFill>
                <a:latin typeface="Times New Roman" panose="02020603050405020304" pitchFamily="18" charset="0"/>
                <a:cs typeface="Times New Roman" panose="02020603050405020304" pitchFamily="18" charset="0"/>
              </a:rPr>
              <a:t>that design  </a:t>
            </a:r>
            <a:r>
              <a:rPr sz="2400" spc="-10" dirty="0">
                <a:solidFill>
                  <a:srgbClr val="FF0000"/>
                </a:solidFill>
                <a:latin typeface="Times New Roman" panose="02020603050405020304" pitchFamily="18" charset="0"/>
                <a:cs typeface="Times New Roman" panose="02020603050405020304" pitchFamily="18" charset="0"/>
              </a:rPr>
              <a:t>circuits, processors, </a:t>
            </a:r>
            <a:r>
              <a:rPr sz="2400" spc="-20" dirty="0">
                <a:solidFill>
                  <a:srgbClr val="FF0000"/>
                </a:solidFill>
                <a:latin typeface="Times New Roman" panose="02020603050405020304" pitchFamily="18" charset="0"/>
                <a:cs typeface="Times New Roman" panose="02020603050405020304" pitchFamily="18" charset="0"/>
              </a:rPr>
              <a:t>memory, </a:t>
            </a:r>
            <a:r>
              <a:rPr sz="2400" dirty="0">
                <a:solidFill>
                  <a:srgbClr val="FF0000"/>
                </a:solidFill>
                <a:latin typeface="Times New Roman" panose="02020603050405020304" pitchFamily="18" charset="0"/>
                <a:cs typeface="Times New Roman" panose="02020603050405020304" pitchFamily="18" charset="0"/>
              </a:rPr>
              <a:t>and </a:t>
            </a:r>
            <a:r>
              <a:rPr sz="2400" spc="-10" dirty="0">
                <a:solidFill>
                  <a:srgbClr val="FF0000"/>
                </a:solidFill>
                <a:latin typeface="Times New Roman" panose="02020603050405020304" pitchFamily="18" charset="0"/>
                <a:cs typeface="Times New Roman" panose="02020603050405020304" pitchFamily="18" charset="0"/>
              </a:rPr>
              <a:t>establishing  </a:t>
            </a:r>
            <a:r>
              <a:rPr sz="2400" spc="-5" dirty="0">
                <a:solidFill>
                  <a:srgbClr val="FF0000"/>
                </a:solidFill>
                <a:latin typeface="Times New Roman" panose="02020603050405020304" pitchFamily="18" charset="0"/>
                <a:cs typeface="Times New Roman" panose="02020603050405020304" pitchFamily="18" charset="0"/>
              </a:rPr>
              <a:t>wireless </a:t>
            </a:r>
            <a:r>
              <a:rPr sz="2400" spc="-10" dirty="0">
                <a:solidFill>
                  <a:srgbClr val="FF0000"/>
                </a:solidFill>
                <a:latin typeface="Times New Roman" panose="02020603050405020304" pitchFamily="18" charset="0"/>
                <a:cs typeface="Times New Roman" panose="02020603050405020304" pitchFamily="18" charset="0"/>
              </a:rPr>
              <a:t>communication</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241300" marR="201930" indent="-229235" algn="just">
              <a:lnSpc>
                <a:spcPts val="1940"/>
              </a:lnSpc>
              <a:spcBef>
                <a:spcPts val="1025"/>
              </a:spcBef>
              <a:buFont typeface="Arial" panose="020B0604020202020204"/>
              <a:buChar char="•"/>
              <a:tabLst>
                <a:tab pos="241300" algn="l"/>
                <a:tab pos="241935" algn="l"/>
              </a:tabLst>
            </a:pPr>
            <a:r>
              <a:rPr sz="2400" spc="-5" dirty="0">
                <a:latin typeface="Times New Roman" panose="02020603050405020304" pitchFamily="18" charset="0"/>
                <a:cs typeface="Times New Roman" panose="02020603050405020304" pitchFamily="18" charset="0"/>
              </a:rPr>
              <a:t>This subject </a:t>
            </a:r>
            <a:r>
              <a:rPr sz="2400" spc="-10" dirty="0">
                <a:latin typeface="Times New Roman" panose="02020603050405020304" pitchFamily="18" charset="0"/>
                <a:cs typeface="Times New Roman" panose="02020603050405020304" pitchFamily="18" charset="0"/>
              </a:rPr>
              <a:t>provides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basic </a:t>
            </a:r>
            <a:r>
              <a:rPr sz="2400" spc="-10" dirty="0">
                <a:latin typeface="Times New Roman" panose="02020603050405020304" pitchFamily="18" charset="0"/>
                <a:cs typeface="Times New Roman" panose="02020603050405020304" pitchFamily="18" charset="0"/>
              </a:rPr>
              <a:t>understanding  </a:t>
            </a:r>
            <a:r>
              <a:rPr sz="2400" spc="-15" dirty="0">
                <a:latin typeface="Times New Roman" panose="02020603050405020304" pitchFamily="18" charset="0"/>
                <a:cs typeface="Times New Roman" panose="02020603050405020304" pitchFamily="18" charset="0"/>
              </a:rPr>
              <a:t>regarding </a:t>
            </a:r>
            <a:r>
              <a:rPr sz="2400" dirty="0">
                <a:latin typeface="Times New Roman" panose="02020603050405020304" pitchFamily="18" charset="0"/>
                <a:cs typeface="Times New Roman" panose="02020603050405020304" pitchFamily="18" charset="0"/>
              </a:rPr>
              <a:t>the </a:t>
            </a:r>
            <a:r>
              <a:rPr sz="2400" spc="-15" dirty="0">
                <a:solidFill>
                  <a:srgbClr val="FF0000"/>
                </a:solidFill>
                <a:latin typeface="Times New Roman" panose="02020603050405020304" pitchFamily="18" charset="0"/>
                <a:cs typeface="Times New Roman" panose="02020603050405020304" pitchFamily="18" charset="0"/>
              </a:rPr>
              <a:t>hardware </a:t>
            </a:r>
            <a:r>
              <a:rPr sz="2400" spc="-5" dirty="0">
                <a:solidFill>
                  <a:srgbClr val="FF0000"/>
                </a:solidFill>
                <a:latin typeface="Times New Roman" panose="02020603050405020304" pitchFamily="18" charset="0"/>
                <a:cs typeface="Times New Roman" panose="02020603050405020304" pitchFamily="18" charset="0"/>
              </a:rPr>
              <a:t>components </a:t>
            </a:r>
            <a:r>
              <a:rPr sz="2400" spc="-5" dirty="0">
                <a:latin typeface="Times New Roman" panose="02020603050405020304" pitchFamily="18" charset="0"/>
                <a:cs typeface="Times New Roman" panose="02020603050405020304" pitchFamily="18" charset="0"/>
              </a:rPr>
              <a:t>of </a:t>
            </a:r>
            <a:r>
              <a:rPr sz="2400" dirty="0">
                <a:latin typeface="Times New Roman" panose="02020603050405020304" pitchFamily="18" charset="0"/>
                <a:cs typeface="Times New Roman" panose="02020603050405020304" pitchFamily="18" charset="0"/>
              </a:rPr>
              <a:t>the  </a:t>
            </a:r>
            <a:r>
              <a:rPr sz="2400" spc="-30" dirty="0">
                <a:latin typeface="Times New Roman" panose="02020603050405020304" pitchFamily="18" charset="0"/>
                <a:cs typeface="Times New Roman" panose="02020603050405020304" pitchFamily="18" charset="0"/>
              </a:rPr>
              <a:t>computer.</a:t>
            </a:r>
            <a:endParaRPr sz="2400" dirty="0">
              <a:latin typeface="Times New Roman" panose="02020603050405020304" pitchFamily="18" charset="0"/>
              <a:cs typeface="Times New Roman" panose="02020603050405020304" pitchFamily="18" charset="0"/>
            </a:endParaRPr>
          </a:p>
          <a:p>
            <a:pPr marL="12700" algn="just">
              <a:lnSpc>
                <a:spcPct val="100000"/>
              </a:lnSpc>
              <a:spcBef>
                <a:spcPts val="760"/>
              </a:spcBef>
            </a:pPr>
            <a:r>
              <a:rPr sz="2400" b="1" dirty="0">
                <a:solidFill>
                  <a:srgbClr val="FF0000"/>
                </a:solidFill>
                <a:latin typeface="Times New Roman" panose="02020603050405020304" pitchFamily="18" charset="0"/>
                <a:cs typeface="Times New Roman" panose="02020603050405020304" pitchFamily="18" charset="0"/>
              </a:rPr>
              <a:t>Hybrid</a:t>
            </a:r>
            <a:r>
              <a:rPr sz="2400" b="1" spc="-25" dirty="0">
                <a:solidFill>
                  <a:srgbClr val="FF0000"/>
                </a:solidFill>
                <a:latin typeface="Times New Roman" panose="02020603050405020304" pitchFamily="18" charset="0"/>
                <a:cs typeface="Times New Roman" panose="02020603050405020304" pitchFamily="18" charset="0"/>
              </a:rPr>
              <a:t> </a:t>
            </a:r>
            <a:r>
              <a:rPr sz="2400" b="1" spc="-5" dirty="0">
                <a:solidFill>
                  <a:srgbClr val="FF0000"/>
                </a:solidFill>
                <a:latin typeface="Times New Roman" panose="02020603050405020304" pitchFamily="18" charset="0"/>
                <a:cs typeface="Times New Roman" panose="02020603050405020304" pitchFamily="18" charset="0"/>
              </a:rPr>
              <a:t>Branches:</a:t>
            </a:r>
            <a:endParaRPr sz="2400" dirty="0">
              <a:latin typeface="Times New Roman" panose="02020603050405020304" pitchFamily="18" charset="0"/>
              <a:cs typeface="Times New Roman" panose="02020603050405020304" pitchFamily="18" charset="0"/>
            </a:endParaRPr>
          </a:p>
          <a:p>
            <a:pPr marL="241300" marR="137795" indent="-229235" algn="just">
              <a:lnSpc>
                <a:spcPts val="1940"/>
              </a:lnSpc>
              <a:spcBef>
                <a:spcPts val="1045"/>
              </a:spcBef>
              <a:buFont typeface="Arial" panose="020B0604020202020204"/>
              <a:buChar char="•"/>
              <a:tabLst>
                <a:tab pos="241300" algn="l"/>
                <a:tab pos="241935" algn="l"/>
              </a:tabLst>
            </a:pPr>
            <a:r>
              <a:rPr sz="2400" spc="-35" dirty="0">
                <a:latin typeface="Times New Roman" panose="02020603050405020304" pitchFamily="18" charset="0"/>
                <a:cs typeface="Times New Roman" panose="02020603050405020304" pitchFamily="18" charset="0"/>
              </a:rPr>
              <a:t>MIT: </a:t>
            </a:r>
            <a:r>
              <a:rPr sz="2400" spc="-5" dirty="0">
                <a:latin typeface="Times New Roman" panose="02020603050405020304" pitchFamily="18" charset="0"/>
                <a:cs typeface="Times New Roman" panose="02020603050405020304" pitchFamily="18" charset="0"/>
              </a:rPr>
              <a:t>Department of </a:t>
            </a:r>
            <a:r>
              <a:rPr sz="2400" spc="-10" dirty="0">
                <a:latin typeface="Times New Roman" panose="02020603050405020304" pitchFamily="18" charset="0"/>
                <a:cs typeface="Times New Roman" panose="02020603050405020304" pitchFamily="18" charset="0"/>
              </a:rPr>
              <a:t>Electrical </a:t>
            </a:r>
            <a:r>
              <a:rPr sz="2400" spc="-5" dirty="0">
                <a:latin typeface="Times New Roman" panose="02020603050405020304" pitchFamily="18" charset="0"/>
                <a:cs typeface="Times New Roman" panose="02020603050405020304" pitchFamily="18" charset="0"/>
              </a:rPr>
              <a:t>Engineering </a:t>
            </a:r>
            <a:r>
              <a:rPr sz="2400" dirty="0">
                <a:latin typeface="Times New Roman" panose="02020603050405020304" pitchFamily="18" charset="0"/>
                <a:cs typeface="Times New Roman" panose="02020603050405020304" pitchFamily="18" charset="0"/>
              </a:rPr>
              <a:t>and  </a:t>
            </a:r>
            <a:r>
              <a:rPr sz="2400" spc="-10" dirty="0">
                <a:latin typeface="Times New Roman" panose="02020603050405020304" pitchFamily="18" charset="0"/>
                <a:cs typeface="Times New Roman" panose="02020603050405020304" pitchFamily="18" charset="0"/>
              </a:rPr>
              <a:t>Computer</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Science</a:t>
            </a:r>
            <a:endParaRPr sz="2400" dirty="0">
              <a:latin typeface="Times New Roman" panose="02020603050405020304" pitchFamily="18" charset="0"/>
              <a:cs typeface="Times New Roman" panose="02020603050405020304" pitchFamily="18" charset="0"/>
            </a:endParaRPr>
          </a:p>
          <a:p>
            <a:pPr marL="241300" marR="5080" indent="-229235" algn="just">
              <a:lnSpc>
                <a:spcPts val="1940"/>
              </a:lnSpc>
              <a:spcBef>
                <a:spcPts val="1000"/>
              </a:spcBef>
              <a:buFont typeface="Arial" panose="020B0604020202020204"/>
              <a:buChar char="•"/>
              <a:tabLst>
                <a:tab pos="241300" algn="l"/>
                <a:tab pos="241935" algn="l"/>
              </a:tabLst>
            </a:pPr>
            <a:r>
              <a:rPr sz="2400" dirty="0">
                <a:latin typeface="Times New Roman" panose="02020603050405020304" pitchFamily="18" charset="0"/>
                <a:cs typeface="Times New Roman" panose="02020603050405020304" pitchFamily="18" charset="0"/>
              </a:rPr>
              <a:t>UC </a:t>
            </a:r>
            <a:r>
              <a:rPr sz="2400" spc="-10" dirty="0">
                <a:latin typeface="Times New Roman" panose="02020603050405020304" pitchFamily="18" charset="0"/>
                <a:cs typeface="Times New Roman" panose="02020603050405020304" pitchFamily="18" charset="0"/>
              </a:rPr>
              <a:t>Berkeley: </a:t>
            </a:r>
            <a:r>
              <a:rPr sz="2400" spc="-5" dirty="0">
                <a:latin typeface="Times New Roman" panose="02020603050405020304" pitchFamily="18" charset="0"/>
                <a:cs typeface="Times New Roman" panose="02020603050405020304" pitchFamily="18" charset="0"/>
              </a:rPr>
              <a:t>Electrical Engineering </a:t>
            </a:r>
            <a:r>
              <a:rPr sz="2400" dirty="0">
                <a:latin typeface="Times New Roman" panose="02020603050405020304" pitchFamily="18" charset="0"/>
                <a:cs typeface="Times New Roman" panose="02020603050405020304" pitchFamily="18" charset="0"/>
              </a:rPr>
              <a:t>&amp; </a:t>
            </a:r>
            <a:r>
              <a:rPr sz="2400" spc="-10" dirty="0">
                <a:latin typeface="Times New Roman" panose="02020603050405020304" pitchFamily="18" charset="0"/>
                <a:cs typeface="Times New Roman" panose="02020603050405020304" pitchFamily="18" charset="0"/>
              </a:rPr>
              <a:t>Computer  </a:t>
            </a:r>
            <a:r>
              <a:rPr sz="2400" spc="-5" dirty="0">
                <a:latin typeface="Times New Roman" panose="02020603050405020304" pitchFamily="18" charset="0"/>
                <a:cs typeface="Times New Roman" panose="02020603050405020304" pitchFamily="18" charset="0"/>
              </a:rPr>
              <a:t>Sciences</a:t>
            </a:r>
            <a:endParaRPr sz="2400" dirty="0">
              <a:latin typeface="Times New Roman" panose="02020603050405020304" pitchFamily="18" charset="0"/>
              <a:cs typeface="Times New Roman" panose="02020603050405020304" pitchFamily="18" charset="0"/>
            </a:endParaRPr>
          </a:p>
        </p:txBody>
      </p:sp>
      <p:sp>
        <p:nvSpPr>
          <p:cNvPr id="4" name="object 4"/>
          <p:cNvSpPr/>
          <p:nvPr/>
        </p:nvSpPr>
        <p:spPr>
          <a:xfrm>
            <a:off x="6400800" y="1596845"/>
            <a:ext cx="5181600" cy="4422955"/>
          </a:xfrm>
          <a:prstGeom prst="rect">
            <a:avLst/>
          </a:prstGeom>
          <a:blipFill>
            <a:blip r:embed="rId2" cstate="print"/>
            <a:stretch>
              <a:fillRect/>
            </a:stretch>
          </a:blipFill>
        </p:spPr>
        <p:txBody>
          <a:bodyPr wrap="square" lIns="0" tIns="0" rIns="0" bIns="0" rtlCol="0"/>
          <a:lstStyle/>
          <a:p>
            <a:endParaRPr/>
          </a:p>
        </p:txBody>
      </p:sp>
      <p:sp>
        <p:nvSpPr>
          <p:cNvPr id="5" name="object 4"/>
          <p:cNvSpPr/>
          <p:nvPr/>
        </p:nvSpPr>
        <p:spPr>
          <a:xfrm>
            <a:off x="10046970" y="31115"/>
            <a:ext cx="2042795" cy="96012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229" y="1219420"/>
            <a:ext cx="3604895" cy="2118360"/>
          </a:xfrm>
          <a:prstGeom prst="rect">
            <a:avLst/>
          </a:prstGeom>
        </p:spPr>
        <p:txBody>
          <a:bodyPr vert="horz" wrap="square" lIns="0" tIns="59055" rIns="0" bIns="0" rtlCol="0">
            <a:spAutoFit/>
          </a:bodyPr>
          <a:lstStyle/>
          <a:p>
            <a:pPr marL="241300" indent="-228600">
              <a:lnSpc>
                <a:spcPct val="100000"/>
              </a:lnSpc>
              <a:spcBef>
                <a:spcPts val="465"/>
              </a:spcBef>
              <a:buFont typeface="Arial" panose="020B0604020202020204"/>
              <a:buChar char="•"/>
              <a:tabLst>
                <a:tab pos="241300" algn="l"/>
              </a:tabLst>
            </a:pPr>
            <a:r>
              <a:rPr sz="2600" spc="-10" dirty="0">
                <a:latin typeface="Times New Roman" panose="02020603050405020304" pitchFamily="18" charset="0"/>
                <a:cs typeface="Times New Roman" panose="02020603050405020304" pitchFamily="18" charset="0"/>
              </a:rPr>
              <a:t>AC</a:t>
            </a:r>
            <a:r>
              <a:rPr sz="2600" spc="-1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power</a:t>
            </a:r>
            <a:endParaRPr sz="2600" dirty="0">
              <a:latin typeface="Times New Roman" panose="02020603050405020304" pitchFamily="18" charset="0"/>
              <a:cs typeface="Times New Roman" panose="02020603050405020304" pitchFamily="18" charset="0"/>
            </a:endParaRPr>
          </a:p>
          <a:p>
            <a:pPr marL="241300" indent="-228600">
              <a:lnSpc>
                <a:spcPct val="100000"/>
              </a:lnSpc>
              <a:spcBef>
                <a:spcPts val="375"/>
              </a:spcBef>
              <a:buFont typeface="Arial" panose="020B0604020202020204"/>
              <a:buChar char="•"/>
              <a:tabLst>
                <a:tab pos="241300" algn="l"/>
              </a:tabLst>
            </a:pPr>
            <a:r>
              <a:rPr sz="2600" spc="-20" dirty="0">
                <a:latin typeface="Times New Roman" panose="02020603050405020304" pitchFamily="18" charset="0"/>
                <a:cs typeface="Times New Roman" panose="02020603050405020304" pitchFamily="18" charset="0"/>
              </a:rPr>
              <a:t>Power</a:t>
            </a:r>
            <a:r>
              <a:rPr sz="2600" spc="-15" dirty="0">
                <a:latin typeface="Times New Roman" panose="02020603050405020304" pitchFamily="18" charset="0"/>
                <a:cs typeface="Times New Roman" panose="02020603050405020304" pitchFamily="18" charset="0"/>
              </a:rPr>
              <a:t> </a:t>
            </a:r>
            <a:r>
              <a:rPr sz="2600" spc="-5" dirty="0">
                <a:latin typeface="Times New Roman" panose="02020603050405020304" pitchFamily="18" charset="0"/>
                <a:cs typeface="Times New Roman" panose="02020603050405020304" pitchFamily="18" charset="0"/>
              </a:rPr>
              <a:t>supply</a:t>
            </a:r>
            <a:endParaRPr sz="2600" dirty="0">
              <a:latin typeface="Times New Roman" panose="02020603050405020304" pitchFamily="18" charset="0"/>
              <a:cs typeface="Times New Roman" panose="02020603050405020304" pitchFamily="18" charset="0"/>
            </a:endParaRPr>
          </a:p>
          <a:p>
            <a:pPr marL="241300" indent="-228600">
              <a:lnSpc>
                <a:spcPct val="100000"/>
              </a:lnSpc>
              <a:spcBef>
                <a:spcPts val="385"/>
              </a:spcBef>
              <a:buFont typeface="Arial" panose="020B0604020202020204"/>
              <a:buChar char="•"/>
              <a:tabLst>
                <a:tab pos="241300" algn="l"/>
              </a:tabLst>
            </a:pPr>
            <a:r>
              <a:rPr sz="2600" spc="-5" dirty="0">
                <a:latin typeface="Times New Roman" panose="02020603050405020304" pitchFamily="18" charset="0"/>
                <a:cs typeface="Times New Roman" panose="02020603050405020304" pitchFamily="18" charset="0"/>
              </a:rPr>
              <a:t>DC</a:t>
            </a:r>
            <a:r>
              <a:rPr sz="2600" spc="-1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power</a:t>
            </a:r>
            <a:endParaRPr sz="2600" dirty="0">
              <a:latin typeface="Times New Roman" panose="02020603050405020304" pitchFamily="18" charset="0"/>
              <a:cs typeface="Times New Roman" panose="02020603050405020304" pitchFamily="18" charset="0"/>
            </a:endParaRPr>
          </a:p>
          <a:p>
            <a:pPr marL="241300" marR="5080" indent="-228600">
              <a:lnSpc>
                <a:spcPct val="80000"/>
              </a:lnSpc>
              <a:spcBef>
                <a:spcPts val="995"/>
              </a:spcBef>
              <a:buFont typeface="Arial" panose="020B0604020202020204"/>
              <a:buChar char="•"/>
              <a:tabLst>
                <a:tab pos="241300" algn="l"/>
              </a:tabLst>
            </a:pPr>
            <a:r>
              <a:rPr sz="2600" spc="-20" dirty="0">
                <a:latin typeface="Times New Roman" panose="02020603050405020304" pitchFamily="18" charset="0"/>
                <a:cs typeface="Times New Roman" panose="02020603050405020304" pitchFamily="18" charset="0"/>
              </a:rPr>
              <a:t>Power </a:t>
            </a:r>
            <a:r>
              <a:rPr sz="2600" spc="-5" dirty="0">
                <a:latin typeface="Times New Roman" panose="02020603050405020304" pitchFamily="18" charset="0"/>
                <a:cs typeface="Times New Roman" panose="02020603050405020304" pitchFamily="18" charset="0"/>
              </a:rPr>
              <a:t>distribution</a:t>
            </a:r>
            <a:r>
              <a:rPr sz="2600" spc="-7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inside  </a:t>
            </a:r>
            <a:r>
              <a:rPr sz="2600" spc="-5" dirty="0">
                <a:latin typeface="Times New Roman" panose="02020603050405020304" pitchFamily="18" charset="0"/>
                <a:cs typeface="Times New Roman" panose="02020603050405020304" pitchFamily="18" charset="0"/>
              </a:rPr>
              <a:t>Computer</a:t>
            </a:r>
            <a:endParaRPr sz="2600" dirty="0">
              <a:latin typeface="Times New Roman" panose="02020603050405020304" pitchFamily="18" charset="0"/>
              <a:cs typeface="Times New Roman" panose="02020603050405020304" pitchFamily="18" charset="0"/>
            </a:endParaRPr>
          </a:p>
        </p:txBody>
      </p:sp>
      <p:sp>
        <p:nvSpPr>
          <p:cNvPr id="3" name="object 3"/>
          <p:cNvSpPr/>
          <p:nvPr/>
        </p:nvSpPr>
        <p:spPr>
          <a:xfrm>
            <a:off x="990599" y="3810059"/>
            <a:ext cx="5019675" cy="266249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010102" y="1371704"/>
            <a:ext cx="4335780" cy="1690847"/>
          </a:xfrm>
          <a:prstGeom prst="rect">
            <a:avLst/>
          </a:prstGeom>
        </p:spPr>
        <p:txBody>
          <a:bodyPr vert="horz" wrap="square" lIns="0" tIns="13335" rIns="0" bIns="0" rtlCol="0">
            <a:spAutoFit/>
          </a:bodyPr>
          <a:lstStyle/>
          <a:p>
            <a:pPr marL="469265" marR="5080" indent="-457200">
              <a:lnSpc>
                <a:spcPct val="100000"/>
              </a:lnSpc>
              <a:spcBef>
                <a:spcPts val="105"/>
              </a:spcBef>
              <a:buClr>
                <a:srgbClr val="A4A4A4"/>
              </a:buClr>
              <a:buSzPct val="94000"/>
              <a:buFont typeface="Arial" panose="020B0604020202020204" pitchFamily="34" charset="0"/>
              <a:buChar char="•"/>
              <a:tabLst>
                <a:tab pos="287655" algn="l"/>
              </a:tabLst>
            </a:pPr>
            <a:r>
              <a:rPr sz="2600" spc="-10" dirty="0">
                <a:latin typeface="Times New Roman" panose="02020603050405020304" pitchFamily="18" charset="0"/>
                <a:cs typeface="Times New Roman" panose="02020603050405020304" pitchFamily="18" charset="0"/>
              </a:rPr>
              <a:t>How </a:t>
            </a:r>
            <a:r>
              <a:rPr sz="2600" spc="-15" dirty="0">
                <a:latin typeface="Times New Roman" panose="02020603050405020304" pitchFamily="18" charset="0"/>
                <a:cs typeface="Times New Roman" panose="02020603050405020304" pitchFamily="18" charset="0"/>
              </a:rPr>
              <a:t>to </a:t>
            </a:r>
            <a:r>
              <a:rPr sz="2600" spc="-5" dirty="0">
                <a:latin typeface="Times New Roman" panose="02020603050405020304" pitchFamily="18" charset="0"/>
                <a:cs typeface="Times New Roman" panose="02020603050405020304" pitchFamily="18" charset="0"/>
              </a:rPr>
              <a:t>Check </a:t>
            </a:r>
            <a:r>
              <a:rPr sz="2600" spc="-10" dirty="0">
                <a:latin typeface="Times New Roman" panose="02020603050405020304" pitchFamily="18" charset="0"/>
                <a:cs typeface="Times New Roman" panose="02020603050405020304" pitchFamily="18" charset="0"/>
              </a:rPr>
              <a:t>power failure </a:t>
            </a:r>
            <a:r>
              <a:rPr sz="2600" spc="-220" dirty="0">
                <a:latin typeface="Times New Roman" panose="02020603050405020304" pitchFamily="18" charset="0"/>
                <a:cs typeface="Times New Roman" panose="02020603050405020304" pitchFamily="18" charset="0"/>
              </a:rPr>
              <a:t>in  </a:t>
            </a:r>
            <a:r>
              <a:rPr sz="2600" spc="-15" dirty="0">
                <a:latin typeface="Times New Roman" panose="02020603050405020304" pitchFamily="18" charset="0"/>
                <a:cs typeface="Times New Roman" panose="02020603050405020304" pitchFamily="18" charset="0"/>
              </a:rPr>
              <a:t>any</a:t>
            </a:r>
            <a:r>
              <a:rPr sz="2600" spc="-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component</a:t>
            </a:r>
            <a:endParaRPr sz="2600" dirty="0">
              <a:latin typeface="Times New Roman" panose="02020603050405020304" pitchFamily="18" charset="0"/>
              <a:cs typeface="Times New Roman" panose="02020603050405020304" pitchFamily="18" charset="0"/>
            </a:endParaRPr>
          </a:p>
          <a:p>
            <a:pPr marL="469265" marR="338455" indent="-457200">
              <a:lnSpc>
                <a:spcPct val="100000"/>
              </a:lnSpc>
              <a:spcBef>
                <a:spcPts val="625"/>
              </a:spcBef>
              <a:buClr>
                <a:srgbClr val="A4A4A4"/>
              </a:buClr>
              <a:buSzPct val="94000"/>
              <a:buFont typeface="Arial" panose="020B0604020202020204" pitchFamily="34" charset="0"/>
              <a:buChar char="•"/>
              <a:tabLst>
                <a:tab pos="287655" algn="l"/>
              </a:tabLst>
            </a:pPr>
            <a:r>
              <a:rPr sz="2600" spc="-5" dirty="0">
                <a:latin typeface="Times New Roman" panose="02020603050405020304" pitchFamily="18" charset="0"/>
                <a:cs typeface="Times New Roman" panose="02020603050405020304" pitchFamily="18" charset="0"/>
              </a:rPr>
              <a:t>Identification of reasons </a:t>
            </a:r>
            <a:r>
              <a:rPr sz="2600" spc="-175" dirty="0">
                <a:latin typeface="Times New Roman" panose="02020603050405020304" pitchFamily="18" charset="0"/>
                <a:cs typeface="Times New Roman" panose="02020603050405020304" pitchFamily="18" charset="0"/>
              </a:rPr>
              <a:t>for  </a:t>
            </a:r>
            <a:r>
              <a:rPr sz="2600" spc="-10" dirty="0">
                <a:latin typeface="Times New Roman" panose="02020603050405020304" pitchFamily="18" charset="0"/>
                <a:cs typeface="Times New Roman" panose="02020603050405020304" pitchFamily="18" charset="0"/>
              </a:rPr>
              <a:t>failure/interpretations</a:t>
            </a:r>
            <a:endParaRPr sz="2600" dirty="0">
              <a:latin typeface="Times New Roman" panose="02020603050405020304" pitchFamily="18" charset="0"/>
              <a:cs typeface="Times New Roman" panose="02020603050405020304" pitchFamily="18" charset="0"/>
            </a:endParaRPr>
          </a:p>
        </p:txBody>
      </p:sp>
      <p:sp>
        <p:nvSpPr>
          <p:cNvPr id="5" name="object 5"/>
          <p:cNvSpPr/>
          <p:nvPr/>
        </p:nvSpPr>
        <p:spPr>
          <a:xfrm>
            <a:off x="7162800" y="3810000"/>
            <a:ext cx="3813048" cy="2235090"/>
          </a:xfrm>
          <a:prstGeom prst="rect">
            <a:avLst/>
          </a:prstGeom>
          <a:blipFill>
            <a:blip r:embed="rId3" cstate="print"/>
            <a:stretch>
              <a:fillRect/>
            </a:stretch>
          </a:blipFill>
        </p:spPr>
        <p:txBody>
          <a:bodyPr wrap="square" lIns="0" tIns="0" rIns="0" bIns="0" rtlCol="0"/>
          <a:lstStyle/>
          <a:p>
            <a:endParaRPr/>
          </a:p>
        </p:txBody>
      </p:sp>
      <p:sp>
        <p:nvSpPr>
          <p:cNvPr id="6" name="TextBox 5"/>
          <p:cNvSpPr txBox="1"/>
          <p:nvPr/>
        </p:nvSpPr>
        <p:spPr>
          <a:xfrm>
            <a:off x="111760" y="169545"/>
            <a:ext cx="10364470" cy="768350"/>
          </a:xfrm>
          <a:prstGeom prst="rect">
            <a:avLst/>
          </a:prstGeom>
          <a:noFill/>
        </p:spPr>
        <p:txBody>
          <a:bodyPr wrap="square" rtlCol="0">
            <a:spAutoFit/>
          </a:bodyPr>
          <a:lstStyle/>
          <a:p>
            <a:r>
              <a:rPr lang="en-IN" sz="4400" dirty="0">
                <a:solidFill>
                  <a:srgbClr val="FF0000"/>
                </a:solidFill>
                <a:latin typeface="Times New Roman" panose="02020603050405020304" pitchFamily="18" charset="0"/>
                <a:cs typeface="Times New Roman" panose="02020603050405020304" pitchFamily="18" charset="0"/>
              </a:rPr>
              <a:t>Importance of Electrical Signal in Computers </a:t>
            </a:r>
            <a:endParaRPr lang="en-US" sz="4400" dirty="0">
              <a:solidFill>
                <a:srgbClr val="FF0000"/>
              </a:solidFill>
              <a:latin typeface="Times New Roman" panose="02020603050405020304" pitchFamily="18" charset="0"/>
              <a:cs typeface="Times New Roman" panose="02020603050405020304" pitchFamily="18" charset="0"/>
            </a:endParaRPr>
          </a:p>
        </p:txBody>
      </p:sp>
      <p:sp>
        <p:nvSpPr>
          <p:cNvPr id="7" name="object 4"/>
          <p:cNvSpPr/>
          <p:nvPr/>
        </p:nvSpPr>
        <p:spPr>
          <a:xfrm>
            <a:off x="10384155" y="31115"/>
            <a:ext cx="1828800" cy="960120"/>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10358120" cy="1320874"/>
          </a:xfrm>
          <a:prstGeom prst="rect">
            <a:avLst/>
          </a:prstGeom>
        </p:spPr>
        <p:txBody>
          <a:bodyPr vert="horz" wrap="square" lIns="0" tIns="88900" rIns="0" bIns="0" rtlCol="0">
            <a:spAutoFit/>
          </a:bodyPr>
          <a:lstStyle/>
          <a:p>
            <a:pPr marL="3872230" marR="5080" indent="-3071495">
              <a:lnSpc>
                <a:spcPts val="4750"/>
              </a:lnSpc>
              <a:spcBef>
                <a:spcPts val="700"/>
              </a:spcBef>
            </a:pPr>
            <a:r>
              <a:rPr spc="-265" dirty="0"/>
              <a:t>ECE</a:t>
            </a:r>
            <a:r>
              <a:rPr spc="-420" dirty="0"/>
              <a:t> </a:t>
            </a:r>
            <a:r>
              <a:rPr lang="en-IN" spc="-200" dirty="0"/>
              <a:t>249</a:t>
            </a:r>
            <a:r>
              <a:rPr spc="-200" dirty="0"/>
              <a:t>:</a:t>
            </a:r>
            <a:r>
              <a:rPr spc="-395" dirty="0"/>
              <a:t> </a:t>
            </a:r>
            <a:r>
              <a:rPr spc="-229" dirty="0"/>
              <a:t>Basic</a:t>
            </a:r>
            <a:r>
              <a:rPr spc="-409" dirty="0"/>
              <a:t> </a:t>
            </a:r>
            <a:r>
              <a:rPr spc="-305" dirty="0"/>
              <a:t>Electrical</a:t>
            </a:r>
            <a:r>
              <a:rPr spc="-415" dirty="0"/>
              <a:t> </a:t>
            </a:r>
            <a:r>
              <a:rPr spc="-200" dirty="0"/>
              <a:t>and</a:t>
            </a:r>
            <a:r>
              <a:rPr spc="-425" dirty="0"/>
              <a:t> </a:t>
            </a:r>
            <a:r>
              <a:rPr spc="-260" dirty="0"/>
              <a:t>Electronics  </a:t>
            </a:r>
            <a:r>
              <a:rPr spc="-220" dirty="0"/>
              <a:t>Engineering</a:t>
            </a:r>
          </a:p>
        </p:txBody>
      </p:sp>
      <p:sp>
        <p:nvSpPr>
          <p:cNvPr id="3" name="object 3"/>
          <p:cNvSpPr/>
          <p:nvPr/>
        </p:nvSpPr>
        <p:spPr>
          <a:xfrm>
            <a:off x="8473237" y="2829966"/>
            <a:ext cx="1925523" cy="2145284"/>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324100" y="1825751"/>
            <a:ext cx="5119115" cy="4265676"/>
          </a:xfrm>
          <a:prstGeom prst="rect">
            <a:avLst/>
          </a:prstGeom>
          <a:blipFill>
            <a:blip r:embed="rId3" cstate="print"/>
            <a:stretch>
              <a:fillRect/>
            </a:stretch>
          </a:blipFill>
        </p:spPr>
        <p:txBody>
          <a:bodyPr wrap="square" lIns="0" tIns="0" rIns="0" bIns="0" rtlCol="0"/>
          <a:lstStyle/>
          <a:p>
            <a:endParaRPr/>
          </a:p>
        </p:txBody>
      </p:sp>
      <p:sp>
        <p:nvSpPr>
          <p:cNvPr id="7" name="object 4"/>
          <p:cNvSpPr/>
          <p:nvPr/>
        </p:nvSpPr>
        <p:spPr>
          <a:xfrm>
            <a:off x="10384155" y="31115"/>
            <a:ext cx="1828800" cy="960120"/>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41014" y="609676"/>
            <a:ext cx="5114290" cy="697230"/>
          </a:xfrm>
          <a:prstGeom prst="rect">
            <a:avLst/>
          </a:prstGeom>
        </p:spPr>
        <p:txBody>
          <a:bodyPr vert="horz" wrap="square" lIns="0" tIns="13335" rIns="0" bIns="0" rtlCol="0">
            <a:spAutoFit/>
          </a:bodyPr>
          <a:lstStyle/>
          <a:p>
            <a:pPr marL="12700">
              <a:lnSpc>
                <a:spcPct val="100000"/>
              </a:lnSpc>
              <a:spcBef>
                <a:spcPts val="105"/>
              </a:spcBef>
            </a:pPr>
            <a:r>
              <a:rPr spc="-305" dirty="0"/>
              <a:t>Electrical </a:t>
            </a:r>
            <a:r>
              <a:rPr spc="-175" dirty="0"/>
              <a:t>vs</a:t>
            </a:r>
            <a:r>
              <a:rPr spc="-570" dirty="0"/>
              <a:t> </a:t>
            </a:r>
            <a:r>
              <a:rPr spc="-254" dirty="0"/>
              <a:t>Electronics</a:t>
            </a:r>
          </a:p>
        </p:txBody>
      </p:sp>
      <p:graphicFrame>
        <p:nvGraphicFramePr>
          <p:cNvPr id="3" name="object 3"/>
          <p:cNvGraphicFramePr>
            <a:graphicFrameLocks noGrp="1"/>
          </p:cNvGraphicFramePr>
          <p:nvPr/>
        </p:nvGraphicFramePr>
        <p:xfrm>
          <a:off x="831850" y="1819275"/>
          <a:ext cx="10515600" cy="2301237"/>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39">
                <a:tc>
                  <a:txBody>
                    <a:bodyPr/>
                    <a:lstStyle/>
                    <a:p>
                      <a:pPr marL="91440">
                        <a:lnSpc>
                          <a:spcPct val="100000"/>
                        </a:lnSpc>
                        <a:spcBef>
                          <a:spcPts val="240"/>
                        </a:spcBef>
                      </a:pPr>
                      <a:r>
                        <a:rPr sz="1800" b="1" spc="-5" dirty="0">
                          <a:solidFill>
                            <a:srgbClr val="FFFFFF"/>
                          </a:solidFill>
                          <a:latin typeface="Carlito"/>
                          <a:cs typeface="Carlito"/>
                        </a:rPr>
                        <a:t>Electrical</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92075">
                        <a:lnSpc>
                          <a:spcPct val="100000"/>
                        </a:lnSpc>
                        <a:spcBef>
                          <a:spcPts val="240"/>
                        </a:spcBef>
                      </a:pPr>
                      <a:r>
                        <a:rPr sz="1800" b="1" spc="-5" dirty="0">
                          <a:solidFill>
                            <a:srgbClr val="FFFFFF"/>
                          </a:solidFill>
                          <a:latin typeface="Carlito"/>
                          <a:cs typeface="Carlito"/>
                        </a:rPr>
                        <a:t>Electronics</a:t>
                      </a:r>
                      <a:endParaRPr sz="1800">
                        <a:latin typeface="Carlito"/>
                        <a:cs typeface="Carlito"/>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1188720">
                <a:tc>
                  <a:txBody>
                    <a:bodyPr/>
                    <a:lstStyle/>
                    <a:p>
                      <a:pPr marL="91440" marR="721995" algn="just">
                        <a:lnSpc>
                          <a:spcPct val="100000"/>
                        </a:lnSpc>
                        <a:spcBef>
                          <a:spcPts val="245"/>
                        </a:spcBef>
                      </a:pPr>
                      <a:r>
                        <a:rPr sz="1800" spc="-5" dirty="0">
                          <a:latin typeface="Carlito"/>
                          <a:cs typeface="Carlito"/>
                        </a:rPr>
                        <a:t>Deals with </a:t>
                      </a:r>
                      <a:r>
                        <a:rPr sz="1800" spc="-10" dirty="0">
                          <a:latin typeface="Carlito"/>
                          <a:cs typeface="Carlito"/>
                        </a:rPr>
                        <a:t>larger voltage (typically </a:t>
                      </a:r>
                      <a:r>
                        <a:rPr sz="1800" dirty="0">
                          <a:latin typeface="Carlito"/>
                          <a:cs typeface="Carlito"/>
                        </a:rPr>
                        <a:t>220 </a:t>
                      </a:r>
                      <a:r>
                        <a:rPr sz="1800" spc="-75" dirty="0">
                          <a:latin typeface="Carlito"/>
                          <a:cs typeface="Carlito"/>
                        </a:rPr>
                        <a:t>V, </a:t>
                      </a:r>
                      <a:r>
                        <a:rPr sz="1800" spc="-5" dirty="0">
                          <a:latin typeface="Carlito"/>
                          <a:cs typeface="Carlito"/>
                        </a:rPr>
                        <a:t>India).  </a:t>
                      </a:r>
                      <a:r>
                        <a:rPr sz="1800" spc="-15" dirty="0">
                          <a:latin typeface="Carlito"/>
                          <a:cs typeface="Carlito"/>
                        </a:rPr>
                        <a:t>Factories </a:t>
                      </a:r>
                      <a:r>
                        <a:rPr sz="1800" dirty="0">
                          <a:latin typeface="Carlito"/>
                          <a:cs typeface="Carlito"/>
                        </a:rPr>
                        <a:t>and </a:t>
                      </a:r>
                      <a:r>
                        <a:rPr sz="1800" spc="-10" dirty="0">
                          <a:latin typeface="Carlito"/>
                          <a:cs typeface="Carlito"/>
                        </a:rPr>
                        <a:t>power stations, </a:t>
                      </a:r>
                      <a:r>
                        <a:rPr sz="1800" spc="-15" dirty="0">
                          <a:latin typeface="Carlito"/>
                          <a:cs typeface="Carlito"/>
                        </a:rPr>
                        <a:t>may </a:t>
                      </a:r>
                      <a:r>
                        <a:rPr sz="1800" spc="-10" dirty="0">
                          <a:latin typeface="Carlito"/>
                          <a:cs typeface="Carlito"/>
                        </a:rPr>
                        <a:t>require </a:t>
                      </a:r>
                      <a:r>
                        <a:rPr sz="1800" spc="-5" dirty="0">
                          <a:latin typeface="Carlito"/>
                          <a:cs typeface="Carlito"/>
                        </a:rPr>
                        <a:t>up </a:t>
                      </a:r>
                      <a:r>
                        <a:rPr sz="1800" spc="-10" dirty="0">
                          <a:latin typeface="Carlito"/>
                          <a:cs typeface="Carlito"/>
                        </a:rPr>
                        <a:t>to  </a:t>
                      </a:r>
                      <a:r>
                        <a:rPr sz="1800" spc="-5" dirty="0">
                          <a:latin typeface="Carlito"/>
                          <a:cs typeface="Carlito"/>
                        </a:rPr>
                        <a:t>11,000</a:t>
                      </a:r>
                      <a:r>
                        <a:rPr sz="1800" dirty="0">
                          <a:latin typeface="Carlito"/>
                          <a:cs typeface="Carlito"/>
                        </a:rPr>
                        <a:t> </a:t>
                      </a:r>
                      <a:r>
                        <a:rPr sz="1800" spc="-5" dirty="0">
                          <a:latin typeface="Carlito"/>
                          <a:cs typeface="Carlito"/>
                        </a:rPr>
                        <a:t>volts.</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2075">
                        <a:lnSpc>
                          <a:spcPct val="100000"/>
                        </a:lnSpc>
                        <a:spcBef>
                          <a:spcPts val="245"/>
                        </a:spcBef>
                      </a:pPr>
                      <a:r>
                        <a:rPr sz="1800" spc="-5" dirty="0">
                          <a:latin typeface="Carlito"/>
                          <a:cs typeface="Carlito"/>
                        </a:rPr>
                        <a:t>Deals with smaller </a:t>
                      </a:r>
                      <a:r>
                        <a:rPr sz="1800" spc="-10" dirty="0">
                          <a:latin typeface="Carlito"/>
                          <a:cs typeface="Carlito"/>
                        </a:rPr>
                        <a:t>voltage </a:t>
                      </a:r>
                      <a:r>
                        <a:rPr sz="1800" spc="-5" dirty="0">
                          <a:latin typeface="Carlito"/>
                          <a:cs typeface="Carlito"/>
                        </a:rPr>
                        <a:t>(1.5 </a:t>
                      </a:r>
                      <a:r>
                        <a:rPr sz="1800" dirty="0">
                          <a:latin typeface="Carlito"/>
                          <a:cs typeface="Carlito"/>
                        </a:rPr>
                        <a:t>V </a:t>
                      </a:r>
                      <a:r>
                        <a:rPr sz="1800" spc="-10" dirty="0">
                          <a:latin typeface="Carlito"/>
                          <a:cs typeface="Carlito"/>
                        </a:rPr>
                        <a:t>to </a:t>
                      </a:r>
                      <a:r>
                        <a:rPr sz="1800" dirty="0">
                          <a:latin typeface="Carlito"/>
                          <a:cs typeface="Carlito"/>
                        </a:rPr>
                        <a:t>12</a:t>
                      </a:r>
                      <a:r>
                        <a:rPr sz="1800" spc="50" dirty="0">
                          <a:latin typeface="Carlito"/>
                          <a:cs typeface="Carlito"/>
                        </a:rPr>
                        <a:t> </a:t>
                      </a:r>
                      <a:r>
                        <a:rPr sz="1800" spc="-15" dirty="0">
                          <a:latin typeface="Carlito"/>
                          <a:cs typeface="Carlito"/>
                        </a:rPr>
                        <a:t>Volts)</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1"/>
                  </a:ext>
                </a:extLst>
              </a:tr>
              <a:tr h="370839">
                <a:tc>
                  <a:txBody>
                    <a:bodyPr/>
                    <a:lstStyle/>
                    <a:p>
                      <a:pPr marL="91440">
                        <a:lnSpc>
                          <a:spcPct val="100000"/>
                        </a:lnSpc>
                        <a:spcBef>
                          <a:spcPts val="245"/>
                        </a:spcBef>
                      </a:pPr>
                      <a:r>
                        <a:rPr sz="1800" spc="-10" dirty="0">
                          <a:latin typeface="Carlito"/>
                          <a:cs typeface="Carlito"/>
                        </a:rPr>
                        <a:t>Larger </a:t>
                      </a:r>
                      <a:r>
                        <a:rPr sz="1800" dirty="0">
                          <a:latin typeface="Carlito"/>
                          <a:cs typeface="Carlito"/>
                        </a:rPr>
                        <a:t>in</a:t>
                      </a:r>
                      <a:r>
                        <a:rPr sz="1800" spc="15" dirty="0">
                          <a:latin typeface="Carlito"/>
                          <a:cs typeface="Carlito"/>
                        </a:rPr>
                        <a:t> </a:t>
                      </a:r>
                      <a:r>
                        <a:rPr sz="1800" spc="-15" dirty="0">
                          <a:latin typeface="Carlito"/>
                          <a:cs typeface="Carlito"/>
                        </a:rPr>
                        <a:t>size</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2075">
                        <a:lnSpc>
                          <a:spcPct val="100000"/>
                        </a:lnSpc>
                        <a:spcBef>
                          <a:spcPts val="245"/>
                        </a:spcBef>
                      </a:pPr>
                      <a:r>
                        <a:rPr sz="1800" spc="-5" dirty="0">
                          <a:latin typeface="Carlito"/>
                          <a:cs typeface="Carlito"/>
                        </a:rPr>
                        <a:t>Smaller in</a:t>
                      </a:r>
                      <a:r>
                        <a:rPr sz="1800" spc="20" dirty="0">
                          <a:latin typeface="Carlito"/>
                          <a:cs typeface="Carlito"/>
                        </a:rPr>
                        <a:t> </a:t>
                      </a:r>
                      <a:r>
                        <a:rPr sz="1800" spc="-15" dirty="0">
                          <a:latin typeface="Carlito"/>
                          <a:cs typeface="Carlito"/>
                        </a:rPr>
                        <a:t>size</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2"/>
                  </a:ext>
                </a:extLst>
              </a:tr>
              <a:tr h="370839">
                <a:tc>
                  <a:txBody>
                    <a:bodyPr/>
                    <a:lstStyle/>
                    <a:p>
                      <a:pPr marL="91440">
                        <a:lnSpc>
                          <a:spcPct val="100000"/>
                        </a:lnSpc>
                        <a:spcBef>
                          <a:spcPts val="245"/>
                        </a:spcBef>
                      </a:pPr>
                      <a:r>
                        <a:rPr sz="1800" spc="-10" dirty="0">
                          <a:latin typeface="Carlito"/>
                          <a:cs typeface="Carlito"/>
                        </a:rPr>
                        <a:t>Example: </a:t>
                      </a:r>
                      <a:r>
                        <a:rPr sz="1800" spc="-35" dirty="0">
                          <a:latin typeface="Carlito"/>
                          <a:cs typeface="Carlito"/>
                        </a:rPr>
                        <a:t>Motor, </a:t>
                      </a:r>
                      <a:r>
                        <a:rPr sz="1800" spc="-25" dirty="0">
                          <a:latin typeface="Carlito"/>
                          <a:cs typeface="Carlito"/>
                        </a:rPr>
                        <a:t>transformer,</a:t>
                      </a:r>
                      <a:r>
                        <a:rPr sz="1800" spc="50" dirty="0">
                          <a:latin typeface="Carlito"/>
                          <a:cs typeface="Carlito"/>
                        </a:rPr>
                        <a:t> </a:t>
                      </a:r>
                      <a:r>
                        <a:rPr sz="1800" spc="-10" dirty="0">
                          <a:latin typeface="Carlito"/>
                          <a:cs typeface="Carlito"/>
                        </a:rPr>
                        <a:t>generator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2075">
                        <a:lnSpc>
                          <a:spcPct val="100000"/>
                        </a:lnSpc>
                        <a:spcBef>
                          <a:spcPts val="245"/>
                        </a:spcBef>
                      </a:pPr>
                      <a:r>
                        <a:rPr sz="1800" spc="-10" dirty="0">
                          <a:latin typeface="Carlito"/>
                          <a:cs typeface="Carlito"/>
                        </a:rPr>
                        <a:t>Example: </a:t>
                      </a:r>
                      <a:r>
                        <a:rPr sz="1800" spc="-5" dirty="0">
                          <a:latin typeface="Carlito"/>
                          <a:cs typeface="Carlito"/>
                        </a:rPr>
                        <a:t>Diode, </a:t>
                      </a:r>
                      <a:r>
                        <a:rPr sz="1800" spc="-35" dirty="0">
                          <a:latin typeface="Carlito"/>
                          <a:cs typeface="Carlito"/>
                        </a:rPr>
                        <a:t>Transistor, </a:t>
                      </a:r>
                      <a:r>
                        <a:rPr sz="1800" dirty="0">
                          <a:latin typeface="Carlito"/>
                          <a:cs typeface="Carlito"/>
                        </a:rPr>
                        <a:t>OP-amp,</a:t>
                      </a:r>
                      <a:r>
                        <a:rPr sz="1800" spc="65" dirty="0">
                          <a:latin typeface="Carlito"/>
                          <a:cs typeface="Carlito"/>
                        </a:rPr>
                        <a:t> </a:t>
                      </a:r>
                      <a:r>
                        <a:rPr sz="1800" spc="-5" dirty="0">
                          <a:latin typeface="Carlito"/>
                          <a:cs typeface="Carlito"/>
                        </a:rPr>
                        <a:t>MOSFET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3"/>
                  </a:ext>
                </a:extLst>
              </a:tr>
            </a:tbl>
          </a:graphicData>
        </a:graphic>
      </p:graphicFrame>
      <p:sp>
        <p:nvSpPr>
          <p:cNvPr id="4" name="Cloud 3"/>
          <p:cNvSpPr/>
          <p:nvPr/>
        </p:nvSpPr>
        <p:spPr>
          <a:xfrm>
            <a:off x="6553200" y="4343400"/>
            <a:ext cx="3352800" cy="9144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Digital Electronics</a:t>
            </a:r>
          </a:p>
        </p:txBody>
      </p:sp>
      <p:sp>
        <p:nvSpPr>
          <p:cNvPr id="7" name="object 4"/>
          <p:cNvSpPr/>
          <p:nvPr/>
        </p:nvSpPr>
        <p:spPr>
          <a:xfrm>
            <a:off x="10384155" y="31115"/>
            <a:ext cx="1828800" cy="96012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8900" rIns="0" bIns="0" rtlCol="0">
            <a:spAutoFit/>
          </a:bodyPr>
          <a:lstStyle/>
          <a:p>
            <a:pPr marL="12700" marR="5080">
              <a:lnSpc>
                <a:spcPts val="4750"/>
              </a:lnSpc>
              <a:spcBef>
                <a:spcPts val="700"/>
              </a:spcBef>
            </a:pPr>
            <a:r>
              <a:rPr spc="-220" dirty="0"/>
              <a:t>Blend </a:t>
            </a:r>
            <a:r>
              <a:rPr spc="-204" dirty="0"/>
              <a:t>of </a:t>
            </a:r>
            <a:r>
              <a:rPr spc="-235" dirty="0"/>
              <a:t>Computer</a:t>
            </a:r>
            <a:r>
              <a:rPr spc="-1045" dirty="0"/>
              <a:t> </a:t>
            </a:r>
            <a:r>
              <a:rPr spc="-295" dirty="0"/>
              <a:t>Science, </a:t>
            </a:r>
            <a:r>
              <a:rPr spc="-305" dirty="0"/>
              <a:t>Electrical </a:t>
            </a:r>
            <a:r>
              <a:rPr spc="-200" dirty="0"/>
              <a:t>and  </a:t>
            </a:r>
            <a:r>
              <a:rPr spc="-260" dirty="0"/>
              <a:t>Electronics</a:t>
            </a:r>
          </a:p>
        </p:txBody>
      </p:sp>
      <p:sp>
        <p:nvSpPr>
          <p:cNvPr id="3" name="object 3"/>
          <p:cNvSpPr/>
          <p:nvPr/>
        </p:nvSpPr>
        <p:spPr>
          <a:xfrm>
            <a:off x="5162837" y="2619518"/>
            <a:ext cx="2623447" cy="2922862"/>
          </a:xfrm>
          <a:prstGeom prst="rect">
            <a:avLst/>
          </a:prstGeom>
          <a:blipFill>
            <a:blip r:embed="rId2" cstate="print"/>
            <a:stretch>
              <a:fillRect/>
            </a:stretch>
          </a:blipFill>
        </p:spPr>
        <p:txBody>
          <a:bodyPr wrap="square" lIns="0" tIns="0" rIns="0" bIns="0" rtlCol="0"/>
          <a:lstStyle/>
          <a:p>
            <a:endParaRPr/>
          </a:p>
        </p:txBody>
      </p:sp>
      <p:sp>
        <p:nvSpPr>
          <p:cNvPr id="7" name="object 4"/>
          <p:cNvSpPr/>
          <p:nvPr/>
        </p:nvSpPr>
        <p:spPr>
          <a:xfrm>
            <a:off x="10384155" y="31115"/>
            <a:ext cx="1828800" cy="96012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457200"/>
            <a:ext cx="11277600" cy="705321"/>
          </a:xfrm>
          <a:prstGeom prst="rect">
            <a:avLst/>
          </a:prstGeom>
        </p:spPr>
        <p:txBody>
          <a:bodyPr vert="horz" wrap="square" lIns="0" tIns="88900" rIns="0" bIns="0" rtlCol="0">
            <a:spAutoFit/>
          </a:bodyPr>
          <a:lstStyle/>
          <a:p>
            <a:pPr marL="12700" marR="5080">
              <a:lnSpc>
                <a:spcPts val="4750"/>
              </a:lnSpc>
              <a:spcBef>
                <a:spcPts val="700"/>
              </a:spcBef>
            </a:pPr>
            <a:r>
              <a:rPr spc="-220" dirty="0"/>
              <a:t>Blend </a:t>
            </a:r>
            <a:r>
              <a:rPr spc="-204" dirty="0"/>
              <a:t>of </a:t>
            </a:r>
            <a:r>
              <a:rPr spc="-235" dirty="0"/>
              <a:t>Computer</a:t>
            </a:r>
            <a:r>
              <a:rPr spc="-1045" dirty="0"/>
              <a:t> </a:t>
            </a:r>
            <a:r>
              <a:rPr lang="en-US" spc="-1045" dirty="0"/>
              <a:t>          </a:t>
            </a:r>
            <a:r>
              <a:rPr spc="-295" dirty="0"/>
              <a:t>Science, </a:t>
            </a:r>
            <a:r>
              <a:rPr spc="-305" dirty="0"/>
              <a:t>Electrical </a:t>
            </a:r>
            <a:r>
              <a:rPr spc="-200" dirty="0"/>
              <a:t>and  </a:t>
            </a:r>
            <a:r>
              <a:rPr spc="-260" dirty="0"/>
              <a:t>Electronics</a:t>
            </a:r>
          </a:p>
        </p:txBody>
      </p:sp>
      <p:sp>
        <p:nvSpPr>
          <p:cNvPr id="3" name="object 3"/>
          <p:cNvSpPr txBox="1"/>
          <p:nvPr/>
        </p:nvSpPr>
        <p:spPr>
          <a:xfrm>
            <a:off x="304800" y="1600200"/>
            <a:ext cx="6248400" cy="4812600"/>
          </a:xfrm>
          <a:prstGeom prst="rect">
            <a:avLst/>
          </a:prstGeom>
        </p:spPr>
        <p:txBody>
          <a:bodyPr vert="horz" wrap="square" lIns="0" tIns="43180" rIns="0" bIns="0" rtlCol="0">
            <a:spAutoFit/>
          </a:bodyPr>
          <a:lstStyle/>
          <a:p>
            <a:pPr marL="241300" marR="5080" indent="-229235" algn="just">
              <a:lnSpc>
                <a:spcPct val="90000"/>
              </a:lnSpc>
              <a:spcBef>
                <a:spcPts val="340"/>
              </a:spcBef>
              <a:buFont typeface="Arial" panose="020B0604020202020204"/>
              <a:buChar char="•"/>
              <a:tabLst>
                <a:tab pos="241300" algn="l"/>
                <a:tab pos="241935" algn="l"/>
              </a:tabLst>
            </a:pPr>
            <a:r>
              <a:rPr sz="2400" dirty="0">
                <a:latin typeface="Times New Roman" panose="02020603050405020304" pitchFamily="18" charset="0"/>
                <a:cs typeface="Times New Roman" panose="02020603050405020304" pitchFamily="18" charset="0"/>
              </a:rPr>
              <a:t>A </a:t>
            </a:r>
            <a:r>
              <a:rPr sz="2400" b="1" spc="-5" dirty="0">
                <a:latin typeface="Times New Roman" panose="02020603050405020304" pitchFamily="18" charset="0"/>
                <a:cs typeface="Times New Roman" panose="02020603050405020304" pitchFamily="18" charset="0"/>
              </a:rPr>
              <a:t>washing machine </a:t>
            </a:r>
            <a:r>
              <a:rPr sz="2400" spc="-5" dirty="0">
                <a:latin typeface="Times New Roman" panose="02020603050405020304" pitchFamily="18" charset="0"/>
                <a:cs typeface="Times New Roman" panose="02020603050405020304" pitchFamily="18" charset="0"/>
              </a:rPr>
              <a:t>has </a:t>
            </a:r>
            <a:r>
              <a:rPr sz="2400" dirty="0">
                <a:latin typeface="Times New Roman" panose="02020603050405020304" pitchFamily="18" charset="0"/>
                <a:cs typeface="Times New Roman" panose="02020603050405020304" pitchFamily="18" charset="0"/>
              </a:rPr>
              <a:t>an </a:t>
            </a:r>
            <a:r>
              <a:rPr sz="2400" spc="-5" dirty="0">
                <a:solidFill>
                  <a:srgbClr val="FF0000"/>
                </a:solidFill>
                <a:latin typeface="Times New Roman" panose="02020603050405020304" pitchFamily="18" charset="0"/>
                <a:cs typeface="Times New Roman" panose="02020603050405020304" pitchFamily="18" charset="0"/>
              </a:rPr>
              <a:t>electrical circuit </a:t>
            </a:r>
            <a:r>
              <a:rPr sz="2400" spc="-5" dirty="0">
                <a:latin typeface="Times New Roman" panose="02020603050405020304" pitchFamily="18" charset="0"/>
                <a:cs typeface="Times New Roman" panose="02020603050405020304" pitchFamily="18" charset="0"/>
              </a:rPr>
              <a:t> comprising </a:t>
            </a:r>
            <a:r>
              <a:rPr sz="2400" dirty="0">
                <a:latin typeface="Times New Roman" panose="02020603050405020304" pitchFamily="18" charset="0"/>
                <a:cs typeface="Times New Roman" panose="02020603050405020304" pitchFamily="18" charset="0"/>
              </a:rPr>
              <a:t>a plug </a:t>
            </a:r>
            <a:r>
              <a:rPr sz="2400" spc="-15" dirty="0">
                <a:latin typeface="Times New Roman" panose="02020603050405020304" pitchFamily="18" charset="0"/>
                <a:cs typeface="Times New Roman" panose="02020603050405020304" pitchFamily="18" charset="0"/>
              </a:rPr>
              <a:t>socket, </a:t>
            </a:r>
            <a:r>
              <a:rPr sz="2400" b="1" dirty="0">
                <a:solidFill>
                  <a:srgbClr val="FF0000"/>
                </a:solidFill>
                <a:latin typeface="Times New Roman" panose="02020603050405020304" pitchFamily="18" charset="0"/>
                <a:cs typeface="Times New Roman" panose="02020603050405020304" pitchFamily="18" charset="0"/>
              </a:rPr>
              <a:t>fuse, </a:t>
            </a:r>
            <a:r>
              <a:rPr sz="2400" b="1" spc="-10" dirty="0">
                <a:solidFill>
                  <a:srgbClr val="FF0000"/>
                </a:solidFill>
                <a:latin typeface="Times New Roman" panose="02020603050405020304" pitchFamily="18" charset="0"/>
                <a:cs typeface="Times New Roman" panose="02020603050405020304" pitchFamily="18" charset="0"/>
              </a:rPr>
              <a:t>on/off switch,  </a:t>
            </a:r>
            <a:r>
              <a:rPr sz="2400" b="1" dirty="0">
                <a:solidFill>
                  <a:srgbClr val="FF0000"/>
                </a:solidFill>
                <a:latin typeface="Times New Roman" panose="02020603050405020304" pitchFamily="18" charset="0"/>
                <a:cs typeface="Times New Roman" panose="02020603050405020304" pitchFamily="18" charset="0"/>
              </a:rPr>
              <a:t>and </a:t>
            </a:r>
            <a:r>
              <a:rPr sz="2400" b="1" spc="-30" dirty="0">
                <a:solidFill>
                  <a:srgbClr val="FF0000"/>
                </a:solidFill>
                <a:latin typeface="Times New Roman" panose="02020603050405020304" pitchFamily="18" charset="0"/>
                <a:cs typeface="Times New Roman" panose="02020603050405020304" pitchFamily="18" charset="0"/>
              </a:rPr>
              <a:t>motor, </a:t>
            </a:r>
            <a:r>
              <a:rPr sz="2400" dirty="0">
                <a:latin typeface="Times New Roman" panose="02020603050405020304" pitchFamily="18" charset="0"/>
                <a:cs typeface="Times New Roman" panose="02020603050405020304" pitchFamily="18" charset="0"/>
              </a:rPr>
              <a:t>which </a:t>
            </a:r>
            <a:r>
              <a:rPr sz="2400" spc="-20" dirty="0">
                <a:latin typeface="Times New Roman" panose="02020603050405020304" pitchFamily="18" charset="0"/>
                <a:cs typeface="Times New Roman" panose="02020603050405020304" pitchFamily="18" charset="0"/>
              </a:rPr>
              <a:t>rotates </a:t>
            </a:r>
            <a:r>
              <a:rPr sz="2400" dirty="0">
                <a:latin typeface="Times New Roman" panose="02020603050405020304" pitchFamily="18" charset="0"/>
                <a:cs typeface="Times New Roman" panose="02020603050405020304" pitchFamily="18" charset="0"/>
              </a:rPr>
              <a:t>the drum. </a:t>
            </a:r>
            <a:endParaRPr lang="en-US" sz="2400" dirty="0">
              <a:latin typeface="Times New Roman" panose="02020603050405020304" pitchFamily="18" charset="0"/>
              <a:cs typeface="Times New Roman" panose="02020603050405020304" pitchFamily="18" charset="0"/>
            </a:endParaRPr>
          </a:p>
          <a:p>
            <a:pPr marL="241300" marR="5080" indent="-229235" algn="just">
              <a:lnSpc>
                <a:spcPct val="90000"/>
              </a:lnSpc>
              <a:spcBef>
                <a:spcPts val="340"/>
              </a:spcBef>
              <a:buFont typeface="Arial" panose="020B0604020202020204"/>
              <a:buChar char="•"/>
              <a:tabLst>
                <a:tab pos="241300" algn="l"/>
                <a:tab pos="241935" algn="l"/>
              </a:tabLst>
            </a:pPr>
            <a:r>
              <a:rPr sz="2400" spc="-5" dirty="0">
                <a:latin typeface="Times New Roman" panose="02020603050405020304" pitchFamily="18" charset="0"/>
                <a:cs typeface="Times New Roman" panose="02020603050405020304" pitchFamily="18" charset="0"/>
              </a:rPr>
              <a:t>The  </a:t>
            </a:r>
            <a:r>
              <a:rPr sz="2400" spc="-10" dirty="0">
                <a:latin typeface="Times New Roman" panose="02020603050405020304" pitchFamily="18" charset="0"/>
                <a:cs typeface="Times New Roman" panose="02020603050405020304" pitchFamily="18" charset="0"/>
              </a:rPr>
              <a:t>desired </a:t>
            </a:r>
            <a:r>
              <a:rPr sz="2400" spc="-5" dirty="0">
                <a:latin typeface="Times New Roman" panose="02020603050405020304" pitchFamily="18" charset="0"/>
                <a:cs typeface="Times New Roman" panose="02020603050405020304" pitchFamily="18" charset="0"/>
              </a:rPr>
              <a:t>wash cycle </a:t>
            </a:r>
            <a:r>
              <a:rPr sz="2400" dirty="0">
                <a:latin typeface="Times New Roman" panose="02020603050405020304" pitchFamily="18" charset="0"/>
                <a:cs typeface="Times New Roman" panose="02020603050405020304" pitchFamily="18" charset="0"/>
              </a:rPr>
              <a:t>and </a:t>
            </a:r>
            <a:r>
              <a:rPr sz="2400" spc="-15" dirty="0">
                <a:latin typeface="Times New Roman" panose="02020603050405020304" pitchFamily="18" charset="0"/>
                <a:cs typeface="Times New Roman" panose="02020603050405020304" pitchFamily="18" charset="0"/>
              </a:rPr>
              <a:t>temperature </a:t>
            </a:r>
            <a:r>
              <a:rPr sz="2400" spc="-10" dirty="0">
                <a:latin typeface="Times New Roman" panose="02020603050405020304" pitchFamily="18" charset="0"/>
                <a:cs typeface="Times New Roman" panose="02020603050405020304" pitchFamily="18" charset="0"/>
              </a:rPr>
              <a:t>are  </a:t>
            </a:r>
            <a:r>
              <a:rPr sz="2400" spc="-5" dirty="0">
                <a:latin typeface="Times New Roman" panose="02020603050405020304" pitchFamily="18" charset="0"/>
                <a:cs typeface="Times New Roman" panose="02020603050405020304" pitchFamily="18" charset="0"/>
              </a:rPr>
              <a:t>inputted by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user via </a:t>
            </a:r>
            <a:r>
              <a:rPr sz="2400" dirty="0">
                <a:latin typeface="Times New Roman" panose="02020603050405020304" pitchFamily="18" charset="0"/>
                <a:cs typeface="Times New Roman" panose="02020603050405020304" pitchFamily="18" charset="0"/>
              </a:rPr>
              <a:t>the </a:t>
            </a:r>
            <a:r>
              <a:rPr sz="2400" spc="-15" dirty="0">
                <a:latin typeface="Times New Roman" panose="02020603050405020304" pitchFamily="18" charset="0"/>
                <a:cs typeface="Times New Roman" panose="02020603050405020304" pitchFamily="18" charset="0"/>
              </a:rPr>
              <a:t>control </a:t>
            </a:r>
            <a:r>
              <a:rPr sz="2400" spc="-5" dirty="0">
                <a:latin typeface="Times New Roman" panose="02020603050405020304" pitchFamily="18" charset="0"/>
                <a:cs typeface="Times New Roman" panose="02020603050405020304" pitchFamily="18" charset="0"/>
              </a:rPr>
              <a:t>panel.  </a:t>
            </a:r>
            <a:endParaRPr lang="en-US" sz="2400" spc="-5" dirty="0">
              <a:latin typeface="Times New Roman" panose="02020603050405020304" pitchFamily="18" charset="0"/>
              <a:cs typeface="Times New Roman" panose="02020603050405020304" pitchFamily="18" charset="0"/>
            </a:endParaRPr>
          </a:p>
          <a:p>
            <a:pPr marL="12065" marR="5080" algn="just">
              <a:lnSpc>
                <a:spcPct val="90000"/>
              </a:lnSpc>
              <a:spcBef>
                <a:spcPts val="340"/>
              </a:spcBef>
              <a:tabLst>
                <a:tab pos="241300" algn="l"/>
                <a:tab pos="241935" algn="l"/>
              </a:tabLst>
            </a:pPr>
            <a:r>
              <a:rPr lang="en-US"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These instructions </a:t>
            </a:r>
            <a:r>
              <a:rPr sz="2400" spc="-10" dirty="0">
                <a:latin typeface="Times New Roman" panose="02020603050405020304" pitchFamily="18" charset="0"/>
                <a:cs typeface="Times New Roman" panose="02020603050405020304" pitchFamily="18" charset="0"/>
              </a:rPr>
              <a:t>are interpreted </a:t>
            </a:r>
            <a:r>
              <a:rPr sz="2400" spc="-5" dirty="0">
                <a:latin typeface="Times New Roman" panose="02020603050405020304" pitchFamily="18" charset="0"/>
                <a:cs typeface="Times New Roman" panose="02020603050405020304" pitchFamily="18" charset="0"/>
              </a:rPr>
              <a:t>by </a:t>
            </a:r>
            <a:r>
              <a:rPr sz="2400" spc="-5" dirty="0">
                <a:solidFill>
                  <a:srgbClr val="FF0000"/>
                </a:solidFill>
                <a:latin typeface="Times New Roman" panose="02020603050405020304" pitchFamily="18" charset="0"/>
                <a:cs typeface="Times New Roman" panose="02020603050405020304" pitchFamily="18" charset="0"/>
              </a:rPr>
              <a:t> </a:t>
            </a:r>
            <a:r>
              <a:rPr sz="2400" b="1" spc="-5" dirty="0">
                <a:solidFill>
                  <a:srgbClr val="FF0000"/>
                </a:solidFill>
                <a:latin typeface="Times New Roman" panose="02020603050405020304" pitchFamily="18" charset="0"/>
                <a:cs typeface="Times New Roman" panose="02020603050405020304" pitchFamily="18" charset="0"/>
              </a:rPr>
              <a:t>electronic circuits, </a:t>
            </a:r>
            <a:r>
              <a:rPr sz="2400" dirty="0">
                <a:latin typeface="Times New Roman" panose="02020603050405020304" pitchFamily="18" charset="0"/>
                <a:cs typeface="Times New Roman" panose="02020603050405020304" pitchFamily="18" charset="0"/>
              </a:rPr>
              <a:t>which </a:t>
            </a:r>
            <a:r>
              <a:rPr sz="2400" spc="-20" dirty="0">
                <a:latin typeface="Times New Roman" panose="02020603050405020304" pitchFamily="18" charset="0"/>
                <a:cs typeface="Times New Roman" panose="02020603050405020304" pitchFamily="18" charset="0"/>
              </a:rPr>
              <a:t>have </a:t>
            </a:r>
            <a:r>
              <a:rPr sz="2400" spc="-5" dirty="0">
                <a:latin typeface="Times New Roman" panose="02020603050405020304" pitchFamily="18" charset="0"/>
                <a:cs typeface="Times New Roman" panose="02020603050405020304" pitchFamily="18" charset="0"/>
              </a:rPr>
              <a:t>been designed  </a:t>
            </a:r>
            <a:r>
              <a:rPr sz="2400" dirty="0">
                <a:latin typeface="Times New Roman" panose="02020603050405020304" pitchFamily="18" charset="0"/>
                <a:cs typeface="Times New Roman" panose="02020603050405020304" pitchFamily="18" charset="0"/>
              </a:rPr>
              <a:t>and </a:t>
            </a:r>
            <a:r>
              <a:rPr sz="2400" b="1" spc="-10" dirty="0">
                <a:solidFill>
                  <a:srgbClr val="FF0000"/>
                </a:solidFill>
                <a:latin typeface="Times New Roman" panose="02020603050405020304" pitchFamily="18" charset="0"/>
                <a:cs typeface="Times New Roman" panose="02020603050405020304" pitchFamily="18" charset="0"/>
              </a:rPr>
              <a:t>programmed </a:t>
            </a:r>
            <a:r>
              <a:rPr sz="2400" b="1" spc="-15" dirty="0">
                <a:solidFill>
                  <a:srgbClr val="FF0000"/>
                </a:solidFill>
                <a:latin typeface="Times New Roman" panose="02020603050405020304" pitchFamily="18" charset="0"/>
                <a:cs typeface="Times New Roman" panose="02020603050405020304" pitchFamily="18" charset="0"/>
              </a:rPr>
              <a:t>to </a:t>
            </a:r>
            <a:r>
              <a:rPr sz="2400" b="1" spc="-5" dirty="0">
                <a:solidFill>
                  <a:srgbClr val="FF0000"/>
                </a:solidFill>
                <a:latin typeface="Times New Roman" panose="02020603050405020304" pitchFamily="18" charset="0"/>
                <a:cs typeface="Times New Roman" panose="02020603050405020304" pitchFamily="18" charset="0"/>
              </a:rPr>
              <a:t>understand </a:t>
            </a:r>
            <a:r>
              <a:rPr sz="2400" b="1" spc="-10" dirty="0">
                <a:solidFill>
                  <a:srgbClr val="FF0000"/>
                </a:solidFill>
                <a:latin typeface="Times New Roman" panose="02020603050405020304" pitchFamily="18" charset="0"/>
                <a:cs typeface="Times New Roman" panose="02020603050405020304" pitchFamily="18" charset="0"/>
              </a:rPr>
              <a:t>what </a:t>
            </a:r>
            <a:r>
              <a:rPr sz="2400" b="1" dirty="0">
                <a:solidFill>
                  <a:srgbClr val="FF0000"/>
                </a:solidFill>
                <a:latin typeface="Times New Roman" panose="02020603050405020304" pitchFamily="18" charset="0"/>
                <a:cs typeface="Times New Roman" panose="02020603050405020304" pitchFamily="18" charset="0"/>
              </a:rPr>
              <a:t>the  user </a:t>
            </a:r>
            <a:r>
              <a:rPr sz="2400" b="1" spc="-5" dirty="0">
                <a:solidFill>
                  <a:srgbClr val="FF0000"/>
                </a:solidFill>
                <a:latin typeface="Times New Roman" panose="02020603050405020304" pitchFamily="18" charset="0"/>
                <a:cs typeface="Times New Roman" panose="02020603050405020304" pitchFamily="18" charset="0"/>
              </a:rPr>
              <a:t>would </a:t>
            </a:r>
            <a:r>
              <a:rPr sz="2400" b="1" spc="-15" dirty="0">
                <a:solidFill>
                  <a:srgbClr val="FF0000"/>
                </a:solidFill>
                <a:latin typeface="Times New Roman" panose="02020603050405020304" pitchFamily="18" charset="0"/>
                <a:cs typeface="Times New Roman" panose="02020603050405020304" pitchFamily="18" charset="0"/>
              </a:rPr>
              <a:t>like </a:t>
            </a:r>
            <a:r>
              <a:rPr sz="2400" b="1" dirty="0">
                <a:solidFill>
                  <a:srgbClr val="FF0000"/>
                </a:solidFill>
                <a:latin typeface="Times New Roman" panose="02020603050405020304" pitchFamily="18" charset="0"/>
                <a:cs typeface="Times New Roman" panose="02020603050405020304" pitchFamily="18" charset="0"/>
              </a:rPr>
              <a:t>based on </a:t>
            </a:r>
            <a:r>
              <a:rPr sz="2400" b="1" spc="-10" dirty="0">
                <a:solidFill>
                  <a:srgbClr val="FF0000"/>
                </a:solidFill>
                <a:latin typeface="Times New Roman" panose="02020603050405020304" pitchFamily="18" charset="0"/>
                <a:cs typeface="Times New Roman" panose="02020603050405020304" pitchFamily="18" charset="0"/>
              </a:rPr>
              <a:t>what </a:t>
            </a:r>
            <a:r>
              <a:rPr sz="2400" b="1" spc="-5" dirty="0">
                <a:solidFill>
                  <a:srgbClr val="FF0000"/>
                </a:solidFill>
                <a:latin typeface="Times New Roman" panose="02020603050405020304" pitchFamily="18" charset="0"/>
                <a:cs typeface="Times New Roman" panose="02020603050405020304" pitchFamily="18" charset="0"/>
              </a:rPr>
              <a:t>buttons </a:t>
            </a:r>
            <a:r>
              <a:rPr sz="2400" b="1" spc="-15" dirty="0">
                <a:solidFill>
                  <a:srgbClr val="FF0000"/>
                </a:solidFill>
                <a:latin typeface="Times New Roman" panose="02020603050405020304" pitchFamily="18" charset="0"/>
                <a:cs typeface="Times New Roman" panose="02020603050405020304" pitchFamily="18" charset="0"/>
              </a:rPr>
              <a:t>have  </a:t>
            </a:r>
            <a:r>
              <a:rPr sz="2400" b="1" dirty="0">
                <a:solidFill>
                  <a:srgbClr val="FF0000"/>
                </a:solidFill>
                <a:latin typeface="Times New Roman" panose="02020603050405020304" pitchFamily="18" charset="0"/>
                <a:cs typeface="Times New Roman" panose="02020603050405020304" pitchFamily="18" charset="0"/>
              </a:rPr>
              <a:t>been </a:t>
            </a:r>
            <a:r>
              <a:rPr sz="2400" b="1" spc="-5" dirty="0">
                <a:solidFill>
                  <a:srgbClr val="FF0000"/>
                </a:solidFill>
                <a:latin typeface="Times New Roman" panose="02020603050405020304" pitchFamily="18" charset="0"/>
                <a:cs typeface="Times New Roman" panose="02020603050405020304" pitchFamily="18" charset="0"/>
              </a:rPr>
              <a:t>pressed.</a:t>
            </a:r>
            <a:endParaRPr lang="en-US" sz="2400" b="1" spc="-5" dirty="0">
              <a:solidFill>
                <a:srgbClr val="FF0000"/>
              </a:solidFill>
              <a:latin typeface="Times New Roman" panose="02020603050405020304" pitchFamily="18" charset="0"/>
              <a:cs typeface="Times New Roman" panose="02020603050405020304" pitchFamily="18" charset="0"/>
            </a:endParaRPr>
          </a:p>
          <a:p>
            <a:pPr marL="241300" marR="5080" indent="-229235" algn="just">
              <a:lnSpc>
                <a:spcPct val="90000"/>
              </a:lnSpc>
              <a:spcBef>
                <a:spcPts val="340"/>
              </a:spcBef>
              <a:buFont typeface="Arial" panose="020B0604020202020204"/>
              <a:buChar char="•"/>
              <a:tabLst>
                <a:tab pos="241300" algn="l"/>
                <a:tab pos="241935" algn="l"/>
              </a:tabLst>
            </a:pPr>
            <a:r>
              <a:rPr sz="2400" dirty="0">
                <a:latin typeface="Times New Roman" panose="02020603050405020304" pitchFamily="18" charset="0"/>
                <a:cs typeface="Times New Roman" panose="02020603050405020304" pitchFamily="18" charset="0"/>
              </a:rPr>
              <a:t>When the </a:t>
            </a:r>
            <a:r>
              <a:rPr sz="2400" spc="-5" dirty="0">
                <a:latin typeface="Times New Roman" panose="02020603050405020304" pitchFamily="18" charset="0"/>
                <a:cs typeface="Times New Roman" panose="02020603050405020304" pitchFamily="18" charset="0"/>
              </a:rPr>
              <a:t>electronic circuit has  </a:t>
            </a:r>
            <a:r>
              <a:rPr sz="2400" spc="-10" dirty="0">
                <a:latin typeface="Times New Roman" panose="02020603050405020304" pitchFamily="18" charset="0"/>
                <a:cs typeface="Times New Roman" panose="02020603050405020304" pitchFamily="18" charset="0"/>
              </a:rPr>
              <a:t>interpreted </a:t>
            </a:r>
            <a:r>
              <a:rPr sz="2400" dirty="0">
                <a:latin typeface="Times New Roman" panose="02020603050405020304" pitchFamily="18" charset="0"/>
                <a:cs typeface="Times New Roman" panose="02020603050405020304" pitchFamily="18" charset="0"/>
              </a:rPr>
              <a:t>these, it </a:t>
            </a:r>
            <a:r>
              <a:rPr sz="2400" spc="-5" dirty="0">
                <a:latin typeface="Times New Roman" panose="02020603050405020304" pitchFamily="18" charset="0"/>
                <a:cs typeface="Times New Roman" panose="02020603050405020304" pitchFamily="18" charset="0"/>
              </a:rPr>
              <a:t>sends </a:t>
            </a:r>
            <a:r>
              <a:rPr sz="2400" dirty="0">
                <a:latin typeface="Times New Roman" panose="02020603050405020304" pitchFamily="18" charset="0"/>
                <a:cs typeface="Times New Roman" panose="02020603050405020304" pitchFamily="18" charset="0"/>
              </a:rPr>
              <a:t>signals</a:t>
            </a:r>
            <a:r>
              <a:rPr lang="en-US" sz="2400" dirty="0">
                <a:latin typeface="Times New Roman" panose="02020603050405020304" pitchFamily="18" charset="0"/>
                <a:cs typeface="Times New Roman" panose="02020603050405020304" pitchFamily="18" charset="0"/>
              </a:rPr>
              <a:t> (</a:t>
            </a:r>
            <a:r>
              <a:rPr lang="en-US" sz="2400" b="1" spc="-10" dirty="0">
                <a:solidFill>
                  <a:srgbClr val="FF0000"/>
                </a:solidFill>
                <a:latin typeface="Times New Roman" panose="02020603050405020304" pitchFamily="18" charset="0"/>
                <a:cs typeface="Times New Roman" panose="02020603050405020304" pitchFamily="18" charset="0"/>
              </a:rPr>
              <a:t>commands)</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to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electrical circuit </a:t>
            </a:r>
            <a:r>
              <a:rPr sz="2400" spc="-15" dirty="0">
                <a:latin typeface="Times New Roman" panose="02020603050405020304" pitchFamily="18" charset="0"/>
                <a:cs typeface="Times New Roman" panose="02020603050405020304" pitchFamily="18" charset="0"/>
              </a:rPr>
              <a:t>to </a:t>
            </a:r>
            <a:r>
              <a:rPr sz="2400" spc="-5" dirty="0">
                <a:latin typeface="Times New Roman" panose="02020603050405020304" pitchFamily="18" charset="0"/>
                <a:cs typeface="Times New Roman" panose="02020603050405020304" pitchFamily="18" charset="0"/>
              </a:rPr>
              <a:t>op</a:t>
            </a:r>
            <a:r>
              <a:rPr sz="2400" spc="-10" dirty="0">
                <a:latin typeface="Times New Roman" panose="02020603050405020304" pitchFamily="18" charset="0"/>
                <a:cs typeface="Times New Roman" panose="02020603050405020304" pitchFamily="18" charset="0"/>
              </a:rPr>
              <a:t>erate </a:t>
            </a:r>
            <a:r>
              <a:rPr sz="2400" dirty="0">
                <a:latin typeface="Times New Roman" panose="02020603050405020304" pitchFamily="18" charset="0"/>
                <a:cs typeface="Times New Roman" panose="02020603050405020304" pitchFamily="18" charset="0"/>
              </a:rPr>
              <a:t>the  </a:t>
            </a:r>
            <a:r>
              <a:rPr sz="2400" spc="-10" dirty="0">
                <a:latin typeface="Times New Roman" panose="02020603050405020304" pitchFamily="18" charset="0"/>
                <a:cs typeface="Times New Roman" panose="02020603050405020304" pitchFamily="18" charset="0"/>
              </a:rPr>
              <a:t>heater </a:t>
            </a:r>
            <a:r>
              <a:rPr sz="2400" dirty="0">
                <a:latin typeface="Times New Roman" panose="02020603050405020304" pitchFamily="18" charset="0"/>
                <a:cs typeface="Times New Roman" panose="02020603050405020304" pitchFamily="18" charset="0"/>
              </a:rPr>
              <a:t>and </a:t>
            </a:r>
            <a:r>
              <a:rPr sz="2400" spc="-35" dirty="0">
                <a:latin typeface="Times New Roman" panose="02020603050405020304" pitchFamily="18" charset="0"/>
                <a:cs typeface="Times New Roman" panose="02020603050405020304" pitchFamily="18" charset="0"/>
              </a:rPr>
              <a:t>motor, </a:t>
            </a:r>
            <a:r>
              <a:rPr sz="2400" spc="-15" dirty="0">
                <a:latin typeface="Times New Roman" panose="02020603050405020304" pitchFamily="18" charset="0"/>
                <a:cs typeface="Times New Roman" panose="02020603050405020304" pitchFamily="18" charset="0"/>
              </a:rPr>
              <a:t>to </a:t>
            </a:r>
            <a:r>
              <a:rPr sz="2400" spc="-10" dirty="0">
                <a:latin typeface="Times New Roman" panose="02020603050405020304" pitchFamily="18" charset="0"/>
                <a:cs typeface="Times New Roman" panose="02020603050405020304" pitchFamily="18" charset="0"/>
              </a:rPr>
              <a:t>heat </a:t>
            </a:r>
            <a:r>
              <a:rPr sz="2400" dirty="0">
                <a:latin typeface="Times New Roman" panose="02020603050405020304" pitchFamily="18" charset="0"/>
                <a:cs typeface="Times New Roman" panose="02020603050405020304" pitchFamily="18" charset="0"/>
              </a:rPr>
              <a:t>and </a:t>
            </a:r>
            <a:r>
              <a:rPr sz="2400" spc="-20" dirty="0">
                <a:latin typeface="Times New Roman" panose="02020603050405020304" pitchFamily="18" charset="0"/>
                <a:cs typeface="Times New Roman" panose="02020603050405020304" pitchFamily="18" charset="0"/>
              </a:rPr>
              <a:t>rotate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drum, </a:t>
            </a:r>
            <a:r>
              <a:rPr sz="2400" spc="-15" dirty="0">
                <a:latin typeface="Times New Roman" panose="02020603050405020304" pitchFamily="18" charset="0"/>
                <a:cs typeface="Times New Roman" panose="02020603050405020304" pitchFamily="18" charset="0"/>
              </a:rPr>
              <a:t>for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time</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required.</a:t>
            </a:r>
            <a:endParaRPr sz="2400" dirty="0">
              <a:latin typeface="Times New Roman" panose="02020603050405020304" pitchFamily="18" charset="0"/>
              <a:cs typeface="Times New Roman" panose="02020603050405020304" pitchFamily="18" charset="0"/>
            </a:endParaRPr>
          </a:p>
        </p:txBody>
      </p:sp>
      <p:sp>
        <p:nvSpPr>
          <p:cNvPr id="4" name="object 4"/>
          <p:cNvSpPr/>
          <p:nvPr/>
        </p:nvSpPr>
        <p:spPr>
          <a:xfrm>
            <a:off x="7555992" y="1825751"/>
            <a:ext cx="3047620" cy="423824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394447" y="2060448"/>
            <a:ext cx="4451604" cy="4238244"/>
          </a:xfrm>
          <a:prstGeom prst="rect">
            <a:avLst/>
          </a:prstGeom>
        </p:spPr>
      </p:pic>
      <p:sp>
        <p:nvSpPr>
          <p:cNvPr id="3" name="object 3"/>
          <p:cNvSpPr txBox="1">
            <a:spLocks noGrp="1"/>
          </p:cNvSpPr>
          <p:nvPr>
            <p:ph type="title"/>
          </p:nvPr>
        </p:nvSpPr>
        <p:spPr>
          <a:xfrm>
            <a:off x="803401" y="573100"/>
            <a:ext cx="9434830" cy="757555"/>
          </a:xfrm>
          <a:prstGeom prst="rect">
            <a:avLst/>
          </a:prstGeom>
        </p:spPr>
        <p:txBody>
          <a:bodyPr vert="horz" wrap="square" lIns="0" tIns="12700" rIns="0" bIns="0" rtlCol="0">
            <a:spAutoFit/>
          </a:bodyPr>
          <a:lstStyle/>
          <a:p>
            <a:pPr marL="12700">
              <a:lnSpc>
                <a:spcPct val="100000"/>
              </a:lnSpc>
              <a:spcBef>
                <a:spcPts val="100"/>
              </a:spcBef>
              <a:tabLst>
                <a:tab pos="9421495" algn="l"/>
              </a:tabLst>
            </a:pPr>
            <a:r>
              <a:rPr sz="4800" u="heavy" spc="-195" dirty="0">
                <a:solidFill>
                  <a:srgbClr val="C00000"/>
                </a:solidFill>
                <a:uFill>
                  <a:solidFill>
                    <a:srgbClr val="6FAC46"/>
                  </a:solidFill>
                </a:uFill>
                <a:latin typeface="Calibri Light" panose="020F0302020204030204"/>
                <a:cs typeface="Calibri Light" panose="020F0302020204030204"/>
              </a:rPr>
              <a:t> </a:t>
            </a:r>
            <a:r>
              <a:rPr sz="4800" u="heavy" spc="-10" dirty="0">
                <a:solidFill>
                  <a:srgbClr val="C00000"/>
                </a:solidFill>
                <a:uFill>
                  <a:solidFill>
                    <a:srgbClr val="6FAC46"/>
                  </a:solidFill>
                </a:uFill>
                <a:latin typeface="Calibri Light" panose="020F0302020204030204"/>
                <a:cs typeface="Calibri Light" panose="020F0302020204030204"/>
              </a:rPr>
              <a:t>Get</a:t>
            </a:r>
            <a:r>
              <a:rPr sz="4800" u="heavy" spc="-25" dirty="0">
                <a:solidFill>
                  <a:srgbClr val="C00000"/>
                </a:solidFill>
                <a:uFill>
                  <a:solidFill>
                    <a:srgbClr val="6FAC46"/>
                  </a:solidFill>
                </a:uFill>
                <a:latin typeface="Calibri Light" panose="020F0302020204030204"/>
                <a:cs typeface="Calibri Light" panose="020F0302020204030204"/>
              </a:rPr>
              <a:t> </a:t>
            </a:r>
            <a:r>
              <a:rPr sz="4800" u="heavy" spc="-5" dirty="0">
                <a:solidFill>
                  <a:srgbClr val="C00000"/>
                </a:solidFill>
                <a:uFill>
                  <a:solidFill>
                    <a:srgbClr val="6FAC46"/>
                  </a:solidFill>
                </a:uFill>
                <a:latin typeface="Calibri Light" panose="020F0302020204030204"/>
                <a:cs typeface="Calibri Light" panose="020F0302020204030204"/>
              </a:rPr>
              <a:t>Set</a:t>
            </a:r>
            <a:r>
              <a:rPr sz="4800" u="heavy" spc="-25" dirty="0">
                <a:solidFill>
                  <a:srgbClr val="C00000"/>
                </a:solidFill>
                <a:uFill>
                  <a:solidFill>
                    <a:srgbClr val="6FAC46"/>
                  </a:solidFill>
                </a:uFill>
                <a:latin typeface="Calibri Light" panose="020F0302020204030204"/>
                <a:cs typeface="Calibri Light" panose="020F0302020204030204"/>
              </a:rPr>
              <a:t> </a:t>
            </a:r>
            <a:r>
              <a:rPr sz="4800" u="heavy" dirty="0">
                <a:solidFill>
                  <a:srgbClr val="C00000"/>
                </a:solidFill>
                <a:uFill>
                  <a:solidFill>
                    <a:srgbClr val="6FAC46"/>
                  </a:solidFill>
                </a:uFill>
                <a:latin typeface="Calibri Light" panose="020F0302020204030204"/>
                <a:cs typeface="Calibri Light" panose="020F0302020204030204"/>
              </a:rPr>
              <a:t>Go!!!	</a:t>
            </a:r>
            <a:endParaRPr sz="4800">
              <a:latin typeface="Calibri Light" panose="020F0302020204030204"/>
              <a:cs typeface="Calibri Light" panose="020F0302020204030204"/>
            </a:endParaRPr>
          </a:p>
        </p:txBody>
      </p:sp>
      <p:pic>
        <p:nvPicPr>
          <p:cNvPr id="4" name="object 4"/>
          <p:cNvPicPr/>
          <p:nvPr/>
        </p:nvPicPr>
        <p:blipFill>
          <a:blip r:embed="rId3" cstate="print"/>
          <a:stretch>
            <a:fillRect/>
          </a:stretch>
        </p:blipFill>
        <p:spPr>
          <a:xfrm>
            <a:off x="9855707" y="85343"/>
            <a:ext cx="2234183" cy="679703"/>
          </a:xfrm>
          <a:prstGeom prst="rect">
            <a:avLst/>
          </a:prstGeom>
        </p:spPr>
      </p:pic>
      <p:sp>
        <p:nvSpPr>
          <p:cNvPr id="5" name="object 5"/>
          <p:cNvSpPr txBox="1"/>
          <p:nvPr/>
        </p:nvSpPr>
        <p:spPr>
          <a:xfrm>
            <a:off x="413715" y="1649679"/>
            <a:ext cx="5228590" cy="3380104"/>
          </a:xfrm>
          <a:prstGeom prst="rect">
            <a:avLst/>
          </a:prstGeom>
        </p:spPr>
        <p:txBody>
          <a:bodyPr vert="horz" wrap="square" lIns="0" tIns="13335" rIns="0" bIns="0" rtlCol="0">
            <a:spAutoFit/>
          </a:bodyPr>
          <a:lstStyle/>
          <a:p>
            <a:pPr marL="12700">
              <a:lnSpc>
                <a:spcPct val="100000"/>
              </a:lnSpc>
              <a:spcBef>
                <a:spcPts val="105"/>
              </a:spcBef>
            </a:pPr>
            <a:r>
              <a:rPr sz="4400" spc="-195" dirty="0">
                <a:solidFill>
                  <a:srgbClr val="C00000"/>
                </a:solidFill>
                <a:latin typeface="Cambria" panose="02040503050406030204"/>
                <a:cs typeface="Cambria" panose="02040503050406030204"/>
              </a:rPr>
              <a:t>Gear</a:t>
            </a:r>
            <a:r>
              <a:rPr sz="4400" spc="75" dirty="0">
                <a:solidFill>
                  <a:srgbClr val="C00000"/>
                </a:solidFill>
                <a:latin typeface="Cambria" panose="02040503050406030204"/>
                <a:cs typeface="Cambria" panose="02040503050406030204"/>
              </a:rPr>
              <a:t> </a:t>
            </a:r>
            <a:r>
              <a:rPr sz="4400" spc="-285" dirty="0">
                <a:solidFill>
                  <a:srgbClr val="C00000"/>
                </a:solidFill>
                <a:latin typeface="Cambria" panose="02040503050406030204"/>
                <a:cs typeface="Cambria" panose="02040503050406030204"/>
              </a:rPr>
              <a:t>up</a:t>
            </a:r>
            <a:endParaRPr sz="4400">
              <a:latin typeface="Cambria" panose="02040503050406030204"/>
              <a:cs typeface="Cambria" panose="02040503050406030204"/>
            </a:endParaRPr>
          </a:p>
          <a:p>
            <a:pPr marL="12700">
              <a:lnSpc>
                <a:spcPct val="100000"/>
              </a:lnSpc>
            </a:pPr>
            <a:r>
              <a:rPr sz="4400" spc="-305" dirty="0">
                <a:solidFill>
                  <a:srgbClr val="C00000"/>
                </a:solidFill>
                <a:latin typeface="Cambria" panose="02040503050406030204"/>
                <a:cs typeface="Cambria" panose="02040503050406030204"/>
              </a:rPr>
              <a:t>Fasten</a:t>
            </a:r>
            <a:r>
              <a:rPr sz="4400" spc="75" dirty="0">
                <a:solidFill>
                  <a:srgbClr val="C00000"/>
                </a:solidFill>
                <a:latin typeface="Cambria" panose="02040503050406030204"/>
                <a:cs typeface="Cambria" panose="02040503050406030204"/>
              </a:rPr>
              <a:t> </a:t>
            </a:r>
            <a:r>
              <a:rPr sz="4400" spc="-290" dirty="0">
                <a:solidFill>
                  <a:srgbClr val="C00000"/>
                </a:solidFill>
                <a:latin typeface="Cambria" panose="02040503050406030204"/>
                <a:cs typeface="Cambria" panose="02040503050406030204"/>
              </a:rPr>
              <a:t>your</a:t>
            </a:r>
            <a:r>
              <a:rPr sz="4400" spc="90" dirty="0">
                <a:solidFill>
                  <a:srgbClr val="C00000"/>
                </a:solidFill>
                <a:latin typeface="Cambria" panose="02040503050406030204"/>
                <a:cs typeface="Cambria" panose="02040503050406030204"/>
              </a:rPr>
              <a:t> </a:t>
            </a:r>
            <a:r>
              <a:rPr sz="4400" spc="-240" dirty="0">
                <a:solidFill>
                  <a:srgbClr val="C00000"/>
                </a:solidFill>
                <a:latin typeface="Cambria" panose="02040503050406030204"/>
                <a:cs typeface="Cambria" panose="02040503050406030204"/>
              </a:rPr>
              <a:t>seat</a:t>
            </a:r>
            <a:r>
              <a:rPr sz="4400" spc="95" dirty="0">
                <a:solidFill>
                  <a:srgbClr val="C00000"/>
                </a:solidFill>
                <a:latin typeface="Cambria" panose="02040503050406030204"/>
                <a:cs typeface="Cambria" panose="02040503050406030204"/>
              </a:rPr>
              <a:t> </a:t>
            </a:r>
            <a:r>
              <a:rPr sz="4400" spc="-240" dirty="0">
                <a:solidFill>
                  <a:srgbClr val="C00000"/>
                </a:solidFill>
                <a:latin typeface="Cambria" panose="02040503050406030204"/>
                <a:cs typeface="Cambria" panose="02040503050406030204"/>
              </a:rPr>
              <a:t>belts</a:t>
            </a:r>
            <a:endParaRPr sz="4400">
              <a:latin typeface="Cambria" panose="02040503050406030204"/>
              <a:cs typeface="Cambria" panose="02040503050406030204"/>
            </a:endParaRPr>
          </a:p>
          <a:p>
            <a:pPr>
              <a:lnSpc>
                <a:spcPct val="100000"/>
              </a:lnSpc>
            </a:pPr>
            <a:endParaRPr sz="5200">
              <a:latin typeface="Cambria" panose="02040503050406030204"/>
              <a:cs typeface="Cambria" panose="02040503050406030204"/>
            </a:endParaRPr>
          </a:p>
          <a:p>
            <a:pPr marL="12700">
              <a:lnSpc>
                <a:spcPct val="100000"/>
              </a:lnSpc>
              <a:spcBef>
                <a:spcPts val="4470"/>
              </a:spcBef>
            </a:pPr>
            <a:r>
              <a:rPr sz="4400" spc="-195" dirty="0">
                <a:solidFill>
                  <a:srgbClr val="FF0000"/>
                </a:solidFill>
                <a:latin typeface="Cambria" panose="02040503050406030204"/>
                <a:cs typeface="Cambria" panose="02040503050406030204"/>
              </a:rPr>
              <a:t>Build</a:t>
            </a:r>
            <a:r>
              <a:rPr sz="4400" spc="65" dirty="0">
                <a:solidFill>
                  <a:srgbClr val="FF0000"/>
                </a:solidFill>
                <a:latin typeface="Cambria" panose="02040503050406030204"/>
                <a:cs typeface="Cambria" panose="02040503050406030204"/>
              </a:rPr>
              <a:t> </a:t>
            </a:r>
            <a:r>
              <a:rPr sz="4400" spc="-240" dirty="0">
                <a:solidFill>
                  <a:srgbClr val="FF0000"/>
                </a:solidFill>
                <a:latin typeface="Cambria" panose="02040503050406030204"/>
                <a:cs typeface="Cambria" panose="02040503050406030204"/>
              </a:rPr>
              <a:t>futuristic</a:t>
            </a:r>
            <a:r>
              <a:rPr sz="4400" spc="60" dirty="0">
                <a:solidFill>
                  <a:srgbClr val="FF0000"/>
                </a:solidFill>
                <a:latin typeface="Cambria" panose="02040503050406030204"/>
                <a:cs typeface="Cambria" panose="02040503050406030204"/>
              </a:rPr>
              <a:t> </a:t>
            </a:r>
            <a:r>
              <a:rPr sz="4400" spc="-260" dirty="0">
                <a:solidFill>
                  <a:srgbClr val="FF0000"/>
                </a:solidFill>
                <a:latin typeface="Cambria" panose="02040503050406030204"/>
                <a:cs typeface="Cambria" panose="02040503050406030204"/>
              </a:rPr>
              <a:t>solutions</a:t>
            </a:r>
            <a:endParaRPr sz="4400">
              <a:latin typeface="Cambria" panose="02040503050406030204"/>
              <a:cs typeface="Cambria" panose="02040503050406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79475" y="2904292"/>
            <a:ext cx="10433049" cy="830997"/>
          </a:xfrm>
        </p:spPr>
        <p:txBody>
          <a:bodyPr/>
          <a:lstStyle/>
          <a:p>
            <a:pPr algn="ctr"/>
            <a:r>
              <a:rPr lang="en-US" sz="5400" dirty="0">
                <a:latin typeface="Times New Roman" panose="02020603050405020304" pitchFamily="18" charset="0"/>
                <a:cs typeface="Times New Roman" panose="02020603050405020304" pitchFamily="18" charset="0"/>
              </a:rPr>
              <a:t>Any Queries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1445</Words>
  <Application>Microsoft Office PowerPoint</Application>
  <PresentationFormat>Widescreen</PresentationFormat>
  <Paragraphs>202</Paragraphs>
  <Slides>23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Arial MT</vt:lpstr>
      <vt:lpstr>Calibri</vt:lpstr>
      <vt:lpstr>Calibri Light</vt:lpstr>
      <vt:lpstr>Cambria</vt:lpstr>
      <vt:lpstr>Carlito</vt:lpstr>
      <vt:lpstr>Nunito</vt:lpstr>
      <vt:lpstr>Tahoma</vt:lpstr>
      <vt:lpstr>Times New Roman</vt:lpstr>
      <vt:lpstr>Verdana</vt:lpstr>
      <vt:lpstr>Office Theme</vt:lpstr>
      <vt:lpstr>PowerPoint Presentation</vt:lpstr>
      <vt:lpstr>PowerPoint Presentation</vt:lpstr>
      <vt:lpstr>Program Outcome</vt:lpstr>
      <vt:lpstr>Reference Books</vt:lpstr>
      <vt:lpstr>Course Assessment Model</vt:lpstr>
      <vt:lpstr>The course content Before MTE</vt:lpstr>
      <vt:lpstr>The course contents After MTE</vt:lpstr>
      <vt:lpstr>PowerPoint Presentation</vt:lpstr>
      <vt:lpstr>PowerPoint Presentation</vt:lpstr>
      <vt:lpstr>PowerPoint Presentation</vt:lpstr>
      <vt:lpstr>Unit-4: Introduction of Arduino and Sensors</vt:lpstr>
      <vt:lpstr>Unit- 5 : Introduction to Combinational Logic Circuits </vt:lpstr>
      <vt:lpstr>Unit-6: Introduction to Sequential Logic Circuits  </vt:lpstr>
      <vt:lpstr>Course Assessment Model</vt:lpstr>
      <vt:lpstr>Practical Applications of the Subject</vt:lpstr>
      <vt:lpstr>Why ECE Subject for CSE Students?</vt:lpstr>
      <vt:lpstr>PowerPoint Presentation</vt:lpstr>
      <vt:lpstr>ECE 249: Basic Electrical and Electronics  Engineering</vt:lpstr>
      <vt:lpstr>Electrical vs Electronics</vt:lpstr>
      <vt:lpstr>Blend of Computer Science, Electrical and  Electronics</vt:lpstr>
      <vt:lpstr>Blend of Computer           Science, Electrical and  Electronics</vt:lpstr>
      <vt:lpstr> Get Set Go!!!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dc:title>
  <dc:creator>Irfan Ahmad</dc:creator>
  <cp:lastModifiedBy>Rajeev Patial</cp:lastModifiedBy>
  <cp:revision>81</cp:revision>
  <dcterms:created xsi:type="dcterms:W3CDTF">2022-08-29T09:43:00Z</dcterms:created>
  <dcterms:modified xsi:type="dcterms:W3CDTF">2024-01-16T15:33:41Z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2021-09-02T11:00:00Z</vt:filetime>
  </property>
  <property fmtid="{D5CDD505-2E9C-101B-9397-08002B2CF9AE}" pid="3" name="Creator">
    <vt:lpwstr>Microsoft® PowerPoint® 2016</vt:lpwstr>
  </property>
  <property fmtid="{D5CDD505-2E9C-101B-9397-08002B2CF9AE}" pid="4" name="LastSaved">
    <vt:filetime>2022-08-29T11:00:00Z</vt:filetime>
  </property>
  <property fmtid="{D5CDD505-2E9C-101B-9397-08002B2CF9AE}" pid="5" name="ICV">
    <vt:lpwstr>AE08C06AA79148A2B8D2806976F5461F_13</vt:lpwstr>
  </property>
  <property fmtid="{D5CDD505-2E9C-101B-9397-08002B2CF9AE}" pid="6" name="KSOProductBuildVer">
    <vt:lpwstr>1033-12.2.0.13085</vt:lpwstr>
  </property>
</Properties>
</file>