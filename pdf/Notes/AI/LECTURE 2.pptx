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89" r:id="rId7"/>
    <p:sldId id="4024" r:id="rId8"/>
    <p:sldId id="4031" r:id="rId9"/>
    <p:sldId id="4032" r:id="rId10"/>
    <p:sldId id="4030" r:id="rId11"/>
    <p:sldId id="403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D51C-CF7E-4FEB-B424-E60C74DE3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58E6B-AEAF-400D-857B-DD72351EC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35CCA-7635-4075-8BDD-BD808495F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78507-0997-4000-983D-55474A10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71C3B-9705-4233-8C59-08CCC68F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382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EE04-3FD1-4A4D-872D-DE900C87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4444F-A754-4C7C-8203-54DC8F8CE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5DAB7-0CF7-4082-9197-7AA950C23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0589E-DBCB-4AAC-B5A0-1F098D7B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CD876-6812-4DE8-A8FD-B63D73D3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10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C06CB-8EB4-459C-A8A3-30E314A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7A666-0314-4E22-A289-92DEE7940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8BD3-A060-4099-BC82-A8DF3F8B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9D5CB-5D16-40EF-805F-E77AF960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CC2DA-1F72-4EC6-B17D-E343ED65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057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E955-D706-403D-8D04-F88D24F7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F1A6-51BD-4E17-BD78-6E43DFEC6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1FA65-7081-485E-8AD9-D3F470077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AA21F-CFEB-453D-BBA1-53901F0B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BC08E-BFC8-4DB6-B1C9-4F911518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B2010-EFA5-4928-9FCB-C5355C23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26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56F8-8095-4FDD-A91D-2A00991E4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01495-F113-4680-A1DD-B7DFF4EC2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FFE81-77E6-410A-A476-96C649AF1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823FB-D421-489B-A3A8-C36149E6A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968B29-7A19-4E17-AE78-CE41A0E51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F7205C-29E1-4DA4-ADE7-A0D5739E9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3B0CC-E9FE-4215-87E9-97CFE564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175737-6315-42C4-9C3C-4EA5B4FC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32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BE83-5645-4557-9633-A7DBEE8C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DC2236-01E1-4056-A996-5C327B70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5819D-507B-4CAC-8A09-5AD04DCF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E6FAD-C060-449C-B6BE-9C00DA07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80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94EE6-9CD6-41FA-9285-E8341578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2E4B9-3FAD-4607-91CA-A966627A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14CA0-ACA4-42DC-AA24-30C7062E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83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3862B-918C-46FD-9E11-3C2289E84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F8633-C8AC-45F7-ABB2-47F5F1836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86ED6-8B2A-4646-AD50-04BF9064D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80E89-4947-4C93-8047-89DCB171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077EF-4EE8-4B86-BB2D-B3FE11F2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7AF84-8650-4E27-B049-35BF697D0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150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AC2D-8A52-48C1-9F63-9FEEA638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C02BD2-B817-4E8B-9019-D835CC6DD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BE3B9-46AE-42A2-861B-C1FA9CEA3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CA952-3C0E-4EF7-B918-4121495A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A1FEC-238B-41F4-80AC-C459F020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A8E24-503C-408C-89CE-5DC21F0C2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71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C789-DC92-414E-B153-4DCA9283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28D7C-AE97-4B61-8C7C-E12B288FC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4D034-F901-4F7E-8003-9555B9BB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9767-AC73-4849-9A25-656F0F7E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70507-79BB-44F6-ADB4-4FAF8D34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400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35B513-AE81-405B-A049-DC4257754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4B146-B6B7-4286-8021-C34DCA06F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67520-24E0-4F64-A0BE-310FC6A7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2DBA3-85C5-4898-9CBF-230F5FB0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9E8C9-5CAA-4411-95FF-8C7ECBB8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70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10681D-6E57-4A51-8209-5839E092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99B12-7CE1-4530-ADA9-FF8C4D18E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7E506-CDBF-47F5-BC26-CA76743F8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C01BA-9470-42C5-9B1D-3991FF586A4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CF470-C999-4848-93F2-EC32FA295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D1E5E-3B07-4D03-A730-E54DE80C8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3902D-6C37-45E9-A1CD-074195BE0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16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6B65-4213-44D8-807C-394B07D77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378" y="800146"/>
            <a:ext cx="9144000" cy="70521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2</a:t>
            </a:r>
          </a:p>
        </p:txBody>
      </p:sp>
      <p:pic>
        <p:nvPicPr>
          <p:cNvPr id="1026" name="Picture 2" descr="Artificial Intelligence - Research Areas">
            <a:extLst>
              <a:ext uri="{FF2B5EF4-FFF2-40B4-BE49-F238E27FC236}">
                <a16:creationId xmlns:a16="http://schemas.microsoft.com/office/drawing/2014/main" id="{522DCB4D-1B23-402E-891A-8EFFBFC43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953" y="1444399"/>
            <a:ext cx="5276850" cy="475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45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73977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Domains of AI: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7975"/>
            <a:ext cx="10515600" cy="4351338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Mundane Tasks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Tasks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Tasks</a:t>
            </a:r>
          </a:p>
        </p:txBody>
      </p:sp>
    </p:spTree>
    <p:extLst>
      <p:ext uri="{BB962C8B-B14F-4D97-AF65-F5344CB8AC3E}">
        <p14:creationId xmlns:p14="http://schemas.microsoft.com/office/powerpoint/2010/main" val="82366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Mundane Tasks: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4368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sense reasoning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control</a:t>
            </a:r>
          </a:p>
        </p:txBody>
      </p:sp>
    </p:spTree>
    <p:extLst>
      <p:ext uri="{BB962C8B-B14F-4D97-AF65-F5344CB8AC3E}">
        <p14:creationId xmlns:p14="http://schemas.microsoft.com/office/powerpoint/2010/main" val="197572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Tasks: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076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Chess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Backhammon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G0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Integral calculus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Proving properties of programs</a:t>
            </a:r>
          </a:p>
        </p:txBody>
      </p:sp>
    </p:spTree>
    <p:extLst>
      <p:ext uri="{BB962C8B-B14F-4D97-AF65-F5344CB8AC3E}">
        <p14:creationId xmlns:p14="http://schemas.microsoft.com/office/powerpoint/2010/main" val="27686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662" y="453072"/>
            <a:ext cx="10515600" cy="91503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Tasks: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8107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finding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planning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analysis</a:t>
            </a:r>
          </a:p>
        </p:txBody>
      </p:sp>
    </p:spTree>
    <p:extLst>
      <p:ext uri="{BB962C8B-B14F-4D97-AF65-F5344CB8AC3E}">
        <p14:creationId xmlns:p14="http://schemas.microsoft.com/office/powerpoint/2010/main" val="98559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C5359C-3D61-4588-AE48-E3D2CBA98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320" y="1602377"/>
            <a:ext cx="5982123" cy="425539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6BF11F6-CF27-40F0-BC7D-7E64C63988C9}"/>
              </a:ext>
            </a:extLst>
          </p:cNvPr>
          <p:cNvSpPr txBox="1">
            <a:spLocks/>
          </p:cNvSpPr>
          <p:nvPr/>
        </p:nvSpPr>
        <p:spPr>
          <a:xfrm>
            <a:off x="1087582" y="642217"/>
            <a:ext cx="10515600" cy="7709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AI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B0B9A5C-0229-4B10-9BE2-8135EE06E463}"/>
              </a:ext>
            </a:extLst>
          </p:cNvPr>
          <p:cNvCxnSpPr/>
          <p:nvPr/>
        </p:nvCxnSpPr>
        <p:spPr>
          <a:xfrm flipH="1">
            <a:off x="6244046" y="5207726"/>
            <a:ext cx="792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F74389F-F0C2-43DC-A948-55F8CE09B70A}"/>
              </a:ext>
            </a:extLst>
          </p:cNvPr>
          <p:cNvSpPr/>
          <p:nvPr/>
        </p:nvSpPr>
        <p:spPr>
          <a:xfrm>
            <a:off x="5338355" y="5068389"/>
            <a:ext cx="905692" cy="374468"/>
          </a:xfrm>
          <a:prstGeom prst="ellipse">
            <a:avLst/>
          </a:prstGeom>
          <a:solidFill>
            <a:srgbClr val="D3F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0B367-A5B2-44E5-A8A7-7B783272DF3B}"/>
              </a:ext>
            </a:extLst>
          </p:cNvPr>
          <p:cNvSpPr txBox="1"/>
          <p:nvPr/>
        </p:nvSpPr>
        <p:spPr>
          <a:xfrm>
            <a:off x="4876801" y="552376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 err="1"/>
              <a:t>ChatGPT</a:t>
            </a:r>
            <a:r>
              <a:rPr lang="en-IN" sz="1400" dirty="0"/>
              <a:t> become widely used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BD9276-C6DF-4B4F-934C-330E9EA68A78}"/>
              </a:ext>
            </a:extLst>
          </p:cNvPr>
          <p:cNvCxnSpPr/>
          <p:nvPr/>
        </p:nvCxnSpPr>
        <p:spPr>
          <a:xfrm flipH="1">
            <a:off x="4545875" y="5207726"/>
            <a:ext cx="792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9E90225-DA11-466F-8E2D-3F07CEFC3A71}"/>
              </a:ext>
            </a:extLst>
          </p:cNvPr>
          <p:cNvSpPr/>
          <p:nvPr/>
        </p:nvSpPr>
        <p:spPr>
          <a:xfrm>
            <a:off x="3640184" y="5020492"/>
            <a:ext cx="905692" cy="374468"/>
          </a:xfrm>
          <a:prstGeom prst="ellipse">
            <a:avLst/>
          </a:prstGeom>
          <a:solidFill>
            <a:srgbClr val="D3F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C08D8-9F26-4726-AC70-C3AA4E4D4FEA}"/>
              </a:ext>
            </a:extLst>
          </p:cNvPr>
          <p:cNvSpPr txBox="1"/>
          <p:nvPr/>
        </p:nvSpPr>
        <p:spPr>
          <a:xfrm>
            <a:off x="3178630" y="5492565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GPT-4 Introduced</a:t>
            </a:r>
          </a:p>
        </p:txBody>
      </p:sp>
    </p:spTree>
    <p:extLst>
      <p:ext uri="{BB962C8B-B14F-4D97-AF65-F5344CB8AC3E}">
        <p14:creationId xmlns:p14="http://schemas.microsoft.com/office/powerpoint/2010/main" val="400095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4F713E-F312-4E5D-B0D7-C737EFEBF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639" y="619962"/>
            <a:ext cx="7338252" cy="297298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E8F7B6-B59C-418D-A5AB-7C99B04F4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178" y="3793243"/>
            <a:ext cx="7687173" cy="280785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4D59DA-D109-4DD2-8BBB-03DDD3D44ECB}"/>
              </a:ext>
            </a:extLst>
          </p:cNvPr>
          <p:cNvCxnSpPr/>
          <p:nvPr/>
        </p:nvCxnSpPr>
        <p:spPr>
          <a:xfrm>
            <a:off x="9078013" y="1654629"/>
            <a:ext cx="746675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B36D14-2DD6-4561-9BAE-E7F3C0658FCD}"/>
              </a:ext>
            </a:extLst>
          </p:cNvPr>
          <p:cNvCxnSpPr>
            <a:cxnSpLocks/>
          </p:cNvCxnSpPr>
          <p:nvPr/>
        </p:nvCxnSpPr>
        <p:spPr>
          <a:xfrm>
            <a:off x="9824688" y="1654629"/>
            <a:ext cx="0" cy="1938316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7E86B3-47C3-43CD-BE4C-1FDFE614887A}"/>
              </a:ext>
            </a:extLst>
          </p:cNvPr>
          <p:cNvCxnSpPr>
            <a:cxnSpLocks/>
          </p:cNvCxnSpPr>
          <p:nvPr/>
        </p:nvCxnSpPr>
        <p:spPr>
          <a:xfrm>
            <a:off x="1367246" y="3592945"/>
            <a:ext cx="8457442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71F854-A633-49FA-86E1-4E313D014B0D}"/>
              </a:ext>
            </a:extLst>
          </p:cNvPr>
          <p:cNvCxnSpPr>
            <a:cxnSpLocks/>
          </p:cNvCxnSpPr>
          <p:nvPr/>
        </p:nvCxnSpPr>
        <p:spPr>
          <a:xfrm flipH="1">
            <a:off x="1358537" y="3592945"/>
            <a:ext cx="8709" cy="1222895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9E2FC1-871C-45F5-BAC0-3401C763DD5B}"/>
              </a:ext>
            </a:extLst>
          </p:cNvPr>
          <p:cNvCxnSpPr>
            <a:cxnSpLocks/>
          </p:cNvCxnSpPr>
          <p:nvPr/>
        </p:nvCxnSpPr>
        <p:spPr>
          <a:xfrm>
            <a:off x="1367246" y="4798425"/>
            <a:ext cx="396932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730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4D59DA-D109-4DD2-8BBB-03DDD3D44ECB}"/>
              </a:ext>
            </a:extLst>
          </p:cNvPr>
          <p:cNvCxnSpPr/>
          <p:nvPr/>
        </p:nvCxnSpPr>
        <p:spPr>
          <a:xfrm>
            <a:off x="9078013" y="1654629"/>
            <a:ext cx="746675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B36D14-2DD6-4561-9BAE-E7F3C0658FCD}"/>
              </a:ext>
            </a:extLst>
          </p:cNvPr>
          <p:cNvCxnSpPr>
            <a:cxnSpLocks/>
          </p:cNvCxnSpPr>
          <p:nvPr/>
        </p:nvCxnSpPr>
        <p:spPr>
          <a:xfrm>
            <a:off x="9824688" y="1654629"/>
            <a:ext cx="0" cy="1938316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7E86B3-47C3-43CD-BE4C-1FDFE614887A}"/>
              </a:ext>
            </a:extLst>
          </p:cNvPr>
          <p:cNvCxnSpPr>
            <a:cxnSpLocks/>
          </p:cNvCxnSpPr>
          <p:nvPr/>
        </p:nvCxnSpPr>
        <p:spPr>
          <a:xfrm>
            <a:off x="1367246" y="3592945"/>
            <a:ext cx="8457442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71F854-A633-49FA-86E1-4E313D014B0D}"/>
              </a:ext>
            </a:extLst>
          </p:cNvPr>
          <p:cNvCxnSpPr>
            <a:cxnSpLocks/>
          </p:cNvCxnSpPr>
          <p:nvPr/>
        </p:nvCxnSpPr>
        <p:spPr>
          <a:xfrm flipH="1">
            <a:off x="1358537" y="3592945"/>
            <a:ext cx="8709" cy="1222895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9E2FC1-871C-45F5-BAC0-3401C763DD5B}"/>
              </a:ext>
            </a:extLst>
          </p:cNvPr>
          <p:cNvCxnSpPr>
            <a:cxnSpLocks/>
          </p:cNvCxnSpPr>
          <p:nvPr/>
        </p:nvCxnSpPr>
        <p:spPr>
          <a:xfrm>
            <a:off x="1367246" y="4798425"/>
            <a:ext cx="396932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8814A96-B2D7-4049-B895-2D679C5A3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262" y="635622"/>
            <a:ext cx="6421750" cy="29240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EF12CE-E363-489F-9050-B21FB82D2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178" y="3787663"/>
            <a:ext cx="8060510" cy="292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466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4D59DA-D109-4DD2-8BBB-03DDD3D44ECB}"/>
              </a:ext>
            </a:extLst>
          </p:cNvPr>
          <p:cNvCxnSpPr/>
          <p:nvPr/>
        </p:nvCxnSpPr>
        <p:spPr>
          <a:xfrm>
            <a:off x="9078013" y="1654629"/>
            <a:ext cx="746675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B36D14-2DD6-4561-9BAE-E7F3C0658FCD}"/>
              </a:ext>
            </a:extLst>
          </p:cNvPr>
          <p:cNvCxnSpPr>
            <a:cxnSpLocks/>
          </p:cNvCxnSpPr>
          <p:nvPr/>
        </p:nvCxnSpPr>
        <p:spPr>
          <a:xfrm>
            <a:off x="9824688" y="1654629"/>
            <a:ext cx="0" cy="1938316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7E86B3-47C3-43CD-BE4C-1FDFE614887A}"/>
              </a:ext>
            </a:extLst>
          </p:cNvPr>
          <p:cNvCxnSpPr>
            <a:cxnSpLocks/>
          </p:cNvCxnSpPr>
          <p:nvPr/>
        </p:nvCxnSpPr>
        <p:spPr>
          <a:xfrm>
            <a:off x="1367246" y="3592945"/>
            <a:ext cx="8457442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71F854-A633-49FA-86E1-4E313D014B0D}"/>
              </a:ext>
            </a:extLst>
          </p:cNvPr>
          <p:cNvCxnSpPr>
            <a:cxnSpLocks/>
          </p:cNvCxnSpPr>
          <p:nvPr/>
        </p:nvCxnSpPr>
        <p:spPr>
          <a:xfrm flipH="1">
            <a:off x="1358537" y="3592945"/>
            <a:ext cx="8709" cy="1222895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9E2FC1-871C-45F5-BAC0-3401C763DD5B}"/>
              </a:ext>
            </a:extLst>
          </p:cNvPr>
          <p:cNvCxnSpPr>
            <a:cxnSpLocks/>
          </p:cNvCxnSpPr>
          <p:nvPr/>
        </p:nvCxnSpPr>
        <p:spPr>
          <a:xfrm>
            <a:off x="1367246" y="4798425"/>
            <a:ext cx="396932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B1220F4-73C4-4D0D-A285-3942FBF18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381" y="693813"/>
            <a:ext cx="7777746" cy="28712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073898-9283-4F00-BFF3-3F4308728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87" y="3819646"/>
            <a:ext cx="7996303" cy="283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0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C8BBD-3F45-4483-A0D1-63BADF76C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004" y="1766957"/>
            <a:ext cx="9175893" cy="412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94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7CB9CC-2CEB-4CE6-A9A6-C4282332AE32}"/>
              </a:ext>
            </a:extLst>
          </p:cNvPr>
          <p:cNvSpPr txBox="1"/>
          <p:nvPr/>
        </p:nvSpPr>
        <p:spPr>
          <a:xfrm>
            <a:off x="2560320" y="3272636"/>
            <a:ext cx="7950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Unlocking the Secrets of AI's Branches!</a:t>
            </a:r>
            <a:endParaRPr lang="en-I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4E424B-E4E2-48B8-9099-9DDBAB52E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754" y="3696236"/>
            <a:ext cx="1604190" cy="199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21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LECTURE 2</vt:lpstr>
      <vt:lpstr>Task Domains of AI:</vt:lpstr>
      <vt:lpstr>Mundane Tasks:</vt:lpstr>
      <vt:lpstr>Formal Tasks:</vt:lpstr>
      <vt:lpstr>Expert Tasks: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Ramanjot</dc:creator>
  <cp:lastModifiedBy>Ramanjot</cp:lastModifiedBy>
  <cp:revision>12</cp:revision>
  <dcterms:created xsi:type="dcterms:W3CDTF">2025-01-07T05:16:06Z</dcterms:created>
  <dcterms:modified xsi:type="dcterms:W3CDTF">2025-01-09T06:54:08Z</dcterms:modified>
</cp:coreProperties>
</file>