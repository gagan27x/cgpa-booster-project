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4012" r:id="rId2"/>
    <p:sldId id="4013" r:id="rId3"/>
    <p:sldId id="4014" r:id="rId4"/>
    <p:sldId id="4015" r:id="rId5"/>
    <p:sldId id="4016" r:id="rId6"/>
    <p:sldId id="4017" r:id="rId7"/>
    <p:sldId id="4018" r:id="rId8"/>
    <p:sldId id="4019" r:id="rId9"/>
    <p:sldId id="4021" r:id="rId10"/>
    <p:sldId id="4022" r:id="rId11"/>
    <p:sldId id="4023" r:id="rId12"/>
    <p:sldId id="4024" r:id="rId13"/>
    <p:sldId id="4025" r:id="rId14"/>
    <p:sldId id="4026" r:id="rId15"/>
    <p:sldId id="402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68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8692D9-1F0F-44AC-A52E-44AB0BCD026A}" type="datetimeFigureOut">
              <a:rPr lang="en-IN" smtClean="0"/>
              <a:t>10-01-2025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F2D074-BEC6-4FF7-AE19-FFEF37135181}" type="slidenum">
              <a:rPr lang="en-IN" smtClean="0"/>
              <a:t>‹#›</a:t>
            </a:fld>
            <a:endParaRPr lang="en-IN"/>
          </a:p>
        </p:txBody>
      </p:sp>
    </p:spTree>
    <p:extLst>
      <p:ext uri="{BB962C8B-B14F-4D97-AF65-F5344CB8AC3E}">
        <p14:creationId xmlns:p14="http://schemas.microsoft.com/office/powerpoint/2010/main" val="3207852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3454A-B50B-99CF-5F2C-9914471B25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E906C5-4742-264F-78E1-18B014E036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A54A67-BCE4-0B38-9F85-498463408FE3}"/>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5" name="Footer Placeholder 4">
            <a:extLst>
              <a:ext uri="{FF2B5EF4-FFF2-40B4-BE49-F238E27FC236}">
                <a16:creationId xmlns:a16="http://schemas.microsoft.com/office/drawing/2014/main" id="{77E1F8AC-443C-1ECA-AB44-6EBF6FD036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ADF0F3-AEC5-C9B9-7171-1B6A033D088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674846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43DA-CBC5-58B5-65B8-9D38B353F9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6B5CF5-59AF-DD83-C89A-DF31B5195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84E04A-0F9D-BFA3-1170-4193E83A918B}"/>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5" name="Footer Placeholder 4">
            <a:extLst>
              <a:ext uri="{FF2B5EF4-FFF2-40B4-BE49-F238E27FC236}">
                <a16:creationId xmlns:a16="http://schemas.microsoft.com/office/drawing/2014/main" id="{D9E989B7-C73D-98DA-3AF0-70E1DF6AB9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C4C7C3-2C9F-8A2C-CC92-9224B93D4E61}"/>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2453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F116C-C79E-55DD-9F00-FFDBCF607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4E630C-B948-FAC9-6274-CA2DCE44C2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03E107-FDF9-7A65-56F5-E97F0661FA39}"/>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5" name="Footer Placeholder 4">
            <a:extLst>
              <a:ext uri="{FF2B5EF4-FFF2-40B4-BE49-F238E27FC236}">
                <a16:creationId xmlns:a16="http://schemas.microsoft.com/office/drawing/2014/main" id="{3B65382A-4979-C9DC-A38D-71EEC2F21C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54B501-66BB-E071-2D45-786A50329E6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750733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5DFD8-0D14-BAF4-B9E1-9E8435A7ED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64BAE9-DB1F-171F-6D48-3F467841FF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8CAD39-A292-B30E-5E61-53E6C13EC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CF5A39-F187-8FE8-5DEB-F71006593467}"/>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6" name="Footer Placeholder 5">
            <a:extLst>
              <a:ext uri="{FF2B5EF4-FFF2-40B4-BE49-F238E27FC236}">
                <a16:creationId xmlns:a16="http://schemas.microsoft.com/office/drawing/2014/main" id="{36E0DC70-1010-1A04-FE7B-7DB3E6713E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E68834-3EFD-4C90-DC78-7AB1AA3B02EE}"/>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582013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73B6E-AAAA-C190-F84C-C7A9E54BFE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9E850B-3436-7B73-9CAF-6857749DD1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440929-494D-74D0-7921-2D938A372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3974FE-72C9-137E-0265-73F50D8D7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C57EA2-CA11-4B56-861E-239081BE50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3161D1-E209-E17B-7F43-1EA7214E3B65}"/>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8" name="Footer Placeholder 7">
            <a:extLst>
              <a:ext uri="{FF2B5EF4-FFF2-40B4-BE49-F238E27FC236}">
                <a16:creationId xmlns:a16="http://schemas.microsoft.com/office/drawing/2014/main" id="{053D1B75-14EF-E88A-5B4F-ECF203D093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79406F7-C76D-E3CE-11A0-2DF7C798A3C0}"/>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582817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6511-9AF4-26A2-B0E0-2904E16E7DE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C37283-2B3B-38B3-2541-367195BBA1C2}"/>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4" name="Footer Placeholder 3">
            <a:extLst>
              <a:ext uri="{FF2B5EF4-FFF2-40B4-BE49-F238E27FC236}">
                <a16:creationId xmlns:a16="http://schemas.microsoft.com/office/drawing/2014/main" id="{361109F2-D873-FF79-0EAD-7BB606B35B1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1DAC8C-10EC-B45D-546A-403F5F417D47}"/>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182505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1B28-282D-9541-5396-99E0DEE598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9FACF6-3696-BA79-A674-7B2FB7D6CC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8AE520-B0BD-9957-B156-89F4DEFC7A44}"/>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5" name="Footer Placeholder 4">
            <a:extLst>
              <a:ext uri="{FF2B5EF4-FFF2-40B4-BE49-F238E27FC236}">
                <a16:creationId xmlns:a16="http://schemas.microsoft.com/office/drawing/2014/main" id="{E78C5B5D-0A2A-D9E7-19E8-E963CF0D8E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985D3D-8D58-9A45-B29D-22587F406C0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63551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B756CC-275B-5F05-BC12-BB1376D4041B}"/>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3" name="Footer Placeholder 2">
            <a:extLst>
              <a:ext uri="{FF2B5EF4-FFF2-40B4-BE49-F238E27FC236}">
                <a16:creationId xmlns:a16="http://schemas.microsoft.com/office/drawing/2014/main" id="{A64A5A5C-6A14-6463-9263-E1C97FDEBE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28AB0B-4F9E-B3E8-F5BE-48D1A7FC09CD}"/>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613060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790F-A78E-F728-A554-7D4A7AF1C4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6C0024-81A1-24AC-3552-CA9CEA7E4F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D68CF34-E943-6E55-F9DC-69271DB3A4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3B6FBF-46A8-C3B9-7C32-FF6F9D37EA35}"/>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6" name="Footer Placeholder 5">
            <a:extLst>
              <a:ext uri="{FF2B5EF4-FFF2-40B4-BE49-F238E27FC236}">
                <a16:creationId xmlns:a16="http://schemas.microsoft.com/office/drawing/2014/main" id="{5A84E712-4476-5F97-67B0-BBB596A0CC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0A3B25-9720-6577-0395-9103E775740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72320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83F6F-8F6C-7195-27A7-50671BA45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FE7027-CB64-2D79-C450-A50A1A1A5B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CA3577A-646B-877F-ACC8-447532FEA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ABA6D9-4ADB-E95F-6717-B7292C01F6B7}"/>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6" name="Footer Placeholder 5">
            <a:extLst>
              <a:ext uri="{FF2B5EF4-FFF2-40B4-BE49-F238E27FC236}">
                <a16:creationId xmlns:a16="http://schemas.microsoft.com/office/drawing/2014/main" id="{6660814B-405F-B37D-4F5F-B70E8488DE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D74CF4-2834-8D90-41B2-3FFB1D4BB5A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302249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C2A8B3-3C5F-769E-BE44-7FCB772A83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DCE24B-7910-B2E8-C9C8-E2F93AFB81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0D1D4F-E585-8CF2-AC0F-F3EA4F0C4BE5}"/>
              </a:ext>
            </a:extLst>
          </p:cNvPr>
          <p:cNvSpPr>
            <a:spLocks noGrp="1"/>
          </p:cNvSpPr>
          <p:nvPr>
            <p:ph type="dt" sz="half" idx="10"/>
          </p:nvPr>
        </p:nvSpPr>
        <p:spPr/>
        <p:txBody>
          <a:bodyPr/>
          <a:lstStyle/>
          <a:p>
            <a:fld id="{25239EC9-C142-46A2-9EE7-6BAF7D5DF338}" type="datetimeFigureOut">
              <a:rPr lang="en-IN" smtClean="0"/>
              <a:t>10-01-2025</a:t>
            </a:fld>
            <a:endParaRPr lang="en-IN"/>
          </a:p>
        </p:txBody>
      </p:sp>
      <p:sp>
        <p:nvSpPr>
          <p:cNvPr id="5" name="Footer Placeholder 4">
            <a:extLst>
              <a:ext uri="{FF2B5EF4-FFF2-40B4-BE49-F238E27FC236}">
                <a16:creationId xmlns:a16="http://schemas.microsoft.com/office/drawing/2014/main" id="{B91C96A0-30C4-BF0C-B817-DF0BA33BBD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C19994-D6D6-8277-D64E-72F4CB96CB0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549937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userDrawn="1"/>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1765631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8891486"/>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9BC712-3CD6-D18D-1483-CAFF2130AE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77F309-DEC2-2A35-6A1B-36732AEA34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0BBC8F-5AA1-6A5F-813E-EC818CB3A0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239EC9-C142-46A2-9EE7-6BAF7D5DF338}" type="datetimeFigureOut">
              <a:rPr lang="en-IN" smtClean="0"/>
              <a:t>10-01-2025</a:t>
            </a:fld>
            <a:endParaRPr lang="en-IN"/>
          </a:p>
        </p:txBody>
      </p:sp>
      <p:sp>
        <p:nvSpPr>
          <p:cNvPr id="5" name="Footer Placeholder 4">
            <a:extLst>
              <a:ext uri="{FF2B5EF4-FFF2-40B4-BE49-F238E27FC236}">
                <a16:creationId xmlns:a16="http://schemas.microsoft.com/office/drawing/2014/main" id="{ECD0EE63-802B-29AB-6E8E-2336CA6B49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F485C65-30CE-BE4C-6597-F764525338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05F464-475C-44AD-B39D-86A1D68B524E}"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userDrawn="1"/>
        </p:nvPicPr>
        <p:blipFill>
          <a:blip r:embed="rId15"/>
          <a:stretch>
            <a:fillRect/>
          </a:stretch>
        </p:blipFill>
        <p:spPr>
          <a:xfrm>
            <a:off x="10355072" y="178307"/>
            <a:ext cx="1547520" cy="418630"/>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userDrawn="1"/>
        </p:nvPicPr>
        <p:blipFill>
          <a:blip r:embed="rId16"/>
          <a:stretch>
            <a:fillRect/>
          </a:stretch>
        </p:blipFill>
        <p:spPr>
          <a:xfrm>
            <a:off x="328281" y="178308"/>
            <a:ext cx="1581202" cy="50542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396112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C57A-EB01-5294-F8AB-F5CA01DD883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16007B5-870C-4B88-9096-1F3BFF314FCC}"/>
              </a:ext>
            </a:extLst>
          </p:cNvPr>
          <p:cNvSpPr txBox="1">
            <a:spLocks noChangeArrowheads="1"/>
          </p:cNvSpPr>
          <p:nvPr/>
        </p:nvSpPr>
        <p:spPr>
          <a:xfrm>
            <a:off x="1684338" y="2178050"/>
            <a:ext cx="8405812"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altLang="en-US" sz="6000" b="1" dirty="0"/>
          </a:p>
        </p:txBody>
      </p:sp>
      <p:sp>
        <p:nvSpPr>
          <p:cNvPr id="3" name="Title 1">
            <a:extLst>
              <a:ext uri="{FF2B5EF4-FFF2-40B4-BE49-F238E27FC236}">
                <a16:creationId xmlns:a16="http://schemas.microsoft.com/office/drawing/2014/main" id="{F9D2DB0F-D6C3-4D6D-B38D-59328D5F5013}"/>
              </a:ext>
            </a:extLst>
          </p:cNvPr>
          <p:cNvSpPr txBox="1">
            <a:spLocks noChangeArrowheads="1"/>
          </p:cNvSpPr>
          <p:nvPr/>
        </p:nvSpPr>
        <p:spPr>
          <a:xfrm>
            <a:off x="1836738" y="2330450"/>
            <a:ext cx="8405812" cy="1470025"/>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6000" b="1" dirty="0">
                <a:latin typeface="Times New Roman" panose="02020603050405020304" pitchFamily="18" charset="0"/>
                <a:cs typeface="Times New Roman" panose="02020603050405020304" pitchFamily="18" charset="0"/>
              </a:rPr>
              <a:t>LECTURE</a:t>
            </a:r>
            <a:r>
              <a:rPr lang="en-US" altLang="en-US" sz="6000" b="1">
                <a:latin typeface="Times New Roman" panose="02020603050405020304" pitchFamily="18" charset="0"/>
                <a:cs typeface="Times New Roman" panose="02020603050405020304" pitchFamily="18" charset="0"/>
              </a:rPr>
              <a:t>: 3</a:t>
            </a:r>
            <a:endParaRPr lang="en-US" altLang="en-US" sz="6000" b="1" dirty="0">
              <a:latin typeface="Times New Roman" panose="02020603050405020304" pitchFamily="18" charset="0"/>
              <a:cs typeface="Times New Roman" panose="02020603050405020304" pitchFamily="18" charset="0"/>
            </a:endParaRPr>
          </a:p>
          <a:p>
            <a:pPr algn="ctr"/>
            <a:br>
              <a:rPr lang="en-US" altLang="en-US" sz="6000" b="1" dirty="0">
                <a:latin typeface="Times New Roman" panose="02020603050405020304" pitchFamily="18" charset="0"/>
                <a:cs typeface="Times New Roman" panose="02020603050405020304" pitchFamily="18" charset="0"/>
              </a:rPr>
            </a:br>
            <a:r>
              <a:rPr lang="en-US" altLang="en-US" sz="6000" b="1" dirty="0">
                <a:latin typeface="Times New Roman" panose="02020603050405020304" pitchFamily="18" charset="0"/>
                <a:cs typeface="Times New Roman" panose="02020603050405020304" pitchFamily="18" charset="0"/>
              </a:rPr>
              <a:t>ARTIFICIAL INTELLIGENCE ESSENTIALS	</a:t>
            </a:r>
          </a:p>
        </p:txBody>
      </p:sp>
    </p:spTree>
    <p:extLst>
      <p:ext uri="{BB962C8B-B14F-4D97-AF65-F5344CB8AC3E}">
        <p14:creationId xmlns:p14="http://schemas.microsoft.com/office/powerpoint/2010/main" val="2477673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3EE58-D57F-4FC3-8682-9DA3B1328ECE}"/>
              </a:ext>
            </a:extLst>
          </p:cNvPr>
          <p:cNvSpPr>
            <a:spLocks noGrp="1"/>
          </p:cNvSpPr>
          <p:nvPr>
            <p:ph type="title"/>
          </p:nvPr>
        </p:nvSpPr>
        <p:spPr/>
        <p:txBody>
          <a:bodyPr/>
          <a:lstStyle/>
          <a:p>
            <a:pPr algn="ctr"/>
            <a:r>
              <a:rPr lang="en-IN" altLang="en-US" sz="4400" b="1" dirty="0">
                <a:latin typeface="Times New Roman" panose="02020603050405020304" pitchFamily="18" charset="0"/>
              </a:rPr>
              <a:t>Artificial Intelligence Techniques:</a:t>
            </a:r>
            <a:endParaRPr lang="en-IN" dirty="0"/>
          </a:p>
        </p:txBody>
      </p:sp>
      <p:pic>
        <p:nvPicPr>
          <p:cNvPr id="5" name="Content Placeholder 2">
            <a:extLst>
              <a:ext uri="{FF2B5EF4-FFF2-40B4-BE49-F238E27FC236}">
                <a16:creationId xmlns:a16="http://schemas.microsoft.com/office/drawing/2014/main" id="{5D0603B7-4D72-4C81-8399-63D436BEB5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57312" y="1829333"/>
            <a:ext cx="4477375" cy="3734321"/>
          </a:xfrm>
        </p:spPr>
      </p:pic>
    </p:spTree>
    <p:extLst>
      <p:ext uri="{BB962C8B-B14F-4D97-AF65-F5344CB8AC3E}">
        <p14:creationId xmlns:p14="http://schemas.microsoft.com/office/powerpoint/2010/main" val="259951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38B10-B170-4719-8D09-9F6AC2C4FDF6}"/>
              </a:ext>
            </a:extLst>
          </p:cNvPr>
          <p:cNvSpPr>
            <a:spLocks noGrp="1"/>
          </p:cNvSpPr>
          <p:nvPr>
            <p:ph type="title"/>
          </p:nvPr>
        </p:nvSpPr>
        <p:spPr/>
        <p:txBody>
          <a:bodyPr/>
          <a:lstStyle/>
          <a:p>
            <a:pPr algn="ctr"/>
            <a:r>
              <a:rPr lang="en-IN" altLang="en-US" b="1" dirty="0">
                <a:latin typeface="Times New Roman" panose="02020603050405020304" pitchFamily="18" charset="0"/>
                <a:cs typeface="Times New Roman" panose="02020603050405020304" pitchFamily="18" charset="0"/>
              </a:rPr>
              <a:t>What is Machine Learning?</a:t>
            </a:r>
            <a:endParaRPr lang="en-IN" dirty="0"/>
          </a:p>
        </p:txBody>
      </p:sp>
      <p:sp>
        <p:nvSpPr>
          <p:cNvPr id="3" name="Content Placeholder 2">
            <a:extLst>
              <a:ext uri="{FF2B5EF4-FFF2-40B4-BE49-F238E27FC236}">
                <a16:creationId xmlns:a16="http://schemas.microsoft.com/office/drawing/2014/main" id="{72F77F2A-A905-4E9D-8BE4-83D02D7FA142}"/>
              </a:ext>
            </a:extLst>
          </p:cNvPr>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rPr>
              <a:t>Enables machines to learn from data.</a:t>
            </a:r>
          </a:p>
          <a:p>
            <a:r>
              <a:rPr lang="en-US" altLang="en-US" dirty="0">
                <a:latin typeface="Times New Roman" panose="02020603050405020304" pitchFamily="18" charset="0"/>
                <a:cs typeface="Times New Roman" panose="02020603050405020304" pitchFamily="18" charset="0"/>
              </a:rPr>
              <a:t>Improves performance without explicit programming.</a:t>
            </a:r>
          </a:p>
          <a:p>
            <a:r>
              <a:rPr lang="en-US" altLang="en-US" dirty="0">
                <a:latin typeface="Times New Roman" panose="02020603050405020304" pitchFamily="18" charset="0"/>
                <a:cs typeface="Times New Roman" panose="02020603050405020304" pitchFamily="18" charset="0"/>
              </a:rPr>
              <a:t>Based on algorithms and statistical models.</a:t>
            </a:r>
          </a:p>
          <a:p>
            <a:r>
              <a:rPr lang="en-US" altLang="en-US" dirty="0">
                <a:latin typeface="Times New Roman" panose="02020603050405020304" pitchFamily="18" charset="0"/>
                <a:cs typeface="Times New Roman" panose="02020603050405020304" pitchFamily="18" charset="0"/>
              </a:rPr>
              <a:t>Focuses on pattern recognition and predictions.</a:t>
            </a:r>
          </a:p>
          <a:p>
            <a:r>
              <a:rPr lang="en-US" altLang="en-US" dirty="0">
                <a:latin typeface="Times New Roman" panose="02020603050405020304" pitchFamily="18" charset="0"/>
                <a:cs typeface="Times New Roman" panose="02020603050405020304" pitchFamily="18" charset="0"/>
              </a:rPr>
              <a:t>Used in diverse fields like healthcare, finance.</a:t>
            </a:r>
            <a:endParaRPr lang="en-I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0351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C30F6-E15B-4CF9-A4A8-48DCC0C7FBA3}"/>
              </a:ext>
            </a:extLst>
          </p:cNvPr>
          <p:cNvSpPr>
            <a:spLocks noGrp="1"/>
          </p:cNvSpPr>
          <p:nvPr>
            <p:ph type="title"/>
          </p:nvPr>
        </p:nvSpPr>
        <p:spPr>
          <a:xfrm>
            <a:off x="838200" y="546100"/>
            <a:ext cx="10515600" cy="905597"/>
          </a:xfrm>
        </p:spPr>
        <p:txBody>
          <a:bodyPr>
            <a:normAutofit/>
          </a:bodyPr>
          <a:lstStyle/>
          <a:p>
            <a:pPr algn="ctr"/>
            <a:r>
              <a:rPr lang="en-IN" altLang="en-US" b="1" dirty="0"/>
              <a:t>Types of Machine Learning:</a:t>
            </a:r>
            <a:endParaRPr lang="en-IN" dirty="0"/>
          </a:p>
        </p:txBody>
      </p:sp>
      <p:grpSp>
        <p:nvGrpSpPr>
          <p:cNvPr id="6" name="Group 20">
            <a:extLst>
              <a:ext uri="{FF2B5EF4-FFF2-40B4-BE49-F238E27FC236}">
                <a16:creationId xmlns:a16="http://schemas.microsoft.com/office/drawing/2014/main" id="{17EB6632-181D-4ACB-9C19-1AEE0E6204E8}"/>
              </a:ext>
            </a:extLst>
          </p:cNvPr>
          <p:cNvGrpSpPr>
            <a:grpSpLocks/>
          </p:cNvGrpSpPr>
          <p:nvPr/>
        </p:nvGrpSpPr>
        <p:grpSpPr bwMode="auto">
          <a:xfrm>
            <a:off x="1081881" y="1451697"/>
            <a:ext cx="10028237" cy="4381500"/>
            <a:chOff x="446178" y="1392510"/>
            <a:chExt cx="10028258" cy="4381500"/>
          </a:xfrm>
        </p:grpSpPr>
        <p:grpSp>
          <p:nvGrpSpPr>
            <p:cNvPr id="7" name="Group 19">
              <a:extLst>
                <a:ext uri="{FF2B5EF4-FFF2-40B4-BE49-F238E27FC236}">
                  <a16:creationId xmlns:a16="http://schemas.microsoft.com/office/drawing/2014/main" id="{DD1BEFC4-6858-4D12-A0E4-1237D76CD461}"/>
                </a:ext>
              </a:extLst>
            </p:cNvPr>
            <p:cNvGrpSpPr>
              <a:grpSpLocks/>
            </p:cNvGrpSpPr>
            <p:nvPr/>
          </p:nvGrpSpPr>
          <p:grpSpPr bwMode="auto">
            <a:xfrm>
              <a:off x="446178" y="1392510"/>
              <a:ext cx="9789727" cy="4381500"/>
              <a:chOff x="446178" y="1392510"/>
              <a:chExt cx="9789727" cy="4381500"/>
            </a:xfrm>
          </p:grpSpPr>
          <p:pic>
            <p:nvPicPr>
              <p:cNvPr id="9" name="Picture 6" descr="The main types of machine learning. Main approaches include classification and regression under the supervised learning and clustering under the unsupervised learning. Reinforcement learning enhance the model performance by interacting with environment. Coloured dots and triangles represent the training data. Yellow stars represent the new data which can be predicted by the trained model.">
                <a:extLst>
                  <a:ext uri="{FF2B5EF4-FFF2-40B4-BE49-F238E27FC236}">
                    <a16:creationId xmlns:a16="http://schemas.microsoft.com/office/drawing/2014/main" id="{0AAC0B73-DFC4-4547-86BB-9F0E456A1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178" y="1392510"/>
                <a:ext cx="809625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Arrow Connector 9">
                <a:extLst>
                  <a:ext uri="{FF2B5EF4-FFF2-40B4-BE49-F238E27FC236}">
                    <a16:creationId xmlns:a16="http://schemas.microsoft.com/office/drawing/2014/main" id="{0A94E291-D746-45DA-A162-75C7520F9CD1}"/>
                  </a:ext>
                </a:extLst>
              </p:cNvPr>
              <p:cNvCxnSpPr>
                <a:cxnSpLocks/>
                <a:endCxn id="11" idx="0"/>
              </p:cNvCxnSpPr>
              <p:nvPr/>
            </p:nvCxnSpPr>
            <p:spPr bwMode="auto">
              <a:xfrm>
                <a:off x="5373789" y="1646510"/>
                <a:ext cx="3968759" cy="657225"/>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Rounded Corners 12">
                <a:extLst>
                  <a:ext uri="{FF2B5EF4-FFF2-40B4-BE49-F238E27FC236}">
                    <a16:creationId xmlns:a16="http://schemas.microsoft.com/office/drawing/2014/main" id="{15B21FB2-859F-4C9F-B998-2DC616FAF32A}"/>
                  </a:ext>
                </a:extLst>
              </p:cNvPr>
              <p:cNvSpPr>
                <a:spLocks noChangeArrowheads="1"/>
              </p:cNvSpPr>
              <p:nvPr/>
            </p:nvSpPr>
            <p:spPr bwMode="auto">
              <a:xfrm>
                <a:off x="8448609" y="2304348"/>
                <a:ext cx="1787296" cy="593611"/>
              </a:xfrm>
              <a:prstGeom prst="roundRect">
                <a:avLst>
                  <a:gd name="adj" fmla="val 16667"/>
                </a:avLst>
              </a:prstGeom>
              <a:solidFill>
                <a:srgbClr val="7030A0"/>
              </a:solidFill>
              <a:ln w="9525" algn="ctr">
                <a:solidFill>
                  <a:schemeClr val="tx1"/>
                </a:solidFill>
                <a:round/>
                <a:headEnd/>
                <a:tailEnd/>
              </a:ln>
            </p:spPr>
            <p:txBody>
              <a:bodyPr/>
              <a:lstStyle>
                <a:lvl1pPr defTabSz="449263">
                  <a:lnSpc>
                    <a:spcPct val="97000"/>
                  </a:lnSpc>
                  <a:spcAft>
                    <a:spcPts val="1288"/>
                  </a:spcAft>
                  <a:buClr>
                    <a:srgbClr val="000000"/>
                  </a:buClr>
                  <a:buSzPct val="100000"/>
                  <a:buFont typeface="Times New Roman" panose="02020603050405020304" pitchFamily="18" charset="0"/>
                  <a:buChar char="•"/>
                  <a:defRPr sz="2900">
                    <a:solidFill>
                      <a:srgbClr val="000000"/>
                    </a:solidFill>
                    <a:latin typeface="Calibri" panose="020F0502020204030204" pitchFamily="34" charset="0"/>
                    <a:cs typeface="Lucida Sans Unicode" panose="020B0602030504020204" pitchFamily="34" charset="0"/>
                  </a:defRPr>
                </a:lvl1pPr>
                <a:lvl2pPr marL="742950" indent="-285750" defTabSz="449263">
                  <a:lnSpc>
                    <a:spcPct val="97000"/>
                  </a:lnSpc>
                  <a:spcAft>
                    <a:spcPts val="1038"/>
                  </a:spcAft>
                  <a:buClr>
                    <a:srgbClr val="000000"/>
                  </a:buClr>
                  <a:buSzPct val="100000"/>
                  <a:buFont typeface="Times New Roman" panose="02020603050405020304" pitchFamily="18" charset="0"/>
                  <a:buChar char="–"/>
                  <a:defRPr sz="2500">
                    <a:solidFill>
                      <a:srgbClr val="000000"/>
                    </a:solidFill>
                    <a:latin typeface="Calibri" panose="020F0502020204030204" pitchFamily="34" charset="0"/>
                    <a:cs typeface="Lucida Sans Unicode" panose="020B0602030504020204" pitchFamily="34" charset="0"/>
                  </a:defRPr>
                </a:lvl2pPr>
                <a:lvl3pPr marL="1143000" indent="-228600" defTabSz="449263">
                  <a:lnSpc>
                    <a:spcPct val="97000"/>
                  </a:lnSpc>
                  <a:spcAft>
                    <a:spcPts val="775"/>
                  </a:spcAft>
                  <a:buClr>
                    <a:srgbClr val="000000"/>
                  </a:buClr>
                  <a:buSzPct val="100000"/>
                  <a:buFont typeface="Times New Roman" panose="02020603050405020304" pitchFamily="18" charset="0"/>
                  <a:buChar char="•"/>
                  <a:defRPr sz="2200">
                    <a:solidFill>
                      <a:srgbClr val="000000"/>
                    </a:solidFill>
                    <a:latin typeface="Calibri" panose="020F0502020204030204" pitchFamily="34" charset="0"/>
                    <a:cs typeface="Lucida Sans Unicode" panose="020B0602030504020204" pitchFamily="34" charset="0"/>
                  </a:defRPr>
                </a:lvl3pPr>
                <a:lvl4pPr marL="1600200" indent="-228600" defTabSz="449263">
                  <a:lnSpc>
                    <a:spcPct val="97000"/>
                  </a:lnSpc>
                  <a:spcAft>
                    <a:spcPts val="525"/>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4pPr>
                <a:lvl5pPr marL="2057400" indent="-228600" defTabSz="449263">
                  <a:lnSpc>
                    <a:spcPct val="97000"/>
                  </a:lnSpc>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5pPr>
                <a:lvl6pPr marL="2514600" indent="-228600" defTabSz="449263" eaLnBrk="0" fontAlgn="base" hangingPunct="0">
                  <a:lnSpc>
                    <a:spcPct val="97000"/>
                  </a:lnSpc>
                  <a:spcBef>
                    <a:spcPct val="0"/>
                  </a:spcBef>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6pPr>
                <a:lvl7pPr marL="2971800" indent="-228600" defTabSz="449263" eaLnBrk="0" fontAlgn="base" hangingPunct="0">
                  <a:lnSpc>
                    <a:spcPct val="97000"/>
                  </a:lnSpc>
                  <a:spcBef>
                    <a:spcPct val="0"/>
                  </a:spcBef>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7pPr>
                <a:lvl8pPr marL="3429000" indent="-228600" defTabSz="449263" eaLnBrk="0" fontAlgn="base" hangingPunct="0">
                  <a:lnSpc>
                    <a:spcPct val="97000"/>
                  </a:lnSpc>
                  <a:spcBef>
                    <a:spcPct val="0"/>
                  </a:spcBef>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8pPr>
                <a:lvl9pPr marL="3886200" indent="-228600" defTabSz="449263" eaLnBrk="0" fontAlgn="base" hangingPunct="0">
                  <a:lnSpc>
                    <a:spcPct val="97000"/>
                  </a:lnSpc>
                  <a:spcBef>
                    <a:spcPct val="0"/>
                  </a:spcBef>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9pPr>
              </a:lstStyle>
              <a:p>
                <a:pPr algn="ctr" eaLnBrk="1" hangingPunct="1">
                  <a:lnSpc>
                    <a:spcPct val="100000"/>
                  </a:lnSpc>
                  <a:spcAft>
                    <a:spcPct val="0"/>
                  </a:spcAft>
                  <a:buFont typeface="Times New Roman" panose="02020603050405020304" pitchFamily="18" charset="0"/>
                  <a:buNone/>
                </a:pPr>
                <a:r>
                  <a:rPr lang="en-IN" altLang="en-US" sz="1400" b="1">
                    <a:solidFill>
                      <a:schemeClr val="bg1"/>
                    </a:solidFill>
                    <a:latin typeface="Arial" panose="020B0604020202020204" pitchFamily="34" charset="0"/>
                  </a:rPr>
                  <a:t>Semi-Supervised Learning</a:t>
                </a:r>
              </a:p>
            </p:txBody>
          </p:sp>
        </p:grpSp>
        <p:sp>
          <p:nvSpPr>
            <p:cNvPr id="8" name="TextBox 18">
              <a:extLst>
                <a:ext uri="{FF2B5EF4-FFF2-40B4-BE49-F238E27FC236}">
                  <a16:creationId xmlns:a16="http://schemas.microsoft.com/office/drawing/2014/main" id="{A1CD0417-EBDB-4B64-AE14-35B8448794C4}"/>
                </a:ext>
              </a:extLst>
            </p:cNvPr>
            <p:cNvSpPr txBox="1">
              <a:spLocks noChangeArrowheads="1"/>
            </p:cNvSpPr>
            <p:nvPr/>
          </p:nvSpPr>
          <p:spPr bwMode="auto">
            <a:xfrm>
              <a:off x="8542428" y="2967335"/>
              <a:ext cx="19320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7000"/>
                </a:lnSpc>
                <a:spcAft>
                  <a:spcPts val="1288"/>
                </a:spcAft>
                <a:buClr>
                  <a:srgbClr val="000000"/>
                </a:buClr>
                <a:buSzPct val="100000"/>
                <a:buFont typeface="Times New Roman" panose="02020603050405020304" pitchFamily="18" charset="0"/>
                <a:buChar char="•"/>
                <a:defRPr sz="2900">
                  <a:solidFill>
                    <a:srgbClr val="000000"/>
                  </a:solidFill>
                  <a:latin typeface="Calibri" panose="020F0502020204030204" pitchFamily="34" charset="0"/>
                  <a:cs typeface="Lucida Sans Unicode" panose="020B0602030504020204" pitchFamily="34" charset="0"/>
                </a:defRPr>
              </a:lvl1pPr>
              <a:lvl2pPr marL="742950" indent="-285750">
                <a:lnSpc>
                  <a:spcPct val="97000"/>
                </a:lnSpc>
                <a:spcAft>
                  <a:spcPts val="1038"/>
                </a:spcAft>
                <a:buClr>
                  <a:srgbClr val="000000"/>
                </a:buClr>
                <a:buSzPct val="100000"/>
                <a:buFont typeface="Times New Roman" panose="02020603050405020304" pitchFamily="18" charset="0"/>
                <a:buChar char="–"/>
                <a:defRPr sz="2500">
                  <a:solidFill>
                    <a:srgbClr val="000000"/>
                  </a:solidFill>
                  <a:latin typeface="Calibri" panose="020F0502020204030204" pitchFamily="34" charset="0"/>
                  <a:cs typeface="Lucida Sans Unicode" panose="020B0602030504020204" pitchFamily="34" charset="0"/>
                </a:defRPr>
              </a:lvl2pPr>
              <a:lvl3pPr marL="1143000" indent="-228600">
                <a:lnSpc>
                  <a:spcPct val="97000"/>
                </a:lnSpc>
                <a:spcAft>
                  <a:spcPts val="775"/>
                </a:spcAft>
                <a:buClr>
                  <a:srgbClr val="000000"/>
                </a:buClr>
                <a:buSzPct val="100000"/>
                <a:buFont typeface="Times New Roman" panose="02020603050405020304" pitchFamily="18" charset="0"/>
                <a:buChar char="•"/>
                <a:defRPr sz="2200">
                  <a:solidFill>
                    <a:srgbClr val="000000"/>
                  </a:solidFill>
                  <a:latin typeface="Calibri" panose="020F0502020204030204" pitchFamily="34" charset="0"/>
                  <a:cs typeface="Lucida Sans Unicode" panose="020B0602030504020204" pitchFamily="34" charset="0"/>
                </a:defRPr>
              </a:lvl3pPr>
              <a:lvl4pPr marL="1600200" indent="-228600">
                <a:lnSpc>
                  <a:spcPct val="97000"/>
                </a:lnSpc>
                <a:spcAft>
                  <a:spcPts val="525"/>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4pPr>
              <a:lvl5pPr marL="2057400" indent="-228600">
                <a:lnSpc>
                  <a:spcPct val="97000"/>
                </a:lnSpc>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5pPr>
              <a:lvl6pPr marL="2514600" indent="-228600" eaLnBrk="0" fontAlgn="base" hangingPunct="0">
                <a:lnSpc>
                  <a:spcPct val="97000"/>
                </a:lnSpc>
                <a:spcBef>
                  <a:spcPct val="0"/>
                </a:spcBef>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6pPr>
              <a:lvl7pPr marL="2971800" indent="-228600" eaLnBrk="0" fontAlgn="base" hangingPunct="0">
                <a:lnSpc>
                  <a:spcPct val="97000"/>
                </a:lnSpc>
                <a:spcBef>
                  <a:spcPct val="0"/>
                </a:spcBef>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7pPr>
              <a:lvl8pPr marL="3429000" indent="-228600" eaLnBrk="0" fontAlgn="base" hangingPunct="0">
                <a:lnSpc>
                  <a:spcPct val="97000"/>
                </a:lnSpc>
                <a:spcBef>
                  <a:spcPct val="0"/>
                </a:spcBef>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8pPr>
              <a:lvl9pPr marL="3886200" indent="-228600" eaLnBrk="0" fontAlgn="base" hangingPunct="0">
                <a:lnSpc>
                  <a:spcPct val="97000"/>
                </a:lnSpc>
                <a:spcBef>
                  <a:spcPct val="0"/>
                </a:spcBef>
                <a:spcAft>
                  <a:spcPts val="263"/>
                </a:spcAft>
                <a:buClr>
                  <a:srgbClr val="000000"/>
                </a:buClr>
                <a:buSzPct val="100000"/>
                <a:buFont typeface="Times New Roman" panose="02020603050405020304" pitchFamily="18" charset="0"/>
                <a:buChar char="»"/>
                <a:defRPr sz="2000">
                  <a:solidFill>
                    <a:srgbClr val="000000"/>
                  </a:solidFill>
                  <a:latin typeface="Calibri" panose="020F0502020204030204" pitchFamily="34" charset="0"/>
                  <a:cs typeface="Lucida Sans Unicode" panose="020B0602030504020204" pitchFamily="34" charset="0"/>
                </a:defRPr>
              </a:lvl9pPr>
            </a:lstStyle>
            <a:p>
              <a:pPr algn="ctr">
                <a:lnSpc>
                  <a:spcPct val="100000"/>
                </a:lnSpc>
                <a:spcAft>
                  <a:spcPct val="0"/>
                </a:spcAft>
                <a:buClrTx/>
                <a:buSzTx/>
                <a:buFontTx/>
                <a:buNone/>
              </a:pPr>
              <a:r>
                <a:rPr lang="en-IN" altLang="en-US" sz="1200">
                  <a:solidFill>
                    <a:schemeClr val="tx1"/>
                  </a:solidFill>
                  <a:latin typeface="Times New Roman" panose="02020603050405020304" pitchFamily="18" charset="0"/>
                  <a:cs typeface="Times New Roman" panose="02020603050405020304" pitchFamily="18" charset="0"/>
                </a:rPr>
                <a:t>Model trained with labelled and unlabelled data</a:t>
              </a:r>
            </a:p>
          </p:txBody>
        </p:sp>
      </p:grpSp>
    </p:spTree>
    <p:extLst>
      <p:ext uri="{BB962C8B-B14F-4D97-AF65-F5344CB8AC3E}">
        <p14:creationId xmlns:p14="http://schemas.microsoft.com/office/powerpoint/2010/main" val="311368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C14C4-4DAA-41E5-ADD1-807ADD744FB0}"/>
              </a:ext>
            </a:extLst>
          </p:cNvPr>
          <p:cNvSpPr>
            <a:spLocks noGrp="1"/>
          </p:cNvSpPr>
          <p:nvPr>
            <p:ph type="title"/>
          </p:nvPr>
        </p:nvSpPr>
        <p:spPr>
          <a:xfrm>
            <a:off x="838200" y="510092"/>
            <a:ext cx="10515600" cy="743239"/>
          </a:xfrm>
        </p:spPr>
        <p:txBody>
          <a:bodyPr/>
          <a:lstStyle/>
          <a:p>
            <a:pPr algn="ctr"/>
            <a:r>
              <a:rPr lang="en-IN" altLang="en-US" b="1" dirty="0">
                <a:latin typeface="Times New Roman" panose="02020603050405020304" pitchFamily="18" charset="0"/>
                <a:cs typeface="Times New Roman" panose="02020603050405020304" pitchFamily="18" charset="0"/>
              </a:rPr>
              <a:t>What is Deep Learning?</a:t>
            </a:r>
            <a:endParaRPr lang="en-IN" dirty="0"/>
          </a:p>
        </p:txBody>
      </p:sp>
      <p:sp>
        <p:nvSpPr>
          <p:cNvPr id="3" name="Content Placeholder 2">
            <a:extLst>
              <a:ext uri="{FF2B5EF4-FFF2-40B4-BE49-F238E27FC236}">
                <a16:creationId xmlns:a16="http://schemas.microsoft.com/office/drawing/2014/main" id="{9230A966-A20B-4783-ACD3-F5C6DAFB49BB}"/>
              </a:ext>
            </a:extLst>
          </p:cNvPr>
          <p:cNvSpPr>
            <a:spLocks noGrp="1"/>
          </p:cNvSpPr>
          <p:nvPr>
            <p:ph idx="1"/>
          </p:nvPr>
        </p:nvSpPr>
        <p:spPr>
          <a:xfrm>
            <a:off x="838200" y="1319546"/>
            <a:ext cx="10515600" cy="4351338"/>
          </a:xfrm>
        </p:spPr>
        <p:txBody>
          <a:bodyPr/>
          <a:lstStyle/>
          <a:p>
            <a:r>
              <a:rPr lang="en-IN" altLang="en-US" dirty="0">
                <a:latin typeface="Times New Roman" panose="02020603050405020304" pitchFamily="18" charset="0"/>
                <a:cs typeface="Times New Roman" panose="02020603050405020304" pitchFamily="18" charset="0"/>
              </a:rPr>
              <a:t>Subset of Machine Learning (ML).</a:t>
            </a:r>
          </a:p>
          <a:p>
            <a:r>
              <a:rPr lang="en-IN" altLang="en-US" dirty="0">
                <a:latin typeface="Times New Roman" panose="02020603050405020304" pitchFamily="18" charset="0"/>
                <a:cs typeface="Times New Roman" panose="02020603050405020304" pitchFamily="18" charset="0"/>
              </a:rPr>
              <a:t>Uses multi-layered neural networks.</a:t>
            </a:r>
          </a:p>
          <a:p>
            <a:r>
              <a:rPr lang="en-IN" altLang="en-US" dirty="0">
                <a:latin typeface="Times New Roman" panose="02020603050405020304" pitchFamily="18" charset="0"/>
                <a:cs typeface="Times New Roman" panose="02020603050405020304" pitchFamily="18" charset="0"/>
              </a:rPr>
              <a:t>Excels in </a:t>
            </a:r>
            <a:r>
              <a:rPr lang="en-IN" altLang="en-US" dirty="0" err="1">
                <a:latin typeface="Times New Roman" panose="02020603050405020304" pitchFamily="18" charset="0"/>
                <a:cs typeface="Times New Roman" panose="02020603050405020304" pitchFamily="18" charset="0"/>
              </a:rPr>
              <a:t>modeling</a:t>
            </a:r>
            <a:r>
              <a:rPr lang="en-IN" altLang="en-US" dirty="0">
                <a:latin typeface="Times New Roman" panose="02020603050405020304" pitchFamily="18" charset="0"/>
                <a:cs typeface="Times New Roman" panose="02020603050405020304" pitchFamily="18" charset="0"/>
              </a:rPr>
              <a:t> complex data patterns.</a:t>
            </a:r>
          </a:p>
          <a:p>
            <a:r>
              <a:rPr lang="en-IN" altLang="en-US" dirty="0">
                <a:latin typeface="Times New Roman" panose="02020603050405020304" pitchFamily="18" charset="0"/>
                <a:cs typeface="Times New Roman" panose="02020603050405020304" pitchFamily="18" charset="0"/>
              </a:rPr>
              <a:t>Handles large datasets for high accuracy.</a:t>
            </a:r>
          </a:p>
          <a:p>
            <a:r>
              <a:rPr lang="en-IN" altLang="en-US" dirty="0">
                <a:latin typeface="Times New Roman" panose="02020603050405020304" pitchFamily="18" charset="0"/>
                <a:cs typeface="Times New Roman" panose="02020603050405020304" pitchFamily="18" charset="0"/>
              </a:rPr>
              <a:t>Applications: vision, NLP, speech recognition.</a:t>
            </a:r>
          </a:p>
        </p:txBody>
      </p:sp>
    </p:spTree>
    <p:extLst>
      <p:ext uri="{BB962C8B-B14F-4D97-AF65-F5344CB8AC3E}">
        <p14:creationId xmlns:p14="http://schemas.microsoft.com/office/powerpoint/2010/main" val="1654799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6DEE7BB5-F3D4-49AF-BA66-DB3C30D208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1290" y="1535877"/>
            <a:ext cx="11720710" cy="378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00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AC1F1-C47F-4267-8E0C-C94FF27BF074}"/>
              </a:ext>
            </a:extLst>
          </p:cNvPr>
          <p:cNvSpPr>
            <a:spLocks noGrp="1"/>
          </p:cNvSpPr>
          <p:nvPr>
            <p:ph type="title"/>
          </p:nvPr>
        </p:nvSpPr>
        <p:spPr>
          <a:xfrm>
            <a:off x="838200" y="485199"/>
            <a:ext cx="10515600" cy="1020330"/>
          </a:xfrm>
        </p:spPr>
        <p:txBody>
          <a:bodyPr/>
          <a:lstStyle/>
          <a:p>
            <a:pPr algn="ctr"/>
            <a:r>
              <a:rPr lang="en-IN" altLang="en-US" b="1" dirty="0">
                <a:latin typeface="Times New Roman" panose="02020603050405020304" pitchFamily="18" charset="0"/>
                <a:cs typeface="Times New Roman" panose="02020603050405020304" pitchFamily="18" charset="0"/>
              </a:rPr>
              <a:t>Types of Deep Learning Model:</a:t>
            </a:r>
            <a:endParaRPr lang="en-IN" b="1" dirty="0"/>
          </a:p>
        </p:txBody>
      </p:sp>
      <p:pic>
        <p:nvPicPr>
          <p:cNvPr id="6" name="Content Placeholder 3">
            <a:extLst>
              <a:ext uri="{FF2B5EF4-FFF2-40B4-BE49-F238E27FC236}">
                <a16:creationId xmlns:a16="http://schemas.microsoft.com/office/drawing/2014/main" id="{C084E355-1F05-45B0-8330-8BCE5B5DD3B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7483" y="1825625"/>
            <a:ext cx="9897034" cy="4351338"/>
          </a:xfrm>
        </p:spPr>
      </p:pic>
    </p:spTree>
    <p:extLst>
      <p:ext uri="{BB962C8B-B14F-4D97-AF65-F5344CB8AC3E}">
        <p14:creationId xmlns:p14="http://schemas.microsoft.com/office/powerpoint/2010/main" val="4057125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BD69B-D8E0-4ABE-B2E8-38E86CBE04C3}"/>
              </a:ext>
            </a:extLst>
          </p:cNvPr>
          <p:cNvSpPr>
            <a:spLocks noGrp="1"/>
          </p:cNvSpPr>
          <p:nvPr>
            <p:ph type="title"/>
          </p:nvPr>
        </p:nvSpPr>
        <p:spPr>
          <a:xfrm>
            <a:off x="838200" y="365125"/>
            <a:ext cx="10515600" cy="1112693"/>
          </a:xfrm>
        </p:spPr>
        <p:txBody>
          <a:bodyPr>
            <a:normAutofit fontScale="90000"/>
          </a:bodyPr>
          <a:lstStyle/>
          <a:p>
            <a:pPr algn="ctr"/>
            <a:r>
              <a:rPr lang="en-IN" altLang="en-US" b="1" dirty="0">
                <a:latin typeface="Times New Roman" panose="02020603050405020304" pitchFamily="18" charset="0"/>
                <a:cs typeface="Times New Roman" panose="02020603050405020304" pitchFamily="18" charset="0"/>
              </a:rPr>
              <a:t>What is Natural Language Processing (NLP)?	</a:t>
            </a:r>
            <a:endParaRPr lang="en-IN" b="1" dirty="0"/>
          </a:p>
        </p:txBody>
      </p:sp>
      <p:sp>
        <p:nvSpPr>
          <p:cNvPr id="5" name="Content Placeholder 4">
            <a:extLst>
              <a:ext uri="{FF2B5EF4-FFF2-40B4-BE49-F238E27FC236}">
                <a16:creationId xmlns:a16="http://schemas.microsoft.com/office/drawing/2014/main" id="{D23B69D3-6AE3-4E9C-B6E3-4746590A7448}"/>
              </a:ext>
            </a:extLst>
          </p:cNvPr>
          <p:cNvSpPr>
            <a:spLocks noGrp="1"/>
          </p:cNvSpPr>
          <p:nvPr>
            <p:ph idx="1"/>
          </p:nvPr>
        </p:nvSpPr>
        <p:spPr>
          <a:xfrm>
            <a:off x="211138" y="1557771"/>
            <a:ext cx="7298026" cy="4351338"/>
          </a:xfrm>
        </p:spPr>
        <p:txBody>
          <a:bodyPr>
            <a:normAutofit/>
          </a:bodyPr>
          <a:lstStyle/>
          <a:p>
            <a:r>
              <a:rPr lang="en-IN" altLang="en-US" sz="2400" dirty="0">
                <a:latin typeface="Times New Roman" panose="02020603050405020304" pitchFamily="18" charset="0"/>
                <a:cs typeface="Times New Roman" panose="02020603050405020304" pitchFamily="18" charset="0"/>
              </a:rPr>
              <a:t>AI for understanding human language.</a:t>
            </a:r>
          </a:p>
          <a:p>
            <a:r>
              <a:rPr lang="en-US" altLang="en-US" sz="2400" dirty="0">
                <a:latin typeface="Times New Roman" panose="02020603050405020304" pitchFamily="18" charset="0"/>
                <a:cs typeface="Times New Roman" panose="02020603050405020304" pitchFamily="18" charset="0"/>
              </a:rPr>
              <a:t>Includes text and speech analysis/generation</a:t>
            </a:r>
            <a:r>
              <a:rPr lang="en-IN" altLang="en-US" sz="2400" dirty="0">
                <a:latin typeface="Times New Roman" panose="02020603050405020304" pitchFamily="18" charset="0"/>
                <a:cs typeface="Times New Roman" panose="02020603050405020304" pitchFamily="18" charset="0"/>
              </a:rPr>
              <a:t>.</a:t>
            </a:r>
          </a:p>
          <a:p>
            <a:r>
              <a:rPr lang="en-IN" altLang="en-US" sz="2400" dirty="0">
                <a:latin typeface="Times New Roman" panose="02020603050405020304" pitchFamily="18" charset="0"/>
                <a:cs typeface="Times New Roman" panose="02020603050405020304" pitchFamily="18" charset="0"/>
              </a:rPr>
              <a:t>Handles tasks like translation, summarization.</a:t>
            </a:r>
          </a:p>
          <a:p>
            <a:r>
              <a:rPr lang="en-IN" altLang="en-US" sz="2400" dirty="0">
                <a:latin typeface="Times New Roman" panose="02020603050405020304" pitchFamily="18" charset="0"/>
                <a:cs typeface="Times New Roman" panose="02020603050405020304" pitchFamily="18" charset="0"/>
              </a:rPr>
              <a:t>Uses models like BERT, GPT for NLP.</a:t>
            </a:r>
          </a:p>
          <a:p>
            <a:r>
              <a:rPr lang="en-IN" altLang="en-US" sz="2400" b="1" dirty="0">
                <a:latin typeface="Times New Roman" panose="02020603050405020304" pitchFamily="18" charset="0"/>
                <a:cs typeface="Times New Roman" panose="02020603050405020304" pitchFamily="18" charset="0"/>
              </a:rPr>
              <a:t>Applications: </a:t>
            </a:r>
            <a:r>
              <a:rPr lang="en-IN" altLang="en-US" sz="2400" dirty="0">
                <a:latin typeface="Times New Roman" panose="02020603050405020304" pitchFamily="18" charset="0"/>
                <a:cs typeface="Times New Roman" panose="02020603050405020304" pitchFamily="18" charset="0"/>
              </a:rPr>
              <a:t>chatbots, sentiment analysis, search.</a:t>
            </a:r>
          </a:p>
          <a:p>
            <a:r>
              <a:rPr lang="en-IN" altLang="en-US" sz="2400" dirty="0">
                <a:latin typeface="Times New Roman" panose="02020603050405020304" pitchFamily="18" charset="0"/>
                <a:cs typeface="Times New Roman" panose="02020603050405020304" pitchFamily="18" charset="0"/>
              </a:rPr>
              <a:t>Bridges communication between humans and machines.</a:t>
            </a:r>
          </a:p>
          <a:p>
            <a:endParaRPr lang="en-IN" sz="2400" dirty="0"/>
          </a:p>
        </p:txBody>
      </p:sp>
      <p:pic>
        <p:nvPicPr>
          <p:cNvPr id="8" name="Picture 5">
            <a:extLst>
              <a:ext uri="{FF2B5EF4-FFF2-40B4-BE49-F238E27FC236}">
                <a16:creationId xmlns:a16="http://schemas.microsoft.com/office/drawing/2014/main" id="{98A57256-B1F4-4405-B3F3-EF6291DD2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5417" y="1709738"/>
            <a:ext cx="4305445"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9522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30E77-B3BC-46EA-94EC-070B33FD08D8}"/>
              </a:ext>
            </a:extLst>
          </p:cNvPr>
          <p:cNvSpPr>
            <a:spLocks noGrp="1"/>
          </p:cNvSpPr>
          <p:nvPr>
            <p:ph type="title"/>
          </p:nvPr>
        </p:nvSpPr>
        <p:spPr>
          <a:xfrm>
            <a:off x="838200" y="365125"/>
            <a:ext cx="10515600" cy="1048039"/>
          </a:xfrm>
        </p:spPr>
        <p:txBody>
          <a:bodyPr/>
          <a:lstStyle/>
          <a:p>
            <a:pPr algn="ctr"/>
            <a:r>
              <a:rPr lang="en-IN" altLang="en-US" b="1" dirty="0">
                <a:latin typeface="Times New Roman" panose="02020603050405020304" pitchFamily="18" charset="0"/>
                <a:cs typeface="Times New Roman" panose="02020603050405020304" pitchFamily="18" charset="0"/>
              </a:rPr>
              <a:t>What is Computer Vision?</a:t>
            </a:r>
            <a:endParaRPr lang="en-IN" dirty="0"/>
          </a:p>
        </p:txBody>
      </p:sp>
      <p:sp>
        <p:nvSpPr>
          <p:cNvPr id="3" name="Content Placeholder 2">
            <a:extLst>
              <a:ext uri="{FF2B5EF4-FFF2-40B4-BE49-F238E27FC236}">
                <a16:creationId xmlns:a16="http://schemas.microsoft.com/office/drawing/2014/main" id="{70CDE4FF-1158-4C2A-95E3-4F943E0998D1}"/>
              </a:ext>
            </a:extLst>
          </p:cNvPr>
          <p:cNvSpPr>
            <a:spLocks noGrp="1"/>
          </p:cNvSpPr>
          <p:nvPr>
            <p:ph idx="1"/>
          </p:nvPr>
        </p:nvSpPr>
        <p:spPr>
          <a:xfrm>
            <a:off x="838200" y="1622425"/>
            <a:ext cx="10515600" cy="4351338"/>
          </a:xfrm>
        </p:spPr>
        <p:txBody>
          <a:bodyPr/>
          <a:lstStyle/>
          <a:p>
            <a:r>
              <a:rPr lang="en-US" altLang="en-US" sz="2800" dirty="0">
                <a:latin typeface="Times New Roman" panose="02020603050405020304" pitchFamily="18" charset="0"/>
                <a:cs typeface="Times New Roman" panose="02020603050405020304" pitchFamily="18" charset="0"/>
              </a:rPr>
              <a:t>AI for interpreting visual data.</a:t>
            </a:r>
          </a:p>
          <a:p>
            <a:r>
              <a:rPr lang="en-US" altLang="en-US" sz="2800" dirty="0">
                <a:latin typeface="Times New Roman" panose="02020603050405020304" pitchFamily="18" charset="0"/>
                <a:cs typeface="Times New Roman" panose="02020603050405020304" pitchFamily="18" charset="0"/>
              </a:rPr>
              <a:t>Processes images, videos, and real-world visuals.</a:t>
            </a:r>
          </a:p>
          <a:p>
            <a:r>
              <a:rPr lang="en-US" altLang="en-US" sz="2800" dirty="0">
                <a:latin typeface="Times New Roman" panose="02020603050405020304" pitchFamily="18" charset="0"/>
                <a:cs typeface="Times New Roman" panose="02020603050405020304" pitchFamily="18" charset="0"/>
              </a:rPr>
              <a:t>Tasks include object detection, image classification.</a:t>
            </a:r>
          </a:p>
          <a:p>
            <a:r>
              <a:rPr lang="en-US" altLang="en-US" sz="2800" dirty="0">
                <a:latin typeface="Times New Roman" panose="02020603050405020304" pitchFamily="18" charset="0"/>
                <a:cs typeface="Times New Roman" panose="02020603050405020304" pitchFamily="18" charset="0"/>
              </a:rPr>
              <a:t>Powers facial recognition and scene understanding.</a:t>
            </a:r>
          </a:p>
          <a:p>
            <a:r>
              <a:rPr lang="en-US" altLang="en-US" sz="2800" dirty="0">
                <a:latin typeface="Times New Roman" panose="02020603050405020304" pitchFamily="18" charset="0"/>
                <a:cs typeface="Times New Roman" panose="02020603050405020304" pitchFamily="18" charset="0"/>
              </a:rPr>
              <a:t>Applications: self-driving cars, healthcare imaging.</a:t>
            </a:r>
          </a:p>
          <a:p>
            <a:r>
              <a:rPr lang="en-US" altLang="en-US" sz="2800" dirty="0">
                <a:latin typeface="Times New Roman" panose="02020603050405020304" pitchFamily="18" charset="0"/>
                <a:cs typeface="Times New Roman" panose="02020603050405020304" pitchFamily="18" charset="0"/>
              </a:rPr>
              <a:t>Bridges visual perception with machine understanding.</a:t>
            </a:r>
            <a:endParaRPr lang="en-IN" altLang="en-US"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76461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B2117-65F5-44C8-83DF-75FF071F967D}"/>
              </a:ext>
            </a:extLst>
          </p:cNvPr>
          <p:cNvSpPr>
            <a:spLocks noGrp="1"/>
          </p:cNvSpPr>
          <p:nvPr>
            <p:ph type="title"/>
          </p:nvPr>
        </p:nvSpPr>
        <p:spPr>
          <a:xfrm>
            <a:off x="838200" y="681038"/>
            <a:ext cx="10515600" cy="824490"/>
          </a:xfrm>
        </p:spPr>
        <p:txBody>
          <a:bodyPr/>
          <a:lstStyle/>
          <a:p>
            <a:pPr algn="ctr"/>
            <a:r>
              <a:rPr lang="en-IN" altLang="en-US" b="1" dirty="0">
                <a:latin typeface="Times New Roman" panose="02020603050405020304" pitchFamily="18" charset="0"/>
                <a:cs typeface="Times New Roman" panose="02020603050405020304" pitchFamily="18" charset="0"/>
              </a:rPr>
              <a:t>Human Vision vs Computer Vision:</a:t>
            </a:r>
            <a:endParaRPr lang="en-IN" dirty="0"/>
          </a:p>
        </p:txBody>
      </p:sp>
      <p:pic>
        <p:nvPicPr>
          <p:cNvPr id="5" name="Content Placeholder 4">
            <a:extLst>
              <a:ext uri="{FF2B5EF4-FFF2-40B4-BE49-F238E27FC236}">
                <a16:creationId xmlns:a16="http://schemas.microsoft.com/office/drawing/2014/main" id="{DEB8652A-1E45-47EB-9194-DF5F900E18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16289" y="1690688"/>
            <a:ext cx="7159422" cy="4351338"/>
          </a:xfrm>
        </p:spPr>
      </p:pic>
    </p:spTree>
    <p:extLst>
      <p:ext uri="{BB962C8B-B14F-4D97-AF65-F5344CB8AC3E}">
        <p14:creationId xmlns:p14="http://schemas.microsoft.com/office/powerpoint/2010/main" val="1553150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21CE-0DB4-458C-A05D-8D9450DF6C48}"/>
              </a:ext>
            </a:extLst>
          </p:cNvPr>
          <p:cNvSpPr>
            <a:spLocks noGrp="1"/>
          </p:cNvSpPr>
          <p:nvPr>
            <p:ph type="title"/>
          </p:nvPr>
        </p:nvSpPr>
        <p:spPr>
          <a:xfrm>
            <a:off x="838200" y="365125"/>
            <a:ext cx="10515600" cy="1011093"/>
          </a:xfrm>
        </p:spPr>
        <p:txBody>
          <a:bodyPr/>
          <a:lstStyle/>
          <a:p>
            <a:pPr algn="ctr"/>
            <a:r>
              <a:rPr lang="en-IN" altLang="en-US" b="1" dirty="0">
                <a:latin typeface="Times New Roman" panose="02020603050405020304" pitchFamily="18" charset="0"/>
                <a:cs typeface="Times New Roman" panose="02020603050405020304" pitchFamily="18" charset="0"/>
              </a:rPr>
              <a:t>What is Expert Systems?</a:t>
            </a:r>
            <a:endParaRPr lang="en-IN" dirty="0"/>
          </a:p>
        </p:txBody>
      </p:sp>
      <p:sp>
        <p:nvSpPr>
          <p:cNvPr id="3" name="Content Placeholder 2">
            <a:extLst>
              <a:ext uri="{FF2B5EF4-FFF2-40B4-BE49-F238E27FC236}">
                <a16:creationId xmlns:a16="http://schemas.microsoft.com/office/drawing/2014/main" id="{98BBB092-0D28-48B7-A8E0-1E7A35AE531A}"/>
              </a:ext>
            </a:extLst>
          </p:cNvPr>
          <p:cNvSpPr>
            <a:spLocks noGrp="1"/>
          </p:cNvSpPr>
          <p:nvPr>
            <p:ph idx="1"/>
          </p:nvPr>
        </p:nvSpPr>
        <p:spPr>
          <a:xfrm>
            <a:off x="838200" y="1446933"/>
            <a:ext cx="10515600" cy="4351338"/>
          </a:xfrm>
        </p:spPr>
        <p:txBody>
          <a:bodyPr/>
          <a:lstStyle/>
          <a:p>
            <a:r>
              <a:rPr lang="en-US" altLang="en-US" sz="2800" dirty="0">
                <a:latin typeface="Times New Roman" panose="02020603050405020304" pitchFamily="18" charset="0"/>
                <a:cs typeface="Times New Roman" panose="02020603050405020304" pitchFamily="18" charset="0"/>
              </a:rPr>
              <a:t>AI that mimics human expertise.</a:t>
            </a:r>
          </a:p>
          <a:p>
            <a:r>
              <a:rPr lang="en-US" altLang="en-US" sz="2800" dirty="0">
                <a:latin typeface="Times New Roman" panose="02020603050405020304" pitchFamily="18" charset="0"/>
                <a:cs typeface="Times New Roman" panose="02020603050405020304" pitchFamily="18" charset="0"/>
              </a:rPr>
              <a:t>Uses a knowledge base and inference engine.</a:t>
            </a:r>
          </a:p>
          <a:p>
            <a:r>
              <a:rPr lang="en-US" altLang="en-US" sz="2800" dirty="0">
                <a:latin typeface="Times New Roman" panose="02020603050405020304" pitchFamily="18" charset="0"/>
                <a:cs typeface="Times New Roman" panose="02020603050405020304" pitchFamily="18" charset="0"/>
              </a:rPr>
              <a:t>Solves specific domain-related problems efficiently.</a:t>
            </a:r>
          </a:p>
          <a:p>
            <a:r>
              <a:rPr lang="en-US" altLang="en-US" sz="2800" dirty="0">
                <a:latin typeface="Times New Roman" panose="02020603050405020304" pitchFamily="18" charset="0"/>
                <a:cs typeface="Times New Roman" panose="02020603050405020304" pitchFamily="18" charset="0"/>
              </a:rPr>
              <a:t>Applies if-then rules for decision-making.</a:t>
            </a:r>
          </a:p>
          <a:p>
            <a:r>
              <a:rPr lang="en-US" altLang="en-US" sz="2800" dirty="0">
                <a:latin typeface="Times New Roman" panose="02020603050405020304" pitchFamily="18" charset="0"/>
                <a:cs typeface="Times New Roman" panose="02020603050405020304" pitchFamily="18" charset="0"/>
              </a:rPr>
              <a:t>Common in fields like healthcare, finance.</a:t>
            </a:r>
          </a:p>
          <a:p>
            <a:r>
              <a:rPr lang="en-US" altLang="en-US" sz="2800" dirty="0">
                <a:latin typeface="Times New Roman" panose="02020603050405020304" pitchFamily="18" charset="0"/>
                <a:cs typeface="Times New Roman" panose="02020603050405020304" pitchFamily="18" charset="0"/>
              </a:rPr>
              <a:t>Provides accurate insights and problem-solving solutions.</a:t>
            </a:r>
            <a:endParaRPr lang="en-IN" altLang="en-US"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40197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69D2E-B012-48D3-A0AF-ABF7F622AA87}"/>
              </a:ext>
            </a:extLst>
          </p:cNvPr>
          <p:cNvSpPr>
            <a:spLocks noGrp="1"/>
          </p:cNvSpPr>
          <p:nvPr>
            <p:ph type="title"/>
          </p:nvPr>
        </p:nvSpPr>
        <p:spPr>
          <a:xfrm>
            <a:off x="838200" y="365126"/>
            <a:ext cx="10515600" cy="1094220"/>
          </a:xfrm>
        </p:spPr>
        <p:txBody>
          <a:bodyPr/>
          <a:lstStyle/>
          <a:p>
            <a:pPr algn="ctr"/>
            <a:r>
              <a:rPr lang="en-IN" b="1" dirty="0"/>
              <a:t>How expert system works?</a:t>
            </a:r>
          </a:p>
        </p:txBody>
      </p:sp>
      <p:pic>
        <p:nvPicPr>
          <p:cNvPr id="4" name="Picture 4" descr="Difference between Human expert and Expert system - GeeksforGeeks">
            <a:extLst>
              <a:ext uri="{FF2B5EF4-FFF2-40B4-BE49-F238E27FC236}">
                <a16:creationId xmlns:a16="http://schemas.microsoft.com/office/drawing/2014/main" id="{421F1BE4-5E35-4C43-A55C-71E87E45DE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6685" y="1888743"/>
            <a:ext cx="9558793" cy="274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5382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5D00A-67BB-42B5-B316-3F6906A60453}"/>
              </a:ext>
            </a:extLst>
          </p:cNvPr>
          <p:cNvSpPr>
            <a:spLocks noGrp="1"/>
          </p:cNvSpPr>
          <p:nvPr>
            <p:ph type="title"/>
          </p:nvPr>
        </p:nvSpPr>
        <p:spPr>
          <a:xfrm>
            <a:off x="838200" y="365126"/>
            <a:ext cx="10515600" cy="1084984"/>
          </a:xfrm>
        </p:spPr>
        <p:txBody>
          <a:bodyPr/>
          <a:lstStyle/>
          <a:p>
            <a:pPr algn="ctr"/>
            <a:r>
              <a:rPr lang="en-US" altLang="en-US" b="1" dirty="0">
                <a:latin typeface="Times New Roman" panose="02020603050405020304" pitchFamily="18" charset="0"/>
                <a:cs typeface="Times New Roman" panose="02020603050405020304" pitchFamily="18" charset="0"/>
              </a:rPr>
              <a:t>Example of an Expert System:</a:t>
            </a:r>
            <a:endParaRPr lang="en-IN" dirty="0"/>
          </a:p>
        </p:txBody>
      </p:sp>
      <p:sp>
        <p:nvSpPr>
          <p:cNvPr id="3" name="Content Placeholder 2">
            <a:extLst>
              <a:ext uri="{FF2B5EF4-FFF2-40B4-BE49-F238E27FC236}">
                <a16:creationId xmlns:a16="http://schemas.microsoft.com/office/drawing/2014/main" id="{C27A5F72-64A6-49F6-B2F0-B04031269F3D}"/>
              </a:ext>
            </a:extLst>
          </p:cNvPr>
          <p:cNvSpPr>
            <a:spLocks noGrp="1"/>
          </p:cNvSpPr>
          <p:nvPr>
            <p:ph idx="1"/>
          </p:nvPr>
        </p:nvSpPr>
        <p:spPr>
          <a:xfrm>
            <a:off x="838200" y="1520825"/>
            <a:ext cx="10515600" cy="4351338"/>
          </a:xfrm>
        </p:spPr>
        <p:txBody>
          <a:bodyPr/>
          <a:lstStyle/>
          <a:p>
            <a:r>
              <a:rPr lang="en-US" altLang="en-US" sz="2800" dirty="0">
                <a:latin typeface="Times New Roman" panose="02020603050405020304" pitchFamily="18" charset="0"/>
                <a:cs typeface="Times New Roman" panose="02020603050405020304" pitchFamily="18" charset="0"/>
              </a:rPr>
              <a:t>Medical Diagnosis System (e.g., MYCIN).</a:t>
            </a:r>
          </a:p>
          <a:p>
            <a:r>
              <a:rPr lang="en-US" altLang="en-US" sz="2800" dirty="0">
                <a:latin typeface="Times New Roman" panose="02020603050405020304" pitchFamily="18" charset="0"/>
                <a:cs typeface="Times New Roman" panose="02020603050405020304" pitchFamily="18" charset="0"/>
              </a:rPr>
              <a:t>Assists doctors by suggesting diagnoses.</a:t>
            </a:r>
          </a:p>
          <a:p>
            <a:r>
              <a:rPr lang="en-US" altLang="en-US" sz="2800" dirty="0">
                <a:latin typeface="Times New Roman" panose="02020603050405020304" pitchFamily="18" charset="0"/>
                <a:cs typeface="Times New Roman" panose="02020603050405020304" pitchFamily="18" charset="0"/>
              </a:rPr>
              <a:t>Analyzes symptoms, medical history, and lab data.</a:t>
            </a:r>
          </a:p>
          <a:p>
            <a:r>
              <a:rPr lang="en-US" altLang="en-US" sz="2800" dirty="0">
                <a:latin typeface="Times New Roman" panose="02020603050405020304" pitchFamily="18" charset="0"/>
                <a:cs typeface="Times New Roman" panose="02020603050405020304" pitchFamily="18" charset="0"/>
              </a:rPr>
              <a:t>Provides treatment recommendations based on expert knowledge.</a:t>
            </a:r>
            <a:endParaRPr lang="en-IN" altLang="en-US"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53716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B084-974B-4F06-B54C-74EDC693C11A}"/>
              </a:ext>
            </a:extLst>
          </p:cNvPr>
          <p:cNvSpPr>
            <a:spLocks noGrp="1"/>
          </p:cNvSpPr>
          <p:nvPr>
            <p:ph type="title"/>
          </p:nvPr>
        </p:nvSpPr>
        <p:spPr>
          <a:xfrm>
            <a:off x="838200" y="591416"/>
            <a:ext cx="10515600" cy="711200"/>
          </a:xfrm>
        </p:spPr>
        <p:txBody>
          <a:bodyPr/>
          <a:lstStyle/>
          <a:p>
            <a:pPr algn="ctr"/>
            <a:r>
              <a:rPr lang="en-IN" altLang="en-US" b="1" dirty="0">
                <a:latin typeface="Times New Roman" panose="02020603050405020304" pitchFamily="18" charset="0"/>
                <a:cs typeface="Times New Roman" panose="02020603050405020304" pitchFamily="18" charset="0"/>
              </a:rPr>
              <a:t>Branches of AI:</a:t>
            </a:r>
            <a:endParaRPr lang="en-IN" dirty="0"/>
          </a:p>
        </p:txBody>
      </p:sp>
      <p:grpSp>
        <p:nvGrpSpPr>
          <p:cNvPr id="10" name="Group 2">
            <a:extLst>
              <a:ext uri="{FF2B5EF4-FFF2-40B4-BE49-F238E27FC236}">
                <a16:creationId xmlns:a16="http://schemas.microsoft.com/office/drawing/2014/main" id="{99ED1D26-ABB8-4F6E-B140-6CFB51F4E71A}"/>
              </a:ext>
            </a:extLst>
          </p:cNvPr>
          <p:cNvGrpSpPr>
            <a:grpSpLocks/>
          </p:cNvGrpSpPr>
          <p:nvPr/>
        </p:nvGrpSpPr>
        <p:grpSpPr bwMode="auto">
          <a:xfrm>
            <a:off x="2936290" y="1539070"/>
            <a:ext cx="6319420" cy="4316496"/>
            <a:chOff x="2936875" y="1314450"/>
            <a:chExt cx="6318250" cy="5018088"/>
          </a:xfrm>
        </p:grpSpPr>
        <p:pic>
          <p:nvPicPr>
            <p:cNvPr id="11" name="Picture 13">
              <a:extLst>
                <a:ext uri="{FF2B5EF4-FFF2-40B4-BE49-F238E27FC236}">
                  <a16:creationId xmlns:a16="http://schemas.microsoft.com/office/drawing/2014/main" id="{431B60CD-7626-404D-A388-DB626F5CA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875" y="1314450"/>
              <a:ext cx="6318250" cy="501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Hexagon 11">
              <a:extLst>
                <a:ext uri="{FF2B5EF4-FFF2-40B4-BE49-F238E27FC236}">
                  <a16:creationId xmlns:a16="http://schemas.microsoft.com/office/drawing/2014/main" id="{AF7C0D0A-8E78-41D6-9FEB-5D1CD1AA768E}"/>
                </a:ext>
              </a:extLst>
            </p:cNvPr>
            <p:cNvSpPr/>
            <p:nvPr/>
          </p:nvSpPr>
          <p:spPr bwMode="auto">
            <a:xfrm rot="19178916">
              <a:off x="7119938" y="2170112"/>
              <a:ext cx="1481137" cy="769938"/>
            </a:xfrm>
            <a:prstGeom prst="hexagon">
              <a:avLst/>
            </a:prstGeom>
            <a:solidFill>
              <a:srgbClr val="F4CEC8"/>
            </a:solidFill>
            <a:ln w="9525" cap="flat" cmpd="sng" algn="ctr">
              <a:noFill/>
              <a:prstDash val="solid"/>
              <a:round/>
              <a:headEnd type="none" w="med" len="med"/>
              <a:tailEnd type="none" w="med" len="med"/>
            </a:ln>
            <a:effectLst/>
          </p:spPr>
          <p:txBody>
            <a:bodyPr/>
            <a:lstStyle/>
            <a:p>
              <a:pPr defTabSz="449263" eaLnBrk="1" hangingPunct="1">
                <a:buClr>
                  <a:srgbClr val="000000"/>
                </a:buClr>
                <a:buSzPct val="100000"/>
                <a:buFont typeface="Times New Roman" pitchFamily="16" charset="0"/>
                <a:buNone/>
                <a:defRPr/>
              </a:pPr>
              <a:r>
                <a:rPr lang="en-IN" sz="1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Deep Learning</a:t>
              </a:r>
            </a:p>
          </p:txBody>
        </p:sp>
      </p:grpSp>
    </p:spTree>
    <p:extLst>
      <p:ext uri="{BB962C8B-B14F-4D97-AF65-F5344CB8AC3E}">
        <p14:creationId xmlns:p14="http://schemas.microsoft.com/office/powerpoint/2010/main" val="3776223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E58FD4-51DE-4F52-8D35-F7FABBEE4D81}"/>
              </a:ext>
            </a:extLst>
          </p:cNvPr>
          <p:cNvSpPr txBox="1"/>
          <p:nvPr/>
        </p:nvSpPr>
        <p:spPr>
          <a:xfrm>
            <a:off x="1976582" y="2696404"/>
            <a:ext cx="8589820" cy="1569660"/>
          </a:xfrm>
          <a:prstGeom prst="rect">
            <a:avLst/>
          </a:prstGeom>
          <a:noFill/>
        </p:spPr>
        <p:txBody>
          <a:bodyPr wrap="square">
            <a:spAutoFit/>
          </a:bodyPr>
          <a:lstStyle/>
          <a:p>
            <a:pPr algn="ctr"/>
            <a:r>
              <a:rPr lang="en-US" sz="3200" b="1" i="1" dirty="0">
                <a:latin typeface="Times New Roman" panose="02020603050405020304" pitchFamily="18" charset="0"/>
                <a:cs typeface="Times New Roman" panose="02020603050405020304" pitchFamily="18" charset="0"/>
              </a:rPr>
              <a:t>NEXT: </a:t>
            </a:r>
            <a:r>
              <a:rPr lang="en-US" sz="3200" i="1" dirty="0">
                <a:latin typeface="Times New Roman" panose="02020603050405020304" pitchFamily="18" charset="0"/>
                <a:cs typeface="Times New Roman" panose="02020603050405020304" pitchFamily="18" charset="0"/>
              </a:rPr>
              <a:t>How does AI outsmart problems effortlessly?</a:t>
            </a:r>
          </a:p>
          <a:p>
            <a:pPr algn="ctr"/>
            <a:r>
              <a:rPr lang="en-US" sz="3200" b="1" i="1" dirty="0">
                <a:latin typeface="Times New Roman" panose="02020603050405020304" pitchFamily="18" charset="0"/>
                <a:cs typeface="Times New Roman" panose="02020603050405020304" pitchFamily="18" charset="0"/>
              </a:rPr>
              <a:t>Unraveling its magic in next lectures.</a:t>
            </a:r>
            <a:endParaRPr lang="en-IN" sz="3200" b="1" i="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B516AB1-C36F-4AA5-AAA7-868A40BD7E2C}"/>
              </a:ext>
            </a:extLst>
          </p:cNvPr>
          <p:cNvPicPr>
            <a:picLocks noChangeAspect="1"/>
          </p:cNvPicPr>
          <p:nvPr/>
        </p:nvPicPr>
        <p:blipFill>
          <a:blip r:embed="rId2"/>
          <a:stretch>
            <a:fillRect/>
          </a:stretch>
        </p:blipFill>
        <p:spPr>
          <a:xfrm>
            <a:off x="612538" y="3173458"/>
            <a:ext cx="1604190" cy="1998033"/>
          </a:xfrm>
          <a:prstGeom prst="rect">
            <a:avLst/>
          </a:prstGeom>
        </p:spPr>
      </p:pic>
    </p:spTree>
    <p:extLst>
      <p:ext uri="{BB962C8B-B14F-4D97-AF65-F5344CB8AC3E}">
        <p14:creationId xmlns:p14="http://schemas.microsoft.com/office/powerpoint/2010/main" val="386877989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337</Words>
  <Application>Microsoft Office PowerPoint</Application>
  <PresentationFormat>Widescreen</PresentationFormat>
  <Paragraphs>51</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Times New Roman</vt:lpstr>
      <vt:lpstr>1_Office Theme</vt:lpstr>
      <vt:lpstr>PowerPoint Presentation</vt:lpstr>
      <vt:lpstr>Artificial Intelligence Techniques:</vt:lpstr>
      <vt:lpstr>What is Machine Learning?</vt:lpstr>
      <vt:lpstr>Types of Machine Learning:</vt:lpstr>
      <vt:lpstr>What is Deep Learning?</vt:lpstr>
      <vt:lpstr>PowerPoint Presentation</vt:lpstr>
      <vt:lpstr>Types of Deep Learning Model:</vt:lpstr>
      <vt:lpstr>What is Natural Language Processing (NLP)? </vt:lpstr>
      <vt:lpstr>What is Computer Vision?</vt:lpstr>
      <vt:lpstr>Human Vision vs Computer Vision:</vt:lpstr>
      <vt:lpstr>What is Expert Systems?</vt:lpstr>
      <vt:lpstr>How expert system works?</vt:lpstr>
      <vt:lpstr>Example of an Expert System:</vt:lpstr>
      <vt:lpstr>Branches of AI: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lovi raj gupta</dc:creator>
  <cp:lastModifiedBy>Ramanjot</cp:lastModifiedBy>
  <cp:revision>86</cp:revision>
  <dcterms:created xsi:type="dcterms:W3CDTF">2024-12-19T08:47:23Z</dcterms:created>
  <dcterms:modified xsi:type="dcterms:W3CDTF">2025-01-10T05:59:58Z</dcterms:modified>
</cp:coreProperties>
</file>