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012" r:id="rId2"/>
    <p:sldId id="4022" r:id="rId3"/>
    <p:sldId id="4013" r:id="rId4"/>
    <p:sldId id="4014" r:id="rId5"/>
    <p:sldId id="4015" r:id="rId6"/>
    <p:sldId id="4016" r:id="rId7"/>
    <p:sldId id="4023" r:id="rId8"/>
    <p:sldId id="4021" r:id="rId9"/>
    <p:sldId id="4017" r:id="rId10"/>
    <p:sldId id="270" r:id="rId11"/>
    <p:sldId id="4025" r:id="rId12"/>
    <p:sldId id="4018" r:id="rId13"/>
    <p:sldId id="4019" r:id="rId14"/>
    <p:sldId id="402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39EC9-C142-46A2-9EE7-6BAF7D5DF338}" type="datetimeFigureOut">
              <a:rPr lang="en-IN" smtClean="0"/>
              <a:t>10-01-2025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6007B5-870C-4B88-9096-1F3BFF314FCC}"/>
              </a:ext>
            </a:extLst>
          </p:cNvPr>
          <p:cNvSpPr txBox="1">
            <a:spLocks noChangeArrowheads="1"/>
          </p:cNvSpPr>
          <p:nvPr/>
        </p:nvSpPr>
        <p:spPr>
          <a:xfrm>
            <a:off x="2118447" y="1189759"/>
            <a:ext cx="8405812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altLang="en-US" sz="6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9D2DB0F-D6C3-4D6D-B38D-59328D5F5013}"/>
              </a:ext>
            </a:extLst>
          </p:cNvPr>
          <p:cNvSpPr txBox="1">
            <a:spLocks noChangeArrowheads="1"/>
          </p:cNvSpPr>
          <p:nvPr/>
        </p:nvSpPr>
        <p:spPr>
          <a:xfrm>
            <a:off x="1893094" y="1189759"/>
            <a:ext cx="8405812" cy="1098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US" altLang="en-US" sz="6000" b="1">
                <a:latin typeface="Times New Roman" panose="02020603050405020304" pitchFamily="18" charset="0"/>
                <a:cs typeface="Times New Roman" panose="02020603050405020304" pitchFamily="18" charset="0"/>
              </a:rPr>
              <a:t>: 5</a:t>
            </a:r>
            <a:endParaRPr lang="en-US" alt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b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SPACE AND SEARCH	</a:t>
            </a:r>
          </a:p>
        </p:txBody>
      </p:sp>
      <p:pic>
        <p:nvPicPr>
          <p:cNvPr id="1026" name="Picture 2" descr="Solving mazes with the watershed transform » Steve on Image Processing with  MATLAB - MATLAB &amp; Simulink">
            <a:extLst>
              <a:ext uri="{FF2B5EF4-FFF2-40B4-BE49-F238E27FC236}">
                <a16:creationId xmlns:a16="http://schemas.microsoft.com/office/drawing/2014/main" id="{61954CE4-DC59-4A01-85DF-6F02B126F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011" y="2659784"/>
            <a:ext cx="3536037" cy="3164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16FB59-7C62-4278-AC8F-8B667B25C2F4}"/>
              </a:ext>
            </a:extLst>
          </p:cNvPr>
          <p:cNvSpPr txBox="1"/>
          <p:nvPr/>
        </p:nvSpPr>
        <p:spPr>
          <a:xfrm>
            <a:off x="7832436" y="3112656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will you solve this?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5F95D9-2914-43BD-908B-94F9BF3CD1E3}"/>
              </a:ext>
            </a:extLst>
          </p:cNvPr>
          <p:cNvCxnSpPr>
            <a:cxnSpLocks/>
            <a:endCxn id="1026" idx="3"/>
          </p:cNvCxnSpPr>
          <p:nvPr/>
        </p:nvCxnSpPr>
        <p:spPr>
          <a:xfrm flipH="1">
            <a:off x="7107048" y="3556000"/>
            <a:ext cx="725388" cy="6861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9D51012-75ED-4044-9C6D-20B0E423B751}"/>
              </a:ext>
            </a:extLst>
          </p:cNvPr>
          <p:cNvGrpSpPr/>
          <p:nvPr/>
        </p:nvGrpSpPr>
        <p:grpSpPr>
          <a:xfrm>
            <a:off x="354499" y="1361161"/>
            <a:ext cx="11652810" cy="4004760"/>
            <a:chOff x="354499" y="1361161"/>
            <a:chExt cx="11652810" cy="4004760"/>
          </a:xfrm>
        </p:grpSpPr>
        <p:pic>
          <p:nvPicPr>
            <p:cNvPr id="2052" name="Picture 4" descr="Tips and Tricks: Solving a Maze with the Watershed Transform - MATLAB &amp;  Simulink">
              <a:extLst>
                <a:ext uri="{FF2B5EF4-FFF2-40B4-BE49-F238E27FC236}">
                  <a16:creationId xmlns:a16="http://schemas.microsoft.com/office/drawing/2014/main" id="{86A89FA6-3732-4836-A349-885DBBEF78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4836" y="1377583"/>
              <a:ext cx="3404898" cy="3580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F441C53-6E3F-4F33-968A-E561D0649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5868" y="1361161"/>
              <a:ext cx="3620005" cy="3581900"/>
            </a:xfrm>
            <a:prstGeom prst="rect">
              <a:avLst/>
            </a:prstGeom>
          </p:spPr>
        </p:pic>
        <p:sp>
          <p:nvSpPr>
            <p:cNvPr id="6" name="TextBox 3">
              <a:extLst>
                <a:ext uri="{FF2B5EF4-FFF2-40B4-BE49-F238E27FC236}">
                  <a16:creationId xmlns:a16="http://schemas.microsoft.com/office/drawing/2014/main" id="{2C117C7B-7A2B-47AF-80DE-8D652CA4E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499" y="4996640"/>
              <a:ext cx="1018844" cy="36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7000"/>
                </a:lnSpc>
                <a:spcAft>
                  <a:spcPts val="1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9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lnSpc>
                  <a:spcPct val="97000"/>
                </a:lnSpc>
                <a:spcAft>
                  <a:spcPts val="10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5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lnSpc>
                  <a:spcPct val="97000"/>
                </a:lnSpc>
                <a:spcAft>
                  <a:spcPts val="7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2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lnSpc>
                  <a:spcPct val="97000"/>
                </a:lnSpc>
                <a:spcAft>
                  <a:spcPts val="5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lnSpc>
                  <a:spcPct val="97000"/>
                </a:lnSpc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IN" alt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839CACE-A363-45D4-B191-40BA1AECBC0C}"/>
                </a:ext>
              </a:extLst>
            </p:cNvPr>
            <p:cNvCxnSpPr>
              <a:stCxn id="6" idx="0"/>
            </p:cNvCxnSpPr>
            <p:nvPr/>
          </p:nvCxnSpPr>
          <p:spPr>
            <a:xfrm flipV="1">
              <a:off x="863921" y="4759708"/>
              <a:ext cx="509422" cy="23693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DCF52888-B179-4C89-B9AD-0E3740A149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5873" y="4958319"/>
              <a:ext cx="679230" cy="36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7000"/>
                </a:lnSpc>
                <a:spcAft>
                  <a:spcPts val="1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9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lnSpc>
                  <a:spcPct val="97000"/>
                </a:lnSpc>
                <a:spcAft>
                  <a:spcPts val="10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5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lnSpc>
                  <a:spcPct val="97000"/>
                </a:lnSpc>
                <a:spcAft>
                  <a:spcPts val="7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2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lnSpc>
                  <a:spcPct val="97000"/>
                </a:lnSpc>
                <a:spcAft>
                  <a:spcPts val="5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lnSpc>
                  <a:spcPct val="97000"/>
                </a:lnSpc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IN" alt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END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2F1D93F-57E4-45B2-81E9-8309F7B9707C}"/>
                </a:ext>
              </a:extLst>
            </p:cNvPr>
            <p:cNvCxnSpPr/>
            <p:nvPr/>
          </p:nvCxnSpPr>
          <p:spPr>
            <a:xfrm>
              <a:off x="5033492" y="4878174"/>
              <a:ext cx="277091" cy="1184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6">
              <a:extLst>
                <a:ext uri="{FF2B5EF4-FFF2-40B4-BE49-F238E27FC236}">
                  <a16:creationId xmlns:a16="http://schemas.microsoft.com/office/drawing/2014/main" id="{756AA925-4716-47A1-92AD-A71A04134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28079" y="4996640"/>
              <a:ext cx="679230" cy="36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7000"/>
                </a:lnSpc>
                <a:spcAft>
                  <a:spcPts val="1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9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lnSpc>
                  <a:spcPct val="97000"/>
                </a:lnSpc>
                <a:spcAft>
                  <a:spcPts val="10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5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lnSpc>
                  <a:spcPct val="97000"/>
                </a:lnSpc>
                <a:spcAft>
                  <a:spcPts val="7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2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lnSpc>
                  <a:spcPct val="97000"/>
                </a:lnSpc>
                <a:spcAft>
                  <a:spcPts val="5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lnSpc>
                  <a:spcPct val="97000"/>
                </a:lnSpc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IN" alt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END</a:t>
              </a:r>
            </a:p>
          </p:txBody>
        </p:sp>
        <p:sp>
          <p:nvSpPr>
            <p:cNvPr id="13" name="TextBox 3">
              <a:extLst>
                <a:ext uri="{FF2B5EF4-FFF2-40B4-BE49-F238E27FC236}">
                  <a16:creationId xmlns:a16="http://schemas.microsoft.com/office/drawing/2014/main" id="{5EEE3964-E61A-4BB1-8579-C047A47EE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7567" y="4985622"/>
              <a:ext cx="1018844" cy="36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7000"/>
                </a:lnSpc>
                <a:spcAft>
                  <a:spcPts val="1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9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lnSpc>
                  <a:spcPct val="97000"/>
                </a:lnSpc>
                <a:spcAft>
                  <a:spcPts val="10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5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lnSpc>
                  <a:spcPct val="97000"/>
                </a:lnSpc>
                <a:spcAft>
                  <a:spcPts val="7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2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lnSpc>
                  <a:spcPct val="97000"/>
                </a:lnSpc>
                <a:spcAft>
                  <a:spcPts val="5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lnSpc>
                  <a:spcPct val="97000"/>
                </a:lnSpc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IN" altLang="en-US" sz="1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9EF9B53-65B7-4856-8F79-D7679809DA66}"/>
                </a:ext>
              </a:extLst>
            </p:cNvPr>
            <p:cNvCxnSpPr>
              <a:endCxn id="13" idx="0"/>
            </p:cNvCxnSpPr>
            <p:nvPr/>
          </p:nvCxnSpPr>
          <p:spPr>
            <a:xfrm flipH="1">
              <a:off x="6896989" y="4759708"/>
              <a:ext cx="509422" cy="22591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5EEBBC6-4843-4BAC-AC0D-C6A6AA1ED431}"/>
                </a:ext>
              </a:extLst>
            </p:cNvPr>
            <p:cNvCxnSpPr>
              <a:cxnSpLocks/>
            </p:cNvCxnSpPr>
            <p:nvPr/>
          </p:nvCxnSpPr>
          <p:spPr>
            <a:xfrm>
              <a:off x="10952922" y="4895596"/>
              <a:ext cx="410697" cy="18005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1455079-4163-44B0-B699-794D4FB10467}"/>
              </a:ext>
            </a:extLst>
          </p:cNvPr>
          <p:cNvSpPr txBox="1"/>
          <p:nvPr/>
        </p:nvSpPr>
        <p:spPr>
          <a:xfrm>
            <a:off x="4738091" y="540318"/>
            <a:ext cx="2715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SOLVED:</a:t>
            </a:r>
          </a:p>
        </p:txBody>
      </p:sp>
    </p:spTree>
    <p:extLst>
      <p:ext uri="{BB962C8B-B14F-4D97-AF65-F5344CB8AC3E}">
        <p14:creationId xmlns:p14="http://schemas.microsoft.com/office/powerpoint/2010/main" val="2808842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3EE58-D57F-4FC3-8682-9DA3B1328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Problems in AI?</a:t>
            </a:r>
            <a:endParaRPr lang="en-IN" dirty="0"/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617DBCBC-3496-469A-BAA9-CB797298FE7F}"/>
              </a:ext>
            </a:extLst>
          </p:cNvPr>
          <p:cNvGrpSpPr>
            <a:grpSpLocks/>
          </p:cNvGrpSpPr>
          <p:nvPr/>
        </p:nvGrpSpPr>
        <p:grpSpPr bwMode="auto">
          <a:xfrm>
            <a:off x="2822993" y="1809500"/>
            <a:ext cx="7116762" cy="2898775"/>
            <a:chOff x="3757137" y="3213462"/>
            <a:chExt cx="6694375" cy="1854925"/>
          </a:xfrm>
        </p:grpSpPr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7A8CA96D-9ABE-4F58-9B9C-93087EA04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7137" y="3213462"/>
              <a:ext cx="2333897" cy="888274"/>
            </a:xfrm>
            <a:prstGeom prst="roundRect">
              <a:avLst>
                <a:gd name="adj" fmla="val 16667"/>
              </a:avLst>
            </a:prstGeom>
            <a:solidFill>
              <a:srgbClr val="FC9C8C"/>
            </a:solidFill>
            <a:ln w="1905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defTabSz="449263">
                <a:lnSpc>
                  <a:spcPct val="97000"/>
                </a:lnSpc>
                <a:spcAft>
                  <a:spcPts val="1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9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1pPr>
              <a:lvl2pPr marL="742950" indent="-285750" defTabSz="449263">
                <a:lnSpc>
                  <a:spcPct val="97000"/>
                </a:lnSpc>
                <a:spcAft>
                  <a:spcPts val="10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5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2pPr>
              <a:lvl3pPr marL="1143000" indent="-228600" defTabSz="449263">
                <a:lnSpc>
                  <a:spcPct val="97000"/>
                </a:lnSpc>
                <a:spcAft>
                  <a:spcPts val="7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2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3pPr>
              <a:lvl4pPr marL="1600200" indent="-228600" defTabSz="449263">
                <a:lnSpc>
                  <a:spcPct val="97000"/>
                </a:lnSpc>
                <a:spcAft>
                  <a:spcPts val="5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4pPr>
              <a:lvl5pPr marL="2057400" indent="-228600" defTabSz="449263">
                <a:lnSpc>
                  <a:spcPct val="97000"/>
                </a:lnSpc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5pPr>
              <a:lvl6pPr marL="25146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6pPr>
              <a:lvl7pPr marL="29718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7pPr>
              <a:lvl8pPr marL="34290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8pPr>
              <a:lvl9pPr marL="3886200" indent="-228600" defTabSz="449263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endParaRPr lang="en-US" altLang="en-US" sz="2000" b="1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 eaLnBrk="1" hangingPunct="1">
                <a:lnSpc>
                  <a:spcPct val="100000"/>
                </a:lnSpc>
                <a:spcAft>
                  <a:spcPct val="0"/>
                </a:spcAft>
                <a:buFontTx/>
                <a:buNone/>
              </a:pPr>
              <a:r>
                <a:rPr lang="en-US" altLang="en-US" sz="2000" b="1">
                  <a:solidFill>
                    <a:srgbClr val="27323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is a particular task</a:t>
              </a:r>
              <a:endParaRPr lang="en-IN" altLang="en-US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51AE568E-FE89-4FF8-806F-B210A56E4A56}"/>
                </a:ext>
              </a:extLst>
            </p:cNvPr>
            <p:cNvCxnSpPr/>
            <p:nvPr/>
          </p:nvCxnSpPr>
          <p:spPr bwMode="auto">
            <a:xfrm>
              <a:off x="6091134" y="3657384"/>
              <a:ext cx="1747138" cy="967080"/>
            </a:xfrm>
            <a:prstGeom prst="curvedConnector3">
              <a:avLst>
                <a:gd name="adj1" fmla="val 50000"/>
              </a:avLst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: Rounded Corners 10">
              <a:extLst>
                <a:ext uri="{FF2B5EF4-FFF2-40B4-BE49-F238E27FC236}">
                  <a16:creationId xmlns:a16="http://schemas.microsoft.com/office/drawing/2014/main" id="{3472377C-F4D8-4BCA-8B61-68CE29BA7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7715" y="4140924"/>
              <a:ext cx="2613797" cy="927463"/>
            </a:xfrm>
            <a:prstGeom prst="roundRect">
              <a:avLst>
                <a:gd name="adj" fmla="val 16667"/>
              </a:avLst>
            </a:prstGeom>
            <a:solidFill>
              <a:srgbClr val="BCF6F0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7000"/>
                </a:lnSpc>
                <a:spcAft>
                  <a:spcPts val="1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9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lnSpc>
                  <a:spcPct val="97000"/>
                </a:lnSpc>
                <a:spcAft>
                  <a:spcPts val="10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5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lnSpc>
                  <a:spcPct val="97000"/>
                </a:lnSpc>
                <a:spcAft>
                  <a:spcPts val="7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2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lnSpc>
                  <a:spcPct val="97000"/>
                </a:lnSpc>
                <a:spcAft>
                  <a:spcPts val="5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lnSpc>
                  <a:spcPct val="97000"/>
                </a:lnSpc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20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 b="1" dirty="0">
                  <a:solidFill>
                    <a:srgbClr val="27323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Decision-making or solution-finding</a:t>
              </a:r>
            </a:p>
          </p:txBody>
        </p: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3AF15621-1585-4DC5-8750-E65EA585AF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576993">
              <a:off x="6431552" y="3942804"/>
              <a:ext cx="1480710" cy="5882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7000"/>
                </a:lnSpc>
                <a:spcAft>
                  <a:spcPts val="1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9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lnSpc>
                  <a:spcPct val="97000"/>
                </a:lnSpc>
                <a:spcAft>
                  <a:spcPts val="10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5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lnSpc>
                  <a:spcPct val="97000"/>
                </a:lnSpc>
                <a:spcAft>
                  <a:spcPts val="7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2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lnSpc>
                  <a:spcPct val="97000"/>
                </a:lnSpc>
                <a:spcAft>
                  <a:spcPts val="5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lnSpc>
                  <a:spcPct val="97000"/>
                </a:lnSpc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IN" alt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that calls for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9513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8B10-B170-4719-8D09-9F6AC2C4F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Problems in AI: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77F2A-A905-4E9D-8BE4-83D02D7FA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16"/>
            <a:ext cx="10515600" cy="4351338"/>
          </a:xfrm>
        </p:spPr>
        <p:txBody>
          <a:bodyPr/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problem's starting condition.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State: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desired outcome or solution.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to transition between states.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Restrictions: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or constraints for solving the problem.</a:t>
            </a: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351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C30F6-E15B-4CF9-A4A8-48DCC0C7F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00"/>
            <a:ext cx="10515600" cy="905597"/>
          </a:xfrm>
        </p:spPr>
        <p:txBody>
          <a:bodyPr>
            <a:normAutofit/>
          </a:bodyPr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Chess Game</a:t>
            </a:r>
            <a:endParaRPr lang="en-IN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1E81-E469-45D3-83A2-279504D293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422400"/>
            <a:ext cx="10806113" cy="4402138"/>
          </a:xfrm>
        </p:spPr>
        <p:txBody>
          <a:bodyPr/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State: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positions of all chess pieces.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State: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Achieving checkmate.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Permissible moves for each piece.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governing chess gameplay.</a:t>
            </a: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680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C14C4-4DAA-41E5-ADD1-807ADD744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092"/>
            <a:ext cx="10515600" cy="743239"/>
          </a:xfrm>
        </p:spPr>
        <p:txBody>
          <a:bodyPr/>
          <a:lstStyle/>
          <a:p>
            <a:pPr algn="ctr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Space: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D9AD31F-F2FD-4D9A-BA5D-895ACFF03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17900" y="1247775"/>
            <a:ext cx="4946650" cy="532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9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9C05-151E-4ED1-9076-D33461DA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1325563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 by State Space Search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F30CC-6308-45C4-B128-F14F082E5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State space formally defines problem structure.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Graph ( V, E) represents state space.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Nodes ( V) correspond to problem states.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Arcs (E) represent applicable actions.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Directed arcs connect parent and child nodes. 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Parent precedes, child succeeds in graph.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799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7DFE-0809-44AA-B549-6598F9D8D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0364"/>
            <a:ext cx="10515600" cy="822036"/>
          </a:xfrm>
        </p:spPr>
        <p:txBody>
          <a:bodyPr/>
          <a:lstStyle/>
          <a:p>
            <a:pPr algn="ctr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Problem Spaces: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6BC85-581E-4EAC-B70B-269D45B22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4351338"/>
          </a:xfrm>
        </p:spPr>
        <p:txBody>
          <a:bodyPr/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scenarios within the problem.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Space: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reachable states from start.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 between states via operators.</a:t>
            </a: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0675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B70D40-AFEE-4D98-AD20-24326CB7A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968" y="1825625"/>
            <a:ext cx="10984832" cy="4351338"/>
          </a:xfrm>
        </p:spPr>
        <p:txBody>
          <a:bodyPr/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Space: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maze structure itself.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possible positions in the maze.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connecting start to the exit.</a:t>
            </a:r>
            <a:endParaRPr lang="en-I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ED2D66B-8A18-4E2D-B19B-6F74D9BA9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2943" y="631666"/>
            <a:ext cx="10806113" cy="806450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Maze-Solving Problem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17">
            <a:extLst>
              <a:ext uri="{FF2B5EF4-FFF2-40B4-BE49-F238E27FC236}">
                <a16:creationId xmlns:a16="http://schemas.microsoft.com/office/drawing/2014/main" id="{050A868F-6962-4862-928D-561C59AD7423}"/>
              </a:ext>
            </a:extLst>
          </p:cNvPr>
          <p:cNvGrpSpPr>
            <a:grpSpLocks/>
          </p:cNvGrpSpPr>
          <p:nvPr/>
        </p:nvGrpSpPr>
        <p:grpSpPr bwMode="auto">
          <a:xfrm>
            <a:off x="7219950" y="1387475"/>
            <a:ext cx="4772025" cy="4873625"/>
            <a:chOff x="7219407" y="1387114"/>
            <a:chExt cx="4772296" cy="4874304"/>
          </a:xfrm>
        </p:grpSpPr>
        <p:pic>
          <p:nvPicPr>
            <p:cNvPr id="8" name="Picture 2" descr="Solution to a maze-type problem. The initial robot location is... |  Download Scientific Diagram">
              <a:extLst>
                <a:ext uri="{FF2B5EF4-FFF2-40B4-BE49-F238E27FC236}">
                  <a16:creationId xmlns:a16="http://schemas.microsoft.com/office/drawing/2014/main" id="{FC971929-53A2-490A-9E22-99C377F2B4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90285" y="2084286"/>
              <a:ext cx="3825428" cy="380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Box 3">
              <a:extLst>
                <a:ext uri="{FF2B5EF4-FFF2-40B4-BE49-F238E27FC236}">
                  <a16:creationId xmlns:a16="http://schemas.microsoft.com/office/drawing/2014/main" id="{53C04E1C-D43D-4847-8DD0-221DAE3F11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9407" y="1387114"/>
              <a:ext cx="10189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7000"/>
                </a:lnSpc>
                <a:spcAft>
                  <a:spcPts val="1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9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lnSpc>
                  <a:spcPct val="97000"/>
                </a:lnSpc>
                <a:spcAft>
                  <a:spcPts val="10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5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lnSpc>
                  <a:spcPct val="97000"/>
                </a:lnSpc>
                <a:spcAft>
                  <a:spcPts val="7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2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lnSpc>
                  <a:spcPct val="97000"/>
                </a:lnSpc>
                <a:spcAft>
                  <a:spcPts val="5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lnSpc>
                  <a:spcPct val="97000"/>
                </a:lnSpc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I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</a:t>
              </a: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135BBC2A-C712-4EA5-AD07-0F5BB89EA8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12434" y="5892086"/>
              <a:ext cx="6792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7000"/>
                </a:lnSpc>
                <a:spcAft>
                  <a:spcPts val="128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9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lnSpc>
                  <a:spcPct val="97000"/>
                </a:lnSpc>
                <a:spcAft>
                  <a:spcPts val="1038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5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lnSpc>
                  <a:spcPct val="97000"/>
                </a:lnSpc>
                <a:spcAft>
                  <a:spcPts val="77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•"/>
                <a:defRPr sz="22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lnSpc>
                  <a:spcPct val="97000"/>
                </a:lnSpc>
                <a:spcAft>
                  <a:spcPts val="525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–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lnSpc>
                  <a:spcPct val="97000"/>
                </a:lnSpc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lnSpc>
                  <a:spcPct val="97000"/>
                </a:lnSpc>
                <a:spcBef>
                  <a:spcPct val="0"/>
                </a:spcBef>
                <a:spcAft>
                  <a:spcPts val="263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buChar char="»"/>
                <a:defRPr sz="2000">
                  <a:solidFill>
                    <a:srgbClr val="000000"/>
                  </a:solidFill>
                  <a:latin typeface="Calibri" panose="020F050202020403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lnSpc>
                  <a:spcPct val="100000"/>
                </a:lnSpc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IN" altLang="en-US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END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245C37B-4156-45AC-8E59-BEDC0378C559}"/>
                </a:ext>
              </a:extLst>
            </p:cNvPr>
            <p:cNvCxnSpPr>
              <a:cxnSpLocks/>
              <a:stCxn id="9" idx="2"/>
            </p:cNvCxnSpPr>
            <p:nvPr/>
          </p:nvCxnSpPr>
          <p:spPr bwMode="auto">
            <a:xfrm>
              <a:off x="7729024" y="1757054"/>
              <a:ext cx="169872" cy="455675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616B8D6-EA24-4A61-B3E9-FED3402B6422}"/>
                </a:ext>
              </a:extLst>
            </p:cNvPr>
            <p:cNvCxnSpPr>
              <a:cxnSpLocks/>
              <a:stCxn id="10" idx="0"/>
            </p:cNvCxnSpPr>
            <p:nvPr/>
          </p:nvCxnSpPr>
          <p:spPr bwMode="auto">
            <a:xfrm flipH="1" flipV="1">
              <a:off x="11312214" y="5494549"/>
              <a:ext cx="339744" cy="39693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100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2– Tic-Tac-Toe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6D2C65-03F3-4A1C-840C-EAFABB9C8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1" y="1602377"/>
            <a:ext cx="10874829" cy="457458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1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(Table Based)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2</a:t>
            </a:r>
            <a:r>
              <a:rPr lang="en-IN" dirty="0"/>
              <a:t>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three sub procedures: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2</a:t>
            </a:r>
          </a:p>
          <a:p>
            <a:pPr lvl="1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Posswin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Go(n)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3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(Magic Square)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Tic Tac Toe">
            <a:extLst>
              <a:ext uri="{FF2B5EF4-FFF2-40B4-BE49-F238E27FC236}">
                <a16:creationId xmlns:a16="http://schemas.microsoft.com/office/drawing/2014/main" id="{D1019541-D799-4441-B782-7BEDAAB3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066" y="1412286"/>
            <a:ext cx="2297295" cy="2297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Tictactoe GIFs - Find &amp; Share on GIPHY">
            <a:extLst>
              <a:ext uri="{FF2B5EF4-FFF2-40B4-BE49-F238E27FC236}">
                <a16:creationId xmlns:a16="http://schemas.microsoft.com/office/drawing/2014/main" id="{64973EF1-CF1B-4E98-B055-E78057734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860" y="3889669"/>
            <a:ext cx="2477705" cy="246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1847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D9AB-167B-48D1-866B-5A5F09363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8398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3: Water Jug Problem</a:t>
            </a:r>
          </a:p>
        </p:txBody>
      </p:sp>
    </p:spTree>
    <p:extLst>
      <p:ext uri="{BB962C8B-B14F-4D97-AF65-F5344CB8AC3E}">
        <p14:creationId xmlns:p14="http://schemas.microsoft.com/office/powerpoint/2010/main" val="3199740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AC1F1-C47F-4267-8E0C-C94FF27BF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5199"/>
            <a:ext cx="10515600" cy="1020330"/>
          </a:xfrm>
        </p:spPr>
        <p:txBody>
          <a:bodyPr>
            <a:normAutofit fontScale="90000"/>
          </a:bodyPr>
          <a:lstStyle/>
          <a:p>
            <a:pPr algn="ctr"/>
            <a:br>
              <a:rPr lang="en-IN" altLang="en-US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in AI:</a:t>
            </a:r>
            <a:br>
              <a:rPr lang="en-IN" altLang="en-US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8A3F3-EBDC-417C-9CC2-41362F9D2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529"/>
            <a:ext cx="10515600" cy="4351338"/>
          </a:xfrm>
        </p:spPr>
        <p:txBody>
          <a:bodyPr/>
          <a:lstStyle/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finding problem solutions.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solutions meeting constraints and goals.</a:t>
            </a:r>
          </a:p>
          <a:p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Systematically traverse the problem domain.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7125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BD69B-D8E0-4ABE-B2E8-38E86CBE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2693"/>
          </a:xfrm>
        </p:spPr>
        <p:txBody>
          <a:bodyPr>
            <a:normAutofit/>
          </a:bodyPr>
          <a:lstStyle/>
          <a:p>
            <a:pPr algn="ctr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Search in AI:</a:t>
            </a:r>
            <a:endParaRPr lang="en-IN" b="1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1DC92883-661C-4D86-B85A-344B3D1E32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3263" y="1211263"/>
            <a:ext cx="10712450" cy="5067300"/>
          </a:xfrm>
        </p:spPr>
      </p:pic>
    </p:spTree>
    <p:extLst>
      <p:ext uri="{BB962C8B-B14F-4D97-AF65-F5344CB8AC3E}">
        <p14:creationId xmlns:p14="http://schemas.microsoft.com/office/powerpoint/2010/main" val="1929522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14E2C-3E18-4795-8917-EC9B5ADE5A40}"/>
              </a:ext>
            </a:extLst>
          </p:cNvPr>
          <p:cNvSpPr txBox="1"/>
          <p:nvPr/>
        </p:nvSpPr>
        <p:spPr>
          <a:xfrm>
            <a:off x="2410691" y="3038764"/>
            <a:ext cx="7370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Next: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Minds with State Space!</a:t>
            </a:r>
            <a:endParaRPr lang="en-IN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47F695-AED8-4D48-ABED-1F74A0165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942" y="3556820"/>
            <a:ext cx="1604190" cy="199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3601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333</Words>
  <Application>Microsoft Office PowerPoint</Application>
  <PresentationFormat>Widescreen</PresentationFormat>
  <Paragraphs>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1_Office Theme</vt:lpstr>
      <vt:lpstr>PowerPoint Presentation</vt:lpstr>
      <vt:lpstr>PowerPoint Presentation</vt:lpstr>
      <vt:lpstr>What is Problems in AI?</vt:lpstr>
      <vt:lpstr>Components of Problems in AI:</vt:lpstr>
      <vt:lpstr>Example: Chess Game</vt:lpstr>
      <vt:lpstr>Problem Space:</vt:lpstr>
      <vt:lpstr>Problem Formulation by State Space Search</vt:lpstr>
      <vt:lpstr>Components of Problem Spaces:</vt:lpstr>
      <vt:lpstr>Example 1: Maze-Solving Problem</vt:lpstr>
      <vt:lpstr>Example 2– Tic-Tac-Toe</vt:lpstr>
      <vt:lpstr>Example 3: Water Jug Problem</vt:lpstr>
      <vt:lpstr> Search in AI: </vt:lpstr>
      <vt:lpstr>Types of Search in AI: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Ramanjot</cp:lastModifiedBy>
  <cp:revision>65</cp:revision>
  <dcterms:created xsi:type="dcterms:W3CDTF">2024-12-19T08:47:23Z</dcterms:created>
  <dcterms:modified xsi:type="dcterms:W3CDTF">2025-01-10T10:35:28Z</dcterms:modified>
</cp:coreProperties>
</file>